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41"/>
  </p:notesMasterIdLst>
  <p:handoutMasterIdLst>
    <p:handoutMasterId r:id="rId42"/>
  </p:handoutMasterIdLst>
  <p:sldIdLst>
    <p:sldId id="264" r:id="rId2"/>
    <p:sldId id="261"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86" autoAdjust="0"/>
    <p:restoredTop sz="99857" autoAdjust="0"/>
  </p:normalViewPr>
  <p:slideViewPr>
    <p:cSldViewPr>
      <p:cViewPr>
        <p:scale>
          <a:sx n="75" d="100"/>
          <a:sy n="75" d="100"/>
        </p:scale>
        <p:origin x="300" y="34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11/5/2023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11/5/2023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a:t>Bilgi Teknolojilerinde Etik</a:t>
            </a:r>
            <a:endParaRPr lang="en-US" sz="4700" dirty="0"/>
          </a:p>
        </p:txBody>
      </p:sp>
      <p:sp>
        <p:nvSpPr>
          <p:cNvPr id="3" name="Subtitle 2"/>
          <p:cNvSpPr>
            <a:spLocks noGrp="1"/>
          </p:cNvSpPr>
          <p:nvPr>
            <p:ph type="subTitle" idx="1"/>
          </p:nvPr>
        </p:nvSpPr>
        <p:spPr>
          <a:xfrm>
            <a:off x="609600" y="3124200"/>
            <a:ext cx="7747000" cy="1960152"/>
          </a:xfrm>
        </p:spPr>
        <p:txBody>
          <a:bodyPr/>
          <a:lstStyle/>
          <a:p>
            <a:r>
              <a:rPr lang="en-US" sz="3400" dirty="0" err="1"/>
              <a:t>Bölüm</a:t>
            </a:r>
            <a:r>
              <a:rPr lang="en-US" sz="3400" dirty="0"/>
              <a:t> 7
</a:t>
            </a:r>
            <a:r>
              <a:rPr lang="en-US" sz="3400" dirty="0" err="1"/>
              <a:t>Yazılım</a:t>
            </a:r>
            <a:r>
              <a:rPr lang="en-US" sz="3400" dirty="0"/>
              <a:t> </a:t>
            </a:r>
            <a:r>
              <a:rPr lang="en-US" sz="3400" dirty="0" err="1"/>
              <a:t>Geliştirmede</a:t>
            </a:r>
            <a:r>
              <a:rPr lang="en-US" sz="3400" dirty="0"/>
              <a:t> </a:t>
            </a:r>
            <a:r>
              <a:rPr lang="en-US" sz="3400" dirty="0" err="1"/>
              <a:t>Etik</a:t>
            </a:r>
            <a:r>
              <a:rPr lang="en-US" sz="3400" dirty="0"/>
              <a:t> </a:t>
            </a:r>
            <a:r>
              <a:rPr lang="en-US" sz="3400" dirty="0" err="1"/>
              <a:t>Kararlar</a:t>
            </a:r>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a:t>Öğrenme hedefleri</a:t>
            </a:r>
            <a:endParaRPr lang="en-US" sz="4000" dirty="0"/>
          </a:p>
        </p:txBody>
      </p:sp>
      <p:sp>
        <p:nvSpPr>
          <p:cNvPr id="4" name="Content Placeholder 3"/>
          <p:cNvSpPr>
            <a:spLocks noGrp="1"/>
          </p:cNvSpPr>
          <p:nvPr>
            <p:ph type="body" idx="1"/>
          </p:nvPr>
        </p:nvSpPr>
        <p:spPr>
          <a:xfrm>
            <a:off x="2425131" y="1302127"/>
            <a:ext cx="6337869" cy="3600986"/>
          </a:xfrm>
        </p:spPr>
        <p:txBody>
          <a:bodyPr/>
          <a:lstStyle/>
          <a:p>
            <a:pPr marL="457200" indent="-457200">
              <a:lnSpc>
                <a:spcPct val="100000"/>
              </a:lnSpc>
              <a:buFont typeface="Arial" panose="020B0604020202020204" pitchFamily="34" charset="0"/>
              <a:buChar char="•"/>
            </a:pPr>
            <a:r>
              <a:rPr lang="en-US" sz="2800" dirty="0" err="1">
                <a:solidFill>
                  <a:schemeClr val="tx1"/>
                </a:solidFill>
              </a:rPr>
              <a:t>Yazılım</a:t>
            </a:r>
            <a:r>
              <a:rPr lang="en-US" sz="2800" dirty="0">
                <a:solidFill>
                  <a:schemeClr val="tx1"/>
                </a:solidFill>
              </a:rPr>
              <a:t> </a:t>
            </a:r>
            <a:r>
              <a:rPr lang="en-US" sz="2800" dirty="0" err="1">
                <a:solidFill>
                  <a:schemeClr val="tx1"/>
                </a:solidFill>
              </a:rPr>
              <a:t>kalitesi</a:t>
            </a:r>
            <a:r>
              <a:rPr lang="en-US" sz="2800" dirty="0">
                <a:solidFill>
                  <a:schemeClr val="tx1"/>
                </a:solidFill>
              </a:rPr>
              <a:t> </a:t>
            </a:r>
            <a:r>
              <a:rPr lang="en-US" sz="2800" dirty="0" err="1">
                <a:solidFill>
                  <a:schemeClr val="tx1"/>
                </a:solidFill>
              </a:rPr>
              <a:t>ile</a:t>
            </a:r>
            <a:r>
              <a:rPr lang="en-US" sz="2800" dirty="0">
                <a:solidFill>
                  <a:schemeClr val="tx1"/>
                </a:solidFill>
              </a:rPr>
              <a:t> ne </a:t>
            </a:r>
            <a:r>
              <a:rPr lang="en-US" sz="2800" dirty="0" err="1">
                <a:solidFill>
                  <a:schemeClr val="tx1"/>
                </a:solidFill>
              </a:rPr>
              <a:t>kastedilmektedir</a:t>
            </a:r>
            <a:r>
              <a:rPr lang="en-US" sz="2800" dirty="0">
                <a:solidFill>
                  <a:schemeClr val="tx1"/>
                </a:solidFill>
              </a:rPr>
              <a:t>, </a:t>
            </a:r>
            <a:r>
              <a:rPr lang="en-US" sz="2800" dirty="0" err="1">
                <a:solidFill>
                  <a:schemeClr val="tx1"/>
                </a:solidFill>
              </a:rPr>
              <a:t>neden</a:t>
            </a:r>
            <a:r>
              <a:rPr lang="en-US" sz="2800" dirty="0">
                <a:solidFill>
                  <a:schemeClr val="tx1"/>
                </a:solidFill>
              </a:rPr>
              <a:t> </a:t>
            </a:r>
            <a:r>
              <a:rPr lang="en-US" sz="2800" dirty="0" err="1">
                <a:solidFill>
                  <a:schemeClr val="tx1"/>
                </a:solidFill>
              </a:rPr>
              <a:t>bu</a:t>
            </a:r>
            <a:r>
              <a:rPr lang="en-US" sz="2800" dirty="0">
                <a:solidFill>
                  <a:schemeClr val="tx1"/>
                </a:solidFill>
              </a:rPr>
              <a:t> </a:t>
            </a:r>
            <a:r>
              <a:rPr lang="en-US" sz="2800" dirty="0" err="1">
                <a:solidFill>
                  <a:schemeClr val="tx1"/>
                </a:solidFill>
              </a:rPr>
              <a:t>kadar</a:t>
            </a:r>
            <a:r>
              <a:rPr lang="en-US" sz="2800" dirty="0">
                <a:solidFill>
                  <a:schemeClr val="tx1"/>
                </a:solidFill>
              </a:rPr>
              <a:t> </a:t>
            </a:r>
            <a:r>
              <a:rPr lang="en-US" sz="2800" dirty="0" err="1">
                <a:solidFill>
                  <a:schemeClr val="tx1"/>
                </a:solidFill>
              </a:rPr>
              <a:t>önemlidir</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yazılım</a:t>
            </a:r>
            <a:r>
              <a:rPr lang="en-US" sz="2800" dirty="0">
                <a:solidFill>
                  <a:schemeClr val="tx1"/>
                </a:solidFill>
              </a:rPr>
              <a:t> </a:t>
            </a:r>
            <a:r>
              <a:rPr lang="en-US" sz="2800" dirty="0" err="1">
                <a:solidFill>
                  <a:schemeClr val="tx1"/>
                </a:solidFill>
              </a:rPr>
              <a:t>üreticileri</a:t>
            </a:r>
            <a:r>
              <a:rPr lang="en-US" sz="2800" dirty="0">
                <a:solidFill>
                  <a:schemeClr val="tx1"/>
                </a:solidFill>
              </a:rPr>
              <a:t> </a:t>
            </a:r>
            <a:r>
              <a:rPr lang="en-US" sz="2800" dirty="0" err="1">
                <a:solidFill>
                  <a:schemeClr val="tx1"/>
                </a:solidFill>
              </a:rPr>
              <a:t>proje</a:t>
            </a:r>
            <a:r>
              <a:rPr lang="en-US" sz="2800" dirty="0">
                <a:solidFill>
                  <a:schemeClr val="tx1"/>
                </a:solidFill>
              </a:rPr>
              <a:t> </a:t>
            </a:r>
            <a:r>
              <a:rPr lang="en-US" sz="2800" dirty="0" err="1">
                <a:solidFill>
                  <a:schemeClr val="tx1"/>
                </a:solidFill>
              </a:rPr>
              <a:t>programları</a:t>
            </a:r>
            <a:r>
              <a:rPr lang="en-US" sz="2800" dirty="0">
                <a:solidFill>
                  <a:schemeClr val="tx1"/>
                </a:solidFill>
              </a:rPr>
              <a:t>, </a:t>
            </a:r>
            <a:r>
              <a:rPr lang="en-US" sz="2800" dirty="0" err="1">
                <a:solidFill>
                  <a:schemeClr val="tx1"/>
                </a:solidFill>
              </a:rPr>
              <a:t>proje</a:t>
            </a:r>
            <a:r>
              <a:rPr lang="en-US" sz="2800" dirty="0">
                <a:solidFill>
                  <a:schemeClr val="tx1"/>
                </a:solidFill>
              </a:rPr>
              <a:t> </a:t>
            </a:r>
            <a:r>
              <a:rPr lang="en-US" sz="2800" dirty="0" err="1">
                <a:solidFill>
                  <a:schemeClr val="tx1"/>
                </a:solidFill>
              </a:rPr>
              <a:t>maliyetleri</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yazılım</a:t>
            </a:r>
            <a:r>
              <a:rPr lang="en-US" sz="2800" dirty="0">
                <a:solidFill>
                  <a:schemeClr val="tx1"/>
                </a:solidFill>
              </a:rPr>
              <a:t> </a:t>
            </a:r>
            <a:r>
              <a:rPr lang="en-US" sz="2800" dirty="0" err="1">
                <a:solidFill>
                  <a:schemeClr val="tx1"/>
                </a:solidFill>
              </a:rPr>
              <a:t>kalitesi</a:t>
            </a:r>
            <a:r>
              <a:rPr lang="en-US" sz="2800" dirty="0">
                <a:solidFill>
                  <a:schemeClr val="tx1"/>
                </a:solidFill>
              </a:rPr>
              <a:t> </a:t>
            </a:r>
            <a:r>
              <a:rPr lang="en-US" sz="2800" dirty="0" err="1">
                <a:solidFill>
                  <a:schemeClr val="tx1"/>
                </a:solidFill>
              </a:rPr>
              <a:t>arasında</a:t>
            </a:r>
            <a:r>
              <a:rPr lang="en-US" sz="2800" dirty="0">
                <a:solidFill>
                  <a:schemeClr val="tx1"/>
                </a:solidFill>
              </a:rPr>
              <a:t> </a:t>
            </a:r>
            <a:r>
              <a:rPr lang="en-US" sz="2800" dirty="0" err="1">
                <a:solidFill>
                  <a:schemeClr val="tx1"/>
                </a:solidFill>
              </a:rPr>
              <a:t>değiş</a:t>
            </a:r>
            <a:r>
              <a:rPr lang="en-US" sz="2800" dirty="0">
                <a:solidFill>
                  <a:schemeClr val="tx1"/>
                </a:solidFill>
              </a:rPr>
              <a:t> </a:t>
            </a:r>
            <a:r>
              <a:rPr lang="en-US" sz="2800" dirty="0" err="1">
                <a:solidFill>
                  <a:schemeClr val="tx1"/>
                </a:solidFill>
              </a:rPr>
              <a:t>tokuş</a:t>
            </a:r>
            <a:r>
              <a:rPr lang="en-US" sz="2800" dirty="0">
                <a:solidFill>
                  <a:schemeClr val="tx1"/>
                </a:solidFill>
              </a:rPr>
              <a:t> </a:t>
            </a:r>
            <a:r>
              <a:rPr lang="en-US" sz="2800" dirty="0" err="1">
                <a:solidFill>
                  <a:schemeClr val="tx1"/>
                </a:solidFill>
              </a:rPr>
              <a:t>içeren</a:t>
            </a:r>
            <a:r>
              <a:rPr lang="en-US" sz="2800" dirty="0">
                <a:solidFill>
                  <a:schemeClr val="tx1"/>
                </a:solidFill>
              </a:rPr>
              <a:t> </a:t>
            </a:r>
            <a:r>
              <a:rPr lang="en-US" sz="2800" dirty="0" err="1">
                <a:solidFill>
                  <a:schemeClr val="tx1"/>
                </a:solidFill>
              </a:rPr>
              <a:t>kararlar</a:t>
            </a:r>
            <a:r>
              <a:rPr lang="en-US" sz="2800" dirty="0">
                <a:solidFill>
                  <a:schemeClr val="tx1"/>
                </a:solidFill>
              </a:rPr>
              <a:t> </a:t>
            </a:r>
            <a:r>
              <a:rPr lang="en-US" sz="2800" dirty="0" err="1">
                <a:solidFill>
                  <a:schemeClr val="tx1"/>
                </a:solidFill>
              </a:rPr>
              <a:t>alırken</a:t>
            </a:r>
            <a:r>
              <a:rPr lang="en-US" sz="2800" dirty="0">
                <a:solidFill>
                  <a:schemeClr val="tx1"/>
                </a:solidFill>
              </a:rPr>
              <a:t> hangi </a:t>
            </a:r>
            <a:r>
              <a:rPr lang="en-US" sz="2800" dirty="0" err="1">
                <a:solidFill>
                  <a:schemeClr val="tx1"/>
                </a:solidFill>
              </a:rPr>
              <a:t>potansiyel</a:t>
            </a:r>
            <a:r>
              <a:rPr lang="en-US" sz="2800" dirty="0">
                <a:solidFill>
                  <a:schemeClr val="tx1"/>
                </a:solidFill>
              </a:rPr>
              <a:t> </a:t>
            </a:r>
            <a:r>
              <a:rPr lang="en-US" sz="2800" dirty="0" err="1">
                <a:solidFill>
                  <a:schemeClr val="tx1"/>
                </a:solidFill>
              </a:rPr>
              <a:t>etik</a:t>
            </a:r>
            <a:r>
              <a:rPr lang="en-US" sz="2800" dirty="0">
                <a:solidFill>
                  <a:schemeClr val="tx1"/>
                </a:solidFill>
              </a:rPr>
              <a:t> </a:t>
            </a:r>
            <a:r>
              <a:rPr lang="en-US" sz="2800" dirty="0" err="1">
                <a:solidFill>
                  <a:schemeClr val="tx1"/>
                </a:solidFill>
              </a:rPr>
              <a:t>sorunlarla</a:t>
            </a:r>
            <a:r>
              <a:rPr lang="en-US" sz="2800" dirty="0">
                <a:solidFill>
                  <a:schemeClr val="tx1"/>
                </a:solidFill>
              </a:rPr>
              <a:t> </a:t>
            </a:r>
            <a:r>
              <a:rPr lang="en-US" sz="2800" dirty="0" err="1">
                <a:solidFill>
                  <a:schemeClr val="tx1"/>
                </a:solidFill>
              </a:rPr>
              <a:t>karşılaşırlar</a:t>
            </a:r>
            <a:r>
              <a:rPr lang="en-US" sz="2800" dirty="0">
                <a:solidFill>
                  <a:schemeClr val="tx1"/>
                </a:solidFill>
              </a:rPr>
              <a:t>?
</a:t>
            </a:r>
            <a:r>
              <a:rPr lang="en-US" sz="2800" dirty="0" err="1">
                <a:solidFill>
                  <a:schemeClr val="tx1"/>
                </a:solidFill>
              </a:rPr>
              <a:t>Kalite</a:t>
            </a:r>
            <a:r>
              <a:rPr lang="en-US" sz="2800" dirty="0">
                <a:solidFill>
                  <a:schemeClr val="tx1"/>
                </a:solidFill>
              </a:rPr>
              <a:t> </a:t>
            </a:r>
            <a:r>
              <a:rPr lang="en-US" sz="2800" dirty="0" err="1">
                <a:solidFill>
                  <a:schemeClr val="tx1"/>
                </a:solidFill>
              </a:rPr>
              <a:t>sistemleri</a:t>
            </a:r>
            <a:r>
              <a:rPr lang="en-US" sz="2800" dirty="0">
                <a:solidFill>
                  <a:schemeClr val="tx1"/>
                </a:solidFill>
              </a:rPr>
              <a:t> </a:t>
            </a:r>
            <a:r>
              <a:rPr lang="en-US" sz="2800" dirty="0" err="1">
                <a:solidFill>
                  <a:schemeClr val="tx1"/>
                </a:solidFill>
              </a:rPr>
              <a:t>geliştirmek</a:t>
            </a:r>
            <a:r>
              <a:rPr lang="en-US" sz="2800" dirty="0">
                <a:solidFill>
                  <a:schemeClr val="tx1"/>
                </a:solidFill>
              </a:rPr>
              <a:t> için </a:t>
            </a:r>
            <a:r>
              <a:rPr lang="en-US" sz="2800" dirty="0" err="1">
                <a:solidFill>
                  <a:schemeClr val="tx1"/>
                </a:solidFill>
              </a:rPr>
              <a:t>bazı</a:t>
            </a:r>
            <a:r>
              <a:rPr lang="en-US" sz="2800" dirty="0">
                <a:solidFill>
                  <a:schemeClr val="tx1"/>
                </a:solidFill>
              </a:rPr>
              <a:t> </a:t>
            </a:r>
            <a:r>
              <a:rPr lang="en-US" sz="2800" dirty="0" err="1">
                <a:solidFill>
                  <a:schemeClr val="tx1"/>
                </a:solidFill>
              </a:rPr>
              <a:t>etkili</a:t>
            </a:r>
            <a:r>
              <a:rPr lang="en-US" sz="2800" dirty="0">
                <a:solidFill>
                  <a:schemeClr val="tx1"/>
                </a:solidFill>
              </a:rPr>
              <a:t> </a:t>
            </a:r>
            <a:r>
              <a:rPr lang="en-US" sz="2800" dirty="0" err="1">
                <a:solidFill>
                  <a:schemeClr val="tx1"/>
                </a:solidFill>
              </a:rPr>
              <a:t>stratejiler</a:t>
            </a:r>
            <a:r>
              <a:rPr lang="en-US" sz="2800" dirty="0">
                <a:solidFill>
                  <a:schemeClr val="tx1"/>
                </a:solidFill>
              </a:rPr>
              <a:t> </a:t>
            </a:r>
            <a:r>
              <a:rPr lang="en-US" sz="2800" dirty="0" err="1">
                <a:solidFill>
                  <a:schemeClr val="tx1"/>
                </a:solidFill>
              </a:rPr>
              <a:t>nelerdir</a:t>
            </a:r>
            <a:r>
              <a:rPr lang="en-US" sz="2800" dirty="0">
                <a:solidFill>
                  <a:schemeClr val="tx1"/>
                </a:solidFill>
              </a:rPr>
              <a:t>?</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4331" y="1025768"/>
            <a:ext cx="8415338" cy="5541773"/>
          </a:xfrm>
        </p:spPr>
        <p:txBody>
          <a:bodyPr/>
          <a:lstStyle/>
          <a:p>
            <a:pPr marL="171450" lvl="1">
              <a:spcBef>
                <a:spcPts val="800"/>
              </a:spcBef>
              <a:buClr>
                <a:schemeClr val="accent2"/>
              </a:buClr>
            </a:pPr>
            <a:r>
              <a:rPr lang="en-US" sz="2700"/>
              <a:t>Yüksek kaliteli yazılım sistemleri: Öğrenmesi ve kullanması kolay; hızlı ve verimli bir şekilde gerçekleştirin, kullanıcıların ihtiyaçlarını karşılayın; ve minimum sistem kesintisi ile güvenli ve güvenilir bir şekilde çalışın
Yazılım hatası: Kaldırılmadığı takdirde bir yazılım sisteminin kullanıcılarının ihtiyaçlarını karşılayamamasına neden olabilecek herhangi bir hata
Yazılım kalitesi: Bir yazılım ürününün, kullanıcılarının ihtiyaçlarını karşılama derecesi
Kalite yönetimi: Ürünlerin kalitesini ve geliştirme sürecini tanımlamak, ölçmek ve iyileştirmek
Teslim edilecekler: Gereksinim beyanları ve akış şemaları gibi geliştirme sürecinin ürünleri</a:t>
            </a:r>
            <a:endParaRPr lang="en-US" sz="2700" dirty="0"/>
          </a:p>
        </p:txBody>
      </p:sp>
      <p:sp>
        <p:nvSpPr>
          <p:cNvPr id="3" name="Title 2"/>
          <p:cNvSpPr>
            <a:spLocks noGrp="1"/>
          </p:cNvSpPr>
          <p:nvPr>
            <p:ph type="title"/>
          </p:nvPr>
        </p:nvSpPr>
        <p:spPr>
          <a:xfrm>
            <a:off x="762000" y="290459"/>
            <a:ext cx="8026400" cy="527837"/>
          </a:xfrm>
        </p:spPr>
        <p:txBody>
          <a:bodyPr/>
          <a:lstStyle/>
          <a:p>
            <a:r>
              <a:rPr lang="en-US" sz="4000"/>
              <a:t>Yazılım Kalitesi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957511"/>
          </a:xfrm>
        </p:spPr>
        <p:txBody>
          <a:bodyPr/>
          <a:lstStyle/>
          <a:p>
            <a:r>
              <a:rPr lang="en-US" sz="2700"/>
              <a:t>Birçok geliştirici, kaliteyi yazılıma nasıl tasarlayacağını bilmiyor; diğerleri bunu yapmak için zaman ayırmaz.
Geliştiriciler, bir dizi yazılım mühendisliği ilkesini tanımlamalı ve takip etmeli ve hatalardan ders almaya kararlı olmalıdır.
Geliştiriciler, sistemlerinin çalışacağı ortamı anlamalı ve insan hatasına karşı bağışık sistemler tasarlamalıdır.
Yazılım şirketlerinin ürünlerini pazara sunma süresini kısaltmak için hissettikleri aşırı baskı
Kaliteyi sağlamak için gereken kaynaklar ve zaman, genellikle yeni bir ürün gönderme baskısı altında kesilir</a:t>
            </a:r>
            <a:endParaRPr lang="en-US" sz="2700" dirty="0"/>
          </a:p>
        </p:txBody>
      </p:sp>
      <p:sp>
        <p:nvSpPr>
          <p:cNvPr id="3" name="Title 2"/>
          <p:cNvSpPr>
            <a:spLocks noGrp="1"/>
          </p:cNvSpPr>
          <p:nvPr>
            <p:ph type="title"/>
          </p:nvPr>
        </p:nvSpPr>
        <p:spPr>
          <a:xfrm>
            <a:off x="762000" y="290459"/>
            <a:ext cx="8026400" cy="527837"/>
          </a:xfrm>
        </p:spPr>
        <p:txBody>
          <a:bodyPr/>
          <a:lstStyle/>
          <a:p>
            <a:r>
              <a:rPr lang="en-US" sz="4000"/>
              <a:t>Düşük Kaliteli Yazılımın Nedenleri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04360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05638"/>
            <a:ext cx="8415338" cy="4298613"/>
          </a:xfrm>
        </p:spPr>
        <p:txBody>
          <a:bodyPr/>
          <a:lstStyle/>
          <a:p>
            <a:pPr marL="171450" lvl="1">
              <a:spcBef>
                <a:spcPts val="400"/>
              </a:spcBef>
              <a:buClr>
                <a:schemeClr val="accent2"/>
              </a:buClr>
            </a:pPr>
            <a:r>
              <a:rPr lang="en-US" sz="2800" dirty="0" err="1"/>
              <a:t>İş</a:t>
            </a:r>
            <a:r>
              <a:rPr lang="en-US" sz="2800" dirty="0"/>
              <a:t> </a:t>
            </a:r>
            <a:r>
              <a:rPr lang="en-US" sz="2800" dirty="0" err="1"/>
              <a:t>bilgi</a:t>
            </a:r>
            <a:r>
              <a:rPr lang="en-US" sz="2800" dirty="0"/>
              <a:t> </a:t>
            </a:r>
            <a:r>
              <a:rPr lang="en-US" sz="2800" dirty="0" err="1"/>
              <a:t>sistemi</a:t>
            </a:r>
            <a:r>
              <a:rPr lang="en-US" sz="2800" dirty="0"/>
              <a:t>: </a:t>
            </a:r>
            <a:r>
              <a:rPr lang="en-US" sz="2800" dirty="0" err="1"/>
              <a:t>Verileri</a:t>
            </a:r>
            <a:r>
              <a:rPr lang="en-US" sz="2800" dirty="0"/>
              <a:t> </a:t>
            </a:r>
            <a:r>
              <a:rPr lang="en-US" sz="2800" dirty="0" err="1"/>
              <a:t>toplayan</a:t>
            </a:r>
            <a:r>
              <a:rPr lang="en-US" sz="2800" dirty="0"/>
              <a:t>, </a:t>
            </a:r>
            <a:r>
              <a:rPr lang="en-US" sz="2800" dirty="0" err="1"/>
              <a:t>işleyen</a:t>
            </a:r>
            <a:r>
              <a:rPr lang="en-US" sz="2800" dirty="0"/>
              <a:t> </a:t>
            </a:r>
            <a:r>
              <a:rPr lang="en-US" sz="2800" dirty="0" err="1"/>
              <a:t>ve</a:t>
            </a:r>
            <a:r>
              <a:rPr lang="en-US" sz="2800" dirty="0"/>
              <a:t> </a:t>
            </a:r>
            <a:r>
              <a:rPr lang="en-US" sz="2800" dirty="0" err="1"/>
              <a:t>çıktıyı</a:t>
            </a:r>
            <a:r>
              <a:rPr lang="en-US" sz="2800" dirty="0"/>
              <a:t> </a:t>
            </a:r>
            <a:r>
              <a:rPr lang="en-US" sz="2800" dirty="0" err="1"/>
              <a:t>yayan</a:t>
            </a:r>
            <a:r>
              <a:rPr lang="en-US" sz="2800" dirty="0"/>
              <a:t> </a:t>
            </a:r>
            <a:r>
              <a:rPr lang="en-US" sz="2800" dirty="0" err="1"/>
              <a:t>birbiriyle</a:t>
            </a:r>
            <a:r>
              <a:rPr lang="en-US" sz="2800" dirty="0"/>
              <a:t> </a:t>
            </a:r>
            <a:r>
              <a:rPr lang="en-US" sz="2800" dirty="0" err="1"/>
              <a:t>ilişkili</a:t>
            </a:r>
            <a:r>
              <a:rPr lang="en-US" sz="2800" dirty="0"/>
              <a:t> </a:t>
            </a:r>
            <a:r>
              <a:rPr lang="en-US" sz="2800" dirty="0" err="1"/>
              <a:t>bir</a:t>
            </a:r>
            <a:r>
              <a:rPr lang="en-US" sz="2800" dirty="0"/>
              <a:t> dizi </a:t>
            </a:r>
            <a:r>
              <a:rPr lang="en-US" sz="2800" dirty="0" err="1"/>
              <a:t>bileşen</a:t>
            </a:r>
            <a:r>
              <a:rPr lang="en-US" sz="2800" dirty="0"/>
              <a:t>
</a:t>
            </a:r>
            <a:r>
              <a:rPr lang="en-US" sz="2800" dirty="0" err="1"/>
              <a:t>Ticari</a:t>
            </a:r>
            <a:r>
              <a:rPr lang="en-US" sz="2800" dirty="0"/>
              <a:t> </a:t>
            </a:r>
            <a:r>
              <a:rPr lang="en-US" sz="2800" dirty="0" err="1"/>
              <a:t>işlemleri</a:t>
            </a:r>
            <a:r>
              <a:rPr lang="en-US" sz="2800" dirty="0"/>
              <a:t> </a:t>
            </a:r>
            <a:r>
              <a:rPr lang="en-US" sz="2800" dirty="0" err="1"/>
              <a:t>yakalar</a:t>
            </a:r>
            <a:r>
              <a:rPr lang="en-US" sz="2800" dirty="0"/>
              <a:t> </a:t>
            </a:r>
            <a:r>
              <a:rPr lang="en-US" sz="2800" dirty="0" err="1"/>
              <a:t>ve</a:t>
            </a:r>
            <a:r>
              <a:rPr lang="en-US" sz="2800" dirty="0"/>
              <a:t> </a:t>
            </a:r>
            <a:r>
              <a:rPr lang="en-US" sz="2800" dirty="0" err="1"/>
              <a:t>kaydeder</a:t>
            </a:r>
            <a:r>
              <a:rPr lang="en-US" sz="2800" dirty="0"/>
              <a:t>
</a:t>
            </a:r>
            <a:r>
              <a:rPr lang="en-US" sz="2800" dirty="0" err="1"/>
              <a:t>Endüstriyel</a:t>
            </a:r>
            <a:r>
              <a:rPr lang="en-US" sz="2800" dirty="0"/>
              <a:t> </a:t>
            </a:r>
            <a:r>
              <a:rPr lang="en-US" sz="2800" dirty="0" err="1"/>
              <a:t>süreçleri</a:t>
            </a:r>
            <a:r>
              <a:rPr lang="en-US" sz="2800" dirty="0"/>
              <a:t> </a:t>
            </a:r>
            <a:r>
              <a:rPr lang="en-US" sz="2800" dirty="0" err="1"/>
              <a:t>ve</a:t>
            </a:r>
            <a:r>
              <a:rPr lang="en-US" sz="2800" dirty="0"/>
              <a:t> </a:t>
            </a:r>
            <a:r>
              <a:rPr lang="en-US" sz="2800" dirty="0" err="1"/>
              <a:t>endüstriyel</a:t>
            </a:r>
            <a:r>
              <a:rPr lang="en-US" sz="2800" dirty="0"/>
              <a:t> </a:t>
            </a:r>
            <a:r>
              <a:rPr lang="en-US" sz="2800" dirty="0" err="1"/>
              <a:t>ve</a:t>
            </a:r>
            <a:r>
              <a:rPr lang="en-US" sz="2800" dirty="0"/>
              <a:t> </a:t>
            </a:r>
            <a:r>
              <a:rPr lang="en-US" sz="2800" dirty="0" err="1"/>
              <a:t>tüketici</a:t>
            </a:r>
            <a:r>
              <a:rPr lang="en-US" sz="2800" dirty="0"/>
              <a:t> </a:t>
            </a:r>
            <a:r>
              <a:rPr lang="en-US" sz="2800" dirty="0" err="1"/>
              <a:t>ürünlerinin</a:t>
            </a:r>
            <a:r>
              <a:rPr lang="en-US" sz="2800" dirty="0"/>
              <a:t> </a:t>
            </a:r>
            <a:r>
              <a:rPr lang="en-US" sz="2800" dirty="0" err="1"/>
              <a:t>çalışmasını</a:t>
            </a:r>
            <a:r>
              <a:rPr lang="en-US" sz="2800" dirty="0"/>
              <a:t> </a:t>
            </a:r>
            <a:r>
              <a:rPr lang="en-US" sz="2800" dirty="0" err="1"/>
              <a:t>kontrol</a:t>
            </a:r>
            <a:r>
              <a:rPr lang="en-US" sz="2800" dirty="0"/>
              <a:t> </a:t>
            </a:r>
            <a:r>
              <a:rPr lang="en-US" sz="2800" dirty="0" err="1"/>
              <a:t>eder</a:t>
            </a:r>
            <a:r>
              <a:rPr lang="en-US" sz="2800" dirty="0"/>
              <a:t>
</a:t>
            </a:r>
            <a:r>
              <a:rPr lang="en-US" sz="2800" dirty="0" err="1"/>
              <a:t>Karar</a:t>
            </a:r>
            <a:r>
              <a:rPr lang="en-US" sz="2800" dirty="0"/>
              <a:t> </a:t>
            </a:r>
            <a:r>
              <a:rPr lang="en-US" sz="2800" dirty="0" err="1"/>
              <a:t>destek</a:t>
            </a:r>
            <a:r>
              <a:rPr lang="en-US" sz="2800" dirty="0"/>
              <a:t> </a:t>
            </a:r>
            <a:r>
              <a:rPr lang="en-US" sz="2800" dirty="0" err="1"/>
              <a:t>sistemi</a:t>
            </a:r>
            <a:r>
              <a:rPr lang="en-US" sz="2800" dirty="0"/>
              <a:t> (KDS): </a:t>
            </a:r>
            <a:r>
              <a:rPr lang="en-US" sz="2800" dirty="0" err="1"/>
              <a:t>Karar</a:t>
            </a:r>
            <a:r>
              <a:rPr lang="en-US" sz="2800" dirty="0"/>
              <a:t> </a:t>
            </a:r>
            <a:r>
              <a:rPr lang="en-US" sz="2800" dirty="0" err="1"/>
              <a:t>vermeyi</a:t>
            </a:r>
            <a:r>
              <a:rPr lang="en-US" sz="2800" dirty="0"/>
              <a:t> </a:t>
            </a:r>
            <a:r>
              <a:rPr lang="en-US" sz="2800" dirty="0" err="1"/>
              <a:t>geliştirmek</a:t>
            </a:r>
            <a:r>
              <a:rPr lang="en-US" sz="2800" dirty="0"/>
              <a:t> için </a:t>
            </a:r>
            <a:r>
              <a:rPr lang="en-US" sz="2800" dirty="0" err="1"/>
              <a:t>kullanılır</a:t>
            </a:r>
            <a:r>
              <a:rPr lang="en-US" sz="2800" dirty="0"/>
              <a:t>
</a:t>
            </a:r>
            <a:r>
              <a:rPr lang="en-US" sz="2800" dirty="0" err="1"/>
              <a:t>Yanlış</a:t>
            </a:r>
            <a:r>
              <a:rPr lang="en-US" sz="2800" dirty="0"/>
              <a:t> </a:t>
            </a:r>
            <a:r>
              <a:rPr lang="en-US" sz="2800" dirty="0" err="1"/>
              <a:t>yönetilen</a:t>
            </a:r>
            <a:r>
              <a:rPr lang="en-US" sz="2800" dirty="0"/>
              <a:t> </a:t>
            </a:r>
            <a:r>
              <a:rPr lang="en-US" sz="2800" dirty="0" err="1"/>
              <a:t>yazılımlar</a:t>
            </a:r>
            <a:r>
              <a:rPr lang="en-US" sz="2800" dirty="0"/>
              <a:t>, </a:t>
            </a:r>
            <a:r>
              <a:rPr lang="en-US" sz="2800" dirty="0" err="1"/>
              <a:t>ürün</a:t>
            </a:r>
            <a:r>
              <a:rPr lang="en-US" sz="2800" dirty="0"/>
              <a:t> </a:t>
            </a:r>
            <a:r>
              <a:rPr lang="en-US" sz="2800" dirty="0" err="1"/>
              <a:t>teslim</a:t>
            </a:r>
            <a:r>
              <a:rPr lang="en-US" sz="2800" dirty="0"/>
              <a:t> </a:t>
            </a:r>
            <a:r>
              <a:rPr lang="en-US" sz="2800" dirty="0" err="1"/>
              <a:t>tarihlerinin</a:t>
            </a:r>
            <a:r>
              <a:rPr lang="en-US" sz="2800" dirty="0"/>
              <a:t> </a:t>
            </a:r>
            <a:r>
              <a:rPr lang="en-US" sz="2800" dirty="0" err="1"/>
              <a:t>kaçırılmasına</a:t>
            </a:r>
            <a:r>
              <a:rPr lang="en-US" sz="2800" dirty="0"/>
              <a:t>, </a:t>
            </a:r>
            <a:r>
              <a:rPr lang="en-US" sz="2800" dirty="0" err="1"/>
              <a:t>ürün</a:t>
            </a:r>
            <a:r>
              <a:rPr lang="en-US" sz="2800" dirty="0"/>
              <a:t> </a:t>
            </a:r>
            <a:r>
              <a:rPr lang="en-US" sz="2800" dirty="0" err="1"/>
              <a:t>geliştirme</a:t>
            </a:r>
            <a:r>
              <a:rPr lang="en-US" sz="2800" dirty="0"/>
              <a:t> </a:t>
            </a:r>
            <a:r>
              <a:rPr lang="en-US" sz="2800" dirty="0" err="1"/>
              <a:t>maliyetlerinin</a:t>
            </a:r>
            <a:r>
              <a:rPr lang="en-US" sz="2800" dirty="0"/>
              <a:t> </a:t>
            </a:r>
            <a:r>
              <a:rPr lang="en-US" sz="2800" dirty="0" err="1"/>
              <a:t>artmasına</a:t>
            </a:r>
            <a:r>
              <a:rPr lang="en-US" sz="2800" dirty="0"/>
              <a:t> </a:t>
            </a:r>
            <a:r>
              <a:rPr lang="en-US" sz="2800" dirty="0" err="1"/>
              <a:t>ve</a:t>
            </a:r>
            <a:r>
              <a:rPr lang="en-US" sz="2800" dirty="0"/>
              <a:t> </a:t>
            </a:r>
            <a:r>
              <a:rPr lang="en-US" sz="2800" dirty="0" err="1"/>
              <a:t>düşük</a:t>
            </a:r>
            <a:r>
              <a:rPr lang="en-US" sz="2800" dirty="0"/>
              <a:t> </a:t>
            </a:r>
            <a:r>
              <a:rPr lang="en-US" sz="2800" dirty="0" err="1"/>
              <a:t>kaliteli</a:t>
            </a:r>
            <a:r>
              <a:rPr lang="en-US" sz="2800" dirty="0"/>
              <a:t> </a:t>
            </a:r>
            <a:r>
              <a:rPr lang="en-US" sz="2800" dirty="0" err="1"/>
              <a:t>ürünlerin</a:t>
            </a:r>
            <a:r>
              <a:rPr lang="en-US" sz="2800" dirty="0"/>
              <a:t> </a:t>
            </a:r>
            <a:r>
              <a:rPr lang="en-US" sz="2800" dirty="0" err="1"/>
              <a:t>teslim</a:t>
            </a:r>
            <a:r>
              <a:rPr lang="en-US" sz="2800" dirty="0"/>
              <a:t> </a:t>
            </a:r>
            <a:r>
              <a:rPr lang="en-US" sz="2800" dirty="0" err="1"/>
              <a:t>edilmesine</a:t>
            </a:r>
            <a:r>
              <a:rPr lang="en-US" sz="2800" dirty="0"/>
              <a:t> </a:t>
            </a:r>
            <a:r>
              <a:rPr lang="en-US" sz="2800" dirty="0" err="1"/>
              <a:t>neden</a:t>
            </a:r>
            <a:r>
              <a:rPr lang="en-US" sz="2800" dirty="0"/>
              <a:t> </a:t>
            </a:r>
            <a:r>
              <a:rPr lang="en-US" sz="2800" dirty="0" err="1"/>
              <a:t>olabilir</a:t>
            </a:r>
            <a:r>
              <a:rPr lang="en-US" sz="2800" dirty="0"/>
              <a:t>.</a:t>
            </a:r>
          </a:p>
        </p:txBody>
      </p:sp>
      <p:sp>
        <p:nvSpPr>
          <p:cNvPr id="3" name="Title 2"/>
          <p:cNvSpPr>
            <a:spLocks noGrp="1"/>
          </p:cNvSpPr>
          <p:nvPr>
            <p:ph type="title"/>
          </p:nvPr>
        </p:nvSpPr>
        <p:spPr>
          <a:xfrm>
            <a:off x="762000" y="290459"/>
            <a:ext cx="8026400" cy="527837"/>
          </a:xfrm>
        </p:spPr>
        <p:txBody>
          <a:bodyPr/>
          <a:lstStyle/>
          <a:p>
            <a:r>
              <a:rPr lang="en-US" sz="4000"/>
              <a:t>Yazılım Kalitesinin Önemi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183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947247"/>
            <a:ext cx="8415338" cy="5527667"/>
          </a:xfrm>
        </p:spPr>
        <p:txBody>
          <a:bodyPr/>
          <a:lstStyle/>
          <a:p>
            <a:pPr marL="171450" lvl="1">
              <a:spcBef>
                <a:spcPts val="1200"/>
              </a:spcBef>
              <a:buClr>
                <a:schemeClr val="accent2"/>
              </a:buClr>
            </a:pPr>
            <a:r>
              <a:rPr lang="en-US" sz="2800"/>
              <a:t>Yazılım kullanımı, ürün sorumluluğu sorunlarını ortaya çıkarır
Ürün sorumluluğu: Kusurlu ürünlerden kaynaklanan yaralanmalar için üreticilerin, satıcıların, kiraya verenlerin ve diğerlerinin sorumluluğu
İddialar kusursuz sorumluluğa, ihmale, garanti ihlaline veya yanlış beyana dayanmaktadır.
Kusursuz sorumluluk: Davalı, ihmal veya kasıt ne olursa olsun yaralanmadan sorumlu tutulur.
Davacı, yalnızca yazılım ürününün kusurlu veya makul olmayan bir şekilde tehlikeli olduğunu ve kusurun yaralanmaya neden olduğunu kanıtlamalıdır</a:t>
            </a:r>
            <a:endParaRPr lang="en-US" dirty="0"/>
          </a:p>
        </p:txBody>
      </p:sp>
      <p:sp>
        <p:nvSpPr>
          <p:cNvPr id="3" name="Title 2"/>
          <p:cNvSpPr>
            <a:spLocks noGrp="1"/>
          </p:cNvSpPr>
          <p:nvPr>
            <p:ph type="title"/>
          </p:nvPr>
        </p:nvSpPr>
        <p:spPr>
          <a:xfrm>
            <a:off x="762000" y="290459"/>
            <a:ext cx="8026400" cy="527837"/>
          </a:xfrm>
        </p:spPr>
        <p:txBody>
          <a:bodyPr/>
          <a:lstStyle/>
          <a:p>
            <a:r>
              <a:rPr lang="en-US" altLang="en-US" sz="4000"/>
              <a:t>Yazılım Ürün Sorumluluğu, Bölüm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61380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5309146"/>
          </a:xfrm>
        </p:spPr>
        <p:txBody>
          <a:bodyPr/>
          <a:lstStyle/>
          <a:p>
            <a:r>
              <a:rPr lang="en-US" sz="3000"/>
              <a:t>Kusursuz sorumluluğa karşı kullanılan yasal savunmalar
Denetleyici olay doktrini
Devlet müteahhit savunması
Zamanaşımı süresi doldu
Ihmal
Makul bir insanın yapacağı şeyi yapmamak veya makul bir insanın yapmayacağı bir şeyi yapmak
Katkıda bulunan ihmal: Davacıların kendi eylemleri yaralanmalarına katkıda bulunur</a:t>
            </a:r>
            <a:endParaRPr lang="en-US" dirty="0"/>
          </a:p>
        </p:txBody>
      </p:sp>
      <p:sp>
        <p:nvSpPr>
          <p:cNvPr id="3" name="Title 2"/>
          <p:cNvSpPr>
            <a:spLocks noGrp="1"/>
          </p:cNvSpPr>
          <p:nvPr>
            <p:ph type="title"/>
          </p:nvPr>
        </p:nvSpPr>
        <p:spPr>
          <a:xfrm>
            <a:off x="762000" y="290459"/>
            <a:ext cx="8026400" cy="527837"/>
          </a:xfrm>
        </p:spPr>
        <p:txBody>
          <a:bodyPr/>
          <a:lstStyle/>
          <a:p>
            <a:r>
              <a:rPr lang="en-US" altLang="en-US" sz="4000"/>
              <a:t>Yazılım Ürünü Sorumluluğu,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727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98079"/>
            <a:ext cx="8415338" cy="3377848"/>
          </a:xfrm>
        </p:spPr>
        <p:txBody>
          <a:bodyPr/>
          <a:lstStyle/>
          <a:p>
            <a:r>
              <a:rPr lang="en-US" sz="3000"/>
              <a:t>Garanti: Alıcılara veya kiracılara bir ürünün belirli kalite standartlarını karşıladığını garanti eder
Garanti ihlali: Alıcı veya kiracı, ürünün garanti şartlarını yerine getirmemesi durumunda satıcıya veya kiraya verene dava açabilir
Yazılım tedarikçisi garantiyi sorumluluğu sınırlamak için yazdığı için kanıtlamak zor</a:t>
            </a:r>
            <a:endParaRPr lang="en-US" dirty="0"/>
          </a:p>
        </p:txBody>
      </p:sp>
      <p:sp>
        <p:nvSpPr>
          <p:cNvPr id="3" name="Title 2"/>
          <p:cNvSpPr>
            <a:spLocks noGrp="1"/>
          </p:cNvSpPr>
          <p:nvPr>
            <p:ph type="title"/>
          </p:nvPr>
        </p:nvSpPr>
        <p:spPr>
          <a:xfrm>
            <a:off x="762000" y="290459"/>
            <a:ext cx="8026400" cy="527837"/>
          </a:xfrm>
        </p:spPr>
        <p:txBody>
          <a:bodyPr/>
          <a:lstStyle/>
          <a:p>
            <a:r>
              <a:rPr lang="en-US" altLang="en-US" sz="4000"/>
              <a:t>Yazılım Ürünü Sorumluluğu, Bölüm 3</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5705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890296"/>
          </a:xfrm>
        </p:spPr>
        <p:txBody>
          <a:bodyPr/>
          <a:lstStyle/>
          <a:p>
            <a:r>
              <a:rPr lang="en-US" sz="3200"/>
              <a:t>Yazılım geliştirme metodolojileri
Yetenek Olgunluk Modeli Entegrasyonu (CMMI) süreç iyileştirme modeli
Güvenlik açısından kritik sistemler için özel teknikler
Risk yönetimi süreçleri
Kalite yönetim standartları</a:t>
            </a:r>
            <a:endParaRPr lang="en-US" sz="3200" dirty="0"/>
          </a:p>
        </p:txBody>
      </p:sp>
      <p:sp>
        <p:nvSpPr>
          <p:cNvPr id="3" name="Title 2"/>
          <p:cNvSpPr>
            <a:spLocks noGrp="1"/>
          </p:cNvSpPr>
          <p:nvPr>
            <p:ph type="title"/>
          </p:nvPr>
        </p:nvSpPr>
        <p:spPr>
          <a:xfrm>
            <a:off x="762000" y="83479"/>
            <a:ext cx="8026400" cy="941796"/>
          </a:xfrm>
        </p:spPr>
        <p:txBody>
          <a:bodyPr/>
          <a:lstStyle/>
          <a:p>
            <a:r>
              <a:rPr lang="en-US" sz="3600"/>
              <a:t>Kaliteli Yazılım Geliştirmek için Stratejiler ve Araçlar</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01461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327065"/>
          </a:xfrm>
        </p:spPr>
        <p:txBody>
          <a:bodyPr/>
          <a:lstStyle/>
          <a:p>
            <a:r>
              <a:rPr lang="en-US" sz="2800"/>
              <a:t>Yazılım geliştirme metodolojisi: Yüksek kaliteli yazılım geliştirirken kontrollü ilerleme sağlayan standart, kanıtlanmış iş süreci
Etkili bir metodolojinin kullanılması, yazılım üreticilerini yasal sorumluluktan koruyabilir 
Yazılım hatalarının sayısını azaltır 
İhmalin kanıtlanmasını zorlaştırır</a:t>
            </a:r>
            <a:endParaRPr lang="en-US" sz="3200" dirty="0"/>
          </a:p>
        </p:txBody>
      </p:sp>
      <p:sp>
        <p:nvSpPr>
          <p:cNvPr id="3" name="Title 2"/>
          <p:cNvSpPr>
            <a:spLocks noGrp="1"/>
          </p:cNvSpPr>
          <p:nvPr>
            <p:ph type="title"/>
          </p:nvPr>
        </p:nvSpPr>
        <p:spPr>
          <a:xfrm>
            <a:off x="762000" y="316844"/>
            <a:ext cx="8026400" cy="475066"/>
          </a:xfrm>
        </p:spPr>
        <p:txBody>
          <a:bodyPr/>
          <a:lstStyle/>
          <a:p>
            <a:r>
              <a:rPr lang="en-US" sz="3600"/>
              <a:t>Yazılım Geliştirme Metodolojileri</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41636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ure 7-1: This diagram illustrates the components of a software development methodology. A methodology defines activities as well as the responsibilities, techniques, and  quality guidelines necessary for accomplishing those activities.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263" y="1752600"/>
            <a:ext cx="8803248" cy="3352800"/>
          </a:xfrm>
        </p:spPr>
      </p:pic>
      <p:sp>
        <p:nvSpPr>
          <p:cNvPr id="3" name="Title 2"/>
          <p:cNvSpPr>
            <a:spLocks noGrp="1"/>
          </p:cNvSpPr>
          <p:nvPr>
            <p:ph type="title"/>
          </p:nvPr>
        </p:nvSpPr>
        <p:spPr>
          <a:xfrm>
            <a:off x="762000" y="81395"/>
            <a:ext cx="8026400" cy="945965"/>
          </a:xfrm>
        </p:spPr>
        <p:txBody>
          <a:bodyPr/>
          <a:lstStyle/>
          <a:p>
            <a:r>
              <a:rPr lang="en-US" sz="3600"/>
              <a:t>Yazılım Geliştirme Metodolojisinin Bileşenleri</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4048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16844"/>
            <a:ext cx="8026400" cy="475066"/>
          </a:xfrm>
        </p:spPr>
        <p:txBody>
          <a:bodyPr/>
          <a:lstStyle/>
          <a:p>
            <a:r>
              <a:rPr lang="en-US" sz="3600"/>
              <a:t>Şelale Sistemi Geliştirme Modeli</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5419176"/>
          </a:xfrm>
        </p:spPr>
        <p:txBody>
          <a:bodyPr/>
          <a:lstStyle/>
          <a:p>
            <a:r>
              <a:rPr lang="en-US" sz="2700" dirty="0" err="1"/>
              <a:t>Şelale</a:t>
            </a:r>
            <a:r>
              <a:rPr lang="en-US" sz="2700" dirty="0"/>
              <a:t> </a:t>
            </a:r>
            <a:r>
              <a:rPr lang="en-US" sz="2700" dirty="0" err="1"/>
              <a:t>sistemi</a:t>
            </a:r>
            <a:r>
              <a:rPr lang="en-US" sz="2700" dirty="0"/>
              <a:t> </a:t>
            </a:r>
            <a:r>
              <a:rPr lang="en-US" sz="2700" dirty="0" err="1"/>
              <a:t>geliştirme</a:t>
            </a:r>
            <a:r>
              <a:rPr lang="en-US" sz="2700" dirty="0"/>
              <a:t> </a:t>
            </a:r>
            <a:r>
              <a:rPr lang="en-US" sz="2700" dirty="0" err="1"/>
              <a:t>modeli</a:t>
            </a:r>
            <a:r>
              <a:rPr lang="en-US" sz="2700" dirty="0"/>
              <a:t>: </a:t>
            </a:r>
            <a:r>
              <a:rPr lang="en-US" sz="2700" dirty="0" err="1"/>
              <a:t>Mevcut</a:t>
            </a:r>
            <a:r>
              <a:rPr lang="en-US" sz="2700" dirty="0"/>
              <a:t> </a:t>
            </a:r>
            <a:r>
              <a:rPr lang="en-US" sz="2700" dirty="0" err="1"/>
              <a:t>aşamanın</a:t>
            </a:r>
            <a:r>
              <a:rPr lang="en-US" sz="2700" dirty="0"/>
              <a:t> </a:t>
            </a:r>
            <a:r>
              <a:rPr lang="en-US" sz="2700" dirty="0" err="1"/>
              <a:t>sonuçları</a:t>
            </a:r>
            <a:r>
              <a:rPr lang="en-US" sz="2700" dirty="0"/>
              <a:t> </a:t>
            </a:r>
            <a:r>
              <a:rPr lang="en-US" sz="2700" dirty="0" err="1"/>
              <a:t>onaylanana</a:t>
            </a:r>
            <a:r>
              <a:rPr lang="en-US" sz="2700" dirty="0"/>
              <a:t> </a:t>
            </a:r>
            <a:r>
              <a:rPr lang="en-US" sz="2700" dirty="0" err="1"/>
              <a:t>kadar</a:t>
            </a:r>
            <a:r>
              <a:rPr lang="en-US" sz="2700" dirty="0"/>
              <a:t> </a:t>
            </a:r>
            <a:r>
              <a:rPr lang="en-US" sz="2700" dirty="0" err="1"/>
              <a:t>bir</a:t>
            </a:r>
            <a:r>
              <a:rPr lang="en-US" sz="2700" dirty="0"/>
              <a:t> </a:t>
            </a:r>
            <a:r>
              <a:rPr lang="en-US" sz="2700" dirty="0" err="1"/>
              <a:t>sonraki</a:t>
            </a:r>
            <a:r>
              <a:rPr lang="en-US" sz="2700" dirty="0"/>
              <a:t> </a:t>
            </a:r>
            <a:r>
              <a:rPr lang="en-US" sz="2700" dirty="0" err="1"/>
              <a:t>aşamanın</a:t>
            </a:r>
            <a:r>
              <a:rPr lang="en-US" sz="2700" dirty="0"/>
              <a:t> </a:t>
            </a:r>
            <a:r>
              <a:rPr lang="en-US" sz="2700" dirty="0" err="1"/>
              <a:t>geliştirilmesinin</a:t>
            </a:r>
            <a:r>
              <a:rPr lang="en-US" sz="2700" dirty="0"/>
              <a:t> </a:t>
            </a:r>
            <a:r>
              <a:rPr lang="en-US" sz="2700" dirty="0" err="1"/>
              <a:t>başlayamayacağı</a:t>
            </a:r>
            <a:r>
              <a:rPr lang="en-US" sz="2700" dirty="0"/>
              <a:t> </a:t>
            </a:r>
            <a:r>
              <a:rPr lang="en-US" sz="2700" dirty="0" err="1"/>
              <a:t>sıralı</a:t>
            </a:r>
            <a:r>
              <a:rPr lang="en-US" sz="2700" dirty="0"/>
              <a:t>, </a:t>
            </a:r>
            <a:r>
              <a:rPr lang="en-US" sz="2700" dirty="0" err="1"/>
              <a:t>çok</a:t>
            </a:r>
            <a:r>
              <a:rPr lang="en-US" sz="2700" dirty="0"/>
              <a:t> </a:t>
            </a:r>
            <a:r>
              <a:rPr lang="en-US" sz="2700" dirty="0" err="1"/>
              <a:t>aşamalı</a:t>
            </a:r>
            <a:r>
              <a:rPr lang="en-US" sz="2700" dirty="0"/>
              <a:t> </a:t>
            </a:r>
            <a:r>
              <a:rPr lang="en-US" sz="2700" dirty="0" err="1"/>
              <a:t>bir</a:t>
            </a:r>
            <a:r>
              <a:rPr lang="en-US" sz="2700" dirty="0"/>
              <a:t> </a:t>
            </a:r>
            <a:r>
              <a:rPr lang="en-US" sz="2700" dirty="0" err="1"/>
              <a:t>sistem</a:t>
            </a:r>
            <a:r>
              <a:rPr lang="en-US" sz="2700" dirty="0"/>
              <a:t> </a:t>
            </a:r>
            <a:r>
              <a:rPr lang="en-US" sz="2700" dirty="0" err="1"/>
              <a:t>geliştirme</a:t>
            </a:r>
            <a:r>
              <a:rPr lang="en-US" sz="2700" dirty="0"/>
              <a:t> </a:t>
            </a:r>
            <a:r>
              <a:rPr lang="en-US" sz="2700" dirty="0" err="1"/>
              <a:t>süreci</a:t>
            </a:r>
            <a:r>
              <a:rPr lang="en-US" sz="2700" dirty="0"/>
              <a:t> 
</a:t>
            </a:r>
            <a:r>
              <a:rPr lang="en-US" sz="2700" dirty="0" err="1"/>
              <a:t>Şelale</a:t>
            </a:r>
            <a:r>
              <a:rPr lang="en-US" sz="2700" dirty="0"/>
              <a:t> </a:t>
            </a:r>
            <a:r>
              <a:rPr lang="en-US" sz="2700" dirty="0" err="1"/>
              <a:t>gelişiminin</a:t>
            </a:r>
            <a:r>
              <a:rPr lang="en-US" sz="2700" dirty="0"/>
              <a:t> </a:t>
            </a:r>
            <a:r>
              <a:rPr lang="en-US" sz="2700" dirty="0" err="1"/>
              <a:t>aşamaları</a:t>
            </a:r>
            <a:r>
              <a:rPr lang="en-US" sz="2700" dirty="0"/>
              <a:t>:
</a:t>
            </a:r>
            <a:r>
              <a:rPr lang="en-US" sz="2700" dirty="0" err="1"/>
              <a:t>Soruşturma</a:t>
            </a:r>
            <a:r>
              <a:rPr lang="en-US" sz="2700" dirty="0"/>
              <a:t>
Analiz
</a:t>
            </a:r>
            <a:r>
              <a:rPr lang="en-US" sz="2700" dirty="0" err="1"/>
              <a:t>Tasarım</a:t>
            </a:r>
            <a:r>
              <a:rPr lang="en-US" sz="2700" dirty="0"/>
              <a:t>
</a:t>
            </a:r>
            <a:r>
              <a:rPr lang="en-US" sz="2700" dirty="0" err="1"/>
              <a:t>İnşaat</a:t>
            </a:r>
            <a:r>
              <a:rPr lang="en-US" sz="2700" dirty="0"/>
              <a:t>
</a:t>
            </a:r>
            <a:r>
              <a:rPr lang="en-US" sz="2700" dirty="0" err="1"/>
              <a:t>Entegrasyon</a:t>
            </a:r>
            <a:r>
              <a:rPr lang="en-US" sz="2700" dirty="0"/>
              <a:t> </a:t>
            </a:r>
            <a:r>
              <a:rPr lang="en-US" sz="2700" dirty="0" err="1"/>
              <a:t>ve</a:t>
            </a:r>
            <a:r>
              <a:rPr lang="en-US" sz="2700" dirty="0"/>
              <a:t> test
</a:t>
            </a:r>
            <a:r>
              <a:rPr lang="en-US" sz="2700" dirty="0" err="1"/>
              <a:t>Uygulama</a:t>
            </a:r>
            <a:endParaRPr lang="en-US" sz="2400" dirty="0"/>
          </a:p>
        </p:txBody>
      </p:sp>
    </p:spTree>
    <p:extLst>
      <p:ext uri="{BB962C8B-B14F-4D97-AF65-F5344CB8AC3E}">
        <p14:creationId xmlns:p14="http://schemas.microsoft.com/office/powerpoint/2010/main" val="1293492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16844"/>
            <a:ext cx="8026400" cy="475066"/>
          </a:xfrm>
        </p:spPr>
        <p:txBody>
          <a:bodyPr/>
          <a:lstStyle/>
          <a:p>
            <a:r>
              <a:rPr lang="en-US" sz="3600"/>
              <a:t>Çevik Geliştirme Metodolojisi</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3991862"/>
          </a:xfrm>
        </p:spPr>
        <p:txBody>
          <a:bodyPr/>
          <a:lstStyle/>
          <a:p>
            <a:r>
              <a:rPr lang="en-US" sz="2800"/>
              <a:t>Çevik geliştirme: Bir sistemin bir ila dört hafta süren yinelemelerde (genellikle sprint olarak adlandırılır) geliştirildiği bir metodoloji
Sistem gereksinimlerinin geliştiğini ve proje başlangıcında tam olarak anlaşılamayacağını veya tanımlanamayacağını kabul eder.
Çevik bir projede, ekip sistemi her bir ila dört haftada bir değerlendirir ve yeni gereksinimleri belirlemek ve uygulamak için bolca fırsat verir.</a:t>
            </a:r>
            <a:endParaRPr lang="en-US" sz="2800" dirty="0"/>
          </a:p>
        </p:txBody>
      </p:sp>
    </p:spTree>
    <p:extLst>
      <p:ext uri="{BB962C8B-B14F-4D97-AF65-F5344CB8AC3E}">
        <p14:creationId xmlns:p14="http://schemas.microsoft.com/office/powerpoint/2010/main" val="3897988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7-1 (part 1): This table presents the pros and cons of the waterfall methodology. &#10;&#10;Pro: Formal review at end of each stage allows maximum management control.&#10;&#10;Pro: Structured processes produce many intermediate products that can be used to measure progress toward developing the system.&#10;&#10;Con: Users’ needs may go unstated or be miscommunicated. Users may end up with a system that meets those needs as understood by the developers; however, this might not be what the users really needed.&#10;&#10;Con: Users can’t easily review intermediate products and evaluate whether a particular product will lead to a system that meets their business requirements."/>
          <p:cNvGraphicFramePr>
            <a:graphicFrameLocks noGrp="1"/>
          </p:cNvGraphicFramePr>
          <p:nvPr>
            <p:ph idx="1"/>
            <p:extLst>
              <p:ext uri="{D42A27DB-BD31-4B8C-83A1-F6EECF244321}">
                <p14:modId xmlns:p14="http://schemas.microsoft.com/office/powerpoint/2010/main" val="608069791"/>
              </p:ext>
            </p:extLst>
          </p:nvPr>
        </p:nvGraphicFramePr>
        <p:xfrm>
          <a:off x="228600" y="1219200"/>
          <a:ext cx="8150774" cy="5071985"/>
        </p:xfrm>
        <a:graphic>
          <a:graphicData uri="http://schemas.openxmlformats.org/drawingml/2006/table">
            <a:tbl>
              <a:tblPr firstRow="1" bandRow="1">
                <a:tableStyleId>{5C22544A-7EE6-4342-B048-85BDC9FD1C3A}</a:tableStyleId>
              </a:tblPr>
              <a:tblGrid>
                <a:gridCol w="4037286">
                  <a:extLst>
                    <a:ext uri="{9D8B030D-6E8A-4147-A177-3AD203B41FA5}">
                      <a16:colId xmlns:a16="http://schemas.microsoft.com/office/drawing/2014/main" val="638234595"/>
                    </a:ext>
                  </a:extLst>
                </a:gridCol>
                <a:gridCol w="4113488">
                  <a:extLst>
                    <a:ext uri="{9D8B030D-6E8A-4147-A177-3AD203B41FA5}">
                      <a16:colId xmlns:a16="http://schemas.microsoft.com/office/drawing/2014/main" val="4173410166"/>
                    </a:ext>
                  </a:extLst>
                </a:gridCol>
              </a:tblGrid>
              <a:tr h="266668">
                <a:tc>
                  <a:txBody>
                    <a:bodyPr/>
                    <a:lstStyle/>
                    <a:p>
                      <a:r>
                        <a:rPr lang="en-US" sz="2400" dirty="0"/>
                        <a:t>Pros</a:t>
                      </a:r>
                    </a:p>
                  </a:txBody>
                  <a:tcPr/>
                </a:tc>
                <a:tc>
                  <a:txBody>
                    <a:bodyPr/>
                    <a:lstStyle/>
                    <a:p>
                      <a:r>
                        <a:rPr lang="en-US" sz="2400" dirty="0"/>
                        <a:t>Cons</a:t>
                      </a:r>
                    </a:p>
                  </a:txBody>
                  <a:tcPr/>
                </a:tc>
                <a:extLst>
                  <a:ext uri="{0D108BD9-81ED-4DB2-BD59-A6C34878D82A}">
                    <a16:rowId xmlns:a16="http://schemas.microsoft.com/office/drawing/2014/main" val="522186059"/>
                  </a:ext>
                </a:extLst>
              </a:tr>
              <a:tr h="2235627">
                <a:tc>
                  <a:txBody>
                    <a:bodyPr/>
                    <a:lstStyle/>
                    <a:p>
                      <a:r>
                        <a:rPr lang="en-US" sz="2200" kern="1200" dirty="0">
                          <a:solidFill>
                            <a:schemeClr val="dk1"/>
                          </a:solidFill>
                          <a:effectLst/>
                          <a:latin typeface="+mn-lt"/>
                          <a:ea typeface="+mn-ea"/>
                          <a:cs typeface="+mn-cs"/>
                        </a:rPr>
                        <a:t>Her </a:t>
                      </a:r>
                      <a:r>
                        <a:rPr lang="en-US" sz="2200" kern="1200" dirty="0" err="1">
                          <a:solidFill>
                            <a:schemeClr val="dk1"/>
                          </a:solidFill>
                          <a:effectLst/>
                          <a:latin typeface="+mn-lt"/>
                          <a:ea typeface="+mn-ea"/>
                          <a:cs typeface="+mn-cs"/>
                        </a:rPr>
                        <a:t>aşamanın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sonundaki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resmi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inceleme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maksimum</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yönetim</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kontrolüne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izin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verir</a:t>
                      </a:r>
                      <a:r>
                        <a:rPr lang="en-US" sz="2200" kern="1200" dirty="0">
                          <a:solidFill>
                            <a:schemeClr val="dk1"/>
                          </a:solidFill>
                          <a:effectLst/>
                          <a:latin typeface="+mn-lt"/>
                          <a:ea typeface="+mn-ea"/>
                          <a:cs typeface="+mn-cs"/>
                        </a:rPr>
                        <a:t>.</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kern="1200" dirty="0" err="1">
                          <a:solidFill>
                            <a:schemeClr val="dk1"/>
                          </a:solidFill>
                          <a:effectLst/>
                          <a:latin typeface="+mn-lt"/>
                          <a:ea typeface="+mn-ea"/>
                          <a:cs typeface="+mn-cs"/>
                        </a:rPr>
                        <a:t>Kullanıcıların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ihtiyaçları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belirtilmeyebilir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veya</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yanlış</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iletilebilir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Kullanıcılar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geliştiriciler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tarafından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anlaşıldığı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gibi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bu</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ihtiyaçları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karşılayan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sistemle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sonuçlanabilir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Ancak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kullanıcıların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gerçekten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ihtiyaç</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duyduğu</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şey</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bu</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olmayabilir</a:t>
                      </a:r>
                      <a:r>
                        <a:rPr lang="en-US" sz="2200" kern="1200" dirty="0">
                          <a:solidFill>
                            <a:schemeClr val="dk1"/>
                          </a:solidFill>
                          <a:effectLst/>
                          <a:latin typeface="+mn-lt"/>
                          <a:ea typeface="+mn-ea"/>
                          <a:cs typeface="+mn-cs"/>
                        </a:rPr>
                        <a:t>.</a:t>
                      </a:r>
                    </a:p>
                  </a:txBody>
                  <a:tcPr/>
                </a:tc>
                <a:extLst>
                  <a:ext uri="{0D108BD9-81ED-4DB2-BD59-A6C34878D82A}">
                    <a16:rowId xmlns:a16="http://schemas.microsoft.com/office/drawing/2014/main" val="2292222514"/>
                  </a:ext>
                </a:extLst>
              </a:tr>
              <a:tr h="1841105">
                <a:tc>
                  <a:txBody>
                    <a:bodyPr/>
                    <a:lstStyle/>
                    <a:p>
                      <a:r>
                        <a:rPr lang="en-US" sz="2200" kern="1200" dirty="0" err="1">
                          <a:solidFill>
                            <a:schemeClr val="dk1"/>
                          </a:solidFill>
                          <a:effectLst/>
                          <a:latin typeface="+mn-lt"/>
                          <a:ea typeface="+mn-ea"/>
                          <a:cs typeface="+mn-cs"/>
                        </a:rPr>
                        <a:t>Yapılandırılmış</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süreçler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sistemin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geliştirilmesine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yönelik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ilerlemeyi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ölçmek</a:t>
                      </a:r>
                      <a:r>
                        <a:rPr lang="en-US" sz="2200" kern="1200" dirty="0">
                          <a:solidFill>
                            <a:schemeClr val="dk1"/>
                          </a:solidFill>
                          <a:effectLst/>
                          <a:latin typeface="+mn-lt"/>
                          <a:ea typeface="+mn-ea"/>
                          <a:cs typeface="+mn-cs"/>
                        </a:rPr>
                        <a:t> için </a:t>
                      </a:r>
                      <a:r>
                        <a:rPr lang="en-US" sz="2200" kern="1200" dirty="0" err="1">
                          <a:solidFill>
                            <a:schemeClr val="dk1"/>
                          </a:solidFill>
                          <a:effectLst/>
                          <a:latin typeface="+mn-lt"/>
                          <a:ea typeface="+mn-ea"/>
                          <a:cs typeface="+mn-cs"/>
                        </a:rPr>
                        <a:t>kullanılabilecek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birçok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ara</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ürün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üretir</a:t>
                      </a:r>
                      <a:r>
                        <a:rPr lang="en-US" sz="2200" kern="1200" dirty="0">
                          <a:solidFill>
                            <a:schemeClr val="dk1"/>
                          </a:solidFill>
                          <a:effectLst/>
                          <a:latin typeface="+mn-lt"/>
                          <a:ea typeface="+mn-ea"/>
                          <a:cs typeface="+mn-cs"/>
                        </a:rPr>
                        <a:t>.</a:t>
                      </a:r>
                      <a:endParaRPr lang="en-US" sz="2200" dirty="0"/>
                    </a:p>
                  </a:txBody>
                  <a:tcPr/>
                </a:tc>
                <a:tc>
                  <a:txBody>
                    <a:bodyPr/>
                    <a:lstStyle/>
                    <a:p>
                      <a:r>
                        <a:rPr lang="en-US" sz="2200" kern="1200" dirty="0" err="1">
                          <a:solidFill>
                            <a:schemeClr val="dk1"/>
                          </a:solidFill>
                          <a:effectLst/>
                          <a:latin typeface="+mn-lt"/>
                          <a:ea typeface="+mn-ea"/>
                          <a:cs typeface="+mn-cs"/>
                        </a:rPr>
                        <a:t>Kullanıcılar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ara</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ürünleri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kolayca</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gözden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geçiremez</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ve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belirli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ürünün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iş</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gereksinimlerini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karşılayan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sisteme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yol</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açıp</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açmayacağını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değerlendiremez</a:t>
                      </a:r>
                      <a:r>
                        <a:rPr lang="en-US" sz="2200" kern="1200" dirty="0">
                          <a:solidFill>
                            <a:schemeClr val="dk1"/>
                          </a:solidFill>
                          <a:effectLst/>
                          <a:latin typeface="+mn-lt"/>
                          <a:ea typeface="+mn-ea"/>
                          <a:cs typeface="+mn-cs"/>
                        </a:rPr>
                        <a:t>.</a:t>
                      </a:r>
                      <a:endParaRPr lang="en-US" sz="2200" dirty="0"/>
                    </a:p>
                  </a:txBody>
                  <a:tcPr/>
                </a:tc>
                <a:extLst>
                  <a:ext uri="{0D108BD9-81ED-4DB2-BD59-A6C34878D82A}">
                    <a16:rowId xmlns:a16="http://schemas.microsoft.com/office/drawing/2014/main" val="2741886405"/>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a:t>Şelalenin Artıları ve Eksileri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21755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7-1 (part 2): This table presents the pros and cons of the agile methodology. &#10;&#10;Pro: For appropriate projects, this approach puts an application into production sooner.&#10;&#10;Pro: Forces teamwork and lots of interaction between users and project stakeholders so that users are more likely to get a system that meets their needs. &#10;&#10;Con: It is an intense process that takes considerable time and effort on the part of project members and can result in burnout for system developers and other project participants.&#10;&#10;Con: Requires stakeholders and users to spend more time working together on the project.&#10;"/>
          <p:cNvGraphicFramePr>
            <a:graphicFrameLocks noGrp="1"/>
          </p:cNvGraphicFramePr>
          <p:nvPr>
            <p:ph idx="1"/>
            <p:extLst>
              <p:ext uri="{D42A27DB-BD31-4B8C-83A1-F6EECF244321}">
                <p14:modId xmlns:p14="http://schemas.microsoft.com/office/powerpoint/2010/main" val="787847011"/>
              </p:ext>
            </p:extLst>
          </p:nvPr>
        </p:nvGraphicFramePr>
        <p:xfrm>
          <a:off x="152400" y="1295400"/>
          <a:ext cx="8636000" cy="4802334"/>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3409131158"/>
                    </a:ext>
                  </a:extLst>
                </a:gridCol>
                <a:gridCol w="4318000">
                  <a:extLst>
                    <a:ext uri="{9D8B030D-6E8A-4147-A177-3AD203B41FA5}">
                      <a16:colId xmlns:a16="http://schemas.microsoft.com/office/drawing/2014/main" val="652434856"/>
                    </a:ext>
                  </a:extLst>
                </a:gridCol>
              </a:tblGrid>
              <a:tr h="289560">
                <a:tc>
                  <a:txBody>
                    <a:bodyPr/>
                    <a:lstStyle/>
                    <a:p>
                      <a:r>
                        <a:rPr lang="en-US" sz="2400" baseline="0" dirty="0"/>
                        <a:t>Pros</a:t>
                      </a:r>
                      <a:endParaRPr lang="en-US" sz="2400" dirty="0"/>
                    </a:p>
                  </a:txBody>
                  <a:tcPr/>
                </a:tc>
                <a:tc>
                  <a:txBody>
                    <a:bodyPr/>
                    <a:lstStyle/>
                    <a:p>
                      <a:r>
                        <a:rPr lang="en-US" sz="2400" dirty="0"/>
                        <a:t>Cons</a:t>
                      </a:r>
                    </a:p>
                  </a:txBody>
                  <a:tcPr/>
                </a:tc>
                <a:extLst>
                  <a:ext uri="{0D108BD9-81ED-4DB2-BD59-A6C34878D82A}">
                    <a16:rowId xmlns:a16="http://schemas.microsoft.com/office/drawing/2014/main" val="522186059"/>
                  </a:ext>
                </a:extLst>
              </a:tr>
              <a:tr h="2242014">
                <a:tc>
                  <a:txBody>
                    <a:bodyPr/>
                    <a:lstStyle/>
                    <a:p>
                      <a:r>
                        <a:rPr lang="en-US" sz="2200" dirty="0"/>
                        <a:t>Uygun </a:t>
                      </a:r>
                      <a:r>
                        <a:rPr lang="en-US" sz="2200" dirty="0" err="1"/>
                        <a:t>projeler</a:t>
                      </a:r>
                      <a:r>
                        <a:rPr lang="en-US" sz="2200" dirty="0"/>
                        <a:t> için </a:t>
                      </a:r>
                      <a:r>
                        <a:rPr lang="en-US" sz="2200" dirty="0" err="1"/>
                        <a:t>bu</a:t>
                      </a:r>
                      <a:r>
                        <a:rPr lang="en-US" sz="2200" dirty="0"/>
                        <a:t> </a:t>
                      </a:r>
                      <a:r>
                        <a:rPr lang="en-US" sz="2200" dirty="0" err="1"/>
                        <a:t>yaklaşım</a:t>
                      </a:r>
                      <a:r>
                        <a:rPr lang="en-US" sz="2200" dirty="0"/>
                        <a:t>, </a:t>
                      </a:r>
                      <a:r>
                        <a:rPr lang="en-US" sz="2200" dirty="0" err="1"/>
                        <a:t>bir</a:t>
                      </a:r>
                      <a:r>
                        <a:rPr lang="en-US" sz="2200" dirty="0"/>
                        <a:t> </a:t>
                      </a:r>
                      <a:r>
                        <a:rPr lang="en-US" sz="2200" dirty="0" err="1"/>
                        <a:t>uygulamayı</a:t>
                      </a:r>
                      <a:r>
                        <a:rPr lang="en-US" sz="2200" dirty="0"/>
                        <a:t> </a:t>
                      </a:r>
                      <a:r>
                        <a:rPr lang="en-US" sz="2200" dirty="0" err="1"/>
                        <a:t>daha</a:t>
                      </a:r>
                      <a:r>
                        <a:rPr lang="en-US" sz="2200" dirty="0"/>
                        <a:t> </a:t>
                      </a:r>
                      <a:r>
                        <a:rPr lang="en-US" sz="2200" dirty="0" err="1"/>
                        <a:t>erken</a:t>
                      </a:r>
                      <a:r>
                        <a:rPr lang="en-US" sz="2200" dirty="0"/>
                        <a:t> </a:t>
                      </a:r>
                      <a:r>
                        <a:rPr lang="en-US" sz="2200" dirty="0" err="1"/>
                        <a:t>üretime</a:t>
                      </a:r>
                      <a:r>
                        <a:rPr lang="en-US" sz="2200" dirty="0"/>
                        <a:t> </a:t>
                      </a:r>
                      <a:r>
                        <a:rPr lang="en-US" sz="2200" dirty="0" err="1"/>
                        <a:t>sokar</a:t>
                      </a:r>
                      <a:r>
                        <a:rPr lang="en-US" sz="2200" dirty="0"/>
                        <a:t>.</a:t>
                      </a:r>
                    </a:p>
                  </a:txBody>
                  <a:tcPr/>
                </a:tc>
                <a:tc>
                  <a:txBody>
                    <a:bodyPr/>
                    <a:lstStyle/>
                    <a:p>
                      <a:r>
                        <a:rPr lang="en-US" sz="2200" dirty="0"/>
                        <a:t>Bu, </a:t>
                      </a:r>
                      <a:r>
                        <a:rPr lang="en-US" sz="2200" dirty="0" err="1"/>
                        <a:t>proje</a:t>
                      </a:r>
                      <a:r>
                        <a:rPr lang="en-US" sz="2200" dirty="0"/>
                        <a:t> </a:t>
                      </a:r>
                      <a:r>
                        <a:rPr lang="en-US" sz="2200" dirty="0" err="1"/>
                        <a:t>üyeleri</a:t>
                      </a:r>
                      <a:r>
                        <a:rPr lang="en-US" sz="2200" dirty="0"/>
                        <a:t> </a:t>
                      </a:r>
                      <a:r>
                        <a:rPr lang="en-US" sz="2200" dirty="0" err="1"/>
                        <a:t>açısından</a:t>
                      </a:r>
                      <a:r>
                        <a:rPr lang="en-US" sz="2200" dirty="0"/>
                        <a:t> </a:t>
                      </a:r>
                      <a:r>
                        <a:rPr lang="en-US" sz="2200" dirty="0" err="1"/>
                        <a:t>önemli</a:t>
                      </a:r>
                      <a:r>
                        <a:rPr lang="en-US" sz="2200" dirty="0"/>
                        <a:t> </a:t>
                      </a:r>
                      <a:r>
                        <a:rPr lang="en-US" sz="2200" dirty="0" err="1"/>
                        <a:t>ölçüde</a:t>
                      </a:r>
                      <a:r>
                        <a:rPr lang="en-US" sz="2200" dirty="0"/>
                        <a:t> zaman </a:t>
                      </a:r>
                      <a:r>
                        <a:rPr lang="en-US" sz="2200" dirty="0" err="1"/>
                        <a:t>ve</a:t>
                      </a:r>
                      <a:r>
                        <a:rPr lang="en-US" sz="2200" dirty="0"/>
                        <a:t> </a:t>
                      </a:r>
                      <a:r>
                        <a:rPr lang="en-US" sz="2200" dirty="0" err="1"/>
                        <a:t>çaba</a:t>
                      </a:r>
                      <a:r>
                        <a:rPr lang="en-US" sz="2200" dirty="0"/>
                        <a:t> </a:t>
                      </a:r>
                      <a:r>
                        <a:rPr lang="en-US" sz="2200" dirty="0" err="1"/>
                        <a:t>gerektiren</a:t>
                      </a:r>
                      <a:r>
                        <a:rPr lang="en-US" sz="2200" dirty="0"/>
                        <a:t> </a:t>
                      </a:r>
                      <a:r>
                        <a:rPr lang="en-US" sz="2200" dirty="0" err="1"/>
                        <a:t>ve</a:t>
                      </a:r>
                      <a:r>
                        <a:rPr lang="en-US" sz="2200" dirty="0"/>
                        <a:t> </a:t>
                      </a:r>
                      <a:r>
                        <a:rPr lang="en-US" sz="2200" dirty="0" err="1"/>
                        <a:t>sistem</a:t>
                      </a:r>
                      <a:r>
                        <a:rPr lang="en-US" sz="2200" dirty="0"/>
                        <a:t> </a:t>
                      </a:r>
                      <a:r>
                        <a:rPr lang="en-US" sz="2200" dirty="0" err="1"/>
                        <a:t>geliştiricileri</a:t>
                      </a:r>
                      <a:r>
                        <a:rPr lang="en-US" sz="2200" dirty="0"/>
                        <a:t> </a:t>
                      </a:r>
                      <a:r>
                        <a:rPr lang="en-US" sz="2200" dirty="0" err="1"/>
                        <a:t>ve</a:t>
                      </a:r>
                      <a:r>
                        <a:rPr lang="en-US" sz="2200" dirty="0"/>
                        <a:t> </a:t>
                      </a:r>
                      <a:r>
                        <a:rPr lang="en-US" sz="2200" dirty="0" err="1"/>
                        <a:t>diğer</a:t>
                      </a:r>
                      <a:r>
                        <a:rPr lang="en-US" sz="2200" dirty="0"/>
                        <a:t> </a:t>
                      </a:r>
                      <a:r>
                        <a:rPr lang="en-US" sz="2200" dirty="0" err="1"/>
                        <a:t>proje</a:t>
                      </a:r>
                      <a:r>
                        <a:rPr lang="en-US" sz="2200" dirty="0"/>
                        <a:t> </a:t>
                      </a:r>
                      <a:r>
                        <a:rPr lang="en-US" sz="2200" dirty="0" err="1"/>
                        <a:t>katılımcıları</a:t>
                      </a:r>
                      <a:r>
                        <a:rPr lang="en-US" sz="2200" dirty="0"/>
                        <a:t> için </a:t>
                      </a:r>
                      <a:r>
                        <a:rPr lang="en-US" sz="2200" dirty="0" err="1"/>
                        <a:t>tükenmişlikle</a:t>
                      </a:r>
                      <a:r>
                        <a:rPr lang="en-US" sz="2200" dirty="0"/>
                        <a:t> </a:t>
                      </a:r>
                      <a:r>
                        <a:rPr lang="en-US" sz="2200" dirty="0" err="1"/>
                        <a:t>sonuçlanabilecek</a:t>
                      </a:r>
                      <a:r>
                        <a:rPr lang="en-US" sz="2200" dirty="0"/>
                        <a:t> </a:t>
                      </a:r>
                      <a:r>
                        <a:rPr lang="en-US" sz="2200" dirty="0" err="1"/>
                        <a:t>yoğun</a:t>
                      </a:r>
                      <a:r>
                        <a:rPr lang="en-US" sz="2200" dirty="0"/>
                        <a:t> </a:t>
                      </a:r>
                      <a:r>
                        <a:rPr lang="en-US" sz="2200" dirty="0" err="1"/>
                        <a:t>bir</a:t>
                      </a:r>
                      <a:r>
                        <a:rPr lang="en-US" sz="2200" dirty="0"/>
                        <a:t> </a:t>
                      </a:r>
                      <a:r>
                        <a:rPr lang="en-US" sz="2200" dirty="0" err="1"/>
                        <a:t>süreçtir</a:t>
                      </a:r>
                      <a:r>
                        <a:rPr lang="en-US" sz="2200" dirty="0"/>
                        <a:t>.</a:t>
                      </a:r>
                    </a:p>
                  </a:txBody>
                  <a:tcPr/>
                </a:tc>
                <a:extLst>
                  <a:ext uri="{0D108BD9-81ED-4DB2-BD59-A6C34878D82A}">
                    <a16:rowId xmlns:a16="http://schemas.microsoft.com/office/drawing/2014/main" val="2292222514"/>
                  </a:ext>
                </a:extLst>
              </a:tr>
              <a:tr h="1808076">
                <a:tc>
                  <a:txBody>
                    <a:bodyPr/>
                    <a:lstStyle/>
                    <a:p>
                      <a:r>
                        <a:rPr lang="en-US" sz="2200" kern="1200" dirty="0" err="1">
                          <a:solidFill>
                            <a:schemeClr val="dk1"/>
                          </a:solidFill>
                          <a:effectLst/>
                          <a:latin typeface="+mn-lt"/>
                          <a:ea typeface="+mn-ea"/>
                          <a:cs typeface="+mn-cs"/>
                        </a:rPr>
                        <a:t>Kullanıcıların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ihtiyaçlarını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karşılayan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sistem</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elde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etme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olasılıklarının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daha</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yüksek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olması</a:t>
                      </a:r>
                      <a:r>
                        <a:rPr lang="en-US" sz="2200" kern="1200" dirty="0">
                          <a:solidFill>
                            <a:schemeClr val="dk1"/>
                          </a:solidFill>
                          <a:effectLst/>
                          <a:latin typeface="+mn-lt"/>
                          <a:ea typeface="+mn-ea"/>
                          <a:cs typeface="+mn-cs"/>
                        </a:rPr>
                        <a:t> için </a:t>
                      </a:r>
                      <a:r>
                        <a:rPr lang="en-US" sz="2200" kern="1200" dirty="0" err="1">
                          <a:solidFill>
                            <a:schemeClr val="dk1"/>
                          </a:solidFill>
                          <a:effectLst/>
                          <a:latin typeface="+mn-lt"/>
                          <a:ea typeface="+mn-ea"/>
                          <a:cs typeface="+mn-cs"/>
                        </a:rPr>
                        <a:t>ekip</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çalışmasını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ve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kullanıcılar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ile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proje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paydaşları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arasında</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çok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sayıda</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etkileşimi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zorlar</a:t>
                      </a:r>
                      <a:r>
                        <a:rPr lang="en-US" sz="2200" kern="1200" dirty="0">
                          <a:solidFill>
                            <a:schemeClr val="dk1"/>
                          </a:solidFill>
                          <a:effectLst/>
                          <a:latin typeface="+mn-lt"/>
                          <a:ea typeface="+mn-ea"/>
                          <a:cs typeface="+mn-cs"/>
                        </a:rPr>
                        <a:t>.</a:t>
                      </a:r>
                      <a:endParaRPr lang="en-US" sz="2200" dirty="0"/>
                    </a:p>
                  </a:txBody>
                  <a:tcPr/>
                </a:tc>
                <a:tc>
                  <a:txBody>
                    <a:bodyPr/>
                    <a:lstStyle/>
                    <a:p>
                      <a:r>
                        <a:rPr lang="en-US" sz="2200" dirty="0" err="1"/>
                        <a:t>Paydaşların</a:t>
                      </a:r>
                      <a:r>
                        <a:rPr lang="en-US" sz="2200" dirty="0"/>
                        <a:t> </a:t>
                      </a:r>
                      <a:r>
                        <a:rPr lang="en-US" sz="2200" dirty="0" err="1"/>
                        <a:t>ve</a:t>
                      </a:r>
                      <a:r>
                        <a:rPr lang="en-US" sz="2200" dirty="0"/>
                        <a:t> </a:t>
                      </a:r>
                      <a:r>
                        <a:rPr lang="en-US" sz="2200" dirty="0" err="1"/>
                        <a:t>kullanıcıların</a:t>
                      </a:r>
                      <a:r>
                        <a:rPr lang="en-US" sz="2200" dirty="0"/>
                        <a:t> </a:t>
                      </a:r>
                      <a:r>
                        <a:rPr lang="en-US" sz="2200" dirty="0" err="1"/>
                        <a:t>proje</a:t>
                      </a:r>
                      <a:r>
                        <a:rPr lang="en-US" sz="2200" dirty="0"/>
                        <a:t> </a:t>
                      </a:r>
                      <a:r>
                        <a:rPr lang="en-US" sz="2200" dirty="0" err="1"/>
                        <a:t>üzerinde</a:t>
                      </a:r>
                      <a:r>
                        <a:rPr lang="en-US" sz="2200" dirty="0"/>
                        <a:t> </a:t>
                      </a:r>
                      <a:r>
                        <a:rPr lang="en-US" sz="2200" dirty="0" err="1"/>
                        <a:t>birlikte</a:t>
                      </a:r>
                      <a:r>
                        <a:rPr lang="en-US" sz="2200" dirty="0"/>
                        <a:t> </a:t>
                      </a:r>
                      <a:r>
                        <a:rPr lang="en-US" sz="2200" dirty="0" err="1"/>
                        <a:t>çalışmaya</a:t>
                      </a:r>
                      <a:r>
                        <a:rPr lang="en-US" sz="2200" dirty="0"/>
                        <a:t> </a:t>
                      </a:r>
                      <a:r>
                        <a:rPr lang="en-US" sz="2200" dirty="0" err="1"/>
                        <a:t>daha</a:t>
                      </a:r>
                      <a:r>
                        <a:rPr lang="en-US" sz="2200" dirty="0"/>
                        <a:t> </a:t>
                      </a:r>
                      <a:r>
                        <a:rPr lang="en-US" sz="2200" dirty="0" err="1"/>
                        <a:t>fazla</a:t>
                      </a:r>
                      <a:r>
                        <a:rPr lang="en-US" sz="2200" dirty="0"/>
                        <a:t> zaman </a:t>
                      </a:r>
                      <a:r>
                        <a:rPr lang="en-US" sz="2200" dirty="0" err="1"/>
                        <a:t>ayırmasını</a:t>
                      </a:r>
                      <a:r>
                        <a:rPr lang="en-US" sz="2200" dirty="0"/>
                        <a:t> </a:t>
                      </a:r>
                      <a:r>
                        <a:rPr lang="en-US" sz="2200" dirty="0" err="1"/>
                        <a:t>gerektirir</a:t>
                      </a:r>
                      <a:r>
                        <a:rPr lang="en-US" sz="2200" dirty="0"/>
                        <a:t>.</a:t>
                      </a:r>
                    </a:p>
                  </a:txBody>
                  <a:tcPr/>
                </a:tc>
                <a:extLst>
                  <a:ext uri="{0D108BD9-81ED-4DB2-BD59-A6C34878D82A}">
                    <a16:rowId xmlns:a16="http://schemas.microsoft.com/office/drawing/2014/main" val="2741886405"/>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a:t>Agile'ın Artıları ve Eksileri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75934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145750"/>
          </a:xfrm>
        </p:spPr>
        <p:txBody>
          <a:bodyPr/>
          <a:lstStyle/>
          <a:p>
            <a:r>
              <a:rPr lang="en-US" sz="2800"/>
              <a:t>Yazılım geliştirmenin erken bir aşamasında bir kusuru gidermenin maliyeti, müşterilere dağıtılan yazılımdaki bir kusuru gidermekten 100 kata kadar daha az olabilir.
Kullanıcıya zarar veren doğal kusurlar içeren bir ürün, bir ürün sorumluluğu davasının konusu olabilir.
Kalite güvencesi (QA): Bir ürünün güvenilir bir şekilde çalışmasını garanti etmek için tasarlanmış geliştirme sürecindeki yöntemler
Gelişimin her aşamasında uygulanmalıdır</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a:t>Kusurları gidermenin maliyeti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76116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3582519"/>
          </a:xfrm>
        </p:spPr>
        <p:txBody>
          <a:bodyPr/>
          <a:lstStyle/>
          <a:p>
            <a:r>
              <a:rPr lang="en-US" sz="2800"/>
              <a:t>Dinamik test: Test verilerinin girilmesi ve sonuçların bir süreçteki beklenen sonuçlarla karşılaştırılması
Kara kutu testi: Yazılım birimini, beklenen giriş ve çıkış davranışlarına sahip ancak iç işleyişi bilinmeyen bir cihaz olarak görür
Beyaz kutu testi: Yazılım birimini, beklenen girdi ve çıktı davranışlarına sahip ancak iç işleyişi bilinen bir cihaz olarak ele alır</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a:t>Yazılım Testi, Bölüm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7234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118324"/>
          </a:xfrm>
        </p:spPr>
        <p:txBody>
          <a:bodyPr/>
          <a:lstStyle/>
          <a:p>
            <a:r>
              <a:rPr lang="en-US" sz="2800"/>
              <a:t>Statik test: Yazılımın kodu fiilen çalıştırmadan test edildiği yazılım test tekniği
Birim testi: Kodun tek tek bileşenleri (alt yordamlar, modüller ve programlar) test edilir
Entegrasyon testi: Yazılım birimleri entegre bir alt sistemde birleştirilir ve çeşitli alt sistemler arasındaki bağlantıların çalıştığından emin olmak için test edilir
Sistem testi: Tüm sistemi test etmek için çeşitli alt sistemler birleştirilir
Kullanıcı kabul testi: Eğitimli son kullanıcılar bağımsız testler gerçekleştirir</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a:t>Yazılım Testi,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87489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441490"/>
          </a:xfrm>
        </p:spPr>
        <p:txBody>
          <a:bodyPr/>
          <a:lstStyle/>
          <a:p>
            <a:r>
              <a:rPr lang="en-US" sz="2400"/>
              <a:t>CMMI modelleri: Kuruluşların süreçleri iyileştirmesine yardımcı olan en iyi uygulama koleksiyonları
En iyi uygulama: Sürekli olarak diğer yollarla elde edilenlerden daha üstün sonuçlar gösteren bir yöntem
CMMI-Geliştirme (CMMI-DEV): Yazılım geliştirme süreçlerini değerlendirmek ve iyileştirmek için sıklıkla kullanılır
Beş yazılım geliştirme olgunluk düzeyi tanımlar: 
İlk
Yönetilen
Tanımlanan
Kantitatif olarak yönetilir
Optimize</a:t>
            </a:r>
            <a:endParaRPr lang="en-US" dirty="0"/>
          </a:p>
        </p:txBody>
      </p:sp>
      <p:sp>
        <p:nvSpPr>
          <p:cNvPr id="3" name="Title 2"/>
          <p:cNvSpPr>
            <a:spLocks noGrp="1"/>
          </p:cNvSpPr>
          <p:nvPr>
            <p:ph type="title"/>
          </p:nvPr>
        </p:nvSpPr>
        <p:spPr>
          <a:xfrm>
            <a:off x="762000" y="81394"/>
            <a:ext cx="8026400" cy="945965"/>
          </a:xfrm>
        </p:spPr>
        <p:txBody>
          <a:bodyPr/>
          <a:lstStyle/>
          <a:p>
            <a:r>
              <a:rPr lang="en-US" sz="3600"/>
              <a:t>Yetenek Olgunluk Modeli Entegrasyonu (CMMI)</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45579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419176"/>
          </a:xfrm>
        </p:spPr>
        <p:txBody>
          <a:bodyPr/>
          <a:lstStyle/>
          <a:p>
            <a:r>
              <a:rPr lang="en-US" sz="2700"/>
              <a:t>Güvenlik açısından kritik sistem: Arızası yaralanmaya veya ölüme neden olabilecek bir sistem
Güvenli çalışma, yazılımın kusursuz performansına bağlıdır
Güvenlik açısından kritik sistemler geliştirirken temel varsayım:
Güvenlik, kuruluşun standart geliştirme metodolojisinin izlenmesinden otomatik olarak kaynaklanmayacaktır
Tüm geliştirme görevleri şunları gerektirir:
Ek adımlar
Daha kapsamlı belgeler 
Dikkatli kontrol ve yeniden kontrol</a:t>
            </a:r>
            <a:endParaRPr lang="en-US" sz="2300" dirty="0"/>
          </a:p>
        </p:txBody>
      </p:sp>
      <p:sp>
        <p:nvSpPr>
          <p:cNvPr id="3" name="Title 2"/>
          <p:cNvSpPr>
            <a:spLocks noGrp="1"/>
          </p:cNvSpPr>
          <p:nvPr>
            <p:ph type="title"/>
          </p:nvPr>
        </p:nvSpPr>
        <p:spPr>
          <a:xfrm>
            <a:off x="762000" y="55139"/>
            <a:ext cx="8026400" cy="998478"/>
          </a:xfrm>
        </p:spPr>
        <p:txBody>
          <a:bodyPr/>
          <a:lstStyle/>
          <a:p>
            <a:r>
              <a:rPr lang="en-US" sz="3800"/>
              <a:t>Güvenlik Açısından Kritik Sistemlerin Geliştirilmesi, Bölüm 1</a:t>
            </a:r>
            <a:endParaRPr lang="en-US" sz="3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76554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118324"/>
          </a:xfrm>
        </p:spPr>
        <p:txBody>
          <a:bodyPr/>
          <a:lstStyle/>
          <a:p>
            <a:r>
              <a:rPr lang="en-US" sz="2800"/>
              <a:t>Sistem güvenliği mühendisi: Sistemin güvenliğinden sorumludur; Bir projenin başlangıcından bitişine kadar tehlikeleri izlemek için bir kayıt ve izleme sistemi kullanır
Güvenlik açısından kritik bir sistem tasarlarken, inşa ederken ve çalıştırırken, resmi bir risk analizi yapılmalıdır
Güvenilirlik: Bir sistemi beklenen kullanım ömrü boyunca kullanılamaz hale getirecek arıza oranının bir ölçüsü
Sistem-insan arayüzü: Güvenlik açısından kritik sistem tasarımının en önemli ve zor alanlarından biri 
Sistemin tasarımı, operatörün hatalı yargısına izin vermemelidir</a:t>
            </a:r>
            <a:endParaRPr lang="en-US" sz="2800" dirty="0"/>
          </a:p>
        </p:txBody>
      </p:sp>
      <p:sp>
        <p:nvSpPr>
          <p:cNvPr id="3" name="Title 2"/>
          <p:cNvSpPr>
            <a:spLocks noGrp="1"/>
          </p:cNvSpPr>
          <p:nvPr>
            <p:ph type="title"/>
          </p:nvPr>
        </p:nvSpPr>
        <p:spPr>
          <a:xfrm>
            <a:off x="762000" y="55139"/>
            <a:ext cx="8026400" cy="998478"/>
          </a:xfrm>
        </p:spPr>
        <p:txBody>
          <a:bodyPr/>
          <a:lstStyle/>
          <a:p>
            <a:r>
              <a:rPr lang="en-US" sz="3800"/>
              <a:t>Güvenlik Açısından Kritik Sistemlerin Geliştirilmesi, Bölüm 2</a:t>
            </a:r>
            <a:endParaRPr lang="en-US" sz="3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60332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2662267"/>
          </a:xfrm>
        </p:spPr>
        <p:txBody>
          <a:bodyPr/>
          <a:lstStyle/>
          <a:p>
            <a:r>
              <a:rPr lang="en-US" sz="2800" dirty="0"/>
              <a:t>Risk: </a:t>
            </a:r>
            <a:r>
              <a:rPr lang="en-US" sz="2800" dirty="0" err="1"/>
              <a:t>Değerli</a:t>
            </a:r>
            <a:r>
              <a:rPr lang="en-US" sz="2800" dirty="0"/>
              <a:t> </a:t>
            </a:r>
            <a:r>
              <a:rPr lang="en-US" sz="2800" dirty="0" err="1"/>
              <a:t>bir</a:t>
            </a:r>
            <a:r>
              <a:rPr lang="en-US" sz="2800" dirty="0"/>
              <a:t> </a:t>
            </a:r>
            <a:r>
              <a:rPr lang="en-US" sz="2800" dirty="0" err="1"/>
              <a:t>şey</a:t>
            </a:r>
            <a:r>
              <a:rPr lang="en-US" sz="2800" dirty="0"/>
              <a:t> </a:t>
            </a:r>
            <a:r>
              <a:rPr lang="en-US" sz="2800" dirty="0" err="1"/>
              <a:t>kazanma</a:t>
            </a:r>
            <a:r>
              <a:rPr lang="en-US" sz="2800" dirty="0"/>
              <a:t> </a:t>
            </a:r>
            <a:r>
              <a:rPr lang="en-US" sz="2800" dirty="0" err="1"/>
              <a:t>veya</a:t>
            </a:r>
            <a:r>
              <a:rPr lang="en-US" sz="2800" dirty="0"/>
              <a:t> </a:t>
            </a:r>
            <a:r>
              <a:rPr lang="en-US" sz="2800" dirty="0" err="1"/>
              <a:t>kaybetme</a:t>
            </a:r>
            <a:r>
              <a:rPr lang="en-US" sz="2800" dirty="0"/>
              <a:t> </a:t>
            </a:r>
            <a:r>
              <a:rPr lang="en-US" sz="2800" dirty="0" err="1"/>
              <a:t>potansiyeli</a:t>
            </a:r>
            <a:r>
              <a:rPr lang="en-US" sz="2800" dirty="0"/>
              <a:t>
</a:t>
            </a:r>
            <a:r>
              <a:rPr lang="en-US" sz="2800" dirty="0" err="1"/>
              <a:t>Üç</a:t>
            </a:r>
            <a:r>
              <a:rPr lang="en-US" sz="2800" dirty="0"/>
              <a:t> </a:t>
            </a:r>
            <a:r>
              <a:rPr lang="en-US" sz="2800" dirty="0" err="1"/>
              <a:t>unsurla</a:t>
            </a:r>
            <a:r>
              <a:rPr lang="en-US" sz="2800" dirty="0"/>
              <a:t> </a:t>
            </a:r>
            <a:r>
              <a:rPr lang="en-US" sz="2800" dirty="0" err="1"/>
              <a:t>ölçülür</a:t>
            </a:r>
            <a:r>
              <a:rPr lang="en-US" sz="2800" dirty="0"/>
              <a:t>:
Bir risk </a:t>
            </a:r>
            <a:r>
              <a:rPr lang="en-US" sz="2800" dirty="0" err="1"/>
              <a:t>olayı</a:t>
            </a:r>
            <a:r>
              <a:rPr lang="en-US" sz="2800" dirty="0"/>
              <a:t>
</a:t>
            </a:r>
            <a:r>
              <a:rPr lang="en-US" sz="2800" dirty="0" err="1"/>
              <a:t>Olayın</a:t>
            </a:r>
            <a:r>
              <a:rPr lang="en-US" sz="2800" dirty="0"/>
              <a:t> </a:t>
            </a:r>
            <a:r>
              <a:rPr lang="en-US" sz="2800" dirty="0" err="1"/>
              <a:t>gerçekleşme</a:t>
            </a:r>
            <a:r>
              <a:rPr lang="en-US" sz="2800" dirty="0"/>
              <a:t> </a:t>
            </a:r>
            <a:r>
              <a:rPr lang="en-US" sz="2800" dirty="0" err="1"/>
              <a:t>olasılığı</a:t>
            </a:r>
            <a:r>
              <a:rPr lang="en-US" sz="2800" dirty="0"/>
              <a:t>
</a:t>
            </a:r>
            <a:r>
              <a:rPr lang="en-US" sz="2800" dirty="0" err="1"/>
              <a:t>İş</a:t>
            </a:r>
            <a:r>
              <a:rPr lang="en-US" sz="2800" dirty="0"/>
              <a:t> </a:t>
            </a:r>
            <a:r>
              <a:rPr lang="en-US" sz="2800" dirty="0" err="1"/>
              <a:t>sonucu</a:t>
            </a:r>
            <a:r>
              <a:rPr lang="en-US" sz="2800" dirty="0"/>
              <a:t> </a:t>
            </a:r>
            <a:r>
              <a:rPr lang="en-US" sz="2800" dirty="0" err="1"/>
              <a:t>üzerindeki</a:t>
            </a:r>
            <a:r>
              <a:rPr lang="en-US" sz="2800" dirty="0"/>
              <a:t> </a:t>
            </a:r>
            <a:r>
              <a:rPr lang="en-US" sz="2800" dirty="0" err="1"/>
              <a:t>etkisi</a:t>
            </a:r>
            <a:r>
              <a:rPr lang="en-US" sz="2800" dirty="0"/>
              <a:t> (</a:t>
            </a:r>
            <a:r>
              <a:rPr lang="en-US" sz="2800" dirty="0" err="1"/>
              <a:t>olumlu</a:t>
            </a:r>
            <a:r>
              <a:rPr lang="en-US" sz="2800" dirty="0"/>
              <a:t> </a:t>
            </a:r>
            <a:r>
              <a:rPr lang="en-US" sz="2800" dirty="0" err="1"/>
              <a:t>veya</a:t>
            </a:r>
            <a:r>
              <a:rPr lang="en-US" sz="2800" dirty="0"/>
              <a:t> </a:t>
            </a:r>
            <a:r>
              <a:rPr lang="en-US" sz="2800" dirty="0" err="1"/>
              <a:t>olumsuz</a:t>
            </a:r>
            <a:r>
              <a:rPr lang="en-US" sz="2800" dirty="0"/>
              <a:t>)</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a:t>Risk</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34848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327065"/>
          </a:xfrm>
        </p:spPr>
        <p:txBody>
          <a:bodyPr/>
          <a:lstStyle/>
          <a:p>
            <a:r>
              <a:rPr lang="en-US" sz="2800"/>
              <a:t>Yıllık gerçekleşme oranı (ARO): Bu olayın bir yıl boyunca meydana gelme olasılığının tahmini
Tek kayıp beklentisi (SLE): Olayın gerçekleşmesi durumunda ortaya çıkacak tahmini kayıp
Yıllık zarar beklentisi: Bir yıl boyunca bu riskten kaynaklanan tahmini kayıp
ARO × SLE = ALE</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a:t>Yıllık Zarar Beklentisi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95942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4927" y="1295400"/>
            <a:ext cx="8415338" cy="4475841"/>
          </a:xfrm>
        </p:spPr>
        <p:txBody>
          <a:bodyPr/>
          <a:lstStyle/>
          <a:p>
            <a:r>
              <a:rPr lang="en-US" sz="2700"/>
              <a:t>Risk yönetimi: Riskleri belirleme, izleme ve bir kuruluşun kabul etmeye istekli olduğu bir düzeye sınırlama süreci; Riski yönettikten sonra kalan risk seviyesine artık risk denir.
Belirli bir riski ele almak için stratejiler:
Kabul
Kaçınma
Azaltma
Artıklık
Aktarım</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a:t>Risk Yönetimi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0369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39725" y="933690"/>
            <a:ext cx="8415338" cy="5937010"/>
          </a:xfrm>
        </p:spPr>
        <p:txBody>
          <a:bodyPr/>
          <a:lstStyle/>
          <a:p>
            <a:r>
              <a:rPr lang="en-US" sz="2800"/>
              <a:t>ISO 9001 standartlar ailesi: Kaliteli ürünler, hizmetler ve yönetim için bir rehber görevi gören bir dizi standart; Her beş yılda bir güncellenir
ISO 9001 sertifikası almak için, bir kuruluşun harici bir değerlendirici tarafından yapılan bir incelemeye tabi tutulması gerekir 
Hata türü ve etkileri analizi (FMEA): ISO 9001 uyumlu kalite sistemleri geliştirmek için kullanılan bir teknik 
Güvenilirliği değerlendirir ve sistem ve ekipman arızalarının etkilerini belirler
Hata modu: Bir ürün veya işlemin müşteri tarafından açıklanan işlevleri nasıl yerine getiremeyebileceğini açıklar</a:t>
            </a:r>
            <a:endParaRPr lang="en-US" dirty="0"/>
          </a:p>
        </p:txBody>
      </p:sp>
      <p:sp>
        <p:nvSpPr>
          <p:cNvPr id="3" name="Title 2"/>
          <p:cNvSpPr>
            <a:spLocks noGrp="1"/>
          </p:cNvSpPr>
          <p:nvPr>
            <p:ph type="title"/>
          </p:nvPr>
        </p:nvSpPr>
        <p:spPr>
          <a:xfrm>
            <a:off x="754063" y="341401"/>
            <a:ext cx="8026400" cy="527837"/>
          </a:xfrm>
        </p:spPr>
        <p:txBody>
          <a:bodyPr/>
          <a:lstStyle/>
          <a:p>
            <a:r>
              <a:rPr lang="en-US" sz="4000"/>
              <a:t>Kalite Yönetim Standartları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74097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7-4 (part 1): This table presents a checklist of questions a manager should ask when trying to improve software quality.&#10;&#10;Has senior management made a commitment to develop quality software?&#10;Have you used CMMI to evaluate your organization’s software development process?&#10;Has your company adopted a standard software development methodology?&#10;Does the methodology place a heavy emphasis on quality management and address how to define, measure, and refine the quality of the software development process and its products?&#10;Are software project managers and team members trained in the use of this methodology?&#10;Are software project managers and team members held accountable for following this methodology?&#10;&#10;"/>
          <p:cNvGraphicFramePr>
            <a:graphicFrameLocks noGrp="1"/>
          </p:cNvGraphicFramePr>
          <p:nvPr>
            <p:ph idx="1"/>
            <p:extLst>
              <p:ext uri="{D42A27DB-BD31-4B8C-83A1-F6EECF244321}">
                <p14:modId xmlns:p14="http://schemas.microsoft.com/office/powerpoint/2010/main" val="2862589679"/>
              </p:ext>
            </p:extLst>
          </p:nvPr>
        </p:nvGraphicFramePr>
        <p:xfrm>
          <a:off x="347270" y="1219200"/>
          <a:ext cx="8403971" cy="5158740"/>
        </p:xfrm>
        <a:graphic>
          <a:graphicData uri="http://schemas.openxmlformats.org/drawingml/2006/table">
            <a:tbl>
              <a:tblPr firstRow="1" bandRow="1">
                <a:tableStyleId>{5C22544A-7EE6-4342-B048-85BDC9FD1C3A}</a:tableStyleId>
              </a:tblPr>
              <a:tblGrid>
                <a:gridCol w="7178675">
                  <a:extLst>
                    <a:ext uri="{9D8B030D-6E8A-4147-A177-3AD203B41FA5}">
                      <a16:colId xmlns:a16="http://schemas.microsoft.com/office/drawing/2014/main" val="2363978071"/>
                    </a:ext>
                  </a:extLst>
                </a:gridCol>
                <a:gridCol w="612648">
                  <a:extLst>
                    <a:ext uri="{9D8B030D-6E8A-4147-A177-3AD203B41FA5}">
                      <a16:colId xmlns:a16="http://schemas.microsoft.com/office/drawing/2014/main" val="2696727545"/>
                    </a:ext>
                  </a:extLst>
                </a:gridCol>
                <a:gridCol w="612648">
                  <a:extLst>
                    <a:ext uri="{9D8B030D-6E8A-4147-A177-3AD203B41FA5}">
                      <a16:colId xmlns:a16="http://schemas.microsoft.com/office/drawing/2014/main" val="640755802"/>
                    </a:ext>
                  </a:extLst>
                </a:gridCol>
              </a:tblGrid>
              <a:tr h="334328">
                <a:tc>
                  <a:txBody>
                    <a:bodyPr/>
                    <a:lstStyle/>
                    <a:p>
                      <a:r>
                        <a:rPr lang="en-US" sz="2000" dirty="0"/>
                        <a:t>SORU</a:t>
                      </a:r>
                    </a:p>
                  </a:txBody>
                  <a:tcPr/>
                </a:tc>
                <a:tc>
                  <a:txBody>
                    <a:bodyPr/>
                    <a:lstStyle/>
                    <a:p>
                      <a:r>
                        <a:rPr lang="en-US" sz="2000" dirty="0"/>
                        <a:t>YES</a:t>
                      </a:r>
                    </a:p>
                  </a:txBody>
                  <a:tcPr/>
                </a:tc>
                <a:tc>
                  <a:txBody>
                    <a:bodyPr/>
                    <a:lstStyle/>
                    <a:p>
                      <a:r>
                        <a:rPr lang="en-US" sz="2000" dirty="0"/>
                        <a:t>NO</a:t>
                      </a:r>
                    </a:p>
                  </a:txBody>
                  <a:tcPr/>
                </a:tc>
                <a:extLst>
                  <a:ext uri="{0D108BD9-81ED-4DB2-BD59-A6C34878D82A}">
                    <a16:rowId xmlns:a16="http://schemas.microsoft.com/office/drawing/2014/main" val="292663712"/>
                  </a:ext>
                </a:extLst>
              </a:tr>
              <a:tr h="370840">
                <a:tc>
                  <a:txBody>
                    <a:bodyPr/>
                    <a:lstStyle/>
                    <a:p>
                      <a:pPr marL="285750" indent="-285750">
                        <a:spcBef>
                          <a:spcPts val="300"/>
                        </a:spcBef>
                        <a:buClr>
                          <a:schemeClr val="accent2"/>
                        </a:buClr>
                        <a:buFont typeface="Arial" panose="020B0604020202020204" pitchFamily="34" charset="0"/>
                        <a:buChar char="•"/>
                      </a:pPr>
                      <a:r>
                        <a:rPr lang="en-US" sz="2100" dirty="0" err="1"/>
                        <a:t>Üst</a:t>
                      </a:r>
                      <a:r>
                        <a:rPr lang="en-US" sz="2100" dirty="0"/>
                        <a:t> </a:t>
                      </a:r>
                      <a:r>
                        <a:rPr lang="en-US" sz="2100" dirty="0" err="1"/>
                        <a:t>yönetim</a:t>
                      </a:r>
                      <a:r>
                        <a:rPr lang="en-US" sz="2100" dirty="0"/>
                        <a:t> </a:t>
                      </a:r>
                      <a:r>
                        <a:rPr lang="en-US" sz="2100" dirty="0" err="1"/>
                        <a:t>kaliteli</a:t>
                      </a:r>
                      <a:r>
                        <a:rPr lang="en-US" sz="2100" dirty="0"/>
                        <a:t> </a:t>
                      </a:r>
                      <a:r>
                        <a:rPr lang="en-US" sz="2100" dirty="0" err="1"/>
                        <a:t>yazılım</a:t>
                      </a:r>
                      <a:r>
                        <a:rPr lang="en-US" sz="2100" dirty="0"/>
                        <a:t> </a:t>
                      </a:r>
                      <a:r>
                        <a:rPr lang="en-US" sz="2100" dirty="0" err="1"/>
                        <a:t>geliştirme</a:t>
                      </a:r>
                      <a:r>
                        <a:rPr lang="en-US" sz="2100" dirty="0"/>
                        <a:t> </a:t>
                      </a:r>
                      <a:r>
                        <a:rPr lang="en-US" sz="2100" dirty="0" err="1"/>
                        <a:t>taahhüdünde</a:t>
                      </a:r>
                      <a:r>
                        <a:rPr lang="en-US" sz="2100" dirty="0"/>
                        <a:t> </a:t>
                      </a:r>
                      <a:r>
                        <a:rPr lang="en-US" sz="2100" dirty="0" err="1"/>
                        <a:t>bulundu</a:t>
                      </a:r>
                      <a:r>
                        <a:rPr lang="en-US" sz="2100" dirty="0"/>
                        <a:t> mu?
</a:t>
                      </a:r>
                      <a:r>
                        <a:rPr lang="en-US" sz="2100" dirty="0" err="1"/>
                        <a:t>Kuruluşunuzun</a:t>
                      </a:r>
                      <a:r>
                        <a:rPr lang="en-US" sz="2100" dirty="0"/>
                        <a:t> </a:t>
                      </a:r>
                      <a:r>
                        <a:rPr lang="en-US" sz="2100" dirty="0" err="1"/>
                        <a:t>yazılım</a:t>
                      </a:r>
                      <a:r>
                        <a:rPr lang="en-US" sz="2100" dirty="0"/>
                        <a:t> </a:t>
                      </a:r>
                      <a:r>
                        <a:rPr lang="en-US" sz="2100" dirty="0" err="1"/>
                        <a:t>geliştirme</a:t>
                      </a:r>
                      <a:r>
                        <a:rPr lang="en-US" sz="2100" dirty="0"/>
                        <a:t> </a:t>
                      </a:r>
                      <a:r>
                        <a:rPr lang="en-US" sz="2100" dirty="0" err="1"/>
                        <a:t>sürecini</a:t>
                      </a:r>
                      <a:r>
                        <a:rPr lang="en-US" sz="2100" dirty="0"/>
                        <a:t> </a:t>
                      </a:r>
                      <a:r>
                        <a:rPr lang="en-US" sz="2100" dirty="0" err="1"/>
                        <a:t>değerlendirmek</a:t>
                      </a:r>
                      <a:r>
                        <a:rPr lang="en-US" sz="2100" dirty="0"/>
                        <a:t> için </a:t>
                      </a:r>
                      <a:r>
                        <a:rPr lang="en-US" sz="2100" dirty="0" err="1"/>
                        <a:t>CMMI'yi</a:t>
                      </a:r>
                      <a:r>
                        <a:rPr lang="en-US" sz="2100" dirty="0"/>
                        <a:t> </a:t>
                      </a:r>
                      <a:r>
                        <a:rPr lang="en-US" sz="2100" dirty="0" err="1"/>
                        <a:t>kullandınız</a:t>
                      </a:r>
                      <a:r>
                        <a:rPr lang="en-US" sz="2100" dirty="0"/>
                        <a:t> </a:t>
                      </a:r>
                      <a:r>
                        <a:rPr lang="en-US" sz="2100" dirty="0" err="1"/>
                        <a:t>mı</a:t>
                      </a:r>
                      <a:r>
                        <a:rPr lang="en-US" sz="2100" dirty="0"/>
                        <a:t>?
</a:t>
                      </a:r>
                      <a:r>
                        <a:rPr lang="en-US" sz="2100" dirty="0" err="1"/>
                        <a:t>Şirketiniz</a:t>
                      </a:r>
                      <a:r>
                        <a:rPr lang="en-US" sz="2100" dirty="0"/>
                        <a:t> </a:t>
                      </a:r>
                      <a:r>
                        <a:rPr lang="en-US" sz="2100" dirty="0" err="1"/>
                        <a:t>standart</a:t>
                      </a:r>
                      <a:r>
                        <a:rPr lang="en-US" sz="2100" dirty="0"/>
                        <a:t> </a:t>
                      </a:r>
                      <a:r>
                        <a:rPr lang="en-US" sz="2100" dirty="0" err="1"/>
                        <a:t>bir</a:t>
                      </a:r>
                      <a:r>
                        <a:rPr lang="en-US" sz="2100" dirty="0"/>
                        <a:t> </a:t>
                      </a:r>
                      <a:r>
                        <a:rPr lang="en-US" sz="2100" dirty="0" err="1"/>
                        <a:t>yazılım</a:t>
                      </a:r>
                      <a:r>
                        <a:rPr lang="en-US" sz="2100" dirty="0"/>
                        <a:t> </a:t>
                      </a:r>
                      <a:r>
                        <a:rPr lang="en-US" sz="2100" dirty="0" err="1"/>
                        <a:t>geliştirme</a:t>
                      </a:r>
                      <a:r>
                        <a:rPr lang="en-US" sz="2100" dirty="0"/>
                        <a:t> </a:t>
                      </a:r>
                      <a:r>
                        <a:rPr lang="en-US" sz="2100" dirty="0" err="1"/>
                        <a:t>metodolojisi</a:t>
                      </a:r>
                      <a:r>
                        <a:rPr lang="en-US" sz="2100" dirty="0"/>
                        <a:t> </a:t>
                      </a:r>
                      <a:r>
                        <a:rPr lang="en-US" sz="2100" dirty="0" err="1"/>
                        <a:t>benimsedi</a:t>
                      </a:r>
                      <a:r>
                        <a:rPr lang="en-US" sz="2100" dirty="0"/>
                        <a:t> mi?
</a:t>
                      </a:r>
                      <a:r>
                        <a:rPr lang="en-US" sz="2100" dirty="0" err="1"/>
                        <a:t>Metodoloji</a:t>
                      </a:r>
                      <a:r>
                        <a:rPr lang="en-US" sz="2100" dirty="0"/>
                        <a:t>, </a:t>
                      </a:r>
                      <a:r>
                        <a:rPr lang="en-US" sz="2100" dirty="0" err="1"/>
                        <a:t>kalite</a:t>
                      </a:r>
                      <a:r>
                        <a:rPr lang="en-US" sz="2100" dirty="0"/>
                        <a:t> </a:t>
                      </a:r>
                      <a:r>
                        <a:rPr lang="en-US" sz="2100" dirty="0" err="1"/>
                        <a:t>yönetimine</a:t>
                      </a:r>
                      <a:r>
                        <a:rPr lang="en-US" sz="2100" dirty="0"/>
                        <a:t> </a:t>
                      </a:r>
                      <a:r>
                        <a:rPr lang="en-US" sz="2100" dirty="0" err="1"/>
                        <a:t>büyük</a:t>
                      </a:r>
                      <a:r>
                        <a:rPr lang="en-US" sz="2100" dirty="0"/>
                        <a:t> </a:t>
                      </a:r>
                      <a:r>
                        <a:rPr lang="en-US" sz="2100" dirty="0" err="1"/>
                        <a:t>önem</a:t>
                      </a:r>
                      <a:r>
                        <a:rPr lang="en-US" sz="2100" dirty="0"/>
                        <a:t> </a:t>
                      </a:r>
                      <a:r>
                        <a:rPr lang="en-US" sz="2100" dirty="0" err="1"/>
                        <a:t>veriyor</a:t>
                      </a:r>
                      <a:r>
                        <a:rPr lang="en-US" sz="2100" dirty="0"/>
                        <a:t> mu </a:t>
                      </a:r>
                      <a:r>
                        <a:rPr lang="en-US" sz="2100" dirty="0" err="1"/>
                        <a:t>ve</a:t>
                      </a:r>
                      <a:r>
                        <a:rPr lang="en-US" sz="2100" dirty="0"/>
                        <a:t> </a:t>
                      </a:r>
                      <a:r>
                        <a:rPr lang="en-US" sz="2100" dirty="0" err="1"/>
                        <a:t>yazılım</a:t>
                      </a:r>
                      <a:r>
                        <a:rPr lang="en-US" sz="2100" dirty="0"/>
                        <a:t> </a:t>
                      </a:r>
                      <a:r>
                        <a:rPr lang="en-US" sz="2100" dirty="0" err="1"/>
                        <a:t>geliştirme</a:t>
                      </a:r>
                      <a:r>
                        <a:rPr lang="en-US" sz="2100" dirty="0"/>
                        <a:t> </a:t>
                      </a:r>
                      <a:r>
                        <a:rPr lang="en-US" sz="2100" dirty="0" err="1"/>
                        <a:t>sürecinin</a:t>
                      </a:r>
                      <a:r>
                        <a:rPr lang="en-US" sz="2100" dirty="0"/>
                        <a:t> </a:t>
                      </a:r>
                      <a:r>
                        <a:rPr lang="en-US" sz="2100" dirty="0" err="1"/>
                        <a:t>ve</a:t>
                      </a:r>
                      <a:r>
                        <a:rPr lang="en-US" sz="2100" dirty="0"/>
                        <a:t> </a:t>
                      </a:r>
                      <a:r>
                        <a:rPr lang="en-US" sz="2100" dirty="0" err="1"/>
                        <a:t>ürünlerinin</a:t>
                      </a:r>
                      <a:r>
                        <a:rPr lang="en-US" sz="2100" dirty="0"/>
                        <a:t> </a:t>
                      </a:r>
                      <a:r>
                        <a:rPr lang="en-US" sz="2100" dirty="0" err="1"/>
                        <a:t>kalitesinin</a:t>
                      </a:r>
                      <a:r>
                        <a:rPr lang="en-US" sz="2100" dirty="0"/>
                        <a:t> </a:t>
                      </a:r>
                      <a:r>
                        <a:rPr lang="en-US" sz="2100" dirty="0" err="1"/>
                        <a:t>nasıl</a:t>
                      </a:r>
                      <a:r>
                        <a:rPr lang="en-US" sz="2100" dirty="0"/>
                        <a:t> </a:t>
                      </a:r>
                      <a:r>
                        <a:rPr lang="en-US" sz="2100" dirty="0" err="1"/>
                        <a:t>tanımlanacağını</a:t>
                      </a:r>
                      <a:r>
                        <a:rPr lang="en-US" sz="2100" dirty="0"/>
                        <a:t>, </a:t>
                      </a:r>
                      <a:r>
                        <a:rPr lang="en-US" sz="2100" dirty="0" err="1"/>
                        <a:t>ölçüleceğini</a:t>
                      </a:r>
                      <a:r>
                        <a:rPr lang="en-US" sz="2100" dirty="0"/>
                        <a:t> </a:t>
                      </a:r>
                      <a:r>
                        <a:rPr lang="en-US" sz="2100" dirty="0" err="1"/>
                        <a:t>ve</a:t>
                      </a:r>
                      <a:r>
                        <a:rPr lang="en-US" sz="2100" dirty="0"/>
                        <a:t> </a:t>
                      </a:r>
                      <a:r>
                        <a:rPr lang="en-US" sz="2100" dirty="0" err="1"/>
                        <a:t>iyileştirileceğini</a:t>
                      </a:r>
                      <a:r>
                        <a:rPr lang="en-US" sz="2100" dirty="0"/>
                        <a:t> </a:t>
                      </a:r>
                      <a:r>
                        <a:rPr lang="en-US" sz="2100" dirty="0" err="1"/>
                        <a:t>ele</a:t>
                      </a:r>
                      <a:r>
                        <a:rPr lang="en-US" sz="2100" dirty="0"/>
                        <a:t> </a:t>
                      </a:r>
                      <a:r>
                        <a:rPr lang="en-US" sz="2100" dirty="0" err="1"/>
                        <a:t>alıyor</a:t>
                      </a:r>
                      <a:r>
                        <a:rPr lang="en-US" sz="2100" dirty="0"/>
                        <a:t> mu?
</a:t>
                      </a:r>
                      <a:r>
                        <a:rPr lang="en-US" sz="2100" dirty="0" err="1"/>
                        <a:t>Yazılım</a:t>
                      </a:r>
                      <a:r>
                        <a:rPr lang="en-US" sz="2100" dirty="0"/>
                        <a:t> </a:t>
                      </a:r>
                      <a:r>
                        <a:rPr lang="en-US" sz="2100" dirty="0" err="1"/>
                        <a:t>proje</a:t>
                      </a:r>
                      <a:r>
                        <a:rPr lang="en-US" sz="2100" dirty="0"/>
                        <a:t> </a:t>
                      </a:r>
                      <a:r>
                        <a:rPr lang="en-US" sz="2100" dirty="0" err="1"/>
                        <a:t>yöneticileri</a:t>
                      </a:r>
                      <a:r>
                        <a:rPr lang="en-US" sz="2100" dirty="0"/>
                        <a:t> </a:t>
                      </a:r>
                      <a:r>
                        <a:rPr lang="en-US" sz="2100" dirty="0" err="1"/>
                        <a:t>ve</a:t>
                      </a:r>
                      <a:r>
                        <a:rPr lang="en-US" sz="2100" dirty="0"/>
                        <a:t> </a:t>
                      </a:r>
                      <a:r>
                        <a:rPr lang="en-US" sz="2100" dirty="0" err="1"/>
                        <a:t>ekip</a:t>
                      </a:r>
                      <a:r>
                        <a:rPr lang="en-US" sz="2100" dirty="0"/>
                        <a:t> </a:t>
                      </a:r>
                      <a:r>
                        <a:rPr lang="en-US" sz="2100" dirty="0" err="1"/>
                        <a:t>üyeleri</a:t>
                      </a:r>
                      <a:r>
                        <a:rPr lang="en-US" sz="2100" dirty="0"/>
                        <a:t> </a:t>
                      </a:r>
                      <a:r>
                        <a:rPr lang="en-US" sz="2100" dirty="0" err="1"/>
                        <a:t>bu</a:t>
                      </a:r>
                      <a:r>
                        <a:rPr lang="en-US" sz="2100" dirty="0"/>
                        <a:t> </a:t>
                      </a:r>
                      <a:r>
                        <a:rPr lang="en-US" sz="2100" dirty="0" err="1"/>
                        <a:t>metodolojinin</a:t>
                      </a:r>
                      <a:r>
                        <a:rPr lang="en-US" sz="2100" dirty="0"/>
                        <a:t> </a:t>
                      </a:r>
                      <a:r>
                        <a:rPr lang="en-US" sz="2100" dirty="0" err="1"/>
                        <a:t>kullanımı</a:t>
                      </a:r>
                      <a:r>
                        <a:rPr lang="en-US" sz="2100" dirty="0"/>
                        <a:t> </a:t>
                      </a:r>
                      <a:r>
                        <a:rPr lang="en-US" sz="2100" dirty="0" err="1"/>
                        <a:t>konusunda</a:t>
                      </a:r>
                      <a:r>
                        <a:rPr lang="en-US" sz="2100" dirty="0"/>
                        <a:t> </a:t>
                      </a:r>
                      <a:r>
                        <a:rPr lang="en-US" sz="2100" dirty="0" err="1"/>
                        <a:t>eğitilmiş</a:t>
                      </a:r>
                      <a:r>
                        <a:rPr lang="en-US" sz="2100" dirty="0"/>
                        <a:t> mi?
</a:t>
                      </a:r>
                      <a:r>
                        <a:rPr lang="en-US" sz="2100" dirty="0" err="1"/>
                        <a:t>Yazılım</a:t>
                      </a:r>
                      <a:r>
                        <a:rPr lang="en-US" sz="2100" dirty="0"/>
                        <a:t> </a:t>
                      </a:r>
                      <a:r>
                        <a:rPr lang="en-US" sz="2100" dirty="0" err="1"/>
                        <a:t>proje</a:t>
                      </a:r>
                      <a:r>
                        <a:rPr lang="en-US" sz="2100" dirty="0"/>
                        <a:t> </a:t>
                      </a:r>
                      <a:r>
                        <a:rPr lang="en-US" sz="2100" dirty="0" err="1"/>
                        <a:t>yöneticileri</a:t>
                      </a:r>
                      <a:r>
                        <a:rPr lang="en-US" sz="2100" dirty="0"/>
                        <a:t> </a:t>
                      </a:r>
                      <a:r>
                        <a:rPr lang="en-US" sz="2100" dirty="0" err="1"/>
                        <a:t>ve</a:t>
                      </a:r>
                      <a:r>
                        <a:rPr lang="en-US" sz="2100" dirty="0"/>
                        <a:t> </a:t>
                      </a:r>
                      <a:r>
                        <a:rPr lang="en-US" sz="2100" dirty="0" err="1"/>
                        <a:t>ekip</a:t>
                      </a:r>
                      <a:r>
                        <a:rPr lang="en-US" sz="2100" dirty="0"/>
                        <a:t> </a:t>
                      </a:r>
                      <a:r>
                        <a:rPr lang="en-US" sz="2100" dirty="0" err="1"/>
                        <a:t>üyeleri</a:t>
                      </a:r>
                      <a:r>
                        <a:rPr lang="en-US" sz="2100" dirty="0"/>
                        <a:t> </a:t>
                      </a:r>
                      <a:r>
                        <a:rPr lang="en-US" sz="2100" dirty="0" err="1"/>
                        <a:t>bu</a:t>
                      </a:r>
                      <a:r>
                        <a:rPr lang="en-US" sz="2100" dirty="0"/>
                        <a:t> </a:t>
                      </a:r>
                      <a:r>
                        <a:rPr lang="en-US" sz="2100" dirty="0" err="1"/>
                        <a:t>metodolojiyi</a:t>
                      </a:r>
                      <a:r>
                        <a:rPr lang="en-US" sz="2100" dirty="0"/>
                        <a:t> </a:t>
                      </a:r>
                      <a:r>
                        <a:rPr lang="en-US" sz="2100" dirty="0" err="1"/>
                        <a:t>izlemekten</a:t>
                      </a:r>
                      <a:r>
                        <a:rPr lang="en-US" sz="2100" dirty="0"/>
                        <a:t> </a:t>
                      </a:r>
                      <a:r>
                        <a:rPr lang="en-US" sz="2100" dirty="0" err="1"/>
                        <a:t>sorumlu</a:t>
                      </a:r>
                      <a:r>
                        <a:rPr lang="en-US" sz="2100" dirty="0"/>
                        <a:t> </a:t>
                      </a:r>
                      <a:r>
                        <a:rPr lang="en-US" sz="2100" dirty="0" err="1"/>
                        <a:t>tutuluyor</a:t>
                      </a:r>
                      <a:r>
                        <a:rPr lang="en-US" sz="2100" dirty="0"/>
                        <a:t> mu?</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037021227"/>
                  </a:ext>
                </a:extLst>
              </a:tr>
            </a:tbl>
          </a:graphicData>
        </a:graphic>
      </p:graphicFrame>
      <p:sp>
        <p:nvSpPr>
          <p:cNvPr id="3" name="Title 2"/>
          <p:cNvSpPr>
            <a:spLocks noGrp="1"/>
          </p:cNvSpPr>
          <p:nvPr>
            <p:ph type="title"/>
          </p:nvPr>
        </p:nvSpPr>
        <p:spPr>
          <a:xfrm>
            <a:off x="762000" y="225920"/>
            <a:ext cx="8026400" cy="656911"/>
          </a:xfrm>
        </p:spPr>
        <p:txBody>
          <a:bodyPr/>
          <a:lstStyle/>
          <a:p>
            <a:r>
              <a:rPr lang="en-US" sz="2500"/>
              <a:t>Yazılım Kalitesini Artırmak İçin Yöneticinin Kontrol Listesi, Bölüm 1</a:t>
            </a:r>
            <a:endParaRPr lang="en-US" sz="25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05247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7-4 (part 2): This table presents a checklist of questions a manager should ask when trying to improve software quality.&#10;&#10;Is a strong effort made to identify and remove errors as early as possible in the software development process?&#10;Are both static and dynamic software testing methods used?&#10;Are white-box testing and black-box testing methods used?&#10;Has an honest assessment been made to determine if the software being developed is safety critical?&#10;If the software is safety critical, are additional tools and methods employed, and do they include the following: a project safety engineer, hazard logs, safety reviews, formal configuration management systems, rigorous documentation, risk analysis processes, and the FMEA technique?&#10;&#10;&#10;"/>
          <p:cNvGraphicFramePr>
            <a:graphicFrameLocks noGrp="1"/>
          </p:cNvGraphicFramePr>
          <p:nvPr>
            <p:ph idx="1"/>
            <p:extLst>
              <p:ext uri="{D42A27DB-BD31-4B8C-83A1-F6EECF244321}">
                <p14:modId xmlns:p14="http://schemas.microsoft.com/office/powerpoint/2010/main" val="1218079489"/>
              </p:ext>
            </p:extLst>
          </p:nvPr>
        </p:nvGraphicFramePr>
        <p:xfrm>
          <a:off x="347270" y="1219200"/>
          <a:ext cx="8403971" cy="5120640"/>
        </p:xfrm>
        <a:graphic>
          <a:graphicData uri="http://schemas.openxmlformats.org/drawingml/2006/table">
            <a:tbl>
              <a:tblPr firstRow="1" bandRow="1">
                <a:tableStyleId>{5C22544A-7EE6-4342-B048-85BDC9FD1C3A}</a:tableStyleId>
              </a:tblPr>
              <a:tblGrid>
                <a:gridCol w="7178675">
                  <a:extLst>
                    <a:ext uri="{9D8B030D-6E8A-4147-A177-3AD203B41FA5}">
                      <a16:colId xmlns:a16="http://schemas.microsoft.com/office/drawing/2014/main" val="2363978071"/>
                    </a:ext>
                  </a:extLst>
                </a:gridCol>
                <a:gridCol w="612648">
                  <a:extLst>
                    <a:ext uri="{9D8B030D-6E8A-4147-A177-3AD203B41FA5}">
                      <a16:colId xmlns:a16="http://schemas.microsoft.com/office/drawing/2014/main" val="2696727545"/>
                    </a:ext>
                  </a:extLst>
                </a:gridCol>
                <a:gridCol w="612648">
                  <a:extLst>
                    <a:ext uri="{9D8B030D-6E8A-4147-A177-3AD203B41FA5}">
                      <a16:colId xmlns:a16="http://schemas.microsoft.com/office/drawing/2014/main" val="640755802"/>
                    </a:ext>
                  </a:extLst>
                </a:gridCol>
              </a:tblGrid>
              <a:tr h="334328">
                <a:tc>
                  <a:txBody>
                    <a:bodyPr/>
                    <a:lstStyle/>
                    <a:p>
                      <a:r>
                        <a:rPr lang="en-US" sz="2000" dirty="0"/>
                        <a:t>SORU</a:t>
                      </a:r>
                    </a:p>
                  </a:txBody>
                  <a:tcPr/>
                </a:tc>
                <a:tc>
                  <a:txBody>
                    <a:bodyPr/>
                    <a:lstStyle/>
                    <a:p>
                      <a:r>
                        <a:rPr lang="en-US" sz="2000" dirty="0"/>
                        <a:t>YES</a:t>
                      </a:r>
                    </a:p>
                  </a:txBody>
                  <a:tcPr/>
                </a:tc>
                <a:tc>
                  <a:txBody>
                    <a:bodyPr/>
                    <a:lstStyle/>
                    <a:p>
                      <a:r>
                        <a:rPr lang="en-US" sz="2000" dirty="0"/>
                        <a:t>NO</a:t>
                      </a:r>
                    </a:p>
                  </a:txBody>
                  <a:tcPr/>
                </a:tc>
                <a:extLst>
                  <a:ext uri="{0D108BD9-81ED-4DB2-BD59-A6C34878D82A}">
                    <a16:rowId xmlns:a16="http://schemas.microsoft.com/office/drawing/2014/main" val="292663712"/>
                  </a:ext>
                </a:extLst>
              </a:tr>
              <a:tr h="370840">
                <a:tc>
                  <a:txBody>
                    <a:bodyPr/>
                    <a:lstStyle/>
                    <a:p>
                      <a:pPr marL="285750" indent="-285750">
                        <a:spcBef>
                          <a:spcPts val="300"/>
                        </a:spcBef>
                        <a:buClr>
                          <a:schemeClr val="accent2"/>
                        </a:buClr>
                        <a:buFont typeface="Arial" panose="020B0604020202020204" pitchFamily="34" charset="0"/>
                        <a:buChar char="•"/>
                      </a:pPr>
                      <a:r>
                        <a:rPr lang="en-US" sz="2100" dirty="0" err="1"/>
                        <a:t>Yazılım</a:t>
                      </a:r>
                      <a:r>
                        <a:rPr lang="en-US" sz="2100" dirty="0"/>
                        <a:t> </a:t>
                      </a:r>
                      <a:r>
                        <a:rPr lang="en-US" sz="2100" dirty="0" err="1"/>
                        <a:t>geliştirme</a:t>
                      </a:r>
                      <a:r>
                        <a:rPr lang="en-US" sz="2100" dirty="0"/>
                        <a:t> </a:t>
                      </a:r>
                      <a:r>
                        <a:rPr lang="en-US" sz="2100" dirty="0" err="1"/>
                        <a:t>sürecinde</a:t>
                      </a:r>
                      <a:r>
                        <a:rPr lang="en-US" sz="2100" dirty="0"/>
                        <a:t> </a:t>
                      </a:r>
                      <a:r>
                        <a:rPr lang="en-US" sz="2100" dirty="0" err="1"/>
                        <a:t>hataları</a:t>
                      </a:r>
                      <a:r>
                        <a:rPr lang="en-US" sz="2100" dirty="0"/>
                        <a:t> </a:t>
                      </a:r>
                      <a:r>
                        <a:rPr lang="en-US" sz="2100" dirty="0" err="1"/>
                        <a:t>mümkün</a:t>
                      </a:r>
                      <a:r>
                        <a:rPr lang="en-US" sz="2100" dirty="0"/>
                        <a:t> </a:t>
                      </a:r>
                      <a:r>
                        <a:rPr lang="en-US" sz="2100" dirty="0" err="1"/>
                        <a:t>olduğunca</a:t>
                      </a:r>
                      <a:r>
                        <a:rPr lang="en-US" sz="2100" dirty="0"/>
                        <a:t> </a:t>
                      </a:r>
                      <a:r>
                        <a:rPr lang="en-US" sz="2100" dirty="0" err="1"/>
                        <a:t>erken</a:t>
                      </a:r>
                      <a:r>
                        <a:rPr lang="en-US" sz="2100" dirty="0"/>
                        <a:t> </a:t>
                      </a:r>
                      <a:r>
                        <a:rPr lang="en-US" sz="2100" dirty="0" err="1"/>
                        <a:t>tespit</a:t>
                      </a:r>
                      <a:r>
                        <a:rPr lang="en-US" sz="2100" dirty="0"/>
                        <a:t> </a:t>
                      </a:r>
                      <a:r>
                        <a:rPr lang="en-US" sz="2100" dirty="0" err="1"/>
                        <a:t>etmek</a:t>
                      </a:r>
                      <a:r>
                        <a:rPr lang="en-US" sz="2100" dirty="0"/>
                        <a:t> </a:t>
                      </a:r>
                      <a:r>
                        <a:rPr lang="en-US" sz="2100" dirty="0" err="1"/>
                        <a:t>ve</a:t>
                      </a:r>
                      <a:r>
                        <a:rPr lang="en-US" sz="2100" dirty="0"/>
                        <a:t> </a:t>
                      </a:r>
                      <a:r>
                        <a:rPr lang="en-US" sz="2100" dirty="0" err="1"/>
                        <a:t>ortadan</a:t>
                      </a:r>
                      <a:r>
                        <a:rPr lang="en-US" sz="2100" dirty="0"/>
                        <a:t> </a:t>
                      </a:r>
                      <a:r>
                        <a:rPr lang="en-US" sz="2100" dirty="0" err="1"/>
                        <a:t>kaldırmak</a:t>
                      </a:r>
                      <a:r>
                        <a:rPr lang="en-US" sz="2100" dirty="0"/>
                        <a:t> için </a:t>
                      </a:r>
                      <a:r>
                        <a:rPr lang="en-US" sz="2100" dirty="0" err="1"/>
                        <a:t>güçlü</a:t>
                      </a:r>
                      <a:r>
                        <a:rPr lang="en-US" sz="2100" dirty="0"/>
                        <a:t> </a:t>
                      </a:r>
                      <a:r>
                        <a:rPr lang="en-US" sz="2100" dirty="0" err="1"/>
                        <a:t>bir</a:t>
                      </a:r>
                      <a:r>
                        <a:rPr lang="en-US" sz="2100" dirty="0"/>
                        <a:t> </a:t>
                      </a:r>
                      <a:r>
                        <a:rPr lang="en-US" sz="2100" dirty="0" err="1"/>
                        <a:t>çaba</a:t>
                      </a:r>
                      <a:r>
                        <a:rPr lang="en-US" sz="2100" dirty="0"/>
                        <a:t> </a:t>
                      </a:r>
                      <a:r>
                        <a:rPr lang="en-US" sz="2100" dirty="0" err="1"/>
                        <a:t>gösteriliyor</a:t>
                      </a:r>
                      <a:r>
                        <a:rPr lang="en-US" sz="2100" dirty="0"/>
                        <a:t> mu?
Hem </a:t>
                      </a:r>
                      <a:r>
                        <a:rPr lang="en-US" sz="2100" dirty="0" err="1"/>
                        <a:t>statik</a:t>
                      </a:r>
                      <a:r>
                        <a:rPr lang="en-US" sz="2100" dirty="0"/>
                        <a:t> hem de </a:t>
                      </a:r>
                      <a:r>
                        <a:rPr lang="en-US" sz="2100" dirty="0" err="1"/>
                        <a:t>dinamik</a:t>
                      </a:r>
                      <a:r>
                        <a:rPr lang="en-US" sz="2100" dirty="0"/>
                        <a:t> </a:t>
                      </a:r>
                      <a:r>
                        <a:rPr lang="en-US" sz="2100" dirty="0" err="1"/>
                        <a:t>yazılım</a:t>
                      </a:r>
                      <a:r>
                        <a:rPr lang="en-US" sz="2100" dirty="0"/>
                        <a:t> test </a:t>
                      </a:r>
                      <a:r>
                        <a:rPr lang="en-US" sz="2100" dirty="0" err="1"/>
                        <a:t>yöntemleri</a:t>
                      </a:r>
                      <a:r>
                        <a:rPr lang="en-US" sz="2100" dirty="0"/>
                        <a:t> </a:t>
                      </a:r>
                      <a:r>
                        <a:rPr lang="en-US" sz="2100" dirty="0" err="1"/>
                        <a:t>kullanılıyor</a:t>
                      </a:r>
                      <a:r>
                        <a:rPr lang="en-US" sz="2100" dirty="0"/>
                        <a:t> mu?
</a:t>
                      </a:r>
                      <a:r>
                        <a:rPr lang="en-US" sz="2100" dirty="0" err="1"/>
                        <a:t>Beyaz</a:t>
                      </a:r>
                      <a:r>
                        <a:rPr lang="en-US" sz="2100" dirty="0"/>
                        <a:t> kutu </a:t>
                      </a:r>
                      <a:r>
                        <a:rPr lang="en-US" sz="2100" dirty="0" err="1"/>
                        <a:t>testi</a:t>
                      </a:r>
                      <a:r>
                        <a:rPr lang="en-US" sz="2100" dirty="0"/>
                        <a:t> </a:t>
                      </a:r>
                      <a:r>
                        <a:rPr lang="en-US" sz="2100" dirty="0" err="1"/>
                        <a:t>ve</a:t>
                      </a:r>
                      <a:r>
                        <a:rPr lang="en-US" sz="2100" dirty="0"/>
                        <a:t> kara kutu test </a:t>
                      </a:r>
                      <a:r>
                        <a:rPr lang="en-US" sz="2100" dirty="0" err="1"/>
                        <a:t>yöntemleri</a:t>
                      </a:r>
                      <a:r>
                        <a:rPr lang="en-US" sz="2100" dirty="0"/>
                        <a:t> </a:t>
                      </a:r>
                      <a:r>
                        <a:rPr lang="en-US" sz="2100" dirty="0" err="1"/>
                        <a:t>kullanılıyor</a:t>
                      </a:r>
                      <a:r>
                        <a:rPr lang="en-US" sz="2100" dirty="0"/>
                        <a:t> mu?
</a:t>
                      </a:r>
                      <a:r>
                        <a:rPr lang="en-US" sz="2100" dirty="0" err="1"/>
                        <a:t>Geliştirilmekte</a:t>
                      </a:r>
                      <a:r>
                        <a:rPr lang="en-US" sz="2100" dirty="0"/>
                        <a:t> </a:t>
                      </a:r>
                      <a:r>
                        <a:rPr lang="en-US" sz="2100" dirty="0" err="1"/>
                        <a:t>olan</a:t>
                      </a:r>
                      <a:r>
                        <a:rPr lang="en-US" sz="2100" dirty="0"/>
                        <a:t> </a:t>
                      </a:r>
                      <a:r>
                        <a:rPr lang="en-US" sz="2100" dirty="0" err="1"/>
                        <a:t>yazılımın</a:t>
                      </a:r>
                      <a:r>
                        <a:rPr lang="en-US" sz="2100" dirty="0"/>
                        <a:t> </a:t>
                      </a:r>
                      <a:r>
                        <a:rPr lang="en-US" sz="2100" dirty="0" err="1"/>
                        <a:t>güvenlik</a:t>
                      </a:r>
                      <a:r>
                        <a:rPr lang="en-US" sz="2100" dirty="0"/>
                        <a:t> </a:t>
                      </a:r>
                      <a:r>
                        <a:rPr lang="en-US" sz="2100" dirty="0" err="1"/>
                        <a:t>açısından</a:t>
                      </a:r>
                      <a:r>
                        <a:rPr lang="en-US" sz="2100" dirty="0"/>
                        <a:t> </a:t>
                      </a:r>
                      <a:r>
                        <a:rPr lang="en-US" sz="2100" dirty="0" err="1"/>
                        <a:t>kritik</a:t>
                      </a:r>
                      <a:r>
                        <a:rPr lang="en-US" sz="2100" dirty="0"/>
                        <a:t> </a:t>
                      </a:r>
                      <a:r>
                        <a:rPr lang="en-US" sz="2100" dirty="0" err="1"/>
                        <a:t>olup</a:t>
                      </a:r>
                      <a:r>
                        <a:rPr lang="en-US" sz="2100" dirty="0"/>
                        <a:t> </a:t>
                      </a:r>
                      <a:r>
                        <a:rPr lang="en-US" sz="2100" dirty="0" err="1"/>
                        <a:t>olmadığını</a:t>
                      </a:r>
                      <a:r>
                        <a:rPr lang="en-US" sz="2100" dirty="0"/>
                        <a:t> </a:t>
                      </a:r>
                      <a:r>
                        <a:rPr lang="en-US" sz="2100" dirty="0" err="1"/>
                        <a:t>belirlemek</a:t>
                      </a:r>
                      <a:r>
                        <a:rPr lang="en-US" sz="2100" dirty="0"/>
                        <a:t> için </a:t>
                      </a:r>
                      <a:r>
                        <a:rPr lang="en-US" sz="2100" dirty="0" err="1"/>
                        <a:t>dürüst</a:t>
                      </a:r>
                      <a:r>
                        <a:rPr lang="en-US" sz="2100" dirty="0"/>
                        <a:t> </a:t>
                      </a:r>
                      <a:r>
                        <a:rPr lang="en-US" sz="2100" dirty="0" err="1"/>
                        <a:t>bir</a:t>
                      </a:r>
                      <a:r>
                        <a:rPr lang="en-US" sz="2100" dirty="0"/>
                        <a:t> </a:t>
                      </a:r>
                      <a:r>
                        <a:rPr lang="en-US" sz="2100" dirty="0" err="1"/>
                        <a:t>değerlendirme</a:t>
                      </a:r>
                      <a:r>
                        <a:rPr lang="en-US" sz="2100" dirty="0"/>
                        <a:t> </a:t>
                      </a:r>
                      <a:r>
                        <a:rPr lang="en-US" sz="2100" dirty="0" err="1"/>
                        <a:t>yapıldı</a:t>
                      </a:r>
                      <a:r>
                        <a:rPr lang="en-US" sz="2100" dirty="0"/>
                        <a:t> </a:t>
                      </a:r>
                      <a:r>
                        <a:rPr lang="en-US" sz="2100" dirty="0" err="1"/>
                        <a:t>mı</a:t>
                      </a:r>
                      <a:r>
                        <a:rPr lang="en-US" sz="2100" dirty="0"/>
                        <a:t>?
</a:t>
                      </a:r>
                      <a:r>
                        <a:rPr lang="en-US" sz="2100" dirty="0" err="1"/>
                        <a:t>Yazılım</a:t>
                      </a:r>
                      <a:r>
                        <a:rPr lang="en-US" sz="2100" dirty="0"/>
                        <a:t> </a:t>
                      </a:r>
                      <a:r>
                        <a:rPr lang="en-US" sz="2100" dirty="0" err="1"/>
                        <a:t>güvenlik</a:t>
                      </a:r>
                      <a:r>
                        <a:rPr lang="en-US" sz="2100" dirty="0"/>
                        <a:t> </a:t>
                      </a:r>
                      <a:r>
                        <a:rPr lang="en-US" sz="2100" dirty="0" err="1"/>
                        <a:t>açısından</a:t>
                      </a:r>
                      <a:r>
                        <a:rPr lang="en-US" sz="2100" dirty="0"/>
                        <a:t> </a:t>
                      </a:r>
                      <a:r>
                        <a:rPr lang="en-US" sz="2100" dirty="0" err="1"/>
                        <a:t>kritikse</a:t>
                      </a:r>
                      <a:r>
                        <a:rPr lang="en-US" sz="2100" dirty="0"/>
                        <a:t>, ek </a:t>
                      </a:r>
                      <a:r>
                        <a:rPr lang="en-US" sz="2100" dirty="0" err="1"/>
                        <a:t>araçlar</a:t>
                      </a:r>
                      <a:r>
                        <a:rPr lang="en-US" sz="2100" dirty="0"/>
                        <a:t> </a:t>
                      </a:r>
                      <a:r>
                        <a:rPr lang="en-US" sz="2100" dirty="0" err="1"/>
                        <a:t>ve</a:t>
                      </a:r>
                      <a:r>
                        <a:rPr lang="en-US" sz="2100" dirty="0"/>
                        <a:t> </a:t>
                      </a:r>
                      <a:r>
                        <a:rPr lang="en-US" sz="2100" dirty="0" err="1"/>
                        <a:t>yöntemler</a:t>
                      </a:r>
                      <a:r>
                        <a:rPr lang="en-US" sz="2100" dirty="0"/>
                        <a:t> </a:t>
                      </a:r>
                      <a:r>
                        <a:rPr lang="en-US" sz="2100" dirty="0" err="1"/>
                        <a:t>kullanılıyor</a:t>
                      </a:r>
                      <a:r>
                        <a:rPr lang="en-US" sz="2100" dirty="0"/>
                        <a:t> mu </a:t>
                      </a:r>
                      <a:r>
                        <a:rPr lang="en-US" sz="2100" dirty="0" err="1"/>
                        <a:t>ve</a:t>
                      </a:r>
                      <a:r>
                        <a:rPr lang="en-US" sz="2100" dirty="0"/>
                        <a:t> </a:t>
                      </a:r>
                      <a:r>
                        <a:rPr lang="en-US" sz="2100" dirty="0" err="1"/>
                        <a:t>bunlar</a:t>
                      </a:r>
                      <a:r>
                        <a:rPr lang="en-US" sz="2100" dirty="0"/>
                        <a:t> </a:t>
                      </a:r>
                      <a:r>
                        <a:rPr lang="en-US" sz="2100" dirty="0" err="1"/>
                        <a:t>aşağıdakileri</a:t>
                      </a:r>
                      <a:r>
                        <a:rPr lang="en-US" sz="2100" dirty="0"/>
                        <a:t> </a:t>
                      </a:r>
                      <a:r>
                        <a:rPr lang="en-US" sz="2100" dirty="0" err="1"/>
                        <a:t>içeriyor</a:t>
                      </a:r>
                      <a:r>
                        <a:rPr lang="en-US" sz="2100" dirty="0"/>
                        <a:t> mu: </a:t>
                      </a:r>
                      <a:r>
                        <a:rPr lang="en-US" sz="2100" dirty="0" err="1"/>
                        <a:t>bir</a:t>
                      </a:r>
                      <a:r>
                        <a:rPr lang="en-US" sz="2100" dirty="0"/>
                        <a:t> </a:t>
                      </a:r>
                      <a:r>
                        <a:rPr lang="en-US" sz="2100" dirty="0" err="1"/>
                        <a:t>proje</a:t>
                      </a:r>
                      <a:r>
                        <a:rPr lang="en-US" sz="2100" dirty="0"/>
                        <a:t> </a:t>
                      </a:r>
                      <a:r>
                        <a:rPr lang="en-US" sz="2100" dirty="0" err="1"/>
                        <a:t>güvenliği</a:t>
                      </a:r>
                      <a:r>
                        <a:rPr lang="en-US" sz="2100" dirty="0"/>
                        <a:t> </a:t>
                      </a:r>
                      <a:r>
                        <a:rPr lang="en-US" sz="2100" dirty="0" err="1"/>
                        <a:t>mühendisi</a:t>
                      </a:r>
                      <a:r>
                        <a:rPr lang="en-US" sz="2100" dirty="0"/>
                        <a:t>, </a:t>
                      </a:r>
                      <a:r>
                        <a:rPr lang="en-US" sz="2100" dirty="0" err="1"/>
                        <a:t>tehlike</a:t>
                      </a:r>
                      <a:r>
                        <a:rPr lang="en-US" sz="2100" dirty="0"/>
                        <a:t> </a:t>
                      </a:r>
                      <a:r>
                        <a:rPr lang="en-US" sz="2100" dirty="0" err="1"/>
                        <a:t>günlükleri</a:t>
                      </a:r>
                      <a:r>
                        <a:rPr lang="en-US" sz="2100" dirty="0"/>
                        <a:t>, </a:t>
                      </a:r>
                      <a:r>
                        <a:rPr lang="en-US" sz="2100" dirty="0" err="1"/>
                        <a:t>güvenlik</a:t>
                      </a:r>
                      <a:r>
                        <a:rPr lang="en-US" sz="2100" dirty="0"/>
                        <a:t> </a:t>
                      </a:r>
                      <a:r>
                        <a:rPr lang="en-US" sz="2100" dirty="0" err="1"/>
                        <a:t>incelemeleri</a:t>
                      </a:r>
                      <a:r>
                        <a:rPr lang="en-US" sz="2100" dirty="0"/>
                        <a:t>, </a:t>
                      </a:r>
                      <a:r>
                        <a:rPr lang="en-US" sz="2100" dirty="0" err="1"/>
                        <a:t>resmi</a:t>
                      </a:r>
                      <a:r>
                        <a:rPr lang="en-US" sz="2100" dirty="0"/>
                        <a:t> </a:t>
                      </a:r>
                      <a:r>
                        <a:rPr lang="en-US" sz="2100" dirty="0" err="1"/>
                        <a:t>konfigürasyon</a:t>
                      </a:r>
                      <a:r>
                        <a:rPr lang="en-US" sz="2100" dirty="0"/>
                        <a:t> </a:t>
                      </a:r>
                      <a:r>
                        <a:rPr lang="en-US" sz="2100" dirty="0" err="1"/>
                        <a:t>yönetim</a:t>
                      </a:r>
                      <a:r>
                        <a:rPr lang="en-US" sz="2100" dirty="0"/>
                        <a:t> </a:t>
                      </a:r>
                      <a:r>
                        <a:rPr lang="en-US" sz="2100" dirty="0" err="1"/>
                        <a:t>sistemleri</a:t>
                      </a:r>
                      <a:r>
                        <a:rPr lang="en-US" sz="2100" dirty="0"/>
                        <a:t>, </a:t>
                      </a:r>
                      <a:r>
                        <a:rPr lang="en-US" sz="2100" dirty="0" err="1"/>
                        <a:t>titiz</a:t>
                      </a:r>
                      <a:r>
                        <a:rPr lang="en-US" sz="2100" dirty="0"/>
                        <a:t> </a:t>
                      </a:r>
                      <a:r>
                        <a:rPr lang="en-US" sz="2100" dirty="0" err="1"/>
                        <a:t>belgeler</a:t>
                      </a:r>
                      <a:r>
                        <a:rPr lang="en-US" sz="2100" dirty="0"/>
                        <a:t>, risk </a:t>
                      </a:r>
                      <a:r>
                        <a:rPr lang="en-US" sz="2100" dirty="0" err="1"/>
                        <a:t>analizi</a:t>
                      </a:r>
                      <a:r>
                        <a:rPr lang="en-US" sz="2100" dirty="0"/>
                        <a:t> </a:t>
                      </a:r>
                      <a:r>
                        <a:rPr lang="en-US" sz="2100" dirty="0" err="1"/>
                        <a:t>süreçleri</a:t>
                      </a:r>
                      <a:r>
                        <a:rPr lang="en-US" sz="2100" dirty="0"/>
                        <a:t> </a:t>
                      </a:r>
                      <a:r>
                        <a:rPr lang="en-US" sz="2100" dirty="0" err="1"/>
                        <a:t>ve</a:t>
                      </a:r>
                      <a:r>
                        <a:rPr lang="en-US" sz="2100" dirty="0"/>
                        <a:t> FMEA </a:t>
                      </a:r>
                      <a:r>
                        <a:rPr lang="en-US" sz="2100" dirty="0" err="1"/>
                        <a:t>tekniği</a:t>
                      </a:r>
                      <a:r>
                        <a:rPr lang="en-US" sz="2100"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037021227"/>
                  </a:ext>
                </a:extLst>
              </a:tr>
            </a:tbl>
          </a:graphicData>
        </a:graphic>
      </p:graphicFrame>
      <p:sp>
        <p:nvSpPr>
          <p:cNvPr id="3" name="Title 2"/>
          <p:cNvSpPr>
            <a:spLocks noGrp="1"/>
          </p:cNvSpPr>
          <p:nvPr>
            <p:ph type="title"/>
          </p:nvPr>
        </p:nvSpPr>
        <p:spPr>
          <a:xfrm>
            <a:off x="762000" y="390869"/>
            <a:ext cx="8026400" cy="327013"/>
          </a:xfrm>
        </p:spPr>
        <p:txBody>
          <a:bodyPr/>
          <a:lstStyle/>
          <a:p>
            <a:r>
              <a:rPr lang="en-US" sz="2500" dirty="0"/>
              <a:t>Manager’s Checklist For Improving Software Quality,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36996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593070"/>
          </a:xfrm>
        </p:spPr>
        <p:txBody>
          <a:bodyPr/>
          <a:lstStyle/>
          <a:p>
            <a:r>
              <a:rPr lang="en-US" sz="2700" dirty="0" err="1"/>
              <a:t>Yazılım</a:t>
            </a:r>
            <a:r>
              <a:rPr lang="en-US" sz="2700" dirty="0"/>
              <a:t> </a:t>
            </a:r>
            <a:r>
              <a:rPr lang="en-US" sz="2700" dirty="0" err="1"/>
              <a:t>kalitesi</a:t>
            </a:r>
            <a:r>
              <a:rPr lang="en-US" sz="2700" dirty="0"/>
              <a:t> </a:t>
            </a:r>
            <a:r>
              <a:rPr lang="en-US" sz="2700" dirty="0" err="1"/>
              <a:t>ile</a:t>
            </a:r>
            <a:r>
              <a:rPr lang="en-US" sz="2700" dirty="0"/>
              <a:t> ne </a:t>
            </a:r>
            <a:r>
              <a:rPr lang="en-US" sz="2700" dirty="0" err="1"/>
              <a:t>kastedilmektedir</a:t>
            </a:r>
            <a:r>
              <a:rPr lang="en-US" sz="2700" dirty="0"/>
              <a:t>, </a:t>
            </a:r>
            <a:r>
              <a:rPr lang="en-US" sz="2700" dirty="0" err="1"/>
              <a:t>neden</a:t>
            </a:r>
            <a:r>
              <a:rPr lang="en-US" sz="2700" dirty="0"/>
              <a:t> </a:t>
            </a:r>
            <a:r>
              <a:rPr lang="en-US" sz="2700" dirty="0" err="1"/>
              <a:t>bu</a:t>
            </a:r>
            <a:r>
              <a:rPr lang="en-US" sz="2700" dirty="0"/>
              <a:t> </a:t>
            </a:r>
            <a:r>
              <a:rPr lang="en-US" sz="2700" dirty="0" err="1"/>
              <a:t>kadar</a:t>
            </a:r>
            <a:r>
              <a:rPr lang="en-US" sz="2700" dirty="0"/>
              <a:t> </a:t>
            </a:r>
            <a:r>
              <a:rPr lang="en-US" sz="2700" dirty="0" err="1"/>
              <a:t>önemlidir</a:t>
            </a:r>
            <a:r>
              <a:rPr lang="en-US" sz="2700" dirty="0"/>
              <a:t> </a:t>
            </a:r>
            <a:r>
              <a:rPr lang="en-US" sz="2700" dirty="0" err="1"/>
              <a:t>ve</a:t>
            </a:r>
            <a:r>
              <a:rPr lang="en-US" sz="2700" dirty="0"/>
              <a:t> </a:t>
            </a:r>
            <a:r>
              <a:rPr lang="en-US" sz="2700" dirty="0" err="1"/>
              <a:t>yazılım</a:t>
            </a:r>
            <a:r>
              <a:rPr lang="en-US" sz="2700" dirty="0"/>
              <a:t> </a:t>
            </a:r>
            <a:r>
              <a:rPr lang="en-US" sz="2700" dirty="0" err="1"/>
              <a:t>üreticileri</a:t>
            </a:r>
            <a:r>
              <a:rPr lang="en-US" sz="2700" dirty="0"/>
              <a:t> </a:t>
            </a:r>
            <a:r>
              <a:rPr lang="en-US" sz="2700" dirty="0" err="1"/>
              <a:t>proje</a:t>
            </a:r>
            <a:r>
              <a:rPr lang="en-US" sz="2700" dirty="0"/>
              <a:t> </a:t>
            </a:r>
            <a:r>
              <a:rPr lang="en-US" sz="2700" dirty="0" err="1"/>
              <a:t>programları</a:t>
            </a:r>
            <a:r>
              <a:rPr lang="en-US" sz="2700" dirty="0"/>
              <a:t>, </a:t>
            </a:r>
            <a:r>
              <a:rPr lang="en-US" sz="2700" dirty="0" err="1"/>
              <a:t>proje</a:t>
            </a:r>
            <a:r>
              <a:rPr lang="en-US" sz="2700" dirty="0"/>
              <a:t> </a:t>
            </a:r>
            <a:r>
              <a:rPr lang="en-US" sz="2700" dirty="0" err="1"/>
              <a:t>maliyetleri</a:t>
            </a:r>
            <a:r>
              <a:rPr lang="en-US" sz="2700" dirty="0"/>
              <a:t> </a:t>
            </a:r>
            <a:r>
              <a:rPr lang="en-US" sz="2700" dirty="0" err="1"/>
              <a:t>ve</a:t>
            </a:r>
            <a:r>
              <a:rPr lang="en-US" sz="2700" dirty="0"/>
              <a:t> </a:t>
            </a:r>
            <a:r>
              <a:rPr lang="en-US" sz="2700" dirty="0" err="1"/>
              <a:t>yazılım</a:t>
            </a:r>
            <a:r>
              <a:rPr lang="en-US" sz="2700" dirty="0"/>
              <a:t> </a:t>
            </a:r>
            <a:r>
              <a:rPr lang="en-US" sz="2700" dirty="0" err="1"/>
              <a:t>kalitesi</a:t>
            </a:r>
            <a:r>
              <a:rPr lang="en-US" sz="2700" dirty="0"/>
              <a:t> </a:t>
            </a:r>
            <a:r>
              <a:rPr lang="en-US" sz="2700" dirty="0" err="1"/>
              <a:t>arasında</a:t>
            </a:r>
            <a:r>
              <a:rPr lang="en-US" sz="2700" dirty="0"/>
              <a:t> </a:t>
            </a:r>
            <a:r>
              <a:rPr lang="en-US" sz="2700" dirty="0" err="1"/>
              <a:t>değiş</a:t>
            </a:r>
            <a:r>
              <a:rPr lang="en-US" sz="2700" dirty="0"/>
              <a:t> </a:t>
            </a:r>
            <a:r>
              <a:rPr lang="en-US" sz="2700" dirty="0" err="1"/>
              <a:t>tokuş</a:t>
            </a:r>
            <a:r>
              <a:rPr lang="en-US" sz="2700" dirty="0"/>
              <a:t> </a:t>
            </a:r>
            <a:r>
              <a:rPr lang="en-US" sz="2700" dirty="0" err="1"/>
              <a:t>içeren</a:t>
            </a:r>
            <a:r>
              <a:rPr lang="en-US" sz="2700" dirty="0"/>
              <a:t> </a:t>
            </a:r>
            <a:r>
              <a:rPr lang="en-US" sz="2700" dirty="0" err="1"/>
              <a:t>kararlar</a:t>
            </a:r>
            <a:r>
              <a:rPr lang="en-US" sz="2700" dirty="0"/>
              <a:t> </a:t>
            </a:r>
            <a:r>
              <a:rPr lang="en-US" sz="2700" dirty="0" err="1"/>
              <a:t>alırken</a:t>
            </a:r>
            <a:r>
              <a:rPr lang="en-US" sz="2700" dirty="0"/>
              <a:t> hangi </a:t>
            </a:r>
            <a:r>
              <a:rPr lang="en-US" sz="2700" dirty="0" err="1"/>
              <a:t>potansiyel</a:t>
            </a:r>
            <a:r>
              <a:rPr lang="en-US" sz="2700" dirty="0"/>
              <a:t> </a:t>
            </a:r>
            <a:r>
              <a:rPr lang="en-US" sz="2700" dirty="0" err="1"/>
              <a:t>etik</a:t>
            </a:r>
            <a:r>
              <a:rPr lang="en-US" sz="2700" dirty="0"/>
              <a:t> </a:t>
            </a:r>
            <a:r>
              <a:rPr lang="en-US" sz="2700" dirty="0" err="1"/>
              <a:t>sorunlarla</a:t>
            </a:r>
            <a:r>
              <a:rPr lang="en-US" sz="2700" dirty="0"/>
              <a:t> </a:t>
            </a:r>
            <a:r>
              <a:rPr lang="en-US" sz="2700" dirty="0" err="1"/>
              <a:t>karşılaşırlar</a:t>
            </a:r>
            <a:r>
              <a:rPr lang="en-US" sz="2700" dirty="0"/>
              <a:t>?
</a:t>
            </a:r>
            <a:r>
              <a:rPr lang="en-US" sz="2700" dirty="0" err="1"/>
              <a:t>Yüksek</a:t>
            </a:r>
            <a:r>
              <a:rPr lang="en-US" sz="2700" dirty="0"/>
              <a:t> </a:t>
            </a:r>
            <a:r>
              <a:rPr lang="en-US" sz="2700" dirty="0" err="1"/>
              <a:t>kaliteli</a:t>
            </a:r>
            <a:r>
              <a:rPr lang="en-US" sz="2700" dirty="0"/>
              <a:t> </a:t>
            </a:r>
            <a:r>
              <a:rPr lang="en-US" sz="2700" dirty="0" err="1"/>
              <a:t>sistemler</a:t>
            </a:r>
            <a:r>
              <a:rPr lang="en-US" sz="2700" dirty="0"/>
              <a:t>: </a:t>
            </a:r>
            <a:r>
              <a:rPr lang="en-US" sz="2700" dirty="0" err="1"/>
              <a:t>Öğrenmesi</a:t>
            </a:r>
            <a:r>
              <a:rPr lang="en-US" sz="2700" dirty="0"/>
              <a:t> </a:t>
            </a:r>
            <a:r>
              <a:rPr lang="en-US" sz="2700" dirty="0" err="1"/>
              <a:t>ve</a:t>
            </a:r>
            <a:r>
              <a:rPr lang="en-US" sz="2700" dirty="0"/>
              <a:t> </a:t>
            </a:r>
            <a:r>
              <a:rPr lang="en-US" sz="2700" dirty="0" err="1"/>
              <a:t>kullanması</a:t>
            </a:r>
            <a:r>
              <a:rPr lang="en-US" sz="2700" dirty="0"/>
              <a:t> </a:t>
            </a:r>
            <a:r>
              <a:rPr lang="en-US" sz="2700" dirty="0" err="1"/>
              <a:t>kolay</a:t>
            </a:r>
            <a:r>
              <a:rPr lang="en-US" sz="2700" dirty="0"/>
              <a:t>; </a:t>
            </a:r>
            <a:r>
              <a:rPr lang="en-US" sz="2700" dirty="0" err="1"/>
              <a:t>hızlı</a:t>
            </a:r>
            <a:r>
              <a:rPr lang="en-US" sz="2700" dirty="0"/>
              <a:t> </a:t>
            </a:r>
            <a:r>
              <a:rPr lang="en-US" sz="2700" dirty="0" err="1"/>
              <a:t>ve</a:t>
            </a:r>
            <a:r>
              <a:rPr lang="en-US" sz="2700" dirty="0"/>
              <a:t> </a:t>
            </a:r>
            <a:r>
              <a:rPr lang="en-US" sz="2700" dirty="0" err="1"/>
              <a:t>verimli</a:t>
            </a:r>
            <a:r>
              <a:rPr lang="en-US" sz="2700" dirty="0"/>
              <a:t> </a:t>
            </a:r>
            <a:r>
              <a:rPr lang="en-US" sz="2700" dirty="0" err="1"/>
              <a:t>bir</a:t>
            </a:r>
            <a:r>
              <a:rPr lang="en-US" sz="2700" dirty="0"/>
              <a:t> </a:t>
            </a:r>
            <a:r>
              <a:rPr lang="en-US" sz="2700" dirty="0" err="1"/>
              <a:t>şekilde</a:t>
            </a:r>
            <a:r>
              <a:rPr lang="en-US" sz="2700" dirty="0"/>
              <a:t> </a:t>
            </a:r>
            <a:r>
              <a:rPr lang="en-US" sz="2700" dirty="0" err="1"/>
              <a:t>gerçekleştirin</a:t>
            </a:r>
            <a:r>
              <a:rPr lang="en-US" sz="2700" dirty="0"/>
              <a:t>; </a:t>
            </a:r>
            <a:r>
              <a:rPr lang="en-US" sz="2700" dirty="0" err="1"/>
              <a:t>ve</a:t>
            </a:r>
            <a:r>
              <a:rPr lang="en-US" sz="2700" dirty="0"/>
              <a:t> minimum </a:t>
            </a:r>
            <a:r>
              <a:rPr lang="en-US" sz="2700" dirty="0" err="1"/>
              <a:t>duruş</a:t>
            </a:r>
            <a:r>
              <a:rPr lang="en-US" sz="2700" dirty="0"/>
              <a:t> </a:t>
            </a:r>
            <a:r>
              <a:rPr lang="en-US" sz="2700" dirty="0" err="1"/>
              <a:t>süresiyle</a:t>
            </a:r>
            <a:r>
              <a:rPr lang="en-US" sz="2700" dirty="0"/>
              <a:t> </a:t>
            </a:r>
            <a:r>
              <a:rPr lang="en-US" sz="2700" dirty="0" err="1"/>
              <a:t>güvenli</a:t>
            </a:r>
            <a:r>
              <a:rPr lang="en-US" sz="2700" dirty="0"/>
              <a:t> </a:t>
            </a:r>
            <a:r>
              <a:rPr lang="en-US" sz="2700" dirty="0" err="1"/>
              <a:t>ve</a:t>
            </a:r>
            <a:r>
              <a:rPr lang="en-US" sz="2700" dirty="0"/>
              <a:t> </a:t>
            </a:r>
            <a:r>
              <a:rPr lang="en-US" sz="2700" dirty="0" err="1"/>
              <a:t>güvenilir</a:t>
            </a:r>
            <a:r>
              <a:rPr lang="en-US" sz="2700" dirty="0"/>
              <a:t> </a:t>
            </a:r>
            <a:r>
              <a:rPr lang="en-US" sz="2700" dirty="0" err="1"/>
              <a:t>bir</a:t>
            </a:r>
            <a:r>
              <a:rPr lang="en-US" sz="2700" dirty="0"/>
              <a:t> </a:t>
            </a:r>
            <a:r>
              <a:rPr lang="en-US" sz="2700" dirty="0" err="1"/>
              <a:t>şekilde</a:t>
            </a:r>
            <a:r>
              <a:rPr lang="en-US" sz="2700" dirty="0"/>
              <a:t> </a:t>
            </a:r>
            <a:r>
              <a:rPr lang="en-US" sz="2700" dirty="0" err="1"/>
              <a:t>çalışın</a:t>
            </a:r>
            <a:r>
              <a:rPr lang="en-US" sz="2700" dirty="0"/>
              <a:t>
</a:t>
            </a:r>
            <a:r>
              <a:rPr lang="en-US" sz="2700" dirty="0" err="1"/>
              <a:t>Yazılım</a:t>
            </a:r>
            <a:r>
              <a:rPr lang="en-US" sz="2700" dirty="0"/>
              <a:t> </a:t>
            </a:r>
            <a:r>
              <a:rPr lang="en-US" sz="2700" dirty="0" err="1"/>
              <a:t>hatası</a:t>
            </a:r>
            <a:r>
              <a:rPr lang="en-US" sz="2700" dirty="0"/>
              <a:t>: </a:t>
            </a:r>
            <a:r>
              <a:rPr lang="en-US" sz="2700" dirty="0" err="1"/>
              <a:t>Kaldırılmadığı</a:t>
            </a:r>
            <a:r>
              <a:rPr lang="en-US" sz="2700" dirty="0"/>
              <a:t> </a:t>
            </a:r>
            <a:r>
              <a:rPr lang="en-US" sz="2700" dirty="0" err="1"/>
              <a:t>takdirde</a:t>
            </a:r>
            <a:r>
              <a:rPr lang="en-US" sz="2700" dirty="0"/>
              <a:t> </a:t>
            </a:r>
            <a:r>
              <a:rPr lang="en-US" sz="2700" dirty="0" err="1"/>
              <a:t>bir</a:t>
            </a:r>
            <a:r>
              <a:rPr lang="en-US" sz="2700" dirty="0"/>
              <a:t> </a:t>
            </a:r>
            <a:r>
              <a:rPr lang="en-US" sz="2700" dirty="0" err="1"/>
              <a:t>yazılım</a:t>
            </a:r>
            <a:r>
              <a:rPr lang="en-US" sz="2700" dirty="0"/>
              <a:t> </a:t>
            </a:r>
            <a:r>
              <a:rPr lang="en-US" sz="2700" dirty="0" err="1"/>
              <a:t>sisteminin</a:t>
            </a:r>
            <a:r>
              <a:rPr lang="en-US" sz="2700" dirty="0"/>
              <a:t> </a:t>
            </a:r>
            <a:r>
              <a:rPr lang="en-US" sz="2700" dirty="0" err="1"/>
              <a:t>kullanıcıların</a:t>
            </a:r>
            <a:r>
              <a:rPr lang="en-US" sz="2700" dirty="0"/>
              <a:t> </a:t>
            </a:r>
            <a:r>
              <a:rPr lang="en-US" sz="2700" dirty="0" err="1"/>
              <a:t>ihtiyaçlarını</a:t>
            </a:r>
            <a:r>
              <a:rPr lang="en-US" sz="2700" dirty="0"/>
              <a:t> </a:t>
            </a:r>
            <a:r>
              <a:rPr lang="en-US" sz="2700" dirty="0" err="1"/>
              <a:t>karşılayamamasına</a:t>
            </a:r>
            <a:r>
              <a:rPr lang="en-US" sz="2700" dirty="0"/>
              <a:t> </a:t>
            </a:r>
            <a:r>
              <a:rPr lang="en-US" sz="2700" dirty="0" err="1"/>
              <a:t>neden</a:t>
            </a:r>
            <a:r>
              <a:rPr lang="en-US" sz="2700" dirty="0"/>
              <a:t> </a:t>
            </a:r>
            <a:r>
              <a:rPr lang="en-US" sz="2700" dirty="0" err="1"/>
              <a:t>olabilecek</a:t>
            </a:r>
            <a:r>
              <a:rPr lang="en-US" sz="2700" dirty="0"/>
              <a:t> </a:t>
            </a:r>
            <a:r>
              <a:rPr lang="en-US" sz="2700" dirty="0" err="1"/>
              <a:t>herhangi</a:t>
            </a:r>
            <a:r>
              <a:rPr lang="en-US" sz="2700" dirty="0"/>
              <a:t> </a:t>
            </a:r>
            <a:r>
              <a:rPr lang="en-US" sz="2700" dirty="0" err="1"/>
              <a:t>bir</a:t>
            </a:r>
            <a:r>
              <a:rPr lang="en-US" sz="2700" dirty="0"/>
              <a:t> </a:t>
            </a:r>
            <a:r>
              <a:rPr lang="en-US" sz="2700" dirty="0" err="1"/>
              <a:t>hata</a:t>
            </a:r>
            <a:r>
              <a:rPr lang="en-US" sz="2700" dirty="0"/>
              <a:t>
</a:t>
            </a:r>
            <a:r>
              <a:rPr lang="en-US" sz="2700" dirty="0" err="1"/>
              <a:t>Yazılım</a:t>
            </a:r>
            <a:r>
              <a:rPr lang="en-US" sz="2700" dirty="0"/>
              <a:t> </a:t>
            </a:r>
            <a:r>
              <a:rPr lang="en-US" sz="2700" dirty="0" err="1"/>
              <a:t>kalitesi</a:t>
            </a:r>
            <a:r>
              <a:rPr lang="en-US" sz="2700" dirty="0"/>
              <a:t>: Bir </a:t>
            </a:r>
            <a:r>
              <a:rPr lang="en-US" sz="2700" dirty="0" err="1"/>
              <a:t>yazılım</a:t>
            </a:r>
            <a:r>
              <a:rPr lang="en-US" sz="2700" dirty="0"/>
              <a:t> </a:t>
            </a:r>
            <a:r>
              <a:rPr lang="en-US" sz="2700" dirty="0" err="1"/>
              <a:t>ürününün</a:t>
            </a:r>
            <a:r>
              <a:rPr lang="en-US" sz="2700" dirty="0"/>
              <a:t>, </a:t>
            </a:r>
            <a:r>
              <a:rPr lang="en-US" sz="2700" dirty="0" err="1"/>
              <a:t>kullanıcılarının</a:t>
            </a:r>
            <a:r>
              <a:rPr lang="en-US" sz="2700" dirty="0"/>
              <a:t> </a:t>
            </a:r>
            <a:r>
              <a:rPr lang="en-US" sz="2700" dirty="0" err="1"/>
              <a:t>ihtiyaçlarını</a:t>
            </a:r>
            <a:r>
              <a:rPr lang="en-US" sz="2700" dirty="0"/>
              <a:t> </a:t>
            </a:r>
            <a:r>
              <a:rPr lang="en-US" sz="2700" dirty="0" err="1"/>
              <a:t>karşılama</a:t>
            </a:r>
            <a:r>
              <a:rPr lang="en-US" sz="2700" dirty="0"/>
              <a:t> </a:t>
            </a:r>
            <a:r>
              <a:rPr lang="en-US" sz="2700" dirty="0" err="1"/>
              <a:t>derecesi</a:t>
            </a:r>
            <a:endParaRPr lang="en-US" dirty="0"/>
          </a:p>
        </p:txBody>
      </p:sp>
      <p:sp>
        <p:nvSpPr>
          <p:cNvPr id="3" name="Title 2"/>
          <p:cNvSpPr>
            <a:spLocks noGrp="1"/>
          </p:cNvSpPr>
          <p:nvPr>
            <p:ph type="title"/>
          </p:nvPr>
        </p:nvSpPr>
        <p:spPr>
          <a:xfrm>
            <a:off x="762000" y="290459"/>
            <a:ext cx="8026400" cy="527837"/>
          </a:xfrm>
        </p:spPr>
        <p:txBody>
          <a:bodyPr/>
          <a:lstStyle/>
          <a:p>
            <a:r>
              <a:rPr lang="en-US" sz="4000"/>
              <a:t>Özet, Bölüm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5873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035225"/>
          </a:xfrm>
        </p:spPr>
        <p:txBody>
          <a:bodyPr/>
          <a:lstStyle/>
          <a:p>
            <a:pPr>
              <a:lnSpc>
                <a:spcPct val="100000"/>
              </a:lnSpc>
            </a:pPr>
            <a:r>
              <a:rPr lang="en-US" sz="2700" dirty="0" err="1"/>
              <a:t>Yazılım</a:t>
            </a:r>
            <a:r>
              <a:rPr lang="en-US" sz="2700" dirty="0"/>
              <a:t> </a:t>
            </a:r>
            <a:r>
              <a:rPr lang="en-US" sz="2700" dirty="0" err="1"/>
              <a:t>kalitesi</a:t>
            </a:r>
            <a:r>
              <a:rPr lang="en-US" sz="2700" dirty="0"/>
              <a:t> </a:t>
            </a:r>
            <a:r>
              <a:rPr lang="en-US" sz="2700" dirty="0" err="1"/>
              <a:t>ile</a:t>
            </a:r>
            <a:r>
              <a:rPr lang="en-US" sz="2700" dirty="0"/>
              <a:t> ne </a:t>
            </a:r>
            <a:r>
              <a:rPr lang="en-US" sz="2700" dirty="0" err="1"/>
              <a:t>kastedilmektedir</a:t>
            </a:r>
            <a:r>
              <a:rPr lang="en-US" sz="2700" dirty="0"/>
              <a:t>, </a:t>
            </a:r>
            <a:r>
              <a:rPr lang="en-US" sz="2700" dirty="0" err="1"/>
              <a:t>neden</a:t>
            </a:r>
            <a:r>
              <a:rPr lang="en-US" sz="2700" dirty="0"/>
              <a:t> </a:t>
            </a:r>
            <a:r>
              <a:rPr lang="en-US" sz="2700" dirty="0" err="1"/>
              <a:t>bu</a:t>
            </a:r>
            <a:r>
              <a:rPr lang="en-US" sz="2700" dirty="0"/>
              <a:t> </a:t>
            </a:r>
            <a:r>
              <a:rPr lang="en-US" sz="2700" dirty="0" err="1"/>
              <a:t>kadar</a:t>
            </a:r>
            <a:r>
              <a:rPr lang="en-US" sz="2700" dirty="0"/>
              <a:t> </a:t>
            </a:r>
            <a:r>
              <a:rPr lang="en-US" sz="2700" dirty="0" err="1"/>
              <a:t>önemlidir</a:t>
            </a:r>
            <a:r>
              <a:rPr lang="en-US" sz="2700" dirty="0"/>
              <a:t> </a:t>
            </a:r>
            <a:r>
              <a:rPr lang="en-US" sz="2700" dirty="0" err="1"/>
              <a:t>ve</a:t>
            </a:r>
            <a:r>
              <a:rPr lang="en-US" sz="2700" dirty="0"/>
              <a:t> </a:t>
            </a:r>
            <a:r>
              <a:rPr lang="en-US" sz="2700" dirty="0" err="1"/>
              <a:t>yazılım</a:t>
            </a:r>
            <a:r>
              <a:rPr lang="en-US" sz="2700" dirty="0"/>
              <a:t> </a:t>
            </a:r>
            <a:r>
              <a:rPr lang="en-US" sz="2700" dirty="0" err="1"/>
              <a:t>üreticileri</a:t>
            </a:r>
            <a:r>
              <a:rPr lang="en-US" sz="2700" dirty="0"/>
              <a:t> </a:t>
            </a:r>
            <a:r>
              <a:rPr lang="en-US" sz="2700" dirty="0" err="1"/>
              <a:t>proje</a:t>
            </a:r>
            <a:r>
              <a:rPr lang="en-US" sz="2700" dirty="0"/>
              <a:t> </a:t>
            </a:r>
            <a:r>
              <a:rPr lang="en-US" sz="2700" dirty="0" err="1"/>
              <a:t>programları</a:t>
            </a:r>
            <a:r>
              <a:rPr lang="en-US" sz="2700" dirty="0"/>
              <a:t>, </a:t>
            </a:r>
            <a:r>
              <a:rPr lang="en-US" sz="2700" dirty="0" err="1"/>
              <a:t>proje</a:t>
            </a:r>
            <a:r>
              <a:rPr lang="en-US" sz="2700" dirty="0"/>
              <a:t> </a:t>
            </a:r>
            <a:r>
              <a:rPr lang="en-US" sz="2700" dirty="0" err="1"/>
              <a:t>maliyetleri</a:t>
            </a:r>
            <a:r>
              <a:rPr lang="en-US" sz="2700" dirty="0"/>
              <a:t> </a:t>
            </a:r>
            <a:r>
              <a:rPr lang="en-US" sz="2700" dirty="0" err="1"/>
              <a:t>ve</a:t>
            </a:r>
            <a:r>
              <a:rPr lang="en-US" sz="2700" dirty="0"/>
              <a:t> </a:t>
            </a:r>
            <a:r>
              <a:rPr lang="en-US" sz="2700" dirty="0" err="1"/>
              <a:t>yazılım</a:t>
            </a:r>
            <a:r>
              <a:rPr lang="en-US" sz="2700" dirty="0"/>
              <a:t> </a:t>
            </a:r>
            <a:r>
              <a:rPr lang="en-US" sz="2700" dirty="0" err="1"/>
              <a:t>kalitesi</a:t>
            </a:r>
            <a:r>
              <a:rPr lang="en-US" sz="2700" dirty="0"/>
              <a:t> </a:t>
            </a:r>
            <a:r>
              <a:rPr lang="en-US" sz="2700" dirty="0" err="1"/>
              <a:t>arasında</a:t>
            </a:r>
            <a:r>
              <a:rPr lang="en-US" sz="2700" dirty="0"/>
              <a:t> </a:t>
            </a:r>
            <a:r>
              <a:rPr lang="en-US" sz="2700" dirty="0" err="1"/>
              <a:t>değiş</a:t>
            </a:r>
            <a:r>
              <a:rPr lang="en-US" sz="2700" dirty="0"/>
              <a:t> </a:t>
            </a:r>
            <a:r>
              <a:rPr lang="en-US" sz="2700" dirty="0" err="1"/>
              <a:t>tokuş</a:t>
            </a:r>
            <a:r>
              <a:rPr lang="en-US" sz="2700" dirty="0"/>
              <a:t> </a:t>
            </a:r>
            <a:r>
              <a:rPr lang="en-US" sz="2700" dirty="0" err="1"/>
              <a:t>içeren</a:t>
            </a:r>
            <a:r>
              <a:rPr lang="en-US" sz="2700" dirty="0"/>
              <a:t> </a:t>
            </a:r>
            <a:r>
              <a:rPr lang="en-US" sz="2700" dirty="0" err="1"/>
              <a:t>kararlar</a:t>
            </a:r>
            <a:r>
              <a:rPr lang="en-US" sz="2700" dirty="0"/>
              <a:t> </a:t>
            </a:r>
            <a:r>
              <a:rPr lang="en-US" sz="2700" dirty="0" err="1"/>
              <a:t>alırken</a:t>
            </a:r>
            <a:r>
              <a:rPr lang="en-US" sz="2700" dirty="0"/>
              <a:t> hangi </a:t>
            </a:r>
            <a:r>
              <a:rPr lang="en-US" sz="2700" dirty="0" err="1"/>
              <a:t>potansiyel</a:t>
            </a:r>
            <a:r>
              <a:rPr lang="en-US" sz="2700" dirty="0"/>
              <a:t> </a:t>
            </a:r>
            <a:r>
              <a:rPr lang="en-US" sz="2700" dirty="0" err="1"/>
              <a:t>etik</a:t>
            </a:r>
            <a:r>
              <a:rPr lang="en-US" sz="2700" dirty="0"/>
              <a:t> </a:t>
            </a:r>
            <a:r>
              <a:rPr lang="en-US" sz="2700" dirty="0" err="1"/>
              <a:t>sorunlarla</a:t>
            </a:r>
            <a:r>
              <a:rPr lang="en-US" sz="2700" dirty="0"/>
              <a:t> </a:t>
            </a:r>
            <a:r>
              <a:rPr lang="en-US" sz="2700" dirty="0" err="1"/>
              <a:t>karşılaşırlar</a:t>
            </a:r>
            <a:r>
              <a:rPr lang="en-US" sz="2700" dirty="0"/>
              <a:t>?
</a:t>
            </a:r>
            <a:r>
              <a:rPr lang="en-US" sz="2700" dirty="0" err="1"/>
              <a:t>Kalite</a:t>
            </a:r>
            <a:r>
              <a:rPr lang="en-US" sz="2700" dirty="0"/>
              <a:t> </a:t>
            </a:r>
            <a:r>
              <a:rPr lang="en-US" sz="2700" dirty="0" err="1"/>
              <a:t>yönetimi</a:t>
            </a:r>
            <a:r>
              <a:rPr lang="en-US" sz="2700" dirty="0"/>
              <a:t>: </a:t>
            </a:r>
            <a:r>
              <a:rPr lang="en-US" sz="2700" dirty="0" err="1"/>
              <a:t>Ürünlerin</a:t>
            </a:r>
            <a:r>
              <a:rPr lang="en-US" sz="2700" dirty="0"/>
              <a:t> </a:t>
            </a:r>
            <a:r>
              <a:rPr lang="en-US" sz="2700" dirty="0" err="1"/>
              <a:t>kalitesini</a:t>
            </a:r>
            <a:r>
              <a:rPr lang="en-US" sz="2700" dirty="0"/>
              <a:t> </a:t>
            </a:r>
            <a:r>
              <a:rPr lang="en-US" sz="2700" dirty="0" err="1"/>
              <a:t>ve</a:t>
            </a:r>
            <a:r>
              <a:rPr lang="en-US" sz="2700" dirty="0"/>
              <a:t> </a:t>
            </a:r>
            <a:r>
              <a:rPr lang="en-US" sz="2700" dirty="0" err="1"/>
              <a:t>geliştirme</a:t>
            </a:r>
            <a:r>
              <a:rPr lang="en-US" sz="2700" dirty="0"/>
              <a:t> </a:t>
            </a:r>
            <a:r>
              <a:rPr lang="en-US" sz="2700" dirty="0" err="1"/>
              <a:t>sürecini</a:t>
            </a:r>
            <a:r>
              <a:rPr lang="en-US" sz="2700" dirty="0"/>
              <a:t> </a:t>
            </a:r>
            <a:r>
              <a:rPr lang="en-US" sz="2700" dirty="0" err="1"/>
              <a:t>tanımlamak</a:t>
            </a:r>
            <a:r>
              <a:rPr lang="en-US" sz="2700" dirty="0"/>
              <a:t>, </a:t>
            </a:r>
            <a:r>
              <a:rPr lang="en-US" sz="2700" dirty="0" err="1"/>
              <a:t>ölçmek</a:t>
            </a:r>
            <a:r>
              <a:rPr lang="en-US" sz="2700" dirty="0"/>
              <a:t> </a:t>
            </a:r>
            <a:r>
              <a:rPr lang="en-US" sz="2700" dirty="0" err="1"/>
              <a:t>ve</a:t>
            </a:r>
            <a:r>
              <a:rPr lang="en-US" sz="2700" dirty="0"/>
              <a:t> </a:t>
            </a:r>
            <a:r>
              <a:rPr lang="en-US" sz="2700" dirty="0" err="1"/>
              <a:t>iyileştirmek</a:t>
            </a:r>
            <a:r>
              <a:rPr lang="en-US" sz="2700" dirty="0"/>
              <a:t>
</a:t>
            </a:r>
            <a:r>
              <a:rPr lang="en-US" sz="2700" dirty="0" err="1"/>
              <a:t>Yüksek</a:t>
            </a:r>
            <a:r>
              <a:rPr lang="en-US" sz="2700" dirty="0"/>
              <a:t> </a:t>
            </a:r>
            <a:r>
              <a:rPr lang="en-US" sz="2700" dirty="0" err="1"/>
              <a:t>kaliteli</a:t>
            </a:r>
            <a:r>
              <a:rPr lang="en-US" sz="2700" dirty="0"/>
              <a:t> </a:t>
            </a:r>
            <a:r>
              <a:rPr lang="en-US" sz="2700" dirty="0" err="1"/>
              <a:t>yazılım</a:t>
            </a:r>
            <a:r>
              <a:rPr lang="en-US" sz="2700" dirty="0"/>
              <a:t> </a:t>
            </a:r>
            <a:r>
              <a:rPr lang="en-US" sz="2700" dirty="0" err="1"/>
              <a:t>geliştirmek</a:t>
            </a:r>
            <a:r>
              <a:rPr lang="en-US" sz="2700" dirty="0"/>
              <a:t> için </a:t>
            </a:r>
            <a:r>
              <a:rPr lang="en-US" sz="2700" dirty="0" err="1"/>
              <a:t>gereken</a:t>
            </a:r>
            <a:r>
              <a:rPr lang="en-US" sz="2700" dirty="0"/>
              <a:t> </a:t>
            </a:r>
            <a:r>
              <a:rPr lang="en-US" sz="2700" dirty="0" err="1"/>
              <a:t>kaynaklar</a:t>
            </a:r>
            <a:r>
              <a:rPr lang="en-US" sz="2700" dirty="0"/>
              <a:t> </a:t>
            </a:r>
            <a:r>
              <a:rPr lang="en-US" sz="2700" dirty="0" err="1"/>
              <a:t>ve</a:t>
            </a:r>
            <a:r>
              <a:rPr lang="en-US" sz="2700" dirty="0"/>
              <a:t> zaman, </a:t>
            </a:r>
            <a:r>
              <a:rPr lang="en-US" sz="2700" dirty="0" err="1"/>
              <a:t>genellikle</a:t>
            </a:r>
            <a:r>
              <a:rPr lang="en-US" sz="2700" dirty="0"/>
              <a:t> yeni </a:t>
            </a:r>
            <a:r>
              <a:rPr lang="en-US" sz="2700" dirty="0" err="1"/>
              <a:t>ürün</a:t>
            </a:r>
            <a:r>
              <a:rPr lang="en-US" sz="2700" dirty="0"/>
              <a:t> </a:t>
            </a:r>
            <a:r>
              <a:rPr lang="en-US" sz="2700" dirty="0" err="1"/>
              <a:t>gönderme</a:t>
            </a:r>
            <a:r>
              <a:rPr lang="en-US" sz="2700" dirty="0"/>
              <a:t> </a:t>
            </a:r>
            <a:r>
              <a:rPr lang="en-US" sz="2700" dirty="0" err="1"/>
              <a:t>baskısı</a:t>
            </a:r>
            <a:r>
              <a:rPr lang="en-US" sz="2700" dirty="0"/>
              <a:t> </a:t>
            </a:r>
            <a:r>
              <a:rPr lang="en-US" sz="2700" dirty="0" err="1"/>
              <a:t>altında</a:t>
            </a:r>
            <a:r>
              <a:rPr lang="en-US" sz="2700" dirty="0"/>
              <a:t> </a:t>
            </a:r>
            <a:r>
              <a:rPr lang="en-US" sz="2700" dirty="0" err="1"/>
              <a:t>kesilir</a:t>
            </a:r>
            <a:r>
              <a:rPr lang="en-US" sz="2700" dirty="0"/>
              <a:t> 
</a:t>
            </a:r>
            <a:r>
              <a:rPr lang="en-US" sz="2700" dirty="0" err="1"/>
              <a:t>Yüksek</a:t>
            </a:r>
            <a:r>
              <a:rPr lang="en-US" sz="2700" dirty="0"/>
              <a:t> </a:t>
            </a:r>
            <a:r>
              <a:rPr lang="en-US" sz="2700" dirty="0" err="1"/>
              <a:t>kaliteli</a:t>
            </a:r>
            <a:r>
              <a:rPr lang="en-US" sz="2700" dirty="0"/>
              <a:t> </a:t>
            </a:r>
            <a:r>
              <a:rPr lang="en-US" sz="2700" dirty="0" err="1"/>
              <a:t>yazılım</a:t>
            </a:r>
            <a:r>
              <a:rPr lang="en-US" sz="2700" dirty="0"/>
              <a:t>: </a:t>
            </a:r>
            <a:r>
              <a:rPr lang="en-US" sz="2700" dirty="0" err="1"/>
              <a:t>Hava</a:t>
            </a:r>
            <a:r>
              <a:rPr lang="en-US" sz="2700" dirty="0"/>
              <a:t> </a:t>
            </a:r>
            <a:r>
              <a:rPr lang="en-US" sz="2700" dirty="0" err="1"/>
              <a:t>trafik</a:t>
            </a:r>
            <a:r>
              <a:rPr lang="en-US" sz="2700" dirty="0"/>
              <a:t> </a:t>
            </a:r>
            <a:r>
              <a:rPr lang="en-US" sz="2700" dirty="0" err="1"/>
              <a:t>kontrolü</a:t>
            </a:r>
            <a:r>
              <a:rPr lang="en-US" sz="2700" dirty="0"/>
              <a:t>, </a:t>
            </a:r>
            <a:r>
              <a:rPr lang="en-US" sz="2700" dirty="0" err="1"/>
              <a:t>otomobil</a:t>
            </a:r>
            <a:r>
              <a:rPr lang="en-US" sz="2700" dirty="0"/>
              <a:t> </a:t>
            </a:r>
            <a:r>
              <a:rPr lang="en-US" sz="2700" dirty="0" err="1"/>
              <a:t>güvenliği</a:t>
            </a:r>
            <a:r>
              <a:rPr lang="en-US" sz="2700" dirty="0"/>
              <a:t> </a:t>
            </a:r>
            <a:r>
              <a:rPr lang="en-US" sz="2700" dirty="0" err="1"/>
              <a:t>ve</a:t>
            </a:r>
            <a:r>
              <a:rPr lang="en-US" sz="2700" dirty="0"/>
              <a:t> </a:t>
            </a:r>
            <a:r>
              <a:rPr lang="en-US" sz="2700" dirty="0" err="1"/>
              <a:t>sağlık</a:t>
            </a:r>
            <a:r>
              <a:rPr lang="en-US" sz="2700" dirty="0"/>
              <a:t> </a:t>
            </a:r>
            <a:r>
              <a:rPr lang="en-US" sz="2700" dirty="0" err="1"/>
              <a:t>hizmetleri</a:t>
            </a:r>
            <a:r>
              <a:rPr lang="en-US" sz="2700" dirty="0"/>
              <a:t> </a:t>
            </a:r>
            <a:r>
              <a:rPr lang="en-US" sz="2700" dirty="0" err="1"/>
              <a:t>gibi</a:t>
            </a:r>
            <a:r>
              <a:rPr lang="en-US" sz="2700" dirty="0"/>
              <a:t> </a:t>
            </a:r>
            <a:r>
              <a:rPr lang="en-US" sz="2700" dirty="0" err="1"/>
              <a:t>alanlarda</a:t>
            </a:r>
            <a:r>
              <a:rPr lang="en-US" sz="2700" dirty="0"/>
              <a:t> </a:t>
            </a:r>
            <a:r>
              <a:rPr lang="en-US" sz="2700" dirty="0" err="1"/>
              <a:t>gereklidir</a:t>
            </a:r>
            <a:endParaRPr lang="en-US" dirty="0"/>
          </a:p>
        </p:txBody>
      </p:sp>
      <p:sp>
        <p:nvSpPr>
          <p:cNvPr id="3" name="Title 2"/>
          <p:cNvSpPr>
            <a:spLocks noGrp="1"/>
          </p:cNvSpPr>
          <p:nvPr>
            <p:ph type="title"/>
          </p:nvPr>
        </p:nvSpPr>
        <p:spPr>
          <a:xfrm>
            <a:off x="762000" y="290459"/>
            <a:ext cx="8026400" cy="527837"/>
          </a:xfrm>
        </p:spPr>
        <p:txBody>
          <a:bodyPr/>
          <a:lstStyle/>
          <a:p>
            <a:r>
              <a:rPr lang="en-US" sz="4000"/>
              <a:t>Özet,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18075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628190"/>
          </a:xfrm>
        </p:spPr>
        <p:txBody>
          <a:bodyPr/>
          <a:lstStyle/>
          <a:p>
            <a:r>
              <a:rPr lang="en-US" sz="2700" dirty="0" err="1"/>
              <a:t>Yazılım</a:t>
            </a:r>
            <a:r>
              <a:rPr lang="en-US" sz="2700" dirty="0"/>
              <a:t> </a:t>
            </a:r>
            <a:r>
              <a:rPr lang="en-US" sz="2700" dirty="0" err="1"/>
              <a:t>kalitesi</a:t>
            </a:r>
            <a:r>
              <a:rPr lang="en-US" sz="2700" dirty="0"/>
              <a:t> </a:t>
            </a:r>
            <a:r>
              <a:rPr lang="en-US" sz="2700" dirty="0" err="1"/>
              <a:t>ile</a:t>
            </a:r>
            <a:r>
              <a:rPr lang="en-US" sz="2700" dirty="0"/>
              <a:t> ne </a:t>
            </a:r>
            <a:r>
              <a:rPr lang="en-US" sz="2700" dirty="0" err="1"/>
              <a:t>kastedilmektedir</a:t>
            </a:r>
            <a:r>
              <a:rPr lang="en-US" sz="2700" dirty="0"/>
              <a:t>, </a:t>
            </a:r>
            <a:r>
              <a:rPr lang="en-US" sz="2700" dirty="0" err="1"/>
              <a:t>neden</a:t>
            </a:r>
            <a:r>
              <a:rPr lang="en-US" sz="2700" dirty="0"/>
              <a:t> </a:t>
            </a:r>
            <a:r>
              <a:rPr lang="en-US" sz="2700" dirty="0" err="1"/>
              <a:t>bu</a:t>
            </a:r>
            <a:r>
              <a:rPr lang="en-US" sz="2700" dirty="0"/>
              <a:t> </a:t>
            </a:r>
            <a:r>
              <a:rPr lang="en-US" sz="2700" dirty="0" err="1"/>
              <a:t>kadar</a:t>
            </a:r>
            <a:r>
              <a:rPr lang="en-US" sz="2700" dirty="0"/>
              <a:t> </a:t>
            </a:r>
            <a:r>
              <a:rPr lang="en-US" sz="2700" dirty="0" err="1"/>
              <a:t>önemlidir</a:t>
            </a:r>
            <a:r>
              <a:rPr lang="en-US" sz="2700" dirty="0"/>
              <a:t> </a:t>
            </a:r>
            <a:r>
              <a:rPr lang="en-US" sz="2700" dirty="0" err="1"/>
              <a:t>ve</a:t>
            </a:r>
            <a:r>
              <a:rPr lang="en-US" sz="2700" dirty="0"/>
              <a:t> </a:t>
            </a:r>
            <a:r>
              <a:rPr lang="en-US" sz="2700" dirty="0" err="1"/>
              <a:t>yazılım</a:t>
            </a:r>
            <a:r>
              <a:rPr lang="en-US" sz="2700" dirty="0"/>
              <a:t> </a:t>
            </a:r>
            <a:r>
              <a:rPr lang="en-US" sz="2700" dirty="0" err="1"/>
              <a:t>üreticileri</a:t>
            </a:r>
            <a:r>
              <a:rPr lang="en-US" sz="2700" dirty="0"/>
              <a:t> </a:t>
            </a:r>
            <a:r>
              <a:rPr lang="en-US" sz="2700" dirty="0" err="1"/>
              <a:t>proje</a:t>
            </a:r>
            <a:r>
              <a:rPr lang="en-US" sz="2700" dirty="0"/>
              <a:t> </a:t>
            </a:r>
            <a:r>
              <a:rPr lang="en-US" sz="2700" dirty="0" err="1"/>
              <a:t>programları</a:t>
            </a:r>
            <a:r>
              <a:rPr lang="en-US" sz="2700" dirty="0"/>
              <a:t>, </a:t>
            </a:r>
            <a:r>
              <a:rPr lang="en-US" sz="2700" dirty="0" err="1"/>
              <a:t>proje</a:t>
            </a:r>
            <a:r>
              <a:rPr lang="en-US" sz="2700" dirty="0"/>
              <a:t> </a:t>
            </a:r>
            <a:r>
              <a:rPr lang="en-US" sz="2700" dirty="0" err="1"/>
              <a:t>maliyetleri</a:t>
            </a:r>
            <a:r>
              <a:rPr lang="en-US" sz="2700" dirty="0"/>
              <a:t> </a:t>
            </a:r>
            <a:r>
              <a:rPr lang="en-US" sz="2700" dirty="0" err="1"/>
              <a:t>ve</a:t>
            </a:r>
            <a:r>
              <a:rPr lang="en-US" sz="2700" dirty="0"/>
              <a:t> </a:t>
            </a:r>
            <a:r>
              <a:rPr lang="en-US" sz="2700" dirty="0" err="1"/>
              <a:t>yazılım</a:t>
            </a:r>
            <a:r>
              <a:rPr lang="en-US" sz="2700" dirty="0"/>
              <a:t> </a:t>
            </a:r>
            <a:r>
              <a:rPr lang="en-US" sz="2700" dirty="0" err="1"/>
              <a:t>kalitesi</a:t>
            </a:r>
            <a:r>
              <a:rPr lang="en-US" sz="2700" dirty="0"/>
              <a:t> </a:t>
            </a:r>
            <a:r>
              <a:rPr lang="en-US" sz="2700" dirty="0" err="1"/>
              <a:t>arasında</a:t>
            </a:r>
            <a:r>
              <a:rPr lang="en-US" sz="2700" dirty="0"/>
              <a:t> </a:t>
            </a:r>
            <a:r>
              <a:rPr lang="en-US" sz="2700" dirty="0" err="1"/>
              <a:t>değiş</a:t>
            </a:r>
            <a:r>
              <a:rPr lang="en-US" sz="2700" dirty="0"/>
              <a:t> </a:t>
            </a:r>
            <a:r>
              <a:rPr lang="en-US" sz="2700" dirty="0" err="1"/>
              <a:t>tokuş</a:t>
            </a:r>
            <a:r>
              <a:rPr lang="en-US" sz="2700" dirty="0"/>
              <a:t> </a:t>
            </a:r>
            <a:r>
              <a:rPr lang="en-US" sz="2700" dirty="0" err="1"/>
              <a:t>içeren</a:t>
            </a:r>
            <a:r>
              <a:rPr lang="en-US" sz="2700" dirty="0"/>
              <a:t> </a:t>
            </a:r>
            <a:r>
              <a:rPr lang="en-US" sz="2700" dirty="0" err="1"/>
              <a:t>kararlar</a:t>
            </a:r>
            <a:r>
              <a:rPr lang="en-US" sz="2700" dirty="0"/>
              <a:t> </a:t>
            </a:r>
            <a:r>
              <a:rPr lang="en-US" sz="2700" dirty="0" err="1"/>
              <a:t>alırken</a:t>
            </a:r>
            <a:r>
              <a:rPr lang="en-US" sz="2700" dirty="0"/>
              <a:t> hangi </a:t>
            </a:r>
            <a:r>
              <a:rPr lang="en-US" sz="2700" dirty="0" err="1"/>
              <a:t>potansiyel</a:t>
            </a:r>
            <a:r>
              <a:rPr lang="en-US" sz="2700" dirty="0"/>
              <a:t> </a:t>
            </a:r>
            <a:r>
              <a:rPr lang="en-US" sz="2700" dirty="0" err="1"/>
              <a:t>etik</a:t>
            </a:r>
            <a:r>
              <a:rPr lang="en-US" sz="2700" dirty="0"/>
              <a:t> </a:t>
            </a:r>
            <a:r>
              <a:rPr lang="en-US" sz="2700" dirty="0" err="1"/>
              <a:t>sorunlarla</a:t>
            </a:r>
            <a:r>
              <a:rPr lang="en-US" sz="2700" dirty="0"/>
              <a:t> </a:t>
            </a:r>
            <a:r>
              <a:rPr lang="en-US" sz="2700" dirty="0" err="1"/>
              <a:t>karşılaşırlar</a:t>
            </a:r>
            <a:r>
              <a:rPr lang="en-US" sz="2700" dirty="0"/>
              <a:t>?</a:t>
            </a:r>
            <a:r>
              <a:rPr lang="en-US" sz="2500" dirty="0"/>
              <a:t> </a:t>
            </a:r>
          </a:p>
          <a:p>
            <a:r>
              <a:rPr lang="en-US" sz="2500" dirty="0"/>
              <a:t>Bir </a:t>
            </a:r>
            <a:r>
              <a:rPr lang="en-US" sz="2500" dirty="0" err="1"/>
              <a:t>iş</a:t>
            </a:r>
            <a:r>
              <a:rPr lang="en-US" sz="2500" dirty="0"/>
              <a:t> </a:t>
            </a:r>
            <a:r>
              <a:rPr lang="en-US" sz="2500" dirty="0" err="1"/>
              <a:t>bilgi</a:t>
            </a:r>
            <a:r>
              <a:rPr lang="en-US" sz="2500" dirty="0"/>
              <a:t> </a:t>
            </a:r>
            <a:r>
              <a:rPr lang="en-US" sz="2500" dirty="0" err="1"/>
              <a:t>sistemi</a:t>
            </a:r>
            <a:r>
              <a:rPr lang="en-US" sz="2500" dirty="0"/>
              <a:t>: </a:t>
            </a:r>
            <a:r>
              <a:rPr lang="en-US" sz="2500" dirty="0" err="1"/>
              <a:t>Verileri</a:t>
            </a:r>
            <a:r>
              <a:rPr lang="en-US" sz="2500" dirty="0"/>
              <a:t> </a:t>
            </a:r>
            <a:r>
              <a:rPr lang="en-US" sz="2500" dirty="0" err="1"/>
              <a:t>toplayan</a:t>
            </a:r>
            <a:r>
              <a:rPr lang="en-US" sz="2500" dirty="0"/>
              <a:t>, </a:t>
            </a:r>
            <a:r>
              <a:rPr lang="en-US" sz="2500" dirty="0" err="1"/>
              <a:t>işleyen</a:t>
            </a:r>
            <a:r>
              <a:rPr lang="en-US" sz="2500" dirty="0"/>
              <a:t> </a:t>
            </a:r>
            <a:r>
              <a:rPr lang="en-US" sz="2500" dirty="0" err="1"/>
              <a:t>ve</a:t>
            </a:r>
            <a:r>
              <a:rPr lang="en-US" sz="2500" dirty="0"/>
              <a:t> </a:t>
            </a:r>
            <a:r>
              <a:rPr lang="en-US" sz="2500" dirty="0" err="1"/>
              <a:t>çıktıyı</a:t>
            </a:r>
            <a:r>
              <a:rPr lang="en-US" sz="2500" dirty="0"/>
              <a:t> </a:t>
            </a:r>
            <a:r>
              <a:rPr lang="en-US" sz="2500" dirty="0" err="1"/>
              <a:t>yayan</a:t>
            </a:r>
            <a:r>
              <a:rPr lang="en-US" sz="2500" dirty="0"/>
              <a:t> </a:t>
            </a:r>
            <a:r>
              <a:rPr lang="en-US" sz="2500" dirty="0" err="1"/>
              <a:t>birbiriyle</a:t>
            </a:r>
            <a:r>
              <a:rPr lang="en-US" sz="2500" dirty="0"/>
              <a:t> </a:t>
            </a:r>
            <a:r>
              <a:rPr lang="en-US" sz="2500" dirty="0" err="1"/>
              <a:t>ilişkili</a:t>
            </a:r>
            <a:r>
              <a:rPr lang="en-US" sz="2500" dirty="0"/>
              <a:t> </a:t>
            </a:r>
            <a:r>
              <a:rPr lang="en-US" sz="2500" dirty="0" err="1"/>
              <a:t>bir</a:t>
            </a:r>
            <a:r>
              <a:rPr lang="en-US" sz="2500" dirty="0"/>
              <a:t> dizi </a:t>
            </a:r>
            <a:r>
              <a:rPr lang="en-US" sz="2500" dirty="0" err="1"/>
              <a:t>bileşen</a:t>
            </a:r>
            <a:r>
              <a:rPr lang="en-US" sz="2500" dirty="0"/>
              <a:t>.
</a:t>
            </a:r>
            <a:r>
              <a:rPr lang="en-US" sz="2500" dirty="0" err="1"/>
              <a:t>Yazılım</a:t>
            </a:r>
            <a:r>
              <a:rPr lang="en-US" sz="2500" dirty="0"/>
              <a:t> </a:t>
            </a:r>
            <a:r>
              <a:rPr lang="en-US" sz="2500" dirty="0" err="1"/>
              <a:t>ürünü</a:t>
            </a:r>
            <a:r>
              <a:rPr lang="en-US" sz="2500" dirty="0"/>
              <a:t> </a:t>
            </a:r>
            <a:r>
              <a:rPr lang="en-US" sz="2500" dirty="0" err="1"/>
              <a:t>sorumluluk</a:t>
            </a:r>
            <a:r>
              <a:rPr lang="en-US" sz="2500" dirty="0"/>
              <a:t> </a:t>
            </a:r>
            <a:r>
              <a:rPr lang="en-US" sz="2500" dirty="0" err="1"/>
              <a:t>iddiaları</a:t>
            </a:r>
            <a:r>
              <a:rPr lang="en-US" sz="2500" dirty="0"/>
              <a:t> </a:t>
            </a:r>
            <a:r>
              <a:rPr lang="en-US" sz="2500" dirty="0" err="1"/>
              <a:t>kusursuz</a:t>
            </a:r>
            <a:r>
              <a:rPr lang="en-US" sz="2500" dirty="0"/>
              <a:t> </a:t>
            </a:r>
            <a:r>
              <a:rPr lang="en-US" sz="2500" dirty="0" err="1"/>
              <a:t>sorumluluğa</a:t>
            </a:r>
            <a:r>
              <a:rPr lang="en-US" sz="2500" dirty="0"/>
              <a:t>, </a:t>
            </a:r>
            <a:r>
              <a:rPr lang="en-US" sz="2500" dirty="0" err="1"/>
              <a:t>ihmale</a:t>
            </a:r>
            <a:r>
              <a:rPr lang="en-US" sz="2500" dirty="0"/>
              <a:t>, </a:t>
            </a:r>
            <a:r>
              <a:rPr lang="en-US" sz="2500" dirty="0" err="1"/>
              <a:t>garanti</a:t>
            </a:r>
            <a:r>
              <a:rPr lang="en-US" sz="2500" dirty="0"/>
              <a:t> </a:t>
            </a:r>
            <a:r>
              <a:rPr lang="en-US" sz="2500" dirty="0" err="1"/>
              <a:t>ihlaline</a:t>
            </a:r>
            <a:r>
              <a:rPr lang="en-US" sz="2500" dirty="0"/>
              <a:t> </a:t>
            </a:r>
            <a:r>
              <a:rPr lang="en-US" sz="2500" dirty="0" err="1"/>
              <a:t>veya</a:t>
            </a:r>
            <a:r>
              <a:rPr lang="en-US" sz="2500" dirty="0"/>
              <a:t> </a:t>
            </a:r>
            <a:r>
              <a:rPr lang="en-US" sz="2500" dirty="0" err="1"/>
              <a:t>yanlış</a:t>
            </a:r>
            <a:r>
              <a:rPr lang="en-US" sz="2500" dirty="0"/>
              <a:t> </a:t>
            </a:r>
            <a:r>
              <a:rPr lang="en-US" sz="2500" dirty="0" err="1"/>
              <a:t>beyana</a:t>
            </a:r>
            <a:r>
              <a:rPr lang="en-US" sz="2500" dirty="0"/>
              <a:t> </a:t>
            </a:r>
            <a:r>
              <a:rPr lang="en-US" sz="2500" dirty="0" err="1"/>
              <a:t>dayalıdır</a:t>
            </a:r>
            <a:r>
              <a:rPr lang="en-US" sz="2500" dirty="0"/>
              <a:t>.
</a:t>
            </a:r>
            <a:r>
              <a:rPr lang="en-US" sz="2500" dirty="0" err="1"/>
              <a:t>Kusursuz</a:t>
            </a:r>
            <a:r>
              <a:rPr lang="en-US" sz="2500" dirty="0"/>
              <a:t> </a:t>
            </a:r>
            <a:r>
              <a:rPr lang="en-US" sz="2500" dirty="0" err="1"/>
              <a:t>sorumluluk</a:t>
            </a:r>
            <a:r>
              <a:rPr lang="en-US" sz="2500" dirty="0"/>
              <a:t>: </a:t>
            </a:r>
            <a:r>
              <a:rPr lang="en-US" sz="2500" dirty="0" err="1"/>
              <a:t>Davalı</a:t>
            </a:r>
            <a:r>
              <a:rPr lang="en-US" sz="2500" dirty="0"/>
              <a:t>, </a:t>
            </a:r>
            <a:r>
              <a:rPr lang="en-US" sz="2500" dirty="0" err="1"/>
              <a:t>ihmal</a:t>
            </a:r>
            <a:r>
              <a:rPr lang="en-US" sz="2500" dirty="0"/>
              <a:t> </a:t>
            </a:r>
            <a:r>
              <a:rPr lang="en-US" sz="2500" dirty="0" err="1"/>
              <a:t>veya</a:t>
            </a:r>
            <a:r>
              <a:rPr lang="en-US" sz="2500" dirty="0"/>
              <a:t> </a:t>
            </a:r>
            <a:r>
              <a:rPr lang="en-US" sz="2500" dirty="0" err="1"/>
              <a:t>kasıt</a:t>
            </a:r>
            <a:r>
              <a:rPr lang="en-US" sz="2500" dirty="0"/>
              <a:t> ne </a:t>
            </a:r>
            <a:r>
              <a:rPr lang="en-US" sz="2500" dirty="0" err="1"/>
              <a:t>olursa</a:t>
            </a:r>
            <a:r>
              <a:rPr lang="en-US" sz="2500" dirty="0"/>
              <a:t> </a:t>
            </a:r>
            <a:r>
              <a:rPr lang="en-US" sz="2500" dirty="0" err="1"/>
              <a:t>olsun</a:t>
            </a:r>
            <a:r>
              <a:rPr lang="en-US" sz="2500" dirty="0"/>
              <a:t> </a:t>
            </a:r>
            <a:r>
              <a:rPr lang="en-US" sz="2500" dirty="0" err="1"/>
              <a:t>yaralanmadan</a:t>
            </a:r>
            <a:r>
              <a:rPr lang="en-US" sz="2500" dirty="0"/>
              <a:t> </a:t>
            </a:r>
            <a:r>
              <a:rPr lang="en-US" sz="2500" dirty="0" err="1"/>
              <a:t>sorumlu</a:t>
            </a:r>
            <a:r>
              <a:rPr lang="en-US" sz="2500" dirty="0"/>
              <a:t> </a:t>
            </a:r>
            <a:r>
              <a:rPr lang="en-US" sz="2500" dirty="0" err="1"/>
              <a:t>tutulur</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a:t>Özet, Bölüm 3</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29820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255011"/>
          </a:xfrm>
        </p:spPr>
        <p:txBody>
          <a:bodyPr/>
          <a:lstStyle/>
          <a:p>
            <a:r>
              <a:rPr lang="en-US" sz="2700"/>
              <a:t>Yazılım kalitesi ile ne kastedilmektedir, neden bu kadar önemlidir ve yazılım üreticileri proje programları, proje maliyetleri ve yazılım kalitesi arasında değiş tokuş içeren kararlar alırken hangi potansiyel etik sorunlarla karşılaşırlar?
Garanti: Alıcılara veya kiracılara bir ürünün belirli kalite standartlarını karşıladığını garanti eder; Kanunen açıkça belirtilebilir veya ima edilebilir. 
Ürün garanti şartlarını yerine getiremezse, alıcı veya kiracı garantinin ihlali nedeniyle dava açabilir.</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a:t>Özet, Bölüm 4</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17170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3465564"/>
          </a:xfrm>
        </p:spPr>
        <p:txBody>
          <a:bodyPr/>
          <a:lstStyle/>
          <a:p>
            <a:r>
              <a:rPr lang="en-US" sz="2700" dirty="0" err="1"/>
              <a:t>Kalite</a:t>
            </a:r>
            <a:r>
              <a:rPr lang="en-US" sz="2700" dirty="0"/>
              <a:t> </a:t>
            </a:r>
            <a:r>
              <a:rPr lang="en-US" sz="2700" dirty="0" err="1"/>
              <a:t>sistemleri</a:t>
            </a:r>
            <a:r>
              <a:rPr lang="en-US" sz="2700" dirty="0"/>
              <a:t> </a:t>
            </a:r>
            <a:r>
              <a:rPr lang="en-US" sz="2700" dirty="0" err="1"/>
              <a:t>geliştirmek</a:t>
            </a:r>
            <a:r>
              <a:rPr lang="en-US" sz="2700" dirty="0"/>
              <a:t> için </a:t>
            </a:r>
            <a:r>
              <a:rPr lang="en-US" sz="2700" dirty="0" err="1"/>
              <a:t>bazı</a:t>
            </a:r>
            <a:r>
              <a:rPr lang="en-US" sz="2700" dirty="0"/>
              <a:t> </a:t>
            </a:r>
            <a:r>
              <a:rPr lang="en-US" sz="2700" dirty="0" err="1"/>
              <a:t>etkili</a:t>
            </a:r>
            <a:r>
              <a:rPr lang="en-US" sz="2700" dirty="0"/>
              <a:t> </a:t>
            </a:r>
            <a:r>
              <a:rPr lang="en-US" sz="2700" dirty="0" err="1"/>
              <a:t>stratejiler</a:t>
            </a:r>
            <a:r>
              <a:rPr lang="en-US" sz="2700" dirty="0"/>
              <a:t> </a:t>
            </a:r>
            <a:r>
              <a:rPr lang="en-US" sz="2700" dirty="0" err="1"/>
              <a:t>nelerdir</a:t>
            </a:r>
            <a:r>
              <a:rPr lang="en-US" sz="2700" dirty="0"/>
              <a:t>?
</a:t>
            </a:r>
            <a:r>
              <a:rPr lang="en-US" sz="2700" dirty="0" err="1"/>
              <a:t>Yazılım</a:t>
            </a:r>
            <a:r>
              <a:rPr lang="en-US" sz="2700" dirty="0"/>
              <a:t> </a:t>
            </a:r>
            <a:r>
              <a:rPr lang="en-US" sz="2700" dirty="0" err="1"/>
              <a:t>geliştirme</a:t>
            </a:r>
            <a:r>
              <a:rPr lang="en-US" sz="2700" dirty="0"/>
              <a:t> </a:t>
            </a:r>
            <a:r>
              <a:rPr lang="en-US" sz="2700" dirty="0" err="1"/>
              <a:t>metodolojisi</a:t>
            </a:r>
            <a:r>
              <a:rPr lang="en-US" sz="2700" dirty="0"/>
              <a:t>: Bir </a:t>
            </a:r>
            <a:r>
              <a:rPr lang="en-US" sz="2700" dirty="0" err="1"/>
              <a:t>ekibin</a:t>
            </a:r>
            <a:r>
              <a:rPr lang="en-US" sz="2700" dirty="0"/>
              <a:t> </a:t>
            </a:r>
            <a:r>
              <a:rPr lang="en-US" sz="2700" dirty="0" err="1"/>
              <a:t>yüksek</a:t>
            </a:r>
            <a:r>
              <a:rPr lang="en-US" sz="2700" dirty="0"/>
              <a:t> </a:t>
            </a:r>
            <a:r>
              <a:rPr lang="en-US" sz="2700" dirty="0" err="1"/>
              <a:t>kaliteli</a:t>
            </a:r>
            <a:r>
              <a:rPr lang="en-US" sz="2700" dirty="0"/>
              <a:t> </a:t>
            </a:r>
            <a:r>
              <a:rPr lang="en-US" sz="2700" dirty="0" err="1"/>
              <a:t>yazılım</a:t>
            </a:r>
            <a:r>
              <a:rPr lang="en-US" sz="2700" dirty="0"/>
              <a:t> </a:t>
            </a:r>
            <a:r>
              <a:rPr lang="en-US" sz="2700" dirty="0" err="1"/>
              <a:t>geliştirmede</a:t>
            </a:r>
            <a:r>
              <a:rPr lang="en-US" sz="2700" dirty="0"/>
              <a:t> </a:t>
            </a:r>
            <a:r>
              <a:rPr lang="en-US" sz="2700" dirty="0" err="1"/>
              <a:t>kontrollü</a:t>
            </a:r>
            <a:r>
              <a:rPr lang="en-US" sz="2700" dirty="0"/>
              <a:t> </a:t>
            </a:r>
            <a:r>
              <a:rPr lang="en-US" sz="2700" dirty="0" err="1"/>
              <a:t>ve</a:t>
            </a:r>
            <a:r>
              <a:rPr lang="en-US" sz="2700" dirty="0"/>
              <a:t> </a:t>
            </a:r>
            <a:r>
              <a:rPr lang="en-US" sz="2700" dirty="0" err="1"/>
              <a:t>düzenli</a:t>
            </a:r>
            <a:r>
              <a:rPr lang="en-US" sz="2700" dirty="0"/>
              <a:t> </a:t>
            </a:r>
            <a:r>
              <a:rPr lang="en-US" sz="2700" dirty="0" err="1"/>
              <a:t>bir</a:t>
            </a:r>
            <a:r>
              <a:rPr lang="en-US" sz="2700" dirty="0"/>
              <a:t> </a:t>
            </a:r>
            <a:r>
              <a:rPr lang="en-US" sz="2700" dirty="0" err="1"/>
              <a:t>ilerleme</a:t>
            </a:r>
            <a:r>
              <a:rPr lang="en-US" sz="2700" dirty="0"/>
              <a:t> </a:t>
            </a:r>
            <a:r>
              <a:rPr lang="en-US" sz="2700" dirty="0" err="1"/>
              <a:t>kaydetmesini</a:t>
            </a:r>
            <a:r>
              <a:rPr lang="en-US" sz="2700" dirty="0"/>
              <a:t> </a:t>
            </a:r>
            <a:r>
              <a:rPr lang="en-US" sz="2700" dirty="0" err="1"/>
              <a:t>sağlayan</a:t>
            </a:r>
            <a:r>
              <a:rPr lang="en-US" sz="2700" dirty="0"/>
              <a:t> </a:t>
            </a:r>
            <a:r>
              <a:rPr lang="en-US" sz="2700" dirty="0" err="1"/>
              <a:t>standart</a:t>
            </a:r>
            <a:r>
              <a:rPr lang="en-US" sz="2700" dirty="0"/>
              <a:t>, </a:t>
            </a:r>
            <a:r>
              <a:rPr lang="en-US" sz="2700" dirty="0" err="1"/>
              <a:t>kanıtlanmış</a:t>
            </a:r>
            <a:r>
              <a:rPr lang="en-US" sz="2700" dirty="0"/>
              <a:t> </a:t>
            </a:r>
            <a:r>
              <a:rPr lang="en-US" sz="2700" dirty="0" err="1"/>
              <a:t>bir</a:t>
            </a:r>
            <a:r>
              <a:rPr lang="en-US" sz="2700" dirty="0"/>
              <a:t> </a:t>
            </a:r>
            <a:r>
              <a:rPr lang="en-US" sz="2700" dirty="0" err="1"/>
              <a:t>iş</a:t>
            </a:r>
            <a:r>
              <a:rPr lang="en-US" sz="2700" dirty="0"/>
              <a:t> </a:t>
            </a:r>
            <a:r>
              <a:rPr lang="en-US" sz="2700" dirty="0" err="1"/>
              <a:t>süreci</a:t>
            </a:r>
            <a:r>
              <a:rPr lang="en-US" sz="2700" dirty="0"/>
              <a:t>
</a:t>
            </a:r>
            <a:r>
              <a:rPr lang="en-US" sz="2700" dirty="0" err="1"/>
              <a:t>Faaliyetleri</a:t>
            </a:r>
            <a:r>
              <a:rPr lang="en-US" sz="2700" dirty="0"/>
              <a:t> </a:t>
            </a:r>
            <a:r>
              <a:rPr lang="en-US" sz="2700" dirty="0" err="1"/>
              <a:t>ve</a:t>
            </a:r>
            <a:r>
              <a:rPr lang="en-US" sz="2700" dirty="0"/>
              <a:t> </a:t>
            </a:r>
            <a:r>
              <a:rPr lang="en-US" sz="2700" dirty="0" err="1"/>
              <a:t>sorumlulukları</a:t>
            </a:r>
            <a:r>
              <a:rPr lang="en-US" sz="2700" dirty="0"/>
              <a:t> </a:t>
            </a:r>
            <a:r>
              <a:rPr lang="en-US" sz="2700" dirty="0" err="1"/>
              <a:t>tanımlar</a:t>
            </a:r>
            <a:r>
              <a:rPr lang="en-US" sz="2700" dirty="0"/>
              <a:t>; </a:t>
            </a:r>
            <a:r>
              <a:rPr lang="en-US" sz="2700" dirty="0" err="1"/>
              <a:t>özel</a:t>
            </a:r>
            <a:r>
              <a:rPr lang="en-US" sz="2700" dirty="0"/>
              <a:t> </a:t>
            </a:r>
            <a:r>
              <a:rPr lang="en-US" sz="2700" dirty="0" err="1"/>
              <a:t>teknikler</a:t>
            </a:r>
            <a:r>
              <a:rPr lang="en-US" sz="2700" dirty="0"/>
              <a:t> </a:t>
            </a:r>
            <a:r>
              <a:rPr lang="en-US" sz="2700" dirty="0" err="1"/>
              <a:t>önerir</a:t>
            </a:r>
            <a:r>
              <a:rPr lang="en-US" sz="2700" dirty="0"/>
              <a:t>; </a:t>
            </a:r>
            <a:r>
              <a:rPr lang="en-US" sz="2700" dirty="0" err="1"/>
              <a:t>ve</a:t>
            </a:r>
            <a:r>
              <a:rPr lang="en-US" sz="2700" dirty="0"/>
              <a:t> </a:t>
            </a:r>
            <a:r>
              <a:rPr lang="en-US" sz="2700" dirty="0" err="1"/>
              <a:t>çeşitli</a:t>
            </a:r>
            <a:r>
              <a:rPr lang="en-US" sz="2700" dirty="0"/>
              <a:t> </a:t>
            </a:r>
            <a:r>
              <a:rPr lang="en-US" sz="2700" dirty="0" err="1"/>
              <a:t>geliştirme</a:t>
            </a:r>
            <a:r>
              <a:rPr lang="en-US" sz="2700" dirty="0"/>
              <a:t> </a:t>
            </a:r>
            <a:r>
              <a:rPr lang="en-US" sz="2700" dirty="0" err="1"/>
              <a:t>aşamalarında</a:t>
            </a:r>
            <a:r>
              <a:rPr lang="en-US" sz="2700" dirty="0"/>
              <a:t> </a:t>
            </a:r>
            <a:r>
              <a:rPr lang="en-US" sz="2700" dirty="0" err="1"/>
              <a:t>ürünlerin</a:t>
            </a:r>
            <a:r>
              <a:rPr lang="en-US" sz="2700" dirty="0"/>
              <a:t> </a:t>
            </a:r>
            <a:r>
              <a:rPr lang="en-US" sz="2700" dirty="0" err="1"/>
              <a:t>kalitesini</a:t>
            </a:r>
            <a:r>
              <a:rPr lang="en-US" sz="2700" dirty="0"/>
              <a:t> </a:t>
            </a:r>
            <a:r>
              <a:rPr lang="en-US" sz="2700" dirty="0" err="1"/>
              <a:t>yönetmek</a:t>
            </a:r>
            <a:r>
              <a:rPr lang="en-US" sz="2700" dirty="0"/>
              <a:t> için </a:t>
            </a:r>
            <a:r>
              <a:rPr lang="en-US" sz="2700" dirty="0" err="1"/>
              <a:t>yönergeler</a:t>
            </a:r>
            <a:r>
              <a:rPr lang="en-US" sz="2700" dirty="0"/>
              <a:t> </a:t>
            </a:r>
            <a:r>
              <a:rPr lang="en-US" sz="2700" dirty="0" err="1"/>
              <a:t>sunar</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a:t>Özet, Bölüm 5</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14861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957511"/>
          </a:xfrm>
        </p:spPr>
        <p:txBody>
          <a:bodyPr/>
          <a:lstStyle/>
          <a:p>
            <a:r>
              <a:rPr lang="en-US" sz="2700"/>
              <a:t>Kalite sistemleri geliştirmek için bazı etkili stratejiler nelerdir?
Şelale sistemi geliştirme modeli: Mevcut aşamanın sonuçları onaylanana kadar bir sonraki aşamanın geliştirilmesinin başlayamayacağı sıralı, çok aşamalı bir sistem süreci
Çevik geliştirme metodolojisi: Bir sistemin bir ila dört hafta süren yinelemeler (diğer adıyla sprintler) halinde geliştirildiği bir geliştirme süreci
Sistem gereksinimlerinin geliştiğini ve proje başlangıcında tam olarak anlaşılamayacağını kabul eder.</a:t>
            </a:r>
            <a:endParaRPr lang="en-US" dirty="0"/>
          </a:p>
        </p:txBody>
      </p:sp>
      <p:sp>
        <p:nvSpPr>
          <p:cNvPr id="3" name="Title 2"/>
          <p:cNvSpPr>
            <a:spLocks noGrp="1"/>
          </p:cNvSpPr>
          <p:nvPr>
            <p:ph type="title"/>
          </p:nvPr>
        </p:nvSpPr>
        <p:spPr>
          <a:xfrm>
            <a:off x="762000" y="290459"/>
            <a:ext cx="8026400" cy="527837"/>
          </a:xfrm>
        </p:spPr>
        <p:txBody>
          <a:bodyPr/>
          <a:lstStyle/>
          <a:p>
            <a:r>
              <a:rPr lang="en-US" sz="4000"/>
              <a:t>Özet, Bölüm 6</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98696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506123"/>
          </a:xfrm>
        </p:spPr>
        <p:txBody>
          <a:bodyPr/>
          <a:lstStyle/>
          <a:p>
            <a:r>
              <a:rPr lang="en-US" sz="2700"/>
              <a:t>Kalite sistemleri geliştirmek için bazı etkili stratejiler nelerdir?
Etkili bir geliştirme metodolojisi:
Bir üreticinin yüksek kaliteli yazılım üretmesine, proje tamamlama kilometre taşlarını tahmin etmesine ve geliştirme ve destek maliyetlerini azaltmasına olanak tanır
Aşağıdakileri yaparak yazılım üreticilerinin kusurlu yazılımlar için yasal sorumluluktan korunmasına yardımcı olur:
Hasara neden olabilecek yazılım hatalarının sayısını azaltmak
İhmalin kanıtlanmasını zorlaştırmak</a:t>
            </a:r>
            <a:endParaRPr lang="en-US" sz="2300" dirty="0"/>
          </a:p>
        </p:txBody>
      </p:sp>
      <p:sp>
        <p:nvSpPr>
          <p:cNvPr id="3" name="Title 2"/>
          <p:cNvSpPr>
            <a:spLocks noGrp="1"/>
          </p:cNvSpPr>
          <p:nvPr>
            <p:ph type="title"/>
          </p:nvPr>
        </p:nvSpPr>
        <p:spPr>
          <a:xfrm>
            <a:off x="762000" y="290459"/>
            <a:ext cx="8026400" cy="527837"/>
          </a:xfrm>
        </p:spPr>
        <p:txBody>
          <a:bodyPr/>
          <a:lstStyle/>
          <a:p>
            <a:r>
              <a:rPr lang="en-US" sz="4000"/>
              <a:t>Özet, Bölüm 7</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23358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498685"/>
          </a:xfrm>
        </p:spPr>
        <p:txBody>
          <a:bodyPr/>
          <a:lstStyle/>
          <a:p>
            <a:r>
              <a:rPr lang="en-US" sz="2700" dirty="0" err="1"/>
              <a:t>Kalite</a:t>
            </a:r>
            <a:r>
              <a:rPr lang="en-US" sz="2700" dirty="0"/>
              <a:t> </a:t>
            </a:r>
            <a:r>
              <a:rPr lang="en-US" sz="2700" dirty="0" err="1"/>
              <a:t>sistemleri</a:t>
            </a:r>
            <a:r>
              <a:rPr lang="en-US" sz="2700" dirty="0"/>
              <a:t> </a:t>
            </a:r>
            <a:r>
              <a:rPr lang="en-US" sz="2700" dirty="0" err="1"/>
              <a:t>geliştirmek</a:t>
            </a:r>
            <a:r>
              <a:rPr lang="en-US" sz="2700" dirty="0"/>
              <a:t> için </a:t>
            </a:r>
            <a:r>
              <a:rPr lang="en-US" sz="2700" dirty="0" err="1"/>
              <a:t>bazı</a:t>
            </a:r>
            <a:r>
              <a:rPr lang="en-US" sz="2700" dirty="0"/>
              <a:t> </a:t>
            </a:r>
            <a:r>
              <a:rPr lang="en-US" sz="2700" dirty="0" err="1"/>
              <a:t>etkili</a:t>
            </a:r>
            <a:r>
              <a:rPr lang="en-US" sz="2700" dirty="0"/>
              <a:t> </a:t>
            </a:r>
            <a:r>
              <a:rPr lang="en-US" sz="2700" dirty="0" err="1"/>
              <a:t>stratejiler</a:t>
            </a:r>
            <a:r>
              <a:rPr lang="en-US" sz="2700" dirty="0"/>
              <a:t> </a:t>
            </a:r>
            <a:r>
              <a:rPr lang="en-US" sz="2700" dirty="0" err="1"/>
              <a:t>nelerdir</a:t>
            </a:r>
            <a:r>
              <a:rPr lang="en-US" sz="2700" dirty="0"/>
              <a:t>?
</a:t>
            </a:r>
            <a:r>
              <a:rPr lang="en-US" sz="2700" dirty="0" err="1"/>
              <a:t>Geliştirme</a:t>
            </a:r>
            <a:r>
              <a:rPr lang="en-US" sz="2700" dirty="0"/>
              <a:t> </a:t>
            </a:r>
            <a:r>
              <a:rPr lang="en-US" sz="2700" dirty="0" err="1"/>
              <a:t>sürecinin</a:t>
            </a:r>
            <a:r>
              <a:rPr lang="en-US" sz="2700" dirty="0"/>
              <a:t> </a:t>
            </a:r>
            <a:r>
              <a:rPr lang="en-US" sz="2700" dirty="0" err="1"/>
              <a:t>başlarında</a:t>
            </a:r>
            <a:r>
              <a:rPr lang="en-US" sz="2700" dirty="0"/>
              <a:t> </a:t>
            </a:r>
            <a:r>
              <a:rPr lang="en-US" sz="2700" dirty="0" err="1"/>
              <a:t>bir</a:t>
            </a:r>
            <a:r>
              <a:rPr lang="en-US" sz="2700" dirty="0"/>
              <a:t> </a:t>
            </a:r>
            <a:r>
              <a:rPr lang="en-US" sz="2700" dirty="0" err="1"/>
              <a:t>kusuru</a:t>
            </a:r>
            <a:r>
              <a:rPr lang="en-US" sz="2700" dirty="0"/>
              <a:t> </a:t>
            </a:r>
            <a:r>
              <a:rPr lang="en-US" sz="2700" dirty="0" err="1"/>
              <a:t>gidermenin</a:t>
            </a:r>
            <a:r>
              <a:rPr lang="en-US" sz="2700" dirty="0"/>
              <a:t> </a:t>
            </a:r>
            <a:r>
              <a:rPr lang="en-US" sz="2700" dirty="0" err="1"/>
              <a:t>maliyeti</a:t>
            </a:r>
            <a:r>
              <a:rPr lang="en-US" sz="2700" dirty="0"/>
              <a:t>, </a:t>
            </a:r>
            <a:r>
              <a:rPr lang="en-US" sz="2700" dirty="0" err="1"/>
              <a:t>müşterilere</a:t>
            </a:r>
            <a:r>
              <a:rPr lang="en-US" sz="2700" dirty="0"/>
              <a:t> </a:t>
            </a:r>
            <a:r>
              <a:rPr lang="en-US" sz="2700" dirty="0" err="1"/>
              <a:t>dağıtılan</a:t>
            </a:r>
            <a:r>
              <a:rPr lang="en-US" sz="2700" dirty="0"/>
              <a:t> </a:t>
            </a:r>
            <a:r>
              <a:rPr lang="en-US" sz="2700" dirty="0" err="1"/>
              <a:t>yazılımdaki</a:t>
            </a:r>
            <a:r>
              <a:rPr lang="en-US" sz="2700" dirty="0"/>
              <a:t> </a:t>
            </a:r>
            <a:r>
              <a:rPr lang="en-US" sz="2700" dirty="0" err="1"/>
              <a:t>bir</a:t>
            </a:r>
            <a:r>
              <a:rPr lang="en-US" sz="2700" dirty="0"/>
              <a:t> </a:t>
            </a:r>
            <a:r>
              <a:rPr lang="en-US" sz="2700" dirty="0" err="1"/>
              <a:t>kusuru</a:t>
            </a:r>
            <a:r>
              <a:rPr lang="en-US" sz="2700" dirty="0"/>
              <a:t> </a:t>
            </a:r>
            <a:r>
              <a:rPr lang="en-US" sz="2700" dirty="0" err="1"/>
              <a:t>gidermekten</a:t>
            </a:r>
            <a:r>
              <a:rPr lang="en-US" sz="2700" dirty="0"/>
              <a:t> 100 kata </a:t>
            </a:r>
            <a:r>
              <a:rPr lang="en-US" sz="2700" dirty="0" err="1"/>
              <a:t>kadar</a:t>
            </a:r>
            <a:r>
              <a:rPr lang="en-US" sz="2700" dirty="0"/>
              <a:t> </a:t>
            </a:r>
            <a:r>
              <a:rPr lang="en-US" sz="2700" dirty="0" err="1"/>
              <a:t>daha</a:t>
            </a:r>
            <a:r>
              <a:rPr lang="en-US" sz="2700" dirty="0"/>
              <a:t> </a:t>
            </a:r>
            <a:r>
              <a:rPr lang="en-US" sz="2700" dirty="0" err="1"/>
              <a:t>az</a:t>
            </a:r>
            <a:r>
              <a:rPr lang="en-US" sz="2700" dirty="0"/>
              <a:t> </a:t>
            </a:r>
            <a:r>
              <a:rPr lang="en-US" sz="2700" dirty="0" err="1"/>
              <a:t>olabilir</a:t>
            </a:r>
            <a:r>
              <a:rPr lang="en-US" sz="2700" dirty="0"/>
              <a:t>
</a:t>
            </a:r>
            <a:r>
              <a:rPr lang="en-US" sz="2700" dirty="0" err="1"/>
              <a:t>Kalite</a:t>
            </a:r>
            <a:r>
              <a:rPr lang="en-US" sz="2700" dirty="0"/>
              <a:t> </a:t>
            </a:r>
            <a:r>
              <a:rPr lang="en-US" sz="2700" dirty="0" err="1"/>
              <a:t>güvencesi</a:t>
            </a:r>
            <a:r>
              <a:rPr lang="en-US" sz="2700" dirty="0"/>
              <a:t> (QA): Bir </a:t>
            </a:r>
            <a:r>
              <a:rPr lang="en-US" sz="2700" dirty="0" err="1"/>
              <a:t>ürünün</a:t>
            </a:r>
            <a:r>
              <a:rPr lang="en-US" sz="2700" dirty="0"/>
              <a:t> </a:t>
            </a:r>
            <a:r>
              <a:rPr lang="en-US" sz="2700" dirty="0" err="1"/>
              <a:t>güvenilir</a:t>
            </a:r>
            <a:r>
              <a:rPr lang="en-US" sz="2700" dirty="0"/>
              <a:t> </a:t>
            </a:r>
            <a:r>
              <a:rPr lang="en-US" sz="2700" dirty="0" err="1"/>
              <a:t>bir</a:t>
            </a:r>
            <a:r>
              <a:rPr lang="en-US" sz="2700" dirty="0"/>
              <a:t> </a:t>
            </a:r>
            <a:r>
              <a:rPr lang="en-US" sz="2700" dirty="0" err="1"/>
              <a:t>şekilde</a:t>
            </a:r>
            <a:r>
              <a:rPr lang="en-US" sz="2700" dirty="0"/>
              <a:t> </a:t>
            </a:r>
            <a:r>
              <a:rPr lang="en-US" sz="2700" dirty="0" err="1"/>
              <a:t>çalışmasını</a:t>
            </a:r>
            <a:r>
              <a:rPr lang="en-US" sz="2700" dirty="0"/>
              <a:t> </a:t>
            </a:r>
            <a:r>
              <a:rPr lang="en-US" sz="2700" dirty="0" err="1"/>
              <a:t>garanti</a:t>
            </a:r>
            <a:r>
              <a:rPr lang="en-US" sz="2700" dirty="0"/>
              <a:t> </a:t>
            </a:r>
            <a:r>
              <a:rPr lang="en-US" sz="2700" dirty="0" err="1"/>
              <a:t>etmek</a:t>
            </a:r>
            <a:r>
              <a:rPr lang="en-US" sz="2700" dirty="0"/>
              <a:t> için </a:t>
            </a:r>
            <a:r>
              <a:rPr lang="en-US" sz="2700" dirty="0" err="1"/>
              <a:t>tasarlanmış</a:t>
            </a:r>
            <a:r>
              <a:rPr lang="en-US" sz="2700" dirty="0"/>
              <a:t> </a:t>
            </a:r>
            <a:r>
              <a:rPr lang="en-US" sz="2700" dirty="0" err="1"/>
              <a:t>geliştirme</a:t>
            </a:r>
            <a:r>
              <a:rPr lang="en-US" sz="2700" dirty="0"/>
              <a:t> </a:t>
            </a:r>
            <a:r>
              <a:rPr lang="en-US" sz="2700" dirty="0" err="1"/>
              <a:t>sürecindeki</a:t>
            </a:r>
            <a:r>
              <a:rPr lang="en-US" sz="2700" dirty="0"/>
              <a:t> </a:t>
            </a:r>
            <a:r>
              <a:rPr lang="en-US" sz="2700" dirty="0" err="1"/>
              <a:t>yöntemler</a:t>
            </a:r>
            <a:r>
              <a:rPr lang="en-US" sz="2700" dirty="0"/>
              <a:t>
</a:t>
            </a:r>
            <a:r>
              <a:rPr lang="en-US" sz="2700" dirty="0" err="1"/>
              <a:t>Geliştirme</a:t>
            </a:r>
            <a:r>
              <a:rPr lang="en-US" sz="2700" dirty="0"/>
              <a:t> </a:t>
            </a:r>
            <a:r>
              <a:rPr lang="en-US" sz="2700" dirty="0" err="1"/>
              <a:t>döngüsünün</a:t>
            </a:r>
            <a:r>
              <a:rPr lang="en-US" sz="2700" dirty="0"/>
              <a:t> her </a:t>
            </a:r>
            <a:r>
              <a:rPr lang="en-US" sz="2700" dirty="0" err="1"/>
              <a:t>aşamasında</a:t>
            </a:r>
            <a:r>
              <a:rPr lang="en-US" sz="2700" dirty="0"/>
              <a:t> </a:t>
            </a:r>
            <a:r>
              <a:rPr lang="en-US" sz="2700" dirty="0" err="1"/>
              <a:t>uygulanmalıdır</a:t>
            </a:r>
            <a:r>
              <a:rPr lang="en-US" sz="2700" dirty="0"/>
              <a:t>
</a:t>
            </a:r>
            <a:r>
              <a:rPr lang="en-US" sz="2700" dirty="0" err="1"/>
              <a:t>Yazılım</a:t>
            </a:r>
            <a:r>
              <a:rPr lang="en-US" sz="2700" dirty="0"/>
              <a:t> </a:t>
            </a:r>
            <a:r>
              <a:rPr lang="en-US" sz="2700" dirty="0" err="1"/>
              <a:t>testi</a:t>
            </a:r>
            <a:r>
              <a:rPr lang="en-US" sz="2700" dirty="0"/>
              <a:t> </a:t>
            </a:r>
            <a:r>
              <a:rPr lang="en-US" sz="2700" dirty="0" err="1"/>
              <a:t>türleri</a:t>
            </a:r>
            <a:r>
              <a:rPr lang="en-US" sz="2700" dirty="0"/>
              <a:t>: 
Kara kutu </a:t>
            </a:r>
            <a:r>
              <a:rPr lang="en-US" sz="2700" dirty="0" err="1"/>
              <a:t>ve</a:t>
            </a:r>
            <a:r>
              <a:rPr lang="en-US" sz="2700" dirty="0"/>
              <a:t> </a:t>
            </a:r>
            <a:r>
              <a:rPr lang="en-US" sz="2700" dirty="0" err="1"/>
              <a:t>beyaz</a:t>
            </a:r>
            <a:r>
              <a:rPr lang="en-US" sz="2700" dirty="0"/>
              <a:t> kutu </a:t>
            </a:r>
            <a:r>
              <a:rPr lang="en-US" sz="2700" dirty="0" err="1"/>
              <a:t>dinamik</a:t>
            </a:r>
            <a:r>
              <a:rPr lang="en-US" sz="2700" dirty="0"/>
              <a:t> </a:t>
            </a:r>
            <a:r>
              <a:rPr lang="en-US" sz="2700" dirty="0" err="1"/>
              <a:t>testi</a:t>
            </a:r>
            <a:r>
              <a:rPr lang="en-US" sz="2700" dirty="0"/>
              <a:t>, </a:t>
            </a:r>
            <a:r>
              <a:rPr lang="en-US" sz="2700" dirty="0" err="1"/>
              <a:t>statik</a:t>
            </a:r>
            <a:r>
              <a:rPr lang="en-US" sz="2700" dirty="0"/>
              <a:t> test, </a:t>
            </a:r>
            <a:r>
              <a:rPr lang="en-US" sz="2700" dirty="0" err="1"/>
              <a:t>birim</a:t>
            </a:r>
            <a:r>
              <a:rPr lang="en-US" sz="2700" dirty="0"/>
              <a:t> </a:t>
            </a:r>
            <a:r>
              <a:rPr lang="en-US" sz="2700" dirty="0" err="1"/>
              <a:t>testi</a:t>
            </a:r>
            <a:r>
              <a:rPr lang="en-US" sz="2700" dirty="0"/>
              <a:t>, </a:t>
            </a:r>
            <a:r>
              <a:rPr lang="en-US" sz="2700" dirty="0" err="1"/>
              <a:t>entegrasyon</a:t>
            </a:r>
            <a:r>
              <a:rPr lang="en-US" sz="2700" dirty="0"/>
              <a:t> </a:t>
            </a:r>
            <a:r>
              <a:rPr lang="en-US" sz="2700" dirty="0" err="1"/>
              <a:t>testi</a:t>
            </a:r>
            <a:r>
              <a:rPr lang="en-US" sz="2700" dirty="0"/>
              <a:t>, </a:t>
            </a:r>
            <a:r>
              <a:rPr lang="en-US" sz="2700" dirty="0" err="1"/>
              <a:t>sistem</a:t>
            </a:r>
            <a:r>
              <a:rPr lang="en-US" sz="2700" dirty="0"/>
              <a:t> </a:t>
            </a:r>
            <a:r>
              <a:rPr lang="en-US" sz="2700" dirty="0" err="1"/>
              <a:t>testi</a:t>
            </a:r>
            <a:r>
              <a:rPr lang="en-US" sz="2700" dirty="0"/>
              <a:t> </a:t>
            </a:r>
            <a:r>
              <a:rPr lang="en-US" sz="2700" dirty="0" err="1"/>
              <a:t>ve</a:t>
            </a:r>
            <a:r>
              <a:rPr lang="en-US" sz="2700" dirty="0"/>
              <a:t> </a:t>
            </a:r>
            <a:r>
              <a:rPr lang="en-US" sz="2700" dirty="0" err="1"/>
              <a:t>kullanıcı</a:t>
            </a:r>
            <a:r>
              <a:rPr lang="en-US" sz="2700" dirty="0"/>
              <a:t> </a:t>
            </a:r>
            <a:r>
              <a:rPr lang="en-US" sz="2700" dirty="0" err="1"/>
              <a:t>kabul</a:t>
            </a:r>
            <a:r>
              <a:rPr lang="en-US" sz="2700" dirty="0"/>
              <a:t> </a:t>
            </a:r>
            <a:r>
              <a:rPr lang="en-US" sz="2700" dirty="0" err="1"/>
              <a:t>testi</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a:t>Özet, Bölüm 8</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89481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6141681"/>
          </a:xfrm>
        </p:spPr>
        <p:txBody>
          <a:bodyPr/>
          <a:lstStyle/>
          <a:p>
            <a:r>
              <a:rPr lang="en-US" sz="2700"/>
              <a:t>Kalite sistemleri geliştirmek için bazı etkili stratejiler nelerdir?
Yetenek Olgunluk Modeli Tümleştirmesi (CMMI) modelleri: Kuruluşların süreçlerini iyileştirmelerine yardımcı olan en iyi uygulama koleksiyonları
En iyi uygulama: Sürekli olarak diğer yollarla elde edilenlerden daha üstün sonuçlar gösteren bir yöntem veya teknik
CMMI-Geliştirme (CMMI-DEV): Yazılım geliştirme uygulamalarını değerlendirmek ve iyileştirmek için kullanılır
Beş yazılım geliştirme olgunluk düzeyi tanımlar: ilk, yönetilen, tanımlanan, nicel olarak yönetilen ve optimize edilen</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a:t>Özet, Bölüm 9</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74027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660011"/>
          </a:xfrm>
        </p:spPr>
        <p:txBody>
          <a:bodyPr/>
          <a:lstStyle/>
          <a:p>
            <a:r>
              <a:rPr lang="en-US" sz="2700"/>
              <a:t>Kalite sistemleri geliştirmek için bazı etkili stratejiler nelerdir?
Güvenlik açısından kritik sistem: Arızası insan yaralanmasına veya ölümüne neden olabilecek bir sistem
Temel varsayım: Güvenlik, bir kuruluşun standart yazılım geliştirme metodolojisinin izlenmesinden otomatik olarak kaynaklanmayacaktır.
Çok daha titiz geliştirme ve testlerden geçmeli
Proje güvenliği mühendisi, tehlike günlüğü ve risk analizi
Risk: Değerli bir şey kazanma veya kaybetme potansiyeli
Üç unsurla ölçülür: bir risk olayı, olayın gerçekleşme olasılığı ve riskin gerçekleşmesi durumunda etki</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a:t>Özet, Bölüm 10</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514513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168064"/>
          </a:xfrm>
        </p:spPr>
        <p:txBody>
          <a:bodyPr/>
          <a:lstStyle/>
          <a:p>
            <a:r>
              <a:rPr lang="en-US" sz="2700"/>
              <a:t>Kalite sistemleri geliştirmek için bazı etkili stratejiler nelerdir?
Yıllık gerçekleşme oranı (ARO): Bir olayın bir yıl boyunca meydana gelme olasılığının tahmini
Tek kayıp beklentisi (SLE): Olayın gerçekleşmesi durumunda ortaya çıkacak tahmini kayıp
Yıllık zarar beklentisi (ALE): Bir yıl boyunca bu riskten kaynaklanan tahmini kayıp
ARO × SLE = ALE</a:t>
            </a:r>
            <a:endParaRPr lang="en-US" sz="2700" dirty="0"/>
          </a:p>
        </p:txBody>
      </p:sp>
      <p:sp>
        <p:nvSpPr>
          <p:cNvPr id="3" name="Title 2"/>
          <p:cNvSpPr>
            <a:spLocks noGrp="1"/>
          </p:cNvSpPr>
          <p:nvPr>
            <p:ph type="title"/>
          </p:nvPr>
        </p:nvSpPr>
        <p:spPr>
          <a:xfrm>
            <a:off x="762000" y="290459"/>
            <a:ext cx="8026400" cy="527837"/>
          </a:xfrm>
        </p:spPr>
        <p:txBody>
          <a:bodyPr/>
          <a:lstStyle/>
          <a:p>
            <a:r>
              <a:rPr lang="en-US" sz="4000"/>
              <a:t>Özet, Bölüm 11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48287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900846"/>
          </a:xfrm>
        </p:spPr>
        <p:txBody>
          <a:bodyPr/>
          <a:lstStyle/>
          <a:p>
            <a:r>
              <a:rPr lang="en-US" sz="2700"/>
              <a:t>Kalite sistemleri geliştirmek için bazı etkili stratejiler nelerdir?
ISO standartları: Kuruluşların, müşterilerin ihtiyaçlarını belirlemeye ve karşılamaya odaklanan resmi kalite yönetim sistemleri geliştirmelerini gerektirir
ISO 9001 standartları, kaliteli ürünler, hizmetler ve yönetim için bir rehber görevi görür
Birçok işletme ve devlet kurumu, satıcıların ISO 9001 sertifikalı olması gerektiğini belirtir
Hata türü ve etkileri analizi (FMEA): ISO 9001 uyumlu kalite sistemleri geliştirmek için kullanılan bir teknik
Güvenilirliği değerlendirir ve sistem ve ekipman arızalarının etkilerini belirler</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a:t>Özet, Bölüm 12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3910740"/>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6585</TotalTime>
  <Words>4584</Words>
  <Application>Microsoft Office PowerPoint</Application>
  <PresentationFormat>Ekran Gösterisi (4:3)</PresentationFormat>
  <Paragraphs>135</Paragraphs>
  <Slides>39</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39</vt:i4>
      </vt:variant>
    </vt:vector>
  </HeadingPairs>
  <TitlesOfParts>
    <vt:vector size="43" baseType="lpstr">
      <vt:lpstr>Arial</vt:lpstr>
      <vt:lpstr>Calibri</vt:lpstr>
      <vt:lpstr>Calibri Light</vt:lpstr>
      <vt:lpstr>Office Theme</vt:lpstr>
      <vt:lpstr>Bilgi Teknolojilerinde Etik</vt:lpstr>
      <vt:lpstr>Öğrenme hedefleri</vt:lpstr>
      <vt:lpstr>Yazılım Kalitesi</vt:lpstr>
      <vt:lpstr>Düşük Kaliteli Yazılımın Nedenleri</vt:lpstr>
      <vt:lpstr>Yazılım Kalitesinin Önemi</vt:lpstr>
      <vt:lpstr>Yazılım Ürün Sorumluluğu, Bölüm 1</vt:lpstr>
      <vt:lpstr>Yazılım Ürünü Sorumluluğu, Bölüm 2</vt:lpstr>
      <vt:lpstr>Yazılım Ürünü Sorumluluğu, Bölüm 3</vt:lpstr>
      <vt:lpstr>Kaliteli Yazılım Geliştirmek için Stratejiler ve Araçlar</vt:lpstr>
      <vt:lpstr>Yazılım Geliştirme Metodolojileri</vt:lpstr>
      <vt:lpstr>Yazılım Geliştirme Metodolojisinin Bileşenleri</vt:lpstr>
      <vt:lpstr>Şelale Sistemi Geliştirme Modeli</vt:lpstr>
      <vt:lpstr>Çevik Geliştirme Metodolojisi</vt:lpstr>
      <vt:lpstr>Şelalenin Artıları ve Eksileri</vt:lpstr>
      <vt:lpstr>Agile'ın Artıları ve Eksileri</vt:lpstr>
      <vt:lpstr>Kusurları gidermenin maliyeti</vt:lpstr>
      <vt:lpstr>Yazılım Testi, Bölüm 1</vt:lpstr>
      <vt:lpstr>Yazılım Testi, Bölüm 2</vt:lpstr>
      <vt:lpstr>Yetenek Olgunluk Modeli Entegrasyonu (CMMI)</vt:lpstr>
      <vt:lpstr>Güvenlik Açısından Kritik Sistemlerin Geliştirilmesi, Bölüm 1</vt:lpstr>
      <vt:lpstr>Güvenlik Açısından Kritik Sistemlerin Geliştirilmesi, Bölüm 2</vt:lpstr>
      <vt:lpstr>Risk</vt:lpstr>
      <vt:lpstr>Yıllık Zarar Beklentisi</vt:lpstr>
      <vt:lpstr>Risk Yönetimi</vt:lpstr>
      <vt:lpstr>Kalite Yönetim Standartları</vt:lpstr>
      <vt:lpstr>Yazılım Kalitesini Artırmak İçin Yöneticinin Kontrol Listesi, Bölüm 1</vt:lpstr>
      <vt:lpstr>Manager’s Checklist For Improving Software Quality, Part 2</vt:lpstr>
      <vt:lpstr>Özet, Bölüm 1</vt:lpstr>
      <vt:lpstr>Özet, Bölüm 2</vt:lpstr>
      <vt:lpstr>Özet, Bölüm 3</vt:lpstr>
      <vt:lpstr>Özet, Bölüm 4</vt:lpstr>
      <vt:lpstr>Özet, Bölüm 5</vt:lpstr>
      <vt:lpstr>Özet, Bölüm 6</vt:lpstr>
      <vt:lpstr>Özet, Bölüm 7</vt:lpstr>
      <vt:lpstr>Özet, Bölüm 8</vt:lpstr>
      <vt:lpstr>Özet, Bölüm 9</vt:lpstr>
      <vt:lpstr>Özet, Bölüm 10</vt:lpstr>
      <vt:lpstr>Özet, Bölüm 11</vt:lpstr>
      <vt:lpstr>Özet, Bölüm 12</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karahocaa</cp:lastModifiedBy>
  <cp:revision>322</cp:revision>
  <cp:lastPrinted>2010-11-12T17:54:40Z</cp:lastPrinted>
  <dcterms:created xsi:type="dcterms:W3CDTF">2007-02-15T20:50:52Z</dcterms:created>
  <dcterms:modified xsi:type="dcterms:W3CDTF">2023-11-05T14:37:52Z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