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2"/>
  </p:notesMasterIdLst>
  <p:handoutMasterIdLst>
    <p:handoutMasterId r:id="rId33"/>
  </p:handoutMasterIdLst>
  <p:sldIdLst>
    <p:sldId id="291" r:id="rId2"/>
    <p:sldId id="289" r:id="rId3"/>
    <p:sldId id="259" r:id="rId4"/>
    <p:sldId id="262" r:id="rId5"/>
    <p:sldId id="260" r:id="rId6"/>
    <p:sldId id="257" r:id="rId7"/>
    <p:sldId id="263" r:id="rId8"/>
    <p:sldId id="264" r:id="rId9"/>
    <p:sldId id="265" r:id="rId10"/>
    <p:sldId id="266" r:id="rId11"/>
    <p:sldId id="288"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6" autoAdjust="0"/>
    <p:restoredTop sz="94210" autoAdjust="0"/>
  </p:normalViewPr>
  <p:slideViewPr>
    <p:cSldViewPr>
      <p:cViewPr>
        <p:scale>
          <a:sx n="100" d="100"/>
          <a:sy n="100" d="100"/>
        </p:scale>
        <p:origin x="1584" y="3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9/22/2023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9/22/2023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102"/>
            <a:ext cx="7747000" cy="1229567"/>
          </a:xfrm>
        </p:spPr>
        <p:txBody>
          <a:bodyPr anchor="ctr"/>
          <a:lstStyle/>
          <a:p>
            <a:r>
              <a:rPr lang="en-US" sz="4700" b="1" dirty="0"/>
              <a:t>Ethics in Information </a:t>
            </a:r>
            <a:r>
              <a:rPr lang="en-US" sz="4700" b="1" dirty="0" smtClean="0"/>
              <a:t>Technology</a:t>
            </a:r>
            <a:r>
              <a:rPr lang="tr-TR" sz="4700" b="1" dirty="0" smtClean="0"/>
              <a:t/>
            </a:r>
            <a:br>
              <a:rPr lang="tr-TR" sz="4700" b="1" dirty="0" smtClean="0"/>
            </a:br>
            <a:r>
              <a:rPr lang="en-US" sz="4700" b="1" dirty="0" err="1" smtClean="0"/>
              <a:t>Bili</a:t>
            </a:r>
            <a:r>
              <a:rPr lang="tr-TR" sz="4700" b="1" dirty="0" err="1" smtClean="0"/>
              <a:t>şim</a:t>
            </a:r>
            <a:r>
              <a:rPr lang="en-US" sz="4700" b="1" dirty="0" smtClean="0"/>
              <a:t> </a:t>
            </a:r>
            <a:r>
              <a:rPr lang="en-US" sz="4700" b="1" dirty="0" err="1" smtClean="0"/>
              <a:t>Teknoloji</a:t>
            </a:r>
            <a:r>
              <a:rPr lang="tr-TR" sz="4700" b="1" dirty="0" err="1" smtClean="0"/>
              <a:t>lerinde</a:t>
            </a:r>
            <a:r>
              <a:rPr lang="en-US" sz="4700" b="1" dirty="0" smtClean="0"/>
              <a:t> </a:t>
            </a:r>
            <a:r>
              <a:rPr lang="en-US" sz="4700" b="1" dirty="0" err="1" smtClean="0"/>
              <a:t>Etik</a:t>
            </a:r>
            <a:endParaRPr lang="en-US" sz="4700" dirty="0"/>
          </a:p>
        </p:txBody>
      </p:sp>
      <p:sp>
        <p:nvSpPr>
          <p:cNvPr id="3" name="Subtitle 2"/>
          <p:cNvSpPr>
            <a:spLocks noGrp="1"/>
          </p:cNvSpPr>
          <p:nvPr>
            <p:ph type="subTitle" idx="1"/>
          </p:nvPr>
        </p:nvSpPr>
        <p:spPr>
          <a:xfrm>
            <a:off x="609600" y="3124200"/>
            <a:ext cx="7747000" cy="1989391"/>
          </a:xfrm>
        </p:spPr>
        <p:txBody>
          <a:bodyPr/>
          <a:lstStyle/>
          <a:p>
            <a:r>
              <a:rPr lang="en-US" sz="3400" dirty="0"/>
              <a:t>Chapter </a:t>
            </a:r>
            <a:r>
              <a:rPr lang="en-US" sz="3400" dirty="0" smtClean="0"/>
              <a:t>1</a:t>
            </a:r>
            <a:r>
              <a:rPr lang="tr-TR" sz="3400" dirty="0" smtClean="0"/>
              <a:t>-</a:t>
            </a:r>
            <a:r>
              <a:rPr lang="en-US" sz="3400" dirty="0" err="1" smtClean="0"/>
              <a:t>Bölüm</a:t>
            </a:r>
            <a:r>
              <a:rPr lang="en-US" sz="3400" dirty="0" smtClean="0"/>
              <a:t> 1 </a:t>
            </a:r>
            <a:endParaRPr lang="tr-TR" sz="3400" dirty="0" smtClean="0"/>
          </a:p>
          <a:p>
            <a:r>
              <a:rPr lang="en-US" sz="3600" b="1" dirty="0"/>
              <a:t>An Overview of </a:t>
            </a:r>
            <a:r>
              <a:rPr lang="en-US" sz="3600" b="1" dirty="0" smtClean="0"/>
              <a:t>Ethics</a:t>
            </a:r>
            <a:r>
              <a:rPr lang="tr-TR" sz="3600" b="1" dirty="0" smtClean="0"/>
              <a:t>-</a:t>
            </a:r>
            <a:r>
              <a:rPr lang="en-US" sz="3400" dirty="0" err="1" smtClean="0"/>
              <a:t>Eti</a:t>
            </a:r>
            <a:r>
              <a:rPr lang="tr-TR" sz="3400" dirty="0" smtClean="0"/>
              <a:t>ğ</a:t>
            </a:r>
            <a:r>
              <a:rPr lang="en-US" sz="3400" dirty="0" smtClean="0"/>
              <a:t>e </a:t>
            </a:r>
            <a:r>
              <a:rPr lang="en-US" sz="3400" dirty="0" err="1" smtClean="0"/>
              <a:t>Genel</a:t>
            </a:r>
            <a:r>
              <a:rPr lang="en-US" sz="3400" dirty="0" smtClean="0"/>
              <a:t> </a:t>
            </a:r>
            <a:r>
              <a:rPr lang="en-US" sz="3400" dirty="0" err="1" smtClean="0"/>
              <a:t>Bakış</a:t>
            </a:r>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70757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198694"/>
            <a:ext cx="5954244" cy="1046440"/>
          </a:xfrm>
        </p:spPr>
        <p:txBody>
          <a:bodyPr/>
          <a:lstStyle/>
          <a:p>
            <a:r>
              <a:rPr lang="en-US" sz="4000" dirty="0"/>
              <a:t>Learning Objectives, Part </a:t>
            </a:r>
            <a:r>
              <a:rPr lang="en-US" sz="4000" dirty="0" smtClean="0"/>
              <a:t>1</a:t>
            </a:r>
            <a:r>
              <a:rPr lang="tr-TR" sz="4000" dirty="0" smtClean="0"/>
              <a:t/>
            </a:r>
            <a:br>
              <a:rPr lang="tr-TR" sz="4000" dirty="0" smtClean="0"/>
            </a:br>
            <a:r>
              <a:rPr lang="en-US" sz="4000" dirty="0" err="1" smtClean="0"/>
              <a:t>Öğrenme</a:t>
            </a:r>
            <a:r>
              <a:rPr lang="en-US" sz="4000" dirty="0" smtClean="0"/>
              <a:t> </a:t>
            </a:r>
            <a:r>
              <a:rPr lang="en-US" sz="4000" dirty="0" err="1" smtClean="0"/>
              <a:t>Hedefleri</a:t>
            </a:r>
            <a:r>
              <a:rPr lang="en-US" sz="4000" dirty="0" smtClean="0"/>
              <a:t>, </a:t>
            </a:r>
            <a:r>
              <a:rPr lang="en-US" sz="4000" dirty="0" err="1" smtClean="0"/>
              <a:t>Bölüm</a:t>
            </a:r>
            <a:r>
              <a:rPr lang="en-US" sz="4000" dirty="0" smtClean="0"/>
              <a:t> 1</a:t>
            </a:r>
            <a:endParaRPr lang="en-US" sz="4000" dirty="0"/>
          </a:p>
        </p:txBody>
      </p:sp>
      <p:sp>
        <p:nvSpPr>
          <p:cNvPr id="4" name="Content Placeholder 3"/>
          <p:cNvSpPr>
            <a:spLocks noGrp="1"/>
          </p:cNvSpPr>
          <p:nvPr>
            <p:ph type="body" idx="1"/>
          </p:nvPr>
        </p:nvSpPr>
        <p:spPr>
          <a:xfrm>
            <a:off x="2425131" y="1143000"/>
            <a:ext cx="6337869" cy="4118948"/>
          </a:xfrm>
        </p:spPr>
        <p:txBody>
          <a:bodyPr/>
          <a:lstStyle/>
          <a:p>
            <a:pPr marL="457200" indent="-457200">
              <a:lnSpc>
                <a:spcPct val="150000"/>
              </a:lnSpc>
              <a:buFont typeface="Arial" panose="020B0604020202020204" pitchFamily="34" charset="0"/>
              <a:buChar char="•"/>
            </a:pPr>
            <a:r>
              <a:rPr lang="en-US" sz="2800" dirty="0" err="1" smtClean="0">
                <a:solidFill>
                  <a:schemeClr val="tx1"/>
                </a:solidFill>
              </a:rPr>
              <a:t>Etik</a:t>
            </a:r>
            <a:r>
              <a:rPr lang="en-US" sz="2800" dirty="0" smtClean="0">
                <a:solidFill>
                  <a:schemeClr val="tx1"/>
                </a:solidFill>
              </a:rPr>
              <a:t> </a:t>
            </a:r>
            <a:r>
              <a:rPr lang="en-US" sz="2800" dirty="0" err="1" smtClean="0">
                <a:solidFill>
                  <a:schemeClr val="tx1"/>
                </a:solidFill>
              </a:rPr>
              <a:t>nedir</a:t>
            </a:r>
            <a:r>
              <a:rPr lang="en-US" sz="2800" dirty="0" smtClean="0">
                <a:solidFill>
                  <a:schemeClr val="tx1"/>
                </a:solidFill>
              </a:rPr>
              <a:t>? </a:t>
            </a:r>
            <a:endParaRPr lang="tr-TR" sz="2800" dirty="0" smtClean="0">
              <a:solidFill>
                <a:schemeClr val="tx1"/>
              </a:solidFill>
            </a:endParaRPr>
          </a:p>
          <a:p>
            <a:pPr marL="457200" indent="-457200">
              <a:lnSpc>
                <a:spcPct val="150000"/>
              </a:lnSpc>
              <a:buFont typeface="Arial" panose="020B0604020202020204" pitchFamily="34" charset="0"/>
              <a:buChar char="•"/>
            </a:pPr>
            <a:r>
              <a:rPr lang="en-US" sz="2800" dirty="0" err="1" smtClean="0">
                <a:solidFill>
                  <a:schemeClr val="tx1"/>
                </a:solidFill>
              </a:rPr>
              <a:t>Hangi</a:t>
            </a:r>
            <a:r>
              <a:rPr lang="en-US" sz="2800" dirty="0" smtClean="0">
                <a:solidFill>
                  <a:schemeClr val="tx1"/>
                </a:solidFill>
              </a:rPr>
              <a:t> </a:t>
            </a:r>
            <a:r>
              <a:rPr lang="en-US" sz="2800" dirty="0" err="1" smtClean="0">
                <a:solidFill>
                  <a:schemeClr val="tx1"/>
                </a:solidFill>
              </a:rPr>
              <a:t>eğilimler</a:t>
            </a:r>
            <a:r>
              <a:rPr lang="en-US" sz="2800" dirty="0" smtClean="0">
                <a:solidFill>
                  <a:schemeClr val="tx1"/>
                </a:solidFill>
              </a:rPr>
              <a:t> </a:t>
            </a:r>
            <a:r>
              <a:rPr lang="en-US" sz="2800" dirty="0" err="1" smtClean="0">
                <a:solidFill>
                  <a:schemeClr val="tx1"/>
                </a:solidFill>
              </a:rPr>
              <a:t>etik</a:t>
            </a:r>
            <a:r>
              <a:rPr lang="en-US" sz="2800" dirty="0" smtClean="0">
                <a:solidFill>
                  <a:schemeClr val="tx1"/>
                </a:solidFill>
              </a:rPr>
              <a:t> </a:t>
            </a:r>
            <a:r>
              <a:rPr lang="en-US" sz="2800" dirty="0" err="1" smtClean="0">
                <a:solidFill>
                  <a:schemeClr val="tx1"/>
                </a:solidFill>
              </a:rPr>
              <a:t>olmayan</a:t>
            </a:r>
            <a:r>
              <a:rPr lang="en-US" sz="2800" dirty="0" smtClean="0">
                <a:solidFill>
                  <a:schemeClr val="tx1"/>
                </a:solidFill>
              </a:rPr>
              <a:t> </a:t>
            </a:r>
            <a:r>
              <a:rPr lang="en-US" sz="2800" dirty="0" err="1" smtClean="0">
                <a:solidFill>
                  <a:schemeClr val="tx1"/>
                </a:solidFill>
              </a:rPr>
              <a:t>davranış</a:t>
            </a:r>
            <a:r>
              <a:rPr lang="en-US" sz="2800" dirty="0" smtClean="0">
                <a:solidFill>
                  <a:schemeClr val="tx1"/>
                </a:solidFill>
              </a:rPr>
              <a:t> </a:t>
            </a:r>
            <a:r>
              <a:rPr lang="en-US" sz="2800" dirty="0" err="1" smtClean="0">
                <a:solidFill>
                  <a:schemeClr val="tx1"/>
                </a:solidFill>
              </a:rPr>
              <a:t>olasılığını</a:t>
            </a:r>
            <a:r>
              <a:rPr lang="en-US" sz="2800" dirty="0" smtClean="0">
                <a:solidFill>
                  <a:schemeClr val="tx1"/>
                </a:solidFill>
              </a:rPr>
              <a:t> </a:t>
            </a:r>
            <a:r>
              <a:rPr lang="en-US" sz="2800" dirty="0" err="1" smtClean="0">
                <a:solidFill>
                  <a:schemeClr val="tx1"/>
                </a:solidFill>
              </a:rPr>
              <a:t>artırdı</a:t>
            </a:r>
            <a:r>
              <a:rPr lang="en-US" sz="2800" dirty="0" smtClean="0">
                <a:solidFill>
                  <a:schemeClr val="tx1"/>
                </a:solidFill>
              </a:rPr>
              <a:t>? </a:t>
            </a:r>
            <a:endParaRPr lang="tr-TR" sz="2800" dirty="0" smtClean="0">
              <a:solidFill>
                <a:schemeClr val="tx1"/>
              </a:solidFill>
            </a:endParaRPr>
          </a:p>
          <a:p>
            <a:pPr marL="457200" indent="-457200">
              <a:lnSpc>
                <a:spcPct val="150000"/>
              </a:lnSpc>
              <a:buFont typeface="Arial" panose="020B0604020202020204" pitchFamily="34" charset="0"/>
              <a:buChar char="•"/>
            </a:pPr>
            <a:r>
              <a:rPr lang="en-US" sz="2800" dirty="0" err="1" smtClean="0">
                <a:solidFill>
                  <a:schemeClr val="tx1"/>
                </a:solidFill>
              </a:rPr>
              <a:t>Kurumsal</a:t>
            </a:r>
            <a:r>
              <a:rPr lang="en-US" sz="2800" dirty="0" smtClean="0">
                <a:solidFill>
                  <a:schemeClr val="tx1"/>
                </a:solidFill>
              </a:rPr>
              <a:t> </a:t>
            </a:r>
            <a:r>
              <a:rPr lang="en-US" sz="2800" dirty="0" err="1" smtClean="0">
                <a:solidFill>
                  <a:schemeClr val="tx1"/>
                </a:solidFill>
              </a:rPr>
              <a:t>sosyal</a:t>
            </a:r>
            <a:r>
              <a:rPr lang="en-US" sz="2800" dirty="0" smtClean="0">
                <a:solidFill>
                  <a:schemeClr val="tx1"/>
                </a:solidFill>
              </a:rPr>
              <a:t> </a:t>
            </a:r>
            <a:r>
              <a:rPr lang="en-US" sz="2800" dirty="0" err="1" smtClean="0">
                <a:solidFill>
                  <a:schemeClr val="tx1"/>
                </a:solidFill>
              </a:rPr>
              <a:t>sorumluluk</a:t>
            </a:r>
            <a:r>
              <a:rPr lang="en-US" sz="2800" dirty="0" smtClean="0">
                <a:solidFill>
                  <a:schemeClr val="tx1"/>
                </a:solidFill>
              </a:rPr>
              <a:t> </a:t>
            </a:r>
            <a:r>
              <a:rPr lang="en-US" sz="2800" dirty="0" err="1" smtClean="0">
                <a:solidFill>
                  <a:schemeClr val="tx1"/>
                </a:solidFill>
              </a:rPr>
              <a:t>nedir</a:t>
            </a:r>
            <a:r>
              <a:rPr lang="en-US" sz="2800" dirty="0" smtClean="0">
                <a:solidFill>
                  <a:schemeClr val="tx1"/>
                </a:solidFill>
              </a:rPr>
              <a:t> ve </a:t>
            </a:r>
            <a:r>
              <a:rPr lang="en-US" sz="2800" dirty="0" err="1" smtClean="0">
                <a:solidFill>
                  <a:schemeClr val="tx1"/>
                </a:solidFill>
              </a:rPr>
              <a:t>iyi</a:t>
            </a:r>
            <a:r>
              <a:rPr lang="en-US" sz="2800" dirty="0" smtClean="0">
                <a:solidFill>
                  <a:schemeClr val="tx1"/>
                </a:solidFill>
              </a:rPr>
              <a:t> </a:t>
            </a:r>
            <a:r>
              <a:rPr lang="en-US" sz="2800" dirty="0" err="1" smtClean="0">
                <a:solidFill>
                  <a:schemeClr val="tx1"/>
                </a:solidFill>
              </a:rPr>
              <a:t>iş</a:t>
            </a:r>
            <a:r>
              <a:rPr lang="en-US" sz="2800" dirty="0" smtClean="0">
                <a:solidFill>
                  <a:schemeClr val="tx1"/>
                </a:solidFill>
              </a:rPr>
              <a:t> </a:t>
            </a:r>
            <a:r>
              <a:rPr lang="en-US" sz="2800" dirty="0" err="1" smtClean="0">
                <a:solidFill>
                  <a:schemeClr val="tx1"/>
                </a:solidFill>
              </a:rPr>
              <a:t>ahlakını</a:t>
            </a:r>
            <a:r>
              <a:rPr lang="en-US" sz="2800" dirty="0" smtClean="0">
                <a:solidFill>
                  <a:schemeClr val="tx1"/>
                </a:solidFill>
              </a:rPr>
              <a:t> </a:t>
            </a:r>
            <a:r>
              <a:rPr lang="en-US" sz="2800" dirty="0" err="1" smtClean="0">
                <a:solidFill>
                  <a:schemeClr val="tx1"/>
                </a:solidFill>
              </a:rPr>
              <a:t>teşvik</a:t>
            </a:r>
            <a:r>
              <a:rPr lang="en-US" sz="2800" dirty="0" smtClean="0">
                <a:solidFill>
                  <a:schemeClr val="tx1"/>
                </a:solidFill>
              </a:rPr>
              <a:t> </a:t>
            </a:r>
            <a:r>
              <a:rPr lang="en-US" sz="2800" dirty="0" err="1" smtClean="0">
                <a:solidFill>
                  <a:schemeClr val="tx1"/>
                </a:solidFill>
              </a:rPr>
              <a:t>etmek</a:t>
            </a:r>
            <a:r>
              <a:rPr lang="en-US" sz="2800" dirty="0" smtClean="0">
                <a:solidFill>
                  <a:schemeClr val="tx1"/>
                </a:solidFill>
              </a:rPr>
              <a:t> </a:t>
            </a:r>
            <a:r>
              <a:rPr lang="en-US" sz="2800" dirty="0" err="1" smtClean="0">
                <a:solidFill>
                  <a:schemeClr val="tx1"/>
                </a:solidFill>
              </a:rPr>
              <a:t>neden</a:t>
            </a:r>
            <a:r>
              <a:rPr lang="en-US" sz="2800" dirty="0" smtClean="0">
                <a:solidFill>
                  <a:schemeClr val="tx1"/>
                </a:solidFill>
              </a:rPr>
              <a:t> </a:t>
            </a:r>
            <a:r>
              <a:rPr lang="en-US" sz="2800" dirty="0" err="1" smtClean="0">
                <a:solidFill>
                  <a:schemeClr val="tx1"/>
                </a:solidFill>
              </a:rPr>
              <a:t>önemlidir</a:t>
            </a:r>
            <a:r>
              <a:rPr lang="en-US" sz="2800" dirty="0" smtClean="0">
                <a:solidFill>
                  <a:schemeClr val="tx1"/>
                </a:solidFill>
              </a:rPr>
              <a:t>?</a:t>
            </a:r>
            <a:endParaRPr lang="en-US" sz="2800" dirty="0">
              <a:solidFill>
                <a:schemeClr val="tx1"/>
              </a:solidFill>
            </a:endParaRP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1880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7170" y="236609"/>
            <a:ext cx="6117230" cy="1051057"/>
          </a:xfrm>
        </p:spPr>
        <p:txBody>
          <a:bodyPr/>
          <a:lstStyle/>
          <a:p>
            <a:r>
              <a:rPr lang="en-US" sz="4000" dirty="0"/>
              <a:t>Learning Objectives, Part </a:t>
            </a:r>
            <a:r>
              <a:rPr lang="en-US" sz="4000" dirty="0" smtClean="0"/>
              <a:t>2</a:t>
            </a:r>
            <a:r>
              <a:rPr lang="tr-TR" sz="4000" dirty="0" smtClean="0"/>
              <a:t/>
            </a:r>
            <a:br>
              <a:rPr lang="tr-TR" sz="4000" dirty="0" smtClean="0"/>
            </a:br>
            <a:r>
              <a:rPr lang="en-US" sz="4000" dirty="0" err="1" smtClean="0"/>
              <a:t>Öğrenme</a:t>
            </a:r>
            <a:r>
              <a:rPr lang="en-US" sz="4000" dirty="0" smtClean="0"/>
              <a:t> </a:t>
            </a:r>
            <a:r>
              <a:rPr lang="en-US" sz="4000" dirty="0" err="1" smtClean="0"/>
              <a:t>Hedefleri</a:t>
            </a:r>
            <a:r>
              <a:rPr lang="en-US" sz="4000" dirty="0" smtClean="0"/>
              <a:t>, </a:t>
            </a:r>
            <a:r>
              <a:rPr lang="en-US" sz="4000" dirty="0" err="1" smtClean="0"/>
              <a:t>Bölüm</a:t>
            </a:r>
            <a:r>
              <a:rPr lang="en-US" sz="4000" dirty="0" smtClean="0"/>
              <a:t> 2</a:t>
            </a:r>
            <a:endParaRPr lang="en-US" sz="4000" dirty="0"/>
          </a:p>
        </p:txBody>
      </p:sp>
      <p:sp>
        <p:nvSpPr>
          <p:cNvPr id="4" name="Content Placeholder 3"/>
          <p:cNvSpPr>
            <a:spLocks noGrp="1"/>
          </p:cNvSpPr>
          <p:nvPr>
            <p:ph type="body" idx="1"/>
          </p:nvPr>
        </p:nvSpPr>
        <p:spPr>
          <a:xfrm>
            <a:off x="2417170" y="1295400"/>
            <a:ext cx="6345830" cy="3323987"/>
          </a:xfrm>
        </p:spPr>
        <p:txBody>
          <a:bodyPr/>
          <a:lstStyle/>
          <a:p>
            <a:pPr marL="457200" indent="-457200">
              <a:lnSpc>
                <a:spcPct val="100000"/>
              </a:lnSpc>
              <a:buFont typeface="Arial" panose="020B0604020202020204" pitchFamily="34" charset="0"/>
              <a:buChar char="•"/>
            </a:pPr>
            <a:r>
              <a:rPr lang="en-US" sz="2800" dirty="0" err="1" smtClean="0">
                <a:solidFill>
                  <a:schemeClr val="tx1"/>
                </a:solidFill>
              </a:rPr>
              <a:t>Kuruluşlar</a:t>
            </a:r>
            <a:r>
              <a:rPr lang="en-US" sz="2800" dirty="0" smtClean="0">
                <a:solidFill>
                  <a:schemeClr val="tx1"/>
                </a:solidFill>
              </a:rPr>
              <a:t> </a:t>
            </a:r>
            <a:r>
              <a:rPr lang="en-US" sz="2800" dirty="0" err="1" smtClean="0">
                <a:solidFill>
                  <a:schemeClr val="tx1"/>
                </a:solidFill>
              </a:rPr>
              <a:t>iş</a:t>
            </a:r>
            <a:r>
              <a:rPr lang="en-US" sz="2800" dirty="0" smtClean="0">
                <a:solidFill>
                  <a:schemeClr val="tx1"/>
                </a:solidFill>
              </a:rPr>
              <a:t> </a:t>
            </a:r>
            <a:r>
              <a:rPr lang="en-US" sz="2800" dirty="0" err="1" smtClean="0">
                <a:solidFill>
                  <a:schemeClr val="tx1"/>
                </a:solidFill>
              </a:rPr>
              <a:t>ahlaklarını</a:t>
            </a:r>
            <a:r>
              <a:rPr lang="en-US" sz="2800" dirty="0" smtClean="0">
                <a:solidFill>
                  <a:schemeClr val="tx1"/>
                </a:solidFill>
              </a:rPr>
              <a:t> </a:t>
            </a:r>
            <a:r>
              <a:rPr lang="en-US" sz="2800" dirty="0" err="1" smtClean="0">
                <a:solidFill>
                  <a:schemeClr val="tx1"/>
                </a:solidFill>
              </a:rPr>
              <a:t>geliştirmek</a:t>
            </a:r>
            <a:r>
              <a:rPr lang="en-US" sz="2800" dirty="0" smtClean="0">
                <a:solidFill>
                  <a:schemeClr val="tx1"/>
                </a:solidFill>
              </a:rPr>
              <a:t> </a:t>
            </a:r>
            <a:r>
              <a:rPr lang="en-US" sz="2800" dirty="0" err="1" smtClean="0">
                <a:solidFill>
                  <a:schemeClr val="tx1"/>
                </a:solidFill>
              </a:rPr>
              <a:t>için</a:t>
            </a:r>
            <a:r>
              <a:rPr lang="en-US" sz="2800" dirty="0" smtClean="0">
                <a:solidFill>
                  <a:schemeClr val="tx1"/>
                </a:solidFill>
              </a:rPr>
              <a:t> ne </a:t>
            </a:r>
            <a:r>
              <a:rPr lang="en-US" sz="2800" dirty="0" err="1" smtClean="0">
                <a:solidFill>
                  <a:schemeClr val="tx1"/>
                </a:solidFill>
              </a:rPr>
              <a:t>gibi</a:t>
            </a:r>
            <a:r>
              <a:rPr lang="en-US" sz="2800" dirty="0" smtClean="0">
                <a:solidFill>
                  <a:schemeClr val="tx1"/>
                </a:solidFill>
              </a:rPr>
              <a:t> </a:t>
            </a:r>
            <a:r>
              <a:rPr lang="en-US" sz="2800" dirty="0" err="1" smtClean="0">
                <a:solidFill>
                  <a:schemeClr val="tx1"/>
                </a:solidFill>
              </a:rPr>
              <a:t>önlemler</a:t>
            </a:r>
            <a:r>
              <a:rPr lang="en-US" sz="2800" dirty="0" smtClean="0">
                <a:solidFill>
                  <a:schemeClr val="tx1"/>
                </a:solidFill>
              </a:rPr>
              <a:t> </a:t>
            </a:r>
            <a:r>
              <a:rPr lang="en-US" sz="2800" dirty="0" err="1" smtClean="0">
                <a:solidFill>
                  <a:schemeClr val="tx1"/>
                </a:solidFill>
              </a:rPr>
              <a:t>alabilir</a:t>
            </a:r>
            <a:r>
              <a:rPr lang="en-US" sz="2800" dirty="0" smtClean="0">
                <a:solidFill>
                  <a:schemeClr val="tx1"/>
                </a:solidFill>
              </a:rPr>
              <a:t>? </a:t>
            </a:r>
            <a:endParaRPr lang="tr-TR" sz="2800" dirty="0" smtClean="0">
              <a:solidFill>
                <a:schemeClr val="tx1"/>
              </a:solidFill>
            </a:endParaRPr>
          </a:p>
          <a:p>
            <a:pPr marL="457200" indent="-457200">
              <a:lnSpc>
                <a:spcPct val="100000"/>
              </a:lnSpc>
              <a:buFont typeface="Arial" panose="020B0604020202020204" pitchFamily="34" charset="0"/>
              <a:buChar char="•"/>
            </a:pPr>
            <a:r>
              <a:rPr lang="en-US" sz="2800" dirty="0" err="1" smtClean="0">
                <a:solidFill>
                  <a:schemeClr val="tx1"/>
                </a:solidFill>
              </a:rPr>
              <a:t>Etik</a:t>
            </a:r>
            <a:r>
              <a:rPr lang="en-US" sz="2800" dirty="0" smtClean="0">
                <a:solidFill>
                  <a:schemeClr val="tx1"/>
                </a:solidFill>
              </a:rPr>
              <a:t> </a:t>
            </a:r>
            <a:r>
              <a:rPr lang="en-US" sz="2800" dirty="0" err="1" smtClean="0">
                <a:solidFill>
                  <a:schemeClr val="tx1"/>
                </a:solidFill>
              </a:rPr>
              <a:t>hususları</a:t>
            </a:r>
            <a:r>
              <a:rPr lang="en-US" sz="2800" dirty="0" smtClean="0">
                <a:solidFill>
                  <a:schemeClr val="tx1"/>
                </a:solidFill>
              </a:rPr>
              <a:t> </a:t>
            </a:r>
            <a:r>
              <a:rPr lang="en-US" sz="2800" dirty="0" err="1" smtClean="0">
                <a:solidFill>
                  <a:schemeClr val="tx1"/>
                </a:solidFill>
              </a:rPr>
              <a:t>karar</a:t>
            </a:r>
            <a:r>
              <a:rPr lang="en-US" sz="2800" dirty="0" smtClean="0">
                <a:solidFill>
                  <a:schemeClr val="tx1"/>
                </a:solidFill>
              </a:rPr>
              <a:t> </a:t>
            </a:r>
            <a:r>
              <a:rPr lang="en-US" sz="2800" dirty="0" err="1" smtClean="0">
                <a:solidFill>
                  <a:schemeClr val="tx1"/>
                </a:solidFill>
              </a:rPr>
              <a:t>verme</a:t>
            </a:r>
            <a:r>
              <a:rPr lang="en-US" sz="2800" dirty="0" smtClean="0">
                <a:solidFill>
                  <a:schemeClr val="tx1"/>
                </a:solidFill>
              </a:rPr>
              <a:t> </a:t>
            </a:r>
            <a:r>
              <a:rPr lang="en-US" sz="2800" dirty="0" err="1" smtClean="0">
                <a:solidFill>
                  <a:schemeClr val="tx1"/>
                </a:solidFill>
              </a:rPr>
              <a:t>sürecinize</a:t>
            </a:r>
            <a:r>
              <a:rPr lang="en-US" sz="2800" dirty="0" smtClean="0">
                <a:solidFill>
                  <a:schemeClr val="tx1"/>
                </a:solidFill>
              </a:rPr>
              <a:t> </a:t>
            </a:r>
            <a:r>
              <a:rPr lang="en-US" sz="2800" dirty="0" err="1" smtClean="0">
                <a:solidFill>
                  <a:schemeClr val="tx1"/>
                </a:solidFill>
              </a:rPr>
              <a:t>nasıl</a:t>
            </a:r>
            <a:r>
              <a:rPr lang="en-US" sz="2800" dirty="0" smtClean="0">
                <a:solidFill>
                  <a:schemeClr val="tx1"/>
                </a:solidFill>
              </a:rPr>
              <a:t> </a:t>
            </a:r>
            <a:r>
              <a:rPr lang="en-US" sz="2800" dirty="0" err="1" smtClean="0">
                <a:solidFill>
                  <a:schemeClr val="tx1"/>
                </a:solidFill>
              </a:rPr>
              <a:t>dahil</a:t>
            </a:r>
            <a:r>
              <a:rPr lang="en-US" sz="2800" dirty="0" smtClean="0">
                <a:solidFill>
                  <a:schemeClr val="tx1"/>
                </a:solidFill>
              </a:rPr>
              <a:t> </a:t>
            </a:r>
            <a:r>
              <a:rPr lang="en-US" sz="2800" dirty="0" err="1" smtClean="0">
                <a:solidFill>
                  <a:schemeClr val="tx1"/>
                </a:solidFill>
              </a:rPr>
              <a:t>edebilirsiniz</a:t>
            </a:r>
            <a:r>
              <a:rPr lang="en-US" sz="2800" dirty="0" smtClean="0">
                <a:solidFill>
                  <a:schemeClr val="tx1"/>
                </a:solidFill>
              </a:rPr>
              <a:t>? </a:t>
            </a:r>
            <a:endParaRPr lang="tr-TR" sz="2800" dirty="0" smtClean="0">
              <a:solidFill>
                <a:schemeClr val="tx1"/>
              </a:solidFill>
            </a:endParaRPr>
          </a:p>
          <a:p>
            <a:pPr marL="457200" indent="-457200">
              <a:lnSpc>
                <a:spcPct val="100000"/>
              </a:lnSpc>
              <a:buFont typeface="Arial" panose="020B0604020202020204" pitchFamily="34" charset="0"/>
              <a:buChar char="•"/>
            </a:pPr>
            <a:r>
              <a:rPr lang="en-US" sz="2800" dirty="0" err="1" smtClean="0">
                <a:solidFill>
                  <a:schemeClr val="tx1"/>
                </a:solidFill>
              </a:rPr>
              <a:t>Hangi</a:t>
            </a:r>
            <a:r>
              <a:rPr lang="en-US" sz="2800" dirty="0" smtClean="0">
                <a:solidFill>
                  <a:schemeClr val="tx1"/>
                </a:solidFill>
              </a:rPr>
              <a:t> </a:t>
            </a:r>
            <a:r>
              <a:rPr lang="en-US" sz="2800" dirty="0" err="1" smtClean="0">
                <a:solidFill>
                  <a:schemeClr val="tx1"/>
                </a:solidFill>
              </a:rPr>
              <a:t>eğilimler</a:t>
            </a:r>
            <a:r>
              <a:rPr lang="en-US" sz="2800" dirty="0" smtClean="0">
                <a:solidFill>
                  <a:schemeClr val="tx1"/>
                </a:solidFill>
              </a:rPr>
              <a:t> </a:t>
            </a:r>
            <a:r>
              <a:rPr lang="en-US" sz="2800" dirty="0" err="1" smtClean="0">
                <a:solidFill>
                  <a:schemeClr val="tx1"/>
                </a:solidFill>
              </a:rPr>
              <a:t>bilgi</a:t>
            </a:r>
            <a:r>
              <a:rPr lang="en-US" sz="2800" dirty="0" smtClean="0">
                <a:solidFill>
                  <a:schemeClr val="tx1"/>
                </a:solidFill>
              </a:rPr>
              <a:t> </a:t>
            </a:r>
            <a:r>
              <a:rPr lang="en-US" sz="2800" dirty="0" err="1" smtClean="0">
                <a:solidFill>
                  <a:schemeClr val="tx1"/>
                </a:solidFill>
              </a:rPr>
              <a:t>teknolojisinin</a:t>
            </a:r>
            <a:r>
              <a:rPr lang="en-US" sz="2800" dirty="0" smtClean="0">
                <a:solidFill>
                  <a:schemeClr val="tx1"/>
                </a:solidFill>
              </a:rPr>
              <a:t> </a:t>
            </a:r>
            <a:r>
              <a:rPr lang="en-US" sz="2800" dirty="0" err="1" smtClean="0">
                <a:solidFill>
                  <a:schemeClr val="tx1"/>
                </a:solidFill>
              </a:rPr>
              <a:t>etik</a:t>
            </a:r>
            <a:r>
              <a:rPr lang="en-US" sz="2800" dirty="0" smtClean="0">
                <a:solidFill>
                  <a:schemeClr val="tx1"/>
                </a:solidFill>
              </a:rPr>
              <a:t> </a:t>
            </a:r>
            <a:r>
              <a:rPr lang="en-US" sz="2800" dirty="0" err="1" smtClean="0">
                <a:solidFill>
                  <a:schemeClr val="tx1"/>
                </a:solidFill>
              </a:rPr>
              <a:t>olmayan</a:t>
            </a:r>
            <a:r>
              <a:rPr lang="en-US" sz="2800" dirty="0" smtClean="0">
                <a:solidFill>
                  <a:schemeClr val="tx1"/>
                </a:solidFill>
              </a:rPr>
              <a:t> </a:t>
            </a:r>
            <a:r>
              <a:rPr lang="en-US" sz="2800" dirty="0" err="1" smtClean="0">
                <a:solidFill>
                  <a:schemeClr val="tx1"/>
                </a:solidFill>
              </a:rPr>
              <a:t>bir</a:t>
            </a:r>
            <a:r>
              <a:rPr lang="en-US" sz="2800" dirty="0" smtClean="0">
                <a:solidFill>
                  <a:schemeClr val="tx1"/>
                </a:solidFill>
              </a:rPr>
              <a:t> </a:t>
            </a:r>
            <a:r>
              <a:rPr lang="en-US" sz="2800" dirty="0" err="1" smtClean="0">
                <a:solidFill>
                  <a:schemeClr val="tx1"/>
                </a:solidFill>
              </a:rPr>
              <a:t>şekilde</a:t>
            </a:r>
            <a:r>
              <a:rPr lang="en-US" sz="2800" dirty="0" smtClean="0">
                <a:solidFill>
                  <a:schemeClr val="tx1"/>
                </a:solidFill>
              </a:rPr>
              <a:t> </a:t>
            </a:r>
            <a:r>
              <a:rPr lang="en-US" sz="2800" dirty="0" err="1" smtClean="0">
                <a:solidFill>
                  <a:schemeClr val="tx1"/>
                </a:solidFill>
              </a:rPr>
              <a:t>kullanılması</a:t>
            </a:r>
            <a:r>
              <a:rPr lang="en-US" sz="2800" dirty="0" smtClean="0">
                <a:solidFill>
                  <a:schemeClr val="tx1"/>
                </a:solidFill>
              </a:rPr>
              <a:t> </a:t>
            </a:r>
            <a:r>
              <a:rPr lang="en-US" sz="2800" dirty="0" err="1" smtClean="0">
                <a:solidFill>
                  <a:schemeClr val="tx1"/>
                </a:solidFill>
              </a:rPr>
              <a:t>riskini</a:t>
            </a:r>
            <a:r>
              <a:rPr lang="en-US" sz="2800" dirty="0" smtClean="0">
                <a:solidFill>
                  <a:schemeClr val="tx1"/>
                </a:solidFill>
              </a:rPr>
              <a:t> </a:t>
            </a:r>
            <a:r>
              <a:rPr lang="en-US" sz="2800" dirty="0" err="1" smtClean="0">
                <a:solidFill>
                  <a:schemeClr val="tx1"/>
                </a:solidFill>
              </a:rPr>
              <a:t>artırdı</a:t>
            </a:r>
            <a:r>
              <a:rPr lang="en-US" sz="2800" dirty="0" smtClean="0">
                <a:solidFill>
                  <a:schemeClr val="tx1"/>
                </a:solidFill>
              </a:rPr>
              <a:t>?</a:t>
            </a:r>
            <a:endParaRPr lang="en-US" sz="2800" dirty="0">
              <a:solidFill>
                <a:schemeClr val="tx1"/>
              </a:solidFill>
            </a:endParaRP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3348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65125" y="1538818"/>
            <a:ext cx="8415338" cy="4893647"/>
          </a:xfrm>
        </p:spPr>
        <p:txBody>
          <a:bodyPr/>
          <a:lstStyle/>
          <a:p>
            <a:pPr>
              <a:lnSpc>
                <a:spcPct val="100000"/>
              </a:lnSpc>
            </a:pPr>
            <a:r>
              <a:rPr lang="en-US" sz="3600" b="1" dirty="0" err="1">
                <a:solidFill>
                  <a:schemeClr val="accent2"/>
                </a:solidFill>
                <a:latin typeface="+mj-lt"/>
                <a:ea typeface="+mj-ea"/>
                <a:cs typeface="+mj-cs"/>
              </a:rPr>
              <a:t>Etik</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bireyin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ait</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olduğu</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grup</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tarafından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tanımlanan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davranış</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kuralları</a:t>
            </a:r>
            <a:r>
              <a:rPr lang="en-US" sz="3600" dirty="0">
                <a:solidFill>
                  <a:schemeClr val="accent2"/>
                </a:solidFill>
                <a:latin typeface="+mj-lt"/>
                <a:ea typeface="+mj-ea"/>
                <a:cs typeface="+mj-cs"/>
              </a:rPr>
              <a:t> </a:t>
            </a:r>
            <a:endParaRPr lang="tr-TR" sz="3600" dirty="0">
              <a:solidFill>
                <a:schemeClr val="accent2"/>
              </a:solidFill>
              <a:latin typeface="+mj-lt"/>
              <a:ea typeface="+mj-ea"/>
              <a:cs typeface="+mj-cs"/>
            </a:endParaRPr>
          </a:p>
          <a:p>
            <a:pPr>
              <a:lnSpc>
                <a:spcPct val="100000"/>
              </a:lnSpc>
            </a:pPr>
            <a:r>
              <a:rPr lang="en-US" sz="3600" b="1" dirty="0" err="1">
                <a:solidFill>
                  <a:schemeClr val="accent2"/>
                </a:solidFill>
                <a:latin typeface="+mj-lt"/>
                <a:ea typeface="+mj-ea"/>
                <a:cs typeface="+mj-cs"/>
              </a:rPr>
              <a:t>Ahlak</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bireyin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neyin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doğru</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neyin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yanlış</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olduğu</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konusundaki</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kararlarını</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dayandırdığı</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kişisel</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ilkeler</a:t>
            </a:r>
            <a:r>
              <a:rPr lang="en-US" sz="3600" dirty="0">
                <a:solidFill>
                  <a:schemeClr val="accent2"/>
                </a:solidFill>
                <a:latin typeface="+mj-lt"/>
                <a:ea typeface="+mj-ea"/>
                <a:cs typeface="+mj-cs"/>
              </a:rPr>
              <a:t> </a:t>
            </a:r>
            <a:endParaRPr lang="tr-TR" sz="3600" dirty="0">
              <a:solidFill>
                <a:schemeClr val="accent2"/>
              </a:solidFill>
              <a:latin typeface="+mj-lt"/>
              <a:ea typeface="+mj-ea"/>
              <a:cs typeface="+mj-cs"/>
            </a:endParaRPr>
          </a:p>
          <a:p>
            <a:pPr>
              <a:lnSpc>
                <a:spcPct val="100000"/>
              </a:lnSpc>
            </a:pPr>
            <a:r>
              <a:rPr lang="en-US" sz="3600" b="1" dirty="0" err="1">
                <a:solidFill>
                  <a:schemeClr val="accent2"/>
                </a:solidFill>
                <a:latin typeface="+mj-lt"/>
                <a:ea typeface="+mj-ea"/>
                <a:cs typeface="+mj-cs"/>
              </a:rPr>
              <a:t>Erdem</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İnsanları</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kabul</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edilebilir</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olanı</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yapmaya</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yönelten</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bir</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alışkanlık</a:t>
            </a:r>
            <a:r>
              <a:rPr lang="en-US" sz="3600" dirty="0">
                <a:solidFill>
                  <a:schemeClr val="accent2"/>
                </a:solidFill>
                <a:latin typeface="+mj-lt"/>
                <a:ea typeface="+mj-ea"/>
                <a:cs typeface="+mj-cs"/>
              </a:rPr>
              <a:t> </a:t>
            </a:r>
            <a:endParaRPr lang="tr-TR" sz="3600" dirty="0">
              <a:solidFill>
                <a:schemeClr val="accent2"/>
              </a:solidFill>
              <a:latin typeface="+mj-lt"/>
              <a:ea typeface="+mj-ea"/>
              <a:cs typeface="+mj-cs"/>
            </a:endParaRPr>
          </a:p>
          <a:p>
            <a:pPr>
              <a:lnSpc>
                <a:spcPct val="100000"/>
              </a:lnSpc>
            </a:pPr>
            <a:r>
              <a:rPr lang="en-US" sz="3600" b="1" dirty="0" err="1">
                <a:solidFill>
                  <a:schemeClr val="accent2"/>
                </a:solidFill>
                <a:latin typeface="+mj-lt"/>
                <a:ea typeface="+mj-ea"/>
                <a:cs typeface="+mj-cs"/>
              </a:rPr>
              <a:t>Kötülük</a:t>
            </a:r>
            <a:r>
              <a:rPr lang="en-US" sz="3600" dirty="0">
                <a:solidFill>
                  <a:schemeClr val="accent2"/>
                </a:solidFill>
                <a:latin typeface="+mj-lt"/>
                <a:ea typeface="+mj-ea"/>
                <a:cs typeface="+mj-cs"/>
              </a:rPr>
              <a:t>: Kabul </a:t>
            </a:r>
            <a:r>
              <a:rPr lang="en-US" sz="3600" dirty="0" err="1">
                <a:solidFill>
                  <a:schemeClr val="accent2"/>
                </a:solidFill>
                <a:latin typeface="+mj-lt"/>
                <a:ea typeface="+mj-ea"/>
                <a:cs typeface="+mj-cs"/>
              </a:rPr>
              <a:t>edilemez</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davranış</a:t>
            </a:r>
            <a:r>
              <a:rPr lang="en-US" sz="3600" dirty="0">
                <a:solidFill>
                  <a:schemeClr val="accent2"/>
                </a:solidFill>
                <a:latin typeface="+mj-lt"/>
                <a:ea typeface="+mj-ea"/>
                <a:cs typeface="+mj-cs"/>
              </a:rPr>
              <a:t> </a:t>
            </a:r>
            <a:r>
              <a:rPr lang="en-US" sz="3600" dirty="0" err="1">
                <a:solidFill>
                  <a:schemeClr val="accent2"/>
                </a:solidFill>
                <a:latin typeface="+mj-lt"/>
                <a:ea typeface="+mj-ea"/>
                <a:cs typeface="+mj-cs"/>
              </a:rPr>
              <a:t>alışkanlığı</a:t>
            </a:r>
            <a:endParaRPr lang="en-US" sz="3600" dirty="0">
              <a:solidFill>
                <a:schemeClr val="accent2"/>
              </a:solidFill>
              <a:latin typeface="+mj-lt"/>
              <a:ea typeface="+mj-ea"/>
              <a:cs typeface="+mj-cs"/>
            </a:endParaRPr>
          </a:p>
        </p:txBody>
      </p:sp>
      <p:sp>
        <p:nvSpPr>
          <p:cNvPr id="2" name="Title 1"/>
          <p:cNvSpPr>
            <a:spLocks noGrp="1"/>
          </p:cNvSpPr>
          <p:nvPr>
            <p:ph type="title"/>
          </p:nvPr>
        </p:nvSpPr>
        <p:spPr>
          <a:xfrm>
            <a:off x="762000" y="290457"/>
            <a:ext cx="8026400" cy="527837"/>
          </a:xfrm>
        </p:spPr>
        <p:txBody>
          <a:bodyPr/>
          <a:lstStyle/>
          <a:p>
            <a:r>
              <a:rPr lang="en-US" sz="4000" dirty="0"/>
              <a:t>What is Ethics</a:t>
            </a:r>
            <a:r>
              <a:rPr lang="en-US" sz="4000" dirty="0" smtClean="0"/>
              <a:t>?</a:t>
            </a:r>
            <a:r>
              <a:rPr lang="tr-TR" sz="4000" dirty="0" smtClean="0"/>
              <a:t> - </a:t>
            </a:r>
            <a:r>
              <a:rPr lang="en-US" sz="4000" dirty="0" err="1" smtClean="0"/>
              <a:t>Etik</a:t>
            </a:r>
            <a:r>
              <a:rPr lang="en-US" sz="4000" dirty="0" smtClean="0"/>
              <a:t> </a:t>
            </a:r>
            <a:r>
              <a:rPr lang="en-US" sz="4000" dirty="0" err="1" smtClean="0"/>
              <a:t>Nedir</a:t>
            </a:r>
            <a:r>
              <a:rPr lang="en-US" sz="4000" dirty="0" smtClean="0"/>
              <a:t>?</a:t>
            </a:r>
            <a:endParaRPr lang="en-US" sz="4000" dirty="0"/>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8866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3940"/>
            <a:ext cx="8026400" cy="840871"/>
          </a:xfrm>
        </p:spPr>
        <p:txBody>
          <a:bodyPr/>
          <a:lstStyle/>
          <a:p>
            <a:r>
              <a:rPr lang="en-US" sz="3200" dirty="0" smtClean="0"/>
              <a:t>The Relationship Between Ethics and Morals</a:t>
            </a:r>
            <a:r>
              <a:rPr lang="tr-TR" sz="3200" dirty="0" smtClean="0"/>
              <a:t> -</a:t>
            </a:r>
            <a:br>
              <a:rPr lang="tr-TR" sz="3200" dirty="0" smtClean="0"/>
            </a:br>
            <a:r>
              <a:rPr lang="tr-TR" sz="3200" dirty="0" smtClean="0"/>
              <a:t>Etik ve Ahlak İlişkisi</a:t>
            </a:r>
            <a:endParaRPr lang="en-US" sz="3200" dirty="0"/>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Content Placeholder 8" descr="Figure 1-1: This circular graphic illustrates that at a person's core are their personal beliefs, which are part of their morals. The group code of ethics has an impact on a person's morals and core personal beliefs. Ethics, morals, and core personal beliefs are defined by many factors, including: life experiences, culture, virtues, vices, religion, gender, age, beliefs, education, and traditions.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132165"/>
            <a:ext cx="6159500" cy="5016627"/>
          </a:xfrm>
          <a:prstGeom prst="rect">
            <a:avLst/>
          </a:prstGeom>
        </p:spPr>
      </p:pic>
    </p:spTree>
    <p:extLst>
      <p:ext uri="{BB962C8B-B14F-4D97-AF65-F5344CB8AC3E}">
        <p14:creationId xmlns:p14="http://schemas.microsoft.com/office/powerpoint/2010/main" val="279061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73062" y="1325422"/>
            <a:ext cx="8415338" cy="4299639"/>
          </a:xfrm>
        </p:spPr>
        <p:txBody>
          <a:bodyPr/>
          <a:lstStyle/>
          <a:p>
            <a:r>
              <a:rPr lang="en-US" sz="2800" dirty="0" err="1" smtClean="0"/>
              <a:t>Kişisel</a:t>
            </a:r>
            <a:r>
              <a:rPr lang="en-US" sz="2800" dirty="0" smtClean="0"/>
              <a:t> </a:t>
            </a:r>
            <a:r>
              <a:rPr lang="en-US" sz="2800" dirty="0" err="1" smtClean="0"/>
              <a:t>ilkeler</a:t>
            </a:r>
            <a:r>
              <a:rPr lang="en-US" sz="2800" dirty="0" smtClean="0"/>
              <a:t> </a:t>
            </a:r>
            <a:r>
              <a:rPr lang="en-US" sz="2800" dirty="0" err="1" smtClean="0"/>
              <a:t>kurallarına</a:t>
            </a:r>
            <a:r>
              <a:rPr lang="en-US" sz="2800" dirty="0" smtClean="0"/>
              <a:t> </a:t>
            </a:r>
            <a:r>
              <a:rPr lang="en-US" sz="2800" dirty="0" err="1" smtClean="0"/>
              <a:t>uygun</a:t>
            </a:r>
            <a:r>
              <a:rPr lang="en-US" sz="2800" dirty="0" smtClean="0"/>
              <a:t> </a:t>
            </a:r>
            <a:r>
              <a:rPr lang="en-US" sz="2800" dirty="0" err="1" smtClean="0"/>
              <a:t>hareket</a:t>
            </a:r>
            <a:r>
              <a:rPr lang="en-US" sz="2800" dirty="0" smtClean="0"/>
              <a:t> </a:t>
            </a:r>
            <a:r>
              <a:rPr lang="en-US" sz="2800" dirty="0" err="1" smtClean="0"/>
              <a:t>etmek</a:t>
            </a:r>
            <a:r>
              <a:rPr lang="en-US" sz="2800" dirty="0" smtClean="0"/>
              <a:t> </a:t>
            </a:r>
            <a:endParaRPr lang="tr-TR" sz="2800" dirty="0" smtClean="0"/>
          </a:p>
          <a:p>
            <a:r>
              <a:rPr lang="en-US" sz="2800" dirty="0" err="1" smtClean="0"/>
              <a:t>Başkalarından</a:t>
            </a:r>
            <a:r>
              <a:rPr lang="en-US" sz="2800" dirty="0" smtClean="0"/>
              <a:t> </a:t>
            </a:r>
            <a:r>
              <a:rPr lang="en-US" sz="2800" dirty="0" err="1" smtClean="0"/>
              <a:t>almayı</a:t>
            </a:r>
            <a:r>
              <a:rPr lang="en-US" sz="2800" dirty="0" smtClean="0"/>
              <a:t> </a:t>
            </a:r>
            <a:r>
              <a:rPr lang="en-US" sz="2800" dirty="0" err="1" smtClean="0"/>
              <a:t>beklediği</a:t>
            </a:r>
            <a:r>
              <a:rPr lang="en-US" sz="2800" dirty="0" smtClean="0"/>
              <a:t> </a:t>
            </a:r>
            <a:r>
              <a:rPr lang="en-US" sz="2800" dirty="0" err="1" smtClean="0"/>
              <a:t>aynı</a:t>
            </a:r>
            <a:r>
              <a:rPr lang="en-US" sz="2800" dirty="0" smtClean="0"/>
              <a:t> </a:t>
            </a:r>
            <a:r>
              <a:rPr lang="en-US" sz="2800" dirty="0" err="1" smtClean="0"/>
              <a:t>saygı</a:t>
            </a:r>
            <a:r>
              <a:rPr lang="en-US" sz="2800" dirty="0" smtClean="0"/>
              <a:t> ve </a:t>
            </a:r>
            <a:r>
              <a:rPr lang="en-US" sz="2800" dirty="0" err="1" smtClean="0"/>
              <a:t>düşünceyi</a:t>
            </a:r>
            <a:r>
              <a:rPr lang="en-US" sz="2800" dirty="0" smtClean="0"/>
              <a:t> </a:t>
            </a:r>
            <a:r>
              <a:rPr lang="en-US" sz="2800" dirty="0" err="1" smtClean="0"/>
              <a:t>genişletmek</a:t>
            </a:r>
            <a:r>
              <a:rPr lang="en-US" sz="2800" dirty="0" smtClean="0"/>
              <a:t> </a:t>
            </a:r>
            <a:endParaRPr lang="tr-TR" sz="2800" dirty="0" smtClean="0"/>
          </a:p>
          <a:p>
            <a:r>
              <a:rPr lang="en-US" sz="2800" dirty="0" smtClean="0"/>
              <a:t>Her </a:t>
            </a:r>
            <a:r>
              <a:rPr lang="en-US" sz="2800" dirty="0" err="1" smtClean="0"/>
              <a:t>durumda</a:t>
            </a:r>
            <a:r>
              <a:rPr lang="en-US" sz="2800" dirty="0" smtClean="0"/>
              <a:t> </a:t>
            </a:r>
            <a:r>
              <a:rPr lang="en-US" sz="2800" dirty="0" err="1" smtClean="0"/>
              <a:t>aynı</a:t>
            </a:r>
            <a:r>
              <a:rPr lang="en-US" sz="2800" dirty="0" smtClean="0"/>
              <a:t> </a:t>
            </a:r>
            <a:r>
              <a:rPr lang="en-US" sz="2800" dirty="0" err="1" smtClean="0"/>
              <a:t>ahlaki</a:t>
            </a:r>
            <a:r>
              <a:rPr lang="en-US" sz="2800" dirty="0" smtClean="0"/>
              <a:t> </a:t>
            </a:r>
            <a:r>
              <a:rPr lang="en-US" sz="2800" dirty="0" err="1" smtClean="0"/>
              <a:t>kodları</a:t>
            </a:r>
            <a:r>
              <a:rPr lang="en-US" sz="2800" dirty="0" smtClean="0"/>
              <a:t> </a:t>
            </a:r>
            <a:r>
              <a:rPr lang="en-US" sz="2800" dirty="0" err="1" smtClean="0"/>
              <a:t>uygulamak</a:t>
            </a:r>
            <a:r>
              <a:rPr lang="en-US" sz="2800" dirty="0" smtClean="0"/>
              <a:t> </a:t>
            </a:r>
            <a:endParaRPr lang="tr-TR" sz="2800" dirty="0" smtClean="0"/>
          </a:p>
          <a:p>
            <a:r>
              <a:rPr lang="en-US" sz="2800" dirty="0" err="1" smtClean="0"/>
              <a:t>Kişinin</a:t>
            </a:r>
            <a:r>
              <a:rPr lang="en-US" sz="2800" dirty="0" smtClean="0"/>
              <a:t> </a:t>
            </a:r>
            <a:r>
              <a:rPr lang="en-US" sz="2800" dirty="0" err="1" smtClean="0"/>
              <a:t>ahlaki</a:t>
            </a:r>
            <a:r>
              <a:rPr lang="en-US" sz="2800" dirty="0" smtClean="0"/>
              <a:t> </a:t>
            </a:r>
            <a:r>
              <a:rPr lang="en-US" sz="2800" dirty="0" err="1" smtClean="0"/>
              <a:t>standartlarıyla</a:t>
            </a:r>
            <a:r>
              <a:rPr lang="en-US" sz="2800" dirty="0" smtClean="0"/>
              <a:t> </a:t>
            </a:r>
            <a:r>
              <a:rPr lang="en-US" sz="2800" dirty="0" err="1" smtClean="0"/>
              <a:t>çelişen</a:t>
            </a:r>
            <a:r>
              <a:rPr lang="en-US" sz="2800" dirty="0" smtClean="0"/>
              <a:t> </a:t>
            </a:r>
            <a:r>
              <a:rPr lang="en-US" sz="2800" dirty="0" err="1" smtClean="0"/>
              <a:t>durumlarda</a:t>
            </a:r>
            <a:r>
              <a:rPr lang="en-US" sz="2800" dirty="0" smtClean="0"/>
              <a:t> </a:t>
            </a:r>
            <a:r>
              <a:rPr lang="en-US" sz="2800" dirty="0" err="1" smtClean="0"/>
              <a:t>tutarlılık</a:t>
            </a:r>
            <a:r>
              <a:rPr lang="en-US" sz="2800" dirty="0" smtClean="0"/>
              <a:t> </a:t>
            </a:r>
            <a:r>
              <a:rPr lang="en-US" sz="2800" dirty="0" err="1" smtClean="0"/>
              <a:t>elde</a:t>
            </a:r>
            <a:r>
              <a:rPr lang="en-US" sz="2800" dirty="0" smtClean="0"/>
              <a:t> </a:t>
            </a:r>
            <a:r>
              <a:rPr lang="en-US" sz="2800" dirty="0" err="1" smtClean="0"/>
              <a:t>etmek</a:t>
            </a:r>
            <a:r>
              <a:rPr lang="en-US" sz="2800" dirty="0" smtClean="0"/>
              <a:t> </a:t>
            </a:r>
            <a:r>
              <a:rPr lang="en-US" sz="2800" dirty="0" err="1" smtClean="0"/>
              <a:t>zor</a:t>
            </a:r>
            <a:r>
              <a:rPr lang="en-US" sz="2800" dirty="0" smtClean="0"/>
              <a:t> </a:t>
            </a:r>
            <a:r>
              <a:rPr lang="en-US" sz="2800" dirty="0" err="1" smtClean="0"/>
              <a:t>olabilir</a:t>
            </a:r>
            <a:r>
              <a:rPr lang="en-US" sz="2800" dirty="0" smtClean="0"/>
              <a:t>.  </a:t>
            </a:r>
            <a:endParaRPr lang="tr-TR" sz="2800" dirty="0" smtClean="0"/>
          </a:p>
          <a:p>
            <a:r>
              <a:rPr lang="en-US" sz="2800" dirty="0" err="1" smtClean="0"/>
              <a:t>Tutarsızlık</a:t>
            </a:r>
            <a:r>
              <a:rPr lang="en-US" sz="2800" dirty="0" smtClean="0"/>
              <a:t>, </a:t>
            </a:r>
            <a:r>
              <a:rPr lang="en-US" sz="2800" dirty="0" err="1" smtClean="0"/>
              <a:t>duruma</a:t>
            </a:r>
            <a:r>
              <a:rPr lang="en-US" sz="2800" dirty="0" smtClean="0"/>
              <a:t> </a:t>
            </a:r>
            <a:r>
              <a:rPr lang="en-US" sz="2800" dirty="0" err="1" smtClean="0"/>
              <a:t>veya</a:t>
            </a:r>
            <a:r>
              <a:rPr lang="en-US" sz="2800" dirty="0" smtClean="0"/>
              <a:t> </a:t>
            </a:r>
            <a:r>
              <a:rPr lang="en-US" sz="2800" dirty="0" err="1" smtClean="0"/>
              <a:t>ilgili</a:t>
            </a:r>
            <a:r>
              <a:rPr lang="en-US" sz="2800" dirty="0" smtClean="0"/>
              <a:t> </a:t>
            </a:r>
            <a:r>
              <a:rPr lang="en-US" sz="2800" dirty="0" err="1" smtClean="0"/>
              <a:t>kişilere</a:t>
            </a:r>
            <a:r>
              <a:rPr lang="en-US" sz="2800" dirty="0" smtClean="0"/>
              <a:t> </a:t>
            </a:r>
            <a:r>
              <a:rPr lang="en-US" sz="2800" dirty="0" err="1" smtClean="0"/>
              <a:t>bağlı</a:t>
            </a:r>
            <a:r>
              <a:rPr lang="en-US" sz="2800" dirty="0" smtClean="0"/>
              <a:t> </a:t>
            </a:r>
            <a:r>
              <a:rPr lang="en-US" sz="2800" dirty="0" err="1" smtClean="0"/>
              <a:t>olarak</a:t>
            </a:r>
            <a:r>
              <a:rPr lang="en-US" sz="2800" dirty="0" smtClean="0"/>
              <a:t> </a:t>
            </a:r>
            <a:r>
              <a:rPr lang="en-US" sz="2800" dirty="0" err="1" smtClean="0"/>
              <a:t>ahlaki</a:t>
            </a:r>
            <a:r>
              <a:rPr lang="en-US" sz="2800" dirty="0" smtClean="0"/>
              <a:t> </a:t>
            </a:r>
            <a:r>
              <a:rPr lang="en-US" sz="2800" dirty="0" err="1" smtClean="0"/>
              <a:t>standartların</a:t>
            </a:r>
            <a:r>
              <a:rPr lang="en-US" sz="2800" dirty="0" smtClean="0"/>
              <a:t> </a:t>
            </a:r>
            <a:r>
              <a:rPr lang="en-US" sz="2800" dirty="0" err="1" smtClean="0"/>
              <a:t>farklı</a:t>
            </a:r>
            <a:r>
              <a:rPr lang="en-US" sz="2800" dirty="0" smtClean="0"/>
              <a:t> </a:t>
            </a:r>
            <a:r>
              <a:rPr lang="en-US" sz="2800" dirty="0" err="1" smtClean="0"/>
              <a:t>şekilde</a:t>
            </a:r>
            <a:r>
              <a:rPr lang="en-US" sz="2800" dirty="0" smtClean="0"/>
              <a:t> </a:t>
            </a:r>
            <a:r>
              <a:rPr lang="en-US" sz="2800" dirty="0" err="1" smtClean="0"/>
              <a:t>uygulanması</a:t>
            </a:r>
            <a:r>
              <a:rPr lang="en-US" sz="2800" dirty="0" smtClean="0"/>
              <a:t> </a:t>
            </a:r>
            <a:r>
              <a:rPr lang="en-US" sz="2800" dirty="0" err="1" smtClean="0"/>
              <a:t>durumunda</a:t>
            </a:r>
            <a:r>
              <a:rPr lang="en-US" sz="2800" dirty="0" smtClean="0"/>
              <a:t> da </a:t>
            </a:r>
            <a:r>
              <a:rPr lang="en-US" sz="2800" dirty="0" err="1" smtClean="0"/>
              <a:t>ortaya</a:t>
            </a:r>
            <a:r>
              <a:rPr lang="en-US" sz="2800" dirty="0" smtClean="0"/>
              <a:t> </a:t>
            </a:r>
            <a:r>
              <a:rPr lang="en-US" sz="2800" dirty="0" err="1" smtClean="0"/>
              <a:t>çıkar</a:t>
            </a:r>
            <a:r>
              <a:rPr lang="en-US" sz="2800" dirty="0" smtClean="0"/>
              <a:t>.</a:t>
            </a:r>
            <a:endParaRPr lang="en-US" dirty="0"/>
          </a:p>
        </p:txBody>
      </p:sp>
      <p:sp>
        <p:nvSpPr>
          <p:cNvPr id="5" name="Title 4"/>
          <p:cNvSpPr>
            <a:spLocks noGrp="1"/>
          </p:cNvSpPr>
          <p:nvPr>
            <p:ph type="title"/>
          </p:nvPr>
        </p:nvSpPr>
        <p:spPr>
          <a:xfrm>
            <a:off x="762000" y="290457"/>
            <a:ext cx="8026400" cy="527837"/>
          </a:xfrm>
        </p:spPr>
        <p:txBody>
          <a:bodyPr/>
          <a:lstStyle/>
          <a:p>
            <a:r>
              <a:rPr lang="en-US" sz="4000" dirty="0" smtClean="0"/>
              <a:t>Integrity</a:t>
            </a:r>
            <a:r>
              <a:rPr lang="tr-TR" sz="4000" dirty="0" smtClean="0"/>
              <a:t> - Bütünlük</a:t>
            </a:r>
            <a:endParaRPr lang="en-US" sz="4000" dirty="0"/>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584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descr="Morals are personal principles an individual uses to determine what is right and what is wrong. Moral acts conform to what an individual believes to be the right thing to do. Ethics are a code of behavior that is defined by the group to which an individual belongs. Law is a system of rules, enforced by a set of institutions, that tells us what we can and cannot do. Legal acts are acts that conform to the law.&#10;&#10;&#10;&#10; &#10;"/>
          <p:cNvGraphicFramePr>
            <a:graphicFrameLocks noGrp="1"/>
          </p:cNvGraphicFramePr>
          <p:nvPr>
            <p:ph idx="1"/>
            <p:extLst>
              <p:ext uri="{D42A27DB-BD31-4B8C-83A1-F6EECF244321}">
                <p14:modId xmlns:p14="http://schemas.microsoft.com/office/powerpoint/2010/main" val="61631501"/>
              </p:ext>
            </p:extLst>
          </p:nvPr>
        </p:nvGraphicFramePr>
        <p:xfrm>
          <a:off x="378748" y="1189232"/>
          <a:ext cx="8415339" cy="4902493"/>
        </p:xfrm>
        <a:graphic>
          <a:graphicData uri="http://schemas.openxmlformats.org/drawingml/2006/table">
            <a:tbl>
              <a:tblPr firstRow="1" bandRow="1">
                <a:tableStyleId>{5C22544A-7EE6-4342-B048-85BDC9FD1C3A}</a:tableStyleId>
              </a:tblPr>
              <a:tblGrid>
                <a:gridCol w="2897852">
                  <a:extLst>
                    <a:ext uri="{9D8B030D-6E8A-4147-A177-3AD203B41FA5}">
                      <a16:colId xmlns:a16="http://schemas.microsoft.com/office/drawing/2014/main" xmlns="" val="2711336738"/>
                    </a:ext>
                  </a:extLst>
                </a:gridCol>
                <a:gridCol w="2712374">
                  <a:extLst>
                    <a:ext uri="{9D8B030D-6E8A-4147-A177-3AD203B41FA5}">
                      <a16:colId xmlns:a16="http://schemas.microsoft.com/office/drawing/2014/main" xmlns="" val="3420904493"/>
                    </a:ext>
                  </a:extLst>
                </a:gridCol>
                <a:gridCol w="2805113">
                  <a:extLst>
                    <a:ext uri="{9D8B030D-6E8A-4147-A177-3AD203B41FA5}">
                      <a16:colId xmlns:a16="http://schemas.microsoft.com/office/drawing/2014/main" xmlns="" val="1739281648"/>
                    </a:ext>
                  </a:extLst>
                </a:gridCol>
              </a:tblGrid>
              <a:tr h="787693">
                <a:tc>
                  <a:txBody>
                    <a:bodyPr/>
                    <a:lstStyle/>
                    <a:p>
                      <a:pPr algn="ctr"/>
                      <a:r>
                        <a:rPr lang="en-US" sz="3600" dirty="0" smtClean="0"/>
                        <a:t>Morals</a:t>
                      </a:r>
                      <a:r>
                        <a:rPr lang="tr-TR" sz="3600" dirty="0" smtClean="0"/>
                        <a:t>-Ahlak</a:t>
                      </a:r>
                      <a:endParaRPr lang="en-US" sz="3600" dirty="0"/>
                    </a:p>
                  </a:txBody>
                  <a:tcPr/>
                </a:tc>
                <a:tc>
                  <a:txBody>
                    <a:bodyPr/>
                    <a:lstStyle/>
                    <a:p>
                      <a:pPr algn="ctr"/>
                      <a:r>
                        <a:rPr lang="en-US" sz="3600" dirty="0" smtClean="0"/>
                        <a:t>Ethics</a:t>
                      </a:r>
                      <a:r>
                        <a:rPr lang="tr-TR" sz="3600" dirty="0" smtClean="0"/>
                        <a:t>-Etik</a:t>
                      </a:r>
                      <a:endParaRPr lang="en-US" sz="3600" dirty="0"/>
                    </a:p>
                  </a:txBody>
                  <a:tcPr/>
                </a:tc>
                <a:tc>
                  <a:txBody>
                    <a:bodyPr/>
                    <a:lstStyle/>
                    <a:p>
                      <a:pPr algn="ctr"/>
                      <a:r>
                        <a:rPr lang="en-US" sz="3600" dirty="0" smtClean="0"/>
                        <a:t>Law</a:t>
                      </a:r>
                      <a:r>
                        <a:rPr lang="tr-TR" sz="3600" dirty="0" smtClean="0"/>
                        <a:t>-Yasa</a:t>
                      </a:r>
                      <a:endParaRPr lang="en-US" sz="3600" dirty="0"/>
                    </a:p>
                  </a:txBody>
                  <a:tcPr/>
                </a:tc>
                <a:extLst>
                  <a:ext uri="{0D108BD9-81ED-4DB2-BD59-A6C34878D82A}">
                    <a16:rowId xmlns:a16="http://schemas.microsoft.com/office/drawing/2014/main" xmlns="" val="842316945"/>
                  </a:ext>
                </a:extLst>
              </a:tr>
              <a:tr h="3860507">
                <a:tc>
                  <a:txBody>
                    <a:bodyPr/>
                    <a:lstStyle/>
                    <a:p>
                      <a:pPr marL="285750" indent="-285750">
                        <a:buFont typeface="Arial" panose="020B0604020202020204" pitchFamily="34" charset="0"/>
                        <a:buChar char="•"/>
                      </a:pPr>
                      <a:r>
                        <a:rPr lang="en-US" sz="2400" dirty="0" err="1" smtClean="0"/>
                        <a:t>Bir</a:t>
                      </a:r>
                      <a:r>
                        <a:rPr lang="en-US" sz="2400" dirty="0" smtClean="0"/>
                        <a:t> </a:t>
                      </a:r>
                      <a:r>
                        <a:rPr lang="en-US" sz="2400" dirty="0" err="1" smtClean="0"/>
                        <a:t>bireyin</a:t>
                      </a:r>
                      <a:r>
                        <a:rPr lang="en-US" sz="2400" dirty="0" smtClean="0"/>
                        <a:t> </a:t>
                      </a:r>
                      <a:r>
                        <a:rPr lang="en-US" sz="2400" dirty="0" err="1" smtClean="0"/>
                        <a:t>neyin</a:t>
                      </a:r>
                      <a:r>
                        <a:rPr lang="en-US" sz="2400" dirty="0" smtClean="0"/>
                        <a:t> </a:t>
                      </a:r>
                      <a:r>
                        <a:rPr lang="en-US" sz="2400" dirty="0" err="1" smtClean="0"/>
                        <a:t>doğru</a:t>
                      </a:r>
                      <a:r>
                        <a:rPr lang="en-US" sz="2400" dirty="0" smtClean="0"/>
                        <a:t> </a:t>
                      </a:r>
                      <a:r>
                        <a:rPr lang="en-US" sz="2400" dirty="0" err="1" smtClean="0"/>
                        <a:t>neyin</a:t>
                      </a:r>
                      <a:r>
                        <a:rPr lang="en-US" sz="2400" dirty="0" smtClean="0"/>
                        <a:t> </a:t>
                      </a:r>
                      <a:r>
                        <a:rPr lang="en-US" sz="2400" dirty="0" err="1" smtClean="0"/>
                        <a:t>yanlış</a:t>
                      </a:r>
                      <a:r>
                        <a:rPr lang="en-US" sz="2400" dirty="0" smtClean="0"/>
                        <a:t> </a:t>
                      </a:r>
                      <a:r>
                        <a:rPr lang="en-US" sz="2400" dirty="0" err="1" smtClean="0"/>
                        <a:t>olduğunu</a:t>
                      </a:r>
                      <a:r>
                        <a:rPr lang="en-US" sz="2400" dirty="0" smtClean="0"/>
                        <a:t> </a:t>
                      </a:r>
                      <a:r>
                        <a:rPr lang="en-US" sz="2400" dirty="0" err="1" smtClean="0"/>
                        <a:t>belirlemek</a:t>
                      </a:r>
                      <a:r>
                        <a:rPr lang="en-US" sz="2400" dirty="0" smtClean="0"/>
                        <a:t> </a:t>
                      </a:r>
                      <a:r>
                        <a:rPr lang="en-US" sz="2400" dirty="0" err="1" smtClean="0"/>
                        <a:t>için</a:t>
                      </a:r>
                      <a:r>
                        <a:rPr lang="en-US" sz="2400" dirty="0" smtClean="0"/>
                        <a:t> </a:t>
                      </a:r>
                      <a:r>
                        <a:rPr lang="en-US" sz="2400" dirty="0" err="1" smtClean="0"/>
                        <a:t>kullandığı</a:t>
                      </a:r>
                      <a:r>
                        <a:rPr lang="en-US" sz="2400" dirty="0" smtClean="0"/>
                        <a:t> </a:t>
                      </a:r>
                      <a:r>
                        <a:rPr lang="en-US" sz="2400" dirty="0" err="1" smtClean="0"/>
                        <a:t>kişisel</a:t>
                      </a:r>
                      <a:r>
                        <a:rPr lang="en-US" sz="2400" dirty="0" smtClean="0"/>
                        <a:t> </a:t>
                      </a:r>
                      <a:r>
                        <a:rPr lang="en-US" sz="2400" dirty="0" err="1" smtClean="0"/>
                        <a:t>ilkeler</a:t>
                      </a:r>
                      <a:r>
                        <a:rPr lang="en-US" sz="2400" dirty="0" smtClean="0"/>
                        <a:t> </a:t>
                      </a:r>
                      <a:endParaRPr lang="tr-TR" sz="2400" dirty="0" smtClean="0"/>
                    </a:p>
                    <a:p>
                      <a:pPr marL="285750" indent="-285750">
                        <a:buFont typeface="Arial" panose="020B0604020202020204" pitchFamily="34" charset="0"/>
                        <a:buChar char="•"/>
                      </a:pPr>
                      <a:r>
                        <a:rPr lang="en-US" sz="2400" dirty="0" err="1" smtClean="0"/>
                        <a:t>Ahlaki</a:t>
                      </a:r>
                      <a:r>
                        <a:rPr lang="en-US" sz="2400" dirty="0" smtClean="0"/>
                        <a:t> </a:t>
                      </a:r>
                      <a:r>
                        <a:rPr lang="en-US" sz="2400" dirty="0" err="1" smtClean="0"/>
                        <a:t>eylemler</a:t>
                      </a:r>
                      <a:r>
                        <a:rPr lang="en-US" sz="2400" dirty="0" smtClean="0"/>
                        <a:t>, </a:t>
                      </a:r>
                      <a:r>
                        <a:rPr lang="en-US" sz="2400" dirty="0" err="1" smtClean="0"/>
                        <a:t>bireyin</a:t>
                      </a:r>
                      <a:r>
                        <a:rPr lang="en-US" sz="2400" dirty="0" smtClean="0"/>
                        <a:t> </a:t>
                      </a:r>
                      <a:r>
                        <a:rPr lang="en-US" sz="2400" dirty="0" err="1" smtClean="0"/>
                        <a:t>yapılacak</a:t>
                      </a:r>
                      <a:r>
                        <a:rPr lang="en-US" sz="2400" dirty="0" smtClean="0"/>
                        <a:t> </a:t>
                      </a:r>
                      <a:r>
                        <a:rPr lang="en-US" sz="2400" dirty="0" err="1" smtClean="0"/>
                        <a:t>doğru</a:t>
                      </a:r>
                      <a:r>
                        <a:rPr lang="en-US" sz="2400" dirty="0" smtClean="0"/>
                        <a:t> </a:t>
                      </a:r>
                      <a:r>
                        <a:rPr lang="en-US" sz="2400" dirty="0" err="1" smtClean="0"/>
                        <a:t>şey</a:t>
                      </a:r>
                      <a:r>
                        <a:rPr lang="en-US" sz="2400" dirty="0" smtClean="0"/>
                        <a:t> </a:t>
                      </a:r>
                      <a:r>
                        <a:rPr lang="en-US" sz="2400" dirty="0" err="1" smtClean="0"/>
                        <a:t>olduğuna</a:t>
                      </a:r>
                      <a:r>
                        <a:rPr lang="en-US" sz="2400" dirty="0" smtClean="0"/>
                        <a:t> </a:t>
                      </a:r>
                      <a:r>
                        <a:rPr lang="en-US" sz="2400" dirty="0" err="1" smtClean="0"/>
                        <a:t>inandığı</a:t>
                      </a:r>
                      <a:r>
                        <a:rPr lang="en-US" sz="2400" dirty="0" smtClean="0"/>
                        <a:t> </a:t>
                      </a:r>
                      <a:r>
                        <a:rPr lang="en-US" sz="2400" dirty="0" err="1" smtClean="0"/>
                        <a:t>şeye</a:t>
                      </a:r>
                      <a:r>
                        <a:rPr lang="en-US" sz="2400" dirty="0" smtClean="0"/>
                        <a:t> </a:t>
                      </a:r>
                      <a:r>
                        <a:rPr lang="en-US" sz="2400" dirty="0" err="1" smtClean="0"/>
                        <a:t>uygundur</a:t>
                      </a:r>
                      <a:endParaRPr lang="en-US" sz="2400" dirty="0"/>
                    </a:p>
                  </a:txBody>
                  <a:tcPr/>
                </a:tc>
                <a:tc>
                  <a:txBody>
                    <a:bodyPr/>
                    <a:lstStyle/>
                    <a:p>
                      <a:pPr marL="285750" indent="-285750">
                        <a:buFont typeface="Arial" panose="020B0604020202020204" pitchFamily="34" charset="0"/>
                        <a:buChar char="•"/>
                      </a:pPr>
                      <a:r>
                        <a:rPr lang="en-US" sz="2400" dirty="0" err="1" smtClean="0"/>
                        <a:t>Bir</a:t>
                      </a:r>
                      <a:r>
                        <a:rPr lang="en-US" sz="2400" dirty="0" smtClean="0"/>
                        <a:t> </a:t>
                      </a:r>
                      <a:r>
                        <a:rPr lang="en-US" sz="2400" dirty="0" err="1" smtClean="0"/>
                        <a:t>bireyin</a:t>
                      </a:r>
                      <a:r>
                        <a:rPr lang="en-US" sz="2400" dirty="0" smtClean="0"/>
                        <a:t> </a:t>
                      </a:r>
                      <a:r>
                        <a:rPr lang="en-US" sz="2400" dirty="0" err="1" smtClean="0"/>
                        <a:t>ait</a:t>
                      </a:r>
                      <a:r>
                        <a:rPr lang="en-US" sz="2400" dirty="0" smtClean="0"/>
                        <a:t> </a:t>
                      </a:r>
                      <a:r>
                        <a:rPr lang="en-US" sz="2400" dirty="0" err="1" smtClean="0"/>
                        <a:t>olduğu</a:t>
                      </a:r>
                      <a:r>
                        <a:rPr lang="en-US" sz="2400" dirty="0" smtClean="0"/>
                        <a:t> </a:t>
                      </a:r>
                      <a:r>
                        <a:rPr lang="en-US" sz="2400" dirty="0" err="1" smtClean="0"/>
                        <a:t>grup</a:t>
                      </a:r>
                      <a:r>
                        <a:rPr lang="en-US" sz="2400" dirty="0" smtClean="0"/>
                        <a:t> </a:t>
                      </a:r>
                      <a:r>
                        <a:rPr lang="en-US" sz="2400" dirty="0" err="1" smtClean="0"/>
                        <a:t>tarafından</a:t>
                      </a:r>
                      <a:r>
                        <a:rPr lang="en-US" sz="2400" dirty="0" smtClean="0"/>
                        <a:t> </a:t>
                      </a:r>
                      <a:r>
                        <a:rPr lang="en-US" sz="2400" dirty="0" err="1" smtClean="0"/>
                        <a:t>tanımlanan</a:t>
                      </a:r>
                      <a:r>
                        <a:rPr lang="en-US" sz="2400" dirty="0" smtClean="0"/>
                        <a:t> </a:t>
                      </a:r>
                      <a:r>
                        <a:rPr lang="en-US" sz="2400" dirty="0" err="1" smtClean="0"/>
                        <a:t>davranış</a:t>
                      </a:r>
                      <a:r>
                        <a:rPr lang="en-US" sz="2400" dirty="0" smtClean="0"/>
                        <a:t> </a:t>
                      </a:r>
                      <a:r>
                        <a:rPr lang="en-US" sz="2400" dirty="0" err="1" smtClean="0"/>
                        <a:t>kuralları</a:t>
                      </a:r>
                      <a:endParaRPr lang="en-US" sz="2400" dirty="0"/>
                    </a:p>
                  </a:txBody>
                  <a:tcPr/>
                </a:tc>
                <a:tc>
                  <a:txBody>
                    <a:bodyPr/>
                    <a:lstStyle/>
                    <a:p>
                      <a:pPr marL="285750" indent="-285750">
                        <a:buFont typeface="Arial" panose="020B0604020202020204" pitchFamily="34" charset="0"/>
                        <a:buChar char="•"/>
                      </a:pPr>
                      <a:r>
                        <a:rPr lang="en-US" sz="2400" dirty="0" err="1" smtClean="0"/>
                        <a:t>Bir</a:t>
                      </a:r>
                      <a:r>
                        <a:rPr lang="en-US" sz="2400" dirty="0" smtClean="0"/>
                        <a:t> </a:t>
                      </a:r>
                      <a:r>
                        <a:rPr lang="en-US" sz="2400" dirty="0" err="1" smtClean="0"/>
                        <a:t>dizi</a:t>
                      </a:r>
                      <a:r>
                        <a:rPr lang="en-US" sz="2400" dirty="0" smtClean="0"/>
                        <a:t> </a:t>
                      </a:r>
                      <a:r>
                        <a:rPr lang="en-US" sz="2400" dirty="0" err="1" smtClean="0"/>
                        <a:t>kurum</a:t>
                      </a:r>
                      <a:r>
                        <a:rPr lang="en-US" sz="2400" dirty="0" smtClean="0"/>
                        <a:t> </a:t>
                      </a:r>
                      <a:r>
                        <a:rPr lang="en-US" sz="2400" dirty="0" err="1" smtClean="0"/>
                        <a:t>tarafından</a:t>
                      </a:r>
                      <a:r>
                        <a:rPr lang="en-US" sz="2400" dirty="0" smtClean="0"/>
                        <a:t> </a:t>
                      </a:r>
                      <a:r>
                        <a:rPr lang="en-US" sz="2400" dirty="0" err="1" smtClean="0"/>
                        <a:t>uygulanan</a:t>
                      </a:r>
                      <a:r>
                        <a:rPr lang="en-US" sz="2400" dirty="0" smtClean="0"/>
                        <a:t>, </a:t>
                      </a:r>
                      <a:r>
                        <a:rPr lang="en-US" sz="2400" dirty="0" err="1" smtClean="0"/>
                        <a:t>bize</a:t>
                      </a:r>
                      <a:r>
                        <a:rPr lang="en-US" sz="2400" dirty="0" smtClean="0"/>
                        <a:t> ne </a:t>
                      </a:r>
                      <a:r>
                        <a:rPr lang="en-US" sz="2400" dirty="0" err="1" smtClean="0"/>
                        <a:t>yapabileceğimizi</a:t>
                      </a:r>
                      <a:r>
                        <a:rPr lang="en-US" sz="2400" dirty="0" smtClean="0"/>
                        <a:t> ve </a:t>
                      </a:r>
                      <a:r>
                        <a:rPr lang="en-US" sz="2400" dirty="0" err="1" smtClean="0"/>
                        <a:t>yapamayacağımızı</a:t>
                      </a:r>
                      <a:r>
                        <a:rPr lang="en-US" sz="2400" dirty="0" smtClean="0"/>
                        <a:t> </a:t>
                      </a:r>
                      <a:r>
                        <a:rPr lang="en-US" sz="2400" dirty="0" err="1" smtClean="0"/>
                        <a:t>söyleyen</a:t>
                      </a:r>
                      <a:r>
                        <a:rPr lang="en-US" sz="2400" dirty="0" smtClean="0"/>
                        <a:t> </a:t>
                      </a:r>
                      <a:r>
                        <a:rPr lang="en-US" sz="2400" dirty="0" err="1" smtClean="0"/>
                        <a:t>kurallar</a:t>
                      </a:r>
                      <a:r>
                        <a:rPr lang="en-US" sz="2400" dirty="0" smtClean="0"/>
                        <a:t> </a:t>
                      </a:r>
                      <a:r>
                        <a:rPr lang="en-US" sz="2400" dirty="0" err="1" smtClean="0"/>
                        <a:t>sistemi</a:t>
                      </a:r>
                      <a:r>
                        <a:rPr lang="en-US" sz="2400" dirty="0" smtClean="0"/>
                        <a:t> </a:t>
                      </a:r>
                      <a:endParaRPr lang="tr-TR" sz="2400" dirty="0" smtClean="0"/>
                    </a:p>
                    <a:p>
                      <a:pPr marL="285750" indent="-285750">
                        <a:buFont typeface="Arial" panose="020B0604020202020204" pitchFamily="34" charset="0"/>
                        <a:buChar char="•"/>
                      </a:pPr>
                      <a:r>
                        <a:rPr lang="en-US" sz="2400" dirty="0" err="1" smtClean="0"/>
                        <a:t>Yasal</a:t>
                      </a:r>
                      <a:r>
                        <a:rPr lang="en-US" sz="2400" dirty="0" smtClean="0"/>
                        <a:t> </a:t>
                      </a:r>
                      <a:r>
                        <a:rPr lang="en-US" sz="2400" dirty="0" err="1" smtClean="0"/>
                        <a:t>eylemler</a:t>
                      </a:r>
                      <a:r>
                        <a:rPr lang="en-US" sz="2400" dirty="0" smtClean="0"/>
                        <a:t> </a:t>
                      </a:r>
                      <a:r>
                        <a:rPr lang="en-US" sz="2400" dirty="0" err="1" smtClean="0"/>
                        <a:t>yasalara</a:t>
                      </a:r>
                      <a:r>
                        <a:rPr lang="en-US" sz="2400" dirty="0" smtClean="0"/>
                        <a:t> </a:t>
                      </a:r>
                      <a:r>
                        <a:rPr lang="en-US" sz="2400" dirty="0" err="1" smtClean="0"/>
                        <a:t>uygun</a:t>
                      </a:r>
                      <a:r>
                        <a:rPr lang="en-US" sz="2400" dirty="0" smtClean="0"/>
                        <a:t> </a:t>
                      </a:r>
                      <a:r>
                        <a:rPr lang="en-US" sz="2400" dirty="0" err="1" smtClean="0"/>
                        <a:t>eylemlerdir</a:t>
                      </a:r>
                      <a:endParaRPr lang="en-US" sz="2400" dirty="0"/>
                    </a:p>
                  </a:txBody>
                  <a:tcPr/>
                </a:tc>
                <a:extLst>
                  <a:ext uri="{0D108BD9-81ED-4DB2-BD59-A6C34878D82A}">
                    <a16:rowId xmlns:a16="http://schemas.microsoft.com/office/drawing/2014/main" xmlns="" val="75994208"/>
                  </a:ext>
                </a:extLst>
              </a:tr>
            </a:tbl>
          </a:graphicData>
        </a:graphic>
      </p:graphicFrame>
      <p:sp>
        <p:nvSpPr>
          <p:cNvPr id="4" name="Title 3"/>
          <p:cNvSpPr>
            <a:spLocks noGrp="1"/>
          </p:cNvSpPr>
          <p:nvPr>
            <p:ph type="title"/>
          </p:nvPr>
        </p:nvSpPr>
        <p:spPr>
          <a:xfrm>
            <a:off x="838200" y="109639"/>
            <a:ext cx="7950200" cy="889474"/>
          </a:xfrm>
        </p:spPr>
        <p:txBody>
          <a:bodyPr/>
          <a:lstStyle/>
          <a:p>
            <a:r>
              <a:rPr lang="en-US" sz="3400" dirty="0"/>
              <a:t>Difference Between Morals, Ethics, and </a:t>
            </a:r>
            <a:r>
              <a:rPr lang="en-US" sz="3400" dirty="0" smtClean="0"/>
              <a:t>Laws</a:t>
            </a:r>
            <a:r>
              <a:rPr lang="tr-TR" sz="3400" dirty="0" smtClean="0"/>
              <a:t/>
            </a:r>
            <a:br>
              <a:rPr lang="tr-TR" sz="3400" dirty="0" smtClean="0"/>
            </a:br>
            <a:r>
              <a:rPr lang="en-US" sz="3400" dirty="0" err="1" smtClean="0"/>
              <a:t>Ahlak</a:t>
            </a:r>
            <a:r>
              <a:rPr lang="en-US" sz="3400" dirty="0" smtClean="0"/>
              <a:t>, </a:t>
            </a:r>
            <a:r>
              <a:rPr lang="en-US" sz="3400" dirty="0" err="1" smtClean="0"/>
              <a:t>Etik</a:t>
            </a:r>
            <a:r>
              <a:rPr lang="en-US" sz="3400" dirty="0" smtClean="0"/>
              <a:t> ve </a:t>
            </a:r>
            <a:r>
              <a:rPr lang="en-US" sz="3400" dirty="0" err="1" smtClean="0"/>
              <a:t>Yasalar</a:t>
            </a:r>
            <a:r>
              <a:rPr lang="en-US" sz="3400" dirty="0" smtClean="0"/>
              <a:t> </a:t>
            </a:r>
            <a:r>
              <a:rPr lang="en-US" sz="3400" dirty="0" err="1" smtClean="0"/>
              <a:t>Arasındaki</a:t>
            </a:r>
            <a:r>
              <a:rPr lang="en-US" sz="3400" dirty="0" smtClean="0"/>
              <a:t> </a:t>
            </a:r>
            <a:r>
              <a:rPr lang="en-US" sz="3400" dirty="0" err="1" smtClean="0"/>
              <a:t>Fark</a:t>
            </a:r>
            <a:endParaRPr lang="en-US" sz="3400" dirty="0"/>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537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Figure 1-2: The grid shows the spectrum of ethical and legal behavior. On the vertical axis, behavior ranges from ethical to unethical. On the horizontal axis, behavior ranges from illegal to legal. Starting at the upper-left and working clockwise, the quadrants show the various combinations of behavior: ethical and illegal; ethical and legal; unethical and legal; and unethical and illegal.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143000"/>
            <a:ext cx="6172200" cy="5058970"/>
          </a:xfrm>
        </p:spPr>
      </p:pic>
      <p:sp>
        <p:nvSpPr>
          <p:cNvPr id="3" name="Title 2"/>
          <p:cNvSpPr>
            <a:spLocks noGrp="1"/>
          </p:cNvSpPr>
          <p:nvPr>
            <p:ph type="title"/>
          </p:nvPr>
        </p:nvSpPr>
        <p:spPr>
          <a:xfrm>
            <a:off x="762000" y="290459"/>
            <a:ext cx="8026400" cy="527837"/>
          </a:xfrm>
        </p:spPr>
        <p:txBody>
          <a:bodyPr/>
          <a:lstStyle/>
          <a:p>
            <a:r>
              <a:rPr lang="en-US" sz="4000" dirty="0"/>
              <a:t>Legal versus </a:t>
            </a:r>
            <a:r>
              <a:rPr lang="en-US" sz="4000" dirty="0" smtClean="0"/>
              <a:t>Ethical</a:t>
            </a:r>
            <a:r>
              <a:rPr lang="tr-TR" sz="4000" dirty="0" smtClean="0"/>
              <a:t>-Yasal ve Etik</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4657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32641"/>
            <a:ext cx="8415338" cy="4376583"/>
          </a:xfrm>
        </p:spPr>
        <p:txBody>
          <a:bodyPr/>
          <a:lstStyle/>
          <a:p>
            <a:pPr>
              <a:spcAft>
                <a:spcPts val="600"/>
              </a:spcAft>
            </a:pPr>
            <a:r>
              <a:rPr lang="en-US" sz="2800" dirty="0" err="1" smtClean="0"/>
              <a:t>Etik</a:t>
            </a:r>
            <a:r>
              <a:rPr lang="en-US" sz="2800" dirty="0" smtClean="0"/>
              <a:t> </a:t>
            </a:r>
            <a:r>
              <a:rPr lang="en-US" sz="2800" dirty="0" err="1" smtClean="0"/>
              <a:t>olmayan</a:t>
            </a:r>
            <a:r>
              <a:rPr lang="en-US" sz="2800" dirty="0" smtClean="0"/>
              <a:t> </a:t>
            </a:r>
            <a:r>
              <a:rPr lang="en-US" sz="2800" dirty="0" err="1" smtClean="0"/>
              <a:t>davranış</a:t>
            </a:r>
            <a:r>
              <a:rPr lang="en-US" sz="2800" dirty="0" smtClean="0"/>
              <a:t> </a:t>
            </a:r>
            <a:r>
              <a:rPr lang="en-US" sz="2800" dirty="0" err="1" smtClean="0"/>
              <a:t>riskini</a:t>
            </a:r>
            <a:r>
              <a:rPr lang="en-US" sz="2800" dirty="0" smtClean="0"/>
              <a:t> </a:t>
            </a:r>
            <a:r>
              <a:rPr lang="en-US" sz="2800" dirty="0" err="1" smtClean="0"/>
              <a:t>artıran</a:t>
            </a:r>
            <a:r>
              <a:rPr lang="en-US" sz="2800" dirty="0" smtClean="0"/>
              <a:t> </a:t>
            </a:r>
            <a:r>
              <a:rPr lang="en-US" sz="2800" dirty="0" err="1" smtClean="0"/>
              <a:t>eğilimler</a:t>
            </a:r>
            <a:r>
              <a:rPr lang="en-US" sz="2800" dirty="0" smtClean="0"/>
              <a:t>: </a:t>
            </a:r>
            <a:endParaRPr lang="tr-TR" sz="2800" dirty="0" smtClean="0"/>
          </a:p>
          <a:p>
            <a:pPr lvl="1">
              <a:spcAft>
                <a:spcPts val="600"/>
              </a:spcAft>
            </a:pPr>
            <a:r>
              <a:rPr lang="en-US" sz="2600" dirty="0" err="1" smtClean="0"/>
              <a:t>Farklı</a:t>
            </a:r>
            <a:r>
              <a:rPr lang="en-US" sz="2600" dirty="0" smtClean="0"/>
              <a:t> </a:t>
            </a:r>
            <a:r>
              <a:rPr lang="en-US" sz="2600" dirty="0" err="1" smtClean="0"/>
              <a:t>kültürleri</a:t>
            </a:r>
            <a:r>
              <a:rPr lang="en-US" sz="2600" dirty="0" smtClean="0"/>
              <a:t> </a:t>
            </a:r>
            <a:r>
              <a:rPr lang="en-US" sz="2600" dirty="0" err="1" smtClean="0"/>
              <a:t>kapsayan</a:t>
            </a:r>
            <a:r>
              <a:rPr lang="en-US" sz="2600" dirty="0" smtClean="0"/>
              <a:t> </a:t>
            </a:r>
            <a:r>
              <a:rPr lang="en-US" sz="2600" dirty="0" err="1" smtClean="0"/>
              <a:t>daha</a:t>
            </a:r>
            <a:r>
              <a:rPr lang="en-US" sz="2600" dirty="0" smtClean="0"/>
              <a:t> </a:t>
            </a:r>
            <a:r>
              <a:rPr lang="en-US" sz="2600" dirty="0" err="1" smtClean="0"/>
              <a:t>karmaşık</a:t>
            </a:r>
            <a:r>
              <a:rPr lang="en-US" sz="2600" dirty="0" smtClean="0"/>
              <a:t> </a:t>
            </a:r>
            <a:r>
              <a:rPr lang="en-US" sz="2600" dirty="0" err="1" smtClean="0"/>
              <a:t>çalışma</a:t>
            </a:r>
            <a:r>
              <a:rPr lang="en-US" sz="2600" dirty="0" smtClean="0"/>
              <a:t> </a:t>
            </a:r>
            <a:r>
              <a:rPr lang="en-US" sz="2600" dirty="0" err="1" smtClean="0"/>
              <a:t>ortamları</a:t>
            </a:r>
            <a:r>
              <a:rPr lang="en-US" sz="2600" dirty="0" smtClean="0"/>
              <a:t>, </a:t>
            </a:r>
            <a:r>
              <a:rPr lang="en-US" sz="2600" dirty="0" err="1" smtClean="0"/>
              <a:t>etik</a:t>
            </a:r>
            <a:r>
              <a:rPr lang="en-US" sz="2600" dirty="0" smtClean="0"/>
              <a:t> </a:t>
            </a:r>
            <a:r>
              <a:rPr lang="en-US" sz="2600" dirty="0" err="1" smtClean="0"/>
              <a:t>ilkelerin</a:t>
            </a:r>
            <a:r>
              <a:rPr lang="en-US" sz="2600" dirty="0" smtClean="0"/>
              <a:t> ve </a:t>
            </a:r>
            <a:r>
              <a:rPr lang="en-US" sz="2600" dirty="0" err="1" smtClean="0"/>
              <a:t>kuralların</a:t>
            </a:r>
            <a:r>
              <a:rPr lang="en-US" sz="2600" dirty="0" smtClean="0"/>
              <a:t> </a:t>
            </a:r>
            <a:r>
              <a:rPr lang="en-US" sz="2600" dirty="0" err="1" smtClean="0"/>
              <a:t>tutarlı</a:t>
            </a:r>
            <a:r>
              <a:rPr lang="en-US" sz="2600" dirty="0" smtClean="0"/>
              <a:t> </a:t>
            </a:r>
            <a:r>
              <a:rPr lang="en-US" sz="2600" dirty="0" err="1" smtClean="0"/>
              <a:t>bir</a:t>
            </a:r>
            <a:r>
              <a:rPr lang="en-US" sz="2600" dirty="0" smtClean="0"/>
              <a:t> </a:t>
            </a:r>
            <a:r>
              <a:rPr lang="en-US" sz="2600" dirty="0" err="1" smtClean="0"/>
              <a:t>şekilde</a:t>
            </a:r>
            <a:r>
              <a:rPr lang="en-US" sz="2600" dirty="0" smtClean="0"/>
              <a:t> </a:t>
            </a:r>
            <a:r>
              <a:rPr lang="en-US" sz="2600" dirty="0" err="1" smtClean="0"/>
              <a:t>uygulanmasını</a:t>
            </a:r>
            <a:r>
              <a:rPr lang="en-US" sz="2600" dirty="0" smtClean="0"/>
              <a:t> </a:t>
            </a:r>
            <a:r>
              <a:rPr lang="en-US" sz="2600" dirty="0" err="1" smtClean="0"/>
              <a:t>zorlaştırmaktadır</a:t>
            </a:r>
            <a:r>
              <a:rPr lang="en-US" sz="2600" dirty="0" smtClean="0"/>
              <a:t>. </a:t>
            </a:r>
            <a:endParaRPr lang="tr-TR" sz="2600" dirty="0" smtClean="0"/>
          </a:p>
          <a:p>
            <a:pPr>
              <a:spcAft>
                <a:spcPts val="600"/>
              </a:spcAft>
            </a:pPr>
            <a:r>
              <a:rPr lang="en-US" sz="2800" dirty="0" err="1" smtClean="0"/>
              <a:t>Günümüzün</a:t>
            </a:r>
            <a:r>
              <a:rPr lang="en-US" sz="2800" dirty="0" smtClean="0"/>
              <a:t> </a:t>
            </a:r>
            <a:r>
              <a:rPr lang="en-US" sz="2800" dirty="0" err="1" smtClean="0"/>
              <a:t>zorlu</a:t>
            </a:r>
            <a:r>
              <a:rPr lang="en-US" sz="2800" dirty="0" smtClean="0"/>
              <a:t> </a:t>
            </a:r>
            <a:r>
              <a:rPr lang="en-US" sz="2800" dirty="0" err="1" smtClean="0"/>
              <a:t>ekonomik</a:t>
            </a:r>
            <a:r>
              <a:rPr lang="en-US" sz="2800" dirty="0" smtClean="0"/>
              <a:t> </a:t>
            </a:r>
            <a:r>
              <a:rPr lang="en-US" sz="2800" dirty="0" err="1" smtClean="0"/>
              <a:t>iklimi</a:t>
            </a:r>
            <a:r>
              <a:rPr lang="en-US" sz="2800" dirty="0" smtClean="0"/>
              <a:t>, </a:t>
            </a:r>
            <a:r>
              <a:rPr lang="en-US" sz="2800" dirty="0" err="1" smtClean="0"/>
              <a:t>gelir</a:t>
            </a:r>
            <a:r>
              <a:rPr lang="en-US" sz="2800" dirty="0" smtClean="0"/>
              <a:t> ve </a:t>
            </a:r>
            <a:r>
              <a:rPr lang="en-US" sz="2800" dirty="0" err="1" smtClean="0"/>
              <a:t>karlarını</a:t>
            </a:r>
            <a:r>
              <a:rPr lang="en-US" sz="2800" dirty="0" smtClean="0"/>
              <a:t> </a:t>
            </a:r>
            <a:r>
              <a:rPr lang="en-US" sz="2800" dirty="0" err="1" smtClean="0"/>
              <a:t>korumak</a:t>
            </a:r>
            <a:r>
              <a:rPr lang="en-US" sz="2800" dirty="0" smtClean="0"/>
              <a:t> </a:t>
            </a:r>
            <a:r>
              <a:rPr lang="en-US" sz="2800" dirty="0" err="1" smtClean="0"/>
              <a:t>için</a:t>
            </a:r>
            <a:r>
              <a:rPr lang="en-US" sz="2800" dirty="0" smtClean="0"/>
              <a:t> </a:t>
            </a:r>
            <a:r>
              <a:rPr lang="en-US" sz="2800" dirty="0" err="1" smtClean="0"/>
              <a:t>kuruluşlar</a:t>
            </a:r>
            <a:r>
              <a:rPr lang="en-US" sz="2800" dirty="0" smtClean="0"/>
              <a:t> </a:t>
            </a:r>
            <a:r>
              <a:rPr lang="en-US" sz="2800" dirty="0" err="1" smtClean="0"/>
              <a:t>üzerindeki</a:t>
            </a:r>
            <a:r>
              <a:rPr lang="en-US" sz="2800" dirty="0" smtClean="0"/>
              <a:t> </a:t>
            </a:r>
            <a:r>
              <a:rPr lang="en-US" sz="2800" dirty="0" err="1" smtClean="0"/>
              <a:t>baskıyı</a:t>
            </a:r>
            <a:r>
              <a:rPr lang="en-US" sz="2800" dirty="0" smtClean="0"/>
              <a:t> </a:t>
            </a:r>
            <a:r>
              <a:rPr lang="en-US" sz="2800" dirty="0" err="1" smtClean="0"/>
              <a:t>artırdı</a:t>
            </a:r>
            <a:r>
              <a:rPr lang="en-US" sz="2800" dirty="0" smtClean="0"/>
              <a:t>. </a:t>
            </a:r>
            <a:endParaRPr lang="tr-TR" sz="2800" dirty="0" smtClean="0"/>
          </a:p>
          <a:p>
            <a:pPr>
              <a:spcAft>
                <a:spcPts val="600"/>
              </a:spcAft>
            </a:pPr>
            <a:r>
              <a:rPr lang="en-US" sz="2800" dirty="0" err="1" smtClean="0"/>
              <a:t>Çalışanların</a:t>
            </a:r>
            <a:r>
              <a:rPr lang="en-US" sz="2800" dirty="0" smtClean="0"/>
              <a:t>, </a:t>
            </a:r>
            <a:r>
              <a:rPr lang="en-US" sz="2800" dirty="0" err="1" smtClean="0"/>
              <a:t>hissedarların</a:t>
            </a:r>
            <a:r>
              <a:rPr lang="en-US" sz="2800" dirty="0" smtClean="0"/>
              <a:t> ve </a:t>
            </a:r>
            <a:r>
              <a:rPr lang="en-US" sz="2800" dirty="0" err="1" smtClean="0"/>
              <a:t>düzenleyici</a:t>
            </a:r>
            <a:r>
              <a:rPr lang="en-US" sz="2800" dirty="0" smtClean="0"/>
              <a:t> </a:t>
            </a:r>
            <a:r>
              <a:rPr lang="en-US" sz="2800" dirty="0" err="1" smtClean="0"/>
              <a:t>kurumların</a:t>
            </a:r>
            <a:r>
              <a:rPr lang="en-US" sz="2800" dirty="0" smtClean="0"/>
              <a:t> </a:t>
            </a:r>
            <a:r>
              <a:rPr lang="en-US" sz="2800" dirty="0" err="1" smtClean="0"/>
              <a:t>artan</a:t>
            </a:r>
            <a:r>
              <a:rPr lang="en-US" sz="2800" dirty="0" smtClean="0"/>
              <a:t> </a:t>
            </a:r>
            <a:r>
              <a:rPr lang="en-US" sz="2800" dirty="0" err="1" smtClean="0"/>
              <a:t>dikkati</a:t>
            </a:r>
            <a:r>
              <a:rPr lang="en-US" sz="2800" dirty="0" smtClean="0"/>
              <a:t>, </a:t>
            </a:r>
            <a:r>
              <a:rPr lang="en-US" sz="2800" dirty="0" err="1" smtClean="0"/>
              <a:t>etik</a:t>
            </a:r>
            <a:r>
              <a:rPr lang="en-US" sz="2800" dirty="0" smtClean="0"/>
              <a:t> </a:t>
            </a:r>
            <a:r>
              <a:rPr lang="en-US" sz="2800" dirty="0" err="1" smtClean="0"/>
              <a:t>olmayan</a:t>
            </a:r>
            <a:r>
              <a:rPr lang="en-US" sz="2800" dirty="0" smtClean="0"/>
              <a:t> </a:t>
            </a:r>
            <a:r>
              <a:rPr lang="en-US" sz="2800" dirty="0" err="1" smtClean="0"/>
              <a:t>bir</a:t>
            </a:r>
            <a:r>
              <a:rPr lang="en-US" sz="2800" dirty="0" smtClean="0"/>
              <a:t> </a:t>
            </a:r>
            <a:r>
              <a:rPr lang="en-US" sz="2800" dirty="0" err="1" smtClean="0"/>
              <a:t>şekilde</a:t>
            </a:r>
            <a:r>
              <a:rPr lang="en-US" sz="2800" dirty="0" smtClean="0"/>
              <a:t> </a:t>
            </a:r>
            <a:r>
              <a:rPr lang="en-US" sz="2800" dirty="0" err="1" smtClean="0"/>
              <a:t>hareket</a:t>
            </a:r>
            <a:r>
              <a:rPr lang="en-US" sz="2800" dirty="0" smtClean="0"/>
              <a:t> </a:t>
            </a:r>
            <a:r>
              <a:rPr lang="en-US" sz="2800" dirty="0" err="1" smtClean="0"/>
              <a:t>eden</a:t>
            </a:r>
            <a:r>
              <a:rPr lang="en-US" sz="2800" dirty="0" smtClean="0"/>
              <a:t> </a:t>
            </a:r>
            <a:r>
              <a:rPr lang="en-US" sz="2800" dirty="0" err="1" smtClean="0"/>
              <a:t>işletmeler</a:t>
            </a:r>
            <a:r>
              <a:rPr lang="en-US" sz="2800" dirty="0" smtClean="0"/>
              <a:t> </a:t>
            </a:r>
            <a:r>
              <a:rPr lang="en-US" sz="2800" dirty="0" err="1" smtClean="0"/>
              <a:t>için</a:t>
            </a:r>
            <a:r>
              <a:rPr lang="en-US" sz="2800" dirty="0" smtClean="0"/>
              <a:t> </a:t>
            </a:r>
            <a:r>
              <a:rPr lang="en-US" sz="2800" dirty="0" err="1" smtClean="0"/>
              <a:t>finansal</a:t>
            </a:r>
            <a:r>
              <a:rPr lang="en-US" sz="2800" dirty="0" smtClean="0"/>
              <a:t> </a:t>
            </a:r>
            <a:r>
              <a:rPr lang="en-US" sz="2800" dirty="0" err="1" smtClean="0"/>
              <a:t>kayıp</a:t>
            </a:r>
            <a:r>
              <a:rPr lang="en-US" sz="2800" dirty="0" smtClean="0"/>
              <a:t> ve </a:t>
            </a:r>
            <a:r>
              <a:rPr lang="en-US" sz="2800" dirty="0" err="1" smtClean="0"/>
              <a:t>dava</a:t>
            </a:r>
            <a:r>
              <a:rPr lang="en-US" sz="2800" dirty="0" smtClean="0"/>
              <a:t> </a:t>
            </a:r>
            <a:r>
              <a:rPr lang="en-US" sz="2800" dirty="0" err="1" smtClean="0"/>
              <a:t>riskini</a:t>
            </a:r>
            <a:r>
              <a:rPr lang="en-US" sz="2800" dirty="0" smtClean="0"/>
              <a:t> </a:t>
            </a:r>
            <a:r>
              <a:rPr lang="en-US" sz="2800" dirty="0" err="1" smtClean="0"/>
              <a:t>artırmıştır</a:t>
            </a:r>
            <a:r>
              <a:rPr lang="en-US" sz="2800" dirty="0" smtClean="0"/>
              <a:t>.</a:t>
            </a:r>
            <a:endParaRPr lang="en-US" dirty="0"/>
          </a:p>
        </p:txBody>
      </p:sp>
      <p:sp>
        <p:nvSpPr>
          <p:cNvPr id="3" name="Title 2"/>
          <p:cNvSpPr>
            <a:spLocks noGrp="1"/>
          </p:cNvSpPr>
          <p:nvPr>
            <p:ph type="title"/>
          </p:nvPr>
        </p:nvSpPr>
        <p:spPr>
          <a:xfrm>
            <a:off x="762000" y="31156"/>
            <a:ext cx="8026400" cy="1046440"/>
          </a:xfrm>
        </p:spPr>
        <p:txBody>
          <a:bodyPr/>
          <a:lstStyle/>
          <a:p>
            <a:r>
              <a:rPr lang="en-US" sz="4000" dirty="0"/>
              <a:t>Ethics in the Business </a:t>
            </a:r>
            <a:r>
              <a:rPr lang="en-US" sz="4000" dirty="0" smtClean="0"/>
              <a:t>World</a:t>
            </a:r>
            <a:r>
              <a:rPr lang="tr-TR" sz="4000" dirty="0" smtClean="0"/>
              <a:t> </a:t>
            </a:r>
            <a:br>
              <a:rPr lang="tr-TR" sz="4000" dirty="0" smtClean="0"/>
            </a:br>
            <a:r>
              <a:rPr lang="tr-TR" sz="4000" dirty="0" smtClean="0"/>
              <a:t>İş Dünyasında Etik</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034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6238" y="1524000"/>
            <a:ext cx="8415338" cy="4065728"/>
          </a:xfrm>
        </p:spPr>
        <p:txBody>
          <a:bodyPr/>
          <a:lstStyle/>
          <a:p>
            <a:r>
              <a:rPr lang="en-US" altLang="en-US" sz="2800" dirty="0" err="1" smtClean="0"/>
              <a:t>İktidardakilerin</a:t>
            </a:r>
            <a:r>
              <a:rPr lang="en-US" altLang="en-US" sz="2800" dirty="0" smtClean="0"/>
              <a:t> </a:t>
            </a:r>
            <a:r>
              <a:rPr lang="en-US" altLang="en-US" sz="2800" dirty="0" err="1" smtClean="0"/>
              <a:t>ahlaki</a:t>
            </a:r>
            <a:r>
              <a:rPr lang="en-US" altLang="en-US" sz="2800" dirty="0" smtClean="0"/>
              <a:t> </a:t>
            </a:r>
            <a:r>
              <a:rPr lang="en-US" altLang="en-US" sz="2800" dirty="0" err="1" smtClean="0"/>
              <a:t>yozlaşmasını</a:t>
            </a:r>
            <a:r>
              <a:rPr lang="en-US" altLang="en-US" sz="2800" dirty="0" smtClean="0"/>
              <a:t> </a:t>
            </a:r>
            <a:r>
              <a:rPr lang="en-US" altLang="en-US" sz="2800" dirty="0" err="1" smtClean="0"/>
              <a:t>tanımlamak</a:t>
            </a:r>
            <a:r>
              <a:rPr lang="en-US" altLang="en-US" sz="2800" dirty="0" smtClean="0"/>
              <a:t> </a:t>
            </a:r>
            <a:r>
              <a:rPr lang="en-US" altLang="en-US" sz="2800" dirty="0" err="1" smtClean="0"/>
              <a:t>için</a:t>
            </a:r>
            <a:r>
              <a:rPr lang="en-US" altLang="en-US" sz="2800" dirty="0" smtClean="0"/>
              <a:t> </a:t>
            </a:r>
            <a:r>
              <a:rPr lang="en-US" altLang="en-US" sz="2800" dirty="0" err="1" smtClean="0"/>
              <a:t>kullanılan</a:t>
            </a:r>
            <a:r>
              <a:rPr lang="en-US" altLang="en-US" sz="2800" dirty="0" smtClean="0"/>
              <a:t> </a:t>
            </a:r>
            <a:r>
              <a:rPr lang="en-US" altLang="en-US" sz="2800" dirty="0" err="1" smtClean="0"/>
              <a:t>terim</a:t>
            </a:r>
            <a:r>
              <a:rPr lang="en-US" altLang="en-US" sz="2800" dirty="0" smtClean="0"/>
              <a:t> </a:t>
            </a:r>
            <a:endParaRPr lang="tr-TR" altLang="en-US" sz="2800" dirty="0" smtClean="0"/>
          </a:p>
          <a:p>
            <a:r>
              <a:rPr lang="en-US" altLang="en-US" sz="2800" dirty="0" err="1" smtClean="0"/>
              <a:t>İktidardakilerin</a:t>
            </a:r>
            <a:r>
              <a:rPr lang="en-US" altLang="en-US" sz="2800" dirty="0" smtClean="0"/>
              <a:t> </a:t>
            </a:r>
            <a:r>
              <a:rPr lang="en-US" altLang="en-US" sz="2800" dirty="0" err="1" smtClean="0"/>
              <a:t>gücü</a:t>
            </a:r>
            <a:r>
              <a:rPr lang="en-US" altLang="en-US" sz="2800" dirty="0" smtClean="0"/>
              <a:t> ve </a:t>
            </a:r>
            <a:r>
              <a:rPr lang="en-US" altLang="en-US" sz="2800" dirty="0" err="1" smtClean="0"/>
              <a:t>başarısı</a:t>
            </a:r>
            <a:r>
              <a:rPr lang="en-US" altLang="en-US" sz="2800" dirty="0" smtClean="0"/>
              <a:t> </a:t>
            </a:r>
            <a:r>
              <a:rPr lang="en-US" altLang="en-US" sz="2800" dirty="0" err="1" smtClean="0"/>
              <a:t>ile</a:t>
            </a:r>
            <a:r>
              <a:rPr lang="en-US" altLang="en-US" sz="2800" dirty="0" smtClean="0"/>
              <a:t> </a:t>
            </a:r>
            <a:r>
              <a:rPr lang="en-US" altLang="en-US" sz="2800" dirty="0" err="1" smtClean="0"/>
              <a:t>bozulan</a:t>
            </a:r>
            <a:r>
              <a:rPr lang="en-US" altLang="en-US" sz="2800" dirty="0" smtClean="0"/>
              <a:t> </a:t>
            </a:r>
            <a:r>
              <a:rPr lang="en-US" altLang="en-US" sz="2800" dirty="0" err="1" smtClean="0"/>
              <a:t>Kral</a:t>
            </a:r>
            <a:r>
              <a:rPr lang="en-US" altLang="en-US" sz="2800" dirty="0" smtClean="0"/>
              <a:t> </a:t>
            </a:r>
            <a:r>
              <a:rPr lang="en-US" altLang="en-US" sz="2800" dirty="0" err="1" smtClean="0"/>
              <a:t>Davut'un</a:t>
            </a:r>
            <a:r>
              <a:rPr lang="en-US" altLang="en-US" sz="2800" dirty="0" smtClean="0"/>
              <a:t> </a:t>
            </a:r>
            <a:r>
              <a:rPr lang="en-US" altLang="en-US" sz="2800" dirty="0" err="1" smtClean="0"/>
              <a:t>İncil</a:t>
            </a:r>
            <a:r>
              <a:rPr lang="en-US" altLang="en-US" sz="2800" dirty="0" smtClean="0"/>
              <a:t> </a:t>
            </a:r>
            <a:r>
              <a:rPr lang="en-US" altLang="en-US" sz="2800" dirty="0" err="1" smtClean="0"/>
              <a:t>hikayesine</a:t>
            </a:r>
            <a:r>
              <a:rPr lang="en-US" altLang="en-US" sz="2800" dirty="0" smtClean="0"/>
              <a:t> </a:t>
            </a:r>
            <a:r>
              <a:rPr lang="en-US" altLang="en-US" sz="2800" dirty="0" err="1" smtClean="0"/>
              <a:t>atıfta</a:t>
            </a:r>
            <a:r>
              <a:rPr lang="en-US" altLang="en-US" sz="2800" dirty="0" smtClean="0"/>
              <a:t> </a:t>
            </a:r>
            <a:r>
              <a:rPr lang="en-US" altLang="en-US" sz="2800" dirty="0" err="1" smtClean="0"/>
              <a:t>bulunur</a:t>
            </a:r>
            <a:r>
              <a:rPr lang="en-US" altLang="en-US" sz="2800" dirty="0" smtClean="0"/>
              <a:t> </a:t>
            </a:r>
            <a:endParaRPr lang="tr-TR" altLang="en-US" sz="2800" dirty="0" smtClean="0"/>
          </a:p>
          <a:p>
            <a:r>
              <a:rPr lang="en-US" altLang="en-US" sz="2800" dirty="0" err="1" smtClean="0"/>
              <a:t>İktidardaki</a:t>
            </a:r>
            <a:r>
              <a:rPr lang="en-US" altLang="en-US" sz="2800" dirty="0" smtClean="0"/>
              <a:t> </a:t>
            </a:r>
            <a:r>
              <a:rPr lang="en-US" altLang="en-US" sz="2800" dirty="0" err="1" smtClean="0"/>
              <a:t>insanların</a:t>
            </a:r>
            <a:r>
              <a:rPr lang="en-US" altLang="en-US" sz="2800" dirty="0" smtClean="0"/>
              <a:t> </a:t>
            </a:r>
            <a:r>
              <a:rPr lang="en-US" altLang="en-US" sz="2800" dirty="0" err="1" smtClean="0"/>
              <a:t>ahlaki</a:t>
            </a:r>
            <a:r>
              <a:rPr lang="en-US" altLang="en-US" sz="2800" dirty="0" smtClean="0"/>
              <a:t> </a:t>
            </a:r>
            <a:r>
              <a:rPr lang="en-US" altLang="en-US" sz="2800" dirty="0" err="1" smtClean="0"/>
              <a:t>yozlaşması</a:t>
            </a:r>
            <a:r>
              <a:rPr lang="en-US" altLang="en-US" sz="2800" dirty="0" smtClean="0"/>
              <a:t>, </a:t>
            </a:r>
            <a:r>
              <a:rPr lang="en-US" altLang="en-US" sz="2800" dirty="0" err="1" smtClean="0"/>
              <a:t>liderleri</a:t>
            </a:r>
            <a:r>
              <a:rPr lang="en-US" altLang="en-US" sz="2800" dirty="0" smtClean="0"/>
              <a:t> </a:t>
            </a:r>
            <a:r>
              <a:rPr lang="en-US" altLang="en-US" sz="2800" dirty="0" err="1" smtClean="0"/>
              <a:t>uygunsuz</a:t>
            </a:r>
            <a:r>
              <a:rPr lang="en-US" altLang="en-US" sz="2800" dirty="0" smtClean="0"/>
              <a:t> </a:t>
            </a:r>
            <a:r>
              <a:rPr lang="en-US" altLang="en-US" sz="2800" dirty="0" err="1" smtClean="0"/>
              <a:t>davrandığında</a:t>
            </a:r>
            <a:r>
              <a:rPr lang="en-US" altLang="en-US" sz="2800" dirty="0" smtClean="0"/>
              <a:t> </a:t>
            </a:r>
            <a:r>
              <a:rPr lang="en-US" altLang="en-US" sz="2800" dirty="0" err="1" smtClean="0"/>
              <a:t>insanların</a:t>
            </a:r>
            <a:r>
              <a:rPr lang="en-US" altLang="en-US" sz="2800" dirty="0" smtClean="0"/>
              <a:t> </a:t>
            </a:r>
            <a:r>
              <a:rPr lang="en-US" altLang="en-US" sz="2800" dirty="0" err="1" smtClean="0"/>
              <a:t>diğer</a:t>
            </a:r>
            <a:r>
              <a:rPr lang="en-US" altLang="en-US" sz="2800" dirty="0" smtClean="0"/>
              <a:t> </a:t>
            </a:r>
            <a:r>
              <a:rPr lang="en-US" altLang="en-US" sz="2800" dirty="0" err="1" smtClean="0"/>
              <a:t>tarafa</a:t>
            </a:r>
            <a:r>
              <a:rPr lang="en-US" altLang="en-US" sz="2800" dirty="0" smtClean="0"/>
              <a:t> </a:t>
            </a:r>
            <a:r>
              <a:rPr lang="en-US" altLang="en-US" sz="2800" dirty="0" err="1" smtClean="0"/>
              <a:t>bakma</a:t>
            </a:r>
            <a:r>
              <a:rPr lang="en-US" altLang="en-US" sz="2800" dirty="0" smtClean="0"/>
              <a:t> </a:t>
            </a:r>
            <a:r>
              <a:rPr lang="en-US" altLang="en-US" sz="2800" dirty="0" err="1" smtClean="0"/>
              <a:t>eğilimi</a:t>
            </a:r>
            <a:r>
              <a:rPr lang="en-US" altLang="en-US" sz="2800" dirty="0" smtClean="0"/>
              <a:t> </a:t>
            </a:r>
            <a:r>
              <a:rPr lang="en-US" altLang="en-US" sz="2800" dirty="0" err="1" smtClean="0"/>
              <a:t>ile</a:t>
            </a:r>
            <a:r>
              <a:rPr lang="en-US" altLang="en-US" sz="2800" dirty="0" smtClean="0"/>
              <a:t> </a:t>
            </a:r>
            <a:r>
              <a:rPr lang="en-US" altLang="en-US" sz="2800" dirty="0" err="1" smtClean="0"/>
              <a:t>kolaylaştırılır</a:t>
            </a:r>
            <a:endParaRPr lang="en-US" altLang="en-US" sz="2800" dirty="0"/>
          </a:p>
          <a:p>
            <a:pPr marL="0" indent="0">
              <a:buNone/>
            </a:pPr>
            <a:endParaRPr lang="en-US" altLang="en-US" dirty="0"/>
          </a:p>
          <a:p>
            <a:endParaRPr lang="en-US" dirty="0"/>
          </a:p>
        </p:txBody>
      </p:sp>
      <p:sp>
        <p:nvSpPr>
          <p:cNvPr id="3" name="Title 2"/>
          <p:cNvSpPr>
            <a:spLocks noGrp="1"/>
          </p:cNvSpPr>
          <p:nvPr>
            <p:ph type="title"/>
          </p:nvPr>
        </p:nvSpPr>
        <p:spPr>
          <a:xfrm>
            <a:off x="762000" y="28849"/>
            <a:ext cx="8026400" cy="1051057"/>
          </a:xfrm>
        </p:spPr>
        <p:txBody>
          <a:bodyPr/>
          <a:lstStyle/>
          <a:p>
            <a:r>
              <a:rPr lang="en-US" sz="4000" dirty="0"/>
              <a:t>Bathsheba </a:t>
            </a:r>
            <a:r>
              <a:rPr lang="en-US" sz="4000" dirty="0" smtClean="0"/>
              <a:t>Syndrome</a:t>
            </a:r>
            <a:r>
              <a:rPr lang="tr-TR" sz="4000" dirty="0" smtClean="0"/>
              <a:t/>
            </a:r>
            <a:br>
              <a:rPr lang="tr-TR" sz="4000" dirty="0" smtClean="0"/>
            </a:br>
            <a:r>
              <a:rPr lang="tr-TR" sz="4000" dirty="0" err="1" smtClean="0"/>
              <a:t>Bathsheba</a:t>
            </a:r>
            <a:r>
              <a:rPr lang="tr-TR" sz="4000" dirty="0" smtClean="0"/>
              <a:t> Sendromu</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6954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97372"/>
            <a:ext cx="8026400" cy="837152"/>
          </a:xfrm>
        </p:spPr>
        <p:txBody>
          <a:bodyPr/>
          <a:lstStyle/>
          <a:p>
            <a:r>
              <a:rPr lang="en-US" sz="3200" dirty="0"/>
              <a:t>Who Is Responsible for Instances of Misconduct</a:t>
            </a:r>
            <a:r>
              <a:rPr lang="en-US" sz="3200" dirty="0" smtClean="0"/>
              <a:t>?</a:t>
            </a:r>
            <a:r>
              <a:rPr lang="tr-TR" sz="3200" dirty="0" smtClean="0"/>
              <a:t/>
            </a:r>
            <a:br>
              <a:rPr lang="tr-TR" sz="3200" dirty="0" smtClean="0"/>
            </a:br>
            <a:r>
              <a:rPr lang="tr-TR" sz="3200" dirty="0" err="1" smtClean="0"/>
              <a:t>Suistimal</a:t>
            </a:r>
            <a:r>
              <a:rPr lang="tr-TR" sz="3200" dirty="0" smtClean="0"/>
              <a:t> olaylarından kim sorumludur?</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Content Placeholder 4" descr="Figure 1-3: This pie chart shows the breakdown of reported workplace misconduct by employee type. First-line managers: 17%; middle managers: 19%; senior managers: 24%; and non-managers: 4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0416" y="1366736"/>
            <a:ext cx="4569568" cy="4557712"/>
          </a:xfrm>
          <a:prstGeom prst="rect">
            <a:avLst/>
          </a:prstGeom>
        </p:spPr>
      </p:pic>
    </p:spTree>
    <p:extLst>
      <p:ext uri="{BB962C8B-B14F-4D97-AF65-F5344CB8AC3E}">
        <p14:creationId xmlns:p14="http://schemas.microsoft.com/office/powerpoint/2010/main" val="52331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8809" y="1234922"/>
            <a:ext cx="8534400" cy="5001369"/>
          </a:xfrm>
        </p:spPr>
        <p:txBody>
          <a:bodyPr/>
          <a:lstStyle/>
          <a:p>
            <a:r>
              <a:rPr lang="en-US" sz="2600" dirty="0" err="1" smtClean="0"/>
              <a:t>Kuruluş</a:t>
            </a:r>
            <a:r>
              <a:rPr lang="en-US" sz="2600" dirty="0" smtClean="0"/>
              <a:t>, </a:t>
            </a:r>
            <a:r>
              <a:rPr lang="en-US" sz="2600" dirty="0" err="1" smtClean="0"/>
              <a:t>eylemlerinin</a:t>
            </a:r>
            <a:r>
              <a:rPr lang="en-US" sz="2600" dirty="0" smtClean="0"/>
              <a:t> </a:t>
            </a:r>
            <a:r>
              <a:rPr lang="en-US" sz="2600" dirty="0" err="1" smtClean="0"/>
              <a:t>aşağıdaki</a:t>
            </a:r>
            <a:r>
              <a:rPr lang="en-US" sz="2600" dirty="0" smtClean="0"/>
              <a:t> </a:t>
            </a:r>
            <a:r>
              <a:rPr lang="en-US" sz="2600" dirty="0" err="1" smtClean="0"/>
              <a:t>üzerindeki</a:t>
            </a:r>
            <a:r>
              <a:rPr lang="en-US" sz="2600" dirty="0" smtClean="0"/>
              <a:t> </a:t>
            </a:r>
            <a:r>
              <a:rPr lang="en-US" sz="2600" dirty="0" err="1" smtClean="0"/>
              <a:t>etkisinden</a:t>
            </a:r>
            <a:r>
              <a:rPr lang="en-US" sz="2600" dirty="0" smtClean="0"/>
              <a:t> </a:t>
            </a:r>
            <a:r>
              <a:rPr lang="en-US" sz="2600" dirty="0" err="1" smtClean="0"/>
              <a:t>sorumlu</a:t>
            </a:r>
            <a:r>
              <a:rPr lang="en-US" sz="2600" dirty="0" smtClean="0"/>
              <a:t> </a:t>
            </a:r>
            <a:r>
              <a:rPr lang="en-US" sz="2600" dirty="0" err="1" smtClean="0"/>
              <a:t>tutar</a:t>
            </a:r>
            <a:r>
              <a:rPr lang="en-US" sz="2600" dirty="0" smtClean="0"/>
              <a:t>: </a:t>
            </a:r>
            <a:endParaRPr lang="tr-TR" sz="2600" dirty="0" smtClean="0"/>
          </a:p>
          <a:p>
            <a:pPr lvl="1"/>
            <a:r>
              <a:rPr lang="en-US" sz="2400" dirty="0" err="1" smtClean="0"/>
              <a:t>Hissedarlar</a:t>
            </a:r>
            <a:r>
              <a:rPr lang="en-US" sz="2400" dirty="0" smtClean="0"/>
              <a:t> </a:t>
            </a:r>
            <a:endParaRPr lang="tr-TR" sz="2400" dirty="0" smtClean="0"/>
          </a:p>
          <a:p>
            <a:pPr lvl="1"/>
            <a:r>
              <a:rPr lang="en-US" sz="2400" dirty="0" err="1" smtClean="0"/>
              <a:t>Tüketiciler</a:t>
            </a:r>
            <a:r>
              <a:rPr lang="en-US" sz="2400" dirty="0" smtClean="0"/>
              <a:t> </a:t>
            </a:r>
            <a:endParaRPr lang="tr-TR" sz="2400" dirty="0" smtClean="0"/>
          </a:p>
          <a:p>
            <a:pPr lvl="1"/>
            <a:r>
              <a:rPr lang="en-US" sz="2400" dirty="0" err="1" smtClean="0"/>
              <a:t>Çalışanlar</a:t>
            </a:r>
            <a:r>
              <a:rPr lang="en-US" sz="2400" dirty="0" smtClean="0"/>
              <a:t> </a:t>
            </a:r>
            <a:endParaRPr lang="tr-TR" sz="2400" dirty="0" smtClean="0"/>
          </a:p>
          <a:p>
            <a:pPr lvl="1"/>
            <a:r>
              <a:rPr lang="en-US" sz="2400" dirty="0" err="1" smtClean="0"/>
              <a:t>Topluluk</a:t>
            </a:r>
            <a:r>
              <a:rPr lang="en-US" sz="2400" dirty="0" smtClean="0"/>
              <a:t> </a:t>
            </a:r>
            <a:endParaRPr lang="tr-TR" sz="2400" dirty="0" smtClean="0"/>
          </a:p>
          <a:p>
            <a:pPr lvl="1"/>
            <a:r>
              <a:rPr lang="en-US" sz="2400" dirty="0" err="1" smtClean="0"/>
              <a:t>Çevre</a:t>
            </a:r>
            <a:r>
              <a:rPr lang="en-US" sz="2400" dirty="0" smtClean="0"/>
              <a:t> </a:t>
            </a:r>
            <a:endParaRPr lang="tr-TR" sz="2400" dirty="0" smtClean="0"/>
          </a:p>
          <a:p>
            <a:pPr lvl="1"/>
            <a:r>
              <a:rPr lang="en-US" sz="2400" dirty="0" err="1" smtClean="0"/>
              <a:t>Tedarikçiler</a:t>
            </a:r>
            <a:r>
              <a:rPr lang="en-US" sz="2400" dirty="0" smtClean="0"/>
              <a:t> </a:t>
            </a:r>
            <a:endParaRPr lang="tr-TR" sz="2400" dirty="0" smtClean="0"/>
          </a:p>
          <a:p>
            <a:r>
              <a:rPr lang="en-US" sz="2600" dirty="0" err="1" smtClean="0"/>
              <a:t>Tedarik</a:t>
            </a:r>
            <a:r>
              <a:rPr lang="en-US" sz="2600" dirty="0" smtClean="0"/>
              <a:t> </a:t>
            </a:r>
            <a:r>
              <a:rPr lang="en-US" sz="2600" dirty="0" err="1" smtClean="0"/>
              <a:t>zinciri</a:t>
            </a:r>
            <a:r>
              <a:rPr lang="en-US" sz="2600" dirty="0" smtClean="0"/>
              <a:t> </a:t>
            </a:r>
            <a:r>
              <a:rPr lang="en-US" sz="2600" dirty="0" err="1" smtClean="0"/>
              <a:t>sürdürülebilirliği</a:t>
            </a:r>
            <a:r>
              <a:rPr lang="en-US" sz="2600" dirty="0" smtClean="0"/>
              <a:t>: </a:t>
            </a:r>
            <a:r>
              <a:rPr lang="en-US" sz="2600" dirty="0" err="1" smtClean="0"/>
              <a:t>KSS'nin</a:t>
            </a:r>
            <a:r>
              <a:rPr lang="en-US" sz="2600" dirty="0" smtClean="0"/>
              <a:t>, </a:t>
            </a:r>
            <a:r>
              <a:rPr lang="en-US" sz="2600" dirty="0" err="1" smtClean="0"/>
              <a:t>gelecek</a:t>
            </a:r>
            <a:r>
              <a:rPr lang="en-US" sz="2600" dirty="0" smtClean="0"/>
              <a:t> </a:t>
            </a:r>
            <a:r>
              <a:rPr lang="en-US" sz="2600" dirty="0" err="1" smtClean="0"/>
              <a:t>nesillerin</a:t>
            </a:r>
            <a:r>
              <a:rPr lang="en-US" sz="2600" dirty="0" smtClean="0"/>
              <a:t> </a:t>
            </a:r>
            <a:r>
              <a:rPr lang="en-US" sz="2600" dirty="0" err="1" smtClean="0"/>
              <a:t>ihtiyaçlarını</a:t>
            </a:r>
            <a:r>
              <a:rPr lang="en-US" sz="2600" dirty="0" smtClean="0"/>
              <a:t> </a:t>
            </a:r>
            <a:r>
              <a:rPr lang="en-US" sz="2600" dirty="0" err="1" smtClean="0"/>
              <a:t>karşılama</a:t>
            </a:r>
            <a:r>
              <a:rPr lang="en-US" sz="2600" dirty="0" smtClean="0"/>
              <a:t> </a:t>
            </a:r>
            <a:r>
              <a:rPr lang="en-US" sz="2600" dirty="0" err="1" smtClean="0"/>
              <a:t>yeteneğinden</a:t>
            </a:r>
            <a:r>
              <a:rPr lang="en-US" sz="2600" dirty="0" smtClean="0"/>
              <a:t> </a:t>
            </a:r>
            <a:r>
              <a:rPr lang="en-US" sz="2600" dirty="0" err="1" smtClean="0"/>
              <a:t>ödün</a:t>
            </a:r>
            <a:r>
              <a:rPr lang="en-US" sz="2600" dirty="0" smtClean="0"/>
              <a:t> </a:t>
            </a:r>
            <a:r>
              <a:rPr lang="en-US" sz="2600" dirty="0" err="1" smtClean="0"/>
              <a:t>vermeden</a:t>
            </a:r>
            <a:r>
              <a:rPr lang="en-US" sz="2600" dirty="0" smtClean="0"/>
              <a:t> </a:t>
            </a:r>
            <a:r>
              <a:rPr lang="en-US" sz="2600" dirty="0" err="1" smtClean="0"/>
              <a:t>bugünün</a:t>
            </a:r>
            <a:r>
              <a:rPr lang="en-US" sz="2600" dirty="0" smtClean="0"/>
              <a:t> </a:t>
            </a:r>
            <a:r>
              <a:rPr lang="en-US" sz="2600" dirty="0" err="1" smtClean="0"/>
              <a:t>ihtiyaçlarını</a:t>
            </a:r>
            <a:r>
              <a:rPr lang="en-US" sz="2600" dirty="0" smtClean="0"/>
              <a:t> </a:t>
            </a:r>
            <a:r>
              <a:rPr lang="en-US" sz="2600" dirty="0" err="1" smtClean="0"/>
              <a:t>karşılayan</a:t>
            </a:r>
            <a:r>
              <a:rPr lang="en-US" sz="2600" dirty="0" smtClean="0"/>
              <a:t> </a:t>
            </a:r>
            <a:r>
              <a:rPr lang="en-US" sz="2600" dirty="0" err="1" smtClean="0"/>
              <a:t>bir</a:t>
            </a:r>
            <a:r>
              <a:rPr lang="en-US" sz="2600" dirty="0" smtClean="0"/>
              <a:t> </a:t>
            </a:r>
            <a:r>
              <a:rPr lang="en-US" sz="2600" dirty="0" err="1" smtClean="0"/>
              <a:t>tedarik</a:t>
            </a:r>
            <a:r>
              <a:rPr lang="en-US" sz="2600" dirty="0" smtClean="0"/>
              <a:t> </a:t>
            </a:r>
            <a:r>
              <a:rPr lang="en-US" sz="2600" dirty="0" err="1" smtClean="0"/>
              <a:t>zinciri</a:t>
            </a:r>
            <a:r>
              <a:rPr lang="en-US" sz="2600" dirty="0" smtClean="0"/>
              <a:t> </a:t>
            </a:r>
            <a:r>
              <a:rPr lang="en-US" sz="2600" dirty="0" err="1" smtClean="0"/>
              <a:t>geliştirmeye</a:t>
            </a:r>
            <a:r>
              <a:rPr lang="en-US" sz="2600" dirty="0" smtClean="0"/>
              <a:t> ve </a:t>
            </a:r>
            <a:r>
              <a:rPr lang="en-US" sz="2600" dirty="0" err="1" smtClean="0"/>
              <a:t>sürdürmeye</a:t>
            </a:r>
            <a:r>
              <a:rPr lang="en-US" sz="2600" dirty="0" smtClean="0"/>
              <a:t> </a:t>
            </a:r>
            <a:r>
              <a:rPr lang="en-US" sz="2600" dirty="0" err="1" smtClean="0"/>
              <a:t>odaklanan</a:t>
            </a:r>
            <a:r>
              <a:rPr lang="en-US" sz="2600" dirty="0" smtClean="0"/>
              <a:t> </a:t>
            </a:r>
            <a:r>
              <a:rPr lang="en-US" sz="2600" dirty="0" err="1" smtClean="0"/>
              <a:t>bir</a:t>
            </a:r>
            <a:r>
              <a:rPr lang="en-US" sz="2600" dirty="0" smtClean="0"/>
              <a:t> </a:t>
            </a:r>
            <a:r>
              <a:rPr lang="en-US" sz="2600" dirty="0" err="1" smtClean="0"/>
              <a:t>bileşeni</a:t>
            </a:r>
            <a:endParaRPr lang="en-US" dirty="0"/>
          </a:p>
        </p:txBody>
      </p:sp>
      <p:sp>
        <p:nvSpPr>
          <p:cNvPr id="3" name="Title 2"/>
          <p:cNvSpPr>
            <a:spLocks noGrp="1"/>
          </p:cNvSpPr>
          <p:nvPr>
            <p:ph type="title"/>
          </p:nvPr>
        </p:nvSpPr>
        <p:spPr>
          <a:xfrm>
            <a:off x="776809" y="0"/>
            <a:ext cx="8026400" cy="1046440"/>
          </a:xfrm>
        </p:spPr>
        <p:txBody>
          <a:bodyPr/>
          <a:lstStyle/>
          <a:p>
            <a:r>
              <a:rPr lang="en-US" sz="4000" dirty="0"/>
              <a:t>Corporate Social Responsibility (CSR</a:t>
            </a:r>
            <a:r>
              <a:rPr lang="en-US" sz="4000" dirty="0" smtClean="0"/>
              <a:t>)</a:t>
            </a:r>
            <a:r>
              <a:rPr lang="tr-TR" sz="4000" dirty="0" smtClean="0"/>
              <a:t/>
            </a:r>
            <a:br>
              <a:rPr lang="tr-TR" sz="4000" dirty="0" smtClean="0"/>
            </a:br>
            <a:r>
              <a:rPr lang="tr-TR" sz="4000" dirty="0" smtClean="0"/>
              <a:t>Kurumsal Sosyal Sorumluluk (KSS)</a:t>
            </a:r>
            <a:r>
              <a:rPr lang="en-US" sz="4000" dirty="0"/>
              <a:t>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7523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662267"/>
          </a:xfrm>
        </p:spPr>
        <p:txBody>
          <a:bodyPr/>
          <a:lstStyle/>
          <a:p>
            <a:r>
              <a:rPr lang="en-US" sz="2800" dirty="0" err="1" smtClean="0"/>
              <a:t>Topluluğun</a:t>
            </a:r>
            <a:r>
              <a:rPr lang="en-US" sz="2800" dirty="0" smtClean="0"/>
              <a:t> </a:t>
            </a:r>
            <a:r>
              <a:rPr lang="en-US" sz="2800" dirty="0" err="1" smtClean="0"/>
              <a:t>iyi</a:t>
            </a:r>
            <a:r>
              <a:rPr lang="en-US" sz="2800" dirty="0" smtClean="0"/>
              <a:t> </a:t>
            </a:r>
            <a:r>
              <a:rPr lang="en-US" sz="2800" dirty="0" err="1" smtClean="0"/>
              <a:t>niyetini</a:t>
            </a:r>
            <a:r>
              <a:rPr lang="en-US" sz="2800" dirty="0" smtClean="0"/>
              <a:t> </a:t>
            </a:r>
            <a:r>
              <a:rPr lang="en-US" sz="2800" dirty="0" err="1" smtClean="0"/>
              <a:t>kazanın</a:t>
            </a:r>
            <a:r>
              <a:rPr lang="en-US" sz="2800" dirty="0" smtClean="0"/>
              <a:t> </a:t>
            </a:r>
            <a:endParaRPr lang="tr-TR" sz="2800" dirty="0" smtClean="0"/>
          </a:p>
          <a:p>
            <a:r>
              <a:rPr lang="en-US" sz="2800" dirty="0" err="1" smtClean="0"/>
              <a:t>Tutarlı</a:t>
            </a:r>
            <a:r>
              <a:rPr lang="en-US" sz="2800" dirty="0" smtClean="0"/>
              <a:t> </a:t>
            </a:r>
            <a:r>
              <a:rPr lang="en-US" sz="2800" dirty="0" err="1" smtClean="0"/>
              <a:t>bir</a:t>
            </a:r>
            <a:r>
              <a:rPr lang="en-US" sz="2800" dirty="0" smtClean="0"/>
              <a:t> </a:t>
            </a:r>
            <a:r>
              <a:rPr lang="en-US" sz="2800" dirty="0" err="1" smtClean="0"/>
              <a:t>şekilde</a:t>
            </a:r>
            <a:r>
              <a:rPr lang="en-US" sz="2800" dirty="0" smtClean="0"/>
              <a:t> </a:t>
            </a:r>
            <a:r>
              <a:rPr lang="en-US" sz="2800" dirty="0" err="1" smtClean="0"/>
              <a:t>çalışan</a:t>
            </a:r>
            <a:r>
              <a:rPr lang="en-US" sz="2800" dirty="0" smtClean="0"/>
              <a:t> </a:t>
            </a:r>
            <a:r>
              <a:rPr lang="en-US" sz="2800" dirty="0" err="1" smtClean="0"/>
              <a:t>bir</a:t>
            </a:r>
            <a:r>
              <a:rPr lang="en-US" sz="2800" dirty="0" smtClean="0"/>
              <a:t> </a:t>
            </a:r>
            <a:r>
              <a:rPr lang="en-US" sz="2800" dirty="0" err="1" smtClean="0"/>
              <a:t>kuruluş</a:t>
            </a:r>
            <a:r>
              <a:rPr lang="en-US" sz="2800" dirty="0" smtClean="0"/>
              <a:t> </a:t>
            </a:r>
            <a:r>
              <a:rPr lang="en-US" sz="2800" dirty="0" err="1" smtClean="0"/>
              <a:t>oluşturun</a:t>
            </a:r>
            <a:r>
              <a:rPr lang="en-US" sz="2800" dirty="0" smtClean="0"/>
              <a:t> </a:t>
            </a:r>
            <a:endParaRPr lang="tr-TR" sz="2800" dirty="0" smtClean="0"/>
          </a:p>
          <a:p>
            <a:r>
              <a:rPr lang="en-US" sz="2800" dirty="0" err="1" smtClean="0"/>
              <a:t>İyi</a:t>
            </a:r>
            <a:r>
              <a:rPr lang="en-US" sz="2800" dirty="0" smtClean="0"/>
              <a:t> </a:t>
            </a:r>
            <a:r>
              <a:rPr lang="en-US" sz="2800" dirty="0" err="1" smtClean="0"/>
              <a:t>iş</a:t>
            </a:r>
            <a:r>
              <a:rPr lang="en-US" sz="2800" dirty="0" smtClean="0"/>
              <a:t> </a:t>
            </a:r>
            <a:r>
              <a:rPr lang="en-US" sz="2800" dirty="0" err="1" smtClean="0"/>
              <a:t>uygulamalarını</a:t>
            </a:r>
            <a:r>
              <a:rPr lang="en-US" sz="2800" dirty="0" smtClean="0"/>
              <a:t> </a:t>
            </a:r>
            <a:r>
              <a:rPr lang="en-US" sz="2800" dirty="0" err="1" smtClean="0"/>
              <a:t>teşvik</a:t>
            </a:r>
            <a:r>
              <a:rPr lang="en-US" sz="2800" dirty="0" smtClean="0"/>
              <a:t> </a:t>
            </a:r>
            <a:r>
              <a:rPr lang="en-US" sz="2800" dirty="0" err="1" smtClean="0"/>
              <a:t>edin</a:t>
            </a:r>
            <a:r>
              <a:rPr lang="en-US" sz="2800" dirty="0" smtClean="0"/>
              <a:t> </a:t>
            </a:r>
            <a:endParaRPr lang="tr-TR" sz="2800" dirty="0" smtClean="0"/>
          </a:p>
          <a:p>
            <a:r>
              <a:rPr lang="en-US" sz="2800" dirty="0" err="1" smtClean="0"/>
              <a:t>Kuruluşu</a:t>
            </a:r>
            <a:r>
              <a:rPr lang="en-US" sz="2800" dirty="0" smtClean="0"/>
              <a:t> ve </a:t>
            </a:r>
            <a:r>
              <a:rPr lang="en-US" sz="2800" dirty="0" err="1" smtClean="0"/>
              <a:t>çalışanlarını</a:t>
            </a:r>
            <a:r>
              <a:rPr lang="en-US" sz="2800" dirty="0" smtClean="0"/>
              <a:t> </a:t>
            </a:r>
            <a:r>
              <a:rPr lang="en-US" sz="2800" dirty="0" err="1" smtClean="0"/>
              <a:t>yasal</a:t>
            </a:r>
            <a:r>
              <a:rPr lang="en-US" sz="2800" dirty="0" smtClean="0"/>
              <a:t> </a:t>
            </a:r>
            <a:r>
              <a:rPr lang="en-US" sz="2800" dirty="0" err="1" smtClean="0"/>
              <a:t>işlemlerden</a:t>
            </a:r>
            <a:r>
              <a:rPr lang="en-US" sz="2800" dirty="0" smtClean="0"/>
              <a:t> </a:t>
            </a:r>
            <a:r>
              <a:rPr lang="en-US" sz="2800" dirty="0" err="1" smtClean="0"/>
              <a:t>koruyun</a:t>
            </a:r>
            <a:r>
              <a:rPr lang="en-US" sz="2800" dirty="0" smtClean="0"/>
              <a:t> </a:t>
            </a:r>
            <a:endParaRPr lang="tr-TR" sz="2800" dirty="0" smtClean="0"/>
          </a:p>
          <a:p>
            <a:r>
              <a:rPr lang="en-US" sz="2800" dirty="0" err="1" smtClean="0"/>
              <a:t>Olumsuz</a:t>
            </a:r>
            <a:r>
              <a:rPr lang="en-US" sz="2800" dirty="0" smtClean="0"/>
              <a:t> </a:t>
            </a:r>
            <a:r>
              <a:rPr lang="en-US" sz="2800" dirty="0" err="1" smtClean="0"/>
              <a:t>tanıtımlardan</a:t>
            </a:r>
            <a:r>
              <a:rPr lang="en-US" sz="2800" dirty="0" smtClean="0"/>
              <a:t> </a:t>
            </a:r>
            <a:r>
              <a:rPr lang="en-US" sz="2800" dirty="0" err="1" smtClean="0"/>
              <a:t>kaçının</a:t>
            </a:r>
            <a:endParaRPr lang="en-US" sz="2800" dirty="0"/>
          </a:p>
        </p:txBody>
      </p:sp>
      <p:sp>
        <p:nvSpPr>
          <p:cNvPr id="3" name="Title 2"/>
          <p:cNvSpPr>
            <a:spLocks noGrp="1"/>
          </p:cNvSpPr>
          <p:nvPr>
            <p:ph type="title"/>
          </p:nvPr>
        </p:nvSpPr>
        <p:spPr>
          <a:xfrm>
            <a:off x="780220" y="36914"/>
            <a:ext cx="8287579" cy="1258486"/>
          </a:xfrm>
        </p:spPr>
        <p:txBody>
          <a:bodyPr/>
          <a:lstStyle/>
          <a:p>
            <a:r>
              <a:rPr lang="en-US" altLang="en-US" sz="2400" dirty="0"/>
              <a:t>Reasons to Foster Corporate Social</a:t>
            </a:r>
            <a:br>
              <a:rPr lang="en-US" altLang="en-US" sz="2400" dirty="0"/>
            </a:br>
            <a:r>
              <a:rPr lang="en-US" altLang="en-US" sz="2400" dirty="0"/>
              <a:t>Responsibility and Good Business </a:t>
            </a:r>
            <a:r>
              <a:rPr lang="en-US" altLang="en-US" sz="2400" dirty="0" smtClean="0"/>
              <a:t>Ethics</a:t>
            </a:r>
            <a:r>
              <a:rPr lang="tr-TR" altLang="en-US" sz="2400" dirty="0" smtClean="0"/>
              <a:t/>
            </a:r>
            <a:br>
              <a:rPr lang="tr-TR" altLang="en-US" sz="2400" dirty="0" smtClean="0"/>
            </a:br>
            <a:r>
              <a:rPr lang="tr-TR" altLang="en-US" sz="2400" dirty="0" smtClean="0"/>
              <a:t>Kurumsal Sosyal Sorumluluğu ve </a:t>
            </a:r>
            <a:br>
              <a:rPr lang="tr-TR" altLang="en-US" sz="2400" dirty="0" smtClean="0"/>
            </a:br>
            <a:r>
              <a:rPr lang="tr-TR" altLang="en-US" sz="2400" dirty="0" smtClean="0"/>
              <a:t>İyi İş Ahlakını Teşvik Etmek İçin Nedenler</a:t>
            </a:r>
            <a:endParaRPr lang="en-US" sz="24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7136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1-5: This flowchart shows that there are two main drivers an organization can use to reduce the risk of unethical behavior. The first driver is a well-implemented ethics program. The second driver is a strong ethical culture. These two drivers produce the following outcomes: reduced pressure for misconduct, a decrease in observed misconduct, increased reporting of misconduct, and reduced retaliation for reporting. The overall goal is a reduced ethics risk.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5837" y="1143000"/>
            <a:ext cx="5715000" cy="5163674"/>
          </a:xfrm>
        </p:spPr>
      </p:pic>
      <p:sp>
        <p:nvSpPr>
          <p:cNvPr id="3" name="Title 2"/>
          <p:cNvSpPr>
            <a:spLocks noGrp="1"/>
          </p:cNvSpPr>
          <p:nvPr>
            <p:ph type="title"/>
          </p:nvPr>
        </p:nvSpPr>
        <p:spPr>
          <a:xfrm>
            <a:off x="762000" y="83478"/>
            <a:ext cx="8026400" cy="941796"/>
          </a:xfrm>
        </p:spPr>
        <p:txBody>
          <a:bodyPr/>
          <a:lstStyle/>
          <a:p>
            <a:r>
              <a:rPr lang="en-US" sz="3600" dirty="0"/>
              <a:t>Reducing the Risk of Unethical </a:t>
            </a:r>
            <a:r>
              <a:rPr lang="en-US" sz="3600" dirty="0" smtClean="0"/>
              <a:t>Behavior</a:t>
            </a:r>
            <a:r>
              <a:rPr lang="tr-TR" sz="3600" dirty="0" smtClean="0"/>
              <a:t/>
            </a:r>
            <a:br>
              <a:rPr lang="tr-TR" sz="3600" dirty="0" smtClean="0"/>
            </a:br>
            <a:r>
              <a:rPr lang="tr-TR" sz="3600" dirty="0" smtClean="0"/>
              <a:t>Etik Olmayan Davranış Riskini Azaltmak</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339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927229"/>
          </a:xfrm>
        </p:spPr>
        <p:txBody>
          <a:bodyPr/>
          <a:lstStyle/>
          <a:p>
            <a:r>
              <a:rPr lang="en-US" altLang="en-US" sz="2800" dirty="0" err="1" smtClean="0"/>
              <a:t>Çalışanlar</a:t>
            </a:r>
            <a:r>
              <a:rPr lang="en-US" altLang="en-US" sz="2800" dirty="0" smtClean="0"/>
              <a:t> </a:t>
            </a:r>
            <a:r>
              <a:rPr lang="en-US" altLang="en-US" sz="2800" dirty="0" err="1" smtClean="0"/>
              <a:t>etikle</a:t>
            </a:r>
            <a:r>
              <a:rPr lang="en-US" altLang="en-US" sz="2800" dirty="0" smtClean="0"/>
              <a:t> </a:t>
            </a:r>
            <a:r>
              <a:rPr lang="en-US" altLang="en-US" sz="2800" dirty="0" err="1" smtClean="0"/>
              <a:t>ilgili</a:t>
            </a:r>
            <a:r>
              <a:rPr lang="en-US" altLang="en-US" sz="2800" dirty="0" smtClean="0"/>
              <a:t> </a:t>
            </a:r>
            <a:r>
              <a:rPr lang="en-US" altLang="en-US" sz="2800" dirty="0" err="1" smtClean="0"/>
              <a:t>konularda</a:t>
            </a:r>
            <a:r>
              <a:rPr lang="en-US" altLang="en-US" sz="2800" dirty="0" smtClean="0"/>
              <a:t> </a:t>
            </a:r>
            <a:r>
              <a:rPr lang="en-US" altLang="en-US" sz="2800" dirty="0" err="1" smtClean="0"/>
              <a:t>tavsiye</a:t>
            </a:r>
            <a:r>
              <a:rPr lang="en-US" altLang="en-US" sz="2800" dirty="0" smtClean="0"/>
              <a:t> </a:t>
            </a:r>
            <a:r>
              <a:rPr lang="en-US" altLang="en-US" sz="2800" dirty="0" err="1" smtClean="0"/>
              <a:t>almaya</a:t>
            </a:r>
            <a:r>
              <a:rPr lang="en-US" altLang="en-US" sz="2800" dirty="0" smtClean="0"/>
              <a:t> </a:t>
            </a:r>
            <a:r>
              <a:rPr lang="en-US" altLang="en-US" sz="2800" dirty="0" err="1" smtClean="0"/>
              <a:t>isteklidir</a:t>
            </a:r>
            <a:r>
              <a:rPr lang="en-US" altLang="en-US" sz="2800" dirty="0" smtClean="0"/>
              <a:t>. </a:t>
            </a:r>
            <a:endParaRPr lang="tr-TR" altLang="en-US" sz="2800" dirty="0" smtClean="0"/>
          </a:p>
          <a:p>
            <a:r>
              <a:rPr lang="en-US" altLang="en-US" sz="2800" dirty="0" err="1" smtClean="0"/>
              <a:t>Çalışanlar</a:t>
            </a:r>
            <a:r>
              <a:rPr lang="en-US" altLang="en-US" sz="2800" dirty="0" smtClean="0"/>
              <a:t>, </a:t>
            </a:r>
            <a:r>
              <a:rPr lang="en-US" altLang="en-US" sz="2800" dirty="0" err="1" smtClean="0"/>
              <a:t>suistimallere</a:t>
            </a:r>
            <a:r>
              <a:rPr lang="en-US" altLang="en-US" sz="2800" dirty="0" smtClean="0"/>
              <a:t> </a:t>
            </a:r>
            <a:r>
              <a:rPr lang="en-US" altLang="en-US" sz="2800" dirty="0" err="1" smtClean="0"/>
              <a:t>yol</a:t>
            </a:r>
            <a:r>
              <a:rPr lang="en-US" altLang="en-US" sz="2800" dirty="0" smtClean="0"/>
              <a:t> </a:t>
            </a:r>
            <a:r>
              <a:rPr lang="en-US" altLang="en-US" sz="2800" dirty="0" err="1" smtClean="0"/>
              <a:t>açabilecek</a:t>
            </a:r>
            <a:r>
              <a:rPr lang="en-US" altLang="en-US" sz="2800" dirty="0" smtClean="0"/>
              <a:t> </a:t>
            </a:r>
            <a:r>
              <a:rPr lang="en-US" altLang="en-US" sz="2800" dirty="0" err="1" smtClean="0"/>
              <a:t>durumlarla</a:t>
            </a:r>
            <a:r>
              <a:rPr lang="en-US" altLang="en-US" sz="2800" dirty="0" smtClean="0"/>
              <a:t> </a:t>
            </a:r>
            <a:r>
              <a:rPr lang="en-US" altLang="en-US" sz="2800" dirty="0" err="1" smtClean="0"/>
              <a:t>başa</a:t>
            </a:r>
            <a:r>
              <a:rPr lang="en-US" altLang="en-US" sz="2800" dirty="0" smtClean="0"/>
              <a:t> </a:t>
            </a:r>
            <a:r>
              <a:rPr lang="en-US" altLang="en-US" sz="2800" dirty="0" err="1" smtClean="0"/>
              <a:t>çıkmaya</a:t>
            </a:r>
            <a:r>
              <a:rPr lang="en-US" altLang="en-US" sz="2800" dirty="0" smtClean="0"/>
              <a:t> </a:t>
            </a:r>
            <a:r>
              <a:rPr lang="en-US" altLang="en-US" sz="2800" dirty="0" err="1" smtClean="0"/>
              <a:t>hazır</a:t>
            </a:r>
            <a:r>
              <a:rPr lang="en-US" altLang="en-US" sz="2800" dirty="0" smtClean="0"/>
              <a:t> </a:t>
            </a:r>
            <a:r>
              <a:rPr lang="en-US" altLang="en-US" sz="2800" dirty="0" err="1" smtClean="0"/>
              <a:t>hissederler</a:t>
            </a:r>
            <a:r>
              <a:rPr lang="en-US" altLang="en-US" sz="2800" dirty="0" smtClean="0"/>
              <a:t>. </a:t>
            </a:r>
            <a:endParaRPr lang="tr-TR" altLang="en-US" sz="2800" dirty="0" smtClean="0"/>
          </a:p>
          <a:p>
            <a:r>
              <a:rPr lang="en-US" altLang="en-US" sz="2800" dirty="0" err="1" smtClean="0"/>
              <a:t>Çalışanlar</a:t>
            </a:r>
            <a:r>
              <a:rPr lang="en-US" altLang="en-US" sz="2800" dirty="0" smtClean="0"/>
              <a:t> </a:t>
            </a:r>
            <a:r>
              <a:rPr lang="en-US" altLang="en-US" sz="2800" dirty="0" err="1" smtClean="0"/>
              <a:t>etik</a:t>
            </a:r>
            <a:r>
              <a:rPr lang="en-US" altLang="en-US" sz="2800" dirty="0" smtClean="0"/>
              <a:t> </a:t>
            </a:r>
            <a:r>
              <a:rPr lang="en-US" altLang="en-US" sz="2800" dirty="0" err="1" smtClean="0"/>
              <a:t>davranışları</a:t>
            </a:r>
            <a:r>
              <a:rPr lang="en-US" altLang="en-US" sz="2800" dirty="0" smtClean="0"/>
              <a:t> </a:t>
            </a:r>
            <a:r>
              <a:rPr lang="en-US" altLang="en-US" sz="2800" dirty="0" err="1" smtClean="0"/>
              <a:t>için</a:t>
            </a:r>
            <a:r>
              <a:rPr lang="en-US" altLang="en-US" sz="2800" dirty="0" smtClean="0"/>
              <a:t> </a:t>
            </a:r>
            <a:r>
              <a:rPr lang="en-US" altLang="en-US" sz="2800" dirty="0" err="1" smtClean="0"/>
              <a:t>ödüllendirilir</a:t>
            </a:r>
            <a:r>
              <a:rPr lang="en-US" altLang="en-US" sz="2800" dirty="0" smtClean="0"/>
              <a:t>. </a:t>
            </a:r>
            <a:endParaRPr lang="tr-TR" altLang="en-US" sz="2800" dirty="0" smtClean="0"/>
          </a:p>
          <a:p>
            <a:r>
              <a:rPr lang="en-US" altLang="en-US" sz="2800" dirty="0" err="1" smtClean="0"/>
              <a:t>Kuruluş</a:t>
            </a:r>
            <a:r>
              <a:rPr lang="en-US" altLang="en-US" sz="2800" dirty="0" smtClean="0"/>
              <a:t>, </a:t>
            </a:r>
            <a:r>
              <a:rPr lang="en-US" altLang="en-US" sz="2800" dirty="0" err="1" smtClean="0"/>
              <a:t>şüpheli</a:t>
            </a:r>
            <a:r>
              <a:rPr lang="en-US" altLang="en-US" sz="2800" dirty="0" smtClean="0"/>
              <a:t> </a:t>
            </a:r>
            <a:r>
              <a:rPr lang="en-US" altLang="en-US" sz="2800" dirty="0" err="1" smtClean="0"/>
              <a:t>yollarla</a:t>
            </a:r>
            <a:r>
              <a:rPr lang="en-US" altLang="en-US" sz="2800" dirty="0" smtClean="0"/>
              <a:t> </a:t>
            </a:r>
            <a:r>
              <a:rPr lang="en-US" altLang="en-US" sz="2800" dirty="0" err="1" smtClean="0"/>
              <a:t>elde</a:t>
            </a:r>
            <a:r>
              <a:rPr lang="en-US" altLang="en-US" sz="2800" dirty="0" smtClean="0"/>
              <a:t> </a:t>
            </a:r>
            <a:r>
              <a:rPr lang="en-US" altLang="en-US" sz="2800" dirty="0" err="1" smtClean="0"/>
              <a:t>edilen</a:t>
            </a:r>
            <a:r>
              <a:rPr lang="en-US" altLang="en-US" sz="2800" dirty="0" smtClean="0"/>
              <a:t> </a:t>
            </a:r>
            <a:r>
              <a:rPr lang="en-US" altLang="en-US" sz="2800" dirty="0" err="1" smtClean="0"/>
              <a:t>başarıyı</a:t>
            </a:r>
            <a:r>
              <a:rPr lang="en-US" altLang="en-US" sz="2800" dirty="0" smtClean="0"/>
              <a:t> </a:t>
            </a:r>
            <a:r>
              <a:rPr lang="en-US" altLang="en-US" sz="2800" dirty="0" err="1" smtClean="0"/>
              <a:t>ödüllendirmez</a:t>
            </a:r>
            <a:r>
              <a:rPr lang="en-US" altLang="en-US" sz="2800" dirty="0" smtClean="0"/>
              <a:t>. </a:t>
            </a:r>
            <a:endParaRPr lang="tr-TR" altLang="en-US" sz="2800" dirty="0" smtClean="0"/>
          </a:p>
          <a:p>
            <a:r>
              <a:rPr lang="en-US" altLang="en-US" sz="2800" dirty="0" err="1" smtClean="0"/>
              <a:t>Çalışanlar</a:t>
            </a:r>
            <a:r>
              <a:rPr lang="en-US" altLang="en-US" sz="2800" dirty="0" smtClean="0"/>
              <a:t> </a:t>
            </a:r>
            <a:r>
              <a:rPr lang="en-US" altLang="en-US" sz="2800" dirty="0" err="1" smtClean="0"/>
              <a:t>şirketleri</a:t>
            </a:r>
            <a:r>
              <a:rPr lang="en-US" altLang="en-US" sz="2800" dirty="0" smtClean="0"/>
              <a:t> </a:t>
            </a:r>
            <a:r>
              <a:rPr lang="en-US" altLang="en-US" sz="2800" dirty="0" err="1" smtClean="0"/>
              <a:t>hakkında</a:t>
            </a:r>
            <a:r>
              <a:rPr lang="en-US" altLang="en-US" sz="2800" dirty="0" smtClean="0"/>
              <a:t> </a:t>
            </a:r>
            <a:r>
              <a:rPr lang="en-US" altLang="en-US" sz="2800" dirty="0" err="1" smtClean="0"/>
              <a:t>olumlu</a:t>
            </a:r>
            <a:r>
              <a:rPr lang="en-US" altLang="en-US" sz="2800" dirty="0" smtClean="0"/>
              <a:t> </a:t>
            </a:r>
            <a:r>
              <a:rPr lang="en-US" altLang="en-US" sz="2800" dirty="0" err="1" smtClean="0"/>
              <a:t>hissederler</a:t>
            </a:r>
            <a:r>
              <a:rPr lang="en-US" altLang="en-US" sz="2800" dirty="0" smtClean="0"/>
              <a:t>.</a:t>
            </a:r>
            <a:endParaRPr lang="en-US" altLang="en-US" dirty="0"/>
          </a:p>
          <a:p>
            <a:endParaRPr lang="en-US" dirty="0"/>
          </a:p>
        </p:txBody>
      </p:sp>
      <p:sp>
        <p:nvSpPr>
          <p:cNvPr id="3" name="Title 2"/>
          <p:cNvSpPr>
            <a:spLocks noGrp="1"/>
          </p:cNvSpPr>
          <p:nvPr>
            <p:ph type="title"/>
          </p:nvPr>
        </p:nvSpPr>
        <p:spPr>
          <a:xfrm>
            <a:off x="762000" y="135801"/>
            <a:ext cx="8026400" cy="837152"/>
          </a:xfrm>
        </p:spPr>
        <p:txBody>
          <a:bodyPr/>
          <a:lstStyle/>
          <a:p>
            <a:r>
              <a:rPr lang="en-US" altLang="en-US" sz="3200" dirty="0"/>
              <a:t>Characteristics of a Successful Ethics </a:t>
            </a:r>
            <a:r>
              <a:rPr lang="en-US" altLang="en-US" sz="3200" dirty="0" smtClean="0"/>
              <a:t>Program</a:t>
            </a:r>
            <a:r>
              <a:rPr lang="tr-TR" altLang="en-US" sz="3200" dirty="0" smtClean="0"/>
              <a:t/>
            </a:r>
            <a:br>
              <a:rPr lang="tr-TR" altLang="en-US" sz="3200" dirty="0" smtClean="0"/>
            </a:br>
            <a:r>
              <a:rPr lang="tr-TR" altLang="en-US" sz="3200" dirty="0" smtClean="0"/>
              <a:t>Başarılı Bir Etik Programının Özellikleri</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5652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5155257"/>
          </a:xfrm>
        </p:spPr>
        <p:txBody>
          <a:bodyPr/>
          <a:lstStyle/>
          <a:p>
            <a:r>
              <a:rPr lang="en-US" sz="2800" dirty="0" err="1" smtClean="0"/>
              <a:t>Kurumsal</a:t>
            </a:r>
            <a:r>
              <a:rPr lang="en-US" sz="2800" dirty="0" smtClean="0"/>
              <a:t> </a:t>
            </a:r>
            <a:r>
              <a:rPr lang="en-US" sz="2800" dirty="0" err="1" smtClean="0"/>
              <a:t>uyum</a:t>
            </a:r>
            <a:r>
              <a:rPr lang="en-US" sz="2800" dirty="0" smtClean="0"/>
              <a:t> </a:t>
            </a:r>
            <a:r>
              <a:rPr lang="en-US" sz="2800" dirty="0" err="1" smtClean="0"/>
              <a:t>görevlisi</a:t>
            </a:r>
            <a:r>
              <a:rPr lang="en-US" sz="2800" dirty="0" smtClean="0"/>
              <a:t> </a:t>
            </a:r>
            <a:r>
              <a:rPr lang="en-US" sz="2800" dirty="0" err="1" smtClean="0"/>
              <a:t>olarak</a:t>
            </a:r>
            <a:r>
              <a:rPr lang="en-US" sz="2800" dirty="0" smtClean="0"/>
              <a:t> da </a:t>
            </a:r>
            <a:r>
              <a:rPr lang="en-US" sz="2800" dirty="0" err="1" smtClean="0"/>
              <a:t>adlandırılır</a:t>
            </a:r>
            <a:r>
              <a:rPr lang="en-US" sz="2800" dirty="0" smtClean="0"/>
              <a:t> </a:t>
            </a:r>
            <a:endParaRPr lang="tr-TR" sz="2800" dirty="0" smtClean="0"/>
          </a:p>
          <a:p>
            <a:r>
              <a:rPr lang="en-US" sz="2800" dirty="0" err="1" smtClean="0"/>
              <a:t>İş</a:t>
            </a:r>
            <a:r>
              <a:rPr lang="en-US" sz="2800" dirty="0" smtClean="0"/>
              <a:t> </a:t>
            </a:r>
            <a:r>
              <a:rPr lang="en-US" sz="2800" dirty="0" err="1" smtClean="0"/>
              <a:t>ahlakı</a:t>
            </a:r>
            <a:r>
              <a:rPr lang="en-US" sz="2800" dirty="0" smtClean="0"/>
              <a:t> </a:t>
            </a:r>
            <a:r>
              <a:rPr lang="en-US" sz="2800" dirty="0" err="1" smtClean="0"/>
              <a:t>alanında</a:t>
            </a:r>
            <a:r>
              <a:rPr lang="en-US" sz="2800" dirty="0" smtClean="0"/>
              <a:t> </a:t>
            </a:r>
            <a:r>
              <a:rPr lang="en-US" sz="2800" dirty="0" err="1" smtClean="0"/>
              <a:t>vizyon</a:t>
            </a:r>
            <a:r>
              <a:rPr lang="en-US" sz="2800" dirty="0" smtClean="0"/>
              <a:t> ve </a:t>
            </a:r>
            <a:r>
              <a:rPr lang="en-US" sz="2800" dirty="0" err="1" smtClean="0"/>
              <a:t>liderliğe</a:t>
            </a:r>
            <a:r>
              <a:rPr lang="en-US" sz="2800" dirty="0" smtClean="0"/>
              <a:t> </a:t>
            </a:r>
            <a:r>
              <a:rPr lang="en-US" sz="2800" dirty="0" err="1" smtClean="0"/>
              <a:t>sahip</a:t>
            </a:r>
            <a:r>
              <a:rPr lang="en-US" sz="2800" dirty="0" smtClean="0"/>
              <a:t> </a:t>
            </a:r>
            <a:r>
              <a:rPr lang="en-US" sz="2800" dirty="0" err="1" smtClean="0"/>
              <a:t>bir</a:t>
            </a:r>
            <a:r>
              <a:rPr lang="en-US" sz="2800" dirty="0" smtClean="0"/>
              <a:t> </a:t>
            </a:r>
            <a:r>
              <a:rPr lang="en-US" sz="2800" dirty="0" err="1" smtClean="0"/>
              <a:t>kuruluş</a:t>
            </a:r>
            <a:r>
              <a:rPr lang="en-US" sz="2800" dirty="0" smtClean="0"/>
              <a:t> </a:t>
            </a:r>
            <a:r>
              <a:rPr lang="en-US" sz="2800" dirty="0" err="1" smtClean="0"/>
              <a:t>sağlar</a:t>
            </a:r>
            <a:r>
              <a:rPr lang="en-US" sz="2800" dirty="0" smtClean="0"/>
              <a:t> </a:t>
            </a:r>
            <a:endParaRPr lang="tr-TR" sz="2800" dirty="0" smtClean="0"/>
          </a:p>
          <a:p>
            <a:r>
              <a:rPr lang="en-US" sz="2800" dirty="0" smtClean="0"/>
              <a:t>İdeal </a:t>
            </a:r>
            <a:r>
              <a:rPr lang="en-US" sz="2800" dirty="0" err="1" smtClean="0"/>
              <a:t>olarak</a:t>
            </a:r>
            <a:r>
              <a:rPr lang="en-US" sz="2800" dirty="0" smtClean="0"/>
              <a:t>, </a:t>
            </a:r>
            <a:r>
              <a:rPr lang="en-US" sz="2800" dirty="0" err="1" smtClean="0"/>
              <a:t>doğrudan</a:t>
            </a:r>
            <a:r>
              <a:rPr lang="en-US" sz="2800" dirty="0" smtClean="0"/>
              <a:t> </a:t>
            </a:r>
            <a:r>
              <a:rPr lang="en-US" sz="2800" dirty="0" err="1" smtClean="0"/>
              <a:t>CEO'ya</a:t>
            </a:r>
            <a:r>
              <a:rPr lang="en-US" sz="2800" dirty="0" smtClean="0"/>
              <a:t> </a:t>
            </a:r>
            <a:r>
              <a:rPr lang="en-US" sz="2800" dirty="0" err="1" smtClean="0"/>
              <a:t>rapor</a:t>
            </a:r>
            <a:r>
              <a:rPr lang="en-US" sz="2800" dirty="0" smtClean="0"/>
              <a:t> </a:t>
            </a:r>
            <a:r>
              <a:rPr lang="en-US" sz="2800" dirty="0" err="1" smtClean="0"/>
              <a:t>veren</a:t>
            </a:r>
            <a:r>
              <a:rPr lang="en-US" sz="2800" dirty="0" smtClean="0"/>
              <a:t> </a:t>
            </a:r>
            <a:r>
              <a:rPr lang="en-US" sz="2800" dirty="0" err="1" smtClean="0"/>
              <a:t>üst</a:t>
            </a:r>
            <a:r>
              <a:rPr lang="en-US" sz="2800" dirty="0" smtClean="0"/>
              <a:t> </a:t>
            </a:r>
            <a:r>
              <a:rPr lang="en-US" sz="2800" dirty="0" err="1" smtClean="0"/>
              <a:t>düzey</a:t>
            </a:r>
            <a:r>
              <a:rPr lang="en-US" sz="2800" dirty="0" smtClean="0"/>
              <a:t> </a:t>
            </a:r>
            <a:r>
              <a:rPr lang="en-US" sz="2800" dirty="0" err="1" smtClean="0"/>
              <a:t>bir</a:t>
            </a:r>
            <a:r>
              <a:rPr lang="en-US" sz="2800" dirty="0" smtClean="0"/>
              <a:t> </a:t>
            </a:r>
            <a:r>
              <a:rPr lang="en-US" sz="2800" dirty="0" err="1" smtClean="0"/>
              <a:t>yönetici</a:t>
            </a:r>
            <a:endParaRPr lang="tr-TR" sz="2800" dirty="0" smtClean="0"/>
          </a:p>
          <a:p>
            <a:r>
              <a:rPr lang="en-US" sz="2800" dirty="0" err="1" smtClean="0"/>
              <a:t>Sorumluluklar</a:t>
            </a:r>
            <a:r>
              <a:rPr lang="tr-TR" sz="2800" dirty="0" smtClean="0"/>
              <a:t>ı</a:t>
            </a:r>
            <a:r>
              <a:rPr lang="en-US" sz="2800" dirty="0" smtClean="0"/>
              <a:t>: </a:t>
            </a:r>
            <a:endParaRPr lang="tr-TR" sz="2800" dirty="0" smtClean="0"/>
          </a:p>
          <a:p>
            <a:pPr lvl="1"/>
            <a:r>
              <a:rPr lang="en-US" sz="2600" dirty="0" err="1" smtClean="0"/>
              <a:t>Etik</a:t>
            </a:r>
            <a:r>
              <a:rPr lang="en-US" sz="2600" dirty="0" smtClean="0"/>
              <a:t> </a:t>
            </a:r>
            <a:r>
              <a:rPr lang="en-US" sz="2600" dirty="0" err="1" smtClean="0"/>
              <a:t>prosedürlere</a:t>
            </a:r>
            <a:r>
              <a:rPr lang="en-US" sz="2600" dirty="0" smtClean="0"/>
              <a:t> </a:t>
            </a:r>
            <a:r>
              <a:rPr lang="en-US" sz="2600" dirty="0" err="1" smtClean="0"/>
              <a:t>uyumun</a:t>
            </a:r>
            <a:r>
              <a:rPr lang="en-US" sz="2600" dirty="0" smtClean="0"/>
              <a:t> </a:t>
            </a:r>
            <a:r>
              <a:rPr lang="en-US" sz="2600" dirty="0" err="1" smtClean="0"/>
              <a:t>sağlanması</a:t>
            </a:r>
            <a:r>
              <a:rPr lang="en-US" sz="2600" dirty="0" smtClean="0"/>
              <a:t> </a:t>
            </a:r>
            <a:endParaRPr lang="tr-TR" sz="2600" dirty="0" smtClean="0"/>
          </a:p>
          <a:p>
            <a:pPr lvl="1"/>
            <a:r>
              <a:rPr lang="en-US" sz="2600" dirty="0" smtClean="0"/>
              <a:t>En </a:t>
            </a:r>
            <a:r>
              <a:rPr lang="en-US" sz="2600" dirty="0" err="1" smtClean="0"/>
              <a:t>üst</a:t>
            </a:r>
            <a:r>
              <a:rPr lang="en-US" sz="2600" dirty="0" smtClean="0"/>
              <a:t> </a:t>
            </a:r>
            <a:r>
              <a:rPr lang="en-US" sz="2600" dirty="0" err="1" smtClean="0"/>
              <a:t>düzey</a:t>
            </a:r>
            <a:r>
              <a:rPr lang="en-US" sz="2600" dirty="0" smtClean="0"/>
              <a:t> </a:t>
            </a:r>
            <a:r>
              <a:rPr lang="en-US" sz="2600" dirty="0" err="1" smtClean="0"/>
              <a:t>kurumsal</a:t>
            </a:r>
            <a:r>
              <a:rPr lang="en-US" sz="2600" dirty="0" smtClean="0"/>
              <a:t> </a:t>
            </a:r>
            <a:r>
              <a:rPr lang="en-US" sz="2600" dirty="0" err="1" smtClean="0"/>
              <a:t>otoritenin</a:t>
            </a:r>
            <a:r>
              <a:rPr lang="en-US" sz="2600" dirty="0" smtClean="0"/>
              <a:t> </a:t>
            </a:r>
            <a:r>
              <a:rPr lang="en-US" sz="2600" dirty="0" err="1" smtClean="0"/>
              <a:t>öngördüğü</a:t>
            </a:r>
            <a:r>
              <a:rPr lang="en-US" sz="2600" dirty="0" smtClean="0"/>
              <a:t> </a:t>
            </a:r>
            <a:r>
              <a:rPr lang="en-US" sz="2600" dirty="0" err="1" smtClean="0"/>
              <a:t>etik</a:t>
            </a:r>
            <a:r>
              <a:rPr lang="en-US" sz="2600" dirty="0" smtClean="0"/>
              <a:t> </a:t>
            </a:r>
            <a:r>
              <a:rPr lang="en-US" sz="2600" dirty="0" err="1" smtClean="0"/>
              <a:t>kültürünün</a:t>
            </a:r>
            <a:r>
              <a:rPr lang="en-US" sz="2600" dirty="0" smtClean="0"/>
              <a:t> </a:t>
            </a:r>
            <a:r>
              <a:rPr lang="en-US" sz="2600" dirty="0" err="1" smtClean="0"/>
              <a:t>oluşturulması</a:t>
            </a:r>
            <a:r>
              <a:rPr lang="en-US" sz="2600" dirty="0" smtClean="0"/>
              <a:t> ve </a:t>
            </a:r>
            <a:r>
              <a:rPr lang="en-US" sz="2600" dirty="0" err="1" smtClean="0"/>
              <a:t>sürdürülmesi</a:t>
            </a:r>
            <a:r>
              <a:rPr lang="en-US" sz="2600" dirty="0" smtClean="0"/>
              <a:t> </a:t>
            </a:r>
            <a:endParaRPr lang="tr-TR" sz="2600" dirty="0" smtClean="0"/>
          </a:p>
          <a:p>
            <a:pPr lvl="1"/>
            <a:r>
              <a:rPr lang="en-US" sz="2600" dirty="0" err="1" smtClean="0"/>
              <a:t>Etik</a:t>
            </a:r>
            <a:r>
              <a:rPr lang="en-US" sz="2600" dirty="0" smtClean="0"/>
              <a:t> </a:t>
            </a:r>
            <a:r>
              <a:rPr lang="en-US" sz="2600" dirty="0" err="1" smtClean="0"/>
              <a:t>konularda</a:t>
            </a:r>
            <a:r>
              <a:rPr lang="en-US" sz="2600" dirty="0" smtClean="0"/>
              <a:t> </a:t>
            </a:r>
            <a:r>
              <a:rPr lang="en-US" sz="2600" dirty="0" err="1" smtClean="0"/>
              <a:t>kilit</a:t>
            </a:r>
            <a:r>
              <a:rPr lang="en-US" sz="2600" dirty="0" smtClean="0"/>
              <a:t> </a:t>
            </a:r>
            <a:r>
              <a:rPr lang="en-US" sz="2600" dirty="0" err="1" smtClean="0"/>
              <a:t>irtibat</a:t>
            </a:r>
            <a:r>
              <a:rPr lang="en-US" sz="2600" dirty="0" smtClean="0"/>
              <a:t> </a:t>
            </a:r>
            <a:r>
              <a:rPr lang="en-US" sz="2600" dirty="0" err="1" smtClean="0"/>
              <a:t>kişisi</a:t>
            </a:r>
            <a:r>
              <a:rPr lang="en-US" sz="2600" dirty="0" smtClean="0"/>
              <a:t> </a:t>
            </a:r>
            <a:r>
              <a:rPr lang="en-US" sz="2600" dirty="0" err="1" smtClean="0"/>
              <a:t>olarak</a:t>
            </a:r>
            <a:r>
              <a:rPr lang="en-US" sz="2600" dirty="0" smtClean="0"/>
              <a:t> </a:t>
            </a:r>
            <a:r>
              <a:rPr lang="en-US" sz="2600" dirty="0" err="1" smtClean="0"/>
              <a:t>görev</a:t>
            </a:r>
            <a:r>
              <a:rPr lang="en-US" sz="2600" dirty="0" smtClean="0"/>
              <a:t> </a:t>
            </a:r>
            <a:r>
              <a:rPr lang="en-US" sz="2600" dirty="0" err="1" smtClean="0"/>
              <a:t>yapmak</a:t>
            </a:r>
            <a:endParaRPr lang="en-US" altLang="en-US" dirty="0"/>
          </a:p>
          <a:p>
            <a:endParaRPr lang="en-US" dirty="0"/>
          </a:p>
        </p:txBody>
      </p:sp>
      <p:sp>
        <p:nvSpPr>
          <p:cNvPr id="3" name="Title 2"/>
          <p:cNvSpPr>
            <a:spLocks noGrp="1"/>
          </p:cNvSpPr>
          <p:nvPr>
            <p:ph type="title"/>
          </p:nvPr>
        </p:nvSpPr>
        <p:spPr>
          <a:xfrm>
            <a:off x="762000" y="31158"/>
            <a:ext cx="8026400" cy="1046440"/>
          </a:xfrm>
        </p:spPr>
        <p:txBody>
          <a:bodyPr/>
          <a:lstStyle/>
          <a:p>
            <a:r>
              <a:rPr lang="en-GB" altLang="en-US" sz="4000" dirty="0"/>
              <a:t>Corporate Ethics </a:t>
            </a:r>
            <a:r>
              <a:rPr lang="en-GB" altLang="en-US" sz="4000" dirty="0" smtClean="0"/>
              <a:t>Officer</a:t>
            </a:r>
            <a:r>
              <a:rPr lang="tr-TR" altLang="en-US" sz="4000" dirty="0" smtClean="0"/>
              <a:t/>
            </a:r>
            <a:br>
              <a:rPr lang="tr-TR" altLang="en-US" sz="4000" dirty="0" smtClean="0"/>
            </a:br>
            <a:r>
              <a:rPr lang="tr-TR" altLang="en-US" sz="4000" dirty="0" smtClean="0"/>
              <a:t>Kurumsal Etik Sorumlusu</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2037057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238083"/>
          </a:xfrm>
        </p:spPr>
        <p:txBody>
          <a:bodyPr/>
          <a:lstStyle/>
          <a:p>
            <a:r>
              <a:rPr lang="en-GB" altLang="en-US" sz="2800" dirty="0" err="1" smtClean="0"/>
              <a:t>Kendilerini</a:t>
            </a:r>
            <a:r>
              <a:rPr lang="en-GB" altLang="en-US" sz="2800" dirty="0" smtClean="0"/>
              <a:t> en </a:t>
            </a:r>
            <a:r>
              <a:rPr lang="en-GB" altLang="en-US" sz="2800" dirty="0" err="1" smtClean="0"/>
              <a:t>yüksek</a:t>
            </a:r>
            <a:r>
              <a:rPr lang="en-GB" altLang="en-US" sz="2800" dirty="0" smtClean="0"/>
              <a:t> </a:t>
            </a:r>
            <a:r>
              <a:rPr lang="en-GB" altLang="en-US" sz="2800" dirty="0" err="1" smtClean="0"/>
              <a:t>kişisel</a:t>
            </a:r>
            <a:r>
              <a:rPr lang="en-GB" altLang="en-US" sz="2800" dirty="0" smtClean="0"/>
              <a:t> ve </a:t>
            </a:r>
            <a:r>
              <a:rPr lang="en-GB" altLang="en-US" sz="2800" dirty="0" err="1" smtClean="0"/>
              <a:t>profesyonel</a:t>
            </a:r>
            <a:r>
              <a:rPr lang="en-GB" altLang="en-US" sz="2800" dirty="0" smtClean="0"/>
              <a:t> </a:t>
            </a:r>
            <a:r>
              <a:rPr lang="en-GB" altLang="en-US" sz="2800" dirty="0" err="1" smtClean="0"/>
              <a:t>dürüstlük</a:t>
            </a:r>
            <a:r>
              <a:rPr lang="en-GB" altLang="en-US" sz="2800" dirty="0" smtClean="0"/>
              <a:t> </a:t>
            </a:r>
            <a:r>
              <a:rPr lang="en-GB" altLang="en-US" sz="2800" dirty="0" err="1" smtClean="0"/>
              <a:t>standartlarına</a:t>
            </a:r>
            <a:r>
              <a:rPr lang="en-GB" altLang="en-US" sz="2800" dirty="0" smtClean="0"/>
              <a:t> </a:t>
            </a:r>
            <a:r>
              <a:rPr lang="en-GB" altLang="en-US" sz="2800" dirty="0" err="1" smtClean="0"/>
              <a:t>göre</a:t>
            </a:r>
            <a:r>
              <a:rPr lang="en-GB" altLang="en-US" sz="2800" dirty="0" smtClean="0"/>
              <a:t> </a:t>
            </a:r>
            <a:r>
              <a:rPr lang="en-GB" altLang="en-US" sz="2800" dirty="0" err="1" smtClean="0"/>
              <a:t>yürütmek</a:t>
            </a:r>
            <a:r>
              <a:rPr lang="en-GB" altLang="en-US" sz="2800" dirty="0" smtClean="0"/>
              <a:t> </a:t>
            </a:r>
            <a:endParaRPr lang="tr-TR" altLang="en-US" sz="2800" dirty="0" smtClean="0"/>
          </a:p>
          <a:p>
            <a:r>
              <a:rPr lang="en-GB" altLang="en-US" sz="2800" dirty="0" err="1" smtClean="0"/>
              <a:t>Şirket</a:t>
            </a:r>
            <a:r>
              <a:rPr lang="en-GB" altLang="en-US" sz="2800" dirty="0" smtClean="0"/>
              <a:t> </a:t>
            </a:r>
            <a:r>
              <a:rPr lang="en-GB" altLang="en-US" sz="2800" dirty="0" err="1" smtClean="0"/>
              <a:t>genelinde</a:t>
            </a:r>
            <a:r>
              <a:rPr lang="en-GB" altLang="en-US" sz="2800" dirty="0" smtClean="0"/>
              <a:t> </a:t>
            </a:r>
            <a:r>
              <a:rPr lang="en-GB" altLang="en-US" sz="2800" dirty="0" err="1" smtClean="0"/>
              <a:t>etik</a:t>
            </a:r>
            <a:r>
              <a:rPr lang="en-GB" altLang="en-US" sz="2800" dirty="0" smtClean="0"/>
              <a:t> </a:t>
            </a:r>
            <a:r>
              <a:rPr lang="en-GB" altLang="en-US" sz="2800" dirty="0" err="1" smtClean="0"/>
              <a:t>davranış</a:t>
            </a:r>
            <a:r>
              <a:rPr lang="en-GB" altLang="en-US" sz="2800" dirty="0" smtClean="0"/>
              <a:t> </a:t>
            </a:r>
            <a:r>
              <a:rPr lang="en-GB" altLang="en-US" sz="2800" dirty="0" err="1" smtClean="0"/>
              <a:t>için</a:t>
            </a:r>
            <a:r>
              <a:rPr lang="en-GB" altLang="en-US" sz="2800" dirty="0" smtClean="0"/>
              <a:t> </a:t>
            </a:r>
            <a:r>
              <a:rPr lang="en-GB" altLang="en-US" sz="2800" dirty="0" err="1" smtClean="0"/>
              <a:t>standardı</a:t>
            </a:r>
            <a:r>
              <a:rPr lang="en-GB" altLang="en-US" sz="2800" dirty="0" smtClean="0"/>
              <a:t> </a:t>
            </a:r>
            <a:r>
              <a:rPr lang="en-GB" altLang="en-US" sz="2800" dirty="0" err="1" smtClean="0"/>
              <a:t>belirleyin</a:t>
            </a:r>
            <a:r>
              <a:rPr lang="en-GB" altLang="en-US" sz="2800" dirty="0" smtClean="0"/>
              <a:t> </a:t>
            </a:r>
            <a:endParaRPr lang="tr-TR" altLang="en-US" sz="2800" dirty="0" smtClean="0"/>
          </a:p>
          <a:p>
            <a:r>
              <a:rPr lang="en-GB" altLang="en-US" sz="2800" dirty="0" err="1" smtClean="0"/>
              <a:t>Yasa</a:t>
            </a:r>
            <a:r>
              <a:rPr lang="en-GB" altLang="en-US" sz="2800" dirty="0" smtClean="0"/>
              <a:t> ve </a:t>
            </a:r>
            <a:r>
              <a:rPr lang="en-GB" altLang="en-US" sz="2800" dirty="0" err="1" smtClean="0"/>
              <a:t>yönetmeliklere</a:t>
            </a:r>
            <a:r>
              <a:rPr lang="en-GB" altLang="en-US" sz="2800" dirty="0" smtClean="0"/>
              <a:t> </a:t>
            </a:r>
            <a:r>
              <a:rPr lang="en-GB" altLang="en-US" sz="2800" dirty="0" err="1" smtClean="0"/>
              <a:t>uygunluğu</a:t>
            </a:r>
            <a:r>
              <a:rPr lang="en-GB" altLang="en-US" sz="2800" dirty="0" smtClean="0"/>
              <a:t> </a:t>
            </a:r>
            <a:r>
              <a:rPr lang="en-GB" altLang="en-US" sz="2800" dirty="0" err="1" smtClean="0"/>
              <a:t>sağlayın</a:t>
            </a:r>
            <a:r>
              <a:rPr lang="en-GB" altLang="en-US" sz="2800" dirty="0" smtClean="0"/>
              <a:t> </a:t>
            </a:r>
            <a:endParaRPr lang="tr-TR" altLang="en-US" sz="2800" dirty="0" smtClean="0"/>
          </a:p>
          <a:p>
            <a:r>
              <a:rPr lang="en-GB" altLang="en-US" sz="2800" dirty="0" err="1" smtClean="0"/>
              <a:t>Çalışanların</a:t>
            </a:r>
            <a:r>
              <a:rPr lang="en-GB" altLang="en-US" sz="2800" dirty="0" smtClean="0"/>
              <a:t> </a:t>
            </a:r>
            <a:r>
              <a:rPr lang="en-GB" altLang="en-US" sz="2800" dirty="0" err="1" smtClean="0"/>
              <a:t>şunları</a:t>
            </a:r>
            <a:r>
              <a:rPr lang="en-GB" altLang="en-US" sz="2800" dirty="0" smtClean="0"/>
              <a:t> </a:t>
            </a:r>
            <a:r>
              <a:rPr lang="en-GB" altLang="en-US" sz="2800" dirty="0" err="1" smtClean="0"/>
              <a:t>yapabileceği</a:t>
            </a:r>
            <a:r>
              <a:rPr lang="en-GB" altLang="en-US" sz="2800" dirty="0" smtClean="0"/>
              <a:t> </a:t>
            </a:r>
            <a:r>
              <a:rPr lang="en-GB" altLang="en-US" sz="2800" dirty="0" err="1" smtClean="0"/>
              <a:t>bir</a:t>
            </a:r>
            <a:r>
              <a:rPr lang="en-GB" altLang="en-US" sz="2800" dirty="0" smtClean="0"/>
              <a:t> </a:t>
            </a:r>
            <a:r>
              <a:rPr lang="en-GB" altLang="en-US" sz="2800" dirty="0" err="1" smtClean="0"/>
              <a:t>ortam</a:t>
            </a:r>
            <a:r>
              <a:rPr lang="en-GB" altLang="en-US" sz="2800" dirty="0" smtClean="0"/>
              <a:t> </a:t>
            </a:r>
            <a:r>
              <a:rPr lang="en-GB" altLang="en-US" sz="2800" dirty="0" err="1" smtClean="0"/>
              <a:t>yaratın</a:t>
            </a:r>
            <a:r>
              <a:rPr lang="en-GB" altLang="en-US" sz="2800" dirty="0" smtClean="0"/>
              <a:t>:</a:t>
            </a:r>
            <a:endParaRPr lang="tr-TR" altLang="en-US" sz="2800" dirty="0" smtClean="0"/>
          </a:p>
          <a:p>
            <a:pPr lvl="1"/>
            <a:r>
              <a:rPr lang="en-GB" altLang="en-US" sz="2400" dirty="0" err="1" smtClean="0"/>
              <a:t>İş</a:t>
            </a:r>
            <a:r>
              <a:rPr lang="en-GB" altLang="en-US" sz="2400" dirty="0" smtClean="0"/>
              <a:t> </a:t>
            </a:r>
            <a:r>
              <a:rPr lang="en-GB" altLang="en-US" sz="2400" dirty="0" err="1" smtClean="0"/>
              <a:t>davranışı</a:t>
            </a:r>
            <a:r>
              <a:rPr lang="en-GB" altLang="en-US" sz="2400" dirty="0" smtClean="0"/>
              <a:t> </a:t>
            </a:r>
            <a:r>
              <a:rPr lang="en-GB" altLang="en-US" sz="2400" dirty="0" err="1" smtClean="0"/>
              <a:t>hakkında</a:t>
            </a:r>
            <a:r>
              <a:rPr lang="en-GB" altLang="en-US" sz="2400" dirty="0" smtClean="0"/>
              <a:t> </a:t>
            </a:r>
            <a:r>
              <a:rPr lang="en-GB" altLang="en-US" sz="2400" dirty="0" err="1" smtClean="0"/>
              <a:t>tavsiye</a:t>
            </a:r>
            <a:r>
              <a:rPr lang="en-GB" altLang="en-US" sz="2400" dirty="0" smtClean="0"/>
              <a:t> </a:t>
            </a:r>
            <a:r>
              <a:rPr lang="en-GB" altLang="en-US" sz="2400" dirty="0" err="1" smtClean="0"/>
              <a:t>alın</a:t>
            </a:r>
            <a:r>
              <a:rPr lang="en-GB" altLang="en-US" sz="2400" dirty="0" smtClean="0"/>
              <a:t> </a:t>
            </a:r>
            <a:endParaRPr lang="tr-TR" altLang="en-US" sz="2400" dirty="0" smtClean="0"/>
          </a:p>
          <a:p>
            <a:pPr lvl="1"/>
            <a:r>
              <a:rPr lang="en-GB" altLang="en-US" sz="2400" dirty="0" err="1" smtClean="0"/>
              <a:t>Sorunları</a:t>
            </a:r>
            <a:r>
              <a:rPr lang="en-GB" altLang="en-US" sz="2400" dirty="0" smtClean="0"/>
              <a:t> </a:t>
            </a:r>
            <a:r>
              <a:rPr lang="en-GB" altLang="en-US" sz="2400" dirty="0" err="1" smtClean="0"/>
              <a:t>gündeme</a:t>
            </a:r>
            <a:r>
              <a:rPr lang="en-GB" altLang="en-US" sz="2400" dirty="0" smtClean="0"/>
              <a:t> </a:t>
            </a:r>
            <a:r>
              <a:rPr lang="en-GB" altLang="en-US" sz="2400" dirty="0" err="1" smtClean="0"/>
              <a:t>getirin</a:t>
            </a:r>
            <a:r>
              <a:rPr lang="en-GB" altLang="en-US" sz="2400" dirty="0" smtClean="0"/>
              <a:t> </a:t>
            </a:r>
            <a:endParaRPr lang="tr-TR" altLang="en-US" sz="2400" dirty="0" smtClean="0"/>
          </a:p>
          <a:p>
            <a:pPr lvl="1"/>
            <a:r>
              <a:rPr lang="en-GB" altLang="en-US" sz="2400" dirty="0" err="1" smtClean="0"/>
              <a:t>Kötüye</a:t>
            </a:r>
            <a:r>
              <a:rPr lang="en-GB" altLang="en-US" sz="2400" dirty="0" smtClean="0"/>
              <a:t> </a:t>
            </a:r>
            <a:r>
              <a:rPr lang="en-GB" altLang="en-US" sz="2400" dirty="0" err="1" smtClean="0"/>
              <a:t>kullanımı</a:t>
            </a:r>
            <a:r>
              <a:rPr lang="en-GB" altLang="en-US" sz="2400" dirty="0" smtClean="0"/>
              <a:t> </a:t>
            </a:r>
            <a:r>
              <a:rPr lang="en-GB" altLang="en-US" sz="2400" dirty="0" err="1" smtClean="0"/>
              <a:t>bildirme</a:t>
            </a:r>
            <a:endParaRPr lang="en-GB" altLang="en-US" dirty="0"/>
          </a:p>
          <a:p>
            <a:endParaRPr lang="en-US" dirty="0"/>
          </a:p>
        </p:txBody>
      </p:sp>
      <p:sp>
        <p:nvSpPr>
          <p:cNvPr id="3" name="Title 2"/>
          <p:cNvSpPr>
            <a:spLocks noGrp="1"/>
          </p:cNvSpPr>
          <p:nvPr>
            <p:ph type="title"/>
          </p:nvPr>
        </p:nvSpPr>
        <p:spPr>
          <a:xfrm>
            <a:off x="762000" y="76200"/>
            <a:ext cx="8026400" cy="1412694"/>
          </a:xfrm>
        </p:spPr>
        <p:txBody>
          <a:bodyPr/>
          <a:lstStyle/>
          <a:p>
            <a:r>
              <a:rPr lang="en-GB" altLang="en-US" sz="3600" dirty="0"/>
              <a:t>Ethical Standards Set by Board of </a:t>
            </a:r>
            <a:r>
              <a:rPr lang="en-GB" altLang="en-US" sz="3600" dirty="0" smtClean="0"/>
              <a:t>Directors</a:t>
            </a:r>
            <a:r>
              <a:rPr lang="tr-TR" altLang="en-US" sz="3600" dirty="0" smtClean="0"/>
              <a:t/>
            </a:r>
            <a:br>
              <a:rPr lang="tr-TR" altLang="en-US" sz="3600" dirty="0" smtClean="0"/>
            </a:br>
            <a:r>
              <a:rPr lang="tr-TR" altLang="en-US" sz="3600" dirty="0" smtClean="0"/>
              <a:t>Yönetim Kurulu Tarafından Belirlenen Etik Standartlar</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2661865"/>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1"/>
            <a:ext cx="8415338" cy="5758499"/>
          </a:xfrm>
        </p:spPr>
        <p:txBody>
          <a:bodyPr/>
          <a:lstStyle/>
          <a:p>
            <a:r>
              <a:rPr lang="en-US" sz="2800" dirty="0" err="1" smtClean="0"/>
              <a:t>Bir</a:t>
            </a:r>
            <a:r>
              <a:rPr lang="en-US" sz="2800" dirty="0" smtClean="0"/>
              <a:t> </a:t>
            </a:r>
            <a:r>
              <a:rPr lang="en-US" sz="2800" dirty="0" err="1" smtClean="0"/>
              <a:t>etik</a:t>
            </a:r>
            <a:r>
              <a:rPr lang="en-US" sz="2800" dirty="0" smtClean="0"/>
              <a:t> </a:t>
            </a:r>
            <a:r>
              <a:rPr lang="en-US" sz="2800" dirty="0" err="1" smtClean="0"/>
              <a:t>kural</a:t>
            </a:r>
            <a:r>
              <a:rPr lang="en-US" sz="2800" dirty="0" smtClean="0"/>
              <a:t>: </a:t>
            </a:r>
            <a:endParaRPr lang="tr-TR" sz="2800" dirty="0" smtClean="0"/>
          </a:p>
          <a:p>
            <a:pPr lvl="1"/>
            <a:r>
              <a:rPr lang="en-US" sz="2600" dirty="0" err="1" smtClean="0"/>
              <a:t>Bir</a:t>
            </a:r>
            <a:r>
              <a:rPr lang="en-US" sz="2600" dirty="0" smtClean="0"/>
              <a:t> </a:t>
            </a:r>
            <a:r>
              <a:rPr lang="en-US" sz="2600" dirty="0" err="1" smtClean="0"/>
              <a:t>kuruluşun</a:t>
            </a:r>
            <a:r>
              <a:rPr lang="en-US" sz="2600" dirty="0" smtClean="0"/>
              <a:t> </a:t>
            </a:r>
            <a:r>
              <a:rPr lang="en-US" sz="2600" dirty="0" err="1" smtClean="0"/>
              <a:t>temel</a:t>
            </a:r>
            <a:r>
              <a:rPr lang="en-US" sz="2600" dirty="0" smtClean="0"/>
              <a:t> </a:t>
            </a:r>
            <a:r>
              <a:rPr lang="en-US" sz="2600" dirty="0" err="1" smtClean="0"/>
              <a:t>etik</a:t>
            </a:r>
            <a:r>
              <a:rPr lang="en-US" sz="2600" dirty="0" smtClean="0"/>
              <a:t> </a:t>
            </a:r>
            <a:r>
              <a:rPr lang="en-US" sz="2600" dirty="0" err="1" smtClean="0"/>
              <a:t>sorunlarını</a:t>
            </a:r>
            <a:r>
              <a:rPr lang="en-US" sz="2600" dirty="0" smtClean="0"/>
              <a:t> </a:t>
            </a:r>
            <a:r>
              <a:rPr lang="en-US" sz="2600" dirty="0" err="1" smtClean="0"/>
              <a:t>vurgular</a:t>
            </a:r>
            <a:r>
              <a:rPr lang="en-US" sz="2600" dirty="0" smtClean="0"/>
              <a:t> </a:t>
            </a:r>
            <a:endParaRPr lang="tr-TR" sz="2600" dirty="0" smtClean="0"/>
          </a:p>
          <a:p>
            <a:pPr lvl="1"/>
            <a:r>
              <a:rPr lang="en-US" sz="2600" dirty="0" err="1" smtClean="0"/>
              <a:t>Kuruluş</a:t>
            </a:r>
            <a:r>
              <a:rPr lang="en-US" sz="2600" dirty="0" smtClean="0"/>
              <a:t> ve </a:t>
            </a:r>
            <a:r>
              <a:rPr lang="en-US" sz="2600" dirty="0" err="1" smtClean="0"/>
              <a:t>karar</a:t>
            </a:r>
            <a:r>
              <a:rPr lang="en-US" sz="2600" dirty="0" smtClean="0"/>
              <a:t> </a:t>
            </a:r>
            <a:r>
              <a:rPr lang="en-US" sz="2600" dirty="0" err="1" smtClean="0"/>
              <a:t>verme</a:t>
            </a:r>
            <a:r>
              <a:rPr lang="en-US" sz="2600" dirty="0" smtClean="0"/>
              <a:t> </a:t>
            </a:r>
            <a:r>
              <a:rPr lang="en-US" sz="2600" dirty="0" err="1" smtClean="0"/>
              <a:t>süreci</a:t>
            </a:r>
            <a:r>
              <a:rPr lang="en-US" sz="2600" dirty="0" smtClean="0"/>
              <a:t> </a:t>
            </a:r>
            <a:r>
              <a:rPr lang="en-US" sz="2600" dirty="0" err="1" smtClean="0"/>
              <a:t>için</a:t>
            </a:r>
            <a:r>
              <a:rPr lang="en-US" sz="2600" dirty="0" smtClean="0"/>
              <a:t> </a:t>
            </a:r>
            <a:r>
              <a:rPr lang="en-US" sz="2600" dirty="0" err="1" smtClean="0"/>
              <a:t>önemli</a:t>
            </a:r>
            <a:r>
              <a:rPr lang="en-US" sz="2600" dirty="0" smtClean="0"/>
              <a:t> </a:t>
            </a:r>
            <a:r>
              <a:rPr lang="en-US" sz="2600" dirty="0" err="1" smtClean="0"/>
              <a:t>olan</a:t>
            </a:r>
            <a:r>
              <a:rPr lang="en-US" sz="2600" dirty="0" smtClean="0"/>
              <a:t> </a:t>
            </a:r>
            <a:r>
              <a:rPr lang="en-US" sz="2600" dirty="0" err="1" smtClean="0"/>
              <a:t>kapsayıcı</a:t>
            </a:r>
            <a:r>
              <a:rPr lang="en-US" sz="2600" dirty="0" smtClean="0"/>
              <a:t> </a:t>
            </a:r>
            <a:r>
              <a:rPr lang="en-US" sz="2600" dirty="0" err="1" smtClean="0"/>
              <a:t>değerleri</a:t>
            </a:r>
            <a:r>
              <a:rPr lang="en-US" sz="2600" dirty="0" smtClean="0"/>
              <a:t> ve </a:t>
            </a:r>
            <a:r>
              <a:rPr lang="en-US" sz="2600" dirty="0" err="1" smtClean="0"/>
              <a:t>ilkeleri</a:t>
            </a:r>
            <a:r>
              <a:rPr lang="en-US" sz="2600" dirty="0" smtClean="0"/>
              <a:t> </a:t>
            </a:r>
            <a:r>
              <a:rPr lang="en-US" sz="2600" dirty="0" err="1" smtClean="0"/>
              <a:t>tanımlar</a:t>
            </a:r>
            <a:endParaRPr lang="tr-TR" sz="2600" dirty="0" smtClean="0"/>
          </a:p>
          <a:p>
            <a:r>
              <a:rPr lang="en-US" altLang="en-US" sz="2800" dirty="0" err="1" smtClean="0"/>
              <a:t>Örgütsel</a:t>
            </a:r>
            <a:r>
              <a:rPr lang="en-US" altLang="en-US" sz="2800" dirty="0" smtClean="0"/>
              <a:t> </a:t>
            </a:r>
            <a:r>
              <a:rPr lang="en-US" altLang="en-US" sz="2800" dirty="0" err="1" smtClean="0"/>
              <a:t>etik</a:t>
            </a:r>
            <a:r>
              <a:rPr lang="en-US" altLang="en-US" sz="2800" dirty="0" smtClean="0"/>
              <a:t> </a:t>
            </a:r>
            <a:r>
              <a:rPr lang="en-US" altLang="en-US" sz="2800" dirty="0" err="1" smtClean="0"/>
              <a:t>kurallar</a:t>
            </a:r>
            <a:r>
              <a:rPr lang="en-US" altLang="en-US" sz="2800" dirty="0" smtClean="0"/>
              <a:t>: </a:t>
            </a:r>
            <a:endParaRPr lang="tr-TR" altLang="en-US" sz="2800" dirty="0" smtClean="0"/>
          </a:p>
          <a:p>
            <a:pPr lvl="1"/>
            <a:r>
              <a:rPr lang="en-US" altLang="en-US" sz="2600" dirty="0" err="1" smtClean="0"/>
              <a:t>Yöneticilere</a:t>
            </a:r>
            <a:r>
              <a:rPr lang="en-US" altLang="en-US" sz="2600" dirty="0" smtClean="0"/>
              <a:t>, </a:t>
            </a:r>
            <a:r>
              <a:rPr lang="en-US" altLang="en-US" sz="2600" dirty="0" err="1" smtClean="0"/>
              <a:t>memurlara</a:t>
            </a:r>
            <a:r>
              <a:rPr lang="en-US" altLang="en-US" sz="2600" dirty="0" smtClean="0"/>
              <a:t> ve </a:t>
            </a:r>
            <a:r>
              <a:rPr lang="en-US" altLang="en-US" sz="2600" dirty="0" err="1" smtClean="0"/>
              <a:t>çalışanlara</a:t>
            </a:r>
            <a:r>
              <a:rPr lang="en-US" altLang="en-US" sz="2600" dirty="0" smtClean="0"/>
              <a:t> </a:t>
            </a:r>
            <a:r>
              <a:rPr lang="en-US" altLang="en-US" sz="2600" dirty="0" err="1" smtClean="0"/>
              <a:t>uygulanmalıdır</a:t>
            </a:r>
            <a:r>
              <a:rPr lang="en-US" altLang="en-US" sz="2600" dirty="0" smtClean="0"/>
              <a:t> </a:t>
            </a:r>
            <a:endParaRPr lang="tr-TR" altLang="en-US" sz="2600" dirty="0" smtClean="0"/>
          </a:p>
          <a:p>
            <a:pPr lvl="1"/>
            <a:r>
              <a:rPr lang="en-US" altLang="en-US" sz="2600" dirty="0" err="1" smtClean="0"/>
              <a:t>Çalışanlara</a:t>
            </a:r>
            <a:r>
              <a:rPr lang="en-US" altLang="en-US" sz="2600" dirty="0" smtClean="0"/>
              <a:t> </a:t>
            </a:r>
            <a:r>
              <a:rPr lang="en-US" altLang="en-US" sz="2600" dirty="0" err="1" smtClean="0"/>
              <a:t>etik</a:t>
            </a:r>
            <a:r>
              <a:rPr lang="en-US" altLang="en-US" sz="2600" dirty="0" smtClean="0"/>
              <a:t> risk </a:t>
            </a:r>
            <a:r>
              <a:rPr lang="en-US" altLang="en-US" sz="2600" dirty="0" err="1" smtClean="0"/>
              <a:t>alanlarına</a:t>
            </a:r>
            <a:r>
              <a:rPr lang="en-US" altLang="en-US" sz="2600" dirty="0" smtClean="0"/>
              <a:t> </a:t>
            </a:r>
            <a:r>
              <a:rPr lang="en-US" altLang="en-US" sz="2600" dirty="0" err="1" smtClean="0"/>
              <a:t>odaklanın</a:t>
            </a:r>
            <a:r>
              <a:rPr lang="en-US" altLang="en-US" sz="2600" dirty="0" smtClean="0"/>
              <a:t> </a:t>
            </a:r>
            <a:endParaRPr lang="tr-TR" altLang="en-US" sz="2600" dirty="0" smtClean="0"/>
          </a:p>
          <a:p>
            <a:pPr lvl="1"/>
            <a:r>
              <a:rPr lang="en-US" altLang="en-US" sz="2600" dirty="0" err="1" smtClean="0"/>
              <a:t>Çalışanların</a:t>
            </a:r>
            <a:r>
              <a:rPr lang="en-US" altLang="en-US" sz="2600" dirty="0" smtClean="0"/>
              <a:t> </a:t>
            </a:r>
            <a:r>
              <a:rPr lang="en-US" altLang="en-US" sz="2600" dirty="0" err="1" smtClean="0"/>
              <a:t>etik</a:t>
            </a:r>
            <a:r>
              <a:rPr lang="en-US" altLang="en-US" sz="2600" dirty="0" smtClean="0"/>
              <a:t> </a:t>
            </a:r>
            <a:r>
              <a:rPr lang="en-US" altLang="en-US" sz="2600" dirty="0" err="1" smtClean="0"/>
              <a:t>sorunları</a:t>
            </a:r>
            <a:r>
              <a:rPr lang="en-US" altLang="en-US" sz="2600" dirty="0" smtClean="0"/>
              <a:t> </a:t>
            </a:r>
            <a:r>
              <a:rPr lang="en-US" altLang="en-US" sz="2600" dirty="0" err="1" smtClean="0"/>
              <a:t>tanımasına</a:t>
            </a:r>
            <a:r>
              <a:rPr lang="en-US" altLang="en-US" sz="2600" dirty="0" smtClean="0"/>
              <a:t> ve </a:t>
            </a:r>
            <a:r>
              <a:rPr lang="en-US" altLang="en-US" sz="2600" dirty="0" err="1" smtClean="0"/>
              <a:t>bunlarla</a:t>
            </a:r>
            <a:r>
              <a:rPr lang="en-US" altLang="en-US" sz="2600" dirty="0" smtClean="0"/>
              <a:t> </a:t>
            </a:r>
            <a:r>
              <a:rPr lang="en-US" altLang="en-US" sz="2600" dirty="0" err="1" smtClean="0"/>
              <a:t>başa</a:t>
            </a:r>
            <a:r>
              <a:rPr lang="en-US" altLang="en-US" sz="2600" dirty="0" smtClean="0"/>
              <a:t> </a:t>
            </a:r>
            <a:r>
              <a:rPr lang="en-US" altLang="en-US" sz="2600" dirty="0" err="1" smtClean="0"/>
              <a:t>çıkmasına</a:t>
            </a:r>
            <a:r>
              <a:rPr lang="en-US" altLang="en-US" sz="2600" dirty="0" smtClean="0"/>
              <a:t> </a:t>
            </a:r>
            <a:r>
              <a:rPr lang="en-US" altLang="en-US" sz="2600" dirty="0" err="1" smtClean="0"/>
              <a:t>yardımcı</a:t>
            </a:r>
            <a:r>
              <a:rPr lang="en-US" altLang="en-US" sz="2600" dirty="0" smtClean="0"/>
              <a:t> </a:t>
            </a:r>
            <a:r>
              <a:rPr lang="en-US" altLang="en-US" sz="2600" dirty="0" err="1" smtClean="0"/>
              <a:t>olmak</a:t>
            </a:r>
            <a:r>
              <a:rPr lang="en-US" altLang="en-US" sz="2600" dirty="0" smtClean="0"/>
              <a:t> </a:t>
            </a:r>
            <a:r>
              <a:rPr lang="en-US" altLang="en-US" sz="2600" dirty="0" err="1" smtClean="0"/>
              <a:t>için</a:t>
            </a:r>
            <a:r>
              <a:rPr lang="en-US" altLang="en-US" sz="2600" dirty="0" smtClean="0"/>
              <a:t> </a:t>
            </a:r>
            <a:r>
              <a:rPr lang="en-US" altLang="en-US" sz="2600" dirty="0" err="1" smtClean="0"/>
              <a:t>rehberlik</a:t>
            </a:r>
            <a:r>
              <a:rPr lang="en-US" altLang="en-US" sz="2600" dirty="0" smtClean="0"/>
              <a:t> </a:t>
            </a:r>
            <a:r>
              <a:rPr lang="en-US" altLang="en-US" sz="2600" dirty="0" err="1" smtClean="0"/>
              <a:t>sunun</a:t>
            </a:r>
            <a:r>
              <a:rPr lang="en-US" altLang="en-US" sz="2600" dirty="0" smtClean="0"/>
              <a:t> </a:t>
            </a:r>
            <a:endParaRPr lang="tr-TR" altLang="en-US" sz="2600" dirty="0" smtClean="0"/>
          </a:p>
          <a:p>
            <a:pPr lvl="1"/>
            <a:r>
              <a:rPr lang="en-US" altLang="en-US" sz="2600" dirty="0" err="1" smtClean="0"/>
              <a:t>Etik</a:t>
            </a:r>
            <a:r>
              <a:rPr lang="en-US" altLang="en-US" sz="2600" dirty="0" smtClean="0"/>
              <a:t> </a:t>
            </a:r>
            <a:r>
              <a:rPr lang="en-US" altLang="en-US" sz="2600" dirty="0" err="1" smtClean="0"/>
              <a:t>olmayan</a:t>
            </a:r>
            <a:r>
              <a:rPr lang="en-US" altLang="en-US" sz="2600" dirty="0" smtClean="0"/>
              <a:t> </a:t>
            </a:r>
            <a:r>
              <a:rPr lang="en-US" altLang="en-US" sz="2600" dirty="0" err="1" smtClean="0"/>
              <a:t>davranışları</a:t>
            </a:r>
            <a:r>
              <a:rPr lang="en-US" altLang="en-US" sz="2600" dirty="0" smtClean="0"/>
              <a:t> </a:t>
            </a:r>
            <a:r>
              <a:rPr lang="en-US" altLang="en-US" sz="2600" dirty="0" err="1" smtClean="0"/>
              <a:t>bildirmek</a:t>
            </a:r>
            <a:r>
              <a:rPr lang="en-US" altLang="en-US" sz="2600" dirty="0" smtClean="0"/>
              <a:t> </a:t>
            </a:r>
            <a:r>
              <a:rPr lang="en-US" altLang="en-US" sz="2600" dirty="0" err="1" smtClean="0"/>
              <a:t>için</a:t>
            </a:r>
            <a:r>
              <a:rPr lang="en-US" altLang="en-US" sz="2600" dirty="0" smtClean="0"/>
              <a:t> </a:t>
            </a:r>
            <a:r>
              <a:rPr lang="en-US" altLang="en-US" sz="2600" dirty="0" err="1" smtClean="0"/>
              <a:t>mekanizmalar</a:t>
            </a:r>
            <a:r>
              <a:rPr lang="en-US" altLang="en-US" sz="2600" dirty="0" smtClean="0"/>
              <a:t> </a:t>
            </a:r>
            <a:r>
              <a:rPr lang="en-US" altLang="en-US" sz="2600" dirty="0" err="1" smtClean="0"/>
              <a:t>sağlayın</a:t>
            </a:r>
            <a:r>
              <a:rPr lang="en-US" altLang="en-US" sz="2600" dirty="0" smtClean="0"/>
              <a:t> </a:t>
            </a:r>
            <a:endParaRPr lang="tr-TR" altLang="en-US" sz="2600" dirty="0" smtClean="0"/>
          </a:p>
          <a:p>
            <a:pPr lvl="1"/>
            <a:r>
              <a:rPr lang="en-US" altLang="en-US" sz="2600" dirty="0" err="1" smtClean="0"/>
              <a:t>Dürüstlük</a:t>
            </a:r>
            <a:r>
              <a:rPr lang="en-US" altLang="en-US" sz="2600" dirty="0" smtClean="0"/>
              <a:t> ve </a:t>
            </a:r>
            <a:r>
              <a:rPr lang="en-US" altLang="en-US" sz="2600" dirty="0" err="1" smtClean="0"/>
              <a:t>hesap</a:t>
            </a:r>
            <a:r>
              <a:rPr lang="en-US" altLang="en-US" sz="2600" dirty="0" smtClean="0"/>
              <a:t> </a:t>
            </a:r>
            <a:r>
              <a:rPr lang="en-US" altLang="en-US" sz="2600" dirty="0" err="1" smtClean="0"/>
              <a:t>verebilirlik</a:t>
            </a:r>
            <a:r>
              <a:rPr lang="en-US" altLang="en-US" sz="2600" dirty="0" smtClean="0"/>
              <a:t> </a:t>
            </a:r>
            <a:r>
              <a:rPr lang="en-US" altLang="en-US" sz="2600" dirty="0" err="1" smtClean="0"/>
              <a:t>kültürünü</a:t>
            </a:r>
            <a:r>
              <a:rPr lang="en-US" altLang="en-US" sz="2600" dirty="0" smtClean="0"/>
              <a:t> </a:t>
            </a:r>
            <a:r>
              <a:rPr lang="en-US" altLang="en-US" sz="2600" dirty="0" err="1" smtClean="0"/>
              <a:t>teşvik</a:t>
            </a:r>
            <a:r>
              <a:rPr lang="en-US" altLang="en-US" sz="2600" dirty="0" smtClean="0"/>
              <a:t> </a:t>
            </a:r>
            <a:r>
              <a:rPr lang="en-US" altLang="en-US" sz="2600" dirty="0" err="1" smtClean="0"/>
              <a:t>edin</a:t>
            </a:r>
            <a:endParaRPr lang="en-US" altLang="en-US" dirty="0"/>
          </a:p>
          <a:p>
            <a:endParaRPr lang="en-US" dirty="0"/>
          </a:p>
        </p:txBody>
      </p:sp>
      <p:sp>
        <p:nvSpPr>
          <p:cNvPr id="3" name="Title 2"/>
          <p:cNvSpPr>
            <a:spLocks noGrp="1"/>
          </p:cNvSpPr>
          <p:nvPr>
            <p:ph type="title"/>
          </p:nvPr>
        </p:nvSpPr>
        <p:spPr>
          <a:xfrm>
            <a:off x="762000" y="31158"/>
            <a:ext cx="8026400" cy="1046440"/>
          </a:xfrm>
        </p:spPr>
        <p:txBody>
          <a:bodyPr/>
          <a:lstStyle/>
          <a:p>
            <a:r>
              <a:rPr lang="en-US" altLang="en-US" sz="4000" dirty="0"/>
              <a:t>Corporate Code of </a:t>
            </a:r>
            <a:r>
              <a:rPr lang="en-US" altLang="en-US" sz="4000" dirty="0" smtClean="0"/>
              <a:t>Ethics</a:t>
            </a:r>
            <a:r>
              <a:rPr lang="tr-TR" altLang="en-US" sz="4000" smtClean="0"/>
              <a:t/>
            </a:r>
            <a:br>
              <a:rPr lang="tr-TR" altLang="en-US" sz="4000" smtClean="0"/>
            </a:br>
            <a:r>
              <a:rPr lang="tr-TR" altLang="en-US" sz="4000" smtClean="0"/>
              <a:t>Kurumsal Etik Kurallar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12523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355" y="1373963"/>
            <a:ext cx="8415338" cy="4581254"/>
          </a:xfrm>
        </p:spPr>
        <p:txBody>
          <a:bodyPr/>
          <a:lstStyle/>
          <a:p>
            <a:r>
              <a:rPr lang="en-US" altLang="en-US" sz="2800" dirty="0" err="1" smtClean="0"/>
              <a:t>Kuruluş</a:t>
            </a:r>
            <a:r>
              <a:rPr lang="en-US" altLang="en-US" sz="2800" dirty="0" smtClean="0"/>
              <a:t>, </a:t>
            </a:r>
            <a:r>
              <a:rPr lang="en-US" altLang="en-US" sz="2800" dirty="0" err="1" smtClean="0"/>
              <a:t>etik</a:t>
            </a:r>
            <a:r>
              <a:rPr lang="en-US" altLang="en-US" sz="2800" dirty="0" smtClean="0"/>
              <a:t> ve </a:t>
            </a:r>
            <a:r>
              <a:rPr lang="en-US" altLang="en-US" sz="2800" dirty="0" err="1" smtClean="0"/>
              <a:t>sosyal</a:t>
            </a:r>
            <a:r>
              <a:rPr lang="en-US" altLang="en-US" sz="2800" dirty="0" smtClean="0"/>
              <a:t> </a:t>
            </a:r>
            <a:r>
              <a:rPr lang="en-US" altLang="en-US" sz="2800" dirty="0" err="1" smtClean="0"/>
              <a:t>sorumluluk</a:t>
            </a:r>
            <a:r>
              <a:rPr lang="en-US" altLang="en-US" sz="2800" dirty="0" smtClean="0"/>
              <a:t> </a:t>
            </a:r>
            <a:r>
              <a:rPr lang="en-US" altLang="en-US" sz="2800" dirty="0" err="1" smtClean="0"/>
              <a:t>hedeflerini</a:t>
            </a:r>
            <a:r>
              <a:rPr lang="en-US" altLang="en-US" sz="2800" dirty="0" smtClean="0"/>
              <a:t> </a:t>
            </a:r>
            <a:r>
              <a:rPr lang="en-US" altLang="en-US" sz="2800" dirty="0" err="1" smtClean="0"/>
              <a:t>gözden</a:t>
            </a:r>
            <a:r>
              <a:rPr lang="en-US" altLang="en-US" sz="2800" dirty="0" smtClean="0"/>
              <a:t> </a:t>
            </a:r>
            <a:r>
              <a:rPr lang="en-US" altLang="en-US" sz="2800" dirty="0" err="1" smtClean="0"/>
              <a:t>geçirir</a:t>
            </a:r>
            <a:r>
              <a:rPr lang="en-US" altLang="en-US" sz="2800" dirty="0" smtClean="0"/>
              <a:t> ve </a:t>
            </a:r>
            <a:r>
              <a:rPr lang="en-US" altLang="en-US" sz="2800" dirty="0" err="1" smtClean="0"/>
              <a:t>gelecek</a:t>
            </a:r>
            <a:r>
              <a:rPr lang="en-US" altLang="en-US" sz="2800" dirty="0" smtClean="0"/>
              <a:t> </a:t>
            </a:r>
            <a:r>
              <a:rPr lang="en-US" altLang="en-US" sz="2800" dirty="0" err="1" smtClean="0"/>
              <a:t>yıl</a:t>
            </a:r>
            <a:r>
              <a:rPr lang="en-US" altLang="en-US" sz="2800" dirty="0" smtClean="0"/>
              <a:t> </a:t>
            </a:r>
            <a:r>
              <a:rPr lang="en-US" altLang="en-US" sz="2800" dirty="0" err="1" smtClean="0"/>
              <a:t>için</a:t>
            </a:r>
            <a:r>
              <a:rPr lang="en-US" altLang="en-US" sz="2800" dirty="0" smtClean="0"/>
              <a:t> </a:t>
            </a:r>
            <a:r>
              <a:rPr lang="en-US" altLang="en-US" sz="2800" dirty="0" err="1" smtClean="0"/>
              <a:t>hedeflerini</a:t>
            </a:r>
            <a:r>
              <a:rPr lang="en-US" altLang="en-US" sz="2800" dirty="0" smtClean="0"/>
              <a:t> </a:t>
            </a:r>
            <a:r>
              <a:rPr lang="en-US" altLang="en-US" sz="2800" dirty="0" err="1" smtClean="0"/>
              <a:t>iletir</a:t>
            </a:r>
            <a:r>
              <a:rPr lang="en-US" altLang="en-US" sz="2800" dirty="0" smtClean="0"/>
              <a:t>. </a:t>
            </a:r>
            <a:endParaRPr lang="tr-TR" altLang="en-US" sz="2800" dirty="0" smtClean="0"/>
          </a:p>
          <a:p>
            <a:r>
              <a:rPr lang="en-US" altLang="en-US" sz="2800" dirty="0" err="1" smtClean="0"/>
              <a:t>Bilgiler</a:t>
            </a:r>
            <a:r>
              <a:rPr lang="en-US" altLang="en-US" sz="2800" dirty="0" smtClean="0"/>
              <a:t> </a:t>
            </a:r>
            <a:r>
              <a:rPr lang="en-US" altLang="en-US" sz="2800" dirty="0" err="1" smtClean="0"/>
              <a:t>şu</a:t>
            </a:r>
            <a:r>
              <a:rPr lang="en-US" altLang="en-US" sz="2800" dirty="0" smtClean="0"/>
              <a:t> </a:t>
            </a:r>
            <a:r>
              <a:rPr lang="en-US" altLang="en-US" sz="2800" dirty="0" err="1" smtClean="0"/>
              <a:t>kişilerle</a:t>
            </a:r>
            <a:r>
              <a:rPr lang="en-US" altLang="en-US" sz="2800" dirty="0" smtClean="0"/>
              <a:t> </a:t>
            </a:r>
            <a:r>
              <a:rPr lang="en-US" altLang="en-US" sz="2800" dirty="0" err="1" smtClean="0"/>
              <a:t>paylaşılır</a:t>
            </a:r>
            <a:r>
              <a:rPr lang="en-US" altLang="en-US" sz="2800" dirty="0" smtClean="0"/>
              <a:t>: </a:t>
            </a:r>
            <a:endParaRPr lang="tr-TR" altLang="en-US" sz="2800" dirty="0" smtClean="0"/>
          </a:p>
          <a:p>
            <a:pPr lvl="1"/>
            <a:r>
              <a:rPr lang="en-US" altLang="en-US" sz="2600" dirty="0" err="1" smtClean="0"/>
              <a:t>Çalışanlar</a:t>
            </a:r>
            <a:r>
              <a:rPr lang="en-US" altLang="en-US" sz="2600" dirty="0" smtClean="0"/>
              <a:t> </a:t>
            </a:r>
            <a:endParaRPr lang="tr-TR" altLang="en-US" sz="2600" dirty="0" smtClean="0"/>
          </a:p>
          <a:p>
            <a:pPr lvl="1"/>
            <a:r>
              <a:rPr lang="en-US" altLang="en-US" sz="2600" dirty="0" err="1" smtClean="0"/>
              <a:t>Yatırımcılar</a:t>
            </a:r>
            <a:r>
              <a:rPr lang="en-US" altLang="en-US" sz="2600" dirty="0" smtClean="0"/>
              <a:t> </a:t>
            </a:r>
            <a:endParaRPr lang="tr-TR" altLang="en-US" sz="2600" dirty="0" smtClean="0"/>
          </a:p>
          <a:p>
            <a:pPr lvl="1"/>
            <a:r>
              <a:rPr lang="en-US" altLang="en-US" sz="2600" dirty="0" err="1" smtClean="0"/>
              <a:t>Piyasa</a:t>
            </a:r>
            <a:r>
              <a:rPr lang="en-US" altLang="en-US" sz="2600" dirty="0" smtClean="0"/>
              <a:t> </a:t>
            </a:r>
            <a:r>
              <a:rPr lang="en-US" altLang="en-US" sz="2600" dirty="0" err="1" smtClean="0"/>
              <a:t>analistleri</a:t>
            </a:r>
            <a:r>
              <a:rPr lang="en-US" altLang="en-US" sz="2600" dirty="0" smtClean="0"/>
              <a:t> </a:t>
            </a:r>
            <a:endParaRPr lang="tr-TR" altLang="en-US" sz="2600" dirty="0" smtClean="0"/>
          </a:p>
          <a:p>
            <a:pPr lvl="1"/>
            <a:r>
              <a:rPr lang="en-US" altLang="en-US" sz="2600" dirty="0" err="1" smtClean="0"/>
              <a:t>Müşteriler</a:t>
            </a:r>
            <a:r>
              <a:rPr lang="en-US" altLang="en-US" sz="2600" dirty="0" smtClean="0"/>
              <a:t> </a:t>
            </a:r>
            <a:endParaRPr lang="tr-TR" altLang="en-US" sz="2600" dirty="0" smtClean="0"/>
          </a:p>
          <a:p>
            <a:pPr lvl="1"/>
            <a:r>
              <a:rPr lang="en-US" altLang="en-US" sz="2600" dirty="0" err="1" smtClean="0"/>
              <a:t>Tedarikçiler</a:t>
            </a:r>
            <a:r>
              <a:rPr lang="en-US" altLang="en-US" sz="2600" dirty="0" smtClean="0"/>
              <a:t> </a:t>
            </a:r>
            <a:endParaRPr lang="tr-TR" altLang="en-US" sz="2600" dirty="0" smtClean="0"/>
          </a:p>
          <a:p>
            <a:pPr lvl="1"/>
            <a:r>
              <a:rPr lang="en-US" altLang="en-US" sz="2600" dirty="0" err="1" smtClean="0"/>
              <a:t>Devlet</a:t>
            </a:r>
            <a:r>
              <a:rPr lang="en-US" altLang="en-US" sz="2600" dirty="0" smtClean="0"/>
              <a:t> </a:t>
            </a:r>
            <a:r>
              <a:rPr lang="en-US" altLang="en-US" sz="2600" dirty="0" err="1" smtClean="0"/>
              <a:t>kurumları</a:t>
            </a:r>
            <a:r>
              <a:rPr lang="en-US" altLang="en-US" sz="2600" dirty="0" smtClean="0"/>
              <a:t> </a:t>
            </a:r>
            <a:endParaRPr lang="tr-TR" altLang="en-US" sz="2600" dirty="0" smtClean="0"/>
          </a:p>
          <a:p>
            <a:pPr lvl="1"/>
            <a:r>
              <a:rPr lang="en-US" altLang="en-US" sz="2600" dirty="0" err="1" smtClean="0"/>
              <a:t>Toplulu</a:t>
            </a:r>
            <a:r>
              <a:rPr lang="tr-TR" altLang="en-US" sz="2600" dirty="0" smtClean="0"/>
              <a:t>k</a:t>
            </a:r>
            <a:endParaRPr lang="en-US" altLang="en-US" dirty="0" smtClean="0"/>
          </a:p>
        </p:txBody>
      </p:sp>
      <p:sp>
        <p:nvSpPr>
          <p:cNvPr id="3" name="Title 2"/>
          <p:cNvSpPr>
            <a:spLocks noGrp="1"/>
          </p:cNvSpPr>
          <p:nvPr>
            <p:ph type="title"/>
          </p:nvPr>
        </p:nvSpPr>
        <p:spPr>
          <a:xfrm>
            <a:off x="762000" y="290457"/>
            <a:ext cx="8026400" cy="527837"/>
          </a:xfrm>
        </p:spPr>
        <p:txBody>
          <a:bodyPr/>
          <a:lstStyle/>
          <a:p>
            <a:r>
              <a:rPr lang="en-US" altLang="en-US" sz="4000" dirty="0"/>
              <a:t>Social </a:t>
            </a:r>
            <a:r>
              <a:rPr lang="en-US" altLang="en-US" sz="4000" dirty="0" smtClean="0"/>
              <a:t>Audit</a:t>
            </a:r>
            <a:r>
              <a:rPr lang="tr-TR" altLang="en-US" sz="4000" dirty="0" smtClean="0"/>
              <a:t> - Sosyal Denetim</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72833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018023"/>
          </a:xfrm>
        </p:spPr>
        <p:txBody>
          <a:bodyPr/>
          <a:lstStyle/>
          <a:p>
            <a:r>
              <a:rPr lang="en-US" altLang="en-US" sz="2800" dirty="0" err="1" smtClean="0"/>
              <a:t>Kapsamlı</a:t>
            </a:r>
            <a:r>
              <a:rPr lang="en-US" altLang="en-US" sz="2800" dirty="0" smtClean="0"/>
              <a:t> </a:t>
            </a:r>
            <a:r>
              <a:rPr lang="en-US" altLang="en-US" sz="2800" dirty="0" err="1" smtClean="0"/>
              <a:t>bir</a:t>
            </a:r>
            <a:r>
              <a:rPr lang="en-US" altLang="en-US" sz="2800" dirty="0" smtClean="0"/>
              <a:t> </a:t>
            </a:r>
            <a:r>
              <a:rPr lang="en-US" altLang="en-US" sz="2800" dirty="0" err="1" smtClean="0"/>
              <a:t>etik</a:t>
            </a:r>
            <a:r>
              <a:rPr lang="en-US" altLang="en-US" sz="2800" dirty="0" smtClean="0"/>
              <a:t> </a:t>
            </a:r>
            <a:r>
              <a:rPr lang="en-US" altLang="en-US" sz="2800" dirty="0" err="1" smtClean="0"/>
              <a:t>eğitim</a:t>
            </a:r>
            <a:r>
              <a:rPr lang="en-US" altLang="en-US" sz="2800" dirty="0" smtClean="0"/>
              <a:t> </a:t>
            </a:r>
            <a:r>
              <a:rPr lang="en-US" altLang="en-US" sz="2800" dirty="0" err="1" smtClean="0"/>
              <a:t>programı</a:t>
            </a:r>
            <a:r>
              <a:rPr lang="en-US" altLang="en-US" sz="2800" dirty="0" smtClean="0"/>
              <a:t>: </a:t>
            </a:r>
            <a:endParaRPr lang="tr-TR" altLang="en-US" sz="2800" dirty="0" smtClean="0"/>
          </a:p>
          <a:p>
            <a:pPr lvl="1"/>
            <a:r>
              <a:rPr lang="en-US" altLang="en-US" sz="2600" dirty="0" err="1" smtClean="0"/>
              <a:t>Çalışanları</a:t>
            </a:r>
            <a:r>
              <a:rPr lang="en-US" altLang="en-US" sz="2600" dirty="0" smtClean="0"/>
              <a:t> </a:t>
            </a:r>
            <a:r>
              <a:rPr lang="en-US" altLang="en-US" sz="2600" dirty="0" err="1" smtClean="0"/>
              <a:t>etik</a:t>
            </a:r>
            <a:r>
              <a:rPr lang="en-US" altLang="en-US" sz="2600" dirty="0" smtClean="0"/>
              <a:t> </a:t>
            </a:r>
            <a:r>
              <a:rPr lang="en-US" altLang="en-US" sz="2600" dirty="0" err="1" smtClean="0"/>
              <a:t>davranmaya</a:t>
            </a:r>
            <a:r>
              <a:rPr lang="en-US" altLang="en-US" sz="2600" dirty="0" smtClean="0"/>
              <a:t> </a:t>
            </a:r>
            <a:r>
              <a:rPr lang="en-US" altLang="en-US" sz="2600" dirty="0" err="1" smtClean="0"/>
              <a:t>teşvik</a:t>
            </a:r>
            <a:r>
              <a:rPr lang="en-US" altLang="en-US" sz="2600" dirty="0" smtClean="0"/>
              <a:t> </a:t>
            </a:r>
            <a:r>
              <a:rPr lang="en-US" altLang="en-US" sz="2600" dirty="0" err="1" smtClean="0"/>
              <a:t>eder</a:t>
            </a:r>
            <a:r>
              <a:rPr lang="en-US" altLang="en-US" sz="2600" dirty="0" smtClean="0"/>
              <a:t> </a:t>
            </a:r>
            <a:endParaRPr lang="tr-TR" altLang="en-US" sz="2600" dirty="0" smtClean="0"/>
          </a:p>
          <a:p>
            <a:pPr lvl="1"/>
            <a:r>
              <a:rPr lang="en-US" altLang="en-US" sz="2600" dirty="0" err="1" smtClean="0"/>
              <a:t>Çalışanlara</a:t>
            </a:r>
            <a:r>
              <a:rPr lang="en-US" altLang="en-US" sz="2600" dirty="0" smtClean="0"/>
              <a:t> </a:t>
            </a:r>
            <a:r>
              <a:rPr lang="en-US" altLang="en-US" sz="2600" dirty="0" err="1" smtClean="0"/>
              <a:t>etik</a:t>
            </a:r>
            <a:r>
              <a:rPr lang="en-US" altLang="en-US" sz="2600" dirty="0" smtClean="0"/>
              <a:t> </a:t>
            </a:r>
            <a:r>
              <a:rPr lang="en-US" altLang="en-US" sz="2600" dirty="0" err="1" smtClean="0"/>
              <a:t>kuralların</a:t>
            </a:r>
            <a:r>
              <a:rPr lang="en-US" altLang="en-US" sz="2600" dirty="0" smtClean="0"/>
              <a:t> </a:t>
            </a:r>
            <a:r>
              <a:rPr lang="en-US" altLang="en-US" sz="2600" dirty="0" err="1" smtClean="0"/>
              <a:t>gerçek</a:t>
            </a:r>
            <a:r>
              <a:rPr lang="en-US" altLang="en-US" sz="2600" dirty="0" smtClean="0"/>
              <a:t> </a:t>
            </a:r>
            <a:r>
              <a:rPr lang="en-US" altLang="en-US" sz="2600" dirty="0" err="1" smtClean="0"/>
              <a:t>hayatta</a:t>
            </a:r>
            <a:r>
              <a:rPr lang="en-US" altLang="en-US" sz="2600" dirty="0" smtClean="0"/>
              <a:t> </a:t>
            </a:r>
            <a:r>
              <a:rPr lang="en-US" altLang="en-US" sz="2600" dirty="0" err="1" smtClean="0"/>
              <a:t>nasıl</a:t>
            </a:r>
            <a:r>
              <a:rPr lang="en-US" altLang="en-US" sz="2600" dirty="0" smtClean="0"/>
              <a:t> </a:t>
            </a:r>
            <a:r>
              <a:rPr lang="en-US" altLang="en-US" sz="2600" dirty="0" err="1" smtClean="0"/>
              <a:t>uygulanacağına</a:t>
            </a:r>
            <a:r>
              <a:rPr lang="en-US" altLang="en-US" sz="2600" dirty="0" smtClean="0"/>
              <a:t> </a:t>
            </a:r>
            <a:r>
              <a:rPr lang="en-US" altLang="en-US" sz="2600" dirty="0" err="1" smtClean="0"/>
              <a:t>dair</a:t>
            </a:r>
            <a:r>
              <a:rPr lang="en-US" altLang="en-US" sz="2600" dirty="0" smtClean="0"/>
              <a:t> </a:t>
            </a:r>
            <a:r>
              <a:rPr lang="en-US" altLang="en-US" sz="2600" dirty="0" err="1" smtClean="0"/>
              <a:t>örnekler</a:t>
            </a:r>
            <a:r>
              <a:rPr lang="en-US" altLang="en-US" sz="2600" dirty="0" smtClean="0"/>
              <a:t> </a:t>
            </a:r>
            <a:r>
              <a:rPr lang="en-US" altLang="en-US" sz="2600" dirty="0" err="1" smtClean="0"/>
              <a:t>gösterir</a:t>
            </a:r>
            <a:r>
              <a:rPr lang="en-US" altLang="en-US" sz="2600" dirty="0" smtClean="0"/>
              <a:t> </a:t>
            </a:r>
            <a:endParaRPr lang="tr-TR" altLang="en-US" sz="2600" dirty="0" smtClean="0"/>
          </a:p>
          <a:p>
            <a:r>
              <a:rPr lang="en-US" altLang="en-US" sz="2800" dirty="0" err="1" smtClean="0"/>
              <a:t>Etik</a:t>
            </a:r>
            <a:r>
              <a:rPr lang="en-US" altLang="en-US" sz="2800" dirty="0" smtClean="0"/>
              <a:t> </a:t>
            </a:r>
            <a:r>
              <a:rPr lang="en-US" altLang="en-US" sz="2800" dirty="0" err="1" smtClean="0"/>
              <a:t>eğitiminin</a:t>
            </a:r>
            <a:r>
              <a:rPr lang="en-US" altLang="en-US" sz="2800" dirty="0" smtClean="0"/>
              <a:t> </a:t>
            </a:r>
            <a:r>
              <a:rPr lang="en-US" altLang="en-US" sz="2800" dirty="0" err="1" smtClean="0"/>
              <a:t>hedefleri</a:t>
            </a:r>
            <a:r>
              <a:rPr lang="en-US" altLang="en-US" sz="2800" dirty="0" smtClean="0"/>
              <a:t>: </a:t>
            </a:r>
            <a:endParaRPr lang="tr-TR" altLang="en-US" sz="2800" dirty="0" smtClean="0"/>
          </a:p>
          <a:p>
            <a:pPr lvl="1"/>
            <a:r>
              <a:rPr lang="en-US" altLang="en-US" sz="2600" dirty="0" err="1" smtClean="0"/>
              <a:t>Çalışanları</a:t>
            </a:r>
            <a:r>
              <a:rPr lang="en-US" altLang="en-US" sz="2600" dirty="0" smtClean="0"/>
              <a:t> </a:t>
            </a:r>
            <a:r>
              <a:rPr lang="en-US" altLang="en-US" sz="2600" dirty="0" err="1" smtClean="0"/>
              <a:t>herhangi</a:t>
            </a:r>
            <a:r>
              <a:rPr lang="en-US" altLang="en-US" sz="2600" dirty="0" smtClean="0"/>
              <a:t> </a:t>
            </a:r>
            <a:r>
              <a:rPr lang="en-US" altLang="en-US" sz="2600" dirty="0" err="1" smtClean="0"/>
              <a:t>bir</a:t>
            </a:r>
            <a:r>
              <a:rPr lang="en-US" altLang="en-US" sz="2600" dirty="0" smtClean="0"/>
              <a:t> </a:t>
            </a:r>
            <a:r>
              <a:rPr lang="en-US" altLang="en-US" sz="2600" dirty="0" err="1" smtClean="0"/>
              <a:t>suistimali</a:t>
            </a:r>
            <a:r>
              <a:rPr lang="en-US" altLang="en-US" sz="2600" dirty="0" smtClean="0"/>
              <a:t> </a:t>
            </a:r>
            <a:r>
              <a:rPr lang="en-US" altLang="en-US" sz="2600" dirty="0" err="1" smtClean="0"/>
              <a:t>bildirmeye</a:t>
            </a:r>
            <a:r>
              <a:rPr lang="en-US" altLang="en-US" sz="2600" dirty="0" smtClean="0"/>
              <a:t> </a:t>
            </a:r>
            <a:r>
              <a:rPr lang="en-US" altLang="en-US" sz="2600" dirty="0" err="1" smtClean="0"/>
              <a:t>teşvik</a:t>
            </a:r>
            <a:r>
              <a:rPr lang="en-US" altLang="en-US" sz="2600" dirty="0" smtClean="0"/>
              <a:t> </a:t>
            </a:r>
            <a:r>
              <a:rPr lang="en-US" altLang="en-US" sz="2600" dirty="0" err="1" smtClean="0"/>
              <a:t>edin</a:t>
            </a:r>
            <a:r>
              <a:rPr lang="en-US" altLang="en-US" sz="2600" dirty="0" smtClean="0"/>
              <a:t> </a:t>
            </a:r>
            <a:endParaRPr lang="tr-TR" altLang="en-US" sz="2600" dirty="0" smtClean="0"/>
          </a:p>
          <a:p>
            <a:pPr lvl="1"/>
            <a:r>
              <a:rPr lang="en-US" altLang="en-US" sz="2600" dirty="0" err="1" smtClean="0"/>
              <a:t>Çalışanlara</a:t>
            </a:r>
            <a:r>
              <a:rPr lang="en-US" altLang="en-US" sz="2600" dirty="0" smtClean="0"/>
              <a:t> </a:t>
            </a:r>
            <a:r>
              <a:rPr lang="en-US" altLang="en-US" sz="2600" dirty="0" err="1" smtClean="0"/>
              <a:t>olayları</a:t>
            </a:r>
            <a:r>
              <a:rPr lang="en-US" altLang="en-US" sz="2600" dirty="0" smtClean="0"/>
              <a:t> </a:t>
            </a:r>
            <a:r>
              <a:rPr lang="en-US" altLang="en-US" sz="2600" dirty="0" err="1" smtClean="0"/>
              <a:t>bildirmenin</a:t>
            </a:r>
            <a:r>
              <a:rPr lang="en-US" altLang="en-US" sz="2600" dirty="0" smtClean="0"/>
              <a:t> </a:t>
            </a:r>
            <a:r>
              <a:rPr lang="en-US" altLang="en-US" sz="2600" dirty="0" err="1" smtClean="0"/>
              <a:t>etkili</a:t>
            </a:r>
            <a:r>
              <a:rPr lang="en-US" altLang="en-US" sz="2600" dirty="0" smtClean="0"/>
              <a:t> </a:t>
            </a:r>
            <a:r>
              <a:rPr lang="en-US" altLang="en-US" sz="2600" dirty="0" err="1" smtClean="0"/>
              <a:t>yollarını</a:t>
            </a:r>
            <a:r>
              <a:rPr lang="en-US" altLang="en-US" sz="2600" dirty="0" smtClean="0"/>
              <a:t> </a:t>
            </a:r>
            <a:r>
              <a:rPr lang="en-US" altLang="en-US" sz="2600" dirty="0" err="1" smtClean="0"/>
              <a:t>gösterin</a:t>
            </a:r>
            <a:r>
              <a:rPr lang="en-US" altLang="en-US" sz="2600" dirty="0" smtClean="0"/>
              <a:t> </a:t>
            </a:r>
            <a:endParaRPr lang="tr-TR" altLang="en-US" sz="2600" dirty="0" smtClean="0"/>
          </a:p>
          <a:p>
            <a:pPr lvl="1"/>
            <a:r>
              <a:rPr lang="en-US" altLang="en-US" sz="2600" dirty="0" err="1" smtClean="0"/>
              <a:t>Çalışanlara</a:t>
            </a:r>
            <a:r>
              <a:rPr lang="en-US" altLang="en-US" sz="2600" dirty="0" smtClean="0"/>
              <a:t> </a:t>
            </a:r>
            <a:r>
              <a:rPr lang="en-US" altLang="en-US" sz="2600" dirty="0" err="1" smtClean="0"/>
              <a:t>bu</a:t>
            </a:r>
            <a:r>
              <a:rPr lang="en-US" altLang="en-US" sz="2600" dirty="0" smtClean="0"/>
              <a:t> </a:t>
            </a:r>
            <a:r>
              <a:rPr lang="en-US" altLang="en-US" sz="2600" dirty="0" err="1" smtClean="0"/>
              <a:t>tür</a:t>
            </a:r>
            <a:r>
              <a:rPr lang="en-US" altLang="en-US" sz="2600" dirty="0" smtClean="0"/>
              <a:t> </a:t>
            </a:r>
            <a:r>
              <a:rPr lang="en-US" altLang="en-US" sz="2600" dirty="0" err="1" smtClean="0"/>
              <a:t>geri</a:t>
            </a:r>
            <a:r>
              <a:rPr lang="en-US" altLang="en-US" sz="2600" dirty="0" smtClean="0"/>
              <a:t> </a:t>
            </a:r>
            <a:r>
              <a:rPr lang="en-US" altLang="en-US" sz="2600" dirty="0" err="1" smtClean="0"/>
              <a:t>bildirimlere</a:t>
            </a:r>
            <a:r>
              <a:rPr lang="en-US" altLang="en-US" sz="2600" dirty="0" smtClean="0"/>
              <a:t> </a:t>
            </a:r>
            <a:r>
              <a:rPr lang="en-US" altLang="en-US" sz="2600" dirty="0" err="1" smtClean="0"/>
              <a:t>göre</a:t>
            </a:r>
            <a:r>
              <a:rPr lang="en-US" altLang="en-US" sz="2600" dirty="0" smtClean="0"/>
              <a:t> </a:t>
            </a:r>
            <a:r>
              <a:rPr lang="en-US" altLang="en-US" sz="2600" dirty="0" err="1" smtClean="0"/>
              <a:t>hareket</a:t>
            </a:r>
            <a:r>
              <a:rPr lang="en-US" altLang="en-US" sz="2600" dirty="0" smtClean="0"/>
              <a:t> </a:t>
            </a:r>
            <a:r>
              <a:rPr lang="en-US" altLang="en-US" sz="2600" dirty="0" err="1" smtClean="0"/>
              <a:t>edileceğine</a:t>
            </a:r>
            <a:r>
              <a:rPr lang="en-US" altLang="en-US" sz="2600" dirty="0" smtClean="0"/>
              <a:t> ve </a:t>
            </a:r>
            <a:r>
              <a:rPr lang="en-US" altLang="en-US" sz="2600" dirty="0" err="1" smtClean="0"/>
              <a:t>misillemeye</a:t>
            </a:r>
            <a:r>
              <a:rPr lang="en-US" altLang="en-US" sz="2600" dirty="0" smtClean="0"/>
              <a:t> </a:t>
            </a:r>
            <a:r>
              <a:rPr lang="en-US" altLang="en-US" sz="2600" dirty="0" err="1" smtClean="0"/>
              <a:t>maruz</a:t>
            </a:r>
            <a:r>
              <a:rPr lang="en-US" altLang="en-US" sz="2600" dirty="0" smtClean="0"/>
              <a:t> </a:t>
            </a:r>
            <a:r>
              <a:rPr lang="en-US" altLang="en-US" sz="2600" dirty="0" err="1" smtClean="0"/>
              <a:t>kalmayacaklarına</a:t>
            </a:r>
            <a:r>
              <a:rPr lang="en-US" altLang="en-US" sz="2600" dirty="0" smtClean="0"/>
              <a:t> </a:t>
            </a:r>
            <a:r>
              <a:rPr lang="en-US" altLang="en-US" sz="2600" dirty="0" err="1" smtClean="0"/>
              <a:t>dair</a:t>
            </a:r>
            <a:r>
              <a:rPr lang="en-US" altLang="en-US" sz="2600" dirty="0" smtClean="0"/>
              <a:t> </a:t>
            </a:r>
            <a:r>
              <a:rPr lang="en-US" altLang="en-US" sz="2600" dirty="0" err="1" smtClean="0"/>
              <a:t>güvence</a:t>
            </a:r>
            <a:r>
              <a:rPr lang="en-US" altLang="en-US" sz="2600" dirty="0" smtClean="0"/>
              <a:t> </a:t>
            </a:r>
            <a:r>
              <a:rPr lang="en-US" altLang="en-US" sz="2600" dirty="0" err="1" smtClean="0"/>
              <a:t>verin</a:t>
            </a:r>
            <a:endParaRPr lang="en-US" dirty="0"/>
          </a:p>
        </p:txBody>
      </p:sp>
      <p:sp>
        <p:nvSpPr>
          <p:cNvPr id="3" name="Title 2"/>
          <p:cNvSpPr>
            <a:spLocks noGrp="1"/>
          </p:cNvSpPr>
          <p:nvPr>
            <p:ph type="title"/>
          </p:nvPr>
        </p:nvSpPr>
        <p:spPr>
          <a:xfrm>
            <a:off x="762000" y="31158"/>
            <a:ext cx="8026400" cy="1046440"/>
          </a:xfrm>
        </p:spPr>
        <p:txBody>
          <a:bodyPr/>
          <a:lstStyle/>
          <a:p>
            <a:r>
              <a:rPr lang="en-US" altLang="en-US" sz="4000" dirty="0"/>
              <a:t>Ethics Training for </a:t>
            </a:r>
            <a:r>
              <a:rPr lang="en-US" altLang="en-US" sz="4000" dirty="0" smtClean="0"/>
              <a:t>Employees</a:t>
            </a:r>
            <a:r>
              <a:rPr lang="tr-TR" altLang="en-US" sz="4000" dirty="0" smtClean="0"/>
              <a:t/>
            </a:r>
            <a:br>
              <a:rPr lang="tr-TR" altLang="en-US" sz="4000" dirty="0" smtClean="0"/>
            </a:br>
            <a:r>
              <a:rPr lang="tr-TR" altLang="en-US" sz="4000" dirty="0" smtClean="0"/>
              <a:t>Çalışanlar için Etik Eğitimi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83558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480953"/>
          </a:xfrm>
        </p:spPr>
        <p:txBody>
          <a:bodyPr/>
          <a:lstStyle/>
          <a:p>
            <a:r>
              <a:rPr lang="en-US" altLang="en-US" sz="2800" dirty="0" err="1" smtClean="0"/>
              <a:t>Başkalarına</a:t>
            </a:r>
            <a:r>
              <a:rPr lang="en-US" altLang="en-US" sz="2800" dirty="0" smtClean="0"/>
              <a:t> </a:t>
            </a:r>
            <a:r>
              <a:rPr lang="en-US" altLang="en-US" sz="2800" dirty="0" err="1" smtClean="0"/>
              <a:t>adil</a:t>
            </a:r>
            <a:r>
              <a:rPr lang="en-US" altLang="en-US" sz="2800" dirty="0" smtClean="0"/>
              <a:t> ve </a:t>
            </a:r>
            <a:r>
              <a:rPr lang="en-US" altLang="en-US" sz="2800" dirty="0" err="1" smtClean="0"/>
              <a:t>saygılı</a:t>
            </a:r>
            <a:r>
              <a:rPr lang="en-US" altLang="en-US" sz="2800" dirty="0" smtClean="0"/>
              <a:t> </a:t>
            </a:r>
            <a:r>
              <a:rPr lang="en-US" altLang="en-US" sz="2800" dirty="0" err="1" smtClean="0"/>
              <a:t>davranmak</a:t>
            </a:r>
            <a:r>
              <a:rPr lang="en-US" altLang="en-US" sz="2800" dirty="0" smtClean="0"/>
              <a:t> </a:t>
            </a:r>
            <a:endParaRPr lang="tr-TR" altLang="en-US" sz="2800" dirty="0" smtClean="0"/>
          </a:p>
          <a:p>
            <a:r>
              <a:rPr lang="en-US" altLang="en-US" sz="2800" dirty="0" err="1" smtClean="0"/>
              <a:t>Çok</a:t>
            </a:r>
            <a:r>
              <a:rPr lang="en-US" altLang="en-US" sz="2800" dirty="0" smtClean="0"/>
              <a:t> </a:t>
            </a:r>
            <a:r>
              <a:rPr lang="en-US" altLang="en-US" sz="2800" dirty="0" err="1" smtClean="0"/>
              <a:t>kültürlü</a:t>
            </a:r>
            <a:r>
              <a:rPr lang="en-US" altLang="en-US" sz="2800" dirty="0" smtClean="0"/>
              <a:t> </a:t>
            </a:r>
            <a:r>
              <a:rPr lang="en-US" altLang="en-US" sz="2800" dirty="0" err="1" smtClean="0"/>
              <a:t>bir</a:t>
            </a:r>
            <a:r>
              <a:rPr lang="en-US" altLang="en-US" sz="2800" dirty="0" smtClean="0"/>
              <a:t> </a:t>
            </a:r>
            <a:r>
              <a:rPr lang="en-US" altLang="en-US" sz="2800" dirty="0" err="1" smtClean="0"/>
              <a:t>ortamda</a:t>
            </a:r>
            <a:r>
              <a:rPr lang="en-US" altLang="en-US" sz="2800" dirty="0" smtClean="0"/>
              <a:t> </a:t>
            </a:r>
            <a:r>
              <a:rPr lang="en-US" altLang="en-US" sz="2800" dirty="0" err="1" smtClean="0"/>
              <a:t>etkin</a:t>
            </a:r>
            <a:r>
              <a:rPr lang="en-US" altLang="en-US" sz="2800" dirty="0" smtClean="0"/>
              <a:t> </a:t>
            </a:r>
            <a:r>
              <a:rPr lang="en-US" altLang="en-US" sz="2800" dirty="0" err="1" smtClean="0"/>
              <a:t>bir</a:t>
            </a:r>
            <a:r>
              <a:rPr lang="en-US" altLang="en-US" sz="2800" dirty="0" smtClean="0"/>
              <a:t> </a:t>
            </a:r>
            <a:r>
              <a:rPr lang="en-US" altLang="en-US" sz="2800" dirty="0" err="1" smtClean="0"/>
              <a:t>şekilde</a:t>
            </a:r>
            <a:r>
              <a:rPr lang="en-US" altLang="en-US" sz="2800" dirty="0" smtClean="0"/>
              <a:t> </a:t>
            </a:r>
            <a:r>
              <a:rPr lang="en-US" altLang="en-US" sz="2800" dirty="0" err="1" smtClean="0"/>
              <a:t>çalışmak</a:t>
            </a:r>
            <a:r>
              <a:rPr lang="en-US" altLang="en-US" sz="2800" dirty="0" smtClean="0"/>
              <a:t> </a:t>
            </a:r>
            <a:endParaRPr lang="tr-TR" altLang="en-US" sz="2800" dirty="0" smtClean="0"/>
          </a:p>
          <a:p>
            <a:r>
              <a:rPr lang="en-US" altLang="en-US" sz="2800" dirty="0" err="1" smtClean="0"/>
              <a:t>İş</a:t>
            </a:r>
            <a:r>
              <a:rPr lang="en-US" altLang="en-US" sz="2800" dirty="0" smtClean="0"/>
              <a:t> </a:t>
            </a:r>
            <a:r>
              <a:rPr lang="en-US" altLang="en-US" sz="2800" dirty="0" err="1" smtClean="0"/>
              <a:t>ihtiyaçlarını</a:t>
            </a:r>
            <a:r>
              <a:rPr lang="en-US" altLang="en-US" sz="2800" dirty="0" smtClean="0"/>
              <a:t> </a:t>
            </a:r>
            <a:r>
              <a:rPr lang="en-US" altLang="en-US" sz="2800" dirty="0" err="1" smtClean="0"/>
              <a:t>karşılamak</a:t>
            </a:r>
            <a:r>
              <a:rPr lang="en-US" altLang="en-US" sz="2800" dirty="0" smtClean="0"/>
              <a:t> </a:t>
            </a:r>
            <a:r>
              <a:rPr lang="en-US" altLang="en-US" sz="2800" dirty="0" err="1" smtClean="0"/>
              <a:t>için</a:t>
            </a:r>
            <a:r>
              <a:rPr lang="en-US" altLang="en-US" sz="2800" dirty="0" smtClean="0"/>
              <a:t> </a:t>
            </a:r>
            <a:r>
              <a:rPr lang="en-US" altLang="en-US" sz="2800" dirty="0" err="1" smtClean="0"/>
              <a:t>kişisel</a:t>
            </a:r>
            <a:r>
              <a:rPr lang="en-US" altLang="en-US" sz="2800" dirty="0" smtClean="0"/>
              <a:t> </a:t>
            </a:r>
            <a:r>
              <a:rPr lang="en-US" altLang="en-US" sz="2800" dirty="0" err="1" smtClean="0"/>
              <a:t>sorumluluğu</a:t>
            </a:r>
            <a:r>
              <a:rPr lang="en-US" altLang="en-US" sz="2800" dirty="0" smtClean="0"/>
              <a:t> </a:t>
            </a:r>
            <a:r>
              <a:rPr lang="en-US" altLang="en-US" sz="2800" dirty="0" err="1" smtClean="0"/>
              <a:t>kabul</a:t>
            </a:r>
            <a:r>
              <a:rPr lang="en-US" altLang="en-US" sz="2800" dirty="0" smtClean="0"/>
              <a:t> </a:t>
            </a:r>
            <a:r>
              <a:rPr lang="en-US" altLang="en-US" sz="2800" dirty="0" err="1" smtClean="0"/>
              <a:t>etmek</a:t>
            </a:r>
            <a:r>
              <a:rPr lang="en-US" altLang="en-US" sz="2800" dirty="0" smtClean="0"/>
              <a:t> </a:t>
            </a:r>
            <a:endParaRPr lang="tr-TR" altLang="en-US" sz="2800" dirty="0" smtClean="0"/>
          </a:p>
          <a:p>
            <a:r>
              <a:rPr lang="en-US" altLang="en-US" sz="2800" dirty="0" err="1" smtClean="0"/>
              <a:t>Başkalarını</a:t>
            </a:r>
            <a:r>
              <a:rPr lang="en-US" altLang="en-US" sz="2800" dirty="0" smtClean="0"/>
              <a:t> ve </a:t>
            </a:r>
            <a:r>
              <a:rPr lang="en-US" altLang="en-US" sz="2800" dirty="0" err="1" smtClean="0"/>
              <a:t>kendilerini</a:t>
            </a:r>
            <a:r>
              <a:rPr lang="en-US" altLang="en-US" sz="2800" dirty="0" smtClean="0"/>
              <a:t> </a:t>
            </a:r>
            <a:r>
              <a:rPr lang="en-US" altLang="en-US" sz="2800" dirty="0" err="1" smtClean="0"/>
              <a:t>sürekli</a:t>
            </a:r>
            <a:r>
              <a:rPr lang="en-US" altLang="en-US" sz="2800" dirty="0" smtClean="0"/>
              <a:t> </a:t>
            </a:r>
            <a:r>
              <a:rPr lang="en-US" altLang="en-US" sz="2800" dirty="0" err="1" smtClean="0"/>
              <a:t>geliştirmek</a:t>
            </a:r>
            <a:r>
              <a:rPr lang="en-US" altLang="en-US" sz="2800" dirty="0" smtClean="0"/>
              <a:t> </a:t>
            </a:r>
            <a:endParaRPr lang="tr-TR" altLang="en-US" sz="2800" dirty="0" smtClean="0"/>
          </a:p>
          <a:p>
            <a:r>
              <a:rPr lang="en-US" altLang="en-US" sz="2800" dirty="0" err="1" smtClean="0"/>
              <a:t>Tedarikçiler</a:t>
            </a:r>
            <a:r>
              <a:rPr lang="en-US" altLang="en-US" sz="2800" dirty="0" smtClean="0"/>
              <a:t>, </a:t>
            </a:r>
            <a:r>
              <a:rPr lang="en-US" altLang="en-US" sz="2800" dirty="0" err="1" smtClean="0"/>
              <a:t>müşteriler</a:t>
            </a:r>
            <a:r>
              <a:rPr lang="en-US" altLang="en-US" sz="2800" dirty="0" smtClean="0"/>
              <a:t> ve </a:t>
            </a:r>
            <a:r>
              <a:rPr lang="en-US" altLang="en-US" sz="2800" dirty="0" err="1" smtClean="0"/>
              <a:t>diğer</a:t>
            </a:r>
            <a:r>
              <a:rPr lang="en-US" altLang="en-US" sz="2800" dirty="0" smtClean="0"/>
              <a:t> </a:t>
            </a:r>
            <a:r>
              <a:rPr lang="en-US" altLang="en-US" sz="2800" dirty="0" err="1" smtClean="0"/>
              <a:t>çalışanlarla</a:t>
            </a:r>
            <a:r>
              <a:rPr lang="en-US" altLang="en-US" sz="2800" dirty="0" smtClean="0"/>
              <a:t> </a:t>
            </a:r>
            <a:r>
              <a:rPr lang="en-US" altLang="en-US" sz="2800" dirty="0" err="1" smtClean="0"/>
              <a:t>açık</a:t>
            </a:r>
            <a:r>
              <a:rPr lang="en-US" altLang="en-US" sz="2800" dirty="0" smtClean="0"/>
              <a:t> ve </a:t>
            </a:r>
            <a:r>
              <a:rPr lang="en-US" altLang="en-US" sz="2800" dirty="0" err="1" smtClean="0"/>
              <a:t>dürüst</a:t>
            </a:r>
            <a:r>
              <a:rPr lang="en-US" altLang="en-US" sz="2800" dirty="0" smtClean="0"/>
              <a:t> </a:t>
            </a:r>
            <a:r>
              <a:rPr lang="en-US" altLang="en-US" sz="2800" dirty="0" err="1" smtClean="0"/>
              <a:t>bir</a:t>
            </a:r>
            <a:r>
              <a:rPr lang="en-US" altLang="en-US" sz="2800" dirty="0" smtClean="0"/>
              <a:t> </a:t>
            </a:r>
            <a:r>
              <a:rPr lang="en-US" altLang="en-US" sz="2800" dirty="0" err="1" smtClean="0"/>
              <a:t>şekilde</a:t>
            </a:r>
            <a:r>
              <a:rPr lang="en-US" altLang="en-US" sz="2800" dirty="0" smtClean="0"/>
              <a:t> </a:t>
            </a:r>
            <a:r>
              <a:rPr lang="en-US" altLang="en-US" sz="2800" dirty="0" err="1" smtClean="0"/>
              <a:t>çalışmak</a:t>
            </a:r>
            <a:endParaRPr lang="en-US" dirty="0"/>
          </a:p>
        </p:txBody>
      </p:sp>
      <p:sp>
        <p:nvSpPr>
          <p:cNvPr id="3" name="Title 2"/>
          <p:cNvSpPr>
            <a:spLocks noGrp="1"/>
          </p:cNvSpPr>
          <p:nvPr>
            <p:ph type="title"/>
          </p:nvPr>
        </p:nvSpPr>
        <p:spPr>
          <a:xfrm>
            <a:off x="762000" y="25923"/>
            <a:ext cx="8026400" cy="1574277"/>
          </a:xfrm>
        </p:spPr>
        <p:txBody>
          <a:bodyPr/>
          <a:lstStyle/>
          <a:p>
            <a:r>
              <a:rPr lang="en-US" altLang="en-US" sz="4000" dirty="0"/>
              <a:t>Ethical Criteria in Employee </a:t>
            </a:r>
            <a:r>
              <a:rPr lang="en-US" altLang="en-US" sz="4000" dirty="0" smtClean="0"/>
              <a:t>Appraisals</a:t>
            </a:r>
            <a:r>
              <a:rPr lang="tr-TR" altLang="en-US" sz="4000" dirty="0" smtClean="0"/>
              <a:t/>
            </a:r>
            <a:br>
              <a:rPr lang="tr-TR" altLang="en-US" sz="4000" dirty="0" smtClean="0"/>
            </a:br>
            <a:r>
              <a:rPr lang="tr-TR" altLang="en-US" sz="4000" dirty="0" smtClean="0"/>
              <a:t>Çalışan Değerlendirmelerinde Etik Kriterler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29284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5: This table presents a checklist of questions a manager should ask when trying to establish an ethical work environment:&#10;Does your organization have a code of ethics?&#10;Do employees know how and to whom to report any infractions of the code of ethics?&#10;Do employees feel that they can report violations of the code of ethics safely and without fear of retaliation?&#10;Do employees feel that action will be taken against those who violate the code of ethics?&#10;Do senior managers set an example by communicating the code of ethics and using it in their own decision making?&#10;Do managers evaluate and provide feedback to employees on how they operate with respect to the values and principles in the code of ethics?&#10;Are employees aware of sanctions for breaching the code of ethics?&#10;Do employees use the code of ethics in their decision making?&#10;"/>
          <p:cNvGraphicFramePr>
            <a:graphicFrameLocks noGrp="1"/>
          </p:cNvGraphicFramePr>
          <p:nvPr>
            <p:ph idx="1"/>
            <p:extLst>
              <p:ext uri="{D42A27DB-BD31-4B8C-83A1-F6EECF244321}">
                <p14:modId xmlns:p14="http://schemas.microsoft.com/office/powerpoint/2010/main" val="1779493639"/>
              </p:ext>
            </p:extLst>
          </p:nvPr>
        </p:nvGraphicFramePr>
        <p:xfrm>
          <a:off x="228600" y="1219200"/>
          <a:ext cx="8559800" cy="5466080"/>
        </p:xfrm>
        <a:graphic>
          <a:graphicData uri="http://schemas.openxmlformats.org/drawingml/2006/table">
            <a:tbl>
              <a:tblPr firstRow="1" bandRow="1">
                <a:tableStyleId>{5C22544A-7EE6-4342-B048-85BDC9FD1C3A}</a:tableStyleId>
              </a:tblPr>
              <a:tblGrid>
                <a:gridCol w="7391400">
                  <a:extLst>
                    <a:ext uri="{9D8B030D-6E8A-4147-A177-3AD203B41FA5}">
                      <a16:colId xmlns:a16="http://schemas.microsoft.com/office/drawing/2014/main" xmlns="" val="2523984613"/>
                    </a:ext>
                  </a:extLst>
                </a:gridCol>
                <a:gridCol w="609600">
                  <a:extLst>
                    <a:ext uri="{9D8B030D-6E8A-4147-A177-3AD203B41FA5}">
                      <a16:colId xmlns:a16="http://schemas.microsoft.com/office/drawing/2014/main" xmlns="" val="3826554217"/>
                    </a:ext>
                  </a:extLst>
                </a:gridCol>
                <a:gridCol w="558800">
                  <a:extLst>
                    <a:ext uri="{9D8B030D-6E8A-4147-A177-3AD203B41FA5}">
                      <a16:colId xmlns:a16="http://schemas.microsoft.com/office/drawing/2014/main" xmlns="" val="1118247502"/>
                    </a:ext>
                  </a:extLst>
                </a:gridCol>
              </a:tblGrid>
              <a:tr h="305884">
                <a:tc>
                  <a:txBody>
                    <a:bodyPr/>
                    <a:lstStyle/>
                    <a:p>
                      <a:r>
                        <a:rPr lang="tr-TR" sz="2000" dirty="0" smtClean="0"/>
                        <a:t>Soru</a:t>
                      </a:r>
                      <a:endParaRPr lang="en-US" sz="2000" dirty="0"/>
                    </a:p>
                  </a:txBody>
                  <a:tcPr/>
                </a:tc>
                <a:tc>
                  <a:txBody>
                    <a:bodyPr/>
                    <a:lstStyle/>
                    <a:p>
                      <a:r>
                        <a:rPr lang="en-US" sz="2000" dirty="0" smtClean="0"/>
                        <a:t>YES</a:t>
                      </a:r>
                      <a:endParaRPr lang="en-US" sz="2000" dirty="0"/>
                    </a:p>
                  </a:txBody>
                  <a:tcPr/>
                </a:tc>
                <a:tc>
                  <a:txBody>
                    <a:bodyPr/>
                    <a:lstStyle/>
                    <a:p>
                      <a:r>
                        <a:rPr lang="en-US" sz="2000" dirty="0"/>
                        <a:t>NO</a:t>
                      </a:r>
                    </a:p>
                  </a:txBody>
                  <a:tcPr/>
                </a:tc>
                <a:extLst>
                  <a:ext uri="{0D108BD9-81ED-4DB2-BD59-A6C34878D82A}">
                    <a16:rowId xmlns:a16="http://schemas.microsoft.com/office/drawing/2014/main" xmlns="" val="2834287682"/>
                  </a:ext>
                </a:extLst>
              </a:tr>
              <a:tr h="5053381">
                <a:tc>
                  <a:txBody>
                    <a:bodyPr/>
                    <a:lstStyle/>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Kuruluşunuzun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var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mı</a:t>
                      </a:r>
                      <a:r>
                        <a:rPr lang="en-US" sz="2100" b="0" i="0" u="none" strike="noStrike" kern="1200" baseline="0" dirty="0" smtClean="0">
                          <a:solidFill>
                            <a:schemeClr val="dk1"/>
                          </a:solidFill>
                          <a:latin typeface="+mn-lt"/>
                          <a:ea typeface="+mn-ea"/>
                          <a:cs typeface="+mn-cs"/>
                        </a:rPr>
                        <a:t>?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Çalışanlar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herhangi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ihlalini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nasıl</a:t>
                      </a:r>
                      <a:r>
                        <a:rPr lang="en-US" sz="2100" b="0" i="0" u="none" strike="noStrike" kern="1200" baseline="0" dirty="0" smtClean="0">
                          <a:solidFill>
                            <a:schemeClr val="dk1"/>
                          </a:solidFill>
                          <a:latin typeface="+mn-lt"/>
                          <a:ea typeface="+mn-ea"/>
                          <a:cs typeface="+mn-cs"/>
                        </a:rPr>
                        <a:t> ve </a:t>
                      </a:r>
                      <a:r>
                        <a:rPr lang="en-US" sz="2100" b="0" i="0" u="none" strike="noStrike" kern="1200" baseline="0" dirty="0" err="1" smtClean="0">
                          <a:solidFill>
                            <a:schemeClr val="dk1"/>
                          </a:solidFill>
                          <a:latin typeface="+mn-lt"/>
                          <a:ea typeface="+mn-ea"/>
                          <a:cs typeface="+mn-cs"/>
                        </a:rPr>
                        <a:t>kime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bildireceklerini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biliyorlar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mı</a:t>
                      </a:r>
                      <a:r>
                        <a:rPr lang="en-US" sz="2100" b="0" i="0" u="none" strike="noStrike" kern="1200" baseline="0" dirty="0" smtClean="0">
                          <a:solidFill>
                            <a:schemeClr val="dk1"/>
                          </a:solidFill>
                          <a:latin typeface="+mn-lt"/>
                          <a:ea typeface="+mn-ea"/>
                          <a:cs typeface="+mn-cs"/>
                        </a:rPr>
                        <a:t>?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Çalışanlar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ihlallerini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güvenli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şekilde</a:t>
                      </a:r>
                      <a:r>
                        <a:rPr lang="en-US" sz="2100" b="0" i="0" u="none" strike="noStrike" kern="1200" baseline="0" dirty="0" smtClean="0">
                          <a:solidFill>
                            <a:schemeClr val="dk1"/>
                          </a:solidFill>
                          <a:latin typeface="+mn-lt"/>
                          <a:ea typeface="+mn-ea"/>
                          <a:cs typeface="+mn-cs"/>
                        </a:rPr>
                        <a:t> ve </a:t>
                      </a:r>
                      <a:r>
                        <a:rPr lang="en-US" sz="2100" b="0" i="0" u="none" strike="noStrike" kern="1200" baseline="0" dirty="0" err="1" smtClean="0">
                          <a:solidFill>
                            <a:schemeClr val="dk1"/>
                          </a:solidFill>
                          <a:latin typeface="+mn-lt"/>
                          <a:ea typeface="+mn-ea"/>
                          <a:cs typeface="+mn-cs"/>
                        </a:rPr>
                        <a:t>misilleme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korkusu</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olmadan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bildirebileceklerini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düşünüyor</a:t>
                      </a:r>
                      <a:r>
                        <a:rPr lang="en-US" sz="2100" b="0" i="0" u="none" strike="noStrike" kern="1200" baseline="0" dirty="0" smtClean="0">
                          <a:solidFill>
                            <a:schemeClr val="dk1"/>
                          </a:solidFill>
                          <a:latin typeface="+mn-lt"/>
                          <a:ea typeface="+mn-ea"/>
                          <a:cs typeface="+mn-cs"/>
                        </a:rPr>
                        <a:t> mu?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Çalışanlar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ihlal</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edenlere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karşı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harekete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geçileceğini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düşünüyor</a:t>
                      </a:r>
                      <a:r>
                        <a:rPr lang="en-US" sz="2100" b="0" i="0" u="none" strike="noStrike" kern="1200" baseline="0" dirty="0" smtClean="0">
                          <a:solidFill>
                            <a:schemeClr val="dk1"/>
                          </a:solidFill>
                          <a:latin typeface="+mn-lt"/>
                          <a:ea typeface="+mn-ea"/>
                          <a:cs typeface="+mn-cs"/>
                        </a:rPr>
                        <a:t> mu?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Üst</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düzey</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yöneticiler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ileterek</a:t>
                      </a:r>
                      <a:r>
                        <a:rPr lang="en-US" sz="2100" b="0" i="0" u="none" strike="noStrike" kern="1200" baseline="0" dirty="0" smtClean="0">
                          <a:solidFill>
                            <a:schemeClr val="dk1"/>
                          </a:solidFill>
                          <a:latin typeface="+mn-lt"/>
                          <a:ea typeface="+mn-ea"/>
                          <a:cs typeface="+mn-cs"/>
                        </a:rPr>
                        <a:t> ve </a:t>
                      </a:r>
                      <a:r>
                        <a:rPr lang="en-US" sz="2100" b="0" i="0" u="none" strike="noStrike" kern="1200" baseline="0" dirty="0" err="1" smtClean="0">
                          <a:solidFill>
                            <a:schemeClr val="dk1"/>
                          </a:solidFill>
                          <a:latin typeface="+mn-lt"/>
                          <a:ea typeface="+mn-ea"/>
                          <a:cs typeface="+mn-cs"/>
                        </a:rPr>
                        <a:t>kendi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karar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vermelerinde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kullanarak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örnek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teşkil</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ediyor</a:t>
                      </a:r>
                      <a:r>
                        <a:rPr lang="en-US" sz="2100" b="0" i="0" u="none" strike="noStrike" kern="1200" baseline="0" dirty="0" smtClean="0">
                          <a:solidFill>
                            <a:schemeClr val="dk1"/>
                          </a:solidFill>
                          <a:latin typeface="+mn-lt"/>
                          <a:ea typeface="+mn-ea"/>
                          <a:cs typeface="+mn-cs"/>
                        </a:rPr>
                        <a:t> mu?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Yöneticiler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kurallardaki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değerler</a:t>
                      </a:r>
                      <a:r>
                        <a:rPr lang="en-US" sz="2100" b="0" i="0" u="none" strike="noStrike" kern="1200" baseline="0" dirty="0" smtClean="0">
                          <a:solidFill>
                            <a:schemeClr val="dk1"/>
                          </a:solidFill>
                          <a:latin typeface="+mn-lt"/>
                          <a:ea typeface="+mn-ea"/>
                          <a:cs typeface="+mn-cs"/>
                        </a:rPr>
                        <a:t> ve </a:t>
                      </a:r>
                      <a:r>
                        <a:rPr lang="en-US" sz="2100" b="0" i="0" u="none" strike="noStrike" kern="1200" baseline="0" dirty="0" err="1" smtClean="0">
                          <a:solidFill>
                            <a:schemeClr val="dk1"/>
                          </a:solidFill>
                          <a:latin typeface="+mn-lt"/>
                          <a:ea typeface="+mn-ea"/>
                          <a:cs typeface="+mn-cs"/>
                        </a:rPr>
                        <a:t>ilkeler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açısından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çalışanlara</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nasıl</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çalıştıkları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konusunda</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değerlendirme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yapıyor</a:t>
                      </a:r>
                      <a:r>
                        <a:rPr lang="en-US" sz="2100" b="0" i="0" u="none" strike="noStrike" kern="1200" baseline="0" dirty="0" smtClean="0">
                          <a:solidFill>
                            <a:schemeClr val="dk1"/>
                          </a:solidFill>
                          <a:latin typeface="+mn-lt"/>
                          <a:ea typeface="+mn-ea"/>
                          <a:cs typeface="+mn-cs"/>
                        </a:rPr>
                        <a:t> ve </a:t>
                      </a:r>
                      <a:r>
                        <a:rPr lang="en-US" sz="2100" b="0" i="0" u="none" strike="noStrike" kern="1200" baseline="0" dirty="0" err="1" smtClean="0">
                          <a:solidFill>
                            <a:schemeClr val="dk1"/>
                          </a:solidFill>
                          <a:latin typeface="+mn-lt"/>
                          <a:ea typeface="+mn-ea"/>
                          <a:cs typeface="+mn-cs"/>
                        </a:rPr>
                        <a:t>geri</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bildirim</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sağlıyor</a:t>
                      </a:r>
                      <a:r>
                        <a:rPr lang="en-US" sz="2100" b="0" i="0" u="none" strike="noStrike" kern="1200" baseline="0" dirty="0" smtClean="0">
                          <a:solidFill>
                            <a:schemeClr val="dk1"/>
                          </a:solidFill>
                          <a:latin typeface="+mn-lt"/>
                          <a:ea typeface="+mn-ea"/>
                          <a:cs typeface="+mn-cs"/>
                        </a:rPr>
                        <a:t> mu?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Çalışanlar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ihlal</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etmenin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yaptırımlarının</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farkında</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mı</a:t>
                      </a:r>
                      <a:r>
                        <a:rPr lang="en-US" sz="2100" b="0" i="0" u="none" strike="noStrike" kern="1200" baseline="0" dirty="0" smtClean="0">
                          <a:solidFill>
                            <a:schemeClr val="dk1"/>
                          </a:solidFill>
                          <a:latin typeface="+mn-lt"/>
                          <a:ea typeface="+mn-ea"/>
                          <a:cs typeface="+mn-cs"/>
                        </a:rPr>
                        <a:t>? </a:t>
                      </a:r>
                      <a:endParaRPr lang="tr-TR" sz="2100" b="0" i="0" u="none" strike="noStrike" kern="1200" baseline="0" dirty="0" smtClean="0">
                        <a:solidFill>
                          <a:schemeClr val="dk1"/>
                        </a:solidFill>
                        <a:latin typeface="+mn-lt"/>
                        <a:ea typeface="+mn-ea"/>
                        <a:cs typeface="+mn-cs"/>
                      </a:endParaRPr>
                    </a:p>
                    <a:p>
                      <a:pPr marL="285750" indent="-285750">
                        <a:spcAft>
                          <a:spcPts val="200"/>
                        </a:spcAft>
                        <a:buClr>
                          <a:schemeClr val="accent2"/>
                        </a:buClr>
                        <a:buFont typeface="Arial" panose="020B0604020202020204" pitchFamily="34" charset="0"/>
                        <a:buChar char="•"/>
                      </a:pPr>
                      <a:r>
                        <a:rPr lang="en-US" sz="2100" b="0" i="0" u="none" strike="noStrike" kern="1200" baseline="0" dirty="0" err="1" smtClean="0">
                          <a:solidFill>
                            <a:schemeClr val="dk1"/>
                          </a:solidFill>
                          <a:latin typeface="+mn-lt"/>
                          <a:ea typeface="+mn-ea"/>
                          <a:cs typeface="+mn-cs"/>
                        </a:rPr>
                        <a:t>Çalışanlar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karar</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vermelerinde</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etik</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kuralları</a:t>
                      </a:r>
                      <a:r>
                        <a:rPr lang="en-US" sz="2100" b="0" i="0" u="none" strike="noStrike" kern="1200" baseline="0" dirty="0" smtClean="0">
                          <a:solidFill>
                            <a:schemeClr val="dk1"/>
                          </a:solidFill>
                          <a:latin typeface="+mn-lt"/>
                          <a:ea typeface="+mn-ea"/>
                          <a:cs typeface="+mn-cs"/>
                        </a:rPr>
                        <a:t> </a:t>
                      </a:r>
                      <a:r>
                        <a:rPr lang="en-US" sz="2100" b="0" i="0" u="none" strike="noStrike" kern="1200" baseline="0" dirty="0" err="1" smtClean="0">
                          <a:solidFill>
                            <a:schemeClr val="dk1"/>
                          </a:solidFill>
                          <a:latin typeface="+mn-lt"/>
                          <a:ea typeface="+mn-ea"/>
                          <a:cs typeface="+mn-cs"/>
                        </a:rPr>
                        <a:t>kullanıyor</a:t>
                      </a:r>
                      <a:r>
                        <a:rPr lang="en-US" sz="2100" b="0" i="0" u="none" strike="noStrike" kern="1200" baseline="0" dirty="0" smtClean="0">
                          <a:solidFill>
                            <a:schemeClr val="dk1"/>
                          </a:solidFill>
                          <a:latin typeface="+mn-lt"/>
                          <a:ea typeface="+mn-ea"/>
                          <a:cs typeface="+mn-cs"/>
                        </a:rPr>
                        <a:t> mu?</a:t>
                      </a:r>
                      <a:endParaRPr lang="en-US" sz="21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690180411"/>
                  </a:ext>
                </a:extLst>
              </a:tr>
            </a:tbl>
          </a:graphicData>
        </a:graphic>
      </p:graphicFrame>
      <p:sp>
        <p:nvSpPr>
          <p:cNvPr id="3" name="Title 2"/>
          <p:cNvSpPr>
            <a:spLocks noGrp="1"/>
          </p:cNvSpPr>
          <p:nvPr>
            <p:ph type="title"/>
          </p:nvPr>
        </p:nvSpPr>
        <p:spPr>
          <a:xfrm>
            <a:off x="838200" y="83477"/>
            <a:ext cx="8077200" cy="941796"/>
          </a:xfrm>
        </p:spPr>
        <p:txBody>
          <a:bodyPr/>
          <a:lstStyle/>
          <a:p>
            <a:r>
              <a:rPr lang="en-US" sz="2400" dirty="0"/>
              <a:t>Manager’s Checklist for Establishing an </a:t>
            </a:r>
            <a:r>
              <a:rPr lang="en-US" sz="2400" dirty="0" smtClean="0"/>
              <a:t>Ethical </a:t>
            </a:r>
            <a:r>
              <a:rPr lang="en-US" sz="2400" dirty="0"/>
              <a:t>Work </a:t>
            </a:r>
            <a:r>
              <a:rPr lang="tr-TR" sz="2400" dirty="0" smtClean="0"/>
              <a:t>E</a:t>
            </a:r>
            <a:r>
              <a:rPr lang="en-US" sz="2400" dirty="0" err="1" smtClean="0"/>
              <a:t>nvironment</a:t>
            </a:r>
            <a:r>
              <a:rPr lang="tr-TR" sz="2400" dirty="0" smtClean="0"/>
              <a:t>-</a:t>
            </a:r>
            <a:br>
              <a:rPr lang="tr-TR" sz="2400" dirty="0" smtClean="0"/>
            </a:br>
            <a:r>
              <a:rPr lang="tr-TR" sz="2400" dirty="0" smtClean="0"/>
              <a:t>Etik Bir Çalışma Ortamı Oluşturmak için Yöneticinin Kontrol Listesi</a:t>
            </a:r>
            <a:endParaRPr lang="en-US" sz="2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10920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33400" y="966261"/>
            <a:ext cx="8331200" cy="5510739"/>
          </a:xfrm>
        </p:spPr>
        <p:txBody>
          <a:bodyPr/>
          <a:lstStyle/>
          <a:p>
            <a:pPr marL="457200" indent="-457200">
              <a:buFont typeface="+mj-lt"/>
              <a:buAutoNum type="arabicPeriod"/>
            </a:pPr>
            <a:r>
              <a:rPr lang="en-US" sz="2800" dirty="0" err="1" smtClean="0"/>
              <a:t>Bir</a:t>
            </a:r>
            <a:r>
              <a:rPr lang="en-US" sz="2800" dirty="0" smtClean="0"/>
              <a:t> problem </a:t>
            </a:r>
            <a:r>
              <a:rPr lang="en-US" sz="2800" dirty="0" err="1" smtClean="0"/>
              <a:t>ifadesi</a:t>
            </a:r>
            <a:r>
              <a:rPr lang="en-US" sz="2800" dirty="0" smtClean="0"/>
              <a:t> </a:t>
            </a:r>
            <a:r>
              <a:rPr lang="en-US" sz="2800" dirty="0" err="1" smtClean="0"/>
              <a:t>geliştirin</a:t>
            </a:r>
            <a:r>
              <a:rPr lang="en-US" sz="2800" dirty="0" smtClean="0"/>
              <a:t> </a:t>
            </a:r>
            <a:endParaRPr lang="tr-TR" sz="2800" dirty="0" smtClean="0"/>
          </a:p>
          <a:p>
            <a:pPr lvl="1"/>
            <a:r>
              <a:rPr lang="en-US" sz="2600" dirty="0" err="1" smtClean="0"/>
              <a:t>Konunun</a:t>
            </a:r>
            <a:r>
              <a:rPr lang="en-US" sz="2600" dirty="0" smtClean="0"/>
              <a:t> </a:t>
            </a:r>
            <a:r>
              <a:rPr lang="en-US" sz="2600" dirty="0" err="1" smtClean="0"/>
              <a:t>açık</a:t>
            </a:r>
            <a:r>
              <a:rPr lang="en-US" sz="2600" dirty="0" smtClean="0"/>
              <a:t> ve </a:t>
            </a:r>
            <a:r>
              <a:rPr lang="en-US" sz="2600" dirty="0" err="1" smtClean="0"/>
              <a:t>özlü</a:t>
            </a:r>
            <a:r>
              <a:rPr lang="en-US" sz="2600" dirty="0" smtClean="0"/>
              <a:t> </a:t>
            </a:r>
            <a:r>
              <a:rPr lang="en-US" sz="2600" dirty="0" err="1" smtClean="0"/>
              <a:t>bir</a:t>
            </a:r>
            <a:r>
              <a:rPr lang="en-US" sz="2600" dirty="0" smtClean="0"/>
              <a:t> </a:t>
            </a:r>
            <a:r>
              <a:rPr lang="en-US" sz="2600" dirty="0" err="1" smtClean="0"/>
              <a:t>açıklaması</a:t>
            </a:r>
            <a:r>
              <a:rPr lang="en-US" sz="2600" dirty="0" smtClean="0"/>
              <a:t> </a:t>
            </a:r>
            <a:endParaRPr lang="tr-TR" sz="2600" dirty="0" smtClean="0"/>
          </a:p>
          <a:p>
            <a:pPr lvl="1"/>
            <a:r>
              <a:rPr lang="en-US" sz="2600" dirty="0" err="1" smtClean="0"/>
              <a:t>Varsayımlarda</a:t>
            </a:r>
            <a:r>
              <a:rPr lang="en-US" sz="2600" dirty="0" smtClean="0"/>
              <a:t> </a:t>
            </a:r>
            <a:r>
              <a:rPr lang="en-US" sz="2600" dirty="0" err="1" smtClean="0"/>
              <a:t>bulunmayın</a:t>
            </a:r>
            <a:r>
              <a:rPr lang="en-US" sz="2600" dirty="0" smtClean="0"/>
              <a:t>; "</a:t>
            </a:r>
            <a:r>
              <a:rPr lang="en-US" sz="2600" dirty="0" err="1" smtClean="0"/>
              <a:t>gerçekleri</a:t>
            </a:r>
            <a:r>
              <a:rPr lang="en-US" sz="2600" dirty="0" smtClean="0"/>
              <a:t>" </a:t>
            </a:r>
            <a:r>
              <a:rPr lang="en-US" sz="2600" dirty="0" err="1" smtClean="0"/>
              <a:t>doğrulayın</a:t>
            </a:r>
            <a:endParaRPr lang="tr-TR" sz="2600" dirty="0"/>
          </a:p>
          <a:p>
            <a:pPr marL="457200" indent="-457200">
              <a:buFont typeface="+mj-lt"/>
              <a:buAutoNum type="arabicPeriod"/>
            </a:pPr>
            <a:r>
              <a:rPr lang="en-US" sz="2800" dirty="0" err="1" smtClean="0"/>
              <a:t>Alternatifleri</a:t>
            </a:r>
            <a:r>
              <a:rPr lang="en-US" sz="2800" dirty="0" smtClean="0"/>
              <a:t> </a:t>
            </a:r>
            <a:r>
              <a:rPr lang="en-US" sz="2800" dirty="0" err="1" smtClean="0"/>
              <a:t>tanımlayın</a:t>
            </a:r>
            <a:r>
              <a:rPr lang="en-US" sz="2800" dirty="0" smtClean="0"/>
              <a:t> </a:t>
            </a:r>
            <a:endParaRPr lang="tr-TR" sz="2800" dirty="0" smtClean="0"/>
          </a:p>
          <a:p>
            <a:pPr lvl="1"/>
            <a:r>
              <a:rPr lang="en-US" sz="2600" dirty="0" err="1" smtClean="0"/>
              <a:t>Başkalarının</a:t>
            </a:r>
            <a:r>
              <a:rPr lang="en-US" sz="2600" dirty="0" smtClean="0"/>
              <a:t> </a:t>
            </a:r>
            <a:r>
              <a:rPr lang="en-US" sz="2600" dirty="0" err="1" smtClean="0"/>
              <a:t>yardımını</a:t>
            </a:r>
            <a:r>
              <a:rPr lang="en-US" sz="2600" dirty="0" smtClean="0"/>
              <a:t> </a:t>
            </a:r>
            <a:r>
              <a:rPr lang="en-US" sz="2600" dirty="0" err="1" smtClean="0"/>
              <a:t>alın</a:t>
            </a:r>
            <a:r>
              <a:rPr lang="en-US" sz="2600" dirty="0" smtClean="0"/>
              <a:t> </a:t>
            </a:r>
            <a:endParaRPr lang="tr-TR" sz="2600" dirty="0" smtClean="0"/>
          </a:p>
          <a:p>
            <a:pPr marL="457200" indent="-457200">
              <a:buFont typeface="+mj-lt"/>
              <a:buAutoNum type="arabicPeriod"/>
            </a:pPr>
            <a:r>
              <a:rPr lang="en-US" sz="2800" dirty="0" err="1" smtClean="0"/>
              <a:t>Alternatifi</a:t>
            </a:r>
            <a:r>
              <a:rPr lang="en-US" sz="2800" dirty="0" smtClean="0"/>
              <a:t> </a:t>
            </a:r>
            <a:r>
              <a:rPr lang="en-US" sz="2800" dirty="0" err="1" smtClean="0"/>
              <a:t>seçin</a:t>
            </a:r>
            <a:r>
              <a:rPr lang="en-US" sz="2800" dirty="0" smtClean="0"/>
              <a:t> </a:t>
            </a:r>
            <a:endParaRPr lang="tr-TR" sz="2800" dirty="0" smtClean="0"/>
          </a:p>
          <a:p>
            <a:pPr lvl="1"/>
            <a:r>
              <a:rPr lang="en-US" sz="2600" dirty="0" err="1" smtClean="0"/>
              <a:t>Savunulabilir</a:t>
            </a:r>
            <a:r>
              <a:rPr lang="en-US" sz="2600" dirty="0" smtClean="0"/>
              <a:t> ve </a:t>
            </a:r>
            <a:r>
              <a:rPr lang="en-US" sz="2600" dirty="0" err="1" smtClean="0"/>
              <a:t>tutarlı</a:t>
            </a:r>
            <a:r>
              <a:rPr lang="en-US" sz="2600" dirty="0" smtClean="0"/>
              <a:t>; </a:t>
            </a:r>
            <a:endParaRPr lang="tr-TR" sz="2600" dirty="0" smtClean="0"/>
          </a:p>
          <a:p>
            <a:pPr marL="457200" indent="-457200">
              <a:buFont typeface="+mj-lt"/>
              <a:buAutoNum type="arabicPeriod"/>
            </a:pPr>
            <a:r>
              <a:rPr lang="en-US" sz="2800" dirty="0" err="1" smtClean="0"/>
              <a:t>Başkaları</a:t>
            </a:r>
            <a:r>
              <a:rPr lang="en-US" sz="2800" dirty="0" smtClean="0"/>
              <a:t> </a:t>
            </a:r>
            <a:r>
              <a:rPr lang="en-US" sz="2800" dirty="0" err="1" smtClean="0"/>
              <a:t>üzerindeki</a:t>
            </a:r>
            <a:r>
              <a:rPr lang="en-US" sz="2800" dirty="0" smtClean="0"/>
              <a:t> </a:t>
            </a:r>
            <a:r>
              <a:rPr lang="en-US" sz="2800" dirty="0" err="1" smtClean="0"/>
              <a:t>etkiyi</a:t>
            </a:r>
            <a:r>
              <a:rPr lang="en-US" sz="2800" dirty="0" smtClean="0"/>
              <a:t> </a:t>
            </a:r>
            <a:r>
              <a:rPr lang="en-US" sz="2800" dirty="0" err="1" smtClean="0"/>
              <a:t>göz</a:t>
            </a:r>
            <a:r>
              <a:rPr lang="en-US" sz="2800" dirty="0" smtClean="0"/>
              <a:t> </a:t>
            </a:r>
            <a:r>
              <a:rPr lang="en-US" sz="2800" dirty="0" err="1" smtClean="0"/>
              <a:t>önünde</a:t>
            </a:r>
            <a:r>
              <a:rPr lang="en-US" sz="2800" dirty="0" smtClean="0"/>
              <a:t> </a:t>
            </a:r>
            <a:r>
              <a:rPr lang="en-US" sz="2800" dirty="0" err="1" smtClean="0"/>
              <a:t>bulundurun</a:t>
            </a:r>
            <a:endParaRPr lang="tr-TR" sz="2800" dirty="0"/>
          </a:p>
          <a:p>
            <a:pPr lvl="1"/>
            <a:r>
              <a:rPr lang="en-US" sz="2600" dirty="0" err="1" smtClean="0"/>
              <a:t>Kararı</a:t>
            </a:r>
            <a:r>
              <a:rPr lang="en-US" sz="2600" dirty="0" smtClean="0"/>
              <a:t> </a:t>
            </a:r>
            <a:r>
              <a:rPr lang="en-US" sz="2600" dirty="0" err="1" smtClean="0"/>
              <a:t>uygulayın</a:t>
            </a:r>
            <a:r>
              <a:rPr lang="en-US" sz="2600" dirty="0" smtClean="0"/>
              <a:t> </a:t>
            </a:r>
            <a:endParaRPr lang="tr-TR" sz="2600" dirty="0" smtClean="0"/>
          </a:p>
          <a:p>
            <a:pPr marL="457200" indent="-457200">
              <a:buFont typeface="+mj-lt"/>
              <a:buAutoNum type="arabicPeriod"/>
            </a:pPr>
            <a:r>
              <a:rPr lang="en-US" sz="2800" dirty="0" err="1" smtClean="0"/>
              <a:t>Geçiş</a:t>
            </a:r>
            <a:r>
              <a:rPr lang="en-US" sz="2800" dirty="0" smtClean="0"/>
              <a:t> </a:t>
            </a:r>
            <a:r>
              <a:rPr lang="en-US" sz="2800" dirty="0" err="1" smtClean="0"/>
              <a:t>planı</a:t>
            </a:r>
            <a:r>
              <a:rPr lang="en-US" sz="2800" dirty="0" smtClean="0"/>
              <a:t> </a:t>
            </a:r>
            <a:r>
              <a:rPr lang="en-US" sz="2800" dirty="0" err="1" smtClean="0"/>
              <a:t>Sonuçları</a:t>
            </a:r>
            <a:r>
              <a:rPr lang="en-US" sz="2800" dirty="0" smtClean="0"/>
              <a:t> </a:t>
            </a:r>
            <a:r>
              <a:rPr lang="en-US" sz="2800" dirty="0" err="1" smtClean="0"/>
              <a:t>değerlendirin</a:t>
            </a:r>
            <a:r>
              <a:rPr lang="en-US" sz="2800" dirty="0" smtClean="0"/>
              <a:t> </a:t>
            </a:r>
            <a:r>
              <a:rPr lang="en-US" sz="2800" dirty="0" err="1" smtClean="0"/>
              <a:t>Kötü</a:t>
            </a:r>
            <a:r>
              <a:rPr lang="en-US" sz="2800" dirty="0" smtClean="0"/>
              <a:t> </a:t>
            </a:r>
            <a:r>
              <a:rPr lang="en-US" sz="2800" dirty="0" err="1" smtClean="0"/>
              <a:t>alternatif</a:t>
            </a:r>
            <a:r>
              <a:rPr lang="en-US" sz="2800" dirty="0" smtClean="0"/>
              <a:t>?</a:t>
            </a:r>
            <a:endParaRPr lang="tr-TR" sz="2800" dirty="0" smtClean="0"/>
          </a:p>
          <a:p>
            <a:pPr lvl="1"/>
            <a:r>
              <a:rPr lang="en-US" sz="2600" dirty="0" err="1" smtClean="0"/>
              <a:t>Kötü</a:t>
            </a:r>
            <a:r>
              <a:rPr lang="en-US" sz="2600" dirty="0" smtClean="0"/>
              <a:t> </a:t>
            </a:r>
            <a:r>
              <a:rPr lang="en-US" sz="2600" dirty="0" err="1" smtClean="0"/>
              <a:t>uygulama</a:t>
            </a:r>
            <a:r>
              <a:rPr lang="en-US" sz="2600" dirty="0" smtClean="0"/>
              <a:t> </a:t>
            </a:r>
            <a:r>
              <a:rPr lang="en-US" sz="2600" dirty="0" err="1" smtClean="0"/>
              <a:t>mı</a:t>
            </a:r>
            <a:r>
              <a:rPr lang="en-US" sz="2600" dirty="0" smtClean="0"/>
              <a:t>?</a:t>
            </a:r>
            <a:endParaRPr lang="en-US" dirty="0"/>
          </a:p>
        </p:txBody>
      </p:sp>
      <p:sp>
        <p:nvSpPr>
          <p:cNvPr id="7" name="Title 6"/>
          <p:cNvSpPr>
            <a:spLocks noGrp="1"/>
          </p:cNvSpPr>
          <p:nvPr>
            <p:ph type="title"/>
          </p:nvPr>
        </p:nvSpPr>
        <p:spPr>
          <a:xfrm>
            <a:off x="838200" y="71435"/>
            <a:ext cx="8026400" cy="941796"/>
          </a:xfrm>
        </p:spPr>
        <p:txBody>
          <a:bodyPr/>
          <a:lstStyle/>
          <a:p>
            <a:r>
              <a:rPr lang="en-US" sz="3600" dirty="0"/>
              <a:t>Five-Step Ethical Decision-Making </a:t>
            </a:r>
            <a:r>
              <a:rPr lang="en-US" sz="3600" dirty="0" smtClean="0"/>
              <a:t>Process</a:t>
            </a:r>
            <a:r>
              <a:rPr lang="tr-TR" sz="3600" dirty="0" smtClean="0"/>
              <a:t/>
            </a:r>
            <a:br>
              <a:rPr lang="tr-TR" sz="3600" dirty="0" smtClean="0"/>
            </a:br>
            <a:r>
              <a:rPr lang="tr-TR" sz="3600" dirty="0" smtClean="0"/>
              <a:t>Beş Adımlı Etik Karar Verme Süreci</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9229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447800"/>
            <a:ext cx="8415338" cy="4336572"/>
          </a:xfrm>
        </p:spPr>
        <p:txBody>
          <a:bodyPr/>
          <a:lstStyle/>
          <a:p>
            <a:pPr>
              <a:spcBef>
                <a:spcPts val="600"/>
              </a:spcBef>
              <a:spcAft>
                <a:spcPts val="300"/>
              </a:spcAft>
            </a:pPr>
            <a:r>
              <a:rPr lang="en-US" altLang="en-US" sz="2800" dirty="0" err="1" smtClean="0"/>
              <a:t>Vatandaşların</a:t>
            </a:r>
            <a:r>
              <a:rPr lang="en-US" altLang="en-US" sz="2800" dirty="0" smtClean="0"/>
              <a:t> </a:t>
            </a:r>
            <a:r>
              <a:rPr lang="en-US" altLang="en-US" sz="2800" dirty="0" err="1" smtClean="0"/>
              <a:t>hükümetler</a:t>
            </a:r>
            <a:r>
              <a:rPr lang="en-US" altLang="en-US" sz="2800" dirty="0" smtClean="0"/>
              <a:t> </a:t>
            </a:r>
            <a:r>
              <a:rPr lang="en-US" altLang="en-US" sz="2800" dirty="0" err="1" smtClean="0"/>
              <a:t>tarafından</a:t>
            </a:r>
            <a:r>
              <a:rPr lang="en-US" altLang="en-US" sz="2800" dirty="0" smtClean="0"/>
              <a:t> </a:t>
            </a:r>
            <a:r>
              <a:rPr lang="en-US" altLang="en-US" sz="2800" dirty="0" err="1" smtClean="0"/>
              <a:t>gözetlenmesi</a:t>
            </a:r>
            <a:r>
              <a:rPr lang="en-US" altLang="en-US" sz="2800" dirty="0" smtClean="0"/>
              <a:t> </a:t>
            </a:r>
            <a:endParaRPr lang="tr-TR" altLang="en-US" sz="2800" dirty="0" smtClean="0"/>
          </a:p>
          <a:p>
            <a:pPr>
              <a:spcBef>
                <a:spcPts val="600"/>
              </a:spcBef>
              <a:spcAft>
                <a:spcPts val="300"/>
              </a:spcAft>
            </a:pPr>
            <a:r>
              <a:rPr lang="en-US" altLang="en-US" sz="2800" dirty="0" err="1" smtClean="0"/>
              <a:t>İş</a:t>
            </a:r>
            <a:r>
              <a:rPr lang="en-US" altLang="en-US" sz="2800" dirty="0" smtClean="0"/>
              <a:t> </a:t>
            </a:r>
            <a:r>
              <a:rPr lang="en-US" altLang="en-US" sz="2800" dirty="0" err="1" smtClean="0"/>
              <a:t>yerinde</a:t>
            </a:r>
            <a:r>
              <a:rPr lang="en-US" altLang="en-US" sz="2800" dirty="0" smtClean="0"/>
              <a:t> e-</a:t>
            </a:r>
            <a:r>
              <a:rPr lang="en-US" altLang="en-US" sz="2800" dirty="0" err="1" smtClean="0"/>
              <a:t>posta</a:t>
            </a:r>
            <a:r>
              <a:rPr lang="en-US" altLang="en-US" sz="2800" dirty="0" smtClean="0"/>
              <a:t> ve İnternet </a:t>
            </a:r>
            <a:r>
              <a:rPr lang="en-US" altLang="en-US" sz="2800" dirty="0" err="1" smtClean="0"/>
              <a:t>erişimi</a:t>
            </a:r>
            <a:r>
              <a:rPr lang="en-US" altLang="en-US" sz="2800" dirty="0" smtClean="0"/>
              <a:t> </a:t>
            </a:r>
            <a:r>
              <a:rPr lang="en-US" altLang="en-US" sz="2800" dirty="0" err="1" smtClean="0"/>
              <a:t>izleme</a:t>
            </a:r>
            <a:r>
              <a:rPr lang="en-US" altLang="en-US" sz="2800" dirty="0" smtClean="0"/>
              <a:t> </a:t>
            </a:r>
            <a:endParaRPr lang="tr-TR" altLang="en-US" sz="2800" dirty="0" smtClean="0"/>
          </a:p>
          <a:p>
            <a:pPr>
              <a:spcBef>
                <a:spcPts val="600"/>
              </a:spcBef>
              <a:spcAft>
                <a:spcPts val="300"/>
              </a:spcAft>
            </a:pPr>
            <a:r>
              <a:rPr lang="en-US" altLang="en-US" sz="2800" dirty="0" err="1" smtClean="0"/>
              <a:t>Telif</a:t>
            </a:r>
            <a:r>
              <a:rPr lang="en-US" altLang="en-US" sz="2800" dirty="0" smtClean="0"/>
              <a:t> </a:t>
            </a:r>
            <a:r>
              <a:rPr lang="en-US" altLang="en-US" sz="2800" dirty="0" err="1" smtClean="0"/>
              <a:t>hakkı</a:t>
            </a:r>
            <a:r>
              <a:rPr lang="en-US" altLang="en-US" sz="2800" dirty="0" smtClean="0"/>
              <a:t> </a:t>
            </a:r>
            <a:r>
              <a:rPr lang="en-US" altLang="en-US" sz="2800" dirty="0" err="1" smtClean="0"/>
              <a:t>yasalarını</a:t>
            </a:r>
            <a:r>
              <a:rPr lang="en-US" altLang="en-US" sz="2800" dirty="0" smtClean="0"/>
              <a:t> </a:t>
            </a:r>
            <a:r>
              <a:rPr lang="en-US" altLang="en-US" sz="2800" dirty="0" err="1" smtClean="0"/>
              <a:t>ihlal</a:t>
            </a:r>
            <a:r>
              <a:rPr lang="en-US" altLang="en-US" sz="2800" dirty="0" smtClean="0"/>
              <a:t> </a:t>
            </a:r>
            <a:r>
              <a:rPr lang="en-US" altLang="en-US" sz="2800" dirty="0" err="1" smtClean="0"/>
              <a:t>ederek</a:t>
            </a:r>
            <a:r>
              <a:rPr lang="en-US" altLang="en-US" sz="2800" dirty="0" smtClean="0"/>
              <a:t> </a:t>
            </a:r>
            <a:r>
              <a:rPr lang="en-US" altLang="en-US" sz="2800" dirty="0" err="1" smtClean="0"/>
              <a:t>indirilen</a:t>
            </a:r>
            <a:r>
              <a:rPr lang="en-US" altLang="en-US" sz="2800" dirty="0" smtClean="0"/>
              <a:t> </a:t>
            </a:r>
            <a:r>
              <a:rPr lang="en-US" altLang="en-US" sz="2800" dirty="0" err="1" smtClean="0"/>
              <a:t>müzik</a:t>
            </a:r>
            <a:r>
              <a:rPr lang="en-US" altLang="en-US" sz="2800" dirty="0" smtClean="0"/>
              <a:t> ve </a:t>
            </a:r>
            <a:r>
              <a:rPr lang="en-US" altLang="en-US" sz="2800" dirty="0" err="1" smtClean="0"/>
              <a:t>filmler</a:t>
            </a:r>
            <a:r>
              <a:rPr lang="en-US" altLang="en-US" sz="2800" dirty="0" smtClean="0"/>
              <a:t> </a:t>
            </a:r>
            <a:r>
              <a:rPr lang="en-US" altLang="en-US" sz="2800" dirty="0" err="1" smtClean="0"/>
              <a:t>İstenmeyen</a:t>
            </a:r>
            <a:r>
              <a:rPr lang="en-US" altLang="en-US" sz="2800" dirty="0" smtClean="0"/>
              <a:t> e-</a:t>
            </a:r>
            <a:r>
              <a:rPr lang="en-US" altLang="en-US" sz="2800" dirty="0" err="1" smtClean="0"/>
              <a:t>posta</a:t>
            </a:r>
            <a:r>
              <a:rPr lang="en-US" altLang="en-US" sz="2800" dirty="0" smtClean="0"/>
              <a:t> ve </a:t>
            </a:r>
            <a:r>
              <a:rPr lang="en-US" altLang="en-US" sz="2800" dirty="0" err="1" smtClean="0"/>
              <a:t>kısa</a:t>
            </a:r>
            <a:r>
              <a:rPr lang="en-US" altLang="en-US" sz="2800" dirty="0" smtClean="0"/>
              <a:t> </a:t>
            </a:r>
            <a:r>
              <a:rPr lang="en-US" altLang="en-US" sz="2800" dirty="0" err="1" smtClean="0"/>
              <a:t>mesajlar</a:t>
            </a:r>
            <a:r>
              <a:rPr lang="en-US" altLang="en-US" sz="2800" dirty="0" smtClean="0"/>
              <a:t> </a:t>
            </a:r>
            <a:endParaRPr lang="tr-TR" altLang="en-US" sz="2800" dirty="0" smtClean="0"/>
          </a:p>
          <a:p>
            <a:pPr>
              <a:spcBef>
                <a:spcPts val="600"/>
              </a:spcBef>
              <a:spcAft>
                <a:spcPts val="300"/>
              </a:spcAft>
            </a:pPr>
            <a:r>
              <a:rPr lang="en-US" altLang="en-US" sz="2800" dirty="0" err="1" smtClean="0"/>
              <a:t>Bilgisayar</a:t>
            </a:r>
            <a:r>
              <a:rPr lang="en-US" altLang="en-US" sz="2800" dirty="0" smtClean="0"/>
              <a:t> </a:t>
            </a:r>
            <a:r>
              <a:rPr lang="en-US" altLang="en-US" sz="2800" dirty="0" err="1" smtClean="0"/>
              <a:t>korsanlarının</a:t>
            </a:r>
            <a:r>
              <a:rPr lang="en-US" altLang="en-US" sz="2800" dirty="0" smtClean="0"/>
              <a:t> </a:t>
            </a:r>
            <a:r>
              <a:rPr lang="en-US" altLang="en-US" sz="2800" dirty="0" err="1" smtClean="0"/>
              <a:t>hırsızlığını</a:t>
            </a:r>
            <a:r>
              <a:rPr lang="en-US" altLang="en-US" sz="2800" dirty="0" smtClean="0"/>
              <a:t> </a:t>
            </a:r>
            <a:r>
              <a:rPr lang="en-US" altLang="en-US" sz="2800" dirty="0" err="1" smtClean="0"/>
              <a:t>tespit</a:t>
            </a:r>
            <a:r>
              <a:rPr lang="en-US" altLang="en-US" sz="2800" dirty="0" smtClean="0"/>
              <a:t> </a:t>
            </a:r>
            <a:r>
              <a:rPr lang="en-US" altLang="en-US" sz="2800" dirty="0" err="1" smtClean="0"/>
              <a:t>edin</a:t>
            </a:r>
            <a:r>
              <a:rPr lang="en-US" altLang="en-US" sz="2800" dirty="0" smtClean="0"/>
              <a:t> </a:t>
            </a:r>
            <a:endParaRPr lang="tr-TR" altLang="en-US" sz="2800" dirty="0" smtClean="0"/>
          </a:p>
          <a:p>
            <a:pPr>
              <a:spcBef>
                <a:spcPts val="600"/>
              </a:spcBef>
              <a:spcAft>
                <a:spcPts val="300"/>
              </a:spcAft>
            </a:pPr>
            <a:r>
              <a:rPr lang="en-US" altLang="en-US" sz="2800" dirty="0" err="1" smtClean="0"/>
              <a:t>Öğrenciler</a:t>
            </a:r>
            <a:r>
              <a:rPr lang="en-US" altLang="en-US" sz="2800" dirty="0" smtClean="0"/>
              <a:t> </a:t>
            </a:r>
            <a:r>
              <a:rPr lang="en-US" altLang="en-US" sz="2800" dirty="0" err="1" smtClean="0"/>
              <a:t>tarafından</a:t>
            </a:r>
            <a:r>
              <a:rPr lang="en-US" altLang="en-US" sz="2800" dirty="0" smtClean="0"/>
              <a:t> </a:t>
            </a:r>
            <a:r>
              <a:rPr lang="en-US" altLang="en-US" sz="2800" dirty="0" err="1" smtClean="0"/>
              <a:t>intihal</a:t>
            </a:r>
            <a:r>
              <a:rPr lang="en-US" altLang="en-US" sz="2800" dirty="0" smtClean="0"/>
              <a:t> </a:t>
            </a:r>
            <a:endParaRPr lang="tr-TR" altLang="en-US" sz="2800" dirty="0" smtClean="0"/>
          </a:p>
          <a:p>
            <a:pPr>
              <a:spcBef>
                <a:spcPts val="600"/>
              </a:spcBef>
              <a:spcAft>
                <a:spcPts val="300"/>
              </a:spcAft>
            </a:pPr>
            <a:r>
              <a:rPr lang="en-US" altLang="en-US" sz="2800" dirty="0" err="1" smtClean="0"/>
              <a:t>Kullanıcıların</a:t>
            </a:r>
            <a:r>
              <a:rPr lang="en-US" altLang="en-US" sz="2800" dirty="0" smtClean="0"/>
              <a:t> </a:t>
            </a:r>
            <a:r>
              <a:rPr lang="en-US" altLang="en-US" sz="2800" dirty="0" err="1" smtClean="0"/>
              <a:t>çevrimiçi</a:t>
            </a:r>
            <a:r>
              <a:rPr lang="en-US" altLang="en-US" sz="2800" dirty="0" smtClean="0"/>
              <a:t> satın </a:t>
            </a:r>
            <a:r>
              <a:rPr lang="en-US" altLang="en-US" sz="2800" dirty="0" err="1" smtClean="0"/>
              <a:t>alımlarını</a:t>
            </a:r>
            <a:r>
              <a:rPr lang="en-US" altLang="en-US" sz="2800" dirty="0" smtClean="0"/>
              <a:t> ve </a:t>
            </a:r>
            <a:r>
              <a:rPr lang="en-US" altLang="en-US" sz="2800" dirty="0" err="1" smtClean="0"/>
              <a:t>etkinliklerini</a:t>
            </a:r>
            <a:r>
              <a:rPr lang="en-US" altLang="en-US" sz="2800" dirty="0" smtClean="0"/>
              <a:t> </a:t>
            </a:r>
            <a:r>
              <a:rPr lang="en-US" altLang="en-US" sz="2800" dirty="0" err="1" smtClean="0"/>
              <a:t>izlemek</a:t>
            </a:r>
            <a:r>
              <a:rPr lang="en-US" altLang="en-US" sz="2800" dirty="0" smtClean="0"/>
              <a:t> </a:t>
            </a:r>
            <a:r>
              <a:rPr lang="en-US" altLang="en-US" sz="2800" dirty="0" err="1" smtClean="0"/>
              <a:t>için</a:t>
            </a:r>
            <a:r>
              <a:rPr lang="en-US" altLang="en-US" sz="2800" dirty="0" smtClean="0"/>
              <a:t> </a:t>
            </a:r>
            <a:r>
              <a:rPr lang="en-US" altLang="en-US" sz="2800" dirty="0" err="1" smtClean="0"/>
              <a:t>kullanılan</a:t>
            </a:r>
            <a:r>
              <a:rPr lang="en-US" altLang="en-US" sz="2800" dirty="0" smtClean="0"/>
              <a:t> </a:t>
            </a:r>
            <a:r>
              <a:rPr lang="en-US" altLang="en-US" sz="2800" dirty="0" err="1" smtClean="0"/>
              <a:t>çerezler</a:t>
            </a:r>
            <a:r>
              <a:rPr lang="en-US" altLang="en-US" sz="2800" dirty="0" smtClean="0"/>
              <a:t> ve casus </a:t>
            </a:r>
            <a:r>
              <a:rPr lang="en-US" altLang="en-US" sz="2800" dirty="0" err="1" smtClean="0"/>
              <a:t>yazılımlar</a:t>
            </a:r>
            <a:endParaRPr lang="en-US" altLang="en-US" dirty="0"/>
          </a:p>
          <a:p>
            <a:endParaRPr lang="en-US" dirty="0"/>
          </a:p>
        </p:txBody>
      </p:sp>
      <p:sp>
        <p:nvSpPr>
          <p:cNvPr id="3" name="Title 2"/>
          <p:cNvSpPr>
            <a:spLocks noGrp="1"/>
          </p:cNvSpPr>
          <p:nvPr>
            <p:ph type="title"/>
          </p:nvPr>
        </p:nvSpPr>
        <p:spPr>
          <a:xfrm>
            <a:off x="762000" y="188353"/>
            <a:ext cx="8305800" cy="1259447"/>
          </a:xfrm>
        </p:spPr>
        <p:txBody>
          <a:bodyPr/>
          <a:lstStyle/>
          <a:p>
            <a:r>
              <a:rPr lang="en-US" altLang="en-US" sz="3200" dirty="0"/>
              <a:t>Concerns About the Ethical Use of Information </a:t>
            </a:r>
            <a:r>
              <a:rPr lang="en-US" altLang="en-US" sz="3200" dirty="0" smtClean="0"/>
              <a:t>Technology</a:t>
            </a:r>
            <a:r>
              <a:rPr lang="tr-TR" altLang="en-US" sz="3200" dirty="0" smtClean="0"/>
              <a:t> - Bilgi Teknolojilerinin Etik Kullanımı ile İlgili Endişeler</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672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01" y="1104878"/>
            <a:ext cx="8415338" cy="5513817"/>
          </a:xfrm>
        </p:spPr>
        <p:txBody>
          <a:bodyPr/>
          <a:lstStyle/>
          <a:p>
            <a:pPr>
              <a:spcAft>
                <a:spcPts val="600"/>
              </a:spcAft>
            </a:pPr>
            <a:r>
              <a:rPr lang="en-US" sz="2800" b="1" dirty="0" err="1" smtClean="0"/>
              <a:t>Etik</a:t>
            </a:r>
            <a:r>
              <a:rPr lang="en-US" sz="2800" b="1" dirty="0" smtClean="0"/>
              <a:t> </a:t>
            </a:r>
            <a:r>
              <a:rPr lang="en-US" sz="2800" b="1" dirty="0" err="1" smtClean="0"/>
              <a:t>nedir</a:t>
            </a:r>
            <a:r>
              <a:rPr lang="en-US" sz="2800" b="1" dirty="0" smtClean="0"/>
              <a:t>? </a:t>
            </a:r>
            <a:endParaRPr lang="tr-TR" sz="2800" b="1" dirty="0" smtClean="0"/>
          </a:p>
          <a:p>
            <a:pPr lvl="1">
              <a:spcAft>
                <a:spcPts val="600"/>
              </a:spcAft>
            </a:pPr>
            <a:r>
              <a:rPr lang="en-US" sz="2600" dirty="0" err="1" smtClean="0"/>
              <a:t>Etik</a:t>
            </a:r>
            <a:r>
              <a:rPr lang="en-US" sz="2600" dirty="0" smtClean="0"/>
              <a:t>: </a:t>
            </a:r>
            <a:r>
              <a:rPr lang="en-US" sz="2600" dirty="0" err="1" smtClean="0"/>
              <a:t>Kişinin</a:t>
            </a:r>
            <a:r>
              <a:rPr lang="en-US" sz="2600" dirty="0" smtClean="0"/>
              <a:t> </a:t>
            </a:r>
            <a:r>
              <a:rPr lang="en-US" sz="2600" dirty="0" err="1" smtClean="0"/>
              <a:t>ait</a:t>
            </a:r>
            <a:r>
              <a:rPr lang="en-US" sz="2600" dirty="0" smtClean="0"/>
              <a:t> </a:t>
            </a:r>
            <a:r>
              <a:rPr lang="en-US" sz="2600" dirty="0" err="1" smtClean="0"/>
              <a:t>olduğu</a:t>
            </a:r>
            <a:r>
              <a:rPr lang="en-US" sz="2600" dirty="0" smtClean="0"/>
              <a:t> </a:t>
            </a:r>
            <a:r>
              <a:rPr lang="en-US" sz="2600" dirty="0" err="1" smtClean="0"/>
              <a:t>grup</a:t>
            </a:r>
            <a:r>
              <a:rPr lang="en-US" sz="2600" dirty="0" smtClean="0"/>
              <a:t> </a:t>
            </a:r>
            <a:r>
              <a:rPr lang="en-US" sz="2600" dirty="0" err="1" smtClean="0"/>
              <a:t>tarafından</a:t>
            </a:r>
            <a:r>
              <a:rPr lang="en-US" sz="2600" dirty="0" smtClean="0"/>
              <a:t> </a:t>
            </a:r>
            <a:r>
              <a:rPr lang="en-US" sz="2600" dirty="0" err="1" smtClean="0"/>
              <a:t>tanımlanan</a:t>
            </a:r>
            <a:r>
              <a:rPr lang="en-US" sz="2600" dirty="0" smtClean="0"/>
              <a:t> </a:t>
            </a:r>
            <a:r>
              <a:rPr lang="en-US" sz="2600" dirty="0" err="1" smtClean="0"/>
              <a:t>bir</a:t>
            </a:r>
            <a:r>
              <a:rPr lang="en-US" sz="2600" dirty="0" smtClean="0"/>
              <a:t> </a:t>
            </a:r>
            <a:r>
              <a:rPr lang="en-US" sz="2600" dirty="0" err="1" smtClean="0"/>
              <a:t>davranış</a:t>
            </a:r>
            <a:r>
              <a:rPr lang="en-US" sz="2600" dirty="0" smtClean="0"/>
              <a:t> </a:t>
            </a:r>
            <a:r>
              <a:rPr lang="en-US" sz="2600" dirty="0" err="1" smtClean="0"/>
              <a:t>kuralları</a:t>
            </a:r>
            <a:r>
              <a:rPr lang="en-US" sz="2600" dirty="0" smtClean="0"/>
              <a:t> </a:t>
            </a:r>
            <a:endParaRPr lang="tr-TR" sz="2600" dirty="0" smtClean="0"/>
          </a:p>
          <a:p>
            <a:pPr lvl="1">
              <a:spcAft>
                <a:spcPts val="600"/>
              </a:spcAft>
            </a:pPr>
            <a:r>
              <a:rPr lang="en-US" sz="2600" dirty="0" err="1" smtClean="0"/>
              <a:t>Ahlak</a:t>
            </a:r>
            <a:r>
              <a:rPr lang="en-US" sz="2600" dirty="0" smtClean="0"/>
              <a:t>: </a:t>
            </a:r>
            <a:r>
              <a:rPr lang="en-US" sz="2600" dirty="0" err="1" smtClean="0"/>
              <a:t>Bir</a:t>
            </a:r>
            <a:r>
              <a:rPr lang="en-US" sz="2600" dirty="0" smtClean="0"/>
              <a:t> </a:t>
            </a:r>
            <a:r>
              <a:rPr lang="en-US" sz="2600" dirty="0" err="1" smtClean="0"/>
              <a:t>bireyin</a:t>
            </a:r>
            <a:r>
              <a:rPr lang="en-US" sz="2600" dirty="0" smtClean="0"/>
              <a:t> </a:t>
            </a:r>
            <a:r>
              <a:rPr lang="en-US" sz="2600" dirty="0" err="1" smtClean="0"/>
              <a:t>doğru</a:t>
            </a:r>
            <a:r>
              <a:rPr lang="en-US" sz="2600" dirty="0" smtClean="0"/>
              <a:t> ve </a:t>
            </a:r>
            <a:r>
              <a:rPr lang="en-US" sz="2600" dirty="0" err="1" smtClean="0"/>
              <a:t>yanlış</a:t>
            </a:r>
            <a:r>
              <a:rPr lang="en-US" sz="2600" dirty="0" smtClean="0"/>
              <a:t> </a:t>
            </a:r>
            <a:r>
              <a:rPr lang="en-US" sz="2600" dirty="0" err="1" smtClean="0"/>
              <a:t>hakkındaki</a:t>
            </a:r>
            <a:r>
              <a:rPr lang="en-US" sz="2600" dirty="0" smtClean="0"/>
              <a:t> </a:t>
            </a:r>
            <a:r>
              <a:rPr lang="en-US" sz="2600" dirty="0" err="1" smtClean="0"/>
              <a:t>kararları</a:t>
            </a:r>
            <a:r>
              <a:rPr lang="en-US" sz="2600" dirty="0" smtClean="0"/>
              <a:t> </a:t>
            </a:r>
            <a:r>
              <a:rPr lang="en-US" sz="2600" dirty="0" err="1" smtClean="0"/>
              <a:t>dayandırdığı</a:t>
            </a:r>
            <a:r>
              <a:rPr lang="en-US" sz="2600" dirty="0" smtClean="0"/>
              <a:t> </a:t>
            </a:r>
            <a:r>
              <a:rPr lang="en-US" sz="2600" dirty="0" err="1" smtClean="0"/>
              <a:t>kişisel</a:t>
            </a:r>
            <a:r>
              <a:rPr lang="en-US" sz="2600" dirty="0" smtClean="0"/>
              <a:t> </a:t>
            </a:r>
            <a:r>
              <a:rPr lang="en-US" sz="2600" dirty="0" err="1" smtClean="0"/>
              <a:t>ilkeler</a:t>
            </a:r>
            <a:r>
              <a:rPr lang="en-US" sz="2600" dirty="0" smtClean="0"/>
              <a:t> </a:t>
            </a:r>
            <a:endParaRPr lang="tr-TR" sz="2600" dirty="0" smtClean="0"/>
          </a:p>
          <a:p>
            <a:pPr lvl="1">
              <a:spcAft>
                <a:spcPts val="600"/>
              </a:spcAft>
            </a:pPr>
            <a:r>
              <a:rPr lang="en-US" sz="2600" dirty="0" err="1" smtClean="0"/>
              <a:t>Dürüstlükle</a:t>
            </a:r>
            <a:r>
              <a:rPr lang="en-US" sz="2600" dirty="0" smtClean="0"/>
              <a:t> </a:t>
            </a:r>
            <a:r>
              <a:rPr lang="en-US" sz="2600" dirty="0" err="1" smtClean="0"/>
              <a:t>hareket</a:t>
            </a:r>
            <a:r>
              <a:rPr lang="en-US" sz="2600" dirty="0" smtClean="0"/>
              <a:t> </a:t>
            </a:r>
            <a:r>
              <a:rPr lang="en-US" sz="2600" dirty="0" err="1" smtClean="0"/>
              <a:t>eden</a:t>
            </a:r>
            <a:r>
              <a:rPr lang="en-US" sz="2600" dirty="0" smtClean="0"/>
              <a:t> </a:t>
            </a:r>
            <a:r>
              <a:rPr lang="en-US" sz="2600" dirty="0" err="1" smtClean="0"/>
              <a:t>bir</a:t>
            </a:r>
            <a:r>
              <a:rPr lang="en-US" sz="2600" dirty="0" smtClean="0"/>
              <a:t> </a:t>
            </a:r>
            <a:r>
              <a:rPr lang="en-US" sz="2600" dirty="0" err="1" smtClean="0"/>
              <a:t>kişi</a:t>
            </a:r>
            <a:r>
              <a:rPr lang="en-US" sz="2600" dirty="0" smtClean="0"/>
              <a:t>, </a:t>
            </a:r>
            <a:r>
              <a:rPr lang="en-US" sz="2600" dirty="0" err="1" smtClean="0"/>
              <a:t>kişisel</a:t>
            </a:r>
            <a:r>
              <a:rPr lang="en-US" sz="2600" dirty="0" smtClean="0"/>
              <a:t> </a:t>
            </a:r>
            <a:r>
              <a:rPr lang="en-US" sz="2600" dirty="0" err="1" smtClean="0"/>
              <a:t>bir</a:t>
            </a:r>
            <a:r>
              <a:rPr lang="en-US" sz="2600" dirty="0" smtClean="0"/>
              <a:t> </a:t>
            </a:r>
            <a:r>
              <a:rPr lang="en-US" sz="2600" dirty="0" err="1" smtClean="0"/>
              <a:t>ilkeler</a:t>
            </a:r>
            <a:r>
              <a:rPr lang="en-US" sz="2600" dirty="0" smtClean="0"/>
              <a:t> </a:t>
            </a:r>
            <a:r>
              <a:rPr lang="en-US" sz="2600" dirty="0" err="1" smtClean="0"/>
              <a:t>kurallarına</a:t>
            </a:r>
            <a:r>
              <a:rPr lang="en-US" sz="2600" dirty="0" smtClean="0"/>
              <a:t> </a:t>
            </a:r>
            <a:r>
              <a:rPr lang="en-US" sz="2600" dirty="0" err="1" smtClean="0"/>
              <a:t>uygun</a:t>
            </a:r>
            <a:r>
              <a:rPr lang="en-US" sz="2600" dirty="0" smtClean="0"/>
              <a:t> </a:t>
            </a:r>
            <a:r>
              <a:rPr lang="en-US" sz="2600" dirty="0" err="1" smtClean="0"/>
              <a:t>olarak</a:t>
            </a:r>
            <a:r>
              <a:rPr lang="en-US" sz="2600" dirty="0" smtClean="0"/>
              <a:t> </a:t>
            </a:r>
            <a:r>
              <a:rPr lang="en-US" sz="2600" dirty="0" err="1" smtClean="0"/>
              <a:t>hareket</a:t>
            </a:r>
            <a:r>
              <a:rPr lang="en-US" sz="2600" dirty="0" smtClean="0"/>
              <a:t> </a:t>
            </a:r>
            <a:r>
              <a:rPr lang="en-US" sz="2600" dirty="0" err="1" smtClean="0"/>
              <a:t>eder</a:t>
            </a:r>
            <a:r>
              <a:rPr lang="en-US" sz="2600" dirty="0" smtClean="0"/>
              <a:t>. </a:t>
            </a:r>
            <a:endParaRPr lang="tr-TR" sz="2600" dirty="0" smtClean="0"/>
          </a:p>
          <a:p>
            <a:pPr lvl="1">
              <a:spcAft>
                <a:spcPts val="600"/>
              </a:spcAft>
            </a:pPr>
            <a:r>
              <a:rPr lang="en-US" sz="2600" dirty="0" err="1" smtClean="0"/>
              <a:t>Hukuk</a:t>
            </a:r>
            <a:r>
              <a:rPr lang="en-US" sz="2600" dirty="0" smtClean="0"/>
              <a:t>: </a:t>
            </a:r>
            <a:r>
              <a:rPr lang="en-US" sz="2600" dirty="0" err="1" smtClean="0"/>
              <a:t>Bize</a:t>
            </a:r>
            <a:r>
              <a:rPr lang="en-US" sz="2600" dirty="0" smtClean="0"/>
              <a:t> ne </a:t>
            </a:r>
            <a:r>
              <a:rPr lang="en-US" sz="2600" dirty="0" err="1" smtClean="0"/>
              <a:t>yapabileceğimizi</a:t>
            </a:r>
            <a:r>
              <a:rPr lang="en-US" sz="2600" dirty="0" smtClean="0"/>
              <a:t> ve </a:t>
            </a:r>
            <a:r>
              <a:rPr lang="en-US" sz="2600" dirty="0" err="1" smtClean="0"/>
              <a:t>yapamayacağımızı</a:t>
            </a:r>
            <a:r>
              <a:rPr lang="en-US" sz="2600" dirty="0" smtClean="0"/>
              <a:t> </a:t>
            </a:r>
            <a:r>
              <a:rPr lang="en-US" sz="2600" dirty="0" err="1" smtClean="0"/>
              <a:t>söyleyen</a:t>
            </a:r>
            <a:r>
              <a:rPr lang="en-US" sz="2600" dirty="0" smtClean="0"/>
              <a:t> </a:t>
            </a:r>
            <a:r>
              <a:rPr lang="en-US" sz="2600" dirty="0" err="1" smtClean="0"/>
              <a:t>bir</a:t>
            </a:r>
            <a:r>
              <a:rPr lang="en-US" sz="2600" dirty="0" smtClean="0"/>
              <a:t> </a:t>
            </a:r>
            <a:r>
              <a:rPr lang="en-US" sz="2600" dirty="0" err="1" smtClean="0"/>
              <a:t>kurallar</a:t>
            </a:r>
            <a:r>
              <a:rPr lang="en-US" sz="2600" dirty="0" smtClean="0"/>
              <a:t> </a:t>
            </a:r>
            <a:r>
              <a:rPr lang="en-US" sz="2600" dirty="0" err="1" smtClean="0"/>
              <a:t>sistemi</a:t>
            </a:r>
            <a:r>
              <a:rPr lang="en-US" sz="2600" dirty="0" smtClean="0"/>
              <a:t> </a:t>
            </a:r>
            <a:endParaRPr lang="tr-TR" sz="2600" dirty="0" smtClean="0"/>
          </a:p>
          <a:p>
            <a:pPr lvl="1">
              <a:spcAft>
                <a:spcPts val="600"/>
              </a:spcAft>
            </a:pPr>
            <a:r>
              <a:rPr lang="en-US" sz="2600" dirty="0" err="1" smtClean="0"/>
              <a:t>Etik</a:t>
            </a:r>
            <a:r>
              <a:rPr lang="en-US" sz="2600" dirty="0" smtClean="0"/>
              <a:t> </a:t>
            </a:r>
            <a:r>
              <a:rPr lang="en-US" sz="2600" dirty="0" err="1" smtClean="0"/>
              <a:t>Kurallar</a:t>
            </a:r>
            <a:r>
              <a:rPr lang="en-US" sz="2600" dirty="0" smtClean="0"/>
              <a:t>: </a:t>
            </a:r>
            <a:r>
              <a:rPr lang="en-US" sz="2600" dirty="0" err="1" smtClean="0"/>
              <a:t>Kişinin</a:t>
            </a:r>
            <a:r>
              <a:rPr lang="en-US" sz="2600" dirty="0" smtClean="0"/>
              <a:t> </a:t>
            </a:r>
            <a:r>
              <a:rPr lang="en-US" sz="2600" dirty="0" err="1" smtClean="0"/>
              <a:t>çalışması</a:t>
            </a:r>
            <a:r>
              <a:rPr lang="en-US" sz="2600" dirty="0" smtClean="0"/>
              <a:t> </a:t>
            </a:r>
            <a:r>
              <a:rPr lang="en-US" sz="2600" dirty="0" err="1" smtClean="0"/>
              <a:t>için</a:t>
            </a:r>
            <a:r>
              <a:rPr lang="en-US" sz="2600" dirty="0" smtClean="0"/>
              <a:t> </a:t>
            </a:r>
            <a:r>
              <a:rPr lang="en-US" sz="2600" dirty="0" err="1" smtClean="0"/>
              <a:t>gerekli</a:t>
            </a:r>
            <a:r>
              <a:rPr lang="en-US" sz="2600" dirty="0" smtClean="0"/>
              <a:t> </a:t>
            </a:r>
            <a:r>
              <a:rPr lang="en-US" sz="2600" dirty="0" err="1" smtClean="0"/>
              <a:t>olan</a:t>
            </a:r>
            <a:r>
              <a:rPr lang="en-US" sz="2600" dirty="0" smtClean="0"/>
              <a:t> </a:t>
            </a:r>
            <a:r>
              <a:rPr lang="en-US" sz="2600" dirty="0" err="1" smtClean="0"/>
              <a:t>ilkeleri</a:t>
            </a:r>
            <a:r>
              <a:rPr lang="en-US" sz="2600" dirty="0" smtClean="0"/>
              <a:t> ve </a:t>
            </a:r>
            <a:r>
              <a:rPr lang="en-US" sz="2600" dirty="0" err="1" smtClean="0"/>
              <a:t>temel</a:t>
            </a:r>
            <a:r>
              <a:rPr lang="en-US" sz="2600" dirty="0" smtClean="0"/>
              <a:t> </a:t>
            </a:r>
            <a:r>
              <a:rPr lang="en-US" sz="2600" dirty="0" err="1" smtClean="0"/>
              <a:t>değerleri</a:t>
            </a:r>
            <a:r>
              <a:rPr lang="en-US" sz="2600" dirty="0" smtClean="0"/>
              <a:t> </a:t>
            </a:r>
            <a:r>
              <a:rPr lang="en-US" sz="2600" dirty="0" err="1" smtClean="0"/>
              <a:t>belirtir</a:t>
            </a:r>
            <a:r>
              <a:rPr lang="en-US" sz="2600" dirty="0" smtClean="0"/>
              <a:t> </a:t>
            </a:r>
            <a:endParaRPr lang="tr-TR" sz="2600" dirty="0" smtClean="0"/>
          </a:p>
          <a:p>
            <a:pPr lvl="1">
              <a:spcAft>
                <a:spcPts val="600"/>
              </a:spcAft>
            </a:pPr>
            <a:r>
              <a:rPr lang="en-US" sz="2600" dirty="0" err="1" smtClean="0"/>
              <a:t>Bir</a:t>
            </a:r>
            <a:r>
              <a:rPr lang="en-US" sz="2600" dirty="0" smtClean="0"/>
              <a:t> </a:t>
            </a:r>
            <a:r>
              <a:rPr lang="en-US" sz="2600" dirty="0" err="1" smtClean="0"/>
              <a:t>faaliyet</a:t>
            </a:r>
            <a:r>
              <a:rPr lang="en-US" sz="2600" dirty="0" smtClean="0"/>
              <a:t> </a:t>
            </a:r>
            <a:r>
              <a:rPr lang="en-US" sz="2600" dirty="0" err="1" smtClean="0"/>
              <a:t>yasal</a:t>
            </a:r>
            <a:r>
              <a:rPr lang="en-US" sz="2600" dirty="0" smtClean="0"/>
              <a:t> </a:t>
            </a:r>
            <a:r>
              <a:rPr lang="en-US" sz="2600" dirty="0" err="1" smtClean="0"/>
              <a:t>olabilir</a:t>
            </a:r>
            <a:r>
              <a:rPr lang="en-US" sz="2600" dirty="0" smtClean="0"/>
              <a:t>, </a:t>
            </a:r>
            <a:r>
              <a:rPr lang="en-US" sz="2600" dirty="0" err="1" smtClean="0"/>
              <a:t>ancak</a:t>
            </a:r>
            <a:r>
              <a:rPr lang="en-US" sz="2600" dirty="0" smtClean="0"/>
              <a:t> </a:t>
            </a:r>
            <a:r>
              <a:rPr lang="en-US" sz="2600" dirty="0" err="1" smtClean="0"/>
              <a:t>yine</a:t>
            </a:r>
            <a:r>
              <a:rPr lang="en-US" sz="2600" dirty="0" smtClean="0"/>
              <a:t> de </a:t>
            </a:r>
            <a:r>
              <a:rPr lang="en-US" sz="2600" dirty="0" err="1" smtClean="0"/>
              <a:t>etik</a:t>
            </a:r>
            <a:r>
              <a:rPr lang="en-US" sz="2600" dirty="0" smtClean="0"/>
              <a:t> </a:t>
            </a:r>
            <a:r>
              <a:rPr lang="en-US" sz="2600" dirty="0" err="1" smtClean="0"/>
              <a:t>olmayabilir</a:t>
            </a:r>
            <a:r>
              <a:rPr lang="en-US" sz="2600" dirty="0" smtClean="0"/>
              <a:t>.</a:t>
            </a:r>
            <a:endParaRPr lang="en-US" sz="2400" dirty="0"/>
          </a:p>
        </p:txBody>
      </p:sp>
      <p:sp>
        <p:nvSpPr>
          <p:cNvPr id="3" name="Title 2"/>
          <p:cNvSpPr>
            <a:spLocks noGrp="1"/>
          </p:cNvSpPr>
          <p:nvPr>
            <p:ph type="title"/>
          </p:nvPr>
        </p:nvSpPr>
        <p:spPr>
          <a:xfrm>
            <a:off x="762000" y="31156"/>
            <a:ext cx="8026400" cy="1046440"/>
          </a:xfrm>
        </p:spPr>
        <p:txBody>
          <a:bodyPr/>
          <a:lstStyle/>
          <a:p>
            <a:r>
              <a:rPr lang="en-US" sz="4000" dirty="0"/>
              <a:t>Summary, Part </a:t>
            </a:r>
            <a:r>
              <a:rPr lang="en-US" sz="4000" dirty="0" smtClean="0"/>
              <a:t>1</a:t>
            </a:r>
            <a:r>
              <a:rPr lang="tr-TR" sz="4000" dirty="0" smtClean="0"/>
              <a:t/>
            </a:r>
            <a:br>
              <a:rPr lang="tr-TR" sz="4000" dirty="0" smtClean="0"/>
            </a:br>
            <a:r>
              <a:rPr lang="tr-TR" sz="4000" dirty="0" smtClean="0"/>
              <a:t>Özet,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26636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3151632"/>
          </a:xfrm>
        </p:spPr>
        <p:txBody>
          <a:bodyPr/>
          <a:lstStyle/>
          <a:p>
            <a:pPr>
              <a:spcAft>
                <a:spcPts val="600"/>
              </a:spcAft>
            </a:pPr>
            <a:r>
              <a:rPr lang="en-US" sz="2800" b="1" dirty="0" err="1" smtClean="0"/>
              <a:t>Hangi</a:t>
            </a:r>
            <a:r>
              <a:rPr lang="en-US" sz="2800" b="1" dirty="0" smtClean="0"/>
              <a:t> </a:t>
            </a:r>
            <a:r>
              <a:rPr lang="en-US" sz="2800" b="1" dirty="0" err="1" smtClean="0"/>
              <a:t>eğilimler</a:t>
            </a:r>
            <a:r>
              <a:rPr lang="en-US" sz="2800" b="1" dirty="0" smtClean="0"/>
              <a:t> </a:t>
            </a:r>
            <a:r>
              <a:rPr lang="en-US" sz="2800" b="1" dirty="0" err="1" smtClean="0"/>
              <a:t>etik</a:t>
            </a:r>
            <a:r>
              <a:rPr lang="en-US" sz="2800" b="1" dirty="0" smtClean="0"/>
              <a:t> </a:t>
            </a:r>
            <a:r>
              <a:rPr lang="en-US" sz="2800" b="1" dirty="0" err="1" smtClean="0"/>
              <a:t>olmayan</a:t>
            </a:r>
            <a:r>
              <a:rPr lang="en-US" sz="2800" b="1" dirty="0" smtClean="0"/>
              <a:t> </a:t>
            </a:r>
            <a:r>
              <a:rPr lang="en-US" sz="2800" b="1" dirty="0" err="1" smtClean="0"/>
              <a:t>davranış</a:t>
            </a:r>
            <a:r>
              <a:rPr lang="en-US" sz="2800" b="1" dirty="0" smtClean="0"/>
              <a:t> </a:t>
            </a:r>
            <a:r>
              <a:rPr lang="en-US" sz="2800" b="1" dirty="0" err="1" smtClean="0"/>
              <a:t>olasılığını</a:t>
            </a:r>
            <a:r>
              <a:rPr lang="en-US" sz="2800" b="1" dirty="0" smtClean="0"/>
              <a:t> </a:t>
            </a:r>
            <a:r>
              <a:rPr lang="en-US" sz="2800" b="1" dirty="0" err="1" smtClean="0"/>
              <a:t>artırdı</a:t>
            </a:r>
            <a:r>
              <a:rPr lang="en-US" sz="2800" b="1" dirty="0" smtClean="0"/>
              <a:t>?</a:t>
            </a:r>
            <a:endParaRPr lang="tr-TR" sz="2800" b="1" dirty="0" smtClean="0"/>
          </a:p>
          <a:p>
            <a:pPr lvl="1">
              <a:spcAft>
                <a:spcPts val="600"/>
              </a:spcAft>
            </a:pPr>
            <a:r>
              <a:rPr lang="en-US" sz="2600" dirty="0" err="1" smtClean="0"/>
              <a:t>Daha</a:t>
            </a:r>
            <a:r>
              <a:rPr lang="en-US" sz="2600" dirty="0" smtClean="0"/>
              <a:t> </a:t>
            </a:r>
            <a:r>
              <a:rPr lang="en-US" sz="2600" dirty="0" err="1" smtClean="0"/>
              <a:t>karmaşık</a:t>
            </a:r>
            <a:r>
              <a:rPr lang="en-US" sz="2600" dirty="0" smtClean="0"/>
              <a:t> </a:t>
            </a:r>
            <a:r>
              <a:rPr lang="en-US" sz="2600" dirty="0" err="1" smtClean="0"/>
              <a:t>çalışma</a:t>
            </a:r>
            <a:r>
              <a:rPr lang="en-US" sz="2600" dirty="0" smtClean="0"/>
              <a:t> </a:t>
            </a:r>
            <a:r>
              <a:rPr lang="en-US" sz="2600" dirty="0" err="1" smtClean="0"/>
              <a:t>ortamları</a:t>
            </a:r>
            <a:r>
              <a:rPr lang="en-US" sz="2600" dirty="0" smtClean="0"/>
              <a:t>, </a:t>
            </a:r>
            <a:r>
              <a:rPr lang="en-US" sz="2600" dirty="0" err="1" smtClean="0"/>
              <a:t>ilkeleri</a:t>
            </a:r>
            <a:r>
              <a:rPr lang="en-US" sz="2600" dirty="0" smtClean="0"/>
              <a:t> ve </a:t>
            </a:r>
            <a:r>
              <a:rPr lang="en-US" sz="2600" dirty="0" err="1" smtClean="0"/>
              <a:t>etik</a:t>
            </a:r>
            <a:r>
              <a:rPr lang="en-US" sz="2600" dirty="0" smtClean="0"/>
              <a:t> </a:t>
            </a:r>
            <a:r>
              <a:rPr lang="en-US" sz="2600" dirty="0" err="1" smtClean="0"/>
              <a:t>kuralları</a:t>
            </a:r>
            <a:r>
              <a:rPr lang="en-US" sz="2600" dirty="0" smtClean="0"/>
              <a:t> </a:t>
            </a:r>
            <a:r>
              <a:rPr lang="en-US" sz="2600" dirty="0" err="1" smtClean="0"/>
              <a:t>tutarlı</a:t>
            </a:r>
            <a:r>
              <a:rPr lang="en-US" sz="2600" dirty="0" smtClean="0"/>
              <a:t> </a:t>
            </a:r>
            <a:r>
              <a:rPr lang="en-US" sz="2600" dirty="0" err="1" smtClean="0"/>
              <a:t>bir</a:t>
            </a:r>
            <a:r>
              <a:rPr lang="en-US" sz="2600" dirty="0" smtClean="0"/>
              <a:t> </a:t>
            </a:r>
            <a:r>
              <a:rPr lang="en-US" sz="2600" dirty="0" err="1" smtClean="0"/>
              <a:t>şekilde</a:t>
            </a:r>
            <a:r>
              <a:rPr lang="en-US" sz="2600" dirty="0" smtClean="0"/>
              <a:t> </a:t>
            </a:r>
            <a:r>
              <a:rPr lang="en-US" sz="2600" dirty="0" err="1" smtClean="0"/>
              <a:t>uygulamayı</a:t>
            </a:r>
            <a:r>
              <a:rPr lang="en-US" sz="2600" dirty="0" smtClean="0"/>
              <a:t> </a:t>
            </a:r>
            <a:r>
              <a:rPr lang="en-US" sz="2600" dirty="0" err="1" smtClean="0"/>
              <a:t>zorlaştırır</a:t>
            </a:r>
            <a:r>
              <a:rPr lang="en-US" sz="2600" dirty="0" smtClean="0"/>
              <a:t>. </a:t>
            </a:r>
            <a:endParaRPr lang="tr-TR" sz="2600" dirty="0" smtClean="0"/>
          </a:p>
          <a:p>
            <a:pPr lvl="1">
              <a:spcAft>
                <a:spcPts val="600"/>
              </a:spcAft>
            </a:pPr>
            <a:r>
              <a:rPr lang="en-US" sz="2600" dirty="0" err="1" smtClean="0"/>
              <a:t>Kuruluşlar</a:t>
            </a:r>
            <a:r>
              <a:rPr lang="en-US" sz="2600" dirty="0" smtClean="0"/>
              <a:t>, </a:t>
            </a:r>
            <a:r>
              <a:rPr lang="en-US" sz="2600" dirty="0" err="1" smtClean="0"/>
              <a:t>belirsiz</a:t>
            </a:r>
            <a:r>
              <a:rPr lang="en-US" sz="2600" dirty="0" smtClean="0"/>
              <a:t> </a:t>
            </a:r>
            <a:r>
              <a:rPr lang="en-US" sz="2600" dirty="0" err="1" smtClean="0"/>
              <a:t>bir</a:t>
            </a:r>
            <a:r>
              <a:rPr lang="en-US" sz="2600" dirty="0" smtClean="0"/>
              <a:t> </a:t>
            </a:r>
            <a:r>
              <a:rPr lang="en-US" sz="2600" dirty="0" err="1" smtClean="0"/>
              <a:t>ekonomik</a:t>
            </a:r>
            <a:r>
              <a:rPr lang="en-US" sz="2600" dirty="0" smtClean="0"/>
              <a:t> </a:t>
            </a:r>
            <a:r>
              <a:rPr lang="en-US" sz="2600" dirty="0" err="1" smtClean="0"/>
              <a:t>ortamda</a:t>
            </a:r>
            <a:r>
              <a:rPr lang="en-US" sz="2600" dirty="0" smtClean="0"/>
              <a:t> </a:t>
            </a:r>
            <a:r>
              <a:rPr lang="en-US" sz="2600" dirty="0" err="1" smtClean="0"/>
              <a:t>karlarını</a:t>
            </a:r>
            <a:r>
              <a:rPr lang="en-US" sz="2600" dirty="0" smtClean="0"/>
              <a:t> </a:t>
            </a:r>
            <a:r>
              <a:rPr lang="en-US" sz="2600" dirty="0" err="1" smtClean="0"/>
              <a:t>korumak</a:t>
            </a:r>
            <a:r>
              <a:rPr lang="en-US" sz="2600" dirty="0" smtClean="0"/>
              <a:t> </a:t>
            </a:r>
            <a:r>
              <a:rPr lang="en-US" sz="2600" dirty="0" err="1" smtClean="0"/>
              <a:t>için</a:t>
            </a:r>
            <a:r>
              <a:rPr lang="en-US" sz="2600" dirty="0" smtClean="0"/>
              <a:t> </a:t>
            </a:r>
            <a:r>
              <a:rPr lang="en-US" sz="2600" dirty="0" err="1" smtClean="0"/>
              <a:t>etik</a:t>
            </a:r>
            <a:r>
              <a:rPr lang="en-US" sz="2600" dirty="0" smtClean="0"/>
              <a:t> </a:t>
            </a:r>
            <a:r>
              <a:rPr lang="en-US" sz="2600" dirty="0" err="1" smtClean="0"/>
              <a:t>olmayan</a:t>
            </a:r>
            <a:r>
              <a:rPr lang="en-US" sz="2600" dirty="0" smtClean="0"/>
              <a:t> </a:t>
            </a:r>
            <a:r>
              <a:rPr lang="en-US" sz="2600" dirty="0" err="1" smtClean="0"/>
              <a:t>davranışlara</a:t>
            </a:r>
            <a:r>
              <a:rPr lang="en-US" sz="2600" dirty="0" smtClean="0"/>
              <a:t> </a:t>
            </a:r>
            <a:r>
              <a:rPr lang="en-US" sz="2600" dirty="0" err="1" smtClean="0"/>
              <a:t>başvurabilirler</a:t>
            </a:r>
            <a:r>
              <a:rPr lang="en-US" sz="2600" dirty="0" smtClean="0"/>
              <a:t>. </a:t>
            </a:r>
            <a:endParaRPr lang="tr-TR" sz="2600" dirty="0" smtClean="0"/>
          </a:p>
          <a:p>
            <a:pPr lvl="1">
              <a:spcAft>
                <a:spcPts val="600"/>
              </a:spcAft>
            </a:pPr>
            <a:r>
              <a:rPr lang="en-US" sz="2600" dirty="0" smtClean="0"/>
              <a:t>Son </a:t>
            </a:r>
            <a:r>
              <a:rPr lang="en-US" sz="2600" dirty="0" err="1" smtClean="0"/>
              <a:t>derece</a:t>
            </a:r>
            <a:r>
              <a:rPr lang="en-US" sz="2600" dirty="0" smtClean="0"/>
              <a:t> </a:t>
            </a:r>
            <a:r>
              <a:rPr lang="en-US" sz="2600" dirty="0" err="1" smtClean="0"/>
              <a:t>başarılı</a:t>
            </a:r>
            <a:r>
              <a:rPr lang="en-US" sz="2600" dirty="0" smtClean="0"/>
              <a:t> </a:t>
            </a:r>
            <a:r>
              <a:rPr lang="en-US" sz="2600" dirty="0" err="1" smtClean="0"/>
              <a:t>bireyler</a:t>
            </a:r>
            <a:r>
              <a:rPr lang="en-US" sz="2600" dirty="0" smtClean="0"/>
              <a:t> </a:t>
            </a:r>
            <a:r>
              <a:rPr lang="en-US" sz="2600" dirty="0" err="1" smtClean="0"/>
              <a:t>ahlaki</a:t>
            </a:r>
            <a:r>
              <a:rPr lang="en-US" sz="2600" dirty="0" smtClean="0"/>
              <a:t> </a:t>
            </a:r>
            <a:r>
              <a:rPr lang="en-US" sz="2600" dirty="0" err="1" smtClean="0"/>
              <a:t>olarak</a:t>
            </a:r>
            <a:r>
              <a:rPr lang="en-US" sz="2600" dirty="0" smtClean="0"/>
              <a:t> </a:t>
            </a:r>
            <a:r>
              <a:rPr lang="en-US" sz="2600" dirty="0" err="1" smtClean="0"/>
              <a:t>uygun</a:t>
            </a:r>
            <a:r>
              <a:rPr lang="en-US" sz="2600" dirty="0" smtClean="0"/>
              <a:t> </a:t>
            </a:r>
            <a:r>
              <a:rPr lang="en-US" sz="2600" dirty="0" err="1" smtClean="0"/>
              <a:t>şekillerde</a:t>
            </a:r>
            <a:r>
              <a:rPr lang="en-US" sz="2600" dirty="0" smtClean="0"/>
              <a:t> </a:t>
            </a:r>
            <a:r>
              <a:rPr lang="en-US" sz="2600" dirty="0" err="1" smtClean="0"/>
              <a:t>hareket</a:t>
            </a:r>
            <a:r>
              <a:rPr lang="en-US" sz="2600" dirty="0" smtClean="0"/>
              <a:t> </a:t>
            </a:r>
            <a:r>
              <a:rPr lang="en-US" sz="2600" dirty="0" err="1" smtClean="0"/>
              <a:t>etmekte</a:t>
            </a:r>
            <a:r>
              <a:rPr lang="en-US" sz="2600" dirty="0" smtClean="0"/>
              <a:t> </a:t>
            </a:r>
            <a:r>
              <a:rPr lang="en-US" sz="2600" dirty="0" err="1" smtClean="0"/>
              <a:t>başarısız</a:t>
            </a:r>
            <a:r>
              <a:rPr lang="en-US" sz="2600" dirty="0" smtClean="0"/>
              <a:t> </a:t>
            </a:r>
            <a:r>
              <a:rPr lang="en-US" sz="2600" dirty="0" err="1" smtClean="0"/>
              <a:t>olabilirler</a:t>
            </a:r>
            <a:r>
              <a:rPr lang="en-US" sz="2600" dirty="0" smtClean="0"/>
              <a:t>.</a:t>
            </a:r>
            <a:endParaRPr lang="en-US" dirty="0"/>
          </a:p>
        </p:txBody>
      </p:sp>
      <p:sp>
        <p:nvSpPr>
          <p:cNvPr id="3" name="Title 2"/>
          <p:cNvSpPr>
            <a:spLocks noGrp="1"/>
          </p:cNvSpPr>
          <p:nvPr>
            <p:ph type="title"/>
          </p:nvPr>
        </p:nvSpPr>
        <p:spPr>
          <a:xfrm>
            <a:off x="762000" y="31156"/>
            <a:ext cx="8026400" cy="1046440"/>
          </a:xfrm>
        </p:spPr>
        <p:txBody>
          <a:bodyPr/>
          <a:lstStyle/>
          <a:p>
            <a:r>
              <a:rPr lang="en-US" sz="4000" dirty="0"/>
              <a:t>Summary, Part </a:t>
            </a:r>
            <a:r>
              <a:rPr lang="en-US" sz="4000" dirty="0" smtClean="0"/>
              <a:t>2</a:t>
            </a:r>
            <a:r>
              <a:rPr lang="tr-TR" sz="4000" dirty="0" smtClean="0"/>
              <a:t/>
            </a:r>
            <a:br>
              <a:rPr lang="tr-TR" sz="4000" dirty="0" smtClean="0"/>
            </a:br>
            <a:r>
              <a:rPr lang="tr-TR" sz="4000" dirty="0" smtClean="0"/>
              <a:t>Özet,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416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066800"/>
            <a:ext cx="8559800" cy="6013185"/>
          </a:xfrm>
        </p:spPr>
        <p:txBody>
          <a:bodyPr/>
          <a:lstStyle/>
          <a:p>
            <a:pPr>
              <a:spcAft>
                <a:spcPts val="600"/>
              </a:spcAft>
            </a:pPr>
            <a:r>
              <a:rPr lang="en-US" sz="2800" b="1" dirty="0" err="1" smtClean="0"/>
              <a:t>Kurumsal</a:t>
            </a:r>
            <a:r>
              <a:rPr lang="en-US" sz="2800" b="1" dirty="0" smtClean="0"/>
              <a:t> </a:t>
            </a:r>
            <a:r>
              <a:rPr lang="en-US" sz="2800" b="1" dirty="0" err="1" smtClean="0"/>
              <a:t>sosyal</a:t>
            </a:r>
            <a:r>
              <a:rPr lang="en-US" sz="2800" b="1" dirty="0" smtClean="0"/>
              <a:t> </a:t>
            </a:r>
            <a:r>
              <a:rPr lang="en-US" sz="2800" b="1" dirty="0" err="1" smtClean="0"/>
              <a:t>sorumluluk</a:t>
            </a:r>
            <a:r>
              <a:rPr lang="en-US" sz="2800" b="1" dirty="0" smtClean="0"/>
              <a:t> (KSS) </a:t>
            </a:r>
            <a:r>
              <a:rPr lang="en-US" sz="2800" b="1" dirty="0" err="1" smtClean="0"/>
              <a:t>nedir</a:t>
            </a:r>
            <a:r>
              <a:rPr lang="en-US" sz="2800" b="1" dirty="0" smtClean="0"/>
              <a:t> ve </a:t>
            </a:r>
            <a:r>
              <a:rPr lang="en-US" sz="2800" b="1" dirty="0" err="1" smtClean="0"/>
              <a:t>iyi</a:t>
            </a:r>
            <a:r>
              <a:rPr lang="en-US" sz="2800" b="1" dirty="0" smtClean="0"/>
              <a:t> </a:t>
            </a:r>
            <a:r>
              <a:rPr lang="en-US" sz="2800" b="1" dirty="0" err="1" smtClean="0"/>
              <a:t>iş</a:t>
            </a:r>
            <a:r>
              <a:rPr lang="en-US" sz="2800" b="1" dirty="0" smtClean="0"/>
              <a:t> </a:t>
            </a:r>
            <a:r>
              <a:rPr lang="en-US" sz="2800" b="1" dirty="0" err="1" smtClean="0"/>
              <a:t>ahlakını</a:t>
            </a:r>
            <a:r>
              <a:rPr lang="en-US" sz="2800" b="1" dirty="0" smtClean="0"/>
              <a:t> </a:t>
            </a:r>
            <a:r>
              <a:rPr lang="en-US" sz="2800" b="1" dirty="0" err="1" smtClean="0"/>
              <a:t>teşvik</a:t>
            </a:r>
            <a:r>
              <a:rPr lang="en-US" sz="2800" b="1" dirty="0" smtClean="0"/>
              <a:t> </a:t>
            </a:r>
            <a:r>
              <a:rPr lang="en-US" sz="2800" b="1" dirty="0" err="1" smtClean="0"/>
              <a:t>etmek</a:t>
            </a:r>
            <a:r>
              <a:rPr lang="en-US" sz="2800" b="1" dirty="0" smtClean="0"/>
              <a:t> </a:t>
            </a:r>
            <a:r>
              <a:rPr lang="en-US" sz="2800" b="1" dirty="0" err="1" smtClean="0"/>
              <a:t>neden</a:t>
            </a:r>
            <a:r>
              <a:rPr lang="en-US" sz="2800" b="1" dirty="0" smtClean="0"/>
              <a:t> </a:t>
            </a:r>
            <a:r>
              <a:rPr lang="en-US" sz="2800" b="1" dirty="0" err="1" smtClean="0"/>
              <a:t>önemlidir</a:t>
            </a:r>
            <a:r>
              <a:rPr lang="en-US" sz="2800" b="1" dirty="0" smtClean="0"/>
              <a:t>?</a:t>
            </a:r>
            <a:endParaRPr lang="tr-TR" sz="2800" b="1" dirty="0" smtClean="0"/>
          </a:p>
          <a:p>
            <a:pPr lvl="1">
              <a:spcAft>
                <a:spcPts val="600"/>
              </a:spcAft>
            </a:pPr>
            <a:r>
              <a:rPr lang="en-US" sz="2400" dirty="0" smtClean="0"/>
              <a:t>KSS: </a:t>
            </a:r>
            <a:r>
              <a:rPr lang="en-US" sz="2400" dirty="0" err="1" smtClean="0"/>
              <a:t>Bir</a:t>
            </a:r>
            <a:r>
              <a:rPr lang="en-US" sz="2400" dirty="0" smtClean="0"/>
              <a:t> </a:t>
            </a:r>
            <a:r>
              <a:rPr lang="en-US" sz="2400" dirty="0" err="1" smtClean="0"/>
              <a:t>kuruluş</a:t>
            </a:r>
            <a:r>
              <a:rPr lang="en-US" sz="2400" dirty="0" smtClean="0"/>
              <a:t>, </a:t>
            </a:r>
            <a:r>
              <a:rPr lang="en-US" sz="2400" dirty="0" err="1" smtClean="0"/>
              <a:t>eylemlerinin</a:t>
            </a:r>
            <a:r>
              <a:rPr lang="en-US" sz="2400" dirty="0" smtClean="0"/>
              <a:t> </a:t>
            </a:r>
            <a:r>
              <a:rPr lang="en-US" sz="2400" dirty="0" err="1" smtClean="0"/>
              <a:t>etkisi</a:t>
            </a:r>
            <a:r>
              <a:rPr lang="en-US" sz="2400" dirty="0" smtClean="0"/>
              <a:t> </a:t>
            </a:r>
            <a:r>
              <a:rPr lang="en-US" sz="2400" dirty="0" err="1" smtClean="0"/>
              <a:t>için</a:t>
            </a:r>
            <a:r>
              <a:rPr lang="en-US" sz="2400" dirty="0" smtClean="0"/>
              <a:t> </a:t>
            </a:r>
            <a:r>
              <a:rPr lang="en-US" sz="2400" dirty="0" err="1" smtClean="0"/>
              <a:t>sorumluluk</a:t>
            </a:r>
            <a:r>
              <a:rPr lang="en-US" sz="2400" dirty="0" smtClean="0"/>
              <a:t> </a:t>
            </a:r>
            <a:r>
              <a:rPr lang="en-US" sz="2400" dirty="0" err="1" smtClean="0"/>
              <a:t>alır</a:t>
            </a:r>
            <a:r>
              <a:rPr lang="en-US" sz="2400" dirty="0" smtClean="0"/>
              <a:t> </a:t>
            </a:r>
            <a:endParaRPr lang="tr-TR" sz="2400" dirty="0" smtClean="0"/>
          </a:p>
          <a:p>
            <a:pPr lvl="1">
              <a:spcAft>
                <a:spcPts val="600"/>
              </a:spcAft>
            </a:pPr>
            <a:r>
              <a:rPr lang="en-US" sz="2400" dirty="0" err="1" smtClean="0"/>
              <a:t>Tedarik</a:t>
            </a:r>
            <a:r>
              <a:rPr lang="en-US" sz="2400" dirty="0" smtClean="0"/>
              <a:t> </a:t>
            </a:r>
            <a:r>
              <a:rPr lang="en-US" sz="2400" dirty="0" err="1" smtClean="0"/>
              <a:t>zinciri</a:t>
            </a:r>
            <a:r>
              <a:rPr lang="en-US" sz="2400" dirty="0" smtClean="0"/>
              <a:t> </a:t>
            </a:r>
            <a:r>
              <a:rPr lang="en-US" sz="2400" dirty="0" err="1" smtClean="0"/>
              <a:t>sürdürülebilirliği</a:t>
            </a:r>
            <a:r>
              <a:rPr lang="en-US" sz="2400" dirty="0" smtClean="0"/>
              <a:t>: </a:t>
            </a:r>
            <a:endParaRPr lang="tr-TR" sz="2400" dirty="0" smtClean="0"/>
          </a:p>
          <a:p>
            <a:pPr lvl="1">
              <a:spcAft>
                <a:spcPts val="600"/>
              </a:spcAft>
            </a:pPr>
            <a:r>
              <a:rPr lang="en-US" sz="2400" dirty="0" err="1" smtClean="0"/>
              <a:t>Gelecek</a:t>
            </a:r>
            <a:r>
              <a:rPr lang="en-US" sz="2400" dirty="0" smtClean="0"/>
              <a:t> </a:t>
            </a:r>
            <a:r>
              <a:rPr lang="en-US" sz="2400" dirty="0" err="1" smtClean="0"/>
              <a:t>nesillerin</a:t>
            </a:r>
            <a:r>
              <a:rPr lang="en-US" sz="2400" dirty="0" smtClean="0"/>
              <a:t> </a:t>
            </a:r>
            <a:r>
              <a:rPr lang="en-US" sz="2400" dirty="0" err="1" smtClean="0"/>
              <a:t>ihtiyaçlarını</a:t>
            </a:r>
            <a:r>
              <a:rPr lang="en-US" sz="2400" dirty="0" smtClean="0"/>
              <a:t> </a:t>
            </a:r>
            <a:r>
              <a:rPr lang="en-US" sz="2400" dirty="0" err="1" smtClean="0"/>
              <a:t>karşılama</a:t>
            </a:r>
            <a:r>
              <a:rPr lang="en-US" sz="2400" dirty="0" smtClean="0"/>
              <a:t> </a:t>
            </a:r>
            <a:r>
              <a:rPr lang="en-US" sz="2400" dirty="0" err="1" smtClean="0"/>
              <a:t>yeteneğinden</a:t>
            </a:r>
            <a:r>
              <a:rPr lang="en-US" sz="2400" dirty="0" smtClean="0"/>
              <a:t> </a:t>
            </a:r>
            <a:r>
              <a:rPr lang="en-US" sz="2400" dirty="0" err="1" smtClean="0"/>
              <a:t>ödün</a:t>
            </a:r>
            <a:r>
              <a:rPr lang="en-US" sz="2400" dirty="0" smtClean="0"/>
              <a:t> </a:t>
            </a:r>
            <a:r>
              <a:rPr lang="en-US" sz="2400" dirty="0" err="1" smtClean="0"/>
              <a:t>vermeden</a:t>
            </a:r>
            <a:r>
              <a:rPr lang="en-US" sz="2400" dirty="0" smtClean="0"/>
              <a:t> </a:t>
            </a:r>
            <a:r>
              <a:rPr lang="en-US" sz="2400" dirty="0" err="1" smtClean="0"/>
              <a:t>mevcut</a:t>
            </a:r>
            <a:r>
              <a:rPr lang="en-US" sz="2400" dirty="0" smtClean="0"/>
              <a:t> </a:t>
            </a:r>
            <a:r>
              <a:rPr lang="en-US" sz="2400" dirty="0" err="1" smtClean="0"/>
              <a:t>ihtiyaçları</a:t>
            </a:r>
            <a:r>
              <a:rPr lang="en-US" sz="2400" dirty="0" smtClean="0"/>
              <a:t> </a:t>
            </a:r>
            <a:r>
              <a:rPr lang="en-US" sz="2400" dirty="0" err="1" smtClean="0"/>
              <a:t>karşılar</a:t>
            </a:r>
            <a:r>
              <a:rPr lang="en-US" sz="2400" dirty="0" smtClean="0"/>
              <a:t> </a:t>
            </a:r>
            <a:r>
              <a:rPr lang="en-US" sz="2400" dirty="0" err="1" smtClean="0"/>
              <a:t>KSS'yi</a:t>
            </a:r>
            <a:r>
              <a:rPr lang="en-US" sz="2400" dirty="0" smtClean="0"/>
              <a:t> ve </a:t>
            </a:r>
            <a:r>
              <a:rPr lang="en-US" sz="2400" dirty="0" err="1" smtClean="0"/>
              <a:t>iyi</a:t>
            </a:r>
            <a:r>
              <a:rPr lang="en-US" sz="2400" dirty="0" smtClean="0"/>
              <a:t> </a:t>
            </a:r>
            <a:r>
              <a:rPr lang="en-US" sz="2400" dirty="0" err="1" smtClean="0"/>
              <a:t>iş</a:t>
            </a:r>
            <a:r>
              <a:rPr lang="en-US" sz="2400" dirty="0" smtClean="0"/>
              <a:t> </a:t>
            </a:r>
            <a:r>
              <a:rPr lang="en-US" sz="2400" dirty="0" err="1" smtClean="0"/>
              <a:t>etiğini</a:t>
            </a:r>
            <a:r>
              <a:rPr lang="en-US" sz="2400" dirty="0" smtClean="0"/>
              <a:t> </a:t>
            </a:r>
            <a:r>
              <a:rPr lang="en-US" sz="2400" dirty="0" err="1" smtClean="0"/>
              <a:t>teşvik</a:t>
            </a:r>
            <a:r>
              <a:rPr lang="en-US" sz="2400" dirty="0" smtClean="0"/>
              <a:t> </a:t>
            </a:r>
            <a:r>
              <a:rPr lang="en-US" sz="2400" dirty="0" err="1" smtClean="0"/>
              <a:t>etmek</a:t>
            </a:r>
            <a:r>
              <a:rPr lang="en-US" sz="2400" dirty="0" smtClean="0"/>
              <a:t> </a:t>
            </a:r>
            <a:r>
              <a:rPr lang="en-US" sz="2400" dirty="0" err="1" smtClean="0"/>
              <a:t>için</a:t>
            </a:r>
            <a:r>
              <a:rPr lang="en-US" sz="2400" dirty="0" smtClean="0"/>
              <a:t> </a:t>
            </a:r>
            <a:r>
              <a:rPr lang="en-US" sz="2400" dirty="0" err="1" smtClean="0"/>
              <a:t>nedenler</a:t>
            </a:r>
            <a:r>
              <a:rPr lang="en-US" sz="2400" dirty="0" smtClean="0"/>
              <a:t>:</a:t>
            </a:r>
            <a:endParaRPr lang="tr-TR" sz="2400" dirty="0" smtClean="0"/>
          </a:p>
          <a:p>
            <a:pPr lvl="1">
              <a:spcAft>
                <a:spcPts val="600"/>
              </a:spcAft>
            </a:pPr>
            <a:r>
              <a:rPr lang="en-US" sz="2500" dirty="0" err="1" smtClean="0"/>
              <a:t>Topluluğun</a:t>
            </a:r>
            <a:r>
              <a:rPr lang="en-US" sz="2500" dirty="0" smtClean="0"/>
              <a:t> </a:t>
            </a:r>
            <a:r>
              <a:rPr lang="en-US" sz="2500" dirty="0" err="1" smtClean="0"/>
              <a:t>iyi</a:t>
            </a:r>
            <a:r>
              <a:rPr lang="en-US" sz="2500" dirty="0" smtClean="0"/>
              <a:t> </a:t>
            </a:r>
            <a:r>
              <a:rPr lang="en-US" sz="2500" dirty="0" err="1" smtClean="0"/>
              <a:t>niyetini</a:t>
            </a:r>
            <a:r>
              <a:rPr lang="en-US" sz="2500" dirty="0" smtClean="0"/>
              <a:t> </a:t>
            </a:r>
            <a:r>
              <a:rPr lang="en-US" sz="2500" dirty="0" err="1" smtClean="0"/>
              <a:t>kazanın</a:t>
            </a:r>
            <a:r>
              <a:rPr lang="en-US" sz="2500" dirty="0" smtClean="0"/>
              <a:t> </a:t>
            </a:r>
            <a:endParaRPr lang="tr-TR" sz="2500" dirty="0" smtClean="0"/>
          </a:p>
          <a:p>
            <a:pPr lvl="2">
              <a:spcAft>
                <a:spcPts val="600"/>
              </a:spcAft>
            </a:pPr>
            <a:r>
              <a:rPr lang="en-US" sz="2300" dirty="0" err="1" smtClean="0"/>
              <a:t>Tutarlı</a:t>
            </a:r>
            <a:r>
              <a:rPr lang="en-US" sz="2300" dirty="0" smtClean="0"/>
              <a:t> </a:t>
            </a:r>
            <a:r>
              <a:rPr lang="en-US" sz="2300" dirty="0" err="1" smtClean="0"/>
              <a:t>bir</a:t>
            </a:r>
            <a:r>
              <a:rPr lang="en-US" sz="2300" dirty="0" smtClean="0"/>
              <a:t> </a:t>
            </a:r>
            <a:r>
              <a:rPr lang="en-US" sz="2300" dirty="0" err="1" smtClean="0"/>
              <a:t>şekilde</a:t>
            </a:r>
            <a:r>
              <a:rPr lang="en-US" sz="2300" dirty="0" smtClean="0"/>
              <a:t> </a:t>
            </a:r>
            <a:r>
              <a:rPr lang="en-US" sz="2300" dirty="0" err="1" smtClean="0"/>
              <a:t>çalışan</a:t>
            </a:r>
            <a:r>
              <a:rPr lang="en-US" sz="2300" dirty="0" smtClean="0"/>
              <a:t> </a:t>
            </a:r>
            <a:r>
              <a:rPr lang="en-US" sz="2300" dirty="0" err="1" smtClean="0"/>
              <a:t>bir</a:t>
            </a:r>
            <a:r>
              <a:rPr lang="en-US" sz="2300" dirty="0" smtClean="0"/>
              <a:t> </a:t>
            </a:r>
            <a:r>
              <a:rPr lang="en-US" sz="2300" dirty="0" err="1" smtClean="0"/>
              <a:t>kuruluş</a:t>
            </a:r>
            <a:r>
              <a:rPr lang="en-US" sz="2300" dirty="0" smtClean="0"/>
              <a:t> </a:t>
            </a:r>
            <a:r>
              <a:rPr lang="en-US" sz="2300" dirty="0" err="1" smtClean="0"/>
              <a:t>oluşturun</a:t>
            </a:r>
            <a:r>
              <a:rPr lang="en-US" sz="2300" dirty="0" smtClean="0"/>
              <a:t> </a:t>
            </a:r>
            <a:endParaRPr lang="tr-TR" sz="2300" dirty="0" smtClean="0"/>
          </a:p>
          <a:p>
            <a:pPr lvl="2">
              <a:spcAft>
                <a:spcPts val="600"/>
              </a:spcAft>
            </a:pPr>
            <a:r>
              <a:rPr lang="en-US" sz="2300" dirty="0" err="1" smtClean="0"/>
              <a:t>İyi</a:t>
            </a:r>
            <a:r>
              <a:rPr lang="en-US" sz="2300" dirty="0" smtClean="0"/>
              <a:t> </a:t>
            </a:r>
            <a:r>
              <a:rPr lang="en-US" sz="2300" dirty="0" err="1" smtClean="0"/>
              <a:t>iş</a:t>
            </a:r>
            <a:r>
              <a:rPr lang="en-US" sz="2300" dirty="0" smtClean="0"/>
              <a:t> </a:t>
            </a:r>
            <a:r>
              <a:rPr lang="en-US" sz="2300" dirty="0" err="1" smtClean="0"/>
              <a:t>uygulamalarını</a:t>
            </a:r>
            <a:r>
              <a:rPr lang="en-US" sz="2300" dirty="0" smtClean="0"/>
              <a:t> </a:t>
            </a:r>
            <a:r>
              <a:rPr lang="en-US" sz="2300" dirty="0" err="1" smtClean="0"/>
              <a:t>teşvik</a:t>
            </a:r>
            <a:r>
              <a:rPr lang="en-US" sz="2300" dirty="0" smtClean="0"/>
              <a:t> </a:t>
            </a:r>
            <a:r>
              <a:rPr lang="en-US" sz="2300" dirty="0" err="1" smtClean="0"/>
              <a:t>edin</a:t>
            </a:r>
            <a:r>
              <a:rPr lang="en-US" sz="2300" dirty="0" smtClean="0"/>
              <a:t> </a:t>
            </a:r>
            <a:endParaRPr lang="tr-TR" sz="2300" dirty="0" smtClean="0"/>
          </a:p>
          <a:p>
            <a:pPr lvl="2">
              <a:spcAft>
                <a:spcPts val="600"/>
              </a:spcAft>
            </a:pPr>
            <a:r>
              <a:rPr lang="en-US" sz="2300" dirty="0" err="1" smtClean="0"/>
              <a:t>Kuruluşu</a:t>
            </a:r>
            <a:r>
              <a:rPr lang="en-US" sz="2300" dirty="0" smtClean="0"/>
              <a:t> ve </a:t>
            </a:r>
            <a:r>
              <a:rPr lang="en-US" sz="2300" dirty="0" err="1" smtClean="0"/>
              <a:t>çalışanları</a:t>
            </a:r>
            <a:r>
              <a:rPr lang="en-US" sz="2300" dirty="0" smtClean="0"/>
              <a:t> </a:t>
            </a:r>
            <a:r>
              <a:rPr lang="en-US" sz="2300" dirty="0" err="1" smtClean="0"/>
              <a:t>yasal</a:t>
            </a:r>
            <a:r>
              <a:rPr lang="en-US" sz="2300" dirty="0" smtClean="0"/>
              <a:t> </a:t>
            </a:r>
            <a:r>
              <a:rPr lang="en-US" sz="2300" dirty="0" err="1" smtClean="0"/>
              <a:t>işlemlerden</a:t>
            </a:r>
            <a:r>
              <a:rPr lang="en-US" sz="2300" dirty="0" smtClean="0"/>
              <a:t> </a:t>
            </a:r>
            <a:r>
              <a:rPr lang="en-US" sz="2300" dirty="0" err="1" smtClean="0"/>
              <a:t>koruyun</a:t>
            </a:r>
            <a:r>
              <a:rPr lang="en-US" sz="2300" dirty="0" smtClean="0"/>
              <a:t> </a:t>
            </a:r>
            <a:endParaRPr lang="tr-TR" sz="2300" dirty="0" smtClean="0"/>
          </a:p>
          <a:p>
            <a:pPr lvl="2">
              <a:spcAft>
                <a:spcPts val="600"/>
              </a:spcAft>
            </a:pPr>
            <a:r>
              <a:rPr lang="en-US" sz="2300" dirty="0" err="1" smtClean="0"/>
              <a:t>Olumsuz</a:t>
            </a:r>
            <a:r>
              <a:rPr lang="en-US" sz="2300" dirty="0" smtClean="0"/>
              <a:t> </a:t>
            </a:r>
            <a:r>
              <a:rPr lang="en-US" sz="2300" dirty="0" err="1" smtClean="0"/>
              <a:t>tanıtımlardan</a:t>
            </a:r>
            <a:r>
              <a:rPr lang="en-US" sz="2300" dirty="0" smtClean="0"/>
              <a:t> </a:t>
            </a:r>
            <a:r>
              <a:rPr lang="en-US" sz="2300" dirty="0" err="1" smtClean="0"/>
              <a:t>kaçının</a:t>
            </a:r>
            <a:endParaRPr lang="en-US" dirty="0"/>
          </a:p>
          <a:p>
            <a:endParaRPr lang="en-US" dirty="0"/>
          </a:p>
        </p:txBody>
      </p:sp>
      <p:sp>
        <p:nvSpPr>
          <p:cNvPr id="3" name="Title 2"/>
          <p:cNvSpPr>
            <a:spLocks noGrp="1"/>
          </p:cNvSpPr>
          <p:nvPr>
            <p:ph type="title"/>
          </p:nvPr>
        </p:nvSpPr>
        <p:spPr>
          <a:xfrm>
            <a:off x="762000" y="28849"/>
            <a:ext cx="8026400" cy="1051057"/>
          </a:xfrm>
        </p:spPr>
        <p:txBody>
          <a:bodyPr/>
          <a:lstStyle/>
          <a:p>
            <a:r>
              <a:rPr lang="en-US" sz="4000" dirty="0"/>
              <a:t>Summary, Part </a:t>
            </a:r>
            <a:r>
              <a:rPr lang="en-US" sz="4000" dirty="0" smtClean="0"/>
              <a:t>3</a:t>
            </a:r>
            <a:r>
              <a:rPr lang="tr-TR" sz="4000" dirty="0" smtClean="0"/>
              <a:t/>
            </a:r>
            <a:br>
              <a:rPr lang="tr-TR" sz="4000" dirty="0" smtClean="0"/>
            </a:br>
            <a:r>
              <a:rPr lang="tr-TR" sz="4000" dirty="0" smtClean="0"/>
              <a:t>Özet, Bölüm 3</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4312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58547"/>
            <a:ext cx="8415338" cy="4702826"/>
          </a:xfrm>
        </p:spPr>
        <p:txBody>
          <a:bodyPr/>
          <a:lstStyle/>
          <a:p>
            <a:pPr>
              <a:spcAft>
                <a:spcPts val="600"/>
              </a:spcAft>
            </a:pPr>
            <a:r>
              <a:rPr lang="en-US" sz="2800" b="1" dirty="0" err="1" smtClean="0"/>
              <a:t>Kuruluşlar</a:t>
            </a:r>
            <a:r>
              <a:rPr lang="en-US" sz="2800" b="1" dirty="0" smtClean="0"/>
              <a:t> </a:t>
            </a:r>
            <a:r>
              <a:rPr lang="en-US" sz="2800" b="1" dirty="0" err="1" smtClean="0"/>
              <a:t>iş</a:t>
            </a:r>
            <a:r>
              <a:rPr lang="en-US" sz="2800" b="1" dirty="0" smtClean="0"/>
              <a:t> </a:t>
            </a:r>
            <a:r>
              <a:rPr lang="en-US" sz="2800" b="1" dirty="0" err="1" smtClean="0"/>
              <a:t>ahlaklarını</a:t>
            </a:r>
            <a:r>
              <a:rPr lang="en-US" sz="2800" b="1" dirty="0" smtClean="0"/>
              <a:t> </a:t>
            </a:r>
            <a:r>
              <a:rPr lang="en-US" sz="2800" b="1" dirty="0" err="1" smtClean="0"/>
              <a:t>geliştirmek</a:t>
            </a:r>
            <a:r>
              <a:rPr lang="en-US" sz="2800" b="1" dirty="0" smtClean="0"/>
              <a:t> </a:t>
            </a:r>
            <a:r>
              <a:rPr lang="en-US" sz="2800" b="1" dirty="0" err="1" smtClean="0"/>
              <a:t>için</a:t>
            </a:r>
            <a:r>
              <a:rPr lang="en-US" sz="2800" b="1" dirty="0" smtClean="0"/>
              <a:t> ne </a:t>
            </a:r>
            <a:r>
              <a:rPr lang="en-US" sz="2800" b="1" dirty="0" err="1" smtClean="0"/>
              <a:t>gibi</a:t>
            </a:r>
            <a:r>
              <a:rPr lang="en-US" sz="2800" b="1" dirty="0" smtClean="0"/>
              <a:t> </a:t>
            </a:r>
            <a:r>
              <a:rPr lang="en-US" sz="2800" b="1" dirty="0" err="1" smtClean="0"/>
              <a:t>önlemler</a:t>
            </a:r>
            <a:r>
              <a:rPr lang="en-US" sz="2800" b="1" dirty="0" smtClean="0"/>
              <a:t> </a:t>
            </a:r>
            <a:r>
              <a:rPr lang="en-US" sz="2800" b="1" dirty="0" err="1" smtClean="0"/>
              <a:t>alabilir</a:t>
            </a:r>
            <a:r>
              <a:rPr lang="en-US" sz="2800" b="1" dirty="0" smtClean="0"/>
              <a:t>?</a:t>
            </a:r>
            <a:endParaRPr lang="tr-TR" sz="2800" b="1" dirty="0" smtClean="0"/>
          </a:p>
          <a:p>
            <a:pPr lvl="1">
              <a:spcAft>
                <a:spcPts val="600"/>
              </a:spcAft>
            </a:pPr>
            <a:r>
              <a:rPr lang="en-US" sz="2400" dirty="0" err="1" smtClean="0"/>
              <a:t>Bir</a:t>
            </a:r>
            <a:r>
              <a:rPr lang="en-US" sz="2400" dirty="0" smtClean="0"/>
              <a:t> </a:t>
            </a:r>
            <a:r>
              <a:rPr lang="en-US" sz="2400" dirty="0" err="1" smtClean="0"/>
              <a:t>kurumsal</a:t>
            </a:r>
            <a:r>
              <a:rPr lang="en-US" sz="2400" dirty="0" smtClean="0"/>
              <a:t> </a:t>
            </a:r>
            <a:r>
              <a:rPr lang="en-US" sz="2400" dirty="0" err="1" smtClean="0"/>
              <a:t>etik</a:t>
            </a:r>
            <a:r>
              <a:rPr lang="en-US" sz="2400" dirty="0" smtClean="0"/>
              <a:t> </a:t>
            </a:r>
            <a:r>
              <a:rPr lang="en-US" sz="2400" dirty="0" err="1" smtClean="0"/>
              <a:t>görevlisi</a:t>
            </a:r>
            <a:r>
              <a:rPr lang="en-US" sz="2400" dirty="0" smtClean="0"/>
              <a:t> </a:t>
            </a:r>
            <a:r>
              <a:rPr lang="en-US" sz="2400" dirty="0" err="1" smtClean="0"/>
              <a:t>atayın</a:t>
            </a:r>
            <a:r>
              <a:rPr lang="en-US" sz="2400" dirty="0" smtClean="0"/>
              <a:t>. </a:t>
            </a:r>
            <a:endParaRPr lang="tr-TR" sz="2400" dirty="0" smtClean="0"/>
          </a:p>
          <a:p>
            <a:pPr lvl="1">
              <a:spcAft>
                <a:spcPts val="600"/>
              </a:spcAft>
            </a:pPr>
            <a:r>
              <a:rPr lang="en-US" sz="2400" dirty="0" err="1" smtClean="0"/>
              <a:t>Yönetim</a:t>
            </a:r>
            <a:r>
              <a:rPr lang="en-US" sz="2400" dirty="0" smtClean="0"/>
              <a:t> </a:t>
            </a:r>
            <a:r>
              <a:rPr lang="en-US" sz="2400" dirty="0" err="1" smtClean="0"/>
              <a:t>kurulunun</a:t>
            </a:r>
            <a:r>
              <a:rPr lang="en-US" sz="2400" dirty="0" smtClean="0"/>
              <a:t> </a:t>
            </a:r>
            <a:r>
              <a:rPr lang="en-US" sz="2400" dirty="0" err="1" smtClean="0"/>
              <a:t>yüksek</a:t>
            </a:r>
            <a:r>
              <a:rPr lang="en-US" sz="2400" dirty="0" smtClean="0"/>
              <a:t> </a:t>
            </a:r>
            <a:r>
              <a:rPr lang="en-US" sz="2400" dirty="0" err="1" smtClean="0"/>
              <a:t>etik</a:t>
            </a:r>
            <a:r>
              <a:rPr lang="en-US" sz="2400" dirty="0" smtClean="0"/>
              <a:t> </a:t>
            </a:r>
            <a:r>
              <a:rPr lang="en-US" sz="2400" dirty="0" err="1" smtClean="0"/>
              <a:t>standartlar</a:t>
            </a:r>
            <a:r>
              <a:rPr lang="en-US" sz="2400" dirty="0" smtClean="0"/>
              <a:t> </a:t>
            </a:r>
            <a:r>
              <a:rPr lang="en-US" sz="2400" dirty="0" err="1" smtClean="0"/>
              <a:t>belirlemesini</a:t>
            </a:r>
            <a:r>
              <a:rPr lang="en-US" sz="2400" dirty="0" smtClean="0"/>
              <a:t> ve </a:t>
            </a:r>
            <a:r>
              <a:rPr lang="en-US" sz="2400" dirty="0" err="1" smtClean="0"/>
              <a:t>modellemesini</a:t>
            </a:r>
            <a:r>
              <a:rPr lang="en-US" sz="2400" dirty="0" smtClean="0"/>
              <a:t> </a:t>
            </a:r>
            <a:r>
              <a:rPr lang="en-US" sz="2400" dirty="0" err="1" smtClean="0"/>
              <a:t>isteyin</a:t>
            </a:r>
            <a:r>
              <a:rPr lang="en-US" sz="2400" dirty="0" smtClean="0"/>
              <a:t>. </a:t>
            </a:r>
            <a:endParaRPr lang="tr-TR" sz="2400" dirty="0" smtClean="0"/>
          </a:p>
          <a:p>
            <a:pPr lvl="1">
              <a:spcAft>
                <a:spcPts val="600"/>
              </a:spcAft>
            </a:pPr>
            <a:r>
              <a:rPr lang="en-US" sz="2400" dirty="0" err="1" smtClean="0"/>
              <a:t>Kurumsal</a:t>
            </a:r>
            <a:r>
              <a:rPr lang="en-US" sz="2400" dirty="0" smtClean="0"/>
              <a:t> </a:t>
            </a:r>
            <a:r>
              <a:rPr lang="en-US" sz="2400" dirty="0" err="1" smtClean="0"/>
              <a:t>bir</a:t>
            </a:r>
            <a:r>
              <a:rPr lang="en-US" sz="2400" dirty="0" smtClean="0"/>
              <a:t> </a:t>
            </a:r>
            <a:r>
              <a:rPr lang="en-US" sz="2400" dirty="0" err="1" smtClean="0"/>
              <a:t>etik</a:t>
            </a:r>
            <a:r>
              <a:rPr lang="en-US" sz="2400" dirty="0" smtClean="0"/>
              <a:t> </a:t>
            </a:r>
            <a:r>
              <a:rPr lang="en-US" sz="2400" dirty="0" err="1" smtClean="0"/>
              <a:t>kuralları</a:t>
            </a:r>
            <a:r>
              <a:rPr lang="en-US" sz="2400" dirty="0" smtClean="0"/>
              <a:t> </a:t>
            </a:r>
            <a:r>
              <a:rPr lang="en-US" sz="2400" dirty="0" err="1" smtClean="0"/>
              <a:t>oluşturun</a:t>
            </a:r>
            <a:r>
              <a:rPr lang="en-US" sz="2400" dirty="0" smtClean="0"/>
              <a:t>. </a:t>
            </a:r>
            <a:endParaRPr lang="tr-TR" sz="2400" dirty="0" smtClean="0"/>
          </a:p>
          <a:p>
            <a:pPr lvl="1">
              <a:spcAft>
                <a:spcPts val="600"/>
              </a:spcAft>
            </a:pPr>
            <a:r>
              <a:rPr lang="en-US" sz="2400" dirty="0" err="1" smtClean="0"/>
              <a:t>Sosyal</a:t>
            </a:r>
            <a:r>
              <a:rPr lang="en-US" sz="2400" dirty="0" smtClean="0"/>
              <a:t> </a:t>
            </a:r>
            <a:r>
              <a:rPr lang="en-US" sz="2400" dirty="0" err="1" smtClean="0"/>
              <a:t>denetimler</a:t>
            </a:r>
            <a:r>
              <a:rPr lang="en-US" sz="2400" dirty="0" smtClean="0"/>
              <a:t> </a:t>
            </a:r>
            <a:r>
              <a:rPr lang="en-US" sz="2400" dirty="0" err="1" smtClean="0"/>
              <a:t>yapmak</a:t>
            </a:r>
            <a:r>
              <a:rPr lang="en-US" sz="2400" dirty="0" smtClean="0"/>
              <a:t>. </a:t>
            </a:r>
            <a:endParaRPr lang="tr-TR" sz="2400" dirty="0" smtClean="0"/>
          </a:p>
          <a:p>
            <a:pPr lvl="1">
              <a:spcAft>
                <a:spcPts val="600"/>
              </a:spcAft>
            </a:pPr>
            <a:r>
              <a:rPr lang="en-US" sz="2400" dirty="0" err="1" smtClean="0"/>
              <a:t>Çalışanların</a:t>
            </a:r>
            <a:r>
              <a:rPr lang="en-US" sz="2400" dirty="0" smtClean="0"/>
              <a:t> </a:t>
            </a:r>
            <a:r>
              <a:rPr lang="en-US" sz="2400" dirty="0" err="1" smtClean="0"/>
              <a:t>etik</a:t>
            </a:r>
            <a:r>
              <a:rPr lang="en-US" sz="2400" dirty="0" smtClean="0"/>
              <a:t> </a:t>
            </a:r>
            <a:r>
              <a:rPr lang="en-US" sz="2400" dirty="0" err="1" smtClean="0"/>
              <a:t>eğitimi</a:t>
            </a:r>
            <a:r>
              <a:rPr lang="en-US" sz="2400" dirty="0" smtClean="0"/>
              <a:t> </a:t>
            </a:r>
            <a:r>
              <a:rPr lang="en-US" sz="2400" dirty="0" err="1" smtClean="0"/>
              <a:t>almalarını</a:t>
            </a:r>
            <a:r>
              <a:rPr lang="en-US" sz="2400" dirty="0" smtClean="0"/>
              <a:t> </a:t>
            </a:r>
            <a:r>
              <a:rPr lang="en-US" sz="2400" dirty="0" err="1" smtClean="0"/>
              <a:t>isteyin</a:t>
            </a:r>
            <a:r>
              <a:rPr lang="en-US" sz="2400" dirty="0" smtClean="0"/>
              <a:t>. </a:t>
            </a:r>
            <a:endParaRPr lang="tr-TR" sz="2400" dirty="0" smtClean="0"/>
          </a:p>
          <a:p>
            <a:pPr lvl="1">
              <a:spcAft>
                <a:spcPts val="600"/>
              </a:spcAft>
            </a:pPr>
            <a:r>
              <a:rPr lang="en-US" sz="2400" dirty="0" err="1" smtClean="0"/>
              <a:t>Çalışan</a:t>
            </a:r>
            <a:r>
              <a:rPr lang="en-US" sz="2400" dirty="0" smtClean="0"/>
              <a:t> </a:t>
            </a:r>
            <a:r>
              <a:rPr lang="en-US" sz="2400" dirty="0" err="1" smtClean="0"/>
              <a:t>değerlendirmelerine</a:t>
            </a:r>
            <a:r>
              <a:rPr lang="en-US" sz="2400" dirty="0" smtClean="0"/>
              <a:t> </a:t>
            </a:r>
            <a:r>
              <a:rPr lang="en-US" sz="2400" dirty="0" err="1" smtClean="0"/>
              <a:t>etik</a:t>
            </a:r>
            <a:r>
              <a:rPr lang="en-US" sz="2400" dirty="0" smtClean="0"/>
              <a:t> </a:t>
            </a:r>
            <a:r>
              <a:rPr lang="en-US" sz="2400" dirty="0" err="1" smtClean="0"/>
              <a:t>kriterleri</a:t>
            </a:r>
            <a:r>
              <a:rPr lang="en-US" sz="2400" dirty="0" smtClean="0"/>
              <a:t> </a:t>
            </a:r>
            <a:r>
              <a:rPr lang="en-US" sz="2400" dirty="0" err="1" smtClean="0"/>
              <a:t>dahil</a:t>
            </a:r>
            <a:r>
              <a:rPr lang="en-US" sz="2400" dirty="0" smtClean="0"/>
              <a:t> </a:t>
            </a:r>
            <a:r>
              <a:rPr lang="en-US" sz="2400" dirty="0" err="1" smtClean="0"/>
              <a:t>edin</a:t>
            </a:r>
            <a:r>
              <a:rPr lang="en-US" sz="2400" dirty="0" smtClean="0"/>
              <a:t>. </a:t>
            </a:r>
            <a:endParaRPr lang="tr-TR" sz="2400" dirty="0" smtClean="0"/>
          </a:p>
          <a:p>
            <a:pPr lvl="1">
              <a:spcAft>
                <a:spcPts val="600"/>
              </a:spcAft>
            </a:pPr>
            <a:r>
              <a:rPr lang="en-US" sz="2400" dirty="0" err="1" smtClean="0"/>
              <a:t>Etik</a:t>
            </a:r>
            <a:r>
              <a:rPr lang="en-US" sz="2400" dirty="0" smtClean="0"/>
              <a:t> ve </a:t>
            </a:r>
            <a:r>
              <a:rPr lang="en-US" sz="2400" dirty="0" err="1" smtClean="0"/>
              <a:t>etik</a:t>
            </a:r>
            <a:r>
              <a:rPr lang="en-US" sz="2400" dirty="0" smtClean="0"/>
              <a:t> </a:t>
            </a:r>
            <a:r>
              <a:rPr lang="en-US" sz="2400" dirty="0" err="1" smtClean="0"/>
              <a:t>bir</a:t>
            </a:r>
            <a:r>
              <a:rPr lang="en-US" sz="2400" dirty="0" smtClean="0"/>
              <a:t> </a:t>
            </a:r>
            <a:r>
              <a:rPr lang="en-US" sz="2400" dirty="0" err="1" smtClean="0"/>
              <a:t>çalışma</a:t>
            </a:r>
            <a:r>
              <a:rPr lang="en-US" sz="2400" dirty="0" smtClean="0"/>
              <a:t> </a:t>
            </a:r>
            <a:r>
              <a:rPr lang="en-US" sz="2400" dirty="0" err="1" smtClean="0"/>
              <a:t>ortamı</a:t>
            </a:r>
            <a:r>
              <a:rPr lang="en-US" sz="2400" dirty="0" smtClean="0"/>
              <a:t> </a:t>
            </a:r>
            <a:r>
              <a:rPr lang="en-US" sz="2400" dirty="0" err="1" smtClean="0"/>
              <a:t>yaratmak</a:t>
            </a:r>
            <a:r>
              <a:rPr lang="en-US" sz="2400" dirty="0" smtClean="0"/>
              <a:t>.</a:t>
            </a:r>
            <a:endParaRPr lang="en-US" dirty="0"/>
          </a:p>
        </p:txBody>
      </p:sp>
      <p:sp>
        <p:nvSpPr>
          <p:cNvPr id="3" name="Title 2"/>
          <p:cNvSpPr>
            <a:spLocks noGrp="1"/>
          </p:cNvSpPr>
          <p:nvPr>
            <p:ph type="title"/>
          </p:nvPr>
        </p:nvSpPr>
        <p:spPr>
          <a:xfrm>
            <a:off x="762000" y="31158"/>
            <a:ext cx="8026400" cy="1046440"/>
          </a:xfrm>
        </p:spPr>
        <p:txBody>
          <a:bodyPr/>
          <a:lstStyle/>
          <a:p>
            <a:r>
              <a:rPr lang="en-US" sz="4000" dirty="0"/>
              <a:t>Summary, Part </a:t>
            </a:r>
            <a:r>
              <a:rPr lang="en-US" sz="4000" dirty="0" smtClean="0"/>
              <a:t>4</a:t>
            </a:r>
            <a:r>
              <a:rPr lang="tr-TR" sz="4000" dirty="0" smtClean="0"/>
              <a:t/>
            </a:r>
            <a:br>
              <a:rPr lang="tr-TR" sz="4000" dirty="0" smtClean="0"/>
            </a:br>
            <a:r>
              <a:rPr lang="tr-TR" sz="4000" dirty="0" smtClean="0"/>
              <a:t>Özet, Bölüm 4</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75194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705904"/>
          </a:xfrm>
        </p:spPr>
        <p:txBody>
          <a:bodyPr/>
          <a:lstStyle/>
          <a:p>
            <a:r>
              <a:rPr lang="en-US" sz="2800" b="1" dirty="0" err="1" smtClean="0"/>
              <a:t>Etik</a:t>
            </a:r>
            <a:r>
              <a:rPr lang="en-US" sz="2800" b="1" dirty="0" smtClean="0"/>
              <a:t> </a:t>
            </a:r>
            <a:r>
              <a:rPr lang="en-US" sz="2800" b="1" dirty="0" err="1" smtClean="0"/>
              <a:t>hususları</a:t>
            </a:r>
            <a:r>
              <a:rPr lang="en-US" sz="2800" b="1" dirty="0" smtClean="0"/>
              <a:t> </a:t>
            </a:r>
            <a:r>
              <a:rPr lang="en-US" sz="2800" b="1" dirty="0" err="1" smtClean="0"/>
              <a:t>karar</a:t>
            </a:r>
            <a:r>
              <a:rPr lang="en-US" sz="2800" b="1" dirty="0" smtClean="0"/>
              <a:t> </a:t>
            </a:r>
            <a:r>
              <a:rPr lang="en-US" sz="2800" b="1" dirty="0" err="1" smtClean="0"/>
              <a:t>verme</a:t>
            </a:r>
            <a:r>
              <a:rPr lang="en-US" sz="2800" b="1" dirty="0" smtClean="0"/>
              <a:t> </a:t>
            </a:r>
            <a:r>
              <a:rPr lang="en-US" sz="2800" b="1" dirty="0" err="1" smtClean="0"/>
              <a:t>sürecinize</a:t>
            </a:r>
            <a:r>
              <a:rPr lang="en-US" sz="2800" b="1" dirty="0" smtClean="0"/>
              <a:t> </a:t>
            </a:r>
            <a:r>
              <a:rPr lang="en-US" sz="2800" b="1" dirty="0" err="1" smtClean="0"/>
              <a:t>nasıl</a:t>
            </a:r>
            <a:r>
              <a:rPr lang="en-US" sz="2800" b="1" dirty="0" smtClean="0"/>
              <a:t> </a:t>
            </a:r>
            <a:r>
              <a:rPr lang="en-US" sz="2800" b="1" dirty="0" err="1" smtClean="0"/>
              <a:t>dahil</a:t>
            </a:r>
            <a:r>
              <a:rPr lang="en-US" sz="2800" b="1" dirty="0" smtClean="0"/>
              <a:t> </a:t>
            </a:r>
            <a:r>
              <a:rPr lang="en-US" sz="2800" b="1" dirty="0" err="1" smtClean="0"/>
              <a:t>edebilirsiniz</a:t>
            </a:r>
            <a:r>
              <a:rPr lang="en-US" sz="2800" b="1" dirty="0" smtClean="0"/>
              <a:t>?</a:t>
            </a:r>
            <a:endParaRPr lang="tr-TR" sz="2800" b="1" dirty="0" smtClean="0"/>
          </a:p>
          <a:p>
            <a:r>
              <a:rPr lang="en-US" sz="2600" dirty="0" err="1" smtClean="0"/>
              <a:t>Karar</a:t>
            </a:r>
            <a:r>
              <a:rPr lang="en-US" sz="2600" dirty="0" smtClean="0"/>
              <a:t> </a:t>
            </a:r>
            <a:r>
              <a:rPr lang="en-US" sz="2600" dirty="0" err="1" smtClean="0"/>
              <a:t>vermek</a:t>
            </a:r>
            <a:r>
              <a:rPr lang="en-US" sz="2600" dirty="0" smtClean="0"/>
              <a:t> </a:t>
            </a:r>
            <a:r>
              <a:rPr lang="en-US" sz="2600" dirty="0" err="1" smtClean="0"/>
              <a:t>için</a:t>
            </a:r>
            <a:r>
              <a:rPr lang="en-US" sz="2600" dirty="0" smtClean="0"/>
              <a:t> </a:t>
            </a:r>
            <a:r>
              <a:rPr lang="en-US" sz="2600" dirty="0" err="1" smtClean="0"/>
              <a:t>beş</a:t>
            </a:r>
            <a:r>
              <a:rPr lang="en-US" sz="2600" dirty="0" smtClean="0"/>
              <a:t> </a:t>
            </a:r>
            <a:r>
              <a:rPr lang="en-US" sz="2600" dirty="0" err="1" smtClean="0"/>
              <a:t>adımlı</a:t>
            </a:r>
            <a:r>
              <a:rPr lang="en-US" sz="2600" dirty="0" smtClean="0"/>
              <a:t> </a:t>
            </a:r>
            <a:r>
              <a:rPr lang="en-US" sz="2600" dirty="0" err="1" smtClean="0"/>
              <a:t>bir</a:t>
            </a:r>
            <a:r>
              <a:rPr lang="en-US" sz="2600" dirty="0" smtClean="0"/>
              <a:t> model </a:t>
            </a:r>
            <a:r>
              <a:rPr lang="en-US" sz="2600" dirty="0" err="1" smtClean="0"/>
              <a:t>kullanın</a:t>
            </a:r>
            <a:r>
              <a:rPr lang="en-US" sz="2600" dirty="0" smtClean="0"/>
              <a:t>:</a:t>
            </a:r>
            <a:endParaRPr lang="tr-TR" sz="2600" dirty="0" smtClean="0"/>
          </a:p>
          <a:p>
            <a:pPr lvl="1"/>
            <a:r>
              <a:rPr lang="en-US" sz="2200" dirty="0" err="1" smtClean="0"/>
              <a:t>Sorunu</a:t>
            </a:r>
            <a:r>
              <a:rPr lang="en-US" sz="2200" dirty="0" smtClean="0"/>
              <a:t> </a:t>
            </a:r>
            <a:r>
              <a:rPr lang="en-US" sz="2200" dirty="0" err="1" smtClean="0"/>
              <a:t>tanımlayın</a:t>
            </a:r>
            <a:r>
              <a:rPr lang="en-US" sz="2200" dirty="0" smtClean="0"/>
              <a:t> </a:t>
            </a:r>
            <a:endParaRPr lang="tr-TR" sz="2200" dirty="0" smtClean="0"/>
          </a:p>
          <a:p>
            <a:pPr lvl="1"/>
            <a:r>
              <a:rPr lang="en-US" sz="2200" dirty="0" err="1" smtClean="0"/>
              <a:t>Alternatifleri</a:t>
            </a:r>
            <a:r>
              <a:rPr lang="en-US" sz="2200" dirty="0" smtClean="0"/>
              <a:t> </a:t>
            </a:r>
            <a:r>
              <a:rPr lang="en-US" sz="2200" dirty="0" err="1" smtClean="0"/>
              <a:t>belirleyin</a:t>
            </a:r>
            <a:r>
              <a:rPr lang="en-US" sz="2200" dirty="0" smtClean="0"/>
              <a:t> </a:t>
            </a:r>
            <a:endParaRPr lang="tr-TR" sz="2200" dirty="0" smtClean="0"/>
          </a:p>
          <a:p>
            <a:pPr lvl="1"/>
            <a:r>
              <a:rPr lang="en-US" sz="2200" dirty="0" err="1" smtClean="0"/>
              <a:t>Bir</a:t>
            </a:r>
            <a:r>
              <a:rPr lang="en-US" sz="2200" dirty="0" smtClean="0"/>
              <a:t> </a:t>
            </a:r>
            <a:r>
              <a:rPr lang="en-US" sz="2200" dirty="0" err="1" smtClean="0"/>
              <a:t>alternatif</a:t>
            </a:r>
            <a:r>
              <a:rPr lang="en-US" sz="2200" dirty="0" smtClean="0"/>
              <a:t> </a:t>
            </a:r>
            <a:r>
              <a:rPr lang="en-US" sz="2200" dirty="0" err="1" smtClean="0"/>
              <a:t>seçin</a:t>
            </a:r>
            <a:r>
              <a:rPr lang="en-US" sz="2200" dirty="0" smtClean="0"/>
              <a:t> </a:t>
            </a:r>
            <a:endParaRPr lang="tr-TR" sz="2200" dirty="0" smtClean="0"/>
          </a:p>
          <a:p>
            <a:pPr lvl="1"/>
            <a:r>
              <a:rPr lang="en-US" sz="2200" dirty="0" err="1" smtClean="0"/>
              <a:t>Kararı</a:t>
            </a:r>
            <a:r>
              <a:rPr lang="en-US" sz="2200" dirty="0" smtClean="0"/>
              <a:t> </a:t>
            </a:r>
            <a:r>
              <a:rPr lang="en-US" sz="2200" dirty="0" err="1" smtClean="0"/>
              <a:t>uygulayın</a:t>
            </a:r>
            <a:r>
              <a:rPr lang="en-US" sz="2200" dirty="0" smtClean="0"/>
              <a:t> </a:t>
            </a:r>
            <a:endParaRPr lang="tr-TR" sz="2200" dirty="0" smtClean="0"/>
          </a:p>
          <a:p>
            <a:pPr lvl="1"/>
            <a:r>
              <a:rPr lang="en-US" sz="2200" dirty="0" err="1" smtClean="0"/>
              <a:t>Sonuçları</a:t>
            </a:r>
            <a:r>
              <a:rPr lang="en-US" sz="2200" dirty="0" smtClean="0"/>
              <a:t> </a:t>
            </a:r>
            <a:r>
              <a:rPr lang="en-US" sz="2200" dirty="0" err="1" smtClean="0"/>
              <a:t>izleyin</a:t>
            </a:r>
            <a:endParaRPr lang="tr-TR" sz="2200" dirty="0" smtClean="0"/>
          </a:p>
          <a:p>
            <a:r>
              <a:rPr lang="en-US" sz="2800" dirty="0" err="1" smtClean="0"/>
              <a:t>Etik</a:t>
            </a:r>
            <a:r>
              <a:rPr lang="en-US" sz="2800" dirty="0" smtClean="0"/>
              <a:t> </a:t>
            </a:r>
            <a:r>
              <a:rPr lang="en-US" sz="2800" dirty="0" err="1" smtClean="0"/>
              <a:t>hususları</a:t>
            </a:r>
            <a:r>
              <a:rPr lang="en-US" sz="2800" dirty="0" smtClean="0"/>
              <a:t> </a:t>
            </a:r>
            <a:r>
              <a:rPr lang="en-US" sz="2800" dirty="0" err="1" smtClean="0"/>
              <a:t>karar</a:t>
            </a:r>
            <a:r>
              <a:rPr lang="en-US" sz="2800" dirty="0" smtClean="0"/>
              <a:t> </a:t>
            </a:r>
            <a:r>
              <a:rPr lang="en-US" sz="2800" dirty="0" err="1" smtClean="0"/>
              <a:t>verme</a:t>
            </a:r>
            <a:r>
              <a:rPr lang="en-US" sz="2800" dirty="0" smtClean="0"/>
              <a:t> </a:t>
            </a:r>
            <a:r>
              <a:rPr lang="en-US" sz="2800" dirty="0" err="1" smtClean="0"/>
              <a:t>sürecine</a:t>
            </a:r>
            <a:r>
              <a:rPr lang="en-US" sz="2800" dirty="0" smtClean="0"/>
              <a:t> </a:t>
            </a:r>
            <a:r>
              <a:rPr lang="en-US" sz="2800" dirty="0" err="1" smtClean="0"/>
              <a:t>dahil</a:t>
            </a:r>
            <a:r>
              <a:rPr lang="en-US" sz="2800" dirty="0" smtClean="0"/>
              <a:t> </a:t>
            </a:r>
            <a:r>
              <a:rPr lang="en-US" sz="2800" dirty="0" err="1" smtClean="0"/>
              <a:t>edin</a:t>
            </a:r>
            <a:r>
              <a:rPr lang="en-US" sz="2800" dirty="0" smtClean="0"/>
              <a:t>:</a:t>
            </a:r>
            <a:endParaRPr lang="tr-TR" sz="2800" dirty="0" smtClean="0"/>
          </a:p>
          <a:p>
            <a:pPr lvl="1"/>
            <a:r>
              <a:rPr lang="en-US" sz="2200" dirty="0" err="1" smtClean="0"/>
              <a:t>Yasaları</a:t>
            </a:r>
            <a:r>
              <a:rPr lang="en-US" sz="2200" dirty="0" smtClean="0"/>
              <a:t>, </a:t>
            </a:r>
            <a:r>
              <a:rPr lang="en-US" sz="2200" dirty="0" err="1" smtClean="0"/>
              <a:t>yönergeleri</a:t>
            </a:r>
            <a:r>
              <a:rPr lang="en-US" sz="2200" dirty="0" smtClean="0"/>
              <a:t> ve </a:t>
            </a:r>
            <a:r>
              <a:rPr lang="en-US" sz="2200" dirty="0" err="1" smtClean="0"/>
              <a:t>ilkeleri</a:t>
            </a:r>
            <a:r>
              <a:rPr lang="en-US" sz="2200" dirty="0" smtClean="0"/>
              <a:t> </a:t>
            </a:r>
            <a:r>
              <a:rPr lang="en-US" sz="2200" dirty="0" err="1" smtClean="0"/>
              <a:t>tartın</a:t>
            </a:r>
            <a:r>
              <a:rPr lang="en-US" sz="2200" dirty="0" smtClean="0"/>
              <a:t>. </a:t>
            </a:r>
            <a:endParaRPr lang="tr-TR" sz="2200" dirty="0" smtClean="0"/>
          </a:p>
          <a:p>
            <a:pPr lvl="1"/>
            <a:r>
              <a:rPr lang="en-US" sz="2200" dirty="0" err="1" smtClean="0"/>
              <a:t>Kararın</a:t>
            </a:r>
            <a:r>
              <a:rPr lang="en-US" sz="2200" dirty="0" smtClean="0"/>
              <a:t> </a:t>
            </a:r>
            <a:r>
              <a:rPr lang="en-US" sz="2200" dirty="0" err="1" smtClean="0"/>
              <a:t>etkisini</a:t>
            </a:r>
            <a:r>
              <a:rPr lang="en-US" sz="2200" dirty="0" smtClean="0"/>
              <a:t> </a:t>
            </a:r>
            <a:r>
              <a:rPr lang="en-US" sz="2200" dirty="0" err="1" smtClean="0"/>
              <a:t>göz</a:t>
            </a:r>
            <a:r>
              <a:rPr lang="en-US" sz="2200" dirty="0" smtClean="0"/>
              <a:t> </a:t>
            </a:r>
            <a:r>
              <a:rPr lang="en-US" sz="2200" dirty="0" err="1" smtClean="0"/>
              <a:t>önünde</a:t>
            </a:r>
            <a:r>
              <a:rPr lang="en-US" sz="2200" dirty="0" smtClean="0"/>
              <a:t> </a:t>
            </a:r>
            <a:r>
              <a:rPr lang="en-US" sz="2200" dirty="0" err="1" smtClean="0"/>
              <a:t>bulundurun</a:t>
            </a:r>
            <a:r>
              <a:rPr lang="en-US" sz="2200" dirty="0" smtClean="0"/>
              <a:t>.</a:t>
            </a:r>
            <a:endParaRPr lang="en-US" sz="2400" dirty="0"/>
          </a:p>
        </p:txBody>
      </p:sp>
      <p:sp>
        <p:nvSpPr>
          <p:cNvPr id="3" name="Title 2"/>
          <p:cNvSpPr>
            <a:spLocks noGrp="1"/>
          </p:cNvSpPr>
          <p:nvPr>
            <p:ph type="title"/>
          </p:nvPr>
        </p:nvSpPr>
        <p:spPr>
          <a:xfrm>
            <a:off x="762000" y="31158"/>
            <a:ext cx="8026400" cy="1046440"/>
          </a:xfrm>
        </p:spPr>
        <p:txBody>
          <a:bodyPr/>
          <a:lstStyle/>
          <a:p>
            <a:r>
              <a:rPr lang="en-US" sz="4000" dirty="0"/>
              <a:t>Summary, Part </a:t>
            </a:r>
            <a:r>
              <a:rPr lang="en-US" sz="4000" dirty="0" smtClean="0"/>
              <a:t>5</a:t>
            </a:r>
            <a:r>
              <a:rPr lang="tr-TR" sz="4000" dirty="0"/>
              <a:t/>
            </a:r>
            <a:br>
              <a:rPr lang="tr-TR" sz="4000" dirty="0"/>
            </a:br>
            <a:r>
              <a:rPr lang="tr-TR" sz="4000" dirty="0"/>
              <a:t>Özet, Bölüm </a:t>
            </a:r>
            <a:r>
              <a:rPr lang="tr-TR" sz="4000" dirty="0" smtClean="0"/>
              <a:t>5</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30032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3539"/>
            <a:ext cx="8415338" cy="3857979"/>
          </a:xfrm>
        </p:spPr>
        <p:txBody>
          <a:bodyPr/>
          <a:lstStyle/>
          <a:p>
            <a:pPr>
              <a:spcAft>
                <a:spcPts val="600"/>
              </a:spcAft>
            </a:pPr>
            <a:r>
              <a:rPr lang="en-US" sz="2800" b="1" dirty="0" err="1" smtClean="0"/>
              <a:t>Hangi</a:t>
            </a:r>
            <a:r>
              <a:rPr lang="en-US" sz="2800" b="1" dirty="0" smtClean="0"/>
              <a:t> </a:t>
            </a:r>
            <a:r>
              <a:rPr lang="en-US" sz="2800" b="1" dirty="0" err="1" smtClean="0"/>
              <a:t>eğilimler</a:t>
            </a:r>
            <a:r>
              <a:rPr lang="en-US" sz="2800" b="1" dirty="0" smtClean="0"/>
              <a:t> </a:t>
            </a:r>
            <a:r>
              <a:rPr lang="en-US" sz="2800" b="1" dirty="0" err="1" smtClean="0"/>
              <a:t>bilgi</a:t>
            </a:r>
            <a:r>
              <a:rPr lang="en-US" sz="2800" b="1" dirty="0" smtClean="0"/>
              <a:t> </a:t>
            </a:r>
            <a:r>
              <a:rPr lang="en-US" sz="2800" b="1" dirty="0" err="1" smtClean="0"/>
              <a:t>teknolojisinin</a:t>
            </a:r>
            <a:r>
              <a:rPr lang="en-US" sz="2800" b="1" dirty="0" smtClean="0"/>
              <a:t> </a:t>
            </a:r>
            <a:r>
              <a:rPr lang="en-US" sz="2800" b="1" dirty="0" err="1" smtClean="0"/>
              <a:t>etik</a:t>
            </a:r>
            <a:r>
              <a:rPr lang="en-US" sz="2800" b="1" dirty="0" smtClean="0"/>
              <a:t> </a:t>
            </a:r>
            <a:r>
              <a:rPr lang="en-US" sz="2800" b="1" dirty="0" err="1" smtClean="0"/>
              <a:t>olmayan</a:t>
            </a:r>
            <a:r>
              <a:rPr lang="en-US" sz="2800" b="1" dirty="0" smtClean="0"/>
              <a:t> </a:t>
            </a:r>
            <a:r>
              <a:rPr lang="en-US" sz="2800" b="1" dirty="0" err="1" smtClean="0"/>
              <a:t>bir</a:t>
            </a:r>
            <a:r>
              <a:rPr lang="en-US" sz="2800" b="1" dirty="0" smtClean="0"/>
              <a:t> </a:t>
            </a:r>
            <a:r>
              <a:rPr lang="en-US" sz="2800" b="1" dirty="0" err="1" smtClean="0"/>
              <a:t>şekilde</a:t>
            </a:r>
            <a:r>
              <a:rPr lang="en-US" sz="2800" b="1" dirty="0" smtClean="0"/>
              <a:t> </a:t>
            </a:r>
            <a:r>
              <a:rPr lang="en-US" sz="2800" b="1" dirty="0" err="1" smtClean="0"/>
              <a:t>kullanılması</a:t>
            </a:r>
            <a:r>
              <a:rPr lang="en-US" sz="2800" b="1" dirty="0" smtClean="0"/>
              <a:t> </a:t>
            </a:r>
            <a:r>
              <a:rPr lang="en-US" sz="2800" b="1" dirty="0" err="1" smtClean="0"/>
              <a:t>riskini</a:t>
            </a:r>
            <a:r>
              <a:rPr lang="en-US" sz="2800" b="1" dirty="0" smtClean="0"/>
              <a:t> </a:t>
            </a:r>
            <a:r>
              <a:rPr lang="en-US" sz="2800" b="1" dirty="0" err="1" smtClean="0"/>
              <a:t>artırdı</a:t>
            </a:r>
            <a:r>
              <a:rPr lang="en-US" sz="2800" b="1" dirty="0" smtClean="0"/>
              <a:t>?  </a:t>
            </a:r>
            <a:endParaRPr lang="tr-TR" sz="2800" b="1" dirty="0" smtClean="0"/>
          </a:p>
          <a:p>
            <a:pPr lvl="1">
              <a:spcAft>
                <a:spcPts val="600"/>
              </a:spcAft>
            </a:pPr>
            <a:r>
              <a:rPr lang="en-US" sz="2600" dirty="0" smtClean="0"/>
              <a:t>İnternet ve </a:t>
            </a:r>
            <a:r>
              <a:rPr lang="en-US" sz="2600" dirty="0" err="1" smtClean="0"/>
              <a:t>sosyal</a:t>
            </a:r>
            <a:r>
              <a:rPr lang="en-US" sz="2600" dirty="0" smtClean="0"/>
              <a:t> </a:t>
            </a:r>
            <a:r>
              <a:rPr lang="en-US" sz="2600" dirty="0" err="1" smtClean="0"/>
              <a:t>ağların</a:t>
            </a:r>
            <a:r>
              <a:rPr lang="en-US" sz="2600" dirty="0" smtClean="0"/>
              <a:t> </a:t>
            </a:r>
            <a:r>
              <a:rPr lang="en-US" sz="2600" dirty="0" err="1" smtClean="0"/>
              <a:t>büyümesi</a:t>
            </a:r>
            <a:r>
              <a:rPr lang="en-US" sz="2600" dirty="0" smtClean="0"/>
              <a:t> </a:t>
            </a:r>
            <a:endParaRPr lang="tr-TR" sz="2600" dirty="0" smtClean="0"/>
          </a:p>
          <a:p>
            <a:pPr lvl="1">
              <a:spcAft>
                <a:spcPts val="600"/>
              </a:spcAft>
            </a:pPr>
            <a:r>
              <a:rPr lang="en-US" sz="2600" dirty="0" err="1" smtClean="0"/>
              <a:t>Büyük</a:t>
            </a:r>
            <a:r>
              <a:rPr lang="en-US" sz="2600" dirty="0" smtClean="0"/>
              <a:t> </a:t>
            </a:r>
            <a:r>
              <a:rPr lang="en-US" sz="2600" dirty="0" err="1" smtClean="0"/>
              <a:t>miktarda</a:t>
            </a:r>
            <a:r>
              <a:rPr lang="en-US" sz="2600" dirty="0" smtClean="0"/>
              <a:t> </a:t>
            </a:r>
            <a:r>
              <a:rPr lang="en-US" sz="2600" dirty="0" err="1" smtClean="0"/>
              <a:t>kişisel</a:t>
            </a:r>
            <a:r>
              <a:rPr lang="en-US" sz="2600" dirty="0" smtClean="0"/>
              <a:t> </a:t>
            </a:r>
            <a:r>
              <a:rPr lang="en-US" sz="2600" dirty="0" err="1" smtClean="0"/>
              <a:t>veriyi</a:t>
            </a:r>
            <a:r>
              <a:rPr lang="en-US" sz="2600" dirty="0" smtClean="0"/>
              <a:t> </a:t>
            </a:r>
            <a:r>
              <a:rPr lang="en-US" sz="2600" dirty="0" err="1" smtClean="0"/>
              <a:t>yakalama</a:t>
            </a:r>
            <a:r>
              <a:rPr lang="en-US" sz="2600" dirty="0" smtClean="0"/>
              <a:t>, </a:t>
            </a:r>
            <a:r>
              <a:rPr lang="en-US" sz="2600" dirty="0" err="1" smtClean="0"/>
              <a:t>depolama</a:t>
            </a:r>
            <a:r>
              <a:rPr lang="en-US" sz="2600" dirty="0" smtClean="0"/>
              <a:t> ve </a:t>
            </a:r>
            <a:r>
              <a:rPr lang="en-US" sz="2600" dirty="0" err="1" smtClean="0"/>
              <a:t>analiz</a:t>
            </a:r>
            <a:r>
              <a:rPr lang="en-US" sz="2600" dirty="0" smtClean="0"/>
              <a:t> </a:t>
            </a:r>
            <a:r>
              <a:rPr lang="en-US" sz="2600" dirty="0" err="1" smtClean="0"/>
              <a:t>etme</a:t>
            </a:r>
            <a:r>
              <a:rPr lang="en-US" sz="2600" dirty="0" smtClean="0"/>
              <a:t> </a:t>
            </a:r>
            <a:r>
              <a:rPr lang="en-US" sz="2600" dirty="0" err="1" smtClean="0"/>
              <a:t>yeteneği</a:t>
            </a:r>
            <a:r>
              <a:rPr lang="en-US" sz="2600" dirty="0" smtClean="0"/>
              <a:t> </a:t>
            </a:r>
            <a:endParaRPr lang="tr-TR" sz="2600" dirty="0" smtClean="0"/>
          </a:p>
          <a:p>
            <a:pPr lvl="1">
              <a:spcAft>
                <a:spcPts val="600"/>
              </a:spcAft>
            </a:pPr>
            <a:r>
              <a:rPr lang="en-US" sz="2600" dirty="0" err="1" smtClean="0"/>
              <a:t>Yaşamın</a:t>
            </a:r>
            <a:r>
              <a:rPr lang="en-US" sz="2600" dirty="0" smtClean="0"/>
              <a:t> her </a:t>
            </a:r>
            <a:r>
              <a:rPr lang="en-US" sz="2600" dirty="0" err="1" smtClean="0"/>
              <a:t>alanında</a:t>
            </a:r>
            <a:r>
              <a:rPr lang="en-US" sz="2600" dirty="0" smtClean="0"/>
              <a:t> </a:t>
            </a:r>
            <a:r>
              <a:rPr lang="en-US" sz="2600" dirty="0" err="1" smtClean="0"/>
              <a:t>bilgi</a:t>
            </a:r>
            <a:r>
              <a:rPr lang="en-US" sz="2600" dirty="0" smtClean="0"/>
              <a:t> </a:t>
            </a:r>
            <a:r>
              <a:rPr lang="en-US" sz="2600" dirty="0" err="1" smtClean="0"/>
              <a:t>sistemlerine</a:t>
            </a:r>
            <a:r>
              <a:rPr lang="en-US" sz="2600" dirty="0" smtClean="0"/>
              <a:t> </a:t>
            </a:r>
            <a:r>
              <a:rPr lang="en-US" sz="2600" dirty="0" err="1" smtClean="0"/>
              <a:t>daha</a:t>
            </a:r>
            <a:r>
              <a:rPr lang="en-US" sz="2600" dirty="0" smtClean="0"/>
              <a:t> </a:t>
            </a:r>
            <a:r>
              <a:rPr lang="en-US" sz="2600" dirty="0" err="1" smtClean="0"/>
              <a:t>fazla</a:t>
            </a:r>
            <a:r>
              <a:rPr lang="en-US" sz="2600" dirty="0" smtClean="0"/>
              <a:t> </a:t>
            </a:r>
            <a:r>
              <a:rPr lang="en-US" sz="2600" dirty="0" err="1" smtClean="0"/>
              <a:t>güven</a:t>
            </a:r>
            <a:r>
              <a:rPr lang="en-US" sz="2600" dirty="0" smtClean="0"/>
              <a:t> </a:t>
            </a:r>
            <a:endParaRPr lang="tr-TR" sz="2600" dirty="0" smtClean="0"/>
          </a:p>
          <a:p>
            <a:pPr lvl="1">
              <a:spcAft>
                <a:spcPts val="600"/>
              </a:spcAft>
            </a:pPr>
            <a:r>
              <a:rPr lang="en-US" sz="2600" dirty="0" err="1" smtClean="0"/>
              <a:t>Etik</a:t>
            </a:r>
            <a:r>
              <a:rPr lang="en-US" sz="2600" dirty="0" smtClean="0"/>
              <a:t> ve </a:t>
            </a:r>
            <a:r>
              <a:rPr lang="en-US" sz="2600" dirty="0" err="1" smtClean="0"/>
              <a:t>insani</a:t>
            </a:r>
            <a:r>
              <a:rPr lang="en-US" sz="2600" dirty="0" smtClean="0"/>
              <a:t> </a:t>
            </a:r>
            <a:r>
              <a:rPr lang="en-US" sz="2600" dirty="0" err="1" smtClean="0"/>
              <a:t>değerlerin</a:t>
            </a:r>
            <a:r>
              <a:rPr lang="en-US" sz="2600" dirty="0" smtClean="0"/>
              <a:t> </a:t>
            </a:r>
            <a:r>
              <a:rPr lang="en-US" sz="2600" dirty="0" err="1" smtClean="0"/>
              <a:t>önemi</a:t>
            </a:r>
            <a:r>
              <a:rPr lang="en-US" sz="2600" dirty="0" smtClean="0"/>
              <a:t> </a:t>
            </a:r>
            <a:r>
              <a:rPr lang="en-US" sz="2600" dirty="0" err="1" smtClean="0"/>
              <a:t>yeterince</a:t>
            </a:r>
            <a:r>
              <a:rPr lang="en-US" sz="2600" dirty="0" smtClean="0"/>
              <a:t> </a:t>
            </a:r>
            <a:r>
              <a:rPr lang="en-US" sz="2600" dirty="0" err="1" smtClean="0"/>
              <a:t>vurgulanmamıştır</a:t>
            </a:r>
            <a:endParaRPr lang="en-US" sz="2600" dirty="0"/>
          </a:p>
          <a:p>
            <a:endParaRPr lang="en-US" dirty="0"/>
          </a:p>
        </p:txBody>
      </p:sp>
      <p:sp>
        <p:nvSpPr>
          <p:cNvPr id="3" name="Title 2"/>
          <p:cNvSpPr>
            <a:spLocks noGrp="1"/>
          </p:cNvSpPr>
          <p:nvPr>
            <p:ph type="title"/>
          </p:nvPr>
        </p:nvSpPr>
        <p:spPr>
          <a:xfrm>
            <a:off x="762000" y="31158"/>
            <a:ext cx="8026400" cy="1046440"/>
          </a:xfrm>
        </p:spPr>
        <p:txBody>
          <a:bodyPr/>
          <a:lstStyle/>
          <a:p>
            <a:r>
              <a:rPr lang="en-US" sz="4000" dirty="0"/>
              <a:t>Summary, Part </a:t>
            </a:r>
            <a:r>
              <a:rPr lang="en-US" sz="4000" dirty="0" smtClean="0"/>
              <a:t>6</a:t>
            </a:r>
            <a:r>
              <a:rPr lang="tr-TR" sz="4000" dirty="0"/>
              <a:t/>
            </a:r>
            <a:br>
              <a:rPr lang="tr-TR" sz="4000" dirty="0"/>
            </a:br>
            <a:r>
              <a:rPr lang="tr-TR" sz="4000" dirty="0"/>
              <a:t>Özet, Bölüm </a:t>
            </a:r>
            <a:r>
              <a:rPr lang="tr-TR" sz="4000" dirty="0" smtClean="0"/>
              <a:t>6</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20037807"/>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themeOverride>
</file>

<file path=ppt/theme/themeOverride2.xml><?xml version="1.0" encoding="utf-8"?>
<a:themeOverride xmlns:a="http://schemas.openxmlformats.org/drawingml/2006/main">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themeOverride>
</file>

<file path=docProps/app.xml><?xml version="1.0" encoding="utf-8"?>
<Properties xmlns="http://schemas.openxmlformats.org/officeDocument/2006/extended-properties" xmlns:vt="http://schemas.openxmlformats.org/officeDocument/2006/docPropsVTypes">
  <Template/>
  <TotalTime>11066</TotalTime>
  <Words>2885</Words>
  <Application>Microsoft Office PowerPoint</Application>
  <PresentationFormat>Ekran Gösterisi (4:3)</PresentationFormat>
  <Paragraphs>227</Paragraphs>
  <Slides>30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30</vt:i4>
      </vt:variant>
    </vt:vector>
  </HeadingPairs>
  <TitlesOfParts>
    <vt:vector size="34" baseType="lpstr">
      <vt:lpstr>Arial</vt:lpstr>
      <vt:lpstr>Calibri</vt:lpstr>
      <vt:lpstr>Calibri Light</vt:lpstr>
      <vt:lpstr>Office Theme</vt:lpstr>
      <vt:lpstr>Ethics in Information Technology Bilişim Teknolojilerinde Etik</vt:lpstr>
      <vt:lpstr>Learning Objectives, Part 1 Öğrenme Hedefleri, Bölüm 1</vt:lpstr>
      <vt:lpstr>Learning Objectives, Part 2 Öğrenme Hedefleri, Bölüm 2</vt:lpstr>
      <vt:lpstr>What is Ethics? - Etik Nedir?</vt:lpstr>
      <vt:lpstr>The Relationship Between Ethics and Morals - Etik ve Ahlak İlişkisi</vt:lpstr>
      <vt:lpstr>Integrity - Bütünlük</vt:lpstr>
      <vt:lpstr>Difference Between Morals, Ethics, and Laws Ahlak, Etik ve Yasalar Arasındaki Fark</vt:lpstr>
      <vt:lpstr>Legal versus Ethical-Yasal ve Etik</vt:lpstr>
      <vt:lpstr>Ethics in the Business World  İş Dünyasında Etik</vt:lpstr>
      <vt:lpstr>Bathsheba Syndrome Bathsheba Sendromu</vt:lpstr>
      <vt:lpstr>Who Is Responsible for Instances of Misconduct? Suistimal olaylarından kim sorumludur?</vt:lpstr>
      <vt:lpstr>Corporate Social Responsibility (CSR) Kurumsal Sosyal Sorumluluk (KSS) </vt:lpstr>
      <vt:lpstr>Reasons to Foster Corporate Social Responsibility and Good Business Ethics Kurumsal Sosyal Sorumluluğu ve  İyi İş Ahlakını Teşvik Etmek İçin Nedenler</vt:lpstr>
      <vt:lpstr>Reducing the Risk of Unethical Behavior Etik Olmayan Davranış Riskini Azaltmak</vt:lpstr>
      <vt:lpstr>Characteristics of a Successful Ethics Program Başarılı Bir Etik Programının Özellikleri</vt:lpstr>
      <vt:lpstr>Corporate Ethics Officer Kurumsal Etik Sorumlusu</vt:lpstr>
      <vt:lpstr>Ethical Standards Set by Board of Directors Yönetim Kurulu Tarafından Belirlenen Etik Standartlar</vt:lpstr>
      <vt:lpstr>Corporate Code of Ethics Kurumsal Etik Kurallar</vt:lpstr>
      <vt:lpstr>Social Audit - Sosyal Denetim</vt:lpstr>
      <vt:lpstr>Ethics Training for Employees Çalışanlar için Etik Eğitimi</vt:lpstr>
      <vt:lpstr>Ethical Criteria in Employee Appraisals Çalışan Değerlendirmelerinde Etik Kriterler</vt:lpstr>
      <vt:lpstr>Manager’s Checklist for Establishing an Ethical Work Environment- Etik Bir Çalışma Ortamı Oluşturmak için Yöneticinin Kontrol Listesi</vt:lpstr>
      <vt:lpstr>Five-Step Ethical Decision-Making Process Beş Adımlı Etik Karar Verme Süreci</vt:lpstr>
      <vt:lpstr>Concerns About the Ethical Use of Information Technology - Bilgi Teknolojilerinin Etik Kullanımı ile İlgili Endişeler</vt:lpstr>
      <vt:lpstr>Summary, Part 1 Özet, Bölüm 1</vt:lpstr>
      <vt:lpstr>Summary, Part 2 Özet, Bölüm 2</vt:lpstr>
      <vt:lpstr>Summary, Part 3 Özet, Bölüm 3</vt:lpstr>
      <vt:lpstr>Summary, Part 4 Özet, Bölüm 4</vt:lpstr>
      <vt:lpstr>Summary, Part 5 Özet, Bölüm 5</vt:lpstr>
      <vt:lpstr>Summary, Part 6 Özet, Bölüm 6</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ADEM KARAHOCA</cp:lastModifiedBy>
  <cp:revision>370</cp:revision>
  <cp:lastPrinted>2010-11-12T17:54:40Z</cp:lastPrinted>
  <dcterms:created xsi:type="dcterms:W3CDTF">2007-02-15T20:50:52Z</dcterms:created>
  <dcterms:modified xsi:type="dcterms:W3CDTF">2023-09-22T08:52:46Z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