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1"/>
  </p:sldMasterIdLst>
  <p:notesMasterIdLst>
    <p:notesMasterId r:id="rId29"/>
  </p:notesMasterIdLst>
  <p:handoutMasterIdLst>
    <p:handoutMasterId r:id="rId30"/>
  </p:handoutMasterIdLst>
  <p:sldIdLst>
    <p:sldId id="264" r:id="rId2"/>
    <p:sldId id="261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7" r:id="rId14"/>
    <p:sldId id="278" r:id="rId15"/>
    <p:sldId id="276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90" r:id="rId27"/>
    <p:sldId id="291" r:id="rId28"/>
  </p:sldIdLst>
  <p:sldSz cx="9144000" cy="6858000" type="screen4x3"/>
  <p:notesSz cx="9372600" cy="7086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0A5"/>
    <a:srgbClr val="FFFFFF"/>
    <a:srgbClr val="96CDEE"/>
    <a:srgbClr val="0F3F5D"/>
    <a:srgbClr val="01773A"/>
    <a:srgbClr val="156B13"/>
    <a:srgbClr val="008000"/>
    <a:srgbClr val="F20000"/>
    <a:srgbClr val="66CC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86" autoAdjust="0"/>
    <p:restoredTop sz="99857" autoAdjust="0"/>
  </p:normalViewPr>
  <p:slideViewPr>
    <p:cSldViewPr>
      <p:cViewPr varScale="1">
        <p:scale>
          <a:sx n="68" d="100"/>
          <a:sy n="68" d="100"/>
        </p:scale>
        <p:origin x="16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8/16/2017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8/16/2017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531813"/>
            <a:ext cx="35433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6363869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6415635"/>
            <a:ext cx="1151034" cy="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8720" y="6363035"/>
            <a:ext cx="1400289" cy="4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177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488" y="6305978"/>
            <a:ext cx="1403024" cy="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6" y="6611007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47000" cy="620170"/>
          </a:xfrm>
        </p:spPr>
        <p:txBody>
          <a:bodyPr anchor="ctr"/>
          <a:lstStyle/>
          <a:p>
            <a:r>
              <a:rPr lang="en-US" sz="4700" b="1" dirty="0"/>
              <a:t>Ethics in Information Technology</a:t>
            </a:r>
            <a:endParaRPr lang="en-US" sz="4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24200"/>
            <a:ext cx="7747000" cy="2881558"/>
          </a:xfrm>
        </p:spPr>
        <p:txBody>
          <a:bodyPr/>
          <a:lstStyle/>
          <a:p>
            <a:r>
              <a:rPr lang="en-US" sz="3400" dirty="0"/>
              <a:t>Chapter 8</a:t>
            </a:r>
          </a:p>
          <a:p>
            <a:r>
              <a:rPr lang="en-US" sz="3800" b="1" dirty="0"/>
              <a:t>The Impact of Information Technology on Society</a:t>
            </a:r>
          </a:p>
          <a:p>
            <a:endParaRPr lang="en-US" sz="1050" b="1" dirty="0"/>
          </a:p>
          <a:p>
            <a:endParaRPr lang="en-US" sz="1050" b="1" dirty="0"/>
          </a:p>
          <a:p>
            <a:r>
              <a:rPr lang="en-US" sz="2400" b="1" dirty="0">
                <a:solidFill>
                  <a:schemeClr val="accent2"/>
                </a:solidFill>
              </a:rPr>
              <a:t>George W. Reynolds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066801" y="6477000"/>
            <a:ext cx="6248400" cy="244535"/>
          </a:xfrm>
        </p:spPr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46048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131" y="460303"/>
            <a:ext cx="5528860" cy="523220"/>
          </a:xfrm>
        </p:spPr>
        <p:txBody>
          <a:bodyPr/>
          <a:lstStyle/>
          <a:p>
            <a:r>
              <a:rPr lang="en-US" sz="4000" dirty="0"/>
              <a:t>Learning Objectives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2425131" y="1143000"/>
            <a:ext cx="6337869" cy="3754874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What is the relationship between IT investment and productivity growth in the United States?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How will artificial intelligence, machine learning, robotics, and natural language processing affect the future workforce?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What impact has the application of IT had on health care?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8289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4124206"/>
          </a:xfrm>
        </p:spPr>
        <p:txBody>
          <a:bodyPr/>
          <a:lstStyle/>
          <a:p>
            <a:r>
              <a:rPr lang="en-US" sz="2800" dirty="0"/>
              <a:t>Gross domestic product (GDP) per capita: The most widely used measurement of the material standard </a:t>
            </a:r>
            <a:br>
              <a:rPr lang="en-US" sz="2800" dirty="0"/>
            </a:br>
            <a:r>
              <a:rPr lang="en-US" sz="2800" dirty="0"/>
              <a:t>of living of a country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National GDP represents the total annual output of a nation’s economy</a:t>
            </a:r>
          </a:p>
          <a:p>
            <a:r>
              <a:rPr lang="en-US" sz="2800" dirty="0"/>
              <a:t>Standard of living in U.S. and developed countries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Has improved for a long time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Rate of change varies as a result of business cycles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12800" y="133941"/>
            <a:ext cx="8026400" cy="840871"/>
          </a:xfrm>
        </p:spPr>
        <p:txBody>
          <a:bodyPr/>
          <a:lstStyle/>
          <a:p>
            <a:r>
              <a:rPr lang="en-US" sz="3200" dirty="0"/>
              <a:t>Impact of IT on the Standard of Living </a:t>
            </a:r>
            <a:br>
              <a:rPr lang="en-US" sz="3200" dirty="0"/>
            </a:br>
            <a:r>
              <a:rPr lang="en-US" sz="3200" dirty="0"/>
              <a:t>and Worker Productivity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827971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5312223"/>
          </a:xfrm>
        </p:spPr>
        <p:txBody>
          <a:bodyPr/>
          <a:lstStyle/>
          <a:p>
            <a:r>
              <a:rPr lang="en-US" altLang="en-US" sz="2800" b="1" dirty="0"/>
              <a:t>Labor productivity: </a:t>
            </a:r>
            <a:r>
              <a:rPr lang="en-US" altLang="en-US" sz="2800" dirty="0"/>
              <a:t>A measure of economic </a:t>
            </a:r>
            <a:br>
              <a:rPr lang="en-US" altLang="en-US" sz="2800" dirty="0"/>
            </a:br>
            <a:r>
              <a:rPr lang="en-US" altLang="en-US" sz="2800" dirty="0"/>
              <a:t>performance that compares the amount of goods and services produced (output) with the number of labor hours used in producing those goods and services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Equals the real output per labor hour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Growth = Output increases faster than labor hours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Growth due in part to modern management techniques and automated technology </a:t>
            </a:r>
          </a:p>
          <a:p>
            <a:r>
              <a:rPr lang="en-US" altLang="en-US" sz="2800" dirty="0"/>
              <a:t>Innovation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Key factor in productivity improvement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IT has played a important role in enabling innovation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IT Investment and Productivity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067452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8-1: This table lists the fundamental drivers for productivity performance. &#10;(1) Reduce the amount of input required to produce a given output by: Consolidating operations to better leverage economies of scale and improving performance by becoming more efficient.&#10;&#10;(2) Increase the value of the output produced by a given amount of input by: Selling higher-value goods and services and selling more goods and services to increase capacity and use of existing resources.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0350695"/>
              </p:ext>
            </p:extLst>
          </p:nvPr>
        </p:nvGraphicFramePr>
        <p:xfrm>
          <a:off x="365125" y="1538288"/>
          <a:ext cx="8415338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7669">
                  <a:extLst>
                    <a:ext uri="{9D8B030D-6E8A-4147-A177-3AD203B41FA5}">
                      <a16:colId xmlns:a16="http://schemas.microsoft.com/office/drawing/2014/main" val="2184191110"/>
                    </a:ext>
                  </a:extLst>
                </a:gridCol>
                <a:gridCol w="4207669">
                  <a:extLst>
                    <a:ext uri="{9D8B030D-6E8A-4147-A177-3AD203B41FA5}">
                      <a16:colId xmlns:a16="http://schemas.microsoft.com/office/drawing/2014/main" val="1035243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Reduce the amount of input required to produce a given output by: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Increase the value of the output produced by a given amount of input by: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978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Consolidating operations to better leverage economies of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Selling higher-value goods and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458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/>
                        <a:t>Improving performance by becoming more 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Selling more goods and services to increase capacity and use of existing resources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980858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26400" cy="840871"/>
          </a:xfrm>
        </p:spPr>
        <p:txBody>
          <a:bodyPr/>
          <a:lstStyle/>
          <a:p>
            <a:r>
              <a:rPr lang="en-US" sz="3200" dirty="0"/>
              <a:t>Fundamental Drivers for </a:t>
            </a:r>
            <a:br>
              <a:rPr lang="en-US" sz="3200" dirty="0"/>
            </a:br>
            <a:r>
              <a:rPr lang="en-US" sz="3200" dirty="0"/>
              <a:t>Productivity Performance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68040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066800"/>
            <a:ext cx="8415338" cy="5760038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sz="2700" dirty="0"/>
              <a:t>Labor productivity rates are affected by business cycles of expansion and contraction.</a:t>
            </a:r>
          </a:p>
          <a:p>
            <a:pPr>
              <a:spcBef>
                <a:spcPts val="900"/>
              </a:spcBef>
            </a:pPr>
            <a:r>
              <a:rPr lang="en-US" sz="2700" dirty="0"/>
              <a:t>Outsourcing to contractors skews productivity.</a:t>
            </a:r>
          </a:p>
          <a:p>
            <a:pPr>
              <a:spcBef>
                <a:spcPts val="900"/>
              </a:spcBef>
            </a:pPr>
            <a:r>
              <a:rPr lang="en-CA" altLang="en-US" sz="2700" dirty="0"/>
              <a:t>Regulations that simplify hiring and firing workers make it easier for markets to relocate workers to more productive firms and sectors.</a:t>
            </a:r>
          </a:p>
          <a:p>
            <a:pPr>
              <a:spcBef>
                <a:spcPts val="900"/>
              </a:spcBef>
            </a:pPr>
            <a:r>
              <a:rPr lang="en-US" sz="2700" dirty="0"/>
              <a:t>Competitive markets for goods and services provide incentives for innovation.</a:t>
            </a:r>
          </a:p>
          <a:p>
            <a:pPr>
              <a:spcBef>
                <a:spcPts val="900"/>
              </a:spcBef>
            </a:pPr>
            <a:r>
              <a:rPr lang="en-US" sz="2700" dirty="0"/>
              <a:t>It is more difficult to measure output in service-based economies.</a:t>
            </a:r>
          </a:p>
          <a:p>
            <a:pPr>
              <a:spcBef>
                <a:spcPts val="900"/>
              </a:spcBef>
            </a:pPr>
            <a:r>
              <a:rPr lang="en-US" sz="2700" dirty="0"/>
              <a:t>IT investments don’t always yield tangible results but may produce intangible benefits.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23448"/>
            <a:ext cx="8026400" cy="461858"/>
          </a:xfrm>
        </p:spPr>
        <p:txBody>
          <a:bodyPr/>
          <a:lstStyle/>
          <a:p>
            <a:r>
              <a:rPr lang="en-US" sz="3500" dirty="0"/>
              <a:t>Factors Affecting National Productivity Rates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2100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837974"/>
          </a:xfrm>
        </p:spPr>
        <p:txBody>
          <a:bodyPr/>
          <a:lstStyle/>
          <a:p>
            <a:r>
              <a:rPr lang="en-US" sz="2800" b="1" dirty="0"/>
              <a:t>Artificial intelligence: </a:t>
            </a:r>
            <a:r>
              <a:rPr lang="en-US" sz="2800" dirty="0"/>
              <a:t>An interdisciplinary field in which experts ponder philosophical issues such as the nature of the human mind and the ethics of creating objects gifted with human-like intelligence.</a:t>
            </a:r>
          </a:p>
          <a:p>
            <a:r>
              <a:rPr lang="en-US" sz="2800" b="1" dirty="0"/>
              <a:t>Artificial intelligence systems: </a:t>
            </a:r>
            <a:r>
              <a:rPr lang="en-US" sz="2800" dirty="0"/>
              <a:t>The people, procedures, hardware, software, data, and knowledge needed to develop computer systems and machines that can simulate human intelligence processes, including learning, reasoning, and self-correction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Artificial Intelligence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659634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447800"/>
            <a:ext cx="8415338" cy="4512004"/>
          </a:xfrm>
        </p:spPr>
        <p:txBody>
          <a:bodyPr/>
          <a:lstStyle/>
          <a:p>
            <a:r>
              <a:rPr lang="en-US" sz="2700" b="1" dirty="0"/>
              <a:t>Machine learning: </a:t>
            </a:r>
            <a:r>
              <a:rPr lang="en-US" sz="2700" dirty="0"/>
              <a:t>A type of artificial intelligence (AI) involving computer programs that can learn and improve their performance with experience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Consists of three major components: a model, </a:t>
            </a:r>
            <a:br>
              <a:rPr lang="en-US" sz="2600" dirty="0"/>
            </a:br>
            <a:r>
              <a:rPr lang="en-US" sz="2600" dirty="0"/>
              <a:t>parameters, and the learner</a:t>
            </a:r>
          </a:p>
          <a:p>
            <a:pPr lvl="2"/>
            <a:r>
              <a:rPr lang="en-US" sz="2500" dirty="0"/>
              <a:t>Input is fed into the model, which makes a prediction. </a:t>
            </a:r>
          </a:p>
          <a:p>
            <a:pPr lvl="2"/>
            <a:r>
              <a:rPr lang="en-US" sz="2500" dirty="0"/>
              <a:t>The learner component compares the prediction with </a:t>
            </a:r>
            <a:br>
              <a:rPr lang="en-US" sz="2500" dirty="0"/>
            </a:br>
            <a:r>
              <a:rPr lang="en-US" sz="2500" dirty="0"/>
              <a:t>reality and uses the difference between the two to modify the parameters. </a:t>
            </a:r>
          </a:p>
          <a:p>
            <a:pPr lvl="2"/>
            <a:r>
              <a:rPr lang="en-US" sz="2500" dirty="0"/>
              <a:t>The learning process is repeated until the system is able </a:t>
            </a:r>
            <a:br>
              <a:rPr lang="en-US" sz="2500" dirty="0"/>
            </a:br>
            <a:r>
              <a:rPr lang="en-US" sz="2500" dirty="0"/>
              <a:t>to make sufficiently accurate predictions.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Machine Learning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953094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447800"/>
            <a:ext cx="8415338" cy="3754105"/>
          </a:xfrm>
        </p:spPr>
        <p:txBody>
          <a:bodyPr/>
          <a:lstStyle/>
          <a:p>
            <a:r>
              <a:rPr lang="en-US" sz="2700" b="1" dirty="0"/>
              <a:t>Robotics: </a:t>
            </a:r>
            <a:r>
              <a:rPr lang="en-US" sz="2700" dirty="0"/>
              <a:t>A branch of engineering involving the development and manufacture of mechanical or computer devises that perform tasks that require a high degree of precision or are tedious/hazardous for humans</a:t>
            </a:r>
          </a:p>
          <a:p>
            <a:pPr lvl="1">
              <a:buClr>
                <a:schemeClr val="accent2"/>
              </a:buClr>
            </a:pPr>
            <a:r>
              <a:rPr lang="en-US" sz="2500" dirty="0"/>
              <a:t>Painting cars  or making precision welds</a:t>
            </a:r>
          </a:p>
          <a:p>
            <a:r>
              <a:rPr lang="en-US" sz="2700" b="1" dirty="0"/>
              <a:t>Natural language processing: </a:t>
            </a:r>
            <a:r>
              <a:rPr lang="en-US" sz="2700" dirty="0"/>
              <a:t>An aspect of artificial intelligence that involves technology that allows </a:t>
            </a:r>
            <a:br>
              <a:rPr lang="en-US" sz="2700" dirty="0"/>
            </a:br>
            <a:r>
              <a:rPr lang="en-US" sz="2700" dirty="0"/>
              <a:t>computers to understand, analyze, manipulate, </a:t>
            </a:r>
            <a:br>
              <a:rPr lang="en-US" sz="2700" dirty="0"/>
            </a:br>
            <a:r>
              <a:rPr lang="en-US" sz="2700" dirty="0"/>
              <a:t>and/or generate “natural” languages, such as English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55138"/>
            <a:ext cx="8026400" cy="998478"/>
          </a:xfrm>
        </p:spPr>
        <p:txBody>
          <a:bodyPr/>
          <a:lstStyle/>
          <a:p>
            <a:r>
              <a:rPr lang="en-US" sz="3700" dirty="0"/>
              <a:t>Robotics and </a:t>
            </a:r>
            <a:br>
              <a:rPr lang="en-US" sz="3700" dirty="0"/>
            </a:br>
            <a:r>
              <a:rPr lang="en-US" sz="3700" dirty="0"/>
              <a:t>Natural Language Processing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4108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448812"/>
            <a:ext cx="8415338" cy="3504036"/>
          </a:xfrm>
        </p:spPr>
        <p:txBody>
          <a:bodyPr/>
          <a:lstStyle/>
          <a:p>
            <a:r>
              <a:rPr lang="en-US" sz="2800" dirty="0"/>
              <a:t>In 2015, U.S. healthcare spending hit an estimated </a:t>
            </a:r>
            <a:br>
              <a:rPr lang="en-US" sz="2800" dirty="0"/>
            </a:br>
            <a:r>
              <a:rPr lang="en-US" sz="2800" dirty="0"/>
              <a:t>$3.2 trillion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Accounts for 17.8% of GDP</a:t>
            </a:r>
          </a:p>
          <a:p>
            <a:pPr>
              <a:spcBef>
                <a:spcPts val="900"/>
              </a:spcBef>
            </a:pPr>
            <a:r>
              <a:rPr lang="en-US" sz="2800" dirty="0"/>
              <a:t>Healthcare spending is expected to grow at an average rate of 5.6% per year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Growth rate is 1.2 percentage points faster than projected GDP growth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By 2025, healthcare spending will account for 19.9% of GDP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Healthcare Spending in the U.S., Part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441435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5049075"/>
          </a:xfrm>
        </p:spPr>
        <p:txBody>
          <a:bodyPr/>
          <a:lstStyle/>
          <a:p>
            <a:r>
              <a:rPr lang="en-US" sz="2800" dirty="0"/>
              <a:t>Healthcare spending growth is largely due to </a:t>
            </a:r>
            <a:br>
              <a:rPr lang="en-US" sz="2800" dirty="0"/>
            </a:br>
            <a:r>
              <a:rPr lang="en-US" sz="2800" dirty="0"/>
              <a:t>three causes: 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The continued aging of the population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Government policy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Lifestyle changes</a:t>
            </a:r>
          </a:p>
          <a:p>
            <a:r>
              <a:rPr lang="en-US" sz="2800" dirty="0"/>
              <a:t>Development and use of new medical technology has also contributed to the increase in healthcare spending per person</a:t>
            </a:r>
          </a:p>
          <a:p>
            <a:r>
              <a:rPr lang="en-US" sz="2800" dirty="0"/>
              <a:t>To gain control over soaring healthcare costs: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Raise patient awareness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Manage technology costs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Healthcare Spending in the U.S.,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72793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4755661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sz="2600" b="1" dirty="0"/>
              <a:t>Electronic medical record (EMR): </a:t>
            </a:r>
            <a:r>
              <a:rPr lang="en-US" sz="2600" dirty="0"/>
              <a:t>A collection of health-related information on an individual that is created and consulted by staff within a single healthcare organization</a:t>
            </a:r>
          </a:p>
          <a:p>
            <a:pPr>
              <a:spcBef>
                <a:spcPts val="800"/>
              </a:spcBef>
            </a:pPr>
            <a:r>
              <a:rPr lang="en-US" sz="2600" b="1" dirty="0"/>
              <a:t>Electronic health record (EHR): </a:t>
            </a:r>
            <a:r>
              <a:rPr lang="en-US" sz="2600" dirty="0"/>
              <a:t>A comprehensive view of a patient’s complete medical history designed to be shared with providers from more than one organization</a:t>
            </a:r>
          </a:p>
          <a:p>
            <a:pPr lvl="1">
              <a:buClr>
                <a:schemeClr val="accent2"/>
              </a:buClr>
            </a:pPr>
            <a:r>
              <a:rPr lang="en-US" sz="2400" b="1" dirty="0"/>
              <a:t>Personal health record (PHR): </a:t>
            </a:r>
            <a:r>
              <a:rPr lang="en-US" sz="2400" dirty="0"/>
              <a:t>Those portions of the EHR routinely shared with the patient, such as contact information, health provider information, medication history, and test results</a:t>
            </a:r>
          </a:p>
          <a:p>
            <a:pPr>
              <a:spcBef>
                <a:spcPts val="800"/>
              </a:spcBef>
            </a:pPr>
            <a:r>
              <a:rPr lang="en-US" sz="2600" b="1" dirty="0"/>
              <a:t>Health information exchange (HIE): </a:t>
            </a:r>
            <a:r>
              <a:rPr lang="en-US" sz="2600" dirty="0"/>
              <a:t>The process of sharing patient-level electronic health information between different organizations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2766"/>
            <a:ext cx="8026400" cy="523220"/>
          </a:xfrm>
        </p:spPr>
        <p:txBody>
          <a:bodyPr/>
          <a:lstStyle/>
          <a:p>
            <a:r>
              <a:rPr lang="en-US" sz="4000" dirty="0"/>
              <a:t>Computerized Patient Records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826462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776418"/>
          </a:xfrm>
        </p:spPr>
        <p:txBody>
          <a:bodyPr/>
          <a:lstStyle/>
          <a:p>
            <a:r>
              <a:rPr lang="en-US" sz="2800" dirty="0"/>
              <a:t>Health Information Technology for Economic and Clinical Health Act (HITECH Act)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Pass in 2009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Established a program to incentivize physicians and hospitals to implement EHR systems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Increased Medicaid and Medicare reimbursements to doctors and hospitals that demonstrate “meaningful use” of EHR technology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HITECH Act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897270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 descr="Table 8-2: This table presents a list of the benefits of EHRs, EMRs, PHRs, and HIE.&#10;Benefits for Providers:&#10;•Quick access to patient records, more coordinated, efficient care&#10;•Enhanced decision support, clinical alerts, reminders, and medical information&#10;•Performance-improving tools and real-time reporting&#10;•Legible, complete documentation for accurate coding and billing&#10;•Interfaces with labs, registries, and other EHRs&#10;•Safer, more reliable prescribing&#10;&#10;&#10;Benefits for patients&#10;•Reduced need to fill out the same forms&#10;•Reliable point-of-care information&#10;•Convenience of e-prescriptions&#10;•Patient portals with online interaction with providers&#10;•Electronic referrals; easier access to follow-up care&#10;&#10;Benefits for Insurance Companies:&#10;•More efficient and accurate allocation of costs for services&#10;•Lower healthcare costs due to reduced care redundancies and readmissions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203104"/>
              </p:ext>
            </p:extLst>
          </p:nvPr>
        </p:nvGraphicFramePr>
        <p:xfrm>
          <a:off x="76200" y="1143000"/>
          <a:ext cx="8991598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9066">
                  <a:extLst>
                    <a:ext uri="{9D8B030D-6E8A-4147-A177-3AD203B41FA5}">
                      <a16:colId xmlns:a16="http://schemas.microsoft.com/office/drawing/2014/main" val="889207990"/>
                    </a:ext>
                  </a:extLst>
                </a:gridCol>
                <a:gridCol w="2846934">
                  <a:extLst>
                    <a:ext uri="{9D8B030D-6E8A-4147-A177-3AD203B41FA5}">
                      <a16:colId xmlns:a16="http://schemas.microsoft.com/office/drawing/2014/main" val="1218999525"/>
                    </a:ext>
                  </a:extLst>
                </a:gridCol>
                <a:gridCol w="2895598">
                  <a:extLst>
                    <a:ext uri="{9D8B030D-6E8A-4147-A177-3AD203B41FA5}">
                      <a16:colId xmlns:a16="http://schemas.microsoft.com/office/drawing/2014/main" val="1389546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Benefits for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Benefits for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Benefits for Insurance</a:t>
                      </a:r>
                      <a:r>
                        <a:rPr lang="en-US" sz="1800" baseline="0" dirty="0"/>
                        <a:t> Companies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054127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en-US" sz="1900" dirty="0"/>
                        <a:t>Quick access to patient records; more coordinated, efficient 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Reduced need to fill out the same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More efficient and accurate allocation of costs for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80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Enhanced decision support, clinical alerts, reminders, and medical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Reliable point-of-care information 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Lower healthcare costs </a:t>
                      </a:r>
                      <a:br>
                        <a:rPr lang="en-US" sz="1900" dirty="0"/>
                      </a:br>
                      <a:r>
                        <a:rPr lang="en-US" sz="1900" dirty="0"/>
                        <a:t>due to reduced care redundancies and readmissions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470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Performance-improving tools and real-time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Convenience of e-prescriptions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607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Legible, complete documentation for accurate coding and billing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Patient portals with online interaction with 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79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Interfaces with labs, registries, and other EHRs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Electronic referrals; easier access to follow-up 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805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Safer, more</a:t>
                      </a:r>
                      <a:r>
                        <a:rPr lang="en-US" sz="1900" baseline="0" dirty="0"/>
                        <a:t> </a:t>
                      </a:r>
                      <a:r>
                        <a:rPr lang="en-US" sz="1900" dirty="0"/>
                        <a:t>reliable prescribing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331539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8"/>
            <a:ext cx="8026400" cy="527837"/>
          </a:xfrm>
        </p:spPr>
        <p:txBody>
          <a:bodyPr/>
          <a:lstStyle/>
          <a:p>
            <a:r>
              <a:rPr lang="en-US" sz="4000" dirty="0"/>
              <a:t>Benefits of EHRs, EMRs, PHRs, and HIE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639636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4701287"/>
          </a:xfrm>
        </p:spPr>
        <p:txBody>
          <a:bodyPr/>
          <a:lstStyle/>
          <a:p>
            <a:r>
              <a:rPr lang="en-US" sz="2700" b="1" dirty="0"/>
              <a:t>Clinical decision support (CDS): </a:t>
            </a:r>
            <a:r>
              <a:rPr lang="en-US" sz="2700" dirty="0"/>
              <a:t>A process and set of tools designed to enhance healthcare-related decision making through the use of clinical knowledge and patient-specific information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Increases the quality of patient care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Cuts costs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Helps prevent errors and adverse events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Boosts provider and patient satisfaction</a:t>
            </a:r>
          </a:p>
          <a:p>
            <a:pPr marL="171450" lvl="1">
              <a:spcBef>
                <a:spcPts val="1200"/>
              </a:spcBef>
              <a:buClr>
                <a:schemeClr val="accent2"/>
              </a:buClr>
            </a:pPr>
            <a:r>
              <a:rPr lang="en-US" sz="2700" b="1" dirty="0"/>
              <a:t>Computerized provider order entry (CPOE) system: </a:t>
            </a:r>
            <a:r>
              <a:rPr lang="en-US" sz="2700" dirty="0"/>
              <a:t>Enables physicians to place and transmit orders (for drugs, laboratory tests, radiology, physical therapy) electronically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Clinical Decision Support &amp; CPOE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72871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415338" cy="5944704"/>
          </a:xfrm>
        </p:spPr>
        <p:txBody>
          <a:bodyPr/>
          <a:lstStyle/>
          <a:p>
            <a:r>
              <a:rPr lang="en-US" sz="2800" b="1" dirty="0"/>
              <a:t>Telehealth: </a:t>
            </a:r>
            <a:r>
              <a:rPr lang="en-US" sz="2800" dirty="0"/>
              <a:t>Employs electronic information processing and telecommunications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dirty="0"/>
              <a:t>Supports at-a-distance health care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dirty="0"/>
              <a:t>Provides professional and patient health-related training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dirty="0"/>
              <a:t>Supports healthcare administration</a:t>
            </a:r>
          </a:p>
          <a:p>
            <a:pPr>
              <a:spcBef>
                <a:spcPts val="900"/>
              </a:spcBef>
            </a:pPr>
            <a:r>
              <a:rPr lang="en-US" sz="2800" b="1" dirty="0"/>
              <a:t>Telemedicine: </a:t>
            </a:r>
            <a:r>
              <a:rPr lang="en-US" sz="2800" dirty="0"/>
              <a:t>Involves providing medical care to people at a location different from the healthcare providers</a:t>
            </a:r>
          </a:p>
          <a:p>
            <a:pPr>
              <a:spcBef>
                <a:spcPts val="900"/>
              </a:spcBef>
            </a:pPr>
            <a:r>
              <a:rPr lang="en-US" sz="2800" b="1" dirty="0"/>
              <a:t>Store-and-forward telemedicine: </a:t>
            </a:r>
            <a:r>
              <a:rPr lang="en-US" sz="2800" dirty="0"/>
              <a:t>Involves acquiring data, images, and video from a patient and transmitting everything to a medical specialist for later evaluation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Does not require the presence of the patient and care provider at the same time.</a:t>
            </a:r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Telehealth, Part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592227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447800"/>
            <a:ext cx="8415338" cy="3837974"/>
          </a:xfrm>
        </p:spPr>
        <p:txBody>
          <a:bodyPr/>
          <a:lstStyle/>
          <a:p>
            <a:r>
              <a:rPr lang="en-US" sz="2800" b="1" dirty="0"/>
              <a:t>Live telemedicine: </a:t>
            </a:r>
            <a:r>
              <a:rPr lang="en-US" sz="2800" dirty="0"/>
              <a:t>Requires the presence of patients and healthcare providers at different sites at the same time; often involves a video conference link between two sites</a:t>
            </a:r>
          </a:p>
          <a:p>
            <a:r>
              <a:rPr lang="en-US" sz="2800" b="1" dirty="0"/>
              <a:t>Remote monitoring (home monitoring): </a:t>
            </a:r>
            <a:r>
              <a:rPr lang="en-US" sz="2800" dirty="0"/>
              <a:t>Involves ongoing measurement of an individual’s vital signs (temperature, blood pressure, heart rate, and breathing rate) and other health measures (e.g., glucose levels for a diabetic) and the transmission of this data to a healthcare provider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Telehealth,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80713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4964436"/>
          </a:xfrm>
        </p:spPr>
        <p:txBody>
          <a:bodyPr/>
          <a:lstStyle/>
          <a:p>
            <a:r>
              <a:rPr lang="en-US" sz="2800" dirty="0"/>
              <a:t>Must physicians providing advice to patients at a remote location be licensed to perform medicine in that location—perhaps a different state or country?</a:t>
            </a:r>
          </a:p>
          <a:p>
            <a:r>
              <a:rPr lang="en-US" sz="2800" dirty="0"/>
              <a:t>Must a healthcare system be required to possess a license from a state in which it has a “virtual” facility?</a:t>
            </a:r>
          </a:p>
          <a:p>
            <a:r>
              <a:rPr lang="en-US" sz="2800" dirty="0"/>
              <a:t>Will states require assurance that minimum technological standards (such as the minimum resolution of network-transmitted images) are being met?</a:t>
            </a:r>
          </a:p>
          <a:p>
            <a:r>
              <a:rPr lang="en-US" sz="2800" dirty="0"/>
              <a:t>What sort of system certification is necessary to ensure that a critical system performs as expected in crises situations, and what are the ramifications if it does not?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09639"/>
            <a:ext cx="8026400" cy="889474"/>
          </a:xfrm>
        </p:spPr>
        <p:txBody>
          <a:bodyPr/>
          <a:lstStyle/>
          <a:p>
            <a:r>
              <a:rPr lang="en-US" sz="3400" dirty="0"/>
              <a:t>Legal and Ethical Questions </a:t>
            </a:r>
            <a:b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3400" dirty="0"/>
              <a:t>Associated with Telemedicine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928942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4940327"/>
          </a:xfrm>
        </p:spPr>
        <p:txBody>
          <a:bodyPr/>
          <a:lstStyle/>
          <a:p>
            <a:r>
              <a:rPr lang="en-US" sz="2800" b="1" dirty="0"/>
              <a:t>What is the relationship between IT investment and productivity growth in the United States?</a:t>
            </a:r>
          </a:p>
          <a:p>
            <a:pPr lvl="1">
              <a:spcBef>
                <a:spcPts val="700"/>
              </a:spcBef>
              <a:buClr>
                <a:schemeClr val="accent2"/>
              </a:buClr>
            </a:pPr>
            <a:r>
              <a:rPr lang="en-US" sz="2600" dirty="0"/>
              <a:t>Gross domestic product (GDP) per capita: The most </a:t>
            </a:r>
            <a:br>
              <a:rPr lang="en-US" sz="2600" dirty="0"/>
            </a:br>
            <a:r>
              <a:rPr lang="en-US" sz="2600" dirty="0"/>
              <a:t>widely used measure of the material standard of living </a:t>
            </a:r>
            <a:br>
              <a:rPr lang="en-US" sz="2600" dirty="0"/>
            </a:br>
            <a:r>
              <a:rPr lang="en-US" sz="2600" dirty="0"/>
              <a:t>in a country</a:t>
            </a:r>
          </a:p>
          <a:p>
            <a:pPr lvl="1">
              <a:spcBef>
                <a:spcPts val="900"/>
              </a:spcBef>
              <a:buClr>
                <a:schemeClr val="accent2"/>
              </a:buClr>
            </a:pPr>
            <a:r>
              <a:rPr lang="en-US" sz="2600" dirty="0"/>
              <a:t>The standard of living in the U.S. and most developed countries has been improving, although its rate of change varies due to business cycles</a:t>
            </a:r>
          </a:p>
          <a:p>
            <a:pPr lvl="1">
              <a:spcBef>
                <a:spcPts val="900"/>
              </a:spcBef>
              <a:buClr>
                <a:schemeClr val="accent2"/>
              </a:buClr>
            </a:pPr>
            <a:r>
              <a:rPr lang="en-US" sz="2600" dirty="0"/>
              <a:t>Labor productivity: A measure of economic performance that compares the amount of goods and services with the number of labor hours used to produce those goods and services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3117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371600"/>
            <a:ext cx="8415338" cy="3816429"/>
          </a:xfrm>
        </p:spPr>
        <p:txBody>
          <a:bodyPr/>
          <a:lstStyle/>
          <a:p>
            <a:r>
              <a:rPr lang="en-US" sz="2800" b="1" dirty="0"/>
              <a:t>What is the relationship between IT investment and productivity growth in the United States?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Innovation is key to productivity improvement, and IT plays a critical role in innovation.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It is difficult to quantify the benefits of IT investments on worker productivity due to a lag between the application </a:t>
            </a:r>
            <a:br>
              <a:rPr lang="en-US" sz="2600" dirty="0"/>
            </a:br>
            <a:r>
              <a:rPr lang="en-US" sz="2600" dirty="0"/>
              <a:t>of an IT solution and the capture of significant productivity gains.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590424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143000"/>
            <a:ext cx="8475663" cy="5059334"/>
          </a:xfrm>
        </p:spPr>
        <p:txBody>
          <a:bodyPr/>
          <a:lstStyle/>
          <a:p>
            <a:r>
              <a:rPr lang="en-US" sz="2800" b="1" dirty="0"/>
              <a:t>How will artificial intelligence, machine learning, robotics, and natural language processing affect the future workforce?</a:t>
            </a:r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r>
              <a:rPr lang="en-US" sz="2600" dirty="0"/>
              <a:t>Advances in artificial intelligence (AI), machine learning, robotics, and natural language processing are fundamentally changing the way work gets done.</a:t>
            </a:r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r>
              <a:rPr lang="en-US" sz="2600" dirty="0"/>
              <a:t>Research suggests that 45% of human work activities </a:t>
            </a:r>
            <a:br>
              <a:rPr lang="en-US" sz="2600" dirty="0"/>
            </a:br>
            <a:r>
              <a:rPr lang="en-US" sz="2600" dirty="0"/>
              <a:t>could be automated using existing technology.</a:t>
            </a:r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r>
              <a:rPr lang="en-US" sz="2600" dirty="0"/>
              <a:t>AI systems: Simulate human intelligence processes, including learning, reasoning, and self-correction</a:t>
            </a:r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r>
              <a:rPr lang="en-US" sz="2600" dirty="0"/>
              <a:t>Machine learning: Involves computer programs that can learn a task and improve their performance with experience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743984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475663" cy="4649478"/>
          </a:xfrm>
        </p:spPr>
        <p:txBody>
          <a:bodyPr/>
          <a:lstStyle/>
          <a:p>
            <a:r>
              <a:rPr lang="en-US" sz="2800" b="1" dirty="0"/>
              <a:t>How will artificial intelligence, machine learning, robotics, and natural language processing affect the future workforce?</a:t>
            </a:r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r>
              <a:rPr lang="en-US" sz="2600" dirty="0"/>
              <a:t>Robotics: A branch of engineering involving the manufacture of mechanical or computer devices that </a:t>
            </a:r>
            <a:br>
              <a:rPr lang="en-US" sz="2600" dirty="0"/>
            </a:br>
            <a:r>
              <a:rPr lang="en-US" sz="2600" dirty="0"/>
              <a:t>can perform tasks that require a high degree of precision </a:t>
            </a:r>
            <a:br>
              <a:rPr lang="en-US" sz="2600" dirty="0"/>
            </a:br>
            <a:r>
              <a:rPr lang="en-US" sz="2600" dirty="0"/>
              <a:t>or are tedious or hazardous for humans</a:t>
            </a:r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r>
              <a:rPr lang="en-US" sz="2600" dirty="0"/>
              <a:t>Natural language processing: An aspect of AI involving technology that allows computers to understand, analyze, manipulate, and/or generate “natural languages” such as English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60719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447800"/>
            <a:ext cx="8415338" cy="4522777"/>
          </a:xfrm>
        </p:spPr>
        <p:txBody>
          <a:bodyPr/>
          <a:lstStyle/>
          <a:p>
            <a:r>
              <a:rPr lang="en-US" sz="2800" b="1" dirty="0"/>
              <a:t>What impact has the application of IT had on health care?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Healthcare costs in the U.S. are expected to increase an average of 5.6% per year from 2016 to 2025.</a:t>
            </a:r>
          </a:p>
          <a:p>
            <a:pPr lvl="2"/>
            <a:r>
              <a:rPr lang="en-US" sz="2400" dirty="0"/>
              <a:t>Due to: Continued aging of the population, government policy, lifestyle changes, and to a lesser extent, the development and use of new medical technology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Reining in healthcare spending requires raising patient awareness and managing technology costs more carefully.</a:t>
            </a:r>
          </a:p>
          <a:p>
            <a:pPr lvl="1">
              <a:buClr>
                <a:schemeClr val="accent2"/>
              </a:buClr>
            </a:pPr>
            <a:endParaRPr lang="en-US" sz="2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36338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1217" y="1219200"/>
            <a:ext cx="8415338" cy="4979312"/>
          </a:xfrm>
        </p:spPr>
        <p:txBody>
          <a:bodyPr/>
          <a:lstStyle/>
          <a:p>
            <a:r>
              <a:rPr lang="en-US" sz="2700" b="1" dirty="0"/>
              <a:t>What impact has the application of IT had on health care?</a:t>
            </a:r>
          </a:p>
          <a:p>
            <a:pPr lvl="1">
              <a:spcBef>
                <a:spcPts val="1100"/>
              </a:spcBef>
              <a:buClr>
                <a:schemeClr val="accent2"/>
              </a:buClr>
            </a:pPr>
            <a:r>
              <a:rPr lang="en-US" sz="2500" dirty="0"/>
              <a:t>Electronic medical record (EMR): A collection of health-related information on an individual; created and consulted within a single healthcare organization</a:t>
            </a:r>
          </a:p>
          <a:p>
            <a:pPr lvl="1">
              <a:spcBef>
                <a:spcPts val="1100"/>
              </a:spcBef>
              <a:buClr>
                <a:schemeClr val="accent2"/>
              </a:buClr>
            </a:pPr>
            <a:r>
              <a:rPr lang="en-US" sz="2500" dirty="0"/>
              <a:t>Electronic health record (EHR): A comprehensive view of a patient’s complete medical history designed to be shared </a:t>
            </a:r>
            <a:br>
              <a:rPr lang="en-US" sz="2500" dirty="0"/>
            </a:br>
            <a:r>
              <a:rPr lang="en-US" sz="2500" dirty="0"/>
              <a:t>with more than one organization</a:t>
            </a:r>
          </a:p>
          <a:p>
            <a:pPr lvl="1">
              <a:spcBef>
                <a:spcPts val="1100"/>
              </a:spcBef>
              <a:buClr>
                <a:schemeClr val="accent2"/>
              </a:buClr>
            </a:pPr>
            <a:r>
              <a:rPr lang="en-US" sz="2500" dirty="0"/>
              <a:t>Health information exchange (HIE): The sharing of patient-level electronic health information between organizations</a:t>
            </a:r>
          </a:p>
          <a:p>
            <a:pPr lvl="1">
              <a:spcBef>
                <a:spcPts val="1100"/>
              </a:spcBef>
              <a:buClr>
                <a:schemeClr val="accent2"/>
              </a:buClr>
            </a:pPr>
            <a:r>
              <a:rPr lang="en-US" sz="2500" dirty="0"/>
              <a:t>Personal health record (PHR): The portions of an EHR that a patient “owns,” such as contact information, health provider information, medication history, and test results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29287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1217" y="1219200"/>
            <a:ext cx="8415338" cy="3780266"/>
          </a:xfrm>
        </p:spPr>
        <p:txBody>
          <a:bodyPr/>
          <a:lstStyle/>
          <a:p>
            <a:r>
              <a:rPr lang="en-US" sz="2700" b="1" dirty="0"/>
              <a:t>What impact has the application of IT had on health care?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Clinical decision support (CSS): A process and a set of tools designed to enhance health-related decision making through the use of clinical knowledge and patient-specific information</a:t>
            </a:r>
          </a:p>
          <a:p>
            <a:pPr lvl="2">
              <a:spcBef>
                <a:spcPts val="1200"/>
              </a:spcBef>
            </a:pPr>
            <a:r>
              <a:rPr lang="en-US" sz="2300" dirty="0"/>
              <a:t>Increases quality of patient care and cuts costs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Computerized provider order entry (CPOE): A system that enables physicians to place orders (for drugs, laboratory tests, etc.) electronically with the orders transmitted directly to the recipient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743060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1217" y="1219200"/>
            <a:ext cx="8415338" cy="3991862"/>
          </a:xfrm>
        </p:spPr>
        <p:txBody>
          <a:bodyPr/>
          <a:lstStyle/>
          <a:p>
            <a:r>
              <a:rPr lang="en-US" sz="2700" b="1" dirty="0"/>
              <a:t>What impact has the application of IT had on health care?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Telehealth: Employs technology to provide medical care to people who live far away from providers, provide professional and patient health training, and support healthcare administration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Telemedicine: A component of telehealth; provides medical care to people at a location different from the providers; reduces need for patients to travel for treatment; and </a:t>
            </a:r>
            <a:br>
              <a:rPr lang="en-US" sz="2500" dirty="0"/>
            </a:br>
            <a:r>
              <a:rPr lang="en-US" sz="2500" dirty="0"/>
              <a:t>allows healthcare professionals to serve more patients in </a:t>
            </a:r>
            <a:br>
              <a:rPr lang="en-US" sz="2500" dirty="0"/>
            </a:br>
            <a:r>
              <a:rPr lang="en-US" sz="2500" dirty="0"/>
              <a:t>a broader area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972220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1217" y="1219200"/>
            <a:ext cx="8415338" cy="4470455"/>
          </a:xfrm>
        </p:spPr>
        <p:txBody>
          <a:bodyPr/>
          <a:lstStyle/>
          <a:p>
            <a:r>
              <a:rPr lang="en-US" sz="2700" b="1" dirty="0"/>
              <a:t>What impact has the application of IT had on health care?</a:t>
            </a:r>
          </a:p>
          <a:p>
            <a:pPr lvl="1">
              <a:buClr>
                <a:schemeClr val="accent2"/>
              </a:buClr>
            </a:pPr>
            <a:r>
              <a:rPr lang="en-US" sz="2500" dirty="0"/>
              <a:t>Store-and-forward telemedicine: Involves acquiring data, images, and video from a patient and transmitting everything to a medical specialist for later evaluation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Live telemedicine: Requires the presence of patients </a:t>
            </a:r>
            <a:br>
              <a:rPr lang="en-US" sz="2600" dirty="0"/>
            </a:br>
            <a:r>
              <a:rPr lang="en-US" sz="2600" dirty="0"/>
              <a:t>and healthcare providers at different sites at the same time; often involves video conferencing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Remote monitoring (home monitoring): Involves the ongoing measurement of an individual’s vital signs and other health measures and the transmission of this data to a healthcare provider</a:t>
            </a:r>
            <a:endParaRPr lang="en-US" sz="25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840133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6561</TotalTime>
  <Words>2897</Words>
  <Application>Microsoft Office PowerPoint</Application>
  <PresentationFormat>On-screen Show (4:3)</PresentationFormat>
  <Paragraphs>187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Ethics in Information Technology</vt:lpstr>
      <vt:lpstr>Learning Objectives</vt:lpstr>
      <vt:lpstr>Impact of IT on the Standard of Living  and Worker Productivity</vt:lpstr>
      <vt:lpstr>IT Investment and Productivity</vt:lpstr>
      <vt:lpstr>Fundamental Drivers for  Productivity Performance</vt:lpstr>
      <vt:lpstr>Factors Affecting National Productivity Rates</vt:lpstr>
      <vt:lpstr>Artificial Intelligence</vt:lpstr>
      <vt:lpstr>Machine Learning</vt:lpstr>
      <vt:lpstr>Robotics and  Natural Language Processing</vt:lpstr>
      <vt:lpstr>Healthcare Spending in the U.S., Part 1</vt:lpstr>
      <vt:lpstr>Healthcare Spending in the U.S., Part 2</vt:lpstr>
      <vt:lpstr>Computerized Patient Records</vt:lpstr>
      <vt:lpstr>HITECH Act</vt:lpstr>
      <vt:lpstr>Benefits of EHRs, EMRs, PHRs, and HIE</vt:lpstr>
      <vt:lpstr>Clinical Decision Support &amp; CPOE</vt:lpstr>
      <vt:lpstr>Telehealth, Part 1</vt:lpstr>
      <vt:lpstr>Telehealth, Part 2</vt:lpstr>
      <vt:lpstr>Legal and Ethical Questions  Associated with Telemedicine</vt:lpstr>
      <vt:lpstr>Summary, Part 1</vt:lpstr>
      <vt:lpstr>Summary, Part 2</vt:lpstr>
      <vt:lpstr>Summary, Part 3</vt:lpstr>
      <vt:lpstr>Summary, Part 4</vt:lpstr>
      <vt:lpstr>Summary, Part 5</vt:lpstr>
      <vt:lpstr>Summary, Part 6</vt:lpstr>
      <vt:lpstr>Summary, Part 7</vt:lpstr>
      <vt:lpstr>Summary, Part 8</vt:lpstr>
      <vt:lpstr>Summary, Part 9</vt:lpstr>
    </vt:vector>
  </TitlesOfParts>
  <Company>Course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Author</dc:creator>
  <cp:lastModifiedBy>Mary Pat Shaffer</cp:lastModifiedBy>
  <cp:revision>291</cp:revision>
  <cp:lastPrinted>2010-11-12T17:54:40Z</cp:lastPrinted>
  <dcterms:created xsi:type="dcterms:W3CDTF">2007-02-15T20:50:52Z</dcterms:created>
  <dcterms:modified xsi:type="dcterms:W3CDTF">2017-08-17T02:16:26Z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1933890983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Alyssa.Pratt@cengage.com</vt:lpwstr>
  </property>
  <property fmtid="{D5CDD505-2E9C-101B-9397-08002B2CF9AE}" pid="6" name="_AuthorEmailDisplayName">
    <vt:lpwstr>Pratt, Alyssa</vt:lpwstr>
  </property>
  <property fmtid="{D5CDD505-2E9C-101B-9397-08002B2CF9AE}" pid="7" name="_PreviousAdHocReviewCycleID">
    <vt:i4>-685122576</vt:i4>
  </property>
</Properties>
</file>