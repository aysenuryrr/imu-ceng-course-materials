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29"/>
  </p:notesMasterIdLst>
  <p:handoutMasterIdLst>
    <p:handoutMasterId r:id="rId30"/>
  </p:handoutMasterIdLst>
  <p:sldIdLst>
    <p:sldId id="264" r:id="rId2"/>
    <p:sldId id="261" r:id="rId3"/>
    <p:sldId id="266" r:id="rId4"/>
    <p:sldId id="267" r:id="rId5"/>
    <p:sldId id="268" r:id="rId6"/>
    <p:sldId id="269" r:id="rId7"/>
    <p:sldId id="271" r:id="rId8"/>
    <p:sldId id="270" r:id="rId9"/>
    <p:sldId id="272" r:id="rId10"/>
    <p:sldId id="273" r:id="rId11"/>
    <p:sldId id="274" r:id="rId12"/>
    <p:sldId id="275" r:id="rId13"/>
    <p:sldId id="278" r:id="rId14"/>
    <p:sldId id="277" r:id="rId15"/>
    <p:sldId id="280" r:id="rId16"/>
    <p:sldId id="279" r:id="rId17"/>
    <p:sldId id="281" r:id="rId18"/>
    <p:sldId id="282" r:id="rId19"/>
    <p:sldId id="286" r:id="rId20"/>
    <p:sldId id="287" r:id="rId21"/>
    <p:sldId id="288" r:id="rId22"/>
    <p:sldId id="289" r:id="rId23"/>
    <p:sldId id="290" r:id="rId24"/>
    <p:sldId id="291" r:id="rId25"/>
    <p:sldId id="292" r:id="rId26"/>
    <p:sldId id="293" r:id="rId27"/>
    <p:sldId id="294" r:id="rId28"/>
  </p:sldIdLst>
  <p:sldSz cx="9144000" cy="6858000" type="screen4x3"/>
  <p:notesSz cx="9372600" cy="70866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86" autoAdjust="0"/>
    <p:restoredTop sz="99857" autoAdjust="0"/>
  </p:normalViewPr>
  <p:slideViewPr>
    <p:cSldViewPr>
      <p:cViewPr varScale="1">
        <p:scale>
          <a:sx n="85" d="100"/>
          <a:sy n="85" d="100"/>
        </p:scale>
        <p:origin x="60"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endParaRPr lang="en-US" dirty="0"/>
          </a:p>
        </p:txBody>
      </p:sp>
      <p:sp>
        <p:nvSpPr>
          <p:cNvPr id="3" name="Date Placeholder 2"/>
          <p:cNvSpPr>
            <a:spLocks noGrp="1"/>
          </p:cNvSpPr>
          <p:nvPr>
            <p:ph type="dt" sz="quarter" idx="1"/>
          </p:nvPr>
        </p:nvSpPr>
        <p:spPr>
          <a:xfrm>
            <a:off x="5308971" y="0"/>
            <a:ext cx="4061460" cy="354330"/>
          </a:xfrm>
          <a:prstGeom prst="rect">
            <a:avLst/>
          </a:prstGeom>
        </p:spPr>
        <p:txBody>
          <a:bodyPr vert="horz" lIns="94046" tIns="47023" rIns="94046" bIns="47023" rtlCol="0"/>
          <a:lstStyle>
            <a:lvl1pPr algn="r">
              <a:defRPr sz="1200"/>
            </a:lvl1pPr>
          </a:lstStyle>
          <a:p>
            <a:fld id="{4EE4060F-EC6E-45B5-96F1-A60F0585115B}" type="datetimeFigureOut">
              <a:rPr lang="en-US" smtClean="0"/>
              <a:pPr/>
              <a:t>10/27/2023</a:t>
            </a:fld>
            <a:endParaRPr lang="en-US" dirty="0"/>
          </a:p>
        </p:txBody>
      </p:sp>
      <p:sp>
        <p:nvSpPr>
          <p:cNvPr id="4" name="Footer Placeholder 3"/>
          <p:cNvSpPr>
            <a:spLocks noGrp="1"/>
          </p:cNvSpPr>
          <p:nvPr>
            <p:ph type="ftr" sz="quarter" idx="2"/>
          </p:nvPr>
        </p:nvSpPr>
        <p:spPr>
          <a:xfrm>
            <a:off x="0" y="6731040"/>
            <a:ext cx="4061460" cy="354330"/>
          </a:xfrm>
          <a:prstGeom prst="rect">
            <a:avLst/>
          </a:prstGeom>
        </p:spPr>
        <p:txBody>
          <a:bodyPr vert="horz" lIns="94046" tIns="47023" rIns="94046" bIns="47023" rtlCol="0" anchor="b"/>
          <a:lstStyle>
            <a:lvl1pPr algn="l">
              <a:defRPr sz="1200"/>
            </a:lvl1pPr>
          </a:lstStyle>
          <a:p>
            <a:endParaRPr lang="en-US" dirty="0"/>
          </a:p>
        </p:txBody>
      </p:sp>
      <p:sp>
        <p:nvSpPr>
          <p:cNvPr id="5" name="Slide Number Placeholder 4"/>
          <p:cNvSpPr>
            <a:spLocks noGrp="1"/>
          </p:cNvSpPr>
          <p:nvPr>
            <p:ph type="sldNum" sz="quarter" idx="3"/>
          </p:nvPr>
        </p:nvSpPr>
        <p:spPr>
          <a:xfrm>
            <a:off x="5308971" y="6731040"/>
            <a:ext cx="4061460" cy="354330"/>
          </a:xfrm>
          <a:prstGeom prst="rect">
            <a:avLst/>
          </a:prstGeom>
        </p:spPr>
        <p:txBody>
          <a:bodyPr vert="horz" lIns="94046" tIns="47023" rIns="94046" bIns="47023" rtlCol="0" anchor="b"/>
          <a:lstStyle>
            <a:lvl1pPr algn="r">
              <a:defRPr sz="1200"/>
            </a:lvl1pPr>
          </a:lstStyle>
          <a:p>
            <a:fld id="{A987596C-5E44-4393-BE44-DB7D499825F1}" type="slidenum">
              <a:rPr lang="en-US" smtClean="0"/>
              <a:pPr/>
              <a:t>‹#›</a:t>
            </a:fld>
            <a:endParaRPr lang="en-US" dirty="0"/>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61460" cy="354330"/>
          </a:xfrm>
          <a:prstGeom prst="rect">
            <a:avLst/>
          </a:prstGeom>
        </p:spPr>
        <p:txBody>
          <a:bodyPr vert="horz" lIns="94046" tIns="47023" rIns="94046" bIns="47023" rtlCol="0"/>
          <a:lstStyle>
            <a:lvl1pPr algn="l">
              <a:defRPr sz="1200"/>
            </a:lvl1pPr>
          </a:lstStyle>
          <a:p>
            <a:pPr>
              <a:defRPr/>
            </a:pPr>
            <a:endParaRPr lang="en-US" dirty="0"/>
          </a:p>
        </p:txBody>
      </p:sp>
      <p:sp>
        <p:nvSpPr>
          <p:cNvPr id="3" name="Date Placeholder 2"/>
          <p:cNvSpPr>
            <a:spLocks noGrp="1"/>
          </p:cNvSpPr>
          <p:nvPr>
            <p:ph type="dt" idx="1"/>
          </p:nvPr>
        </p:nvSpPr>
        <p:spPr>
          <a:xfrm>
            <a:off x="5308971" y="0"/>
            <a:ext cx="4061460" cy="354330"/>
          </a:xfrm>
          <a:prstGeom prst="rect">
            <a:avLst/>
          </a:prstGeom>
        </p:spPr>
        <p:txBody>
          <a:bodyPr vert="horz" lIns="94046" tIns="47023" rIns="94046" bIns="47023" rtlCol="0"/>
          <a:lstStyle>
            <a:lvl1pPr algn="r">
              <a:defRPr sz="1200"/>
            </a:lvl1pPr>
          </a:lstStyle>
          <a:p>
            <a:pPr>
              <a:defRPr/>
            </a:pPr>
            <a:fld id="{46950642-C6F2-4E46-90C1-0B12B643B3D7}" type="datetimeFigureOut">
              <a:rPr lang="en-US"/>
              <a:pPr>
                <a:defRPr/>
              </a:pPr>
              <a:t>10/27/2023</a:t>
            </a:fld>
            <a:endParaRPr lang="en-US" dirty="0"/>
          </a:p>
        </p:txBody>
      </p:sp>
      <p:sp>
        <p:nvSpPr>
          <p:cNvPr id="4" name="Slide Image Placeholder 3"/>
          <p:cNvSpPr>
            <a:spLocks noGrp="1" noRot="1" noChangeAspect="1"/>
          </p:cNvSpPr>
          <p:nvPr>
            <p:ph type="sldImg" idx="2"/>
          </p:nvPr>
        </p:nvSpPr>
        <p:spPr>
          <a:xfrm>
            <a:off x="2914650" y="531813"/>
            <a:ext cx="3543300" cy="2657475"/>
          </a:xfrm>
          <a:prstGeom prst="rect">
            <a:avLst/>
          </a:prstGeom>
          <a:noFill/>
          <a:ln w="12700">
            <a:solidFill>
              <a:prstClr val="black"/>
            </a:solidFill>
          </a:ln>
        </p:spPr>
        <p:txBody>
          <a:bodyPr vert="horz" lIns="94046" tIns="47023" rIns="94046" bIns="47023" rtlCol="0" anchor="ctr"/>
          <a:lstStyle/>
          <a:p>
            <a:pPr lvl="0"/>
            <a:endParaRPr lang="en-US" noProof="0" dirty="0"/>
          </a:p>
        </p:txBody>
      </p:sp>
      <p:sp>
        <p:nvSpPr>
          <p:cNvPr id="5" name="Notes Placeholder 4"/>
          <p:cNvSpPr>
            <a:spLocks noGrp="1"/>
          </p:cNvSpPr>
          <p:nvPr>
            <p:ph type="body" sz="quarter" idx="3"/>
          </p:nvPr>
        </p:nvSpPr>
        <p:spPr>
          <a:xfrm>
            <a:off x="937260" y="3366135"/>
            <a:ext cx="7498080" cy="3188970"/>
          </a:xfrm>
          <a:prstGeom prst="rect">
            <a:avLst/>
          </a:prstGeom>
        </p:spPr>
        <p:txBody>
          <a:bodyPr vert="horz" lIns="94046" tIns="47023" rIns="94046" bIns="47023"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6731040"/>
            <a:ext cx="4061460" cy="354330"/>
          </a:xfrm>
          <a:prstGeom prst="rect">
            <a:avLst/>
          </a:prstGeom>
        </p:spPr>
        <p:txBody>
          <a:bodyPr vert="horz" lIns="94046" tIns="47023" rIns="94046" bIns="47023"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5308971" y="6731040"/>
            <a:ext cx="4061460" cy="354330"/>
          </a:xfrm>
          <a:prstGeom prst="rect">
            <a:avLst/>
          </a:prstGeom>
        </p:spPr>
        <p:txBody>
          <a:bodyPr vert="horz" lIns="94046" tIns="47023" rIns="94046" bIns="47023"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47000" cy="620170"/>
          </a:xfrm>
        </p:spPr>
        <p:txBody>
          <a:bodyPr anchor="ctr"/>
          <a:lstStyle/>
          <a:p>
            <a:r>
              <a:rPr lang="en-US" sz="4700" b="1"/>
              <a:t>Bilgi Teknolojilerinde Etik</a:t>
            </a:r>
            <a:endParaRPr lang="en-US" sz="4700" dirty="0"/>
          </a:p>
        </p:txBody>
      </p:sp>
      <p:sp>
        <p:nvSpPr>
          <p:cNvPr id="3" name="Subtitle 2"/>
          <p:cNvSpPr>
            <a:spLocks noGrp="1"/>
          </p:cNvSpPr>
          <p:nvPr>
            <p:ph type="subTitle" idx="1"/>
          </p:nvPr>
        </p:nvSpPr>
        <p:spPr>
          <a:xfrm>
            <a:off x="609600" y="3124200"/>
            <a:ext cx="7747000" cy="1960152"/>
          </a:xfrm>
        </p:spPr>
        <p:txBody>
          <a:bodyPr/>
          <a:lstStyle/>
          <a:p>
            <a:r>
              <a:rPr lang="en-US" sz="3400" dirty="0" err="1"/>
              <a:t>Bölüm</a:t>
            </a:r>
            <a:r>
              <a:rPr lang="en-US" sz="3400" dirty="0"/>
              <a:t> 5
</a:t>
            </a:r>
            <a:r>
              <a:rPr lang="en-US" sz="3400" dirty="0" err="1"/>
              <a:t>İfade</a:t>
            </a:r>
            <a:r>
              <a:rPr lang="en-US" sz="3400" dirty="0"/>
              <a:t> </a:t>
            </a:r>
            <a:r>
              <a:rPr lang="en-US" sz="3400" dirty="0" err="1"/>
              <a:t>Özgürlüğü</a:t>
            </a:r>
            <a:endParaRPr lang="en-US" sz="1050" b="1" dirty="0"/>
          </a:p>
          <a:p>
            <a:endParaRPr lang="en-US" sz="1050" b="1" dirty="0"/>
          </a:p>
          <a:p>
            <a:r>
              <a:rPr lang="en-US" sz="2400" b="1" dirty="0">
                <a:solidFill>
                  <a:schemeClr val="accent2"/>
                </a:solidFill>
              </a:rPr>
              <a:t>George W. Reynolds</a:t>
            </a:r>
          </a:p>
        </p:txBody>
      </p:sp>
      <p:sp>
        <p:nvSpPr>
          <p:cNvPr id="4" name="Footer Placeholder 3"/>
          <p:cNvSpPr>
            <a:spLocks noGrp="1"/>
          </p:cNvSpPr>
          <p:nvPr>
            <p:ph type="ftr" sz="quarter" idx="10"/>
          </p:nvPr>
        </p:nvSpPr>
        <p:spPr>
          <a:xfrm>
            <a:off x="1066801" y="6477000"/>
            <a:ext cx="6248400" cy="244535"/>
          </a:xfrm>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4604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5131" y="460303"/>
            <a:ext cx="5528860" cy="523220"/>
          </a:xfrm>
        </p:spPr>
        <p:txBody>
          <a:bodyPr/>
          <a:lstStyle/>
          <a:p>
            <a:r>
              <a:rPr lang="en-US" sz="4000" dirty="0" err="1"/>
              <a:t>Öğrenme</a:t>
            </a:r>
            <a:r>
              <a:rPr lang="en-US" sz="4000" dirty="0"/>
              <a:t> </a:t>
            </a:r>
            <a:r>
              <a:rPr lang="en-US" sz="4000" dirty="0" err="1"/>
              <a:t>hedefleri</a:t>
            </a:r>
            <a:endParaRPr lang="en-US" sz="4000" dirty="0"/>
          </a:p>
        </p:txBody>
      </p:sp>
      <p:sp>
        <p:nvSpPr>
          <p:cNvPr id="4" name="Content Placeholder 3"/>
          <p:cNvSpPr>
            <a:spLocks noGrp="1"/>
          </p:cNvSpPr>
          <p:nvPr>
            <p:ph type="body" idx="1"/>
          </p:nvPr>
        </p:nvSpPr>
        <p:spPr>
          <a:xfrm>
            <a:off x="2425131" y="1143000"/>
            <a:ext cx="6337869" cy="4616648"/>
          </a:xfrm>
        </p:spPr>
        <p:txBody>
          <a:bodyPr/>
          <a:lstStyle/>
          <a:p>
            <a:pPr marL="457200" indent="-457200">
              <a:lnSpc>
                <a:spcPct val="100000"/>
              </a:lnSpc>
              <a:buFont typeface="Arial" panose="020B0604020202020204" pitchFamily="34" charset="0"/>
              <a:buChar char="•"/>
            </a:pPr>
            <a:r>
              <a:rPr lang="en-US" sz="2800" dirty="0">
                <a:solidFill>
                  <a:schemeClr val="tx1"/>
                </a:solidFill>
              </a:rPr>
              <a:t>Amerika </a:t>
            </a:r>
            <a:r>
              <a:rPr lang="en-US" sz="2800" dirty="0" err="1">
                <a:solidFill>
                  <a:schemeClr val="tx1"/>
                </a:solidFill>
              </a:rPr>
              <a:t>Birleşik</a:t>
            </a:r>
            <a:r>
              <a:rPr lang="en-US" sz="2800" dirty="0">
                <a:solidFill>
                  <a:schemeClr val="tx1"/>
                </a:solidFill>
              </a:rPr>
              <a:t> </a:t>
            </a:r>
            <a:r>
              <a:rPr lang="en-US" sz="2800" dirty="0" err="1">
                <a:solidFill>
                  <a:schemeClr val="tx1"/>
                </a:solidFill>
              </a:rPr>
              <a:t>Devletleri'nde</a:t>
            </a:r>
            <a:r>
              <a:rPr lang="en-US" sz="2800" dirty="0">
                <a:solidFill>
                  <a:schemeClr val="tx1"/>
                </a:solidFill>
              </a:rPr>
              <a:t> </a:t>
            </a:r>
            <a:r>
              <a:rPr lang="en-US" sz="2800" dirty="0" err="1">
                <a:solidFill>
                  <a:schemeClr val="tx1"/>
                </a:solidFill>
              </a:rPr>
              <a:t>ifade</a:t>
            </a:r>
            <a:r>
              <a:rPr lang="en-US" sz="2800" dirty="0">
                <a:solidFill>
                  <a:schemeClr val="tx1"/>
                </a:solidFill>
              </a:rPr>
              <a:t> </a:t>
            </a:r>
            <a:r>
              <a:rPr lang="en-US" sz="2800" dirty="0" err="1">
                <a:solidFill>
                  <a:schemeClr val="tx1"/>
                </a:solidFill>
              </a:rPr>
              <a:t>özgürlüğünün</a:t>
            </a:r>
            <a:r>
              <a:rPr lang="en-US" sz="2800" dirty="0">
                <a:solidFill>
                  <a:schemeClr val="tx1"/>
                </a:solidFill>
              </a:rPr>
              <a:t> </a:t>
            </a:r>
            <a:r>
              <a:rPr lang="en-US" sz="2800" dirty="0" err="1">
                <a:solidFill>
                  <a:schemeClr val="tx1"/>
                </a:solidFill>
              </a:rPr>
              <a:t>korunmasının</a:t>
            </a:r>
            <a:r>
              <a:rPr lang="en-US" sz="2800" dirty="0">
                <a:solidFill>
                  <a:schemeClr val="tx1"/>
                </a:solidFill>
              </a:rPr>
              <a:t> </a:t>
            </a:r>
            <a:r>
              <a:rPr lang="en-US" sz="2800" dirty="0" err="1">
                <a:solidFill>
                  <a:schemeClr val="tx1"/>
                </a:solidFill>
              </a:rPr>
              <a:t>temeli</a:t>
            </a:r>
            <a:r>
              <a:rPr lang="en-US" sz="2800" dirty="0">
                <a:solidFill>
                  <a:schemeClr val="tx1"/>
                </a:solidFill>
              </a:rPr>
              <a:t> </a:t>
            </a:r>
            <a:r>
              <a:rPr lang="en-US" sz="2800" dirty="0" err="1">
                <a:solidFill>
                  <a:schemeClr val="tx1"/>
                </a:solidFill>
              </a:rPr>
              <a:t>nedir</a:t>
            </a:r>
            <a:r>
              <a:rPr lang="en-US" sz="2800" dirty="0">
                <a:solidFill>
                  <a:schemeClr val="tx1"/>
                </a:solidFill>
              </a:rPr>
              <a:t> </a:t>
            </a:r>
            <a:r>
              <a:rPr lang="en-US" sz="2800" dirty="0" err="1">
                <a:solidFill>
                  <a:schemeClr val="tx1"/>
                </a:solidFill>
              </a:rPr>
              <a:t>ve</a:t>
            </a:r>
            <a:r>
              <a:rPr lang="en-US" sz="2800" dirty="0">
                <a:solidFill>
                  <a:schemeClr val="tx1"/>
                </a:solidFill>
              </a:rPr>
              <a:t> ne </a:t>
            </a:r>
            <a:r>
              <a:rPr lang="en-US" sz="2800" dirty="0" err="1">
                <a:solidFill>
                  <a:schemeClr val="tx1"/>
                </a:solidFill>
              </a:rPr>
              <a:t>tür</a:t>
            </a:r>
            <a:r>
              <a:rPr lang="en-US" sz="2800" dirty="0">
                <a:solidFill>
                  <a:schemeClr val="tx1"/>
                </a:solidFill>
              </a:rPr>
              <a:t> </a:t>
            </a:r>
            <a:r>
              <a:rPr lang="en-US" sz="2800" dirty="0" err="1">
                <a:solidFill>
                  <a:schemeClr val="tx1"/>
                </a:solidFill>
              </a:rPr>
              <a:t>ifadeler</a:t>
            </a:r>
            <a:r>
              <a:rPr lang="en-US" sz="2800" dirty="0">
                <a:solidFill>
                  <a:schemeClr val="tx1"/>
                </a:solidFill>
              </a:rPr>
              <a:t> </a:t>
            </a:r>
            <a:r>
              <a:rPr lang="en-US" sz="2800" dirty="0" err="1">
                <a:solidFill>
                  <a:schemeClr val="tx1"/>
                </a:solidFill>
              </a:rPr>
              <a:t>yasalar</a:t>
            </a:r>
            <a:r>
              <a:rPr lang="en-US" sz="2800" dirty="0">
                <a:solidFill>
                  <a:schemeClr val="tx1"/>
                </a:solidFill>
              </a:rPr>
              <a:t> </a:t>
            </a:r>
            <a:r>
              <a:rPr lang="en-US" sz="2800" dirty="0" err="1">
                <a:solidFill>
                  <a:schemeClr val="tx1"/>
                </a:solidFill>
              </a:rPr>
              <a:t>tarafından</a:t>
            </a:r>
            <a:r>
              <a:rPr lang="en-US" sz="2800" dirty="0">
                <a:solidFill>
                  <a:schemeClr val="tx1"/>
                </a:solidFill>
              </a:rPr>
              <a:t> </a:t>
            </a:r>
            <a:r>
              <a:rPr lang="en-US" sz="2800" dirty="0" err="1">
                <a:solidFill>
                  <a:schemeClr val="tx1"/>
                </a:solidFill>
              </a:rPr>
              <a:t>korunmamaktadır</a:t>
            </a:r>
            <a:r>
              <a:rPr lang="en-US" sz="2800" dirty="0">
                <a:solidFill>
                  <a:schemeClr val="tx1"/>
                </a:solidFill>
              </a:rPr>
              <a:t>? </a:t>
            </a:r>
          </a:p>
          <a:p>
            <a:pPr marL="457200" indent="-457200">
              <a:lnSpc>
                <a:spcPct val="100000"/>
              </a:lnSpc>
              <a:buFont typeface="Arial" panose="020B0604020202020204" pitchFamily="34" charset="0"/>
              <a:buChar char="•"/>
            </a:pPr>
            <a:r>
              <a:rPr lang="en-US" sz="2800" dirty="0" err="1">
                <a:solidFill>
                  <a:schemeClr val="tx1"/>
                </a:solidFill>
              </a:rPr>
              <a:t>Çevrimiçi</a:t>
            </a:r>
            <a:r>
              <a:rPr lang="en-US" sz="2800" dirty="0">
                <a:solidFill>
                  <a:schemeClr val="tx1"/>
                </a:solidFill>
              </a:rPr>
              <a:t> </a:t>
            </a:r>
            <a:r>
              <a:rPr lang="en-US" sz="2800" dirty="0" err="1">
                <a:solidFill>
                  <a:schemeClr val="tx1"/>
                </a:solidFill>
              </a:rPr>
              <a:t>ifade</a:t>
            </a:r>
            <a:r>
              <a:rPr lang="en-US" sz="2800" dirty="0">
                <a:solidFill>
                  <a:schemeClr val="tx1"/>
                </a:solidFill>
              </a:rPr>
              <a:t> </a:t>
            </a:r>
            <a:r>
              <a:rPr lang="en-US" sz="2800" dirty="0" err="1">
                <a:solidFill>
                  <a:schemeClr val="tx1"/>
                </a:solidFill>
              </a:rPr>
              <a:t>özgürlüğünü</a:t>
            </a:r>
            <a:r>
              <a:rPr lang="en-US" sz="2800" dirty="0">
                <a:solidFill>
                  <a:schemeClr val="tx1"/>
                </a:solidFill>
              </a:rPr>
              <a:t> </a:t>
            </a:r>
            <a:r>
              <a:rPr lang="en-US" sz="2800" dirty="0" err="1">
                <a:solidFill>
                  <a:schemeClr val="tx1"/>
                </a:solidFill>
              </a:rPr>
              <a:t>etkileyen</a:t>
            </a:r>
            <a:r>
              <a:rPr lang="en-US" sz="2800" dirty="0">
                <a:solidFill>
                  <a:schemeClr val="tx1"/>
                </a:solidFill>
              </a:rPr>
              <a:t> </a:t>
            </a:r>
            <a:r>
              <a:rPr lang="en-US" sz="2800" dirty="0" err="1">
                <a:solidFill>
                  <a:schemeClr val="tx1"/>
                </a:solidFill>
              </a:rPr>
              <a:t>bazı</a:t>
            </a:r>
            <a:r>
              <a:rPr lang="en-US" sz="2800" dirty="0">
                <a:solidFill>
                  <a:schemeClr val="tx1"/>
                </a:solidFill>
              </a:rPr>
              <a:t> </a:t>
            </a:r>
            <a:r>
              <a:rPr lang="en-US" sz="2800" dirty="0" err="1">
                <a:solidFill>
                  <a:schemeClr val="tx1"/>
                </a:solidFill>
              </a:rPr>
              <a:t>önemli</a:t>
            </a:r>
            <a:r>
              <a:rPr lang="en-US" sz="2800" dirty="0">
                <a:solidFill>
                  <a:schemeClr val="tx1"/>
                </a:solidFill>
              </a:rPr>
              <a:t> federal </a:t>
            </a:r>
            <a:r>
              <a:rPr lang="en-US" sz="2800" dirty="0" err="1">
                <a:solidFill>
                  <a:schemeClr val="tx1"/>
                </a:solidFill>
              </a:rPr>
              <a:t>yasalar</a:t>
            </a:r>
            <a:r>
              <a:rPr lang="en-US" sz="2800" dirty="0">
                <a:solidFill>
                  <a:schemeClr val="tx1"/>
                </a:solidFill>
              </a:rPr>
              <a:t> </a:t>
            </a:r>
            <a:r>
              <a:rPr lang="en-US" sz="2800" dirty="0" err="1">
                <a:solidFill>
                  <a:schemeClr val="tx1"/>
                </a:solidFill>
              </a:rPr>
              <a:t>nelerdir</a:t>
            </a:r>
            <a:r>
              <a:rPr lang="en-US" sz="2800" dirty="0">
                <a:solidFill>
                  <a:schemeClr val="tx1"/>
                </a:solidFill>
              </a:rPr>
              <a:t> </a:t>
            </a:r>
            <a:r>
              <a:rPr lang="en-US" sz="2800" dirty="0" err="1">
                <a:solidFill>
                  <a:schemeClr val="tx1"/>
                </a:solidFill>
              </a:rPr>
              <a:t>ve</a:t>
            </a:r>
            <a:r>
              <a:rPr lang="en-US" sz="2800" dirty="0">
                <a:solidFill>
                  <a:schemeClr val="tx1"/>
                </a:solidFill>
              </a:rPr>
              <a:t> </a:t>
            </a:r>
            <a:r>
              <a:rPr lang="en-US" sz="2800" dirty="0" err="1">
                <a:solidFill>
                  <a:schemeClr val="tx1"/>
                </a:solidFill>
              </a:rPr>
              <a:t>kuruluşları</a:t>
            </a:r>
            <a:r>
              <a:rPr lang="en-US" sz="2800" dirty="0">
                <a:solidFill>
                  <a:schemeClr val="tx1"/>
                </a:solidFill>
              </a:rPr>
              <a:t> </a:t>
            </a:r>
            <a:r>
              <a:rPr lang="en-US" sz="2800" dirty="0" err="1">
                <a:solidFill>
                  <a:schemeClr val="tx1"/>
                </a:solidFill>
              </a:rPr>
              <a:t>nasıl</a:t>
            </a:r>
            <a:r>
              <a:rPr lang="en-US" sz="2800" dirty="0">
                <a:solidFill>
                  <a:schemeClr val="tx1"/>
                </a:solidFill>
              </a:rPr>
              <a:t> </a:t>
            </a:r>
            <a:r>
              <a:rPr lang="en-US" sz="2800" dirty="0" err="1">
                <a:solidFill>
                  <a:schemeClr val="tx1"/>
                </a:solidFill>
              </a:rPr>
              <a:t>etkiler</a:t>
            </a:r>
            <a:r>
              <a:rPr lang="en-US" sz="2800" dirty="0">
                <a:solidFill>
                  <a:schemeClr val="tx1"/>
                </a:solidFill>
              </a:rPr>
              <a:t>?
Bilgi </a:t>
            </a:r>
            <a:r>
              <a:rPr lang="en-US" sz="2800" dirty="0" err="1">
                <a:solidFill>
                  <a:schemeClr val="tx1"/>
                </a:solidFill>
              </a:rPr>
              <a:t>teknolojisinin</a:t>
            </a:r>
            <a:r>
              <a:rPr lang="en-US" sz="2800" dirty="0">
                <a:solidFill>
                  <a:schemeClr val="tx1"/>
                </a:solidFill>
              </a:rPr>
              <a:t> </a:t>
            </a:r>
            <a:r>
              <a:rPr lang="en-US" sz="2800" dirty="0" err="1">
                <a:solidFill>
                  <a:schemeClr val="tx1"/>
                </a:solidFill>
              </a:rPr>
              <a:t>kullanımıyla</a:t>
            </a:r>
            <a:r>
              <a:rPr lang="en-US" sz="2800" dirty="0">
                <a:solidFill>
                  <a:schemeClr val="tx1"/>
                </a:solidFill>
              </a:rPr>
              <a:t> </a:t>
            </a:r>
            <a:r>
              <a:rPr lang="en-US" sz="2800" dirty="0" err="1">
                <a:solidFill>
                  <a:schemeClr val="tx1"/>
                </a:solidFill>
              </a:rPr>
              <a:t>ilgili</a:t>
            </a:r>
            <a:r>
              <a:rPr lang="en-US" sz="2800" dirty="0">
                <a:solidFill>
                  <a:schemeClr val="tx1"/>
                </a:solidFill>
              </a:rPr>
              <a:t> hangi </a:t>
            </a:r>
            <a:r>
              <a:rPr lang="en-US" sz="2800" dirty="0" err="1">
                <a:solidFill>
                  <a:schemeClr val="tx1"/>
                </a:solidFill>
              </a:rPr>
              <a:t>önemli</a:t>
            </a:r>
            <a:r>
              <a:rPr lang="en-US" sz="2800" dirty="0">
                <a:solidFill>
                  <a:schemeClr val="tx1"/>
                </a:solidFill>
              </a:rPr>
              <a:t> </a:t>
            </a:r>
            <a:r>
              <a:rPr lang="en-US" sz="2800" dirty="0" err="1">
                <a:solidFill>
                  <a:schemeClr val="tx1"/>
                </a:solidFill>
              </a:rPr>
              <a:t>ifade</a:t>
            </a:r>
            <a:r>
              <a:rPr lang="en-US" sz="2800" dirty="0">
                <a:solidFill>
                  <a:schemeClr val="tx1"/>
                </a:solidFill>
              </a:rPr>
              <a:t> </a:t>
            </a:r>
            <a:r>
              <a:rPr lang="en-US" sz="2800" dirty="0" err="1">
                <a:solidFill>
                  <a:schemeClr val="tx1"/>
                </a:solidFill>
              </a:rPr>
              <a:t>özgürlüğü</a:t>
            </a:r>
            <a:r>
              <a:rPr lang="en-US" sz="2800" dirty="0">
                <a:solidFill>
                  <a:schemeClr val="tx1"/>
                </a:solidFill>
              </a:rPr>
              <a:t> </a:t>
            </a:r>
            <a:r>
              <a:rPr lang="en-US" sz="2800" dirty="0" err="1">
                <a:solidFill>
                  <a:schemeClr val="tx1"/>
                </a:solidFill>
              </a:rPr>
              <a:t>sorunları</a:t>
            </a:r>
            <a:r>
              <a:rPr lang="en-US" sz="2800" dirty="0">
                <a:solidFill>
                  <a:schemeClr val="tx1"/>
                </a:solidFill>
              </a:rPr>
              <a:t> </a:t>
            </a:r>
            <a:r>
              <a:rPr lang="en-US" sz="2800" dirty="0" err="1">
                <a:solidFill>
                  <a:schemeClr val="tx1"/>
                </a:solidFill>
              </a:rPr>
              <a:t>nelerdir</a:t>
            </a:r>
            <a:r>
              <a:rPr lang="en-US" sz="2800" dirty="0">
                <a:solidFill>
                  <a:schemeClr val="tx1"/>
                </a:solidFill>
              </a:rPr>
              <a:t>?</a:t>
            </a:r>
          </a:p>
        </p:txBody>
      </p:sp>
      <p:sp>
        <p:nvSpPr>
          <p:cNvPr id="3" name="Footer Placeholder 2"/>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82897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282437"/>
          </a:xfrm>
        </p:spPr>
        <p:txBody>
          <a:bodyPr/>
          <a:lstStyle/>
          <a:p>
            <a:r>
              <a:rPr lang="en-US" altLang="en-US" sz="2800" b="1" dirty="0" err="1"/>
              <a:t>Birinci</a:t>
            </a:r>
            <a:r>
              <a:rPr lang="en-US" altLang="en-US" sz="2800" b="1" dirty="0"/>
              <a:t> </a:t>
            </a:r>
            <a:r>
              <a:rPr lang="en-US" altLang="en-US" sz="2800" b="1" dirty="0" err="1"/>
              <a:t>Değişiklik</a:t>
            </a:r>
            <a:r>
              <a:rPr lang="en-US" altLang="en-US" sz="2800" dirty="0"/>
              <a:t>: </a:t>
            </a:r>
          </a:p>
          <a:p>
            <a:pPr lvl="1">
              <a:buClr>
                <a:schemeClr val="accent2"/>
              </a:buClr>
            </a:pPr>
            <a:r>
              <a:rPr lang="en-US" sz="2600" dirty="0"/>
              <a:t>"</a:t>
            </a:r>
            <a:r>
              <a:rPr lang="en-US" sz="2600" dirty="0" err="1"/>
              <a:t>Kongre</a:t>
            </a:r>
            <a:r>
              <a:rPr lang="en-US" sz="2600" dirty="0"/>
              <a:t>, </a:t>
            </a:r>
            <a:r>
              <a:rPr lang="en-US" sz="2600" dirty="0" err="1"/>
              <a:t>bir</a:t>
            </a:r>
            <a:r>
              <a:rPr lang="en-US" sz="2600" dirty="0"/>
              <a:t> </a:t>
            </a:r>
            <a:r>
              <a:rPr lang="en-US" sz="2600" dirty="0" err="1"/>
              <a:t>dinin</a:t>
            </a:r>
            <a:r>
              <a:rPr lang="en-US" sz="2600" dirty="0"/>
              <a:t> </a:t>
            </a:r>
            <a:r>
              <a:rPr lang="en-US" sz="2600" dirty="0" err="1"/>
              <a:t>kurulmasına</a:t>
            </a:r>
            <a:r>
              <a:rPr lang="en-US" sz="2600" dirty="0"/>
              <a:t> </a:t>
            </a:r>
            <a:r>
              <a:rPr lang="en-US" sz="2600" dirty="0" err="1"/>
              <a:t>saygı</a:t>
            </a:r>
            <a:r>
              <a:rPr lang="en-US" sz="2600" dirty="0"/>
              <a:t> </a:t>
            </a:r>
            <a:r>
              <a:rPr lang="en-US" sz="2600" dirty="0" err="1"/>
              <a:t>duyan</a:t>
            </a:r>
            <a:r>
              <a:rPr lang="en-US" sz="2600" dirty="0"/>
              <a:t> </a:t>
            </a:r>
            <a:r>
              <a:rPr lang="en-US" sz="2600" dirty="0" err="1"/>
              <a:t>veya</a:t>
            </a:r>
            <a:r>
              <a:rPr lang="en-US" sz="2600" dirty="0"/>
              <a:t> </a:t>
            </a:r>
            <a:r>
              <a:rPr lang="en-US" sz="2600" dirty="0" err="1"/>
              <a:t>onun</a:t>
            </a:r>
            <a:r>
              <a:rPr lang="en-US" sz="2600" dirty="0"/>
              <a:t> </a:t>
            </a:r>
            <a:r>
              <a:rPr lang="en-US" sz="2600" dirty="0" err="1"/>
              <a:t>uygulanmasını</a:t>
            </a:r>
            <a:r>
              <a:rPr lang="en-US" sz="2600" dirty="0"/>
              <a:t> </a:t>
            </a:r>
            <a:r>
              <a:rPr lang="en-US" sz="2600" dirty="0" err="1"/>
              <a:t>yasaklayan</a:t>
            </a:r>
            <a:r>
              <a:rPr lang="en-US" sz="2600" dirty="0"/>
              <a:t> </a:t>
            </a:r>
            <a:r>
              <a:rPr lang="en-US" sz="2600" dirty="0" err="1"/>
              <a:t>hiçbir</a:t>
            </a:r>
            <a:r>
              <a:rPr lang="en-US" sz="2600" dirty="0"/>
              <a:t> </a:t>
            </a:r>
            <a:r>
              <a:rPr lang="en-US" sz="2600" dirty="0" err="1"/>
              <a:t>yasa</a:t>
            </a:r>
            <a:r>
              <a:rPr lang="en-US" sz="2600" dirty="0"/>
              <a:t> </a:t>
            </a:r>
            <a:r>
              <a:rPr lang="en-US" sz="2600" dirty="0" err="1"/>
              <a:t>yapmayacaktır</a:t>
            </a:r>
            <a:r>
              <a:rPr lang="en-US" sz="2600" dirty="0"/>
              <a:t>; </a:t>
            </a:r>
            <a:r>
              <a:rPr lang="en-US" sz="2600" dirty="0" err="1"/>
              <a:t>veya</a:t>
            </a:r>
            <a:r>
              <a:rPr lang="en-US" sz="2600" dirty="0"/>
              <a:t> </a:t>
            </a:r>
            <a:r>
              <a:rPr lang="en-US" sz="2600" dirty="0" err="1"/>
              <a:t>ifade</a:t>
            </a:r>
            <a:r>
              <a:rPr lang="en-US" sz="2600" dirty="0"/>
              <a:t> </a:t>
            </a:r>
            <a:r>
              <a:rPr lang="en-US" sz="2600" dirty="0" err="1"/>
              <a:t>veya</a:t>
            </a:r>
            <a:r>
              <a:rPr lang="en-US" sz="2600" dirty="0"/>
              <a:t> </a:t>
            </a:r>
            <a:r>
              <a:rPr lang="en-US" sz="2600" dirty="0" err="1"/>
              <a:t>basın</a:t>
            </a:r>
            <a:r>
              <a:rPr lang="en-US" sz="2600" dirty="0"/>
              <a:t> </a:t>
            </a:r>
            <a:r>
              <a:rPr lang="en-US" sz="2600" dirty="0" err="1"/>
              <a:t>özgürlüğünü</a:t>
            </a:r>
            <a:r>
              <a:rPr lang="en-US" sz="2600" dirty="0"/>
              <a:t> </a:t>
            </a:r>
            <a:r>
              <a:rPr lang="en-US" sz="2600" dirty="0" err="1"/>
              <a:t>kısıtlamak</a:t>
            </a:r>
            <a:r>
              <a:rPr lang="en-US" sz="2600" dirty="0"/>
              <a:t>; </a:t>
            </a:r>
            <a:r>
              <a:rPr lang="en-US" sz="2600" dirty="0" err="1"/>
              <a:t>ya</a:t>
            </a:r>
            <a:r>
              <a:rPr lang="en-US" sz="2600" dirty="0"/>
              <a:t> da </a:t>
            </a:r>
            <a:r>
              <a:rPr lang="en-US" sz="2600" dirty="0" err="1"/>
              <a:t>halkın</a:t>
            </a:r>
            <a:r>
              <a:rPr lang="en-US" sz="2600" dirty="0"/>
              <a:t> </a:t>
            </a:r>
            <a:r>
              <a:rPr lang="en-US" sz="2600" dirty="0" err="1"/>
              <a:t>barışçıl</a:t>
            </a:r>
            <a:r>
              <a:rPr lang="en-US" sz="2600" dirty="0"/>
              <a:t> </a:t>
            </a:r>
            <a:r>
              <a:rPr lang="en-US" sz="2600" dirty="0" err="1"/>
              <a:t>bir</a:t>
            </a:r>
            <a:r>
              <a:rPr lang="en-US" sz="2600" dirty="0"/>
              <a:t> </a:t>
            </a:r>
            <a:r>
              <a:rPr lang="en-US" sz="2600" dirty="0" err="1"/>
              <a:t>şekilde</a:t>
            </a:r>
            <a:r>
              <a:rPr lang="en-US" sz="2600" dirty="0"/>
              <a:t> </a:t>
            </a:r>
            <a:r>
              <a:rPr lang="en-US" sz="2600" dirty="0" err="1"/>
              <a:t>toplanma</a:t>
            </a:r>
            <a:r>
              <a:rPr lang="en-US" sz="2600" dirty="0"/>
              <a:t> </a:t>
            </a:r>
            <a:r>
              <a:rPr lang="en-US" sz="2600" dirty="0" err="1"/>
              <a:t>ve</a:t>
            </a:r>
            <a:r>
              <a:rPr lang="en-US" sz="2600" dirty="0"/>
              <a:t> </a:t>
            </a:r>
            <a:r>
              <a:rPr lang="en-US" sz="2600" dirty="0" err="1"/>
              <a:t>hükümete</a:t>
            </a:r>
            <a:r>
              <a:rPr lang="en-US" sz="2600" dirty="0"/>
              <a:t> </a:t>
            </a:r>
            <a:r>
              <a:rPr lang="en-US" sz="2600" dirty="0" err="1"/>
              <a:t>şikayetlerin</a:t>
            </a:r>
            <a:r>
              <a:rPr lang="en-US" sz="2600" dirty="0"/>
              <a:t> </a:t>
            </a:r>
            <a:r>
              <a:rPr lang="en-US" sz="2600" dirty="0" err="1"/>
              <a:t>giderilmesi</a:t>
            </a:r>
            <a:r>
              <a:rPr lang="en-US" sz="2600" dirty="0"/>
              <a:t> için </a:t>
            </a:r>
            <a:r>
              <a:rPr lang="en-US" sz="2600" dirty="0" err="1"/>
              <a:t>dilekçe</a:t>
            </a:r>
            <a:r>
              <a:rPr lang="en-US" sz="2600" dirty="0"/>
              <a:t> </a:t>
            </a:r>
            <a:r>
              <a:rPr lang="en-US" sz="2600" dirty="0" err="1"/>
              <a:t>verme</a:t>
            </a:r>
            <a:r>
              <a:rPr lang="en-US" sz="2600" dirty="0"/>
              <a:t> </a:t>
            </a:r>
            <a:r>
              <a:rPr lang="en-US" sz="2600" dirty="0" err="1"/>
              <a:t>hakkı</a:t>
            </a:r>
            <a:r>
              <a:rPr lang="en-US" sz="2600" dirty="0"/>
              <a:t>.
</a:t>
            </a:r>
            <a:r>
              <a:rPr lang="en-US" sz="2600" dirty="0" err="1"/>
              <a:t>Amerikalıların</a:t>
            </a:r>
            <a:r>
              <a:rPr lang="en-US" sz="2600" dirty="0"/>
              <a:t> din </a:t>
            </a:r>
            <a:r>
              <a:rPr lang="en-US" sz="2600" dirty="0" err="1"/>
              <a:t>özgürlüğü</a:t>
            </a:r>
            <a:r>
              <a:rPr lang="en-US" sz="2600" dirty="0"/>
              <a:t>, </a:t>
            </a:r>
            <a:r>
              <a:rPr lang="en-US" sz="2600" dirty="0" err="1"/>
              <a:t>ifade</a:t>
            </a:r>
            <a:r>
              <a:rPr lang="en-US" sz="2600" dirty="0"/>
              <a:t> </a:t>
            </a:r>
            <a:r>
              <a:rPr lang="en-US" sz="2600" dirty="0" err="1"/>
              <a:t>özgürlüğü</a:t>
            </a:r>
            <a:r>
              <a:rPr lang="en-US" sz="2600" dirty="0"/>
              <a:t> </a:t>
            </a:r>
            <a:r>
              <a:rPr lang="en-US" sz="2600" dirty="0" err="1"/>
              <a:t>ve</a:t>
            </a:r>
            <a:r>
              <a:rPr lang="en-US" sz="2600" dirty="0"/>
              <a:t> </a:t>
            </a:r>
            <a:r>
              <a:rPr lang="en-US" sz="2600" dirty="0" err="1"/>
              <a:t>barışçıl</a:t>
            </a:r>
            <a:r>
              <a:rPr lang="en-US" sz="2600" dirty="0"/>
              <a:t> </a:t>
            </a:r>
            <a:r>
              <a:rPr lang="en-US" sz="2600" dirty="0" err="1"/>
              <a:t>bir</a:t>
            </a:r>
            <a:r>
              <a:rPr lang="en-US" sz="2600" dirty="0"/>
              <a:t> </a:t>
            </a:r>
            <a:r>
              <a:rPr lang="en-US" sz="2600" dirty="0" err="1"/>
              <a:t>şekilde</a:t>
            </a:r>
            <a:r>
              <a:rPr lang="en-US" sz="2600" dirty="0"/>
              <a:t> </a:t>
            </a:r>
            <a:r>
              <a:rPr lang="en-US" sz="2600" dirty="0" err="1"/>
              <a:t>toplanma</a:t>
            </a:r>
            <a:r>
              <a:rPr lang="en-US" sz="2600" dirty="0"/>
              <a:t> </a:t>
            </a:r>
            <a:r>
              <a:rPr lang="en-US" sz="2600" dirty="0" err="1"/>
              <a:t>özgürlüğü</a:t>
            </a:r>
            <a:r>
              <a:rPr lang="en-US" sz="2600" dirty="0"/>
              <a:t> </a:t>
            </a:r>
            <a:r>
              <a:rPr lang="en-US" sz="2600" dirty="0" err="1"/>
              <a:t>haklarını</a:t>
            </a:r>
            <a:r>
              <a:rPr lang="en-US" sz="2600" dirty="0"/>
              <a:t> </a:t>
            </a:r>
            <a:r>
              <a:rPr lang="en-US" sz="2600" dirty="0" err="1"/>
              <a:t>korur</a:t>
            </a:r>
            <a:endParaRPr lang="en-US" sz="2600" dirty="0"/>
          </a:p>
        </p:txBody>
      </p:sp>
      <p:sp>
        <p:nvSpPr>
          <p:cNvPr id="3" name="Title 2"/>
          <p:cNvSpPr>
            <a:spLocks noGrp="1"/>
          </p:cNvSpPr>
          <p:nvPr>
            <p:ph type="title"/>
          </p:nvPr>
        </p:nvSpPr>
        <p:spPr>
          <a:xfrm>
            <a:off x="762000" y="292766"/>
            <a:ext cx="8026400" cy="523220"/>
          </a:xfrm>
        </p:spPr>
        <p:txBody>
          <a:bodyPr/>
          <a:lstStyle/>
          <a:p>
            <a:r>
              <a:rPr lang="en-US" sz="4000" dirty="0" err="1"/>
              <a:t>Birinci</a:t>
            </a:r>
            <a:r>
              <a:rPr lang="en-US" sz="4000" dirty="0"/>
              <a:t> </a:t>
            </a:r>
            <a:r>
              <a:rPr lang="en-US" sz="4000" dirty="0" err="1"/>
              <a:t>Değişiklik</a:t>
            </a:r>
            <a:r>
              <a:rPr lang="en-US" sz="4000" dirty="0"/>
              <a:t> </a:t>
            </a:r>
            <a:r>
              <a:rPr lang="en-US" sz="4000" dirty="0" err="1"/>
              <a:t>Hakları</a:t>
            </a:r>
            <a:r>
              <a:rPr lang="en-US" sz="4000" dirty="0"/>
              <a:t>, </a:t>
            </a:r>
            <a:r>
              <a:rPr lang="en-US" sz="4000" dirty="0" err="1"/>
              <a:t>Bölüm</a:t>
            </a:r>
            <a:r>
              <a:rPr lang="en-US" sz="4000" dirty="0"/>
              <a:t> 1</a:t>
            </a:r>
            <a:endParaRPr lang="en-US"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27971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170646"/>
          </a:xfrm>
        </p:spPr>
        <p:txBody>
          <a:bodyPr/>
          <a:lstStyle/>
          <a:p>
            <a:r>
              <a:rPr lang="en-US" sz="2800" dirty="0"/>
              <a:t>ABD </a:t>
            </a:r>
            <a:r>
              <a:rPr lang="en-US" sz="2800" dirty="0" err="1"/>
              <a:t>Yüksek</a:t>
            </a:r>
            <a:r>
              <a:rPr lang="en-US" sz="2800" dirty="0"/>
              <a:t> </a:t>
            </a:r>
            <a:r>
              <a:rPr lang="en-US" sz="2800" dirty="0" err="1"/>
              <a:t>Mahkemesi</a:t>
            </a:r>
            <a:r>
              <a:rPr lang="en-US" sz="2800" dirty="0"/>
              <a:t>, </a:t>
            </a:r>
            <a:r>
              <a:rPr lang="en-US" sz="2800" dirty="0" err="1"/>
              <a:t>ifade</a:t>
            </a:r>
            <a:r>
              <a:rPr lang="en-US" sz="2800" dirty="0"/>
              <a:t> </a:t>
            </a:r>
            <a:r>
              <a:rPr lang="en-US" sz="2800" dirty="0" err="1"/>
              <a:t>özgürlüğünün</a:t>
            </a:r>
            <a:r>
              <a:rPr lang="en-US" sz="2800" dirty="0"/>
              <a:t> </a:t>
            </a:r>
            <a:r>
              <a:rPr lang="en-US" sz="2800" dirty="0" err="1"/>
              <a:t>şunları</a:t>
            </a:r>
            <a:r>
              <a:rPr lang="en-US" sz="2800" dirty="0"/>
              <a:t> </a:t>
            </a:r>
            <a:r>
              <a:rPr lang="en-US" sz="2800" dirty="0" err="1"/>
              <a:t>içerdiğine</a:t>
            </a:r>
            <a:r>
              <a:rPr lang="en-US" sz="2800" dirty="0"/>
              <a:t> </a:t>
            </a:r>
            <a:r>
              <a:rPr lang="en-US" sz="2800" dirty="0" err="1"/>
              <a:t>karar</a:t>
            </a:r>
            <a:r>
              <a:rPr lang="en-US" sz="2800" dirty="0"/>
              <a:t> </a:t>
            </a:r>
            <a:r>
              <a:rPr lang="en-US" sz="2800" dirty="0" err="1"/>
              <a:t>verdi</a:t>
            </a:r>
            <a:r>
              <a:rPr lang="en-US" sz="2800" dirty="0"/>
              <a:t>: 
</a:t>
            </a:r>
            <a:r>
              <a:rPr lang="en-US" sz="2800" dirty="0" err="1"/>
              <a:t>Sözsüz</a:t>
            </a:r>
            <a:r>
              <a:rPr lang="en-US" sz="2800" dirty="0"/>
              <a:t>, </a:t>
            </a:r>
            <a:r>
              <a:rPr lang="en-US" sz="2800" dirty="0" err="1"/>
              <a:t>görsel</a:t>
            </a:r>
            <a:r>
              <a:rPr lang="en-US" sz="2800" dirty="0"/>
              <a:t> </a:t>
            </a:r>
            <a:r>
              <a:rPr lang="en-US" sz="2800" dirty="0" err="1"/>
              <a:t>ve</a:t>
            </a:r>
            <a:r>
              <a:rPr lang="en-US" sz="2800" dirty="0"/>
              <a:t> </a:t>
            </a:r>
            <a:r>
              <a:rPr lang="en-US" sz="2800" dirty="0" err="1"/>
              <a:t>sembolik</a:t>
            </a:r>
            <a:r>
              <a:rPr lang="en-US" sz="2800" dirty="0"/>
              <a:t> </a:t>
            </a:r>
            <a:r>
              <a:rPr lang="en-US" sz="2800" dirty="0" err="1"/>
              <a:t>ifade</a:t>
            </a:r>
            <a:r>
              <a:rPr lang="en-US" sz="2800" dirty="0"/>
              <a:t> </a:t>
            </a:r>
            <a:r>
              <a:rPr lang="en-US" sz="2800" dirty="0" err="1"/>
              <a:t>biçimleri</a:t>
            </a:r>
            <a:r>
              <a:rPr lang="en-US" sz="2800" dirty="0"/>
              <a:t>: </a:t>
            </a:r>
            <a:r>
              <a:rPr lang="en-US" sz="2800" dirty="0" err="1"/>
              <a:t>bayrak</a:t>
            </a:r>
            <a:r>
              <a:rPr lang="en-US" sz="2800" dirty="0"/>
              <a:t> </a:t>
            </a:r>
            <a:r>
              <a:rPr lang="en-US" sz="2800" dirty="0" err="1"/>
              <a:t>yakma</a:t>
            </a:r>
            <a:r>
              <a:rPr lang="en-US" sz="2800" dirty="0"/>
              <a:t>, dans </a:t>
            </a:r>
            <a:r>
              <a:rPr lang="en-US" sz="2800" dirty="0" err="1"/>
              <a:t>hareketleri</a:t>
            </a:r>
            <a:r>
              <a:rPr lang="en-US" sz="2800" dirty="0"/>
              <a:t> </a:t>
            </a:r>
            <a:r>
              <a:rPr lang="en-US" sz="2800" dirty="0" err="1"/>
              <a:t>ve</a:t>
            </a:r>
            <a:r>
              <a:rPr lang="en-US" sz="2800" dirty="0"/>
              <a:t> </a:t>
            </a:r>
            <a:r>
              <a:rPr lang="en-US" sz="2800" dirty="0" err="1"/>
              <a:t>el</a:t>
            </a:r>
            <a:r>
              <a:rPr lang="en-US" sz="2800" dirty="0"/>
              <a:t> </a:t>
            </a:r>
            <a:r>
              <a:rPr lang="en-US" sz="2800" dirty="0" err="1"/>
              <a:t>hareketleri</a:t>
            </a:r>
            <a:r>
              <a:rPr lang="en-US" sz="2800" dirty="0"/>
              <a:t>
</a:t>
            </a:r>
            <a:r>
              <a:rPr lang="en-US" sz="2800" dirty="0" err="1"/>
              <a:t>Anonim</a:t>
            </a:r>
            <a:r>
              <a:rPr lang="en-US" sz="2800" dirty="0"/>
              <a:t> </a:t>
            </a:r>
            <a:r>
              <a:rPr lang="en-US" sz="2800" dirty="0" err="1"/>
              <a:t>olarak</a:t>
            </a:r>
            <a:r>
              <a:rPr lang="en-US" sz="2800" dirty="0"/>
              <a:t> </a:t>
            </a:r>
            <a:r>
              <a:rPr lang="en-US" sz="2800" dirty="0" err="1"/>
              <a:t>konuşma</a:t>
            </a:r>
            <a:r>
              <a:rPr lang="en-US" sz="2800" dirty="0"/>
              <a:t> </a:t>
            </a:r>
            <a:r>
              <a:rPr lang="en-US" sz="2800" dirty="0" err="1"/>
              <a:t>hakkı</a:t>
            </a:r>
            <a:r>
              <a:rPr lang="en-US" sz="2800" dirty="0"/>
              <a:t>
</a:t>
            </a:r>
            <a:r>
              <a:rPr lang="en-US" sz="2800" dirty="0" err="1"/>
              <a:t>Birinci</a:t>
            </a:r>
            <a:r>
              <a:rPr lang="en-US" sz="2800" dirty="0"/>
              <a:t> </a:t>
            </a:r>
            <a:r>
              <a:rPr lang="en-US" sz="2800" dirty="0" err="1"/>
              <a:t>Değişiklik</a:t>
            </a:r>
            <a:r>
              <a:rPr lang="en-US" sz="2800" dirty="0"/>
              <a:t> </a:t>
            </a:r>
            <a:r>
              <a:rPr lang="en-US" sz="2800" dirty="0" err="1"/>
              <a:t>şunları</a:t>
            </a:r>
            <a:r>
              <a:rPr lang="en-US" sz="2800" dirty="0"/>
              <a:t> </a:t>
            </a:r>
            <a:r>
              <a:rPr lang="en-US" sz="2800" dirty="0" err="1"/>
              <a:t>korumaz</a:t>
            </a:r>
            <a:r>
              <a:rPr lang="en-US" sz="2800" dirty="0"/>
              <a:t>:
</a:t>
            </a:r>
            <a:r>
              <a:rPr lang="en-US" sz="2800" dirty="0" err="1"/>
              <a:t>Yalan</a:t>
            </a:r>
            <a:r>
              <a:rPr lang="en-US" sz="2800" dirty="0"/>
              <a:t> yere </a:t>
            </a:r>
            <a:r>
              <a:rPr lang="en-US" sz="2800" dirty="0" err="1"/>
              <a:t>yemin</a:t>
            </a:r>
            <a:r>
              <a:rPr lang="en-US" sz="2800" dirty="0"/>
              <a:t> </a:t>
            </a:r>
            <a:r>
              <a:rPr lang="en-US" sz="2800" dirty="0" err="1"/>
              <a:t>etme</a:t>
            </a:r>
            <a:r>
              <a:rPr lang="en-US" sz="2800" dirty="0"/>
              <a:t> </a:t>
            </a:r>
            <a:r>
              <a:rPr lang="en-US" sz="2800" dirty="0" err="1"/>
              <a:t>ve</a:t>
            </a:r>
            <a:r>
              <a:rPr lang="en-US" sz="2800" dirty="0"/>
              <a:t> </a:t>
            </a:r>
            <a:r>
              <a:rPr lang="en-US" sz="2800" dirty="0" err="1"/>
              <a:t>dolandırıcılık</a:t>
            </a:r>
            <a:r>
              <a:rPr lang="en-US" sz="2800" dirty="0"/>
              <a:t>
</a:t>
            </a:r>
            <a:r>
              <a:rPr lang="en-US" sz="2800" dirty="0" err="1"/>
              <a:t>Hakaret</a:t>
            </a:r>
            <a:r>
              <a:rPr lang="en-US" sz="2800" dirty="0"/>
              <a:t> </a:t>
            </a:r>
            <a:r>
              <a:rPr lang="en-US" sz="2800" dirty="0" err="1"/>
              <a:t>ve</a:t>
            </a:r>
            <a:r>
              <a:rPr lang="en-US" sz="2800" dirty="0"/>
              <a:t> </a:t>
            </a:r>
            <a:r>
              <a:rPr lang="en-US" sz="2800" dirty="0" err="1"/>
              <a:t>müstehcen</a:t>
            </a:r>
            <a:r>
              <a:rPr lang="en-US" sz="2800" dirty="0"/>
              <a:t> </a:t>
            </a:r>
            <a:r>
              <a:rPr lang="en-US" sz="2800" dirty="0" err="1"/>
              <a:t>konuşma</a:t>
            </a:r>
            <a:r>
              <a:rPr lang="en-US" sz="2800" dirty="0"/>
              <a:t>
</a:t>
            </a:r>
            <a:r>
              <a:rPr lang="en-US" sz="2800" dirty="0" err="1"/>
              <a:t>Paniğe</a:t>
            </a:r>
            <a:r>
              <a:rPr lang="en-US" sz="2800" dirty="0"/>
              <a:t> </a:t>
            </a:r>
            <a:r>
              <a:rPr lang="en-US" sz="2800" dirty="0" err="1"/>
              <a:t>teşvik</a:t>
            </a:r>
            <a:r>
              <a:rPr lang="en-US" sz="2800" dirty="0"/>
              <a:t> </a:t>
            </a:r>
            <a:r>
              <a:rPr lang="en-US" sz="2800" dirty="0" err="1"/>
              <a:t>ve</a:t>
            </a:r>
            <a:r>
              <a:rPr lang="en-US" sz="2800" dirty="0"/>
              <a:t> </a:t>
            </a:r>
            <a:r>
              <a:rPr lang="en-US" sz="2800" dirty="0" err="1"/>
              <a:t>suça</a:t>
            </a:r>
            <a:r>
              <a:rPr lang="en-US" sz="2800" dirty="0"/>
              <a:t> </a:t>
            </a:r>
            <a:r>
              <a:rPr lang="en-US" sz="2800" dirty="0" err="1"/>
              <a:t>teşvik</a:t>
            </a:r>
            <a:r>
              <a:rPr lang="en-US" sz="2800" dirty="0"/>
              <a:t>
</a:t>
            </a:r>
            <a:r>
              <a:rPr lang="en-US" sz="2800" dirty="0" err="1"/>
              <a:t>Kelimelerle</a:t>
            </a:r>
            <a:r>
              <a:rPr lang="en-US" sz="2800" dirty="0"/>
              <a:t> </a:t>
            </a:r>
            <a:r>
              <a:rPr lang="en-US" sz="2800" dirty="0" err="1"/>
              <a:t>ve</a:t>
            </a:r>
            <a:r>
              <a:rPr lang="en-US" sz="2800" dirty="0"/>
              <a:t> </a:t>
            </a:r>
            <a:r>
              <a:rPr lang="en-US" sz="2800" dirty="0" err="1"/>
              <a:t>fitneyle</a:t>
            </a:r>
            <a:r>
              <a:rPr lang="en-US" sz="2800" dirty="0"/>
              <a:t> </a:t>
            </a:r>
            <a:r>
              <a:rPr lang="en-US" sz="2800" dirty="0" err="1"/>
              <a:t>mücadele</a:t>
            </a:r>
            <a:endParaRPr lang="en-US" dirty="0"/>
          </a:p>
        </p:txBody>
      </p:sp>
      <p:sp>
        <p:nvSpPr>
          <p:cNvPr id="3" name="Title 2"/>
          <p:cNvSpPr>
            <a:spLocks noGrp="1"/>
          </p:cNvSpPr>
          <p:nvPr>
            <p:ph type="title"/>
          </p:nvPr>
        </p:nvSpPr>
        <p:spPr>
          <a:xfrm>
            <a:off x="762000" y="292766"/>
            <a:ext cx="8026400" cy="523220"/>
          </a:xfrm>
        </p:spPr>
        <p:txBody>
          <a:bodyPr/>
          <a:lstStyle/>
          <a:p>
            <a:r>
              <a:rPr lang="en-US" sz="4000" dirty="0" err="1"/>
              <a:t>Birinci</a:t>
            </a:r>
            <a:r>
              <a:rPr lang="en-US" sz="4000" dirty="0"/>
              <a:t> </a:t>
            </a:r>
            <a:r>
              <a:rPr lang="en-US" sz="4000" dirty="0" err="1"/>
              <a:t>Değişiklik</a:t>
            </a:r>
            <a:r>
              <a:rPr lang="en-US" sz="4000" dirty="0"/>
              <a:t> </a:t>
            </a:r>
            <a:r>
              <a:rPr lang="en-US" sz="4000" dirty="0" err="1"/>
              <a:t>Hakları</a:t>
            </a:r>
            <a:r>
              <a:rPr lang="en-US" sz="4000" dirty="0"/>
              <a:t>, </a:t>
            </a:r>
            <a:r>
              <a:rPr lang="en-US" sz="4000" dirty="0" err="1"/>
              <a:t>Bölüm</a:t>
            </a:r>
            <a:r>
              <a:rPr lang="en-US" sz="4000" dirty="0"/>
              <a:t> 2</a:t>
            </a:r>
            <a:endParaRPr lang="en-US"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88282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628960"/>
          </a:xfrm>
        </p:spPr>
        <p:txBody>
          <a:bodyPr/>
          <a:lstStyle/>
          <a:p>
            <a:r>
              <a:rPr lang="en-US" altLang="en-US" sz="2400" i="1"/>
              <a:t>Miller v. Kaliforniya 
Materyalin müstehcen olup olmadığını belirlemek için bir test oluşturuldu
Konuşma aşağıdaki durumlarda müstehcen olarak kabul edilebilir:
Ortalama bir insan, bir bütün olarak ele alındığında, çalışmanın geçici ilgiye hitap ettiğini görür
Çalışma, yürürlükteki eyalet yasaları tarafından özel olarak tanımlanan cinsel davranışı açıkça saldırgan bir şekilde tasvir ediyor veya tanımlıyor
Eser bir bütün olarak ele alındığında ciddi bir edebi, sanatsal, politik veya bilimsel değerden yoksundur</a:t>
            </a:r>
            <a:endParaRPr lang="en-US" altLang="en-US" dirty="0"/>
          </a:p>
        </p:txBody>
      </p:sp>
      <p:sp>
        <p:nvSpPr>
          <p:cNvPr id="3" name="Title 2"/>
          <p:cNvSpPr>
            <a:spLocks noGrp="1"/>
          </p:cNvSpPr>
          <p:nvPr>
            <p:ph type="title"/>
          </p:nvPr>
        </p:nvSpPr>
        <p:spPr>
          <a:xfrm>
            <a:off x="762000" y="290459"/>
            <a:ext cx="8026400" cy="527837"/>
          </a:xfrm>
        </p:spPr>
        <p:txBody>
          <a:bodyPr/>
          <a:lstStyle/>
          <a:p>
            <a:r>
              <a:rPr lang="en-US" sz="4000"/>
              <a:t>Müstehcen Konuşma</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04501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327065"/>
          </a:xfrm>
        </p:spPr>
        <p:txBody>
          <a:bodyPr/>
          <a:lstStyle/>
          <a:p>
            <a:r>
              <a:rPr lang="en-US" sz="2800" dirty="0" err="1"/>
              <a:t>İfade</a:t>
            </a:r>
            <a:r>
              <a:rPr lang="en-US" sz="2800" dirty="0"/>
              <a:t> </a:t>
            </a:r>
            <a:r>
              <a:rPr lang="en-US" sz="2800" dirty="0" err="1"/>
              <a:t>özgürlüğü</a:t>
            </a:r>
            <a:r>
              <a:rPr lang="en-US" sz="2800" dirty="0"/>
              <a:t> </a:t>
            </a:r>
            <a:r>
              <a:rPr lang="en-US" sz="2800" dirty="0" err="1"/>
              <a:t>hakkı</a:t>
            </a:r>
            <a:r>
              <a:rPr lang="en-US" sz="2800" dirty="0"/>
              <a:t>, </a:t>
            </a:r>
            <a:r>
              <a:rPr lang="en-US" sz="2800" dirty="0" err="1"/>
              <a:t>sözlü</a:t>
            </a:r>
            <a:r>
              <a:rPr lang="en-US" sz="2800" dirty="0"/>
              <a:t> </a:t>
            </a:r>
            <a:r>
              <a:rPr lang="en-US" sz="2800" dirty="0" err="1"/>
              <a:t>veya</a:t>
            </a:r>
            <a:r>
              <a:rPr lang="en-US" sz="2800" dirty="0"/>
              <a:t> </a:t>
            </a:r>
            <a:r>
              <a:rPr lang="en-US" sz="2800" dirty="0" err="1"/>
              <a:t>yazılı</a:t>
            </a:r>
            <a:r>
              <a:rPr lang="en-US" sz="2800" dirty="0"/>
              <a:t> </a:t>
            </a:r>
            <a:r>
              <a:rPr lang="en-US" sz="2800" dirty="0" err="1"/>
              <a:t>ifadelerin</a:t>
            </a:r>
            <a:r>
              <a:rPr lang="en-US" sz="2800" dirty="0"/>
              <a:t> </a:t>
            </a:r>
            <a:r>
              <a:rPr lang="en-US" sz="2800" dirty="0" err="1"/>
              <a:t>doğru</a:t>
            </a:r>
            <a:r>
              <a:rPr lang="en-US" sz="2800" dirty="0"/>
              <a:t> </a:t>
            </a:r>
            <a:r>
              <a:rPr lang="en-US" sz="2800" dirty="0" err="1"/>
              <a:t>olmadığı</a:t>
            </a:r>
            <a:r>
              <a:rPr lang="en-US" sz="2800" dirty="0"/>
              <a:t> </a:t>
            </a:r>
            <a:r>
              <a:rPr lang="en-US" sz="2800" dirty="0" err="1"/>
              <a:t>ve</a:t>
            </a:r>
            <a:r>
              <a:rPr lang="en-US" sz="2800" dirty="0"/>
              <a:t> </a:t>
            </a:r>
            <a:r>
              <a:rPr lang="en-US" sz="2800" dirty="0" err="1"/>
              <a:t>başka</a:t>
            </a:r>
            <a:r>
              <a:rPr lang="en-US" sz="2800" dirty="0"/>
              <a:t> </a:t>
            </a:r>
            <a:r>
              <a:rPr lang="en-US" sz="2800" dirty="0" err="1"/>
              <a:t>bir</a:t>
            </a:r>
            <a:r>
              <a:rPr lang="en-US" sz="2800" dirty="0"/>
              <a:t> </a:t>
            </a:r>
            <a:r>
              <a:rPr lang="en-US" sz="2800" dirty="0" err="1"/>
              <a:t>kişiye</a:t>
            </a:r>
            <a:r>
              <a:rPr lang="en-US" sz="2800" dirty="0"/>
              <a:t> </a:t>
            </a:r>
            <a:r>
              <a:rPr lang="en-US" sz="2800" dirty="0" err="1"/>
              <a:t>zarar</a:t>
            </a:r>
            <a:r>
              <a:rPr lang="en-US" sz="2800" dirty="0"/>
              <a:t> </a:t>
            </a:r>
            <a:r>
              <a:rPr lang="en-US" sz="2800" dirty="0" err="1"/>
              <a:t>verdiği</a:t>
            </a:r>
            <a:r>
              <a:rPr lang="en-US" sz="2800" dirty="0"/>
              <a:t> </a:t>
            </a:r>
            <a:r>
              <a:rPr lang="en-US" sz="2800" dirty="0" err="1"/>
              <a:t>durumlarda</a:t>
            </a:r>
            <a:r>
              <a:rPr lang="en-US" sz="2800" dirty="0"/>
              <a:t> </a:t>
            </a:r>
            <a:r>
              <a:rPr lang="en-US" sz="2800" dirty="0" err="1"/>
              <a:t>kısıtlanır</a:t>
            </a:r>
            <a:r>
              <a:rPr lang="en-US" sz="2800" dirty="0"/>
              <a:t>.
</a:t>
            </a:r>
            <a:r>
              <a:rPr lang="en-US" sz="2800" dirty="0" err="1"/>
              <a:t>İftira</a:t>
            </a:r>
            <a:r>
              <a:rPr lang="en-US" sz="2800" dirty="0"/>
              <a:t>: </a:t>
            </a:r>
            <a:r>
              <a:rPr lang="en-US" sz="2800" dirty="0" err="1"/>
              <a:t>Yanlış</a:t>
            </a:r>
            <a:r>
              <a:rPr lang="en-US" sz="2800" dirty="0"/>
              <a:t> </a:t>
            </a:r>
            <a:r>
              <a:rPr lang="en-US" sz="2800" dirty="0" err="1"/>
              <a:t>olduğu</a:t>
            </a:r>
            <a:r>
              <a:rPr lang="en-US" sz="2800" dirty="0"/>
              <a:t> </a:t>
            </a:r>
            <a:r>
              <a:rPr lang="en-US" sz="2800" dirty="0" err="1"/>
              <a:t>ve</a:t>
            </a:r>
            <a:r>
              <a:rPr lang="en-US" sz="2800" dirty="0"/>
              <a:t> </a:t>
            </a:r>
            <a:r>
              <a:rPr lang="en-US" sz="2800" dirty="0" err="1"/>
              <a:t>başka</a:t>
            </a:r>
            <a:r>
              <a:rPr lang="en-US" sz="2800" dirty="0"/>
              <a:t> </a:t>
            </a:r>
            <a:r>
              <a:rPr lang="en-US" sz="2800" dirty="0" err="1"/>
              <a:t>bir</a:t>
            </a:r>
            <a:r>
              <a:rPr lang="en-US" sz="2800" dirty="0"/>
              <a:t> </a:t>
            </a:r>
            <a:r>
              <a:rPr lang="en-US" sz="2800" dirty="0" err="1"/>
              <a:t>kişiye</a:t>
            </a:r>
            <a:r>
              <a:rPr lang="en-US" sz="2800" dirty="0"/>
              <a:t> </a:t>
            </a:r>
            <a:r>
              <a:rPr lang="en-US" sz="2800" dirty="0" err="1"/>
              <a:t>zarar</a:t>
            </a:r>
            <a:r>
              <a:rPr lang="en-US" sz="2800" dirty="0"/>
              <a:t> </a:t>
            </a:r>
            <a:r>
              <a:rPr lang="en-US" sz="2800" dirty="0" err="1"/>
              <a:t>verdiği</a:t>
            </a:r>
            <a:r>
              <a:rPr lang="en-US" sz="2800" dirty="0"/>
              <a:t> </a:t>
            </a:r>
            <a:r>
              <a:rPr lang="en-US" sz="2800" dirty="0" err="1"/>
              <a:t>iddia</a:t>
            </a:r>
            <a:r>
              <a:rPr lang="en-US" sz="2800" dirty="0"/>
              <a:t> </a:t>
            </a:r>
            <a:r>
              <a:rPr lang="en-US" sz="2800" dirty="0" err="1"/>
              <a:t>edilen</a:t>
            </a:r>
            <a:r>
              <a:rPr lang="en-US" sz="2800" dirty="0"/>
              <a:t> </a:t>
            </a:r>
            <a:r>
              <a:rPr lang="en-US" sz="2800" dirty="0" err="1"/>
              <a:t>bir</a:t>
            </a:r>
            <a:r>
              <a:rPr lang="en-US" sz="2800" dirty="0"/>
              <a:t> </a:t>
            </a:r>
            <a:r>
              <a:rPr lang="en-US" sz="2800" dirty="0" err="1"/>
              <a:t>gerçeğin</a:t>
            </a:r>
            <a:r>
              <a:rPr lang="en-US" sz="2800" dirty="0"/>
              <a:t> </a:t>
            </a:r>
            <a:r>
              <a:rPr lang="en-US" sz="2800" dirty="0" err="1"/>
              <a:t>ifadesi</a:t>
            </a:r>
            <a:r>
              <a:rPr lang="en-US" sz="2800" dirty="0"/>
              <a:t>
</a:t>
            </a:r>
            <a:r>
              <a:rPr lang="en-US" sz="2800" dirty="0" err="1"/>
              <a:t>İftira</a:t>
            </a:r>
            <a:r>
              <a:rPr lang="en-US" sz="2800" dirty="0"/>
              <a:t>: </a:t>
            </a:r>
            <a:r>
              <a:rPr lang="en-US" sz="2800" dirty="0" err="1"/>
              <a:t>Sözlü</a:t>
            </a:r>
            <a:r>
              <a:rPr lang="en-US" sz="2800" dirty="0"/>
              <a:t> </a:t>
            </a:r>
            <a:r>
              <a:rPr lang="en-US" sz="2800" dirty="0" err="1"/>
              <a:t>hakaret</a:t>
            </a:r>
            <a:r>
              <a:rPr lang="en-US" sz="2800" dirty="0"/>
              <a:t> </a:t>
            </a:r>
            <a:r>
              <a:rPr lang="en-US" sz="2800" dirty="0" err="1"/>
              <a:t>içeren</a:t>
            </a:r>
            <a:r>
              <a:rPr lang="en-US" sz="2800" dirty="0"/>
              <a:t> </a:t>
            </a:r>
            <a:r>
              <a:rPr lang="en-US" sz="2800" dirty="0" err="1"/>
              <a:t>ifade</a:t>
            </a:r>
            <a:r>
              <a:rPr lang="en-US" sz="2800" dirty="0"/>
              <a:t>
</a:t>
            </a:r>
            <a:r>
              <a:rPr lang="en-US" sz="2800" dirty="0" err="1"/>
              <a:t>İftira</a:t>
            </a:r>
            <a:r>
              <a:rPr lang="en-US" sz="2800" dirty="0"/>
              <a:t>: </a:t>
            </a:r>
            <a:r>
              <a:rPr lang="en-US" sz="2800" dirty="0" err="1"/>
              <a:t>Yazılı</a:t>
            </a:r>
            <a:r>
              <a:rPr lang="en-US" sz="2800" dirty="0"/>
              <a:t> </a:t>
            </a:r>
            <a:r>
              <a:rPr lang="en-US" sz="2800" dirty="0" err="1"/>
              <a:t>bir</a:t>
            </a:r>
            <a:r>
              <a:rPr lang="en-US" sz="2800" dirty="0"/>
              <a:t> </a:t>
            </a:r>
            <a:r>
              <a:rPr lang="en-US" sz="2800" dirty="0" err="1"/>
              <a:t>hakaret</a:t>
            </a:r>
            <a:r>
              <a:rPr lang="en-US" sz="2800" dirty="0"/>
              <a:t> </a:t>
            </a:r>
            <a:r>
              <a:rPr lang="en-US" sz="2800" dirty="0" err="1"/>
              <a:t>beyanı</a:t>
            </a:r>
            <a:endParaRPr lang="en-US" dirty="0"/>
          </a:p>
        </p:txBody>
      </p:sp>
      <p:sp>
        <p:nvSpPr>
          <p:cNvPr id="3" name="Title 2"/>
          <p:cNvSpPr>
            <a:spLocks noGrp="1"/>
          </p:cNvSpPr>
          <p:nvPr>
            <p:ph type="title"/>
          </p:nvPr>
        </p:nvSpPr>
        <p:spPr>
          <a:xfrm>
            <a:off x="762000" y="290459"/>
            <a:ext cx="8026400" cy="527837"/>
          </a:xfrm>
        </p:spPr>
        <p:txBody>
          <a:bodyPr/>
          <a:lstStyle/>
          <a:p>
            <a:r>
              <a:rPr lang="en-US" sz="4000" dirty="0" err="1"/>
              <a:t>İftira</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38634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his table presents a list of key issues relating to freedom of expression. Those issues include: controlling access to information on the Internet, Internet censorship, SLAPP lawsuits, anonymity on the Internet, John Doe lawsuits, hate speech, pornography on the Internet, and fake news. "/>
          <p:cNvGraphicFramePr>
            <a:graphicFrameLocks noGrp="1"/>
          </p:cNvGraphicFramePr>
          <p:nvPr>
            <p:ph idx="1"/>
            <p:extLst>
              <p:ext uri="{D42A27DB-BD31-4B8C-83A1-F6EECF244321}">
                <p14:modId xmlns:p14="http://schemas.microsoft.com/office/powerpoint/2010/main" val="2183924301"/>
              </p:ext>
            </p:extLst>
          </p:nvPr>
        </p:nvGraphicFramePr>
        <p:xfrm>
          <a:off x="76200" y="1538288"/>
          <a:ext cx="8382000" cy="2499360"/>
        </p:xfrm>
        <a:graphic>
          <a:graphicData uri="http://schemas.openxmlformats.org/drawingml/2006/table">
            <a:tbl>
              <a:tblPr firstRow="1" bandRow="1">
                <a:tableStyleId>{69CF1AB2-1976-4502-BF36-3FF5EA218861}</a:tableStyleId>
              </a:tblPr>
              <a:tblGrid>
                <a:gridCol w="4496594">
                  <a:extLst>
                    <a:ext uri="{9D8B030D-6E8A-4147-A177-3AD203B41FA5}">
                      <a16:colId xmlns:a16="http://schemas.microsoft.com/office/drawing/2014/main" val="819534664"/>
                    </a:ext>
                  </a:extLst>
                </a:gridCol>
                <a:gridCol w="3885406">
                  <a:extLst>
                    <a:ext uri="{9D8B030D-6E8A-4147-A177-3AD203B41FA5}">
                      <a16:colId xmlns:a16="http://schemas.microsoft.com/office/drawing/2014/main" val="449052341"/>
                    </a:ext>
                  </a:extLst>
                </a:gridCol>
              </a:tblGrid>
              <a:tr h="370840">
                <a:tc>
                  <a:txBody>
                    <a:bodyPr/>
                    <a:lstStyle/>
                    <a:p>
                      <a:r>
                        <a:rPr lang="en-US" sz="2800" b="0" dirty="0" err="1"/>
                        <a:t>İnternetteki</a:t>
                      </a:r>
                      <a:r>
                        <a:rPr lang="en-US" sz="2800" b="0" dirty="0"/>
                        <a:t> </a:t>
                      </a:r>
                      <a:r>
                        <a:rPr lang="en-US" sz="2800" b="0" dirty="0" err="1"/>
                        <a:t>bilgilere</a:t>
                      </a:r>
                      <a:r>
                        <a:rPr lang="en-US" sz="2800" b="0" dirty="0"/>
                        <a:t> </a:t>
                      </a:r>
                      <a:r>
                        <a:rPr lang="en-US" sz="2800" b="0" dirty="0" err="1"/>
                        <a:t>erişimi</a:t>
                      </a:r>
                      <a:r>
                        <a:rPr lang="en-US" sz="2800" b="0" dirty="0"/>
                        <a:t> </a:t>
                      </a:r>
                      <a:r>
                        <a:rPr lang="en-US" sz="2800" b="0" dirty="0" err="1"/>
                        <a:t>kontrol</a:t>
                      </a:r>
                      <a:r>
                        <a:rPr lang="en-US" sz="2800" b="0" dirty="0"/>
                        <a:t> </a:t>
                      </a:r>
                      <a:r>
                        <a:rPr lang="en-US" sz="2800" b="0" dirty="0" err="1"/>
                        <a:t>etme</a:t>
                      </a:r>
                      <a:endParaRPr lang="en-US" sz="2800" b="0" dirty="0"/>
                    </a:p>
                  </a:txBody>
                  <a:tcPr/>
                </a:tc>
                <a:tc>
                  <a:txBody>
                    <a:bodyPr/>
                    <a:lstStyle/>
                    <a:p>
                      <a:r>
                        <a:rPr lang="en-US" sz="2800" b="0" dirty="0"/>
                        <a:t>İnternet </a:t>
                      </a:r>
                      <a:r>
                        <a:rPr lang="en-US" sz="2800" b="0" dirty="0" err="1"/>
                        <a:t>sansürü</a:t>
                      </a:r>
                      <a:endParaRPr lang="en-US" sz="2800" b="0" dirty="0"/>
                    </a:p>
                  </a:txBody>
                  <a:tcPr/>
                </a:tc>
                <a:extLst>
                  <a:ext uri="{0D108BD9-81ED-4DB2-BD59-A6C34878D82A}">
                    <a16:rowId xmlns:a16="http://schemas.microsoft.com/office/drawing/2014/main" val="3301763468"/>
                  </a:ext>
                </a:extLst>
              </a:tr>
              <a:tr h="370840">
                <a:tc>
                  <a:txBody>
                    <a:bodyPr/>
                    <a:lstStyle/>
                    <a:p>
                      <a:r>
                        <a:rPr lang="en-US" sz="2800" dirty="0"/>
                        <a:t>SLAPP </a:t>
                      </a:r>
                      <a:r>
                        <a:rPr lang="en-US" sz="2800" dirty="0" err="1"/>
                        <a:t>davaları</a:t>
                      </a:r>
                      <a:endParaRPr lang="en-US" sz="2800" b="0" dirty="0"/>
                    </a:p>
                  </a:txBody>
                  <a:tcPr/>
                </a:tc>
                <a:tc>
                  <a:txBody>
                    <a:bodyPr/>
                    <a:lstStyle/>
                    <a:p>
                      <a:r>
                        <a:rPr lang="en-US" sz="2800" dirty="0" err="1"/>
                        <a:t>İnternette</a:t>
                      </a:r>
                      <a:r>
                        <a:rPr lang="en-US" sz="2800" dirty="0"/>
                        <a:t> </a:t>
                      </a:r>
                      <a:r>
                        <a:rPr lang="en-US" sz="2800" dirty="0" err="1"/>
                        <a:t>Anonimlik</a:t>
                      </a:r>
                      <a:endParaRPr lang="en-US" sz="2800" b="0" dirty="0"/>
                    </a:p>
                  </a:txBody>
                  <a:tcPr/>
                </a:tc>
                <a:extLst>
                  <a:ext uri="{0D108BD9-81ED-4DB2-BD59-A6C34878D82A}">
                    <a16:rowId xmlns:a16="http://schemas.microsoft.com/office/drawing/2014/main" val="1169099925"/>
                  </a:ext>
                </a:extLst>
              </a:tr>
              <a:tr h="370840">
                <a:tc>
                  <a:txBody>
                    <a:bodyPr/>
                    <a:lstStyle/>
                    <a:p>
                      <a:r>
                        <a:rPr lang="en-US" sz="2800" dirty="0"/>
                        <a:t>John Doe </a:t>
                      </a:r>
                      <a:r>
                        <a:rPr lang="en-US" sz="2800" dirty="0" err="1"/>
                        <a:t>davaları</a:t>
                      </a:r>
                      <a:endParaRPr lang="en-US" sz="2800" b="0" dirty="0"/>
                    </a:p>
                  </a:txBody>
                  <a:tcPr/>
                </a:tc>
                <a:tc>
                  <a:txBody>
                    <a:bodyPr/>
                    <a:lstStyle/>
                    <a:p>
                      <a:r>
                        <a:rPr lang="en-US" sz="2800" dirty="0" err="1"/>
                        <a:t>Nefret</a:t>
                      </a:r>
                      <a:r>
                        <a:rPr lang="en-US" sz="2800" dirty="0"/>
                        <a:t> </a:t>
                      </a:r>
                      <a:r>
                        <a:rPr lang="en-US" sz="2800" dirty="0" err="1"/>
                        <a:t>dolu</a:t>
                      </a:r>
                      <a:r>
                        <a:rPr lang="en-US" sz="2800" dirty="0"/>
                        <a:t> </a:t>
                      </a:r>
                      <a:r>
                        <a:rPr lang="en-US" sz="2800" dirty="0" err="1"/>
                        <a:t>konuşma</a:t>
                      </a:r>
                      <a:endParaRPr lang="en-US" sz="2800" b="0" dirty="0"/>
                    </a:p>
                  </a:txBody>
                  <a:tcPr/>
                </a:tc>
                <a:extLst>
                  <a:ext uri="{0D108BD9-81ED-4DB2-BD59-A6C34878D82A}">
                    <a16:rowId xmlns:a16="http://schemas.microsoft.com/office/drawing/2014/main" val="513624814"/>
                  </a:ext>
                </a:extLst>
              </a:tr>
              <a:tr h="370840">
                <a:tc>
                  <a:txBody>
                    <a:bodyPr/>
                    <a:lstStyle/>
                    <a:p>
                      <a:endParaRPr lang="en-US" sz="2800" b="0" dirty="0"/>
                    </a:p>
                  </a:txBody>
                  <a:tcPr/>
                </a:tc>
                <a:tc>
                  <a:txBody>
                    <a:bodyPr/>
                    <a:lstStyle/>
                    <a:p>
                      <a:r>
                        <a:rPr lang="en-US" sz="2800" dirty="0" err="1"/>
                        <a:t>Yalan</a:t>
                      </a:r>
                      <a:r>
                        <a:rPr lang="en-US" sz="2800" dirty="0"/>
                        <a:t> </a:t>
                      </a:r>
                      <a:r>
                        <a:rPr lang="en-US" sz="2800" dirty="0" err="1"/>
                        <a:t>haber</a:t>
                      </a:r>
                      <a:endParaRPr lang="en-US" sz="2800" b="0" dirty="0"/>
                    </a:p>
                  </a:txBody>
                  <a:tcPr/>
                </a:tc>
                <a:extLst>
                  <a:ext uri="{0D108BD9-81ED-4DB2-BD59-A6C34878D82A}">
                    <a16:rowId xmlns:a16="http://schemas.microsoft.com/office/drawing/2014/main" val="756316753"/>
                  </a:ext>
                </a:extLst>
              </a:tr>
            </a:tbl>
          </a:graphicData>
        </a:graphic>
      </p:graphicFrame>
      <p:sp>
        <p:nvSpPr>
          <p:cNvPr id="3" name="Title 2"/>
          <p:cNvSpPr>
            <a:spLocks noGrp="1"/>
          </p:cNvSpPr>
          <p:nvPr>
            <p:ph type="title"/>
          </p:nvPr>
        </p:nvSpPr>
        <p:spPr>
          <a:xfrm>
            <a:off x="762000" y="290459"/>
            <a:ext cx="8026400" cy="527837"/>
          </a:xfrm>
        </p:spPr>
        <p:txBody>
          <a:bodyPr/>
          <a:lstStyle/>
          <a:p>
            <a:r>
              <a:rPr lang="en-US" sz="4000" dirty="0" err="1"/>
              <a:t>İfade</a:t>
            </a:r>
            <a:r>
              <a:rPr lang="en-US" sz="4000" dirty="0"/>
              <a:t> </a:t>
            </a:r>
            <a:r>
              <a:rPr lang="en-US" sz="4000" dirty="0" err="1"/>
              <a:t>Özgürlüğü</a:t>
            </a:r>
            <a:r>
              <a:rPr lang="en-US" sz="4000" dirty="0"/>
              <a:t>: </a:t>
            </a:r>
            <a:r>
              <a:rPr lang="en-US" sz="4000" dirty="0" err="1"/>
              <a:t>Temel</a:t>
            </a:r>
            <a:r>
              <a:rPr lang="en-US" sz="4000" dirty="0"/>
              <a:t> </a:t>
            </a:r>
            <a:r>
              <a:rPr lang="en-US" sz="4000" dirty="0" err="1"/>
              <a:t>Konular</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00321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111399"/>
          </a:xfrm>
        </p:spPr>
        <p:txBody>
          <a:bodyPr/>
          <a:lstStyle/>
          <a:p>
            <a:r>
              <a:rPr lang="en-US" altLang="en-US" sz="2700" dirty="0" err="1"/>
              <a:t>Telekomünikasyon</a:t>
            </a:r>
            <a:r>
              <a:rPr lang="en-US" altLang="en-US" sz="2700" dirty="0"/>
              <a:t> </a:t>
            </a:r>
            <a:r>
              <a:rPr lang="en-US" altLang="en-US" sz="2700" dirty="0" err="1"/>
              <a:t>Yasası</a:t>
            </a:r>
            <a:r>
              <a:rPr lang="en-US" altLang="en-US" sz="2700" dirty="0"/>
              <a:t>: </a:t>
            </a:r>
            <a:r>
              <a:rPr lang="en-US" altLang="en-US" sz="2700" dirty="0" err="1"/>
              <a:t>Amacı</a:t>
            </a:r>
            <a:r>
              <a:rPr lang="en-US" altLang="en-US" sz="2700" dirty="0"/>
              <a:t>, </a:t>
            </a:r>
            <a:r>
              <a:rPr lang="en-US" altLang="en-US" sz="2700" dirty="0" err="1"/>
              <a:t>telefon</a:t>
            </a:r>
            <a:r>
              <a:rPr lang="en-US" altLang="en-US" sz="2700" dirty="0"/>
              <a:t>, </a:t>
            </a:r>
            <a:r>
              <a:rPr lang="en-US" altLang="en-US" sz="2700" dirty="0" err="1"/>
              <a:t>kablo</a:t>
            </a:r>
            <a:r>
              <a:rPr lang="en-US" altLang="en-US" sz="2700" dirty="0"/>
              <a:t> </a:t>
            </a:r>
            <a:r>
              <a:rPr lang="en-US" altLang="en-US" sz="2700" dirty="0" err="1"/>
              <a:t>ve</a:t>
            </a:r>
            <a:r>
              <a:rPr lang="en-US" altLang="en-US" sz="2700" dirty="0"/>
              <a:t> TV </a:t>
            </a:r>
            <a:r>
              <a:rPr lang="en-US" altLang="en-US" sz="2700" dirty="0" err="1"/>
              <a:t>şirketleri</a:t>
            </a:r>
            <a:r>
              <a:rPr lang="en-US" altLang="en-US" sz="2700" dirty="0"/>
              <a:t> </a:t>
            </a:r>
            <a:r>
              <a:rPr lang="en-US" altLang="en-US" sz="2700" dirty="0" err="1"/>
              <a:t>arasında</a:t>
            </a:r>
            <a:r>
              <a:rPr lang="en-US" altLang="en-US" sz="2700" dirty="0"/>
              <a:t> </a:t>
            </a:r>
            <a:r>
              <a:rPr lang="en-US" altLang="en-US" sz="2700" dirty="0" err="1"/>
              <a:t>serbest</a:t>
            </a:r>
            <a:r>
              <a:rPr lang="en-US" altLang="en-US" sz="2700" dirty="0"/>
              <a:t> </a:t>
            </a:r>
            <a:r>
              <a:rPr lang="en-US" altLang="en-US" sz="2700" dirty="0" err="1"/>
              <a:t>rekabeti</a:t>
            </a:r>
            <a:r>
              <a:rPr lang="en-US" altLang="en-US" sz="2700" dirty="0"/>
              <a:t> </a:t>
            </a:r>
            <a:r>
              <a:rPr lang="en-US" altLang="en-US" sz="2700" dirty="0" err="1"/>
              <a:t>teşvik</a:t>
            </a:r>
            <a:r>
              <a:rPr lang="en-US" altLang="en-US" sz="2700" dirty="0"/>
              <a:t> </a:t>
            </a:r>
            <a:r>
              <a:rPr lang="en-US" altLang="en-US" sz="2700" dirty="0" err="1"/>
              <a:t>etmekti</a:t>
            </a:r>
            <a:r>
              <a:rPr lang="en-US" altLang="en-US" sz="2700" dirty="0"/>
              <a:t>
</a:t>
            </a:r>
            <a:r>
              <a:rPr lang="en-US" altLang="en-US" sz="2700" dirty="0" err="1"/>
              <a:t>İletişim</a:t>
            </a:r>
            <a:r>
              <a:rPr lang="en-US" altLang="en-US" sz="2700" dirty="0"/>
              <a:t> </a:t>
            </a:r>
            <a:r>
              <a:rPr lang="en-US" altLang="en-US" sz="2700" dirty="0" err="1"/>
              <a:t>Ahlakı</a:t>
            </a:r>
            <a:r>
              <a:rPr lang="en-US" altLang="en-US" sz="2700" dirty="0"/>
              <a:t> </a:t>
            </a:r>
            <a:r>
              <a:rPr lang="en-US" altLang="en-US" sz="2700" dirty="0" err="1"/>
              <a:t>Yasası</a:t>
            </a:r>
            <a:r>
              <a:rPr lang="en-US" altLang="en-US" sz="2700" dirty="0"/>
              <a:t> (CDA): </a:t>
            </a:r>
            <a:r>
              <a:rPr lang="en-US" altLang="en-US" sz="2700" dirty="0" err="1"/>
              <a:t>Telekomünikasyon</a:t>
            </a:r>
            <a:r>
              <a:rPr lang="en-US" altLang="en-US" sz="2700" dirty="0"/>
              <a:t> </a:t>
            </a:r>
            <a:r>
              <a:rPr lang="en-US" altLang="en-US" sz="2700" dirty="0" err="1"/>
              <a:t>Yasası'nın</a:t>
            </a:r>
            <a:r>
              <a:rPr lang="en-US" altLang="en-US" sz="2700" dirty="0"/>
              <a:t> V. </a:t>
            </a:r>
            <a:r>
              <a:rPr lang="en-US" altLang="en-US" sz="2700" dirty="0" err="1"/>
              <a:t>Başlığı</a:t>
            </a:r>
            <a:r>
              <a:rPr lang="en-US" altLang="en-US" sz="2700" dirty="0"/>
              <a:t>
</a:t>
            </a:r>
            <a:r>
              <a:rPr lang="en-US" altLang="en-US" sz="2700" dirty="0" err="1"/>
              <a:t>Haziran</a:t>
            </a:r>
            <a:r>
              <a:rPr lang="en-US" altLang="en-US" sz="2700" dirty="0"/>
              <a:t> 1997'de, </a:t>
            </a:r>
            <a:r>
              <a:rPr lang="en-US" altLang="en-US" sz="2700" dirty="0" err="1"/>
              <a:t>CDA'nın</a:t>
            </a:r>
            <a:r>
              <a:rPr lang="en-US" altLang="en-US" sz="2700" dirty="0"/>
              <a:t> </a:t>
            </a:r>
            <a:r>
              <a:rPr lang="en-US" altLang="en-US" sz="2700" dirty="0" err="1"/>
              <a:t>çoğu</a:t>
            </a:r>
            <a:r>
              <a:rPr lang="en-US" altLang="en-US" sz="2700" dirty="0"/>
              <a:t> ABD </a:t>
            </a:r>
            <a:r>
              <a:rPr lang="en-US" altLang="en-US" sz="2700" dirty="0" err="1"/>
              <a:t>Yüksek</a:t>
            </a:r>
            <a:r>
              <a:rPr lang="en-US" altLang="en-US" sz="2700" dirty="0"/>
              <a:t> </a:t>
            </a:r>
            <a:r>
              <a:rPr lang="en-US" altLang="en-US" sz="2700" dirty="0" err="1"/>
              <a:t>Mahkemesi</a:t>
            </a:r>
            <a:r>
              <a:rPr lang="en-US" altLang="en-US" sz="2700" dirty="0"/>
              <a:t> </a:t>
            </a:r>
            <a:r>
              <a:rPr lang="en-US" altLang="en-US" sz="2700" dirty="0" err="1"/>
              <a:t>tarafından</a:t>
            </a:r>
            <a:r>
              <a:rPr lang="en-US" altLang="en-US" sz="2700" dirty="0"/>
              <a:t> </a:t>
            </a:r>
            <a:r>
              <a:rPr lang="en-US" altLang="en-US" sz="2700" dirty="0" err="1"/>
              <a:t>anayasaya</a:t>
            </a:r>
            <a:r>
              <a:rPr lang="en-US" altLang="en-US" sz="2700" dirty="0"/>
              <a:t> </a:t>
            </a:r>
            <a:r>
              <a:rPr lang="en-US" altLang="en-US" sz="2700" dirty="0" err="1"/>
              <a:t>aykırı</a:t>
            </a:r>
            <a:r>
              <a:rPr lang="en-US" altLang="en-US" sz="2700" dirty="0"/>
              <a:t> </a:t>
            </a:r>
            <a:r>
              <a:rPr lang="en-US" altLang="en-US" sz="2700" dirty="0" err="1"/>
              <a:t>bulundu</a:t>
            </a:r>
            <a:r>
              <a:rPr lang="en-US" altLang="en-US" sz="2700" dirty="0"/>
              <a:t>
</a:t>
            </a:r>
            <a:r>
              <a:rPr lang="en-US" altLang="en-US" sz="2700" dirty="0" err="1"/>
              <a:t>CDA'nın</a:t>
            </a:r>
            <a:r>
              <a:rPr lang="en-US" altLang="en-US" sz="2700" dirty="0"/>
              <a:t> 230. </a:t>
            </a:r>
            <a:r>
              <a:rPr lang="en-US" altLang="en-US" sz="2700" dirty="0" err="1"/>
              <a:t>maddesi</a:t>
            </a:r>
            <a:r>
              <a:rPr lang="en-US" altLang="en-US" sz="2700" dirty="0"/>
              <a:t>: 
</a:t>
            </a:r>
            <a:r>
              <a:rPr lang="en-US" altLang="en-US" sz="2700" dirty="0" err="1"/>
              <a:t>Anayasaya</a:t>
            </a:r>
            <a:r>
              <a:rPr lang="en-US" altLang="en-US" sz="2700" dirty="0"/>
              <a:t> </a:t>
            </a:r>
            <a:r>
              <a:rPr lang="en-US" altLang="en-US" sz="2700" dirty="0" err="1"/>
              <a:t>aykırı</a:t>
            </a:r>
            <a:r>
              <a:rPr lang="en-US" altLang="en-US" sz="2700" dirty="0"/>
              <a:t> </a:t>
            </a:r>
            <a:r>
              <a:rPr lang="en-US" altLang="en-US" sz="2700" dirty="0" err="1"/>
              <a:t>ilan</a:t>
            </a:r>
            <a:r>
              <a:rPr lang="en-US" altLang="en-US" sz="2700" dirty="0"/>
              <a:t> </a:t>
            </a:r>
            <a:r>
              <a:rPr lang="en-US" altLang="en-US" sz="2700" dirty="0" err="1"/>
              <a:t>edilmedi</a:t>
            </a:r>
            <a:r>
              <a:rPr lang="en-US" altLang="en-US" sz="2700" dirty="0"/>
              <a:t>
</a:t>
            </a:r>
            <a:r>
              <a:rPr lang="en-US" altLang="en-US" sz="2700" dirty="0" err="1"/>
              <a:t>Kullanıcı</a:t>
            </a:r>
            <a:r>
              <a:rPr lang="en-US" altLang="en-US" sz="2700" dirty="0"/>
              <a:t> </a:t>
            </a:r>
            <a:r>
              <a:rPr lang="en-US" altLang="en-US" sz="2700" dirty="0" err="1"/>
              <a:t>tarafından</a:t>
            </a:r>
            <a:r>
              <a:rPr lang="en-US" altLang="en-US" sz="2700" dirty="0"/>
              <a:t> </a:t>
            </a:r>
            <a:r>
              <a:rPr lang="en-US" altLang="en-US" sz="2700" dirty="0" err="1"/>
              <a:t>oluşturulan</a:t>
            </a:r>
            <a:r>
              <a:rPr lang="en-US" altLang="en-US" sz="2700" dirty="0"/>
              <a:t> </a:t>
            </a:r>
            <a:r>
              <a:rPr lang="en-US" altLang="en-US" sz="2700" dirty="0" err="1"/>
              <a:t>içeriği</a:t>
            </a:r>
            <a:r>
              <a:rPr lang="en-US" altLang="en-US" sz="2700" dirty="0"/>
              <a:t> </a:t>
            </a:r>
            <a:r>
              <a:rPr lang="en-US" altLang="en-US" sz="2700" dirty="0" err="1"/>
              <a:t>yayınlayan</a:t>
            </a:r>
            <a:r>
              <a:rPr lang="en-US" altLang="en-US" sz="2700" dirty="0"/>
              <a:t> </a:t>
            </a:r>
            <a:r>
              <a:rPr lang="en-US" altLang="en-US" sz="2700" dirty="0" err="1"/>
              <a:t>bir</a:t>
            </a:r>
            <a:r>
              <a:rPr lang="en-US" altLang="en-US" sz="2700" dirty="0"/>
              <a:t> </a:t>
            </a:r>
            <a:r>
              <a:rPr lang="en-US" altLang="en-US" sz="2700" dirty="0" err="1"/>
              <a:t>ISS'ye</a:t>
            </a:r>
            <a:r>
              <a:rPr lang="en-US" altLang="en-US" sz="2700" dirty="0"/>
              <a:t>, </a:t>
            </a:r>
            <a:r>
              <a:rPr lang="en-US" altLang="en-US" sz="2700" dirty="0" err="1"/>
              <a:t>eylemlerinin</a:t>
            </a:r>
            <a:r>
              <a:rPr lang="en-US" altLang="en-US" sz="2700" dirty="0"/>
              <a:t> </a:t>
            </a:r>
            <a:r>
              <a:rPr lang="en-US" altLang="en-US" sz="2700" dirty="0" err="1"/>
              <a:t>bir</a:t>
            </a:r>
            <a:r>
              <a:rPr lang="en-US" altLang="en-US" sz="2700" dirty="0"/>
              <a:t> </a:t>
            </a:r>
            <a:r>
              <a:rPr lang="en-US" altLang="en-US" sz="2700" dirty="0" err="1"/>
              <a:t>içerik</a:t>
            </a:r>
            <a:r>
              <a:rPr lang="en-US" altLang="en-US" sz="2700" dirty="0"/>
              <a:t> </a:t>
            </a:r>
            <a:r>
              <a:rPr lang="en-US" altLang="en-US" sz="2700" dirty="0" err="1"/>
              <a:t>sağlayıcı</a:t>
            </a:r>
            <a:r>
              <a:rPr lang="en-US" altLang="en-US" sz="2700" dirty="0"/>
              <a:t> </a:t>
            </a:r>
            <a:r>
              <a:rPr lang="en-US" altLang="en-US" sz="2700" dirty="0" err="1"/>
              <a:t>düzeyine</a:t>
            </a:r>
            <a:r>
              <a:rPr lang="en-US" altLang="en-US" sz="2700" dirty="0"/>
              <a:t> </a:t>
            </a:r>
            <a:r>
              <a:rPr lang="en-US" altLang="en-US" sz="2700" dirty="0" err="1"/>
              <a:t>yükselmemesi</a:t>
            </a:r>
            <a:r>
              <a:rPr lang="en-US" altLang="en-US" sz="2700" dirty="0"/>
              <a:t> </a:t>
            </a:r>
            <a:r>
              <a:rPr lang="en-US" altLang="en-US" sz="2700" dirty="0" err="1"/>
              <a:t>koşuluyla</a:t>
            </a:r>
            <a:r>
              <a:rPr lang="en-US" altLang="en-US" sz="2700" dirty="0"/>
              <a:t> </a:t>
            </a:r>
            <a:r>
              <a:rPr lang="en-US" altLang="en-US" sz="2700" dirty="0" err="1"/>
              <a:t>dokunulmazlık</a:t>
            </a:r>
            <a:r>
              <a:rPr lang="en-US" altLang="en-US" sz="2700" dirty="0"/>
              <a:t> </a:t>
            </a:r>
            <a:r>
              <a:rPr lang="en-US" altLang="en-US" sz="2700" dirty="0" err="1"/>
              <a:t>sağlar</a:t>
            </a:r>
            <a:endParaRPr lang="en-US" altLang="en-US" sz="2400" dirty="0"/>
          </a:p>
        </p:txBody>
      </p:sp>
      <p:sp>
        <p:nvSpPr>
          <p:cNvPr id="3" name="Title 2"/>
          <p:cNvSpPr>
            <a:spLocks noGrp="1"/>
          </p:cNvSpPr>
          <p:nvPr>
            <p:ph type="title"/>
          </p:nvPr>
        </p:nvSpPr>
        <p:spPr>
          <a:xfrm>
            <a:off x="762000" y="369646"/>
            <a:ext cx="8026400" cy="369460"/>
          </a:xfrm>
        </p:spPr>
        <p:txBody>
          <a:bodyPr/>
          <a:lstStyle/>
          <a:p>
            <a:r>
              <a:rPr lang="en-US" sz="2800"/>
              <a:t>İnternetteki Bilgilere Erişimi Kontrol Etme, Bölüm 1</a:t>
            </a:r>
            <a:endParaRPr lang="en-US" sz="28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8127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4733604"/>
          </a:xfrm>
        </p:spPr>
        <p:txBody>
          <a:bodyPr/>
          <a:lstStyle/>
          <a:p>
            <a:pPr marL="342900" lvl="1" indent="-342900">
              <a:buClr>
                <a:schemeClr val="accent2"/>
              </a:buClr>
              <a:buFontTx/>
              <a:buChar char="•"/>
              <a:defRPr/>
            </a:pPr>
            <a:r>
              <a:rPr lang="en-US" sz="2800" b="1"/>
              <a:t>Çocukların Çevrimiçi Korunması Yasası (COPA): 1998'de kabul edildi; reşit olmayanları çevrimiçi ortamda zararlı materyallere maruz bırakmanın cezalarını uygular
Haziran 2004'te COPA, ABD Yüksek Mahkemesi tarafından anayasaya aykırı bulundu 
İnternet filtresi: Uygunsuz veya saldırgan olduğu düşünülen materyaller içeren belirli web sitelerine erişimi engelleyen yazılım
URL, anahtar kelime ve dinamik içerik filtrelemenin bir kombinasyonunu kullanır</a:t>
            </a:r>
            <a:endParaRPr lang="en-US" altLang="en-US" sz="2200" dirty="0"/>
          </a:p>
        </p:txBody>
      </p:sp>
      <p:sp>
        <p:nvSpPr>
          <p:cNvPr id="3" name="Title 2"/>
          <p:cNvSpPr>
            <a:spLocks noGrp="1"/>
          </p:cNvSpPr>
          <p:nvPr>
            <p:ph type="title"/>
          </p:nvPr>
        </p:nvSpPr>
        <p:spPr>
          <a:xfrm>
            <a:off x="762000" y="369646"/>
            <a:ext cx="8026400" cy="369460"/>
          </a:xfrm>
        </p:spPr>
        <p:txBody>
          <a:bodyPr/>
          <a:lstStyle/>
          <a:p>
            <a:r>
              <a:rPr lang="en-US" sz="2800"/>
              <a:t>İnternetteki Bilgilere Erişimi Kontrol Etme, Bölüm 2</a:t>
            </a:r>
            <a:endParaRPr lang="en-US" sz="28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66433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143000"/>
            <a:ext cx="8415338" cy="5527667"/>
          </a:xfrm>
        </p:spPr>
        <p:txBody>
          <a:bodyPr/>
          <a:lstStyle/>
          <a:p>
            <a:r>
              <a:rPr lang="en-US" altLang="en-US" sz="2800" dirty="0" err="1"/>
              <a:t>Çocukların</a:t>
            </a:r>
            <a:r>
              <a:rPr lang="en-US" altLang="en-US" sz="2800" dirty="0"/>
              <a:t> </a:t>
            </a:r>
            <a:r>
              <a:rPr lang="en-US" altLang="en-US" sz="2800" dirty="0" err="1"/>
              <a:t>İnternetten</a:t>
            </a:r>
            <a:r>
              <a:rPr lang="en-US" altLang="en-US" sz="2800" dirty="0"/>
              <a:t> </a:t>
            </a:r>
            <a:r>
              <a:rPr lang="en-US" altLang="en-US" sz="2800" dirty="0" err="1"/>
              <a:t>Korunması</a:t>
            </a:r>
            <a:r>
              <a:rPr lang="en-US" altLang="en-US" sz="2800" dirty="0"/>
              <a:t> </a:t>
            </a:r>
            <a:r>
              <a:rPr lang="en-US" altLang="en-US" sz="2800" dirty="0" err="1"/>
              <a:t>Yasası</a:t>
            </a:r>
            <a:r>
              <a:rPr lang="en-US" altLang="en-US" sz="2800" dirty="0"/>
              <a:t> (CIPA): 2000 </a:t>
            </a:r>
            <a:r>
              <a:rPr lang="en-US" altLang="en-US" sz="2800" dirty="0" err="1"/>
              <a:t>yılında</a:t>
            </a:r>
            <a:r>
              <a:rPr lang="en-US" altLang="en-US" sz="2800" dirty="0"/>
              <a:t> </a:t>
            </a:r>
            <a:r>
              <a:rPr lang="en-US" altLang="en-US" sz="2800" dirty="0" err="1"/>
              <a:t>kabul</a:t>
            </a:r>
            <a:r>
              <a:rPr lang="en-US" altLang="en-US" sz="2800" dirty="0"/>
              <a:t> </a:t>
            </a:r>
            <a:r>
              <a:rPr lang="en-US" altLang="en-US" sz="2800" dirty="0" err="1"/>
              <a:t>edildi</a:t>
            </a:r>
            <a:r>
              <a:rPr lang="en-US" altLang="en-US" sz="2800" dirty="0"/>
              <a:t>; federal </a:t>
            </a:r>
            <a:r>
              <a:rPr lang="en-US" altLang="en-US" sz="2800" dirty="0" err="1"/>
              <a:t>olarak</a:t>
            </a:r>
            <a:r>
              <a:rPr lang="en-US" altLang="en-US" sz="2800" dirty="0"/>
              <a:t> </a:t>
            </a:r>
            <a:r>
              <a:rPr lang="en-US" altLang="en-US" sz="2800" dirty="0" err="1"/>
              <a:t>finanse</a:t>
            </a:r>
            <a:r>
              <a:rPr lang="en-US" altLang="en-US" sz="2800" dirty="0"/>
              <a:t> </a:t>
            </a:r>
            <a:r>
              <a:rPr lang="en-US" altLang="en-US" sz="2800" dirty="0" err="1"/>
              <a:t>edilen</a:t>
            </a:r>
            <a:r>
              <a:rPr lang="en-US" altLang="en-US" sz="2800" dirty="0"/>
              <a:t> </a:t>
            </a:r>
            <a:r>
              <a:rPr lang="en-US" altLang="en-US" sz="2800" dirty="0" err="1"/>
              <a:t>okulların</a:t>
            </a:r>
            <a:r>
              <a:rPr lang="en-US" altLang="en-US" sz="2800" dirty="0"/>
              <a:t> </a:t>
            </a:r>
            <a:r>
              <a:rPr lang="en-US" altLang="en-US" sz="2800" dirty="0" err="1"/>
              <a:t>ve</a:t>
            </a:r>
            <a:r>
              <a:rPr lang="en-US" altLang="en-US" sz="2800" dirty="0"/>
              <a:t> </a:t>
            </a:r>
            <a:r>
              <a:rPr lang="en-US" altLang="en-US" sz="2800" dirty="0" err="1"/>
              <a:t>kütüphanelerin</a:t>
            </a:r>
            <a:r>
              <a:rPr lang="en-US" altLang="en-US" sz="2800" dirty="0"/>
              <a:t> </a:t>
            </a:r>
            <a:r>
              <a:rPr lang="en-US" altLang="en-US" sz="2800" dirty="0" err="1"/>
              <a:t>reşit</a:t>
            </a:r>
            <a:r>
              <a:rPr lang="en-US" altLang="en-US" sz="2800" dirty="0"/>
              <a:t> </a:t>
            </a:r>
            <a:r>
              <a:rPr lang="en-US" altLang="en-US" sz="2800" dirty="0" err="1"/>
              <a:t>olmayanlar</a:t>
            </a:r>
            <a:r>
              <a:rPr lang="en-US" altLang="en-US" sz="2800" dirty="0"/>
              <a:t> için </a:t>
            </a:r>
            <a:r>
              <a:rPr lang="en-US" altLang="en-US" sz="2800" dirty="0" err="1"/>
              <a:t>zararlı</a:t>
            </a:r>
            <a:r>
              <a:rPr lang="en-US" altLang="en-US" sz="2800" dirty="0"/>
              <a:t> </a:t>
            </a:r>
            <a:r>
              <a:rPr lang="en-US" altLang="en-US" sz="2800" dirty="0" err="1"/>
              <a:t>diğer</a:t>
            </a:r>
            <a:r>
              <a:rPr lang="en-US" altLang="en-US" sz="2800" dirty="0"/>
              <a:t> her </a:t>
            </a:r>
            <a:r>
              <a:rPr lang="en-US" altLang="en-US" sz="2800" dirty="0" err="1"/>
              <a:t>şeye</a:t>
            </a:r>
            <a:r>
              <a:rPr lang="en-US" altLang="en-US" sz="2800" dirty="0"/>
              <a:t> </a:t>
            </a:r>
            <a:r>
              <a:rPr lang="en-US" altLang="en-US" sz="2800" dirty="0" err="1"/>
              <a:t>bilgisayar</a:t>
            </a:r>
            <a:r>
              <a:rPr lang="en-US" altLang="en-US" sz="2800" dirty="0"/>
              <a:t> </a:t>
            </a:r>
            <a:r>
              <a:rPr lang="en-US" altLang="en-US" sz="2800" dirty="0" err="1"/>
              <a:t>erişimini</a:t>
            </a:r>
            <a:r>
              <a:rPr lang="en-US" altLang="en-US" sz="2800" dirty="0"/>
              <a:t> </a:t>
            </a:r>
            <a:r>
              <a:rPr lang="en-US" altLang="en-US" sz="2800" dirty="0" err="1"/>
              <a:t>engellemesini</a:t>
            </a:r>
            <a:r>
              <a:rPr lang="en-US" altLang="en-US" sz="2800" dirty="0"/>
              <a:t> </a:t>
            </a:r>
            <a:r>
              <a:rPr lang="en-US" altLang="en-US" sz="2800" dirty="0" err="1"/>
              <a:t>gerektirir</a:t>
            </a:r>
            <a:r>
              <a:rPr lang="en-US" altLang="en-US" sz="2800" dirty="0"/>
              <a:t>
</a:t>
            </a:r>
            <a:r>
              <a:rPr lang="en-US" altLang="en-US" sz="2800" dirty="0" err="1"/>
              <a:t>CIPA'ya</a:t>
            </a:r>
            <a:r>
              <a:rPr lang="en-US" altLang="en-US" sz="2800" dirty="0"/>
              <a:t> </a:t>
            </a:r>
            <a:r>
              <a:rPr lang="en-US" altLang="en-US" sz="2800" dirty="0" err="1"/>
              <a:t>Yönelik</a:t>
            </a:r>
            <a:r>
              <a:rPr lang="en-US" altLang="en-US" sz="2800" dirty="0"/>
              <a:t> </a:t>
            </a:r>
            <a:r>
              <a:rPr lang="en-US" altLang="en-US" sz="2800" dirty="0" err="1"/>
              <a:t>Eleştiriler</a:t>
            </a:r>
            <a:r>
              <a:rPr lang="en-US" altLang="en-US" sz="2800" dirty="0"/>
              <a:t>: 
</a:t>
            </a:r>
            <a:r>
              <a:rPr lang="en-US" altLang="en-US" sz="2800" dirty="0" err="1"/>
              <a:t>Eğitim</a:t>
            </a:r>
            <a:r>
              <a:rPr lang="en-US" altLang="en-US" sz="2800" dirty="0"/>
              <a:t> </a:t>
            </a:r>
            <a:r>
              <a:rPr lang="en-US" altLang="en-US" sz="2800" dirty="0" err="1"/>
              <a:t>üzerindeki</a:t>
            </a:r>
            <a:r>
              <a:rPr lang="en-US" altLang="en-US" sz="2800" dirty="0"/>
              <a:t> </a:t>
            </a:r>
            <a:r>
              <a:rPr lang="en-US" altLang="en-US" sz="2800" dirty="0" err="1"/>
              <a:t>gücü</a:t>
            </a:r>
            <a:r>
              <a:rPr lang="en-US" altLang="en-US" sz="2800" dirty="0"/>
              <a:t>, İnternet </a:t>
            </a:r>
            <a:r>
              <a:rPr lang="en-US" altLang="en-US" sz="2800" dirty="0" err="1"/>
              <a:t>filtrelerini</a:t>
            </a:r>
            <a:r>
              <a:rPr lang="en-US" altLang="en-US" sz="2800" dirty="0"/>
              <a:t> </a:t>
            </a:r>
            <a:r>
              <a:rPr lang="en-US" altLang="en-US" sz="2800" dirty="0" err="1"/>
              <a:t>geliştiren</a:t>
            </a:r>
            <a:r>
              <a:rPr lang="en-US" altLang="en-US" sz="2800" dirty="0"/>
              <a:t> </a:t>
            </a:r>
            <a:r>
              <a:rPr lang="en-US" altLang="en-US" sz="2800" dirty="0" err="1"/>
              <a:t>yazılım</a:t>
            </a:r>
            <a:r>
              <a:rPr lang="en-US" altLang="en-US" sz="2800" dirty="0"/>
              <a:t> </a:t>
            </a:r>
            <a:r>
              <a:rPr lang="en-US" altLang="en-US" sz="2800" dirty="0" err="1"/>
              <a:t>şirketlerine</a:t>
            </a:r>
            <a:r>
              <a:rPr lang="en-US" altLang="en-US" sz="2800" dirty="0"/>
              <a:t> </a:t>
            </a:r>
            <a:r>
              <a:rPr lang="en-US" altLang="en-US" sz="2800" dirty="0" err="1"/>
              <a:t>devretti</a:t>
            </a:r>
            <a:r>
              <a:rPr lang="en-US" altLang="en-US" sz="2800" dirty="0"/>
              <a:t>
</a:t>
            </a:r>
            <a:r>
              <a:rPr lang="en-US" altLang="en-US" sz="2800" dirty="0" err="1"/>
              <a:t>Bazı</a:t>
            </a:r>
            <a:r>
              <a:rPr lang="en-US" altLang="en-US" sz="2800" dirty="0"/>
              <a:t> </a:t>
            </a:r>
            <a:r>
              <a:rPr lang="en-US" altLang="en-US" sz="2800" dirty="0" err="1"/>
              <a:t>filtreler</a:t>
            </a:r>
            <a:r>
              <a:rPr lang="en-US" altLang="en-US" sz="2800" dirty="0"/>
              <a:t> </a:t>
            </a:r>
            <a:r>
              <a:rPr lang="en-US" altLang="en-US" sz="2800" dirty="0" err="1"/>
              <a:t>etkisizdir</a:t>
            </a:r>
            <a:r>
              <a:rPr lang="en-US" altLang="en-US" sz="2800" dirty="0"/>
              <a:t>
Federal </a:t>
            </a:r>
            <a:r>
              <a:rPr lang="en-US" altLang="en-US" sz="2800" dirty="0" err="1"/>
              <a:t>fonların</a:t>
            </a:r>
            <a:r>
              <a:rPr lang="en-US" altLang="en-US" sz="2800" dirty="0"/>
              <a:t> </a:t>
            </a:r>
            <a:r>
              <a:rPr lang="en-US" altLang="en-US" sz="2800" dirty="0" err="1"/>
              <a:t>kaybıyla</a:t>
            </a:r>
            <a:r>
              <a:rPr lang="en-US" altLang="en-US" sz="2800" dirty="0"/>
              <a:t> </a:t>
            </a:r>
            <a:r>
              <a:rPr lang="en-US" altLang="en-US" sz="2800" dirty="0" err="1"/>
              <a:t>sonuçlanan</a:t>
            </a:r>
            <a:r>
              <a:rPr lang="en-US" altLang="en-US" sz="2800" dirty="0"/>
              <a:t> </a:t>
            </a:r>
            <a:r>
              <a:rPr lang="en-US" altLang="en-US" sz="2800" dirty="0" err="1"/>
              <a:t>cezalar</a:t>
            </a:r>
            <a:r>
              <a:rPr lang="en-US" altLang="en-US" sz="2800" dirty="0"/>
              <a:t>, </a:t>
            </a:r>
            <a:r>
              <a:rPr lang="en-US" altLang="en-US" sz="2800" dirty="0" err="1"/>
              <a:t>daha</a:t>
            </a:r>
            <a:r>
              <a:rPr lang="en-US" altLang="en-US" sz="2800" dirty="0"/>
              <a:t> </a:t>
            </a:r>
            <a:r>
              <a:rPr lang="en-US" altLang="en-US" sz="2800" dirty="0" err="1"/>
              <a:t>yoksul</a:t>
            </a:r>
            <a:r>
              <a:rPr lang="en-US" altLang="en-US" sz="2800" dirty="0"/>
              <a:t> </a:t>
            </a:r>
            <a:r>
              <a:rPr lang="en-US" altLang="en-US" sz="2800" dirty="0" err="1"/>
              <a:t>okullardaki</a:t>
            </a:r>
            <a:r>
              <a:rPr lang="en-US" altLang="en-US" sz="2800" dirty="0"/>
              <a:t> </a:t>
            </a:r>
            <a:r>
              <a:rPr lang="en-US" altLang="en-US" sz="2800" dirty="0" err="1"/>
              <a:t>öğrenciler</a:t>
            </a:r>
            <a:r>
              <a:rPr lang="en-US" altLang="en-US" sz="2800" dirty="0"/>
              <a:t> için </a:t>
            </a:r>
            <a:r>
              <a:rPr lang="en-US" altLang="en-US" sz="2800" dirty="0" err="1"/>
              <a:t>İnternet'in</a:t>
            </a:r>
            <a:r>
              <a:rPr lang="en-US" altLang="en-US" sz="2800" dirty="0"/>
              <a:t> </a:t>
            </a:r>
            <a:r>
              <a:rPr lang="en-US" altLang="en-US" sz="2800" dirty="0" err="1"/>
              <a:t>daha</a:t>
            </a:r>
            <a:r>
              <a:rPr lang="en-US" altLang="en-US" sz="2800" dirty="0"/>
              <a:t> </a:t>
            </a:r>
            <a:r>
              <a:rPr lang="en-US" altLang="en-US" sz="2800" dirty="0" err="1"/>
              <a:t>az</a:t>
            </a:r>
            <a:r>
              <a:rPr lang="en-US" altLang="en-US" sz="2800" dirty="0"/>
              <a:t> </a:t>
            </a:r>
            <a:r>
              <a:rPr lang="en-US" altLang="en-US" sz="2800" dirty="0" err="1"/>
              <a:t>yetenekli</a:t>
            </a:r>
            <a:r>
              <a:rPr lang="en-US" altLang="en-US" sz="2800" dirty="0"/>
              <a:t> </a:t>
            </a:r>
            <a:r>
              <a:rPr lang="en-US" altLang="en-US" sz="2800" dirty="0" err="1"/>
              <a:t>bir</a:t>
            </a:r>
            <a:r>
              <a:rPr lang="en-US" altLang="en-US" sz="2800" dirty="0"/>
              <a:t> </a:t>
            </a:r>
            <a:r>
              <a:rPr lang="en-US" altLang="en-US" sz="2800" dirty="0" err="1"/>
              <a:t>versiyonuna</a:t>
            </a:r>
            <a:r>
              <a:rPr lang="en-US" altLang="en-US" sz="2800" dirty="0"/>
              <a:t> </a:t>
            </a:r>
            <a:r>
              <a:rPr lang="en-US" altLang="en-US" sz="2800" dirty="0" err="1"/>
              <a:t>yol</a:t>
            </a:r>
            <a:r>
              <a:rPr lang="en-US" altLang="en-US" sz="2800" dirty="0"/>
              <a:t> </a:t>
            </a:r>
            <a:r>
              <a:rPr lang="en-US" altLang="en-US" sz="2800" dirty="0" err="1"/>
              <a:t>açabilir</a:t>
            </a:r>
            <a:endParaRPr lang="en-US" altLang="en-US" dirty="0"/>
          </a:p>
        </p:txBody>
      </p:sp>
      <p:sp>
        <p:nvSpPr>
          <p:cNvPr id="3" name="Title 2"/>
          <p:cNvSpPr>
            <a:spLocks noGrp="1"/>
          </p:cNvSpPr>
          <p:nvPr>
            <p:ph type="title"/>
          </p:nvPr>
        </p:nvSpPr>
        <p:spPr>
          <a:xfrm>
            <a:off x="762000" y="369646"/>
            <a:ext cx="8026400" cy="369460"/>
          </a:xfrm>
        </p:spPr>
        <p:txBody>
          <a:bodyPr/>
          <a:lstStyle/>
          <a:p>
            <a:r>
              <a:rPr lang="en-US" sz="2800"/>
              <a:t>İnternetteki Bilgilere Erişimi Kontrol Etme, Bölüm 3</a:t>
            </a:r>
            <a:endParaRPr lang="en-US" sz="28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45501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295400"/>
            <a:ext cx="8415338" cy="3991862"/>
          </a:xfrm>
        </p:spPr>
        <p:txBody>
          <a:bodyPr/>
          <a:lstStyle/>
          <a:p>
            <a:r>
              <a:rPr lang="en-US" altLang="en-US" sz="2800"/>
              <a:t>Dijital Binyıl Telif Hakkı Yasası (DMCA): 1998'de kabul edildi; telif hakkıyla ilgili bir dizi sorunu ele alır
Yasanın II. Başlığı, bir ISS abonesinin telif hakkıyla korunan materyal yayınlaması durumunda, bir ISS'nin telif hakkı ihlali sorumluluğunu sınırlar.
Bir ISS, telif hakkı sahibi tarafından bildirildiğinde, aboneyi iddia edilen ihlal konusunda bilgilendirir ve rahatsız edici içeriği kaldırarak bir "yayından kaldırma" gerçekleştirirse, telif hakkı ihlalinden sorumlu tutulamaz.</a:t>
            </a:r>
            <a:endParaRPr lang="en-US" altLang="en-US" sz="2400" dirty="0"/>
          </a:p>
        </p:txBody>
      </p:sp>
      <p:sp>
        <p:nvSpPr>
          <p:cNvPr id="3" name="Title 2"/>
          <p:cNvSpPr>
            <a:spLocks noGrp="1"/>
          </p:cNvSpPr>
          <p:nvPr>
            <p:ph type="title"/>
          </p:nvPr>
        </p:nvSpPr>
        <p:spPr>
          <a:xfrm>
            <a:off x="762000" y="369646"/>
            <a:ext cx="8026400" cy="369460"/>
          </a:xfrm>
        </p:spPr>
        <p:txBody>
          <a:bodyPr/>
          <a:lstStyle/>
          <a:p>
            <a:r>
              <a:rPr lang="en-US" sz="2800"/>
              <a:t>İnternetteki Bilgilere Erişimi Kontrol Etme, Bölüm 4</a:t>
            </a:r>
            <a:endParaRPr lang="en-US" sz="28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00763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3062" y="1429399"/>
            <a:ext cx="8415338" cy="3019288"/>
          </a:xfrm>
        </p:spPr>
        <p:txBody>
          <a:bodyPr/>
          <a:lstStyle/>
          <a:p>
            <a:r>
              <a:rPr lang="en-US" altLang="en-US" sz="2800"/>
              <a:t>İnternet sansürü: Bilginin çevrimiçi olarak yayınlanmasının veya erişilmesinin kontrolü veya bastırılması
İnternette konuşma, izleyicilerine ulaşmak için bir dizi aracı gerektirir ve her aracı, konuşmayı susturmak isteyenlerin bir dereceye kadar baskısına karşı savunmasızdır.</a:t>
            </a:r>
            <a:endParaRPr lang="en-US" altLang="en-US" sz="2800" dirty="0"/>
          </a:p>
        </p:txBody>
      </p:sp>
      <p:sp>
        <p:nvSpPr>
          <p:cNvPr id="3" name="Title 2"/>
          <p:cNvSpPr>
            <a:spLocks noGrp="1"/>
          </p:cNvSpPr>
          <p:nvPr>
            <p:ph type="title"/>
          </p:nvPr>
        </p:nvSpPr>
        <p:spPr>
          <a:xfrm>
            <a:off x="762000" y="290459"/>
            <a:ext cx="8026400" cy="527837"/>
          </a:xfrm>
        </p:spPr>
        <p:txBody>
          <a:bodyPr/>
          <a:lstStyle/>
          <a:p>
            <a:r>
              <a:rPr lang="en-US" sz="4000"/>
              <a:t>İnternet Sansürü, Bölüm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26539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Figure 5-3: This figure illustrates the path that speech on the Internet must take through a series of intermediaries to reach its audience. Components of that path include: You, a web host server, upstream Internet service providers, domain name service, additional Internet service providers, and your audience. "/>
          <p:cNvPicPr>
            <a:picLocks noGrp="1" noChangeAspect="1"/>
          </p:cNvPicPr>
          <p:nvPr>
            <p:ph idx="1"/>
          </p:nvPr>
        </p:nvPicPr>
        <p:blipFill>
          <a:blip r:embed="rId2"/>
          <a:stretch>
            <a:fillRect/>
          </a:stretch>
        </p:blipFill>
        <p:spPr>
          <a:xfrm>
            <a:off x="76200" y="1539473"/>
            <a:ext cx="8922773" cy="3337327"/>
          </a:xfrm>
          <a:prstGeom prst="rect">
            <a:avLst/>
          </a:prstGeom>
        </p:spPr>
      </p:pic>
      <p:sp>
        <p:nvSpPr>
          <p:cNvPr id="3" name="Title 2"/>
          <p:cNvSpPr>
            <a:spLocks noGrp="1"/>
          </p:cNvSpPr>
          <p:nvPr>
            <p:ph type="title"/>
          </p:nvPr>
        </p:nvSpPr>
        <p:spPr>
          <a:xfrm>
            <a:off x="762000" y="290459"/>
            <a:ext cx="8026400" cy="527837"/>
          </a:xfrm>
        </p:spPr>
        <p:txBody>
          <a:bodyPr/>
          <a:lstStyle/>
          <a:p>
            <a:r>
              <a:rPr lang="en-US" sz="4000"/>
              <a:t>İnternet Sansürü, Bölüm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82689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5016758"/>
          </a:xfrm>
        </p:spPr>
        <p:txBody>
          <a:bodyPr/>
          <a:lstStyle/>
          <a:p>
            <a:r>
              <a:rPr lang="en-US" altLang="en-US" sz="2800"/>
              <a:t>İnternet sansürü çeşitli biçimler alır:
Belirli web sitelerine erişimi sınırlama
Belirli web sitelerinde yalnızca bazı içeriklere veya değiştirilmiş içeriğe erişime izin verme
Çevrimiçi aramalarda belirli anahtar kelimelerin kullanımını reddetme
Bireylerin İnternet aktivitelerinin takibi
Bireyleri internet kullanımları nedeniyle hapse atmak
Uygunsuz veya yasa dışı kabul edilen içeriği barındıran bir alan adının kaydını silme</a:t>
            </a:r>
            <a:endParaRPr lang="en-US" altLang="en-US" sz="2600" dirty="0"/>
          </a:p>
        </p:txBody>
      </p:sp>
      <p:sp>
        <p:nvSpPr>
          <p:cNvPr id="3" name="Title 2"/>
          <p:cNvSpPr>
            <a:spLocks noGrp="1"/>
          </p:cNvSpPr>
          <p:nvPr>
            <p:ph type="title"/>
          </p:nvPr>
        </p:nvSpPr>
        <p:spPr>
          <a:xfrm>
            <a:off x="762000" y="290459"/>
            <a:ext cx="8026400" cy="527837"/>
          </a:xfrm>
        </p:spPr>
        <p:txBody>
          <a:bodyPr/>
          <a:lstStyle/>
          <a:p>
            <a:r>
              <a:rPr lang="en-US" sz="4000"/>
              <a:t>İnternet Sansürü, Bölüm 3</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59477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327065"/>
          </a:xfrm>
        </p:spPr>
        <p:txBody>
          <a:bodyPr/>
          <a:lstStyle/>
          <a:p>
            <a:r>
              <a:rPr lang="en-US" altLang="en-US" sz="2800"/>
              <a:t>Halkın Katılımına Karşı Stratejik Dava (SLAPP): Şirketler, hükümet yetkilileri ve diğerleri tarafından kamu yararına olan konularda kendilerine karşı çıkan vatandaşlara ve topluluk gruplarına karşı kullanılan bir dava
SLAPP karşıtı yasalar: 
28 eyalette ve Columbia Bölgesi'nde geçti
Anlamsız SLAPP'leri azaltmak için tasarlandı</a:t>
            </a:r>
            <a:endParaRPr lang="en-US" altLang="en-US" sz="2600" dirty="0"/>
          </a:p>
        </p:txBody>
      </p:sp>
      <p:sp>
        <p:nvSpPr>
          <p:cNvPr id="3" name="Title 2"/>
          <p:cNvSpPr>
            <a:spLocks noGrp="1"/>
          </p:cNvSpPr>
          <p:nvPr>
            <p:ph type="title"/>
          </p:nvPr>
        </p:nvSpPr>
        <p:spPr>
          <a:xfrm>
            <a:off x="762000" y="290459"/>
            <a:ext cx="8026400" cy="527837"/>
          </a:xfrm>
        </p:spPr>
        <p:txBody>
          <a:bodyPr/>
          <a:lstStyle/>
          <a:p>
            <a:r>
              <a:rPr lang="en-US" sz="4000"/>
              <a:t>SLAPP Davaları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39055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373779"/>
          </a:xfrm>
        </p:spPr>
        <p:txBody>
          <a:bodyPr/>
          <a:lstStyle/>
          <a:p>
            <a:pPr marL="171450" lvl="1">
              <a:spcBef>
                <a:spcPts val="1200"/>
              </a:spcBef>
              <a:buClr>
                <a:schemeClr val="accent2"/>
              </a:buClr>
            </a:pPr>
            <a:r>
              <a:rPr lang="en-US" sz="2800"/>
              <a:t>Anonim ifade: Kimliğini açıklamayan kişiler tarafından ifade edilen görüşler
Doxing: Birinin ev adresi, e-posta adresi, telefon numaraları ve iş yeri gibi özel kişisel bilgilerini elde etmek için çevrimiçi araştırma yapmak ve ardından bu bilgileri çevrimiçi olarak yayınlamak
Bir intikam eylemi olarak veya çevrimiçi olarak anonim olarak faaliyet gösteren birini alenen utandırmak için yapılabilir
Anonim remailer hizmeti: Mesajı hedeflenen alıcıya göndermeden önce e-postalardan kaynak başlığı ve/veya IP numarasını çıkarır</a:t>
            </a:r>
            <a:endParaRPr lang="en-US" dirty="0"/>
          </a:p>
        </p:txBody>
      </p:sp>
      <p:sp>
        <p:nvSpPr>
          <p:cNvPr id="3" name="Title 2"/>
          <p:cNvSpPr>
            <a:spLocks noGrp="1"/>
          </p:cNvSpPr>
          <p:nvPr>
            <p:ph type="title"/>
          </p:nvPr>
        </p:nvSpPr>
        <p:spPr>
          <a:xfrm>
            <a:off x="762000" y="290459"/>
            <a:ext cx="8026400" cy="527837"/>
          </a:xfrm>
        </p:spPr>
        <p:txBody>
          <a:bodyPr/>
          <a:lstStyle/>
          <a:p>
            <a:r>
              <a:rPr lang="en-US" sz="4000"/>
              <a:t>İnternette Anonimlik</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023399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538818"/>
            <a:ext cx="8415338" cy="3991862"/>
          </a:xfrm>
        </p:spPr>
        <p:txBody>
          <a:bodyPr/>
          <a:lstStyle/>
          <a:p>
            <a:r>
              <a:rPr lang="en-US" sz="2800"/>
              <a:t>John Doe davası: Mağdur bir tarafın, anonim olarak iletişim kurması veya takma ad kullanması nedeniyle kimliği geçici olarak bilinmeyen bir sanık aleyhine açtığı dava
Davacı, bir kişinin ortaya çıkmasını emretmek için mahkeme celbi çıkarmak için mahkeme izni talep edebilir
İzin verilirse, davalının gerçek kimliği hakkında bilgi sahibi olabilecek herhangi bir üçüncü tarafa mahkeme celbi tebliğ edilebilir</a:t>
            </a:r>
            <a:endParaRPr lang="en-US" dirty="0"/>
          </a:p>
        </p:txBody>
      </p:sp>
      <p:sp>
        <p:nvSpPr>
          <p:cNvPr id="3" name="Title 2"/>
          <p:cNvSpPr>
            <a:spLocks noGrp="1"/>
          </p:cNvSpPr>
          <p:nvPr>
            <p:ph type="title"/>
          </p:nvPr>
        </p:nvSpPr>
        <p:spPr>
          <a:xfrm>
            <a:off x="762000" y="290459"/>
            <a:ext cx="8026400" cy="527837"/>
          </a:xfrm>
        </p:spPr>
        <p:txBody>
          <a:bodyPr/>
          <a:lstStyle/>
          <a:p>
            <a:r>
              <a:rPr lang="en-US" sz="4000"/>
              <a:t>John Doe Davaları</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41956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371600"/>
            <a:ext cx="8415338" cy="4555093"/>
          </a:xfrm>
        </p:spPr>
        <p:txBody>
          <a:bodyPr/>
          <a:lstStyle/>
          <a:p>
            <a:r>
              <a:rPr lang="en-US" altLang="en-US" sz="2800"/>
              <a:t>Nefret söylemi: Belirli bir kişiye yönelik ısrarlı veya kötü niyetli taciz
Çoğu ISS, standartlarını karşılamayan içeriği kaldırma hakkını saklı tutar
Devlet okulları ve üniversiteler, Birinci Değişikliğin konuşma kısıtlamalarına karşı yasağına uymalıdır.
Şirketler ve özel okullar/üniversiteler, çalışanların ve öğrencilerin şirkete veya okula ait bilgisayarları, ağları veya e-posta hizmetlerini kullanarak rahatsız edici konuşmalarda bulunmasını yasaklayabilir.</a:t>
            </a:r>
            <a:endParaRPr lang="en-US" dirty="0"/>
          </a:p>
        </p:txBody>
      </p:sp>
      <p:sp>
        <p:nvSpPr>
          <p:cNvPr id="3" name="Title 2"/>
          <p:cNvSpPr>
            <a:spLocks noGrp="1"/>
          </p:cNvSpPr>
          <p:nvPr>
            <p:ph type="title"/>
          </p:nvPr>
        </p:nvSpPr>
        <p:spPr>
          <a:xfrm>
            <a:off x="762000" y="290459"/>
            <a:ext cx="8026400" cy="527837"/>
          </a:xfrm>
        </p:spPr>
        <p:txBody>
          <a:bodyPr/>
          <a:lstStyle/>
          <a:p>
            <a:r>
              <a:rPr lang="en-US" sz="4000"/>
              <a:t>Nefret dolu konuşma</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73681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2609945"/>
          </a:xfrm>
        </p:spPr>
        <p:txBody>
          <a:bodyPr/>
          <a:lstStyle/>
          <a:p>
            <a:r>
              <a:rPr lang="en-US" sz="2800"/>
              <a:t>Gazetecilik, insanların haberlerini alma biçimleri de dahil olmak üzere, hızlı bir değişim döneminden geçiyor.
Çevrimiçi bilgi ve fikir kaynaklarının çoğalması, İnternet'in, aslında, gazetecilik tarzında sunulan güncel olayların son derece fikirli, kurgusal veya hicivli hesapları olan "haber" hesaplarıyla dolu olduğu anlamına gelir.</a:t>
            </a:r>
            <a:endParaRPr lang="en-US" sz="2800" dirty="0"/>
          </a:p>
        </p:txBody>
      </p:sp>
      <p:sp>
        <p:nvSpPr>
          <p:cNvPr id="3" name="Title 2"/>
          <p:cNvSpPr>
            <a:spLocks noGrp="1"/>
          </p:cNvSpPr>
          <p:nvPr>
            <p:ph type="title"/>
          </p:nvPr>
        </p:nvSpPr>
        <p:spPr>
          <a:xfrm>
            <a:off x="759707" y="304800"/>
            <a:ext cx="8026400" cy="527837"/>
          </a:xfrm>
        </p:spPr>
        <p:txBody>
          <a:bodyPr/>
          <a:lstStyle/>
          <a:p>
            <a:r>
              <a:rPr lang="en-US" sz="4000"/>
              <a:t>Sahte Haberler, Bölüm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44665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4321183"/>
          </a:xfrm>
        </p:spPr>
        <p:txBody>
          <a:bodyPr/>
          <a:lstStyle/>
          <a:p>
            <a:r>
              <a:rPr lang="en-US" sz="2400"/>
              <a:t>Geleneksel olmayan haber ve bilgi kaynakları:
Bloglar—Bazı blog yazarları çok tutkulu oldukları şeyler hakkında rapor verirler. Sonuç olarak, tarafsız kalma olasılıkları daha düşük olabilir.
Sahte haber siteleri: Bazı siteler, izleyicileri tıklamaya ikna etmek için gerçek haber hikayelerini değiştirir. Diğerleri tamamen hayali "haber" hikayeleri yaratır ve bunları gerçekmiş gibi sunar.
Sosyal medya siteleri—Sosyal medya aracılığıyla paylaşılan raporlar, resimler, görüşler ve videolar genellikle orman yangını gibi yayıldığından, bazen bir duruma açıklık getirmek yerine kafa karışıklığına, yanlış anlaşılmalara ve tartışmalara neden olabilir.</a:t>
            </a:r>
            <a:endParaRPr lang="en-US" sz="6000" dirty="0"/>
          </a:p>
        </p:txBody>
      </p:sp>
      <p:sp>
        <p:nvSpPr>
          <p:cNvPr id="3" name="Title 2"/>
          <p:cNvSpPr>
            <a:spLocks noGrp="1"/>
          </p:cNvSpPr>
          <p:nvPr>
            <p:ph type="title"/>
          </p:nvPr>
        </p:nvSpPr>
        <p:spPr>
          <a:xfrm>
            <a:off x="762000" y="290459"/>
            <a:ext cx="8026400" cy="527837"/>
          </a:xfrm>
        </p:spPr>
        <p:txBody>
          <a:bodyPr/>
          <a:lstStyle/>
          <a:p>
            <a:r>
              <a:rPr lang="en-US" sz="4000"/>
              <a:t>Sahte Haberler, Bölüm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103145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5-2 (part 1): This table presents a checklist of questions a manager should ask when handling freedom of expression issues in the workplace: &#10;Do you have a written data privacy policy that is followed?&#10;Does your corporate IT usage policy discuss the need to conserve corporate network capacity, avoid legal liability, and improve worker productivity by limiting the nonbusiness use of information resources?&#10;Did the developers of your policy consider the need to limit employee access to nonbusiness-related websites (e.g., Internet filters, firewall configurations, or the use of an ISP that blocks access to such sites)?&#10;Does your corporate IT usage policy discuss the inappropriate use of anonymous remailers?&#10;Has your corporate firewall been set to detect the use of anonymous remailers?&#10;"/>
          <p:cNvGraphicFramePr>
            <a:graphicFrameLocks noGrp="1"/>
          </p:cNvGraphicFramePr>
          <p:nvPr>
            <p:ph idx="1"/>
            <p:extLst>
              <p:ext uri="{D42A27DB-BD31-4B8C-83A1-F6EECF244321}">
                <p14:modId xmlns:p14="http://schemas.microsoft.com/office/powerpoint/2010/main" val="3564322198"/>
              </p:ext>
            </p:extLst>
          </p:nvPr>
        </p:nvGraphicFramePr>
        <p:xfrm>
          <a:off x="365125" y="1219200"/>
          <a:ext cx="8415339" cy="5210239"/>
        </p:xfrm>
        <a:graphic>
          <a:graphicData uri="http://schemas.openxmlformats.org/drawingml/2006/table">
            <a:tbl>
              <a:tblPr firstRow="1" bandRow="1">
                <a:tableStyleId>{5C22544A-7EE6-4342-B048-85BDC9FD1C3A}</a:tableStyleId>
              </a:tblPr>
              <a:tblGrid>
                <a:gridCol w="7102475">
                  <a:extLst>
                    <a:ext uri="{9D8B030D-6E8A-4147-A177-3AD203B41FA5}">
                      <a16:colId xmlns:a16="http://schemas.microsoft.com/office/drawing/2014/main" val="3778068355"/>
                    </a:ext>
                  </a:extLst>
                </a:gridCol>
                <a:gridCol w="685800">
                  <a:extLst>
                    <a:ext uri="{9D8B030D-6E8A-4147-A177-3AD203B41FA5}">
                      <a16:colId xmlns:a16="http://schemas.microsoft.com/office/drawing/2014/main" val="2852991424"/>
                    </a:ext>
                  </a:extLst>
                </a:gridCol>
                <a:gridCol w="627064">
                  <a:extLst>
                    <a:ext uri="{9D8B030D-6E8A-4147-A177-3AD203B41FA5}">
                      <a16:colId xmlns:a16="http://schemas.microsoft.com/office/drawing/2014/main" val="3611693267"/>
                    </a:ext>
                  </a:extLst>
                </a:gridCol>
              </a:tblGrid>
              <a:tr h="370840">
                <a:tc>
                  <a:txBody>
                    <a:bodyPr/>
                    <a:lstStyle/>
                    <a:p>
                      <a:r>
                        <a:rPr lang="en-US" sz="2000" dirty="0"/>
                        <a:t>SORU</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3557689173"/>
                  </a:ext>
                </a:extLst>
              </a:tr>
              <a:tr h="370840">
                <a:tc>
                  <a:txBody>
                    <a:bodyPr/>
                    <a:lstStyle/>
                    <a:p>
                      <a:pPr marL="342900" indent="-342900">
                        <a:lnSpc>
                          <a:spcPct val="114000"/>
                        </a:lnSpc>
                        <a:buClr>
                          <a:schemeClr val="accent2"/>
                        </a:buClr>
                        <a:buFont typeface="Arial" panose="020B0604020202020204" pitchFamily="34" charset="0"/>
                        <a:buChar char="•"/>
                      </a:pPr>
                      <a:r>
                        <a:rPr lang="en-US" sz="2100" dirty="0" err="1"/>
                        <a:t>Takip</a:t>
                      </a:r>
                      <a:r>
                        <a:rPr lang="en-US" sz="2100" dirty="0"/>
                        <a:t> </a:t>
                      </a:r>
                      <a:r>
                        <a:rPr lang="en-US" sz="2100" dirty="0" err="1"/>
                        <a:t>edilen</a:t>
                      </a:r>
                      <a:r>
                        <a:rPr lang="en-US" sz="2100" dirty="0"/>
                        <a:t> </a:t>
                      </a:r>
                      <a:r>
                        <a:rPr lang="en-US" sz="2100" dirty="0" err="1"/>
                        <a:t>yazılı</a:t>
                      </a:r>
                      <a:r>
                        <a:rPr lang="en-US" sz="2100" dirty="0"/>
                        <a:t> </a:t>
                      </a:r>
                      <a:r>
                        <a:rPr lang="en-US" sz="2100" dirty="0" err="1"/>
                        <a:t>bir</a:t>
                      </a:r>
                      <a:r>
                        <a:rPr lang="en-US" sz="2100" dirty="0"/>
                        <a:t> </a:t>
                      </a:r>
                      <a:r>
                        <a:rPr lang="en-US" sz="2100" dirty="0" err="1"/>
                        <a:t>veri</a:t>
                      </a:r>
                      <a:r>
                        <a:rPr lang="en-US" sz="2100" dirty="0"/>
                        <a:t> </a:t>
                      </a:r>
                      <a:r>
                        <a:rPr lang="en-US" sz="2100" dirty="0" err="1"/>
                        <a:t>gizliliği</a:t>
                      </a:r>
                      <a:r>
                        <a:rPr lang="en-US" sz="2100" dirty="0"/>
                        <a:t> </a:t>
                      </a:r>
                      <a:r>
                        <a:rPr lang="en-US" sz="2100" dirty="0" err="1"/>
                        <a:t>politikanız</a:t>
                      </a:r>
                      <a:r>
                        <a:rPr lang="en-US" sz="2100" dirty="0"/>
                        <a:t> var </a:t>
                      </a:r>
                      <a:r>
                        <a:rPr lang="en-US" sz="2100" dirty="0" err="1"/>
                        <a:t>mı</a:t>
                      </a:r>
                      <a:r>
                        <a:rPr lang="en-US" sz="2100" dirty="0"/>
                        <a:t>?
</a:t>
                      </a:r>
                      <a:r>
                        <a:rPr lang="en-US" sz="2100" dirty="0" err="1"/>
                        <a:t>Kurumsal</a:t>
                      </a:r>
                      <a:r>
                        <a:rPr lang="en-US" sz="2100" dirty="0"/>
                        <a:t> BT </a:t>
                      </a:r>
                      <a:r>
                        <a:rPr lang="en-US" sz="2100" dirty="0" err="1"/>
                        <a:t>kullanım</a:t>
                      </a:r>
                      <a:r>
                        <a:rPr lang="en-US" sz="2100" dirty="0"/>
                        <a:t> </a:t>
                      </a:r>
                      <a:r>
                        <a:rPr lang="en-US" sz="2100" dirty="0" err="1"/>
                        <a:t>ilkeniz</a:t>
                      </a:r>
                      <a:r>
                        <a:rPr lang="en-US" sz="2100" dirty="0"/>
                        <a:t>, </a:t>
                      </a:r>
                      <a:r>
                        <a:rPr lang="en-US" sz="2100" dirty="0" err="1"/>
                        <a:t>kurumsal</a:t>
                      </a:r>
                      <a:r>
                        <a:rPr lang="en-US" sz="2100" dirty="0"/>
                        <a:t> </a:t>
                      </a:r>
                      <a:r>
                        <a:rPr lang="en-US" sz="2100" dirty="0" err="1"/>
                        <a:t>ağ</a:t>
                      </a:r>
                      <a:r>
                        <a:rPr lang="en-US" sz="2100" dirty="0"/>
                        <a:t> </a:t>
                      </a:r>
                      <a:r>
                        <a:rPr lang="en-US" sz="2100" dirty="0" err="1"/>
                        <a:t>kapasitesini</a:t>
                      </a:r>
                      <a:r>
                        <a:rPr lang="en-US" sz="2100" dirty="0"/>
                        <a:t> </a:t>
                      </a:r>
                      <a:r>
                        <a:rPr lang="en-US" sz="2100" dirty="0" err="1"/>
                        <a:t>koruma</a:t>
                      </a:r>
                      <a:r>
                        <a:rPr lang="en-US" sz="2100" dirty="0"/>
                        <a:t>, </a:t>
                      </a:r>
                      <a:r>
                        <a:rPr lang="en-US" sz="2100" dirty="0" err="1"/>
                        <a:t>yasal</a:t>
                      </a:r>
                      <a:r>
                        <a:rPr lang="en-US" sz="2100" dirty="0"/>
                        <a:t> </a:t>
                      </a:r>
                      <a:r>
                        <a:rPr lang="en-US" sz="2100" dirty="0" err="1"/>
                        <a:t>sorumluluktan</a:t>
                      </a:r>
                      <a:r>
                        <a:rPr lang="en-US" sz="2100" dirty="0"/>
                        <a:t> </a:t>
                      </a:r>
                      <a:r>
                        <a:rPr lang="en-US" sz="2100" dirty="0" err="1"/>
                        <a:t>kaçınma</a:t>
                      </a:r>
                      <a:r>
                        <a:rPr lang="en-US" sz="2100" dirty="0"/>
                        <a:t> </a:t>
                      </a:r>
                      <a:r>
                        <a:rPr lang="en-US" sz="2100" dirty="0" err="1"/>
                        <a:t>ve</a:t>
                      </a:r>
                      <a:r>
                        <a:rPr lang="en-US" sz="2100" dirty="0"/>
                        <a:t> </a:t>
                      </a:r>
                      <a:r>
                        <a:rPr lang="en-US" sz="2100" dirty="0" err="1"/>
                        <a:t>bilgi</a:t>
                      </a:r>
                      <a:r>
                        <a:rPr lang="en-US" sz="2100" dirty="0"/>
                        <a:t> </a:t>
                      </a:r>
                      <a:r>
                        <a:rPr lang="en-US" sz="2100" dirty="0" err="1"/>
                        <a:t>kaynaklarının</a:t>
                      </a:r>
                      <a:r>
                        <a:rPr lang="en-US" sz="2100" dirty="0"/>
                        <a:t> </a:t>
                      </a:r>
                      <a:r>
                        <a:rPr lang="en-US" sz="2100" dirty="0" err="1"/>
                        <a:t>iş</a:t>
                      </a:r>
                      <a:r>
                        <a:rPr lang="en-US" sz="2100" dirty="0"/>
                        <a:t> </a:t>
                      </a:r>
                      <a:r>
                        <a:rPr lang="en-US" sz="2100" dirty="0" err="1"/>
                        <a:t>dışı</a:t>
                      </a:r>
                      <a:r>
                        <a:rPr lang="en-US" sz="2100" dirty="0"/>
                        <a:t> </a:t>
                      </a:r>
                      <a:r>
                        <a:rPr lang="en-US" sz="2100" dirty="0" err="1"/>
                        <a:t>kullanımını</a:t>
                      </a:r>
                      <a:r>
                        <a:rPr lang="en-US" sz="2100" dirty="0"/>
                        <a:t> </a:t>
                      </a:r>
                      <a:r>
                        <a:rPr lang="en-US" sz="2100" dirty="0" err="1"/>
                        <a:t>sınırlayarak</a:t>
                      </a:r>
                      <a:r>
                        <a:rPr lang="en-US" sz="2100" dirty="0"/>
                        <a:t> </a:t>
                      </a:r>
                      <a:r>
                        <a:rPr lang="en-US" sz="2100" dirty="0" err="1"/>
                        <a:t>çalışan</a:t>
                      </a:r>
                      <a:r>
                        <a:rPr lang="en-US" sz="2100" dirty="0"/>
                        <a:t> </a:t>
                      </a:r>
                      <a:r>
                        <a:rPr lang="en-US" sz="2100" dirty="0" err="1"/>
                        <a:t>üretkenliğini</a:t>
                      </a:r>
                      <a:r>
                        <a:rPr lang="en-US" sz="2100" dirty="0"/>
                        <a:t> </a:t>
                      </a:r>
                      <a:r>
                        <a:rPr lang="en-US" sz="2100" dirty="0" err="1"/>
                        <a:t>artırma</a:t>
                      </a:r>
                      <a:r>
                        <a:rPr lang="en-US" sz="2100" dirty="0"/>
                        <a:t> </a:t>
                      </a:r>
                      <a:r>
                        <a:rPr lang="en-US" sz="2100" dirty="0" err="1"/>
                        <a:t>gereksinimini</a:t>
                      </a:r>
                      <a:r>
                        <a:rPr lang="en-US" sz="2100" dirty="0"/>
                        <a:t> </a:t>
                      </a:r>
                      <a:r>
                        <a:rPr lang="en-US" sz="2100" dirty="0" err="1"/>
                        <a:t>tartışıyor</a:t>
                      </a:r>
                      <a:r>
                        <a:rPr lang="en-US" sz="2100" dirty="0"/>
                        <a:t> mu?
</a:t>
                      </a:r>
                      <a:r>
                        <a:rPr lang="en-US" sz="2100" dirty="0" err="1"/>
                        <a:t>Politikanızın</a:t>
                      </a:r>
                      <a:r>
                        <a:rPr lang="en-US" sz="2100" dirty="0"/>
                        <a:t> </a:t>
                      </a:r>
                      <a:r>
                        <a:rPr lang="en-US" sz="2100" dirty="0" err="1"/>
                        <a:t>geliştiricileri</a:t>
                      </a:r>
                      <a:r>
                        <a:rPr lang="en-US" sz="2100" dirty="0"/>
                        <a:t>, </a:t>
                      </a:r>
                      <a:r>
                        <a:rPr lang="en-US" sz="2100" dirty="0" err="1"/>
                        <a:t>çalışanların</a:t>
                      </a:r>
                      <a:r>
                        <a:rPr lang="en-US" sz="2100" dirty="0"/>
                        <a:t> </a:t>
                      </a:r>
                      <a:r>
                        <a:rPr lang="en-US" sz="2100" dirty="0" err="1"/>
                        <a:t>işle</a:t>
                      </a:r>
                      <a:r>
                        <a:rPr lang="en-US" sz="2100" dirty="0"/>
                        <a:t> </a:t>
                      </a:r>
                      <a:r>
                        <a:rPr lang="en-US" sz="2100" dirty="0" err="1"/>
                        <a:t>ilgili</a:t>
                      </a:r>
                      <a:r>
                        <a:rPr lang="en-US" sz="2100" dirty="0"/>
                        <a:t> </a:t>
                      </a:r>
                      <a:r>
                        <a:rPr lang="en-US" sz="2100" dirty="0" err="1"/>
                        <a:t>olmayan</a:t>
                      </a:r>
                      <a:r>
                        <a:rPr lang="en-US" sz="2100" dirty="0"/>
                        <a:t> web </a:t>
                      </a:r>
                      <a:r>
                        <a:rPr lang="en-US" sz="2100" dirty="0" err="1"/>
                        <a:t>sitelerine</a:t>
                      </a:r>
                      <a:r>
                        <a:rPr lang="en-US" sz="2100" dirty="0"/>
                        <a:t> (</a:t>
                      </a:r>
                      <a:r>
                        <a:rPr lang="en-US" sz="2100" dirty="0" err="1"/>
                        <a:t>örneğin</a:t>
                      </a:r>
                      <a:r>
                        <a:rPr lang="en-US" sz="2100" dirty="0"/>
                        <a:t>, İnternet </a:t>
                      </a:r>
                      <a:r>
                        <a:rPr lang="en-US" sz="2100" dirty="0" err="1"/>
                        <a:t>filtreleri</a:t>
                      </a:r>
                      <a:r>
                        <a:rPr lang="en-US" sz="2100" dirty="0"/>
                        <a:t>, </a:t>
                      </a:r>
                      <a:r>
                        <a:rPr lang="en-US" sz="2100" dirty="0" err="1"/>
                        <a:t>güvenlik</a:t>
                      </a:r>
                      <a:r>
                        <a:rPr lang="en-US" sz="2100" dirty="0"/>
                        <a:t> </a:t>
                      </a:r>
                      <a:r>
                        <a:rPr lang="en-US" sz="2100" dirty="0" err="1"/>
                        <a:t>duvarı</a:t>
                      </a:r>
                      <a:r>
                        <a:rPr lang="en-US" sz="2100" dirty="0"/>
                        <a:t> </a:t>
                      </a:r>
                      <a:r>
                        <a:rPr lang="en-US" sz="2100" dirty="0" err="1"/>
                        <a:t>yapılandırmaları</a:t>
                      </a:r>
                      <a:r>
                        <a:rPr lang="en-US" sz="2100" dirty="0"/>
                        <a:t> </a:t>
                      </a:r>
                      <a:r>
                        <a:rPr lang="en-US" sz="2100" dirty="0" err="1"/>
                        <a:t>veya</a:t>
                      </a:r>
                      <a:r>
                        <a:rPr lang="en-US" sz="2100" dirty="0"/>
                        <a:t> </a:t>
                      </a:r>
                      <a:r>
                        <a:rPr lang="en-US" sz="2100" dirty="0" err="1"/>
                        <a:t>bu</a:t>
                      </a:r>
                      <a:r>
                        <a:rPr lang="en-US" sz="2100" dirty="0"/>
                        <a:t> </a:t>
                      </a:r>
                      <a:r>
                        <a:rPr lang="en-US" sz="2100" dirty="0" err="1"/>
                        <a:t>tür</a:t>
                      </a:r>
                      <a:r>
                        <a:rPr lang="en-US" sz="2100" dirty="0"/>
                        <a:t> </a:t>
                      </a:r>
                      <a:r>
                        <a:rPr lang="en-US" sz="2100" dirty="0" err="1"/>
                        <a:t>sitelere</a:t>
                      </a:r>
                      <a:r>
                        <a:rPr lang="en-US" sz="2100" dirty="0"/>
                        <a:t> </a:t>
                      </a:r>
                      <a:r>
                        <a:rPr lang="en-US" sz="2100" dirty="0" err="1"/>
                        <a:t>erişimi</a:t>
                      </a:r>
                      <a:r>
                        <a:rPr lang="en-US" sz="2100" dirty="0"/>
                        <a:t> </a:t>
                      </a:r>
                      <a:r>
                        <a:rPr lang="en-US" sz="2100" dirty="0" err="1"/>
                        <a:t>engelleyen</a:t>
                      </a:r>
                      <a:r>
                        <a:rPr lang="en-US" sz="2100" dirty="0"/>
                        <a:t> </a:t>
                      </a:r>
                      <a:r>
                        <a:rPr lang="en-US" sz="2100" dirty="0" err="1"/>
                        <a:t>bir</a:t>
                      </a:r>
                      <a:r>
                        <a:rPr lang="en-US" sz="2100" dirty="0"/>
                        <a:t> </a:t>
                      </a:r>
                      <a:r>
                        <a:rPr lang="en-US" sz="2100" dirty="0" err="1"/>
                        <a:t>ISS'nin</a:t>
                      </a:r>
                      <a:r>
                        <a:rPr lang="en-US" sz="2100" dirty="0"/>
                        <a:t> </a:t>
                      </a:r>
                      <a:r>
                        <a:rPr lang="en-US" sz="2100" dirty="0" err="1"/>
                        <a:t>kullanımı</a:t>
                      </a:r>
                      <a:r>
                        <a:rPr lang="en-US" sz="2100" dirty="0"/>
                        <a:t>) </a:t>
                      </a:r>
                      <a:r>
                        <a:rPr lang="en-US" sz="2100" dirty="0" err="1"/>
                        <a:t>erişimini</a:t>
                      </a:r>
                      <a:r>
                        <a:rPr lang="en-US" sz="2100" dirty="0"/>
                        <a:t> </a:t>
                      </a:r>
                      <a:r>
                        <a:rPr lang="en-US" sz="2100" dirty="0" err="1"/>
                        <a:t>sınırlama</a:t>
                      </a:r>
                      <a:r>
                        <a:rPr lang="en-US" sz="2100" dirty="0"/>
                        <a:t> </a:t>
                      </a:r>
                      <a:r>
                        <a:rPr lang="en-US" sz="2100" dirty="0" err="1"/>
                        <a:t>gereğini</a:t>
                      </a:r>
                      <a:r>
                        <a:rPr lang="en-US" sz="2100" dirty="0"/>
                        <a:t> </a:t>
                      </a:r>
                      <a:r>
                        <a:rPr lang="en-US" sz="2100" dirty="0" err="1"/>
                        <a:t>düşündü</a:t>
                      </a:r>
                      <a:r>
                        <a:rPr lang="en-US" sz="2100" dirty="0"/>
                        <a:t> </a:t>
                      </a:r>
                      <a:r>
                        <a:rPr lang="en-US" sz="2100" dirty="0" err="1"/>
                        <a:t>mü</a:t>
                      </a:r>
                      <a:r>
                        <a:rPr lang="en-US" sz="2100" dirty="0"/>
                        <a:t>?
</a:t>
                      </a:r>
                      <a:r>
                        <a:rPr lang="en-US" sz="2100" dirty="0" err="1"/>
                        <a:t>Kurumsal</a:t>
                      </a:r>
                      <a:r>
                        <a:rPr lang="en-US" sz="2100" dirty="0"/>
                        <a:t> BT </a:t>
                      </a:r>
                      <a:r>
                        <a:rPr lang="en-US" sz="2100" dirty="0" err="1"/>
                        <a:t>kullanım</a:t>
                      </a:r>
                      <a:r>
                        <a:rPr lang="en-US" sz="2100" dirty="0"/>
                        <a:t> </a:t>
                      </a:r>
                      <a:r>
                        <a:rPr lang="en-US" sz="2100" dirty="0" err="1"/>
                        <a:t>politikanız</a:t>
                      </a:r>
                      <a:r>
                        <a:rPr lang="en-US" sz="2100" dirty="0"/>
                        <a:t>, </a:t>
                      </a:r>
                      <a:r>
                        <a:rPr lang="en-US" sz="2100" dirty="0" err="1"/>
                        <a:t>anonim</a:t>
                      </a:r>
                      <a:r>
                        <a:rPr lang="en-US" sz="2100" dirty="0"/>
                        <a:t> </a:t>
                      </a:r>
                      <a:r>
                        <a:rPr lang="en-US" sz="2100" dirty="0" err="1"/>
                        <a:t>yeniden</a:t>
                      </a:r>
                      <a:r>
                        <a:rPr lang="en-US" sz="2100" dirty="0"/>
                        <a:t> </a:t>
                      </a:r>
                      <a:r>
                        <a:rPr lang="en-US" sz="2100" dirty="0" err="1"/>
                        <a:t>posta</a:t>
                      </a:r>
                      <a:r>
                        <a:rPr lang="en-US" sz="2100" dirty="0"/>
                        <a:t> </a:t>
                      </a:r>
                      <a:r>
                        <a:rPr lang="en-US" sz="2100" dirty="0" err="1"/>
                        <a:t>gönderenlerin</a:t>
                      </a:r>
                      <a:r>
                        <a:rPr lang="en-US" sz="2100" dirty="0"/>
                        <a:t> </a:t>
                      </a:r>
                      <a:r>
                        <a:rPr lang="en-US" sz="2100" dirty="0" err="1"/>
                        <a:t>uygunsuz</a:t>
                      </a:r>
                      <a:r>
                        <a:rPr lang="en-US" sz="2100" dirty="0"/>
                        <a:t> </a:t>
                      </a:r>
                      <a:r>
                        <a:rPr lang="en-US" sz="2100" dirty="0" err="1"/>
                        <a:t>kullanımını</a:t>
                      </a:r>
                      <a:r>
                        <a:rPr lang="en-US" sz="2100" dirty="0"/>
                        <a:t> </a:t>
                      </a:r>
                      <a:r>
                        <a:rPr lang="en-US" sz="2100" dirty="0" err="1"/>
                        <a:t>tartışıyor</a:t>
                      </a:r>
                      <a:r>
                        <a:rPr lang="en-US" sz="2100" dirty="0"/>
                        <a:t> mu?
</a:t>
                      </a:r>
                      <a:r>
                        <a:rPr lang="en-US" sz="2100" dirty="0" err="1"/>
                        <a:t>Kurumsal</a:t>
                      </a:r>
                      <a:r>
                        <a:rPr lang="en-US" sz="2100" dirty="0"/>
                        <a:t> </a:t>
                      </a:r>
                      <a:r>
                        <a:rPr lang="en-US" sz="2100" dirty="0" err="1"/>
                        <a:t>güvenlik</a:t>
                      </a:r>
                      <a:r>
                        <a:rPr lang="en-US" sz="2100" dirty="0"/>
                        <a:t> </a:t>
                      </a:r>
                      <a:r>
                        <a:rPr lang="en-US" sz="2100" dirty="0" err="1"/>
                        <a:t>duvarınız</a:t>
                      </a:r>
                      <a:r>
                        <a:rPr lang="en-US" sz="2100" dirty="0"/>
                        <a:t>, </a:t>
                      </a:r>
                      <a:r>
                        <a:rPr lang="en-US" sz="2100" dirty="0" err="1"/>
                        <a:t>anonim</a:t>
                      </a:r>
                      <a:r>
                        <a:rPr lang="en-US" sz="2100" dirty="0"/>
                        <a:t> </a:t>
                      </a:r>
                      <a:r>
                        <a:rPr lang="en-US" sz="2100" dirty="0" err="1"/>
                        <a:t>posta</a:t>
                      </a:r>
                      <a:r>
                        <a:rPr lang="en-US" sz="2100" dirty="0"/>
                        <a:t> </a:t>
                      </a:r>
                      <a:r>
                        <a:rPr lang="en-US" sz="2100" dirty="0" err="1"/>
                        <a:t>gönderenlerin</a:t>
                      </a:r>
                      <a:r>
                        <a:rPr lang="en-US" sz="2100" dirty="0"/>
                        <a:t> </a:t>
                      </a:r>
                      <a:r>
                        <a:rPr lang="en-US" sz="2100" dirty="0" err="1"/>
                        <a:t>kullanımını</a:t>
                      </a:r>
                      <a:r>
                        <a:rPr lang="en-US" sz="2100" dirty="0"/>
                        <a:t> </a:t>
                      </a:r>
                      <a:r>
                        <a:rPr lang="en-US" sz="2100" dirty="0" err="1"/>
                        <a:t>algılayacak</a:t>
                      </a:r>
                      <a:r>
                        <a:rPr lang="en-US" sz="2100" dirty="0"/>
                        <a:t> </a:t>
                      </a:r>
                      <a:r>
                        <a:rPr lang="en-US" sz="2100" dirty="0" err="1"/>
                        <a:t>şekilde</a:t>
                      </a:r>
                      <a:r>
                        <a:rPr lang="en-US" sz="2100" dirty="0"/>
                        <a:t> </a:t>
                      </a:r>
                      <a:r>
                        <a:rPr lang="en-US" sz="2100" dirty="0" err="1"/>
                        <a:t>ayarlandı</a:t>
                      </a:r>
                      <a:r>
                        <a:rPr lang="en-US" sz="2100" dirty="0"/>
                        <a:t> </a:t>
                      </a:r>
                      <a:r>
                        <a:rPr lang="en-US" sz="2100" dirty="0" err="1"/>
                        <a:t>mı</a:t>
                      </a:r>
                      <a:r>
                        <a:rPr lang="en-US" sz="2100" dirty="0"/>
                        <a:t>?</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97846982"/>
                  </a:ext>
                </a:extLst>
              </a:tr>
            </a:tbl>
          </a:graphicData>
        </a:graphic>
      </p:graphicFrame>
      <p:sp>
        <p:nvSpPr>
          <p:cNvPr id="3" name="Title 2"/>
          <p:cNvSpPr>
            <a:spLocks noGrp="1"/>
          </p:cNvSpPr>
          <p:nvPr>
            <p:ph type="title"/>
          </p:nvPr>
        </p:nvSpPr>
        <p:spPr>
          <a:xfrm>
            <a:off x="762000" y="225921"/>
            <a:ext cx="8026400" cy="656911"/>
          </a:xfrm>
        </p:spPr>
        <p:txBody>
          <a:bodyPr/>
          <a:lstStyle/>
          <a:p>
            <a:r>
              <a:rPr lang="en-US" sz="2500"/>
              <a:t>İşyerinde İfade Özgürlüğü Konularını Ele Almak İçin Yöneticinin Kontrol Listesi, Bölüm 1</a:t>
            </a:r>
            <a:endParaRPr lang="en-US" sz="25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48514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descr="Table 5-2 (part 2): This table presents a checklist of questions a manager should ask when handling freedom of expression issues in the workplace: &#10;Has your company (in cooperation with legal counsel) formed a policy on the use of John Doe lawsuits to identify the authors of libelous, anonymous email?&#10;Does your corporate IT usage policy make it clear that defamation and hate speech have no place in the business setting?&#10;Does your corporate IT usage policy prohibit the viewing and sending of pornography?&#10;Does your corporate acceptable use policy communicate that employee email is regularly monitored for defamatory, hateful, and pornographic material?&#10;Does your corporate IT usage policy tell employees what to do if they receive hate mail or pornography?&#10;"/>
          <p:cNvGraphicFramePr>
            <a:graphicFrameLocks noGrp="1"/>
          </p:cNvGraphicFramePr>
          <p:nvPr>
            <p:ph idx="1"/>
            <p:extLst>
              <p:ext uri="{D42A27DB-BD31-4B8C-83A1-F6EECF244321}">
                <p14:modId xmlns:p14="http://schemas.microsoft.com/office/powerpoint/2010/main" val="1006227726"/>
              </p:ext>
            </p:extLst>
          </p:nvPr>
        </p:nvGraphicFramePr>
        <p:xfrm>
          <a:off x="365125" y="1143000"/>
          <a:ext cx="8415339" cy="4480497"/>
        </p:xfrm>
        <a:graphic>
          <a:graphicData uri="http://schemas.openxmlformats.org/drawingml/2006/table">
            <a:tbl>
              <a:tblPr firstRow="1" bandRow="1">
                <a:tableStyleId>{5C22544A-7EE6-4342-B048-85BDC9FD1C3A}</a:tableStyleId>
              </a:tblPr>
              <a:tblGrid>
                <a:gridCol w="7102475">
                  <a:extLst>
                    <a:ext uri="{9D8B030D-6E8A-4147-A177-3AD203B41FA5}">
                      <a16:colId xmlns:a16="http://schemas.microsoft.com/office/drawing/2014/main" val="3778068355"/>
                    </a:ext>
                  </a:extLst>
                </a:gridCol>
                <a:gridCol w="685800">
                  <a:extLst>
                    <a:ext uri="{9D8B030D-6E8A-4147-A177-3AD203B41FA5}">
                      <a16:colId xmlns:a16="http://schemas.microsoft.com/office/drawing/2014/main" val="2852991424"/>
                    </a:ext>
                  </a:extLst>
                </a:gridCol>
                <a:gridCol w="627064">
                  <a:extLst>
                    <a:ext uri="{9D8B030D-6E8A-4147-A177-3AD203B41FA5}">
                      <a16:colId xmlns:a16="http://schemas.microsoft.com/office/drawing/2014/main" val="3611693267"/>
                    </a:ext>
                  </a:extLst>
                </a:gridCol>
              </a:tblGrid>
              <a:tr h="370840">
                <a:tc>
                  <a:txBody>
                    <a:bodyPr/>
                    <a:lstStyle/>
                    <a:p>
                      <a:r>
                        <a:rPr lang="en-US" sz="2000" dirty="0"/>
                        <a:t>SORU</a:t>
                      </a:r>
                    </a:p>
                  </a:txBody>
                  <a:tcPr/>
                </a:tc>
                <a:tc>
                  <a:txBody>
                    <a:bodyPr/>
                    <a:lstStyle/>
                    <a:p>
                      <a:pPr algn="ctr"/>
                      <a:r>
                        <a:rPr lang="en-US" sz="2000" dirty="0"/>
                        <a:t>YES</a:t>
                      </a:r>
                    </a:p>
                  </a:txBody>
                  <a:tcPr/>
                </a:tc>
                <a:tc>
                  <a:txBody>
                    <a:bodyPr/>
                    <a:lstStyle/>
                    <a:p>
                      <a:pPr algn="ctr"/>
                      <a:r>
                        <a:rPr lang="en-US" sz="2000" dirty="0"/>
                        <a:t>NO</a:t>
                      </a:r>
                    </a:p>
                  </a:txBody>
                  <a:tcPr/>
                </a:tc>
                <a:extLst>
                  <a:ext uri="{0D108BD9-81ED-4DB2-BD59-A6C34878D82A}">
                    <a16:rowId xmlns:a16="http://schemas.microsoft.com/office/drawing/2014/main" val="3557689173"/>
                  </a:ext>
                </a:extLst>
              </a:tr>
              <a:tr h="370840">
                <a:tc>
                  <a:txBody>
                    <a:bodyPr/>
                    <a:lstStyle/>
                    <a:p>
                      <a:pPr marL="342900" indent="-342900">
                        <a:lnSpc>
                          <a:spcPct val="114000"/>
                        </a:lnSpc>
                        <a:buClr>
                          <a:schemeClr val="accent2"/>
                        </a:buClr>
                        <a:buFont typeface="Arial" panose="020B0604020202020204" pitchFamily="34" charset="0"/>
                        <a:buChar char="•"/>
                      </a:pPr>
                      <a:r>
                        <a:rPr lang="en-US" sz="2100" dirty="0" err="1"/>
                        <a:t>Şirketiniz</a:t>
                      </a:r>
                      <a:r>
                        <a:rPr lang="en-US" sz="2100" dirty="0"/>
                        <a:t> (</a:t>
                      </a:r>
                      <a:r>
                        <a:rPr lang="en-US" sz="2100" dirty="0" err="1"/>
                        <a:t>hukuk</a:t>
                      </a:r>
                      <a:r>
                        <a:rPr lang="en-US" sz="2100" dirty="0"/>
                        <a:t> </a:t>
                      </a:r>
                      <a:r>
                        <a:rPr lang="en-US" sz="2100" dirty="0" err="1"/>
                        <a:t>müşaviri</a:t>
                      </a:r>
                      <a:r>
                        <a:rPr lang="en-US" sz="2100" dirty="0"/>
                        <a:t> </a:t>
                      </a:r>
                      <a:r>
                        <a:rPr lang="en-US" sz="2100" dirty="0" err="1"/>
                        <a:t>ile</a:t>
                      </a:r>
                      <a:r>
                        <a:rPr lang="en-US" sz="2100" dirty="0"/>
                        <a:t> </a:t>
                      </a:r>
                      <a:r>
                        <a:rPr lang="en-US" sz="2100" dirty="0" err="1"/>
                        <a:t>işbirliği</a:t>
                      </a:r>
                      <a:r>
                        <a:rPr lang="en-US" sz="2100" dirty="0"/>
                        <a:t> </a:t>
                      </a:r>
                      <a:r>
                        <a:rPr lang="en-US" sz="2100" dirty="0" err="1"/>
                        <a:t>içinde</a:t>
                      </a:r>
                      <a:r>
                        <a:rPr lang="en-US" sz="2100" dirty="0"/>
                        <a:t>) </a:t>
                      </a:r>
                      <a:r>
                        <a:rPr lang="en-US" sz="2100" dirty="0" err="1"/>
                        <a:t>iftira</a:t>
                      </a:r>
                      <a:r>
                        <a:rPr lang="en-US" sz="2100" dirty="0"/>
                        <a:t> </a:t>
                      </a:r>
                      <a:r>
                        <a:rPr lang="en-US" sz="2100" dirty="0" err="1"/>
                        <a:t>niteliğinde</a:t>
                      </a:r>
                      <a:r>
                        <a:rPr lang="en-US" sz="2100" dirty="0"/>
                        <a:t>, </a:t>
                      </a:r>
                      <a:r>
                        <a:rPr lang="en-US" sz="2100" dirty="0" err="1"/>
                        <a:t>isimsiz</a:t>
                      </a:r>
                      <a:r>
                        <a:rPr lang="en-US" sz="2100" dirty="0"/>
                        <a:t> e-</a:t>
                      </a:r>
                      <a:r>
                        <a:rPr lang="en-US" sz="2100" dirty="0" err="1"/>
                        <a:t>postaların</a:t>
                      </a:r>
                      <a:r>
                        <a:rPr lang="en-US" sz="2100" dirty="0"/>
                        <a:t> </a:t>
                      </a:r>
                      <a:r>
                        <a:rPr lang="en-US" sz="2100" dirty="0" err="1"/>
                        <a:t>yazarlarını</a:t>
                      </a:r>
                      <a:r>
                        <a:rPr lang="en-US" sz="2100" dirty="0"/>
                        <a:t> </a:t>
                      </a:r>
                      <a:r>
                        <a:rPr lang="en-US" sz="2100" dirty="0" err="1"/>
                        <a:t>belirlemek</a:t>
                      </a:r>
                      <a:r>
                        <a:rPr lang="en-US" sz="2100" dirty="0"/>
                        <a:t> için John Doe </a:t>
                      </a:r>
                      <a:r>
                        <a:rPr lang="en-US" sz="2100" dirty="0" err="1"/>
                        <a:t>davalarının</a:t>
                      </a:r>
                      <a:r>
                        <a:rPr lang="en-US" sz="2100" dirty="0"/>
                        <a:t> </a:t>
                      </a:r>
                      <a:r>
                        <a:rPr lang="en-US" sz="2100" dirty="0" err="1"/>
                        <a:t>kullanımına</a:t>
                      </a:r>
                      <a:r>
                        <a:rPr lang="en-US" sz="2100" dirty="0"/>
                        <a:t> </a:t>
                      </a:r>
                      <a:r>
                        <a:rPr lang="en-US" sz="2100" dirty="0" err="1"/>
                        <a:t>ilişkin</a:t>
                      </a:r>
                      <a:r>
                        <a:rPr lang="en-US" sz="2100" dirty="0"/>
                        <a:t> </a:t>
                      </a:r>
                      <a:r>
                        <a:rPr lang="en-US" sz="2100" dirty="0" err="1"/>
                        <a:t>bir</a:t>
                      </a:r>
                      <a:r>
                        <a:rPr lang="en-US" sz="2100" dirty="0"/>
                        <a:t> </a:t>
                      </a:r>
                      <a:r>
                        <a:rPr lang="en-US" sz="2100" dirty="0" err="1"/>
                        <a:t>politika</a:t>
                      </a:r>
                      <a:r>
                        <a:rPr lang="en-US" sz="2100" dirty="0"/>
                        <a:t> </a:t>
                      </a:r>
                      <a:r>
                        <a:rPr lang="en-US" sz="2100" dirty="0" err="1"/>
                        <a:t>oluşturdu</a:t>
                      </a:r>
                      <a:r>
                        <a:rPr lang="en-US" sz="2100" dirty="0"/>
                        <a:t> mu?
</a:t>
                      </a:r>
                      <a:r>
                        <a:rPr lang="en-US" sz="2100" dirty="0" err="1"/>
                        <a:t>Kurumsal</a:t>
                      </a:r>
                      <a:r>
                        <a:rPr lang="en-US" sz="2100" dirty="0"/>
                        <a:t> BT </a:t>
                      </a:r>
                      <a:r>
                        <a:rPr lang="en-US" sz="2100" dirty="0" err="1"/>
                        <a:t>kullanım</a:t>
                      </a:r>
                      <a:r>
                        <a:rPr lang="en-US" sz="2100" dirty="0"/>
                        <a:t> </a:t>
                      </a:r>
                      <a:r>
                        <a:rPr lang="en-US" sz="2100" dirty="0" err="1"/>
                        <a:t>politikanız</a:t>
                      </a:r>
                      <a:r>
                        <a:rPr lang="en-US" sz="2100" dirty="0"/>
                        <a:t>, </a:t>
                      </a:r>
                      <a:r>
                        <a:rPr lang="en-US" sz="2100" dirty="0" err="1"/>
                        <a:t>hakaret</a:t>
                      </a:r>
                      <a:r>
                        <a:rPr lang="en-US" sz="2100" dirty="0"/>
                        <a:t> </a:t>
                      </a:r>
                      <a:r>
                        <a:rPr lang="en-US" sz="2100" dirty="0" err="1"/>
                        <a:t>ve</a:t>
                      </a:r>
                      <a:r>
                        <a:rPr lang="en-US" sz="2100" dirty="0"/>
                        <a:t> </a:t>
                      </a:r>
                      <a:r>
                        <a:rPr lang="en-US" sz="2100" dirty="0" err="1"/>
                        <a:t>nefret</a:t>
                      </a:r>
                      <a:r>
                        <a:rPr lang="en-US" sz="2100" dirty="0"/>
                        <a:t> </a:t>
                      </a:r>
                      <a:r>
                        <a:rPr lang="en-US" sz="2100" dirty="0" err="1"/>
                        <a:t>söyleminin</a:t>
                      </a:r>
                      <a:r>
                        <a:rPr lang="en-US" sz="2100" dirty="0"/>
                        <a:t> </a:t>
                      </a:r>
                      <a:r>
                        <a:rPr lang="en-US" sz="2100" dirty="0" err="1"/>
                        <a:t>iş</a:t>
                      </a:r>
                      <a:r>
                        <a:rPr lang="en-US" sz="2100" dirty="0"/>
                        <a:t> </a:t>
                      </a:r>
                      <a:r>
                        <a:rPr lang="en-US" sz="2100" dirty="0" err="1"/>
                        <a:t>ortamında</a:t>
                      </a:r>
                      <a:r>
                        <a:rPr lang="en-US" sz="2100" dirty="0"/>
                        <a:t> </a:t>
                      </a:r>
                      <a:r>
                        <a:rPr lang="en-US" sz="2100" dirty="0" err="1"/>
                        <a:t>yeri</a:t>
                      </a:r>
                      <a:r>
                        <a:rPr lang="en-US" sz="2100" dirty="0"/>
                        <a:t> </a:t>
                      </a:r>
                      <a:r>
                        <a:rPr lang="en-US" sz="2100" dirty="0" err="1"/>
                        <a:t>olmadığını</a:t>
                      </a:r>
                      <a:r>
                        <a:rPr lang="en-US" sz="2100" dirty="0"/>
                        <a:t> </a:t>
                      </a:r>
                      <a:r>
                        <a:rPr lang="en-US" sz="2100" dirty="0" err="1"/>
                        <a:t>açıkça</a:t>
                      </a:r>
                      <a:r>
                        <a:rPr lang="en-US" sz="2100" dirty="0"/>
                        <a:t> </a:t>
                      </a:r>
                      <a:r>
                        <a:rPr lang="en-US" sz="2100" dirty="0" err="1"/>
                        <a:t>ortaya</a:t>
                      </a:r>
                      <a:r>
                        <a:rPr lang="en-US" sz="2100" dirty="0"/>
                        <a:t> </a:t>
                      </a:r>
                      <a:r>
                        <a:rPr lang="en-US" sz="2100" dirty="0" err="1"/>
                        <a:t>koyuyor</a:t>
                      </a:r>
                      <a:r>
                        <a:rPr lang="en-US" sz="2100" dirty="0"/>
                        <a:t> mu?
</a:t>
                      </a:r>
                      <a:r>
                        <a:rPr lang="en-US" sz="2100" dirty="0" err="1"/>
                        <a:t>Kurumsal</a:t>
                      </a:r>
                      <a:r>
                        <a:rPr lang="en-US" sz="2100" dirty="0"/>
                        <a:t> </a:t>
                      </a:r>
                      <a:r>
                        <a:rPr lang="en-US" sz="2100" dirty="0" err="1"/>
                        <a:t>kabul</a:t>
                      </a:r>
                      <a:r>
                        <a:rPr lang="en-US" sz="2100" dirty="0"/>
                        <a:t> </a:t>
                      </a:r>
                      <a:r>
                        <a:rPr lang="en-US" sz="2100" dirty="0" err="1"/>
                        <a:t>edilebilir</a:t>
                      </a:r>
                      <a:r>
                        <a:rPr lang="en-US" sz="2100" dirty="0"/>
                        <a:t> </a:t>
                      </a:r>
                      <a:r>
                        <a:rPr lang="en-US" sz="2100" dirty="0" err="1"/>
                        <a:t>kullanım</a:t>
                      </a:r>
                      <a:r>
                        <a:rPr lang="en-US" sz="2100" dirty="0"/>
                        <a:t> </a:t>
                      </a:r>
                      <a:r>
                        <a:rPr lang="en-US" sz="2100" dirty="0" err="1"/>
                        <a:t>politikanız</a:t>
                      </a:r>
                      <a:r>
                        <a:rPr lang="en-US" sz="2100" dirty="0"/>
                        <a:t>, </a:t>
                      </a:r>
                      <a:r>
                        <a:rPr lang="en-US" sz="2100" dirty="0" err="1"/>
                        <a:t>çalışan</a:t>
                      </a:r>
                      <a:r>
                        <a:rPr lang="en-US" sz="2100" dirty="0"/>
                        <a:t> e-</a:t>
                      </a:r>
                      <a:r>
                        <a:rPr lang="en-US" sz="2100" dirty="0" err="1"/>
                        <a:t>postalarının</a:t>
                      </a:r>
                      <a:r>
                        <a:rPr lang="en-US" sz="2100" dirty="0"/>
                        <a:t> </a:t>
                      </a:r>
                      <a:r>
                        <a:rPr lang="en-US" sz="2100" dirty="0" err="1"/>
                        <a:t>karalayıcı</a:t>
                      </a:r>
                      <a:r>
                        <a:rPr lang="en-US" sz="2100" dirty="0"/>
                        <a:t>, </a:t>
                      </a:r>
                      <a:r>
                        <a:rPr lang="en-US" sz="2100" dirty="0" err="1"/>
                        <a:t>nefret</a:t>
                      </a:r>
                      <a:r>
                        <a:rPr lang="en-US" sz="2100" dirty="0"/>
                        <a:t> </a:t>
                      </a:r>
                      <a:r>
                        <a:rPr lang="en-US" sz="2100" dirty="0" err="1"/>
                        <a:t>dolu</a:t>
                      </a:r>
                      <a:r>
                        <a:rPr lang="en-US" sz="2100" dirty="0"/>
                        <a:t> </a:t>
                      </a:r>
                      <a:r>
                        <a:rPr lang="en-US" sz="2100" dirty="0" err="1"/>
                        <a:t>materyaller</a:t>
                      </a:r>
                      <a:r>
                        <a:rPr lang="en-US" sz="2100" dirty="0"/>
                        <a:t> için </a:t>
                      </a:r>
                      <a:r>
                        <a:rPr lang="en-US" sz="2100" dirty="0" err="1"/>
                        <a:t>düzenli</a:t>
                      </a:r>
                      <a:r>
                        <a:rPr lang="en-US" sz="2100" dirty="0"/>
                        <a:t> </a:t>
                      </a:r>
                      <a:r>
                        <a:rPr lang="en-US" sz="2100" dirty="0" err="1"/>
                        <a:t>olarak</a:t>
                      </a:r>
                      <a:r>
                        <a:rPr lang="en-US" sz="2100" dirty="0"/>
                        <a:t> </a:t>
                      </a:r>
                      <a:r>
                        <a:rPr lang="en-US" sz="2100" dirty="0" err="1"/>
                        <a:t>izlendiğini</a:t>
                      </a:r>
                      <a:r>
                        <a:rPr lang="en-US" sz="2100" dirty="0"/>
                        <a:t> </a:t>
                      </a:r>
                      <a:r>
                        <a:rPr lang="en-US" sz="2100" dirty="0" err="1"/>
                        <a:t>bildiriyor</a:t>
                      </a:r>
                      <a:r>
                        <a:rPr lang="en-US" sz="2100" dirty="0"/>
                        <a:t> mu?
</a:t>
                      </a:r>
                      <a:r>
                        <a:rPr lang="en-US" sz="2100" dirty="0" err="1"/>
                        <a:t>Kurumsal</a:t>
                      </a:r>
                      <a:r>
                        <a:rPr lang="en-US" sz="2100" dirty="0"/>
                        <a:t> BT </a:t>
                      </a:r>
                      <a:r>
                        <a:rPr lang="en-US" sz="2100" dirty="0" err="1"/>
                        <a:t>kullanım</a:t>
                      </a:r>
                      <a:r>
                        <a:rPr lang="en-US" sz="2100" dirty="0"/>
                        <a:t> </a:t>
                      </a:r>
                      <a:r>
                        <a:rPr lang="en-US" sz="2100" dirty="0" err="1"/>
                        <a:t>politikanız</a:t>
                      </a:r>
                      <a:r>
                        <a:rPr lang="en-US" sz="2100" dirty="0"/>
                        <a:t>, </a:t>
                      </a:r>
                      <a:r>
                        <a:rPr lang="en-US" sz="2100" dirty="0" err="1"/>
                        <a:t>çalışanlara</a:t>
                      </a:r>
                      <a:r>
                        <a:rPr lang="en-US" sz="2100" dirty="0"/>
                        <a:t> </a:t>
                      </a:r>
                      <a:r>
                        <a:rPr lang="en-US" sz="2100" dirty="0" err="1"/>
                        <a:t>nefret</a:t>
                      </a:r>
                      <a:r>
                        <a:rPr lang="en-US" sz="2100" dirty="0"/>
                        <a:t> e-</a:t>
                      </a:r>
                      <a:r>
                        <a:rPr lang="en-US" sz="2100" dirty="0" err="1"/>
                        <a:t>postası</a:t>
                      </a:r>
                      <a:r>
                        <a:rPr lang="en-US" sz="2100" dirty="0"/>
                        <a:t> </a:t>
                      </a:r>
                      <a:r>
                        <a:rPr lang="en-US" sz="2100" dirty="0" err="1"/>
                        <a:t>aldıklarında</a:t>
                      </a:r>
                      <a:r>
                        <a:rPr lang="en-US" sz="2100" dirty="0"/>
                        <a:t> ne </a:t>
                      </a:r>
                      <a:r>
                        <a:rPr lang="en-US" sz="2100" dirty="0" err="1"/>
                        <a:t>yapmaları</a:t>
                      </a:r>
                      <a:r>
                        <a:rPr lang="en-US" sz="2100" dirty="0"/>
                        <a:t> </a:t>
                      </a:r>
                      <a:r>
                        <a:rPr lang="en-US" sz="2100" dirty="0" err="1"/>
                        <a:t>gerektiğini</a:t>
                      </a:r>
                      <a:r>
                        <a:rPr lang="en-US" sz="2100" dirty="0"/>
                        <a:t> </a:t>
                      </a:r>
                      <a:r>
                        <a:rPr lang="en-US" sz="2100" dirty="0" err="1"/>
                        <a:t>söylüyor</a:t>
                      </a:r>
                      <a:r>
                        <a:rPr lang="en-US" sz="2100" dirty="0"/>
                        <a:t> mu?</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97846982"/>
                  </a:ext>
                </a:extLst>
              </a:tr>
            </a:tbl>
          </a:graphicData>
        </a:graphic>
      </p:graphicFrame>
      <p:sp>
        <p:nvSpPr>
          <p:cNvPr id="3" name="Title 2"/>
          <p:cNvSpPr>
            <a:spLocks noGrp="1"/>
          </p:cNvSpPr>
          <p:nvPr>
            <p:ph type="title"/>
          </p:nvPr>
        </p:nvSpPr>
        <p:spPr>
          <a:xfrm>
            <a:off x="762000" y="225921"/>
            <a:ext cx="8026400" cy="656911"/>
          </a:xfrm>
        </p:spPr>
        <p:txBody>
          <a:bodyPr/>
          <a:lstStyle/>
          <a:p>
            <a:r>
              <a:rPr lang="en-US" sz="2500"/>
              <a:t>İşyerinde İfade Özgürlüğü Konularını Ele Almak İçin Yöneticinin Kontrol Listesi, Bölüm 2</a:t>
            </a:r>
            <a:endParaRPr lang="en-US" sz="25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35323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3991862"/>
          </a:xfrm>
        </p:spPr>
        <p:txBody>
          <a:bodyPr/>
          <a:lstStyle/>
          <a:p>
            <a:r>
              <a:rPr lang="en-US" sz="2800"/>
              <a:t>Amerika Birleşik Devletleri'nde ifade özgürlüğünün korunmasının temeli nedir ve ne tür ifadeler yasalar tarafından korunmamaktadır?
Birinci Değişiklik, Amerikalıların din özgürlüğü, ifade özgürlüğü, barışçıl toplanma özgürlüğü ve anonim konuşma özgürlüğü haklarını korur.
Müstehcen konuşma, hakaret, paniğe teşvik, suça teşvik, "kelimelerle mücadele" ve isyan Birinci Değişiklik tarafından korunmamaktadır</a:t>
            </a:r>
            <a:endParaRPr lang="en-US" sz="2600" dirty="0"/>
          </a:p>
        </p:txBody>
      </p:sp>
      <p:sp>
        <p:nvSpPr>
          <p:cNvPr id="3" name="Title 2"/>
          <p:cNvSpPr>
            <a:spLocks noGrp="1"/>
          </p:cNvSpPr>
          <p:nvPr>
            <p:ph type="title"/>
          </p:nvPr>
        </p:nvSpPr>
        <p:spPr>
          <a:xfrm>
            <a:off x="762000" y="290459"/>
            <a:ext cx="8026400" cy="527837"/>
          </a:xfrm>
        </p:spPr>
        <p:txBody>
          <a:bodyPr/>
          <a:lstStyle/>
          <a:p>
            <a:r>
              <a:rPr lang="en-US" sz="4000"/>
              <a:t>Özet, Bölüm 1</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59937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19200"/>
            <a:ext cx="8415338" cy="5287601"/>
          </a:xfrm>
        </p:spPr>
        <p:txBody>
          <a:bodyPr/>
          <a:lstStyle/>
          <a:p>
            <a:r>
              <a:rPr lang="en-US" sz="2400"/>
              <a:t>Çevrimiçi ifade özgürlüğünü etkileyen bazı önemli federal yasalar nelerdir ve kuruluşları nasıl etkiler?
Zorluk: Yetişkinlerin erişimini kısıtlamadan çocukların çevrimiçi ortamda uygunsuz materyallere erişimini kısıtlamak
Önemli federal yasalar: 
İletişim Ahlakı Yasası (CDA)
CDA'nın 230. Bölümü: Kullanıcı tarafından oluşturulan içeriği yayınlayan ISS'lere, aynı zamanda bir içerik sağlayıcı olarak hizmet etmedikleri sürece dokunulmazlık sağlar
Çocukların Çevrimiçi Korunması Yasası (COPA)
Çocukların İnternetten Korunması Yasası (CIPA)
Dijital Binyıl Telif Hakkı Yasası (DMCA)</a:t>
            </a:r>
            <a:endParaRPr lang="en-US" sz="2400" dirty="0"/>
          </a:p>
        </p:txBody>
      </p:sp>
      <p:sp>
        <p:nvSpPr>
          <p:cNvPr id="3" name="Title 2"/>
          <p:cNvSpPr>
            <a:spLocks noGrp="1"/>
          </p:cNvSpPr>
          <p:nvPr>
            <p:ph type="title"/>
          </p:nvPr>
        </p:nvSpPr>
        <p:spPr>
          <a:xfrm>
            <a:off x="762000" y="290459"/>
            <a:ext cx="8026400" cy="527837"/>
          </a:xfrm>
        </p:spPr>
        <p:txBody>
          <a:bodyPr/>
          <a:lstStyle/>
          <a:p>
            <a:r>
              <a:rPr lang="en-US" sz="4000"/>
              <a:t>Özet, Bölüm 2</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18274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5133713"/>
          </a:xfrm>
        </p:spPr>
        <p:txBody>
          <a:bodyPr/>
          <a:lstStyle/>
          <a:p>
            <a:r>
              <a:rPr lang="en-US" sz="2400"/>
              <a:t>Bilgi teknolojisinin kullanımıyla ilgili hangi önemli ifade özgürlüğü sorunları nelerdir?
İnternet sansürü: Bilginin çevrimiçi olarak yayınlanmasının veya erişilmesinin kontrolü veya bastırılması
Halkın katılımına karşı stratejik dava (SLAPP)
SLAPP karşıtı yasalar, anlamsız SLAPP'leri azaltmak için tasarlanmıştır
Anonim ifade
Doxing: Birinin kişisel bilgilerini çevrimiçi olarak araştırmak ve yayınlamak
John Doe davası: Anonim İnternet kullanıcılarının kimliğini öğrenmek amacıyla mahkeme celbi yetkisi kazanmak için kullanılır</a:t>
            </a:r>
            <a:endParaRPr lang="en-US" dirty="0"/>
          </a:p>
        </p:txBody>
      </p:sp>
      <p:sp>
        <p:nvSpPr>
          <p:cNvPr id="3" name="Title 2"/>
          <p:cNvSpPr>
            <a:spLocks noGrp="1"/>
          </p:cNvSpPr>
          <p:nvPr>
            <p:ph type="title"/>
          </p:nvPr>
        </p:nvSpPr>
        <p:spPr>
          <a:xfrm>
            <a:off x="762000" y="290459"/>
            <a:ext cx="8026400" cy="527837"/>
          </a:xfrm>
        </p:spPr>
        <p:txBody>
          <a:bodyPr/>
          <a:lstStyle/>
          <a:p>
            <a:r>
              <a:rPr lang="en-US" sz="4000"/>
              <a:t>Özet, Bölüm 3</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4534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4124206"/>
          </a:xfrm>
        </p:spPr>
        <p:txBody>
          <a:bodyPr/>
          <a:lstStyle/>
          <a:p>
            <a:r>
              <a:rPr lang="en-US" sz="2400" dirty="0"/>
              <a:t>Bilgi </a:t>
            </a:r>
            <a:r>
              <a:rPr lang="en-US" sz="2400" dirty="0" err="1"/>
              <a:t>teknolojisinin</a:t>
            </a:r>
            <a:r>
              <a:rPr lang="en-US" sz="2400" dirty="0"/>
              <a:t> </a:t>
            </a:r>
            <a:r>
              <a:rPr lang="en-US" sz="2400" dirty="0" err="1"/>
              <a:t>kullanımıyla</a:t>
            </a:r>
            <a:r>
              <a:rPr lang="en-US" sz="2400" dirty="0"/>
              <a:t> </a:t>
            </a:r>
            <a:r>
              <a:rPr lang="en-US" sz="2400" dirty="0" err="1"/>
              <a:t>ilgili</a:t>
            </a:r>
            <a:r>
              <a:rPr lang="en-US" sz="2400" dirty="0"/>
              <a:t> hangi </a:t>
            </a:r>
            <a:r>
              <a:rPr lang="en-US" sz="2400" dirty="0" err="1"/>
              <a:t>önemli</a:t>
            </a:r>
            <a:r>
              <a:rPr lang="en-US" sz="2400" dirty="0"/>
              <a:t> </a:t>
            </a:r>
            <a:r>
              <a:rPr lang="en-US" sz="2400" dirty="0" err="1"/>
              <a:t>ifade</a:t>
            </a:r>
            <a:r>
              <a:rPr lang="en-US" sz="2400" dirty="0"/>
              <a:t> </a:t>
            </a:r>
            <a:r>
              <a:rPr lang="en-US" sz="2400" dirty="0" err="1"/>
              <a:t>özgürlüğü</a:t>
            </a:r>
            <a:r>
              <a:rPr lang="en-US" sz="2400" dirty="0"/>
              <a:t> </a:t>
            </a:r>
            <a:r>
              <a:rPr lang="en-US" sz="2400" dirty="0" err="1"/>
              <a:t>sorunları</a:t>
            </a:r>
            <a:r>
              <a:rPr lang="en-US" sz="2400" dirty="0"/>
              <a:t> </a:t>
            </a:r>
            <a:r>
              <a:rPr lang="en-US" sz="2400" dirty="0" err="1"/>
              <a:t>nelerdir</a:t>
            </a:r>
            <a:r>
              <a:rPr lang="en-US" sz="2400" dirty="0"/>
              <a:t>?
</a:t>
            </a:r>
            <a:r>
              <a:rPr lang="en-US" sz="2400" dirty="0" err="1"/>
              <a:t>Yalnızca</a:t>
            </a:r>
            <a:r>
              <a:rPr lang="en-US" sz="2400" dirty="0"/>
              <a:t> </a:t>
            </a:r>
            <a:r>
              <a:rPr lang="en-US" sz="2400" dirty="0" err="1"/>
              <a:t>sinir</a:t>
            </a:r>
            <a:r>
              <a:rPr lang="en-US" sz="2400" dirty="0"/>
              <a:t> </a:t>
            </a:r>
            <a:r>
              <a:rPr lang="en-US" sz="2400" dirty="0" err="1"/>
              <a:t>bozucu</a:t>
            </a:r>
            <a:r>
              <a:rPr lang="en-US" sz="2400" dirty="0"/>
              <a:t>, </a:t>
            </a:r>
            <a:r>
              <a:rPr lang="en-US" sz="2400" dirty="0" err="1"/>
              <a:t>eleştirel</a:t>
            </a:r>
            <a:r>
              <a:rPr lang="en-US" sz="2400" dirty="0"/>
              <a:t>, </a:t>
            </a:r>
            <a:r>
              <a:rPr lang="en-US" sz="2400" dirty="0" err="1"/>
              <a:t>küçük</a:t>
            </a:r>
            <a:r>
              <a:rPr lang="en-US" sz="2400" dirty="0"/>
              <a:t> </a:t>
            </a:r>
            <a:r>
              <a:rPr lang="en-US" sz="2400" dirty="0" err="1"/>
              <a:t>düşürücü</a:t>
            </a:r>
            <a:r>
              <a:rPr lang="en-US" sz="2400" dirty="0"/>
              <a:t> </a:t>
            </a:r>
            <a:r>
              <a:rPr lang="en-US" sz="2400" dirty="0" err="1"/>
              <a:t>veya</a:t>
            </a:r>
            <a:r>
              <a:rPr lang="en-US" sz="2400" dirty="0"/>
              <a:t> </a:t>
            </a:r>
            <a:r>
              <a:rPr lang="en-US" sz="2400" dirty="0" err="1"/>
              <a:t>saldırgan</a:t>
            </a:r>
            <a:r>
              <a:rPr lang="en-US" sz="2400" dirty="0"/>
              <a:t> </a:t>
            </a:r>
            <a:r>
              <a:rPr lang="en-US" sz="2400" dirty="0" err="1"/>
              <a:t>olan</a:t>
            </a:r>
            <a:r>
              <a:rPr lang="en-US" sz="2400" dirty="0"/>
              <a:t> </a:t>
            </a:r>
            <a:r>
              <a:rPr lang="en-US" sz="2400" dirty="0" err="1"/>
              <a:t>konuşmalar</a:t>
            </a:r>
            <a:r>
              <a:rPr lang="en-US" sz="2400" dirty="0"/>
              <a:t> </a:t>
            </a:r>
            <a:r>
              <a:rPr lang="en-US" sz="2400" dirty="0" err="1"/>
              <a:t>Birinci</a:t>
            </a:r>
            <a:r>
              <a:rPr lang="en-US" sz="2400" dirty="0"/>
              <a:t> </a:t>
            </a:r>
            <a:r>
              <a:rPr lang="en-US" sz="2400" dirty="0" err="1"/>
              <a:t>Değişiklik</a:t>
            </a:r>
            <a:r>
              <a:rPr lang="en-US" sz="2400" dirty="0"/>
              <a:t> </a:t>
            </a:r>
            <a:r>
              <a:rPr lang="en-US" sz="2400" dirty="0" err="1"/>
              <a:t>tarafından</a:t>
            </a:r>
            <a:r>
              <a:rPr lang="en-US" sz="2400" dirty="0"/>
              <a:t> </a:t>
            </a:r>
            <a:r>
              <a:rPr lang="en-US" sz="2400" dirty="0" err="1"/>
              <a:t>korunmaktadır</a:t>
            </a:r>
            <a:r>
              <a:rPr lang="en-US" sz="2400" dirty="0"/>
              <a:t>.
</a:t>
            </a:r>
            <a:r>
              <a:rPr lang="en-US" sz="2400" dirty="0" err="1"/>
              <a:t>Nefret</a:t>
            </a:r>
            <a:r>
              <a:rPr lang="en-US" sz="2400" dirty="0"/>
              <a:t> </a:t>
            </a:r>
            <a:r>
              <a:rPr lang="en-US" sz="2400" dirty="0" err="1"/>
              <a:t>söylemi</a:t>
            </a:r>
            <a:r>
              <a:rPr lang="en-US" sz="2400" dirty="0"/>
              <a:t>, </a:t>
            </a:r>
            <a:r>
              <a:rPr lang="en-US" sz="2400" dirty="0" err="1"/>
              <a:t>belirli</a:t>
            </a:r>
            <a:r>
              <a:rPr lang="en-US" sz="2400" dirty="0"/>
              <a:t> </a:t>
            </a:r>
            <a:r>
              <a:rPr lang="en-US" sz="2400" dirty="0" err="1"/>
              <a:t>vatandaşlara</a:t>
            </a:r>
            <a:r>
              <a:rPr lang="en-US" sz="2400" dirty="0"/>
              <a:t> </a:t>
            </a:r>
            <a:r>
              <a:rPr lang="en-US" sz="2400" dirty="0" err="1"/>
              <a:t>yönelik</a:t>
            </a:r>
            <a:r>
              <a:rPr lang="en-US" sz="2400" dirty="0"/>
              <a:t> </a:t>
            </a:r>
            <a:r>
              <a:rPr lang="en-US" sz="2400" dirty="0" err="1"/>
              <a:t>tehditleri</a:t>
            </a:r>
            <a:r>
              <a:rPr lang="en-US" sz="2400" dirty="0"/>
              <a:t> </a:t>
            </a:r>
            <a:r>
              <a:rPr lang="en-US" sz="2400" dirty="0" err="1"/>
              <a:t>ve</a:t>
            </a:r>
            <a:r>
              <a:rPr lang="en-US" sz="2400" dirty="0"/>
              <a:t> </a:t>
            </a:r>
            <a:r>
              <a:rPr lang="en-US" sz="2400" dirty="0" err="1"/>
              <a:t>korkutmaları</a:t>
            </a:r>
            <a:r>
              <a:rPr lang="en-US" sz="2400" dirty="0"/>
              <a:t> </a:t>
            </a:r>
            <a:r>
              <a:rPr lang="en-US" sz="2400" dirty="0" err="1"/>
              <a:t>içerir</a:t>
            </a:r>
            <a:r>
              <a:rPr lang="en-US" sz="2400" dirty="0"/>
              <a:t>.
</a:t>
            </a:r>
            <a:r>
              <a:rPr lang="en-US" sz="2400" dirty="0" err="1"/>
              <a:t>Bazı</a:t>
            </a:r>
            <a:r>
              <a:rPr lang="en-US" sz="2400" dirty="0"/>
              <a:t> </a:t>
            </a:r>
            <a:r>
              <a:rPr lang="en-US" sz="2400" dirty="0" err="1"/>
              <a:t>İSS'ler</a:t>
            </a:r>
            <a:r>
              <a:rPr lang="en-US" sz="2400" dirty="0"/>
              <a:t> </a:t>
            </a:r>
            <a:r>
              <a:rPr lang="en-US" sz="2400" dirty="0" err="1"/>
              <a:t>ve</a:t>
            </a:r>
            <a:r>
              <a:rPr lang="en-US" sz="2400" dirty="0"/>
              <a:t> </a:t>
            </a:r>
            <a:r>
              <a:rPr lang="en-US" sz="2400" dirty="0" err="1"/>
              <a:t>sosyal</a:t>
            </a:r>
            <a:r>
              <a:rPr lang="en-US" sz="2400" dirty="0"/>
              <a:t> </a:t>
            </a:r>
            <a:r>
              <a:rPr lang="en-US" sz="2400" dirty="0" err="1"/>
              <a:t>ağ</a:t>
            </a:r>
            <a:r>
              <a:rPr lang="en-US" sz="2400" dirty="0"/>
              <a:t> </a:t>
            </a:r>
            <a:r>
              <a:rPr lang="en-US" sz="2400" dirty="0" err="1"/>
              <a:t>siteleri</a:t>
            </a:r>
            <a:r>
              <a:rPr lang="en-US" sz="2400" dirty="0"/>
              <a:t>, </a:t>
            </a:r>
            <a:r>
              <a:rPr lang="en-US" sz="2400" dirty="0" err="1"/>
              <a:t>hizmet</a:t>
            </a:r>
            <a:r>
              <a:rPr lang="en-US" sz="2400" dirty="0"/>
              <a:t> </a:t>
            </a:r>
            <a:r>
              <a:rPr lang="en-US" sz="2400" dirty="0" err="1"/>
              <a:t>sözleşmelerinin</a:t>
            </a:r>
            <a:r>
              <a:rPr lang="en-US" sz="2400" dirty="0"/>
              <a:t> </a:t>
            </a:r>
            <a:r>
              <a:rPr lang="en-US" sz="2400" dirty="0" err="1"/>
              <a:t>bir</a:t>
            </a:r>
            <a:r>
              <a:rPr lang="en-US" sz="2400" dirty="0"/>
              <a:t> </a:t>
            </a:r>
            <a:r>
              <a:rPr lang="en-US" sz="2400" dirty="0" err="1"/>
              <a:t>parçası</a:t>
            </a:r>
            <a:r>
              <a:rPr lang="en-US" sz="2400" dirty="0"/>
              <a:t> </a:t>
            </a:r>
            <a:r>
              <a:rPr lang="en-US" sz="2400" dirty="0" err="1"/>
              <a:t>olarak</a:t>
            </a:r>
            <a:r>
              <a:rPr lang="en-US" sz="2400" dirty="0"/>
              <a:t> </a:t>
            </a:r>
            <a:r>
              <a:rPr lang="en-US" sz="2400" dirty="0" err="1"/>
              <a:t>nefret</a:t>
            </a:r>
            <a:r>
              <a:rPr lang="en-US" sz="2400" dirty="0"/>
              <a:t> </a:t>
            </a:r>
            <a:r>
              <a:rPr lang="en-US" sz="2400" dirty="0" err="1"/>
              <a:t>söylemini</a:t>
            </a:r>
            <a:r>
              <a:rPr lang="en-US" sz="2400" dirty="0"/>
              <a:t> </a:t>
            </a:r>
            <a:r>
              <a:rPr lang="en-US" sz="2400" dirty="0" err="1"/>
              <a:t>yasaklar</a:t>
            </a:r>
            <a:r>
              <a:rPr lang="en-US" sz="2400" dirty="0"/>
              <a:t>; </a:t>
            </a:r>
            <a:r>
              <a:rPr lang="en-US" sz="2400" dirty="0" err="1"/>
              <a:t>bu</a:t>
            </a:r>
            <a:r>
              <a:rPr lang="en-US" sz="2400" dirty="0"/>
              <a:t> </a:t>
            </a:r>
            <a:r>
              <a:rPr lang="en-US" sz="2400" dirty="0" err="1"/>
              <a:t>tür</a:t>
            </a:r>
            <a:r>
              <a:rPr lang="en-US" sz="2400" dirty="0"/>
              <a:t> </a:t>
            </a:r>
            <a:r>
              <a:rPr lang="en-US" sz="2400" dirty="0" err="1"/>
              <a:t>kısıtlamalar</a:t>
            </a:r>
            <a:r>
              <a:rPr lang="en-US" sz="2400" dirty="0"/>
              <a:t> </a:t>
            </a:r>
            <a:r>
              <a:rPr lang="en-US" sz="2400" dirty="0" err="1"/>
              <a:t>Birinci</a:t>
            </a:r>
            <a:r>
              <a:rPr lang="en-US" sz="2400" dirty="0"/>
              <a:t> </a:t>
            </a:r>
            <a:r>
              <a:rPr lang="en-US" sz="2400" dirty="0" err="1"/>
              <a:t>Değişikliği</a:t>
            </a:r>
            <a:r>
              <a:rPr lang="en-US" sz="2400" dirty="0"/>
              <a:t> </a:t>
            </a:r>
            <a:r>
              <a:rPr lang="en-US" sz="2400" dirty="0" err="1"/>
              <a:t>ihlal</a:t>
            </a:r>
            <a:r>
              <a:rPr lang="en-US" sz="2400" dirty="0"/>
              <a:t> </a:t>
            </a:r>
            <a:r>
              <a:rPr lang="en-US" sz="2400" dirty="0" err="1"/>
              <a:t>etmez</a:t>
            </a:r>
            <a:r>
              <a:rPr lang="en-US" sz="2400" dirty="0"/>
              <a:t>
</a:t>
            </a:r>
          </a:p>
        </p:txBody>
      </p:sp>
      <p:sp>
        <p:nvSpPr>
          <p:cNvPr id="3" name="Title 2"/>
          <p:cNvSpPr>
            <a:spLocks noGrp="1"/>
          </p:cNvSpPr>
          <p:nvPr>
            <p:ph type="title"/>
          </p:nvPr>
        </p:nvSpPr>
        <p:spPr>
          <a:xfrm>
            <a:off x="762000" y="290459"/>
            <a:ext cx="8026400" cy="527837"/>
          </a:xfrm>
        </p:spPr>
        <p:txBody>
          <a:bodyPr/>
          <a:lstStyle/>
          <a:p>
            <a:r>
              <a:rPr lang="en-US" sz="4000"/>
              <a:t>Özet, Bölüm 4</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27166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5125" y="1295400"/>
            <a:ext cx="8415338" cy="2763834"/>
          </a:xfrm>
        </p:spPr>
        <p:txBody>
          <a:bodyPr/>
          <a:lstStyle/>
          <a:p>
            <a:r>
              <a:rPr lang="en-US" sz="2400" dirty="0"/>
              <a:t>Bilgi </a:t>
            </a:r>
            <a:r>
              <a:rPr lang="en-US" sz="2400" dirty="0" err="1"/>
              <a:t>teknolojisinin</a:t>
            </a:r>
            <a:r>
              <a:rPr lang="en-US" sz="2400" dirty="0"/>
              <a:t> </a:t>
            </a:r>
            <a:r>
              <a:rPr lang="en-US" sz="2400" dirty="0" err="1"/>
              <a:t>kullanımıyla</a:t>
            </a:r>
            <a:r>
              <a:rPr lang="en-US" sz="2400" dirty="0"/>
              <a:t> </a:t>
            </a:r>
            <a:r>
              <a:rPr lang="en-US" sz="2400" dirty="0" err="1"/>
              <a:t>ilgili</a:t>
            </a:r>
            <a:r>
              <a:rPr lang="en-US" sz="2400" dirty="0"/>
              <a:t> hangi </a:t>
            </a:r>
            <a:r>
              <a:rPr lang="en-US" sz="2400" dirty="0" err="1"/>
              <a:t>önemli</a:t>
            </a:r>
            <a:r>
              <a:rPr lang="en-US" sz="2400" dirty="0"/>
              <a:t> </a:t>
            </a:r>
            <a:r>
              <a:rPr lang="en-US" sz="2400" dirty="0" err="1"/>
              <a:t>ifade</a:t>
            </a:r>
            <a:r>
              <a:rPr lang="en-US" sz="2400" dirty="0"/>
              <a:t> </a:t>
            </a:r>
            <a:r>
              <a:rPr lang="en-US" sz="2400" dirty="0" err="1"/>
              <a:t>özgürlüğü</a:t>
            </a:r>
            <a:r>
              <a:rPr lang="en-US" sz="2400" dirty="0"/>
              <a:t> </a:t>
            </a:r>
            <a:r>
              <a:rPr lang="en-US" sz="2400" dirty="0" err="1"/>
              <a:t>sorunları</a:t>
            </a:r>
            <a:r>
              <a:rPr lang="en-US" sz="2400" dirty="0"/>
              <a:t> </a:t>
            </a:r>
            <a:r>
              <a:rPr lang="en-US" sz="2400" dirty="0" err="1"/>
              <a:t>nelerdir</a:t>
            </a:r>
            <a:r>
              <a:rPr lang="en-US" sz="2400" dirty="0"/>
              <a:t>?
CAN-SPAM </a:t>
            </a:r>
            <a:r>
              <a:rPr lang="en-US" sz="2400" dirty="0" err="1"/>
              <a:t>Yasası</a:t>
            </a:r>
            <a:r>
              <a:rPr lang="en-US" sz="2400" dirty="0"/>
              <a:t>: </a:t>
            </a:r>
            <a:r>
              <a:rPr lang="en-US" sz="2400" dirty="0" err="1"/>
              <a:t>Ticari</a:t>
            </a:r>
            <a:r>
              <a:rPr lang="en-US" sz="2400" dirty="0"/>
              <a:t> e-</a:t>
            </a:r>
            <a:r>
              <a:rPr lang="en-US" sz="2400" dirty="0" err="1"/>
              <a:t>posta</a:t>
            </a:r>
            <a:r>
              <a:rPr lang="en-US" sz="2400" dirty="0"/>
              <a:t> </a:t>
            </a:r>
            <a:r>
              <a:rPr lang="en-US" sz="2400" dirty="0" err="1"/>
              <a:t>gönderenlerin</a:t>
            </a:r>
            <a:r>
              <a:rPr lang="en-US" sz="2400" dirty="0"/>
              <a:t> </a:t>
            </a:r>
            <a:r>
              <a:rPr lang="en-US" sz="2400" dirty="0" err="1"/>
              <a:t>promosyon</a:t>
            </a:r>
            <a:r>
              <a:rPr lang="en-US" sz="2400" dirty="0"/>
              <a:t> </a:t>
            </a:r>
            <a:r>
              <a:rPr lang="en-US" sz="2400" dirty="0" err="1"/>
              <a:t>mesajları</a:t>
            </a:r>
            <a:r>
              <a:rPr lang="en-US" sz="2400" dirty="0"/>
              <a:t> </a:t>
            </a:r>
            <a:r>
              <a:rPr lang="en-US" sz="2400" dirty="0" err="1"/>
              <a:t>gönderirken</a:t>
            </a:r>
            <a:r>
              <a:rPr lang="en-US" sz="2400" dirty="0"/>
              <a:t> </a:t>
            </a:r>
            <a:r>
              <a:rPr lang="en-US" sz="2400" dirty="0" err="1"/>
              <a:t>uyması</a:t>
            </a:r>
            <a:r>
              <a:rPr lang="en-US" sz="2400" dirty="0"/>
              <a:t> </a:t>
            </a:r>
            <a:r>
              <a:rPr lang="en-US" sz="2400" dirty="0" err="1"/>
              <a:t>gereken</a:t>
            </a:r>
            <a:r>
              <a:rPr lang="en-US" sz="2400" dirty="0"/>
              <a:t> </a:t>
            </a:r>
            <a:r>
              <a:rPr lang="en-US" sz="2400" dirty="0" err="1"/>
              <a:t>gereksinimleri</a:t>
            </a:r>
            <a:r>
              <a:rPr lang="en-US" sz="2400" dirty="0"/>
              <a:t> </a:t>
            </a:r>
            <a:r>
              <a:rPr lang="en-US" sz="2400" dirty="0" err="1"/>
              <a:t>belirtir</a:t>
            </a:r>
            <a:r>
              <a:rPr lang="en-US" sz="2400" dirty="0"/>
              <a:t>; 
</a:t>
            </a:r>
            <a:r>
              <a:rPr lang="en-US" sz="2400" dirty="0" err="1"/>
              <a:t>Sahte</a:t>
            </a:r>
            <a:r>
              <a:rPr lang="en-US" sz="2400" dirty="0"/>
              <a:t> </a:t>
            </a:r>
            <a:r>
              <a:rPr lang="en-US" sz="2400" dirty="0" err="1"/>
              <a:t>haberler</a:t>
            </a:r>
            <a:r>
              <a:rPr lang="en-US" sz="2400" dirty="0"/>
              <a:t>: İnternet, </a:t>
            </a:r>
            <a:r>
              <a:rPr lang="en-US" sz="2400" dirty="0" err="1"/>
              <a:t>gazetecilik</a:t>
            </a:r>
            <a:r>
              <a:rPr lang="en-US" sz="2400" dirty="0"/>
              <a:t> </a:t>
            </a:r>
            <a:r>
              <a:rPr lang="en-US" sz="2400" dirty="0" err="1"/>
              <a:t>tarzında</a:t>
            </a:r>
            <a:r>
              <a:rPr lang="en-US" sz="2400" dirty="0"/>
              <a:t> </a:t>
            </a:r>
            <a:r>
              <a:rPr lang="en-US" sz="2400" dirty="0" err="1"/>
              <a:t>sunulan</a:t>
            </a:r>
            <a:r>
              <a:rPr lang="en-US" sz="2400" dirty="0"/>
              <a:t> </a:t>
            </a:r>
            <a:r>
              <a:rPr lang="en-US" sz="2400" dirty="0" err="1"/>
              <a:t>güncel</a:t>
            </a:r>
            <a:r>
              <a:rPr lang="en-US" sz="2400" dirty="0"/>
              <a:t> </a:t>
            </a:r>
            <a:r>
              <a:rPr lang="en-US" sz="2400" dirty="0" err="1"/>
              <a:t>olayların</a:t>
            </a:r>
            <a:r>
              <a:rPr lang="en-US" sz="2400" dirty="0"/>
              <a:t> </a:t>
            </a:r>
            <a:r>
              <a:rPr lang="en-US" sz="2400" dirty="0" err="1"/>
              <a:t>gerçekten</a:t>
            </a:r>
            <a:r>
              <a:rPr lang="en-US" sz="2400" dirty="0"/>
              <a:t> son </a:t>
            </a:r>
            <a:r>
              <a:rPr lang="en-US" sz="2400" dirty="0" err="1"/>
              <a:t>derece</a:t>
            </a:r>
            <a:r>
              <a:rPr lang="en-US" sz="2400" dirty="0"/>
              <a:t> </a:t>
            </a:r>
            <a:r>
              <a:rPr lang="en-US" sz="2400" dirty="0" err="1"/>
              <a:t>inatçı</a:t>
            </a:r>
            <a:r>
              <a:rPr lang="en-US" sz="2400" dirty="0"/>
              <a:t>, </a:t>
            </a:r>
            <a:r>
              <a:rPr lang="en-US" sz="2400" dirty="0" err="1"/>
              <a:t>kurgusal</a:t>
            </a:r>
            <a:r>
              <a:rPr lang="en-US" sz="2400" dirty="0"/>
              <a:t> </a:t>
            </a:r>
            <a:r>
              <a:rPr lang="en-US" sz="2400" dirty="0" err="1"/>
              <a:t>veya</a:t>
            </a:r>
            <a:r>
              <a:rPr lang="en-US" sz="2400" dirty="0"/>
              <a:t> </a:t>
            </a:r>
            <a:r>
              <a:rPr lang="en-US" sz="2400" dirty="0" err="1"/>
              <a:t>hicivli</a:t>
            </a:r>
            <a:r>
              <a:rPr lang="en-US" sz="2400" dirty="0"/>
              <a:t> </a:t>
            </a:r>
            <a:r>
              <a:rPr lang="en-US" sz="2400" dirty="0" err="1"/>
              <a:t>anlatımları</a:t>
            </a:r>
            <a:r>
              <a:rPr lang="en-US" sz="2400" dirty="0"/>
              <a:t> </a:t>
            </a:r>
            <a:r>
              <a:rPr lang="en-US" sz="2400" dirty="0" err="1"/>
              <a:t>olan</a:t>
            </a:r>
            <a:r>
              <a:rPr lang="en-US" sz="2400" dirty="0"/>
              <a:t> "</a:t>
            </a:r>
            <a:r>
              <a:rPr lang="en-US" sz="2400" dirty="0" err="1"/>
              <a:t>haber</a:t>
            </a:r>
            <a:r>
              <a:rPr lang="en-US" sz="2400" dirty="0"/>
              <a:t>" </a:t>
            </a:r>
            <a:r>
              <a:rPr lang="en-US" sz="2400" dirty="0" err="1"/>
              <a:t>hesaplarıyla</a:t>
            </a:r>
            <a:r>
              <a:rPr lang="en-US" sz="2400" dirty="0"/>
              <a:t> </a:t>
            </a:r>
            <a:r>
              <a:rPr lang="en-US" sz="2400" dirty="0" err="1"/>
              <a:t>doludur</a:t>
            </a:r>
            <a:r>
              <a:rPr lang="en-US" sz="2400" dirty="0"/>
              <a:t>.</a:t>
            </a:r>
          </a:p>
        </p:txBody>
      </p:sp>
      <p:sp>
        <p:nvSpPr>
          <p:cNvPr id="3" name="Title 2"/>
          <p:cNvSpPr>
            <a:spLocks noGrp="1"/>
          </p:cNvSpPr>
          <p:nvPr>
            <p:ph type="title"/>
          </p:nvPr>
        </p:nvSpPr>
        <p:spPr>
          <a:xfrm>
            <a:off x="762000" y="290459"/>
            <a:ext cx="8026400" cy="527837"/>
          </a:xfrm>
        </p:spPr>
        <p:txBody>
          <a:bodyPr/>
          <a:lstStyle/>
          <a:p>
            <a:r>
              <a:rPr lang="en-US" sz="4000"/>
              <a:t>Özet, Bölüm 5</a:t>
            </a:r>
            <a:endParaRPr lang="en-US" sz="4000" dirty="0"/>
          </a:p>
        </p:txBody>
      </p:sp>
      <p:sp>
        <p:nvSpPr>
          <p:cNvPr id="4" name="Footer Placeholder 3"/>
          <p:cNvSpPr>
            <a:spLocks noGrp="1"/>
          </p:cNvSpPr>
          <p:nvPr>
            <p:ph type="ftr" sz="quarter" idx="10"/>
          </p:nvPr>
        </p:nvSpPr>
        <p:spPr/>
        <p:txBody>
          <a:bodyPr/>
          <a:lstStyle/>
          <a:p>
            <a:r>
              <a:rPr lang="en-US" dirty="0"/>
              <a:t>© 2019 Cengage. All Rights Reserved.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77506406"/>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5762</TotalTime>
  <Words>3089</Words>
  <Application>Microsoft Office PowerPoint</Application>
  <PresentationFormat>Ekran Gösterisi (4:3)</PresentationFormat>
  <Paragraphs>96</Paragraphs>
  <Slides>27</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27</vt:i4>
      </vt:variant>
    </vt:vector>
  </HeadingPairs>
  <TitlesOfParts>
    <vt:vector size="31" baseType="lpstr">
      <vt:lpstr>Arial</vt:lpstr>
      <vt:lpstr>Calibri</vt:lpstr>
      <vt:lpstr>Calibri Light</vt:lpstr>
      <vt:lpstr>Office Theme</vt:lpstr>
      <vt:lpstr>Bilgi Teknolojilerinde Etik</vt:lpstr>
      <vt:lpstr>Öğrenme hedefleri</vt:lpstr>
      <vt:lpstr>Birinci Değişiklik Hakları, Bölüm 1</vt:lpstr>
      <vt:lpstr>Birinci Değişiklik Hakları, Bölüm 2</vt:lpstr>
      <vt:lpstr>Müstehcen Konuşma</vt:lpstr>
      <vt:lpstr>İftira</vt:lpstr>
      <vt:lpstr>İfade Özgürlüğü: Temel Konular</vt:lpstr>
      <vt:lpstr>İnternetteki Bilgilere Erişimi Kontrol Etme, Bölüm 1</vt:lpstr>
      <vt:lpstr>İnternetteki Bilgilere Erişimi Kontrol Etme, Bölüm 2</vt:lpstr>
      <vt:lpstr>İnternetteki Bilgilere Erişimi Kontrol Etme, Bölüm 3</vt:lpstr>
      <vt:lpstr>İnternetteki Bilgilere Erişimi Kontrol Etme, Bölüm 4</vt:lpstr>
      <vt:lpstr>İnternet Sansürü, Bölüm 1</vt:lpstr>
      <vt:lpstr>İnternet Sansürü, Bölüm 2</vt:lpstr>
      <vt:lpstr>İnternet Sansürü, Bölüm 3</vt:lpstr>
      <vt:lpstr>SLAPP Davaları</vt:lpstr>
      <vt:lpstr>İnternette Anonimlik</vt:lpstr>
      <vt:lpstr>John Doe Davaları</vt:lpstr>
      <vt:lpstr>Nefret dolu konuşma</vt:lpstr>
      <vt:lpstr>Sahte Haberler, Bölüm 1</vt:lpstr>
      <vt:lpstr>Sahte Haberler, Bölüm 2</vt:lpstr>
      <vt:lpstr>İşyerinde İfade Özgürlüğü Konularını Ele Almak İçin Yöneticinin Kontrol Listesi, Bölüm 1</vt:lpstr>
      <vt:lpstr>İşyerinde İfade Özgürlüğü Konularını Ele Almak İçin Yöneticinin Kontrol Listesi, Bölüm 2</vt:lpstr>
      <vt:lpstr>Özet, Bölüm 1</vt:lpstr>
      <vt:lpstr>Özet, Bölüm 2</vt:lpstr>
      <vt:lpstr>Özet, Bölüm 3</vt:lpstr>
      <vt:lpstr>Özet, Bölüm 4</vt:lpstr>
      <vt:lpstr>Özet, Bölüm 5</vt:lpstr>
    </vt:vector>
  </TitlesOfParts>
  <Company>Course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karahocaa</cp:lastModifiedBy>
  <cp:revision>323</cp:revision>
  <cp:lastPrinted>2010-11-12T17:54:40Z</cp:lastPrinted>
  <dcterms:created xsi:type="dcterms:W3CDTF">2007-02-15T20:50:52Z</dcterms:created>
  <dcterms:modified xsi:type="dcterms:W3CDTF">2023-10-27T20:08:08Z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1933890983</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Alyssa.Pratt@cengage.com</vt:lpwstr>
  </property>
  <property fmtid="{D5CDD505-2E9C-101B-9397-08002B2CF9AE}" pid="6" name="_AuthorEmailDisplayName">
    <vt:lpwstr>Pratt, Alyssa</vt:lpwstr>
  </property>
  <property fmtid="{D5CDD505-2E9C-101B-9397-08002B2CF9AE}" pid="7" name="_PreviousAdHocReviewCycleID">
    <vt:i4>-685122576</vt:i4>
  </property>
</Properties>
</file>