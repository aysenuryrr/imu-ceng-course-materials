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1"/>
  </p:sldMasterIdLst>
  <p:notesMasterIdLst>
    <p:notesMasterId r:id="rId39"/>
  </p:notesMasterIdLst>
  <p:handoutMasterIdLst>
    <p:handoutMasterId r:id="rId40"/>
  </p:handoutMasterIdLst>
  <p:sldIdLst>
    <p:sldId id="260" r:id="rId2"/>
    <p:sldId id="261" r:id="rId3"/>
    <p:sldId id="258" r:id="rId4"/>
    <p:sldId id="262" r:id="rId5"/>
    <p:sldId id="263" r:id="rId6"/>
    <p:sldId id="264" r:id="rId7"/>
    <p:sldId id="265" r:id="rId8"/>
    <p:sldId id="277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80" r:id="rId21"/>
    <p:sldId id="278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7" r:id="rId38"/>
  </p:sldIdLst>
  <p:sldSz cx="9144000" cy="6858000" type="screen4x3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A5"/>
    <a:srgbClr val="FFFFFF"/>
    <a:srgbClr val="96CDEE"/>
    <a:srgbClr val="0F3F5D"/>
    <a:srgbClr val="01773A"/>
    <a:srgbClr val="156B13"/>
    <a:srgbClr val="008000"/>
    <a:srgbClr val="F20000"/>
    <a:srgbClr val="66CC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56" autoAdjust="0"/>
    <p:restoredTop sz="99857" autoAdjust="0"/>
  </p:normalViewPr>
  <p:slideViewPr>
    <p:cSldViewPr>
      <p:cViewPr varScale="1">
        <p:scale>
          <a:sx n="68" d="100"/>
          <a:sy n="68" d="100"/>
        </p:scale>
        <p:origin x="16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8/16/2017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8/16/2017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47000" cy="620170"/>
          </a:xfrm>
        </p:spPr>
        <p:txBody>
          <a:bodyPr anchor="ctr"/>
          <a:lstStyle/>
          <a:p>
            <a:r>
              <a:rPr lang="en-US" sz="4700" b="1" dirty="0"/>
              <a:t>Ethics in Information Technology</a:t>
            </a:r>
            <a:endParaRPr lang="en-U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24200"/>
            <a:ext cx="7747000" cy="2326021"/>
          </a:xfrm>
        </p:spPr>
        <p:txBody>
          <a:bodyPr/>
          <a:lstStyle/>
          <a:p>
            <a:r>
              <a:rPr lang="en-US" sz="3400" dirty="0"/>
              <a:t>Chapter 2</a:t>
            </a:r>
          </a:p>
          <a:p>
            <a:r>
              <a:rPr lang="en-US" sz="3800" b="1" dirty="0"/>
              <a:t>Ethics for IT Workers and IT Users</a:t>
            </a:r>
          </a:p>
          <a:p>
            <a:endParaRPr lang="en-US" sz="1050" b="1" dirty="0"/>
          </a:p>
          <a:p>
            <a:endParaRPr lang="en-US" sz="1050" b="1" dirty="0"/>
          </a:p>
          <a:p>
            <a:r>
              <a:rPr lang="en-US" sz="2400" b="1" dirty="0">
                <a:solidFill>
                  <a:schemeClr val="accent2"/>
                </a:solidFill>
              </a:rPr>
              <a:t>George W. Reynolds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066801" y="6477000"/>
            <a:ext cx="6248400" cy="244535"/>
          </a:xfrm>
        </p:spPr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5790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7170" y="454748"/>
            <a:ext cx="4081060" cy="523220"/>
          </a:xfrm>
        </p:spPr>
        <p:txBody>
          <a:bodyPr/>
          <a:lstStyle/>
          <a:p>
            <a:r>
              <a:rPr lang="en-US" sz="4000" dirty="0"/>
              <a:t>Learning 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417170" y="1219200"/>
            <a:ext cx="6193430" cy="3754874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relationships must an IT worker manage, and what key ethical issues can arise in each?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can be done to encourage the professionalism of IT workers?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ethical issues do IT users face, and what can be done to encourage their ethical behavior?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9915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999" y="1538818"/>
            <a:ext cx="8018463" cy="3671774"/>
          </a:xfrm>
        </p:spPr>
        <p:txBody>
          <a:bodyPr/>
          <a:lstStyle/>
          <a:p>
            <a:r>
              <a:rPr lang="en-US" sz="2800" dirty="0"/>
              <a:t>Employers</a:t>
            </a:r>
          </a:p>
          <a:p>
            <a:r>
              <a:rPr lang="en-US" sz="2800" dirty="0"/>
              <a:t>Clients </a:t>
            </a:r>
          </a:p>
          <a:p>
            <a:r>
              <a:rPr lang="en-US" sz="2800" dirty="0"/>
              <a:t>Suppliers</a:t>
            </a:r>
          </a:p>
          <a:p>
            <a:r>
              <a:rPr lang="en-US" sz="2800" dirty="0"/>
              <a:t>Other professionals</a:t>
            </a:r>
          </a:p>
          <a:p>
            <a:r>
              <a:rPr lang="en-US" sz="2800" dirty="0"/>
              <a:t>IT users</a:t>
            </a:r>
          </a:p>
          <a:p>
            <a:r>
              <a:rPr lang="en-US" sz="2800" dirty="0"/>
              <a:t>Society at large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43229"/>
            <a:ext cx="8026400" cy="422295"/>
          </a:xfrm>
        </p:spPr>
        <p:txBody>
          <a:bodyPr/>
          <a:lstStyle/>
          <a:p>
            <a:r>
              <a:rPr lang="en-US" sz="3200" dirty="0"/>
              <a:t>IT Worker Relationships That Must be Managed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39296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964162"/>
          </a:xfrm>
        </p:spPr>
        <p:txBody>
          <a:bodyPr/>
          <a:lstStyle/>
          <a:p>
            <a:r>
              <a:rPr lang="en-US" sz="2800" dirty="0"/>
              <a:t>Key issues:</a:t>
            </a:r>
          </a:p>
          <a:p>
            <a:pPr lvl="1">
              <a:lnSpc>
                <a:spcPct val="100000"/>
              </a:lnSpc>
              <a:buClr>
                <a:schemeClr val="accent2"/>
              </a:buClr>
            </a:pPr>
            <a:r>
              <a:rPr lang="en-US" sz="2600" dirty="0"/>
              <a:t>Setting and enforcing policies regarding the </a:t>
            </a:r>
            <a:br>
              <a:rPr lang="en-US" sz="2600" dirty="0"/>
            </a:br>
            <a:r>
              <a:rPr lang="en-US" sz="2600" dirty="0"/>
              <a:t>ethical use of IT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</a:pPr>
            <a:r>
              <a:rPr lang="en-US" sz="2600" dirty="0"/>
              <a:t>The safeguarding of trade secrets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</a:pPr>
            <a:r>
              <a:rPr lang="en-US" sz="2600" dirty="0"/>
              <a:t>The potential for whistle-blowing</a:t>
            </a:r>
          </a:p>
          <a:p>
            <a:pPr marL="228600" lvl="1" indent="0">
              <a:lnSpc>
                <a:spcPct val="200000"/>
              </a:lnSpc>
              <a:buClr>
                <a:schemeClr val="accent2"/>
              </a:buClr>
              <a:buNone/>
            </a:pPr>
            <a:endParaRPr lang="en-US" sz="2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43228"/>
            <a:ext cx="8026400" cy="422295"/>
          </a:xfrm>
        </p:spPr>
        <p:txBody>
          <a:bodyPr/>
          <a:lstStyle/>
          <a:p>
            <a:r>
              <a:rPr lang="en-US" sz="3200" dirty="0"/>
              <a:t>Relationships Between IT Workers and Employers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7891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2582" y="1295400"/>
            <a:ext cx="8415338" cy="4256550"/>
          </a:xfrm>
        </p:spPr>
        <p:txBody>
          <a:bodyPr/>
          <a:lstStyle/>
          <a:p>
            <a:r>
              <a:rPr lang="en-US" sz="2800" dirty="0"/>
              <a:t>IT staff may actively engage in software piracy or allow it to happen—often to reduce IT-related spending.</a:t>
            </a:r>
          </a:p>
          <a:p>
            <a:r>
              <a:rPr lang="en-US" sz="2800" dirty="0"/>
              <a:t>Trade groups representing the world’s largest IT companies are focused on stopping software piracy:</a:t>
            </a:r>
          </a:p>
          <a:p>
            <a:pPr lvl="1">
              <a:buClr>
                <a:schemeClr val="accent2"/>
              </a:buClr>
            </a:pPr>
            <a:r>
              <a:rPr lang="en-US" sz="2600" b="1" dirty="0"/>
              <a:t>Software &amp; Information Industry Association (SIIA)</a:t>
            </a:r>
          </a:p>
          <a:p>
            <a:pPr lvl="2"/>
            <a:r>
              <a:rPr lang="en-US" sz="2400" dirty="0"/>
              <a:t>Promotes the common interests of the software and digital content industries</a:t>
            </a:r>
          </a:p>
          <a:p>
            <a:pPr lvl="1">
              <a:buClr>
                <a:schemeClr val="accent2"/>
              </a:buClr>
            </a:pPr>
            <a:r>
              <a:rPr lang="en-US" sz="2600" b="1" dirty="0"/>
              <a:t>BSA | The Software Alliance (BSA)</a:t>
            </a:r>
          </a:p>
          <a:p>
            <a:pPr lvl="2"/>
            <a:r>
              <a:rPr lang="en-US" sz="2400" dirty="0"/>
              <a:t>Funded through member companies’ dues and through settlements from companies that commit piracy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Ethical Use of IT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4618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9474" y="1351584"/>
            <a:ext cx="8415338" cy="4105739"/>
          </a:xfrm>
        </p:spPr>
        <p:txBody>
          <a:bodyPr/>
          <a:lstStyle/>
          <a:p>
            <a:r>
              <a:rPr lang="en-US" sz="2800" b="1" dirty="0"/>
              <a:t>Trade secret</a:t>
            </a:r>
            <a:r>
              <a:rPr lang="en-US" sz="2800" dirty="0"/>
              <a:t>: Information that a company has taken strong measures to keep confidential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dirty="0"/>
              <a:t>Companies may require employees to sign confidentiality agreements promising not to reveal trade secrets.</a:t>
            </a:r>
          </a:p>
          <a:p>
            <a:pPr>
              <a:spcBef>
                <a:spcPts val="1800"/>
              </a:spcBef>
            </a:pPr>
            <a:r>
              <a:rPr lang="en-US" sz="2800" b="1" dirty="0"/>
              <a:t>Whistle-blowing</a:t>
            </a:r>
            <a:r>
              <a:rPr lang="en-US" sz="2800" dirty="0"/>
              <a:t>: An effort by an employee to attract attention to an act by a company that threatens the public interest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dirty="0"/>
              <a:t>Whistle-blowers often have special information based on their expertise or position.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Trade Secrets &amp; Whistle-Blowing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789119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19200"/>
            <a:ext cx="8415338" cy="4990597"/>
          </a:xfrm>
        </p:spPr>
        <p:txBody>
          <a:bodyPr/>
          <a:lstStyle/>
          <a:p>
            <a:pPr lvl="1">
              <a:buClr>
                <a:schemeClr val="accent2"/>
              </a:buClr>
            </a:pPr>
            <a:r>
              <a:rPr lang="en-US" sz="2800" dirty="0"/>
              <a:t>Key issues:</a:t>
            </a:r>
          </a:p>
          <a:p>
            <a:pPr lvl="2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b="1" dirty="0"/>
              <a:t>Conflict of interest: </a:t>
            </a:r>
            <a:r>
              <a:rPr lang="en-US" sz="2600" dirty="0"/>
              <a:t>A conflict between the IT worker’s (or the IT firm’s) self-interest and the client’s interests</a:t>
            </a:r>
          </a:p>
          <a:p>
            <a:pPr lvl="2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b="1" dirty="0"/>
              <a:t>Fraud:</a:t>
            </a:r>
            <a:r>
              <a:rPr lang="en-US" sz="2600" dirty="0"/>
              <a:t> The crime of obtaining goods, services, or property through deception or trickery</a:t>
            </a:r>
          </a:p>
          <a:p>
            <a:pPr lvl="2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b="1" dirty="0"/>
              <a:t>Misrepresentation:</a:t>
            </a:r>
            <a:r>
              <a:rPr lang="en-US" sz="2600" dirty="0"/>
              <a:t> The misstatement or incomplete statement of a material fact</a:t>
            </a:r>
          </a:p>
          <a:p>
            <a:pPr lvl="2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b="1" dirty="0"/>
              <a:t>Breach of contract: </a:t>
            </a:r>
            <a:r>
              <a:rPr lang="en-US" sz="2600" dirty="0"/>
              <a:t>Occurs when one party fails to meet the terms of a contract</a:t>
            </a:r>
          </a:p>
          <a:p>
            <a:pPr lvl="2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b="1" dirty="0"/>
              <a:t>Material breach of contract: </a:t>
            </a:r>
            <a:r>
              <a:rPr lang="en-US" sz="2600" dirty="0"/>
              <a:t>Occurs when a party fails to perform certain obligations, thus, impairing or destroying the essence of the contract</a:t>
            </a:r>
            <a:endParaRPr lang="en-US" sz="26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43228"/>
            <a:ext cx="8026400" cy="422295"/>
          </a:xfrm>
        </p:spPr>
        <p:txBody>
          <a:bodyPr/>
          <a:lstStyle/>
          <a:p>
            <a:r>
              <a:rPr lang="en-US" sz="3200" dirty="0"/>
              <a:t>Relationships Between IT Workers and Clients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79269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igure 2-1: This drawing of a project manager on a tightrope above a sea of sharks illustrates the frequent causes of problems in IT projects: legacy systems, scope creep, out-of-date solutions, and poor communication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08687"/>
            <a:ext cx="7962117" cy="49530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4"/>
            <a:ext cx="8026400" cy="475066"/>
          </a:xfrm>
        </p:spPr>
        <p:txBody>
          <a:bodyPr/>
          <a:lstStyle/>
          <a:p>
            <a:r>
              <a:rPr lang="en-US" sz="3600" dirty="0"/>
              <a:t>Frequent Causes of Problems in IT Projects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14387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28248"/>
            <a:ext cx="8415338" cy="4661276"/>
          </a:xfrm>
        </p:spPr>
        <p:txBody>
          <a:bodyPr/>
          <a:lstStyle/>
          <a:p>
            <a:r>
              <a:rPr lang="en-US" sz="2800" dirty="0"/>
              <a:t>Key issues:</a:t>
            </a:r>
          </a:p>
          <a:p>
            <a:pPr lvl="1">
              <a:buClr>
                <a:schemeClr val="accent2"/>
              </a:buClr>
            </a:pPr>
            <a:r>
              <a:rPr lang="en-US" sz="2600" b="1" dirty="0"/>
              <a:t>Bribery</a:t>
            </a:r>
            <a:r>
              <a:rPr lang="en-US" sz="2600" dirty="0"/>
              <a:t>: The act of providing money, property, or favors to obtain a business advantage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b="1" dirty="0"/>
              <a:t>Internal control: </a:t>
            </a:r>
            <a:r>
              <a:rPr lang="en-US" sz="2600" dirty="0"/>
              <a:t>The process established to provide reasonable assurance for the effectiveness and efficiency of operations, the reliability of financial reporting, and compliance with applicable laws and regulations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b="1" dirty="0"/>
              <a:t>Separation of duties: </a:t>
            </a:r>
            <a:r>
              <a:rPr lang="en-US" sz="2600" dirty="0"/>
              <a:t>The act of ensuring that different aspects of processes involving financial transactions are handled by different people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43228"/>
            <a:ext cx="8026400" cy="422295"/>
          </a:xfrm>
        </p:spPr>
        <p:txBody>
          <a:bodyPr/>
          <a:lstStyle/>
          <a:p>
            <a:r>
              <a:rPr lang="en-US" sz="3200" dirty="0"/>
              <a:t>Relationships Between IT Workers and Suppliers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32425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059573"/>
          </a:xfrm>
        </p:spPr>
        <p:txBody>
          <a:bodyPr/>
          <a:lstStyle/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en-US" sz="2800" b="1" dirty="0"/>
              <a:t>Foreign Corrupt Practices Act (FCPA):</a:t>
            </a:r>
            <a:r>
              <a:rPr lang="en-US" sz="2800" dirty="0"/>
              <a:t> Makes it a crime to bribe a foreign official, a foreign political party official, or a candidate for foreign political office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dirty="0"/>
              <a:t>Applies to any U.S. citizen or company and to any company with shares listed on any U.S. stock exchange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dirty="0"/>
              <a:t>FCPA penalties: </a:t>
            </a:r>
          </a:p>
          <a:p>
            <a:pPr lvl="2"/>
            <a:r>
              <a:rPr lang="en-US" sz="2400" dirty="0"/>
              <a:t>Corporations: A fine of up to $2 million per violation</a:t>
            </a:r>
          </a:p>
          <a:p>
            <a:pPr lvl="2"/>
            <a:r>
              <a:rPr lang="en-US" sz="2400" dirty="0"/>
              <a:t>Individuals: A fine of up to $100,000 and a 5-year prison term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82198" y="381000"/>
            <a:ext cx="8026400" cy="523220"/>
          </a:xfrm>
        </p:spPr>
        <p:txBody>
          <a:bodyPr/>
          <a:lstStyle/>
          <a:p>
            <a:r>
              <a:rPr lang="en-US" sz="4000" dirty="0"/>
              <a:t>Foreign Corrupt Practices Act (FCPA)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50161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2-1: Bribes are made in secret, as they are neither legally nor morally acceptable; are often made indirectly through a third party; and encourage an obligation for the recipient to act favorably toward the donor. &#10;Gifts are made openly and publicly, as a gesture of friendship or goodwill; are made directly from donor to recipient; and come with no expectation of a future favor for the donor.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878548"/>
              </p:ext>
            </p:extLst>
          </p:nvPr>
        </p:nvGraphicFramePr>
        <p:xfrm>
          <a:off x="373062" y="1371600"/>
          <a:ext cx="84153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7669">
                  <a:extLst>
                    <a:ext uri="{9D8B030D-6E8A-4147-A177-3AD203B41FA5}">
                      <a16:colId xmlns:a16="http://schemas.microsoft.com/office/drawing/2014/main" val="560820014"/>
                    </a:ext>
                  </a:extLst>
                </a:gridCol>
                <a:gridCol w="4207669">
                  <a:extLst>
                    <a:ext uri="{9D8B030D-6E8A-4147-A177-3AD203B41FA5}">
                      <a16:colId xmlns:a16="http://schemas.microsoft.com/office/drawing/2014/main" val="1000680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Bribes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Gifts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223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Made in secret, as they are neither legally nor morally acceptable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Made openly and publicly, as a gesture of friendship or goodwill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812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Often made indirectly through </a:t>
                      </a:r>
                      <a:b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third party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Made directly from donor to recipient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813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Encourage an obligation for the recipient to act favorably toward the donor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Come with no expectation of a future favor for the donor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42370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4"/>
            <a:ext cx="8026400" cy="475066"/>
          </a:xfrm>
        </p:spPr>
        <p:txBody>
          <a:bodyPr/>
          <a:lstStyle/>
          <a:p>
            <a:r>
              <a:rPr lang="en-US" altLang="en-US" sz="3600" dirty="0"/>
              <a:t>Distinguishing Between Bribes and Gifts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272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371600"/>
            <a:ext cx="8415338" cy="3565591"/>
          </a:xfrm>
        </p:spPr>
        <p:txBody>
          <a:bodyPr/>
          <a:lstStyle/>
          <a:p>
            <a:r>
              <a:rPr lang="en-US" sz="2800" dirty="0"/>
              <a:t>Key issues:</a:t>
            </a:r>
          </a:p>
          <a:p>
            <a:pPr lvl="1">
              <a:spcAft>
                <a:spcPts val="600"/>
              </a:spcAft>
              <a:buClr>
                <a:schemeClr val="accent2"/>
              </a:buClr>
            </a:pPr>
            <a:r>
              <a:rPr lang="en-US" sz="2600" dirty="0"/>
              <a:t>Professionals owe each other an adherence to their profession’s code of conduct</a:t>
            </a:r>
          </a:p>
          <a:p>
            <a:pPr lvl="1">
              <a:spcAft>
                <a:spcPts val="600"/>
              </a:spcAft>
              <a:buClr>
                <a:schemeClr val="accent2"/>
              </a:buClr>
            </a:pPr>
            <a:r>
              <a:rPr lang="en-US" sz="2600" b="1" dirty="0"/>
              <a:t>Résumé inflation:</a:t>
            </a:r>
            <a:r>
              <a:rPr lang="en-US" sz="2600" dirty="0"/>
              <a:t> Lying on a résumé about one’s qualifications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Inappropriate sharing of corporate information, which may be sold or shared informally with third parties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6138" y="228600"/>
            <a:ext cx="8382000" cy="735714"/>
          </a:xfrm>
        </p:spPr>
        <p:txBody>
          <a:bodyPr/>
          <a:lstStyle/>
          <a:p>
            <a:r>
              <a:rPr lang="en-US" sz="2800" dirty="0"/>
              <a:t>Relationships Between IT Workers and Other Professionals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3144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057760"/>
          </a:xfrm>
        </p:spPr>
        <p:txBody>
          <a:bodyPr/>
          <a:lstStyle/>
          <a:p>
            <a:r>
              <a:rPr lang="en-US" sz="2800" dirty="0"/>
              <a:t>Key issues: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Society expects members of a profession to:</a:t>
            </a:r>
          </a:p>
          <a:p>
            <a:pPr lvl="2"/>
            <a:r>
              <a:rPr lang="en-US" altLang="en-US" sz="2400" dirty="0"/>
              <a:t>Provide significant benefits</a:t>
            </a:r>
          </a:p>
          <a:p>
            <a:pPr lvl="2"/>
            <a:r>
              <a:rPr lang="en-US" altLang="en-US" sz="2400" dirty="0"/>
              <a:t>Not cause harm through their actions 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Professional organizations provide codes of ethics to </a:t>
            </a:r>
            <a:br>
              <a:rPr lang="en-US" altLang="en-US" sz="2600" dirty="0"/>
            </a:br>
            <a:r>
              <a:rPr lang="en-US" altLang="en-US" sz="2600" dirty="0"/>
              <a:t>guide IT workers’ actions</a:t>
            </a:r>
            <a:endParaRPr lang="en-GB" altLang="en-US" sz="2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43228"/>
            <a:ext cx="8026400" cy="422295"/>
          </a:xfrm>
        </p:spPr>
        <p:txBody>
          <a:bodyPr/>
          <a:lstStyle/>
          <a:p>
            <a:r>
              <a:rPr lang="en-US" sz="3200" dirty="0"/>
              <a:t>Relationships Between IT Workers and Society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966414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5548" y="1524000"/>
            <a:ext cx="8415338" cy="3151632"/>
          </a:xfrm>
        </p:spPr>
        <p:txBody>
          <a:bodyPr/>
          <a:lstStyle/>
          <a:p>
            <a:r>
              <a:rPr lang="en-US" sz="2800" dirty="0"/>
              <a:t>Characteristics of professionals: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Have expertise in the tools and skills needed to do their job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Adhere to high ethical and moral standards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Produce high-quality results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Meet their commitments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Communicate effectively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Train and develop others with less experience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43229"/>
            <a:ext cx="8026400" cy="422295"/>
          </a:xfrm>
        </p:spPr>
        <p:txBody>
          <a:bodyPr/>
          <a:lstStyle/>
          <a:p>
            <a:r>
              <a:rPr lang="en-US" sz="3200" dirty="0"/>
              <a:t>Encouraging the Professionalism of IT Workers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626251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723823"/>
          </a:xfrm>
        </p:spPr>
        <p:txBody>
          <a:bodyPr/>
          <a:lstStyle/>
          <a:p>
            <a:r>
              <a:rPr lang="en-US" sz="2800" dirty="0"/>
              <a:t>IT can workers can improve their profession’s reputation for professionalism by: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dirty="0"/>
              <a:t>Subscribing to a professional code of ethics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Joining and participating in professional organizations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Obtaining appropriate certifications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Supporting government licensing where available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69646"/>
            <a:ext cx="8026400" cy="369460"/>
          </a:xfrm>
        </p:spPr>
        <p:txBody>
          <a:bodyPr/>
          <a:lstStyle/>
          <a:p>
            <a:r>
              <a:rPr lang="en-US" sz="2800" dirty="0"/>
              <a:t>Improving IT Workers’ Reputation for Professionalism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10280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504310"/>
          </a:xfrm>
        </p:spPr>
        <p:txBody>
          <a:bodyPr/>
          <a:lstStyle/>
          <a:p>
            <a:r>
              <a:rPr lang="en-US" sz="2800" b="1" dirty="0"/>
              <a:t>Professional code of ethics: </a:t>
            </a:r>
            <a:r>
              <a:rPr lang="en-US" sz="2800" dirty="0"/>
              <a:t>A statement of the principles and core values that are essential to the work of a particular occupational group</a:t>
            </a:r>
          </a:p>
          <a:p>
            <a:r>
              <a:rPr lang="en-US" sz="2800" dirty="0"/>
              <a:t>A professional code of ethics produces benefits for the individual, the profession, and society as a whole: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Ethical decision making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High standards of practice and ethical behavior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Trust and respect from the general public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Evaluation benchmarks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Professional Code of Ethics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3576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036490"/>
          </a:xfrm>
        </p:spPr>
        <p:txBody>
          <a:bodyPr/>
          <a:lstStyle/>
          <a:p>
            <a:r>
              <a:rPr lang="en-US" altLang="en-US" sz="2800" dirty="0"/>
              <a:t>Help IT workers network with others, seek out new ideas, and build on their personal skills and expertise</a:t>
            </a:r>
            <a:endParaRPr lang="en-GB" altLang="en-US" sz="2800" dirty="0"/>
          </a:p>
          <a:p>
            <a:r>
              <a:rPr lang="en-GB" altLang="en-US" sz="2800" dirty="0"/>
              <a:t>Prominent IT-related organizations:</a:t>
            </a:r>
          </a:p>
          <a:p>
            <a:pPr lvl="1">
              <a:buClr>
                <a:schemeClr val="accent2"/>
              </a:buClr>
            </a:pPr>
            <a:r>
              <a:rPr lang="en-GB" altLang="en-US" sz="2600" dirty="0"/>
              <a:t>Association for Computing Machinery (ACM)</a:t>
            </a:r>
          </a:p>
          <a:p>
            <a:pPr lvl="1">
              <a:buClr>
                <a:schemeClr val="accent2"/>
              </a:buClr>
            </a:pPr>
            <a:r>
              <a:rPr lang="en-GB" altLang="en-US" sz="2600" dirty="0"/>
              <a:t>Institute of Electrical and Electronics Engineers Computer Society (IEEE-CS)</a:t>
            </a:r>
          </a:p>
          <a:p>
            <a:pPr lvl="1">
              <a:buClr>
                <a:schemeClr val="accent2"/>
              </a:buClr>
            </a:pPr>
            <a:r>
              <a:rPr lang="en-GB" altLang="en-US" sz="2600" dirty="0"/>
              <a:t>Association of </a:t>
            </a:r>
            <a:r>
              <a:rPr lang="en-US" altLang="en-US" sz="2600" dirty="0"/>
              <a:t>Information Technology</a:t>
            </a:r>
            <a:r>
              <a:rPr lang="en-GB" altLang="en-US" sz="2600" dirty="0"/>
              <a:t> Professionals (AITP)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SysAdmin, Audit, Network, Security (SANS) Institute</a:t>
            </a:r>
            <a:endParaRPr lang="en-GB" altLang="en-US" sz="2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Professional Organizations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83482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847481"/>
          </a:xfrm>
        </p:spPr>
        <p:txBody>
          <a:bodyPr/>
          <a:lstStyle/>
          <a:p>
            <a:r>
              <a:rPr lang="en-CA" altLang="en-US" sz="2800" b="1" dirty="0"/>
              <a:t>Certification</a:t>
            </a:r>
            <a:r>
              <a:rPr lang="en-CA" altLang="en-US" sz="2800" dirty="0"/>
              <a:t>: A recognition that a professional possesses a particular set of skills, knowledge, or abilities, in the opinion of the certifying organization</a:t>
            </a:r>
          </a:p>
          <a:p>
            <a:pPr lvl="1">
              <a:buClr>
                <a:schemeClr val="accent2"/>
              </a:buClr>
            </a:pPr>
            <a:r>
              <a:rPr lang="en-CA" altLang="en-US" sz="2800" dirty="0"/>
              <a:t>Obliges an individual to have the prerequisite education and experience, and to pass an exam</a:t>
            </a:r>
          </a:p>
          <a:p>
            <a:pPr lvl="1">
              <a:buClr>
                <a:schemeClr val="accent2"/>
              </a:buClr>
            </a:pPr>
            <a:r>
              <a:rPr lang="en-CA" altLang="en-US" sz="2800" dirty="0"/>
              <a:t>Certifications from industry associations require a higher level of experience and a broader perspective than vendor certifications</a:t>
            </a:r>
          </a:p>
          <a:p>
            <a:r>
              <a:rPr lang="en-US" sz="2800" dirty="0"/>
              <a:t>IT-related certifications may or may not include a requirement to adhere to a code of ethics</a:t>
            </a:r>
            <a:endParaRPr lang="en-US" altLang="en-US" sz="28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Certification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66191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6725" y="1265406"/>
            <a:ext cx="8321675" cy="4865947"/>
          </a:xfrm>
        </p:spPr>
        <p:txBody>
          <a:bodyPr/>
          <a:lstStyle/>
          <a:p>
            <a:r>
              <a:rPr lang="en-US" sz="2800" b="1" dirty="0"/>
              <a:t>Government license: </a:t>
            </a:r>
            <a:r>
              <a:rPr lang="en-US" sz="2800" dirty="0"/>
              <a:t>Permission to engage in an activity or to operate a business</a:t>
            </a:r>
          </a:p>
          <a:p>
            <a:r>
              <a:rPr lang="en-US" sz="2800" dirty="0"/>
              <a:t>The case for licensing IT workers: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Improve information systems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Encourage IT workers to follow the highest standards of the profession and practice a code of ethics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Without licensing: No well-defined requirements for heightened care and no concept of professional malpractice</a:t>
            </a:r>
          </a:p>
          <a:p>
            <a:r>
              <a:rPr lang="en-US" sz="2800" dirty="0"/>
              <a:t>State licensing boards have authority over the specific requirements for licensing in their jurisdiction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8"/>
            <a:ext cx="8026400" cy="527837"/>
          </a:xfrm>
        </p:spPr>
        <p:txBody>
          <a:bodyPr/>
          <a:lstStyle/>
          <a:p>
            <a:r>
              <a:rPr lang="en-US" sz="4000" dirty="0"/>
              <a:t>Licensing of IT Professionals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90830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332763"/>
            <a:ext cx="8415338" cy="4513543"/>
          </a:xfrm>
        </p:spPr>
        <p:txBody>
          <a:bodyPr/>
          <a:lstStyle/>
          <a:p>
            <a:r>
              <a:rPr lang="en-US" sz="2800" dirty="0"/>
              <a:t>Joint committee of the ACM and IEEE-CS</a:t>
            </a:r>
          </a:p>
          <a:p>
            <a:r>
              <a:rPr lang="en-US" sz="2800" dirty="0"/>
              <a:t>Initial recommendations: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Define ethical standards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Define the required body of knowledge and recommended practices in software engineering</a:t>
            </a:r>
          </a:p>
          <a:p>
            <a:pPr lvl="2"/>
            <a:r>
              <a:rPr lang="en-US" sz="2600" b="1" dirty="0"/>
              <a:t>Body of knowledge: </a:t>
            </a:r>
            <a:r>
              <a:rPr lang="en-US" sz="2600" dirty="0"/>
              <a:t>For a given profession—outlines an agreed-upon set of skills and abilities that all licensed professionals must possess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Define appropriate curricula to acquire knowledge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0"/>
            <a:ext cx="8026400" cy="840871"/>
          </a:xfrm>
        </p:spPr>
        <p:txBody>
          <a:bodyPr/>
          <a:lstStyle/>
          <a:p>
            <a:r>
              <a:rPr lang="en-US" sz="3200" dirty="0"/>
              <a:t>Joint Steering Committee for the Establishment of Software Engineering as a Profession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90494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143000"/>
            <a:ext cx="8415338" cy="5410712"/>
          </a:xfrm>
        </p:spPr>
        <p:txBody>
          <a:bodyPr/>
          <a:lstStyle/>
          <a:p>
            <a:r>
              <a:rPr lang="en-US" sz="2800" b="1" dirty="0"/>
              <a:t>Negligence: </a:t>
            </a:r>
            <a:r>
              <a:rPr lang="en-US" sz="2800" dirty="0"/>
              <a:t>Not doing something that a reasonable person would do or doing something that a reasonable person would not do</a:t>
            </a:r>
          </a:p>
          <a:p>
            <a:r>
              <a:rPr lang="en-US" sz="2800" b="1" dirty="0"/>
              <a:t>Duty of care: </a:t>
            </a:r>
            <a:r>
              <a:rPr lang="en-US" sz="2800" dirty="0"/>
              <a:t>The obligation to protect people against unreasonable harm or risk</a:t>
            </a:r>
          </a:p>
          <a:p>
            <a:r>
              <a:rPr lang="en-US" sz="2800" b="1" dirty="0"/>
              <a:t>Reasonable person standard: </a:t>
            </a:r>
            <a:r>
              <a:rPr lang="en-US" sz="2800" dirty="0"/>
              <a:t>A standard used by courts to evaluate how an objective, careful, and conscientious person would have acted in the same circumstances</a:t>
            </a:r>
          </a:p>
          <a:p>
            <a:r>
              <a:rPr lang="en-US" sz="2800" b="1" dirty="0"/>
              <a:t>Reasonable professional standard: </a:t>
            </a:r>
            <a:r>
              <a:rPr lang="en-US" sz="2800" dirty="0"/>
              <a:t>Used to measure the actions of professionals who have particular expertise or competence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63010"/>
            <a:ext cx="8026400" cy="382733"/>
          </a:xfrm>
        </p:spPr>
        <p:txBody>
          <a:bodyPr/>
          <a:lstStyle/>
          <a:p>
            <a:r>
              <a:rPr lang="en-US" sz="2900" dirty="0"/>
              <a:t>Potential Legal Issues Related to Licensing IT Workers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46407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4028795"/>
          </a:xfrm>
        </p:spPr>
        <p:txBody>
          <a:bodyPr/>
          <a:lstStyle/>
          <a:p>
            <a:r>
              <a:rPr lang="en-US" sz="2800" b="1" dirty="0"/>
              <a:t>Breach of the duty of care</a:t>
            </a:r>
            <a:r>
              <a:rPr lang="en-US" sz="2800" dirty="0"/>
              <a:t>: The failure to act as a reasonable person would act</a:t>
            </a:r>
          </a:p>
          <a:p>
            <a:r>
              <a:rPr lang="en-US" sz="2800" b="1" dirty="0"/>
              <a:t>Professional malpractice: </a:t>
            </a:r>
            <a:r>
              <a:rPr lang="en-US" sz="2800" dirty="0"/>
              <a:t>The liability of professionals who breach the duty of care, resulting in negligent care and injuries</a:t>
            </a:r>
          </a:p>
          <a:p>
            <a:r>
              <a:rPr lang="en-US" sz="2800" dirty="0"/>
              <a:t>Professional negligence can only occur if there are uniform standards against which to compare their professional behavior.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IT Professional Malpractice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327686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8373" y="1373422"/>
            <a:ext cx="8415338" cy="5484578"/>
          </a:xfrm>
        </p:spPr>
        <p:txBody>
          <a:bodyPr/>
          <a:lstStyle/>
          <a:p>
            <a:r>
              <a:rPr lang="en-GB" altLang="en-US" sz="2800" dirty="0"/>
              <a:t>Software piracy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Has a negative impact on future software development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Android operating system has contributed to the software piracy problem</a:t>
            </a:r>
            <a:endParaRPr lang="en-GB" altLang="en-US" sz="2600" dirty="0"/>
          </a:p>
          <a:p>
            <a:r>
              <a:rPr lang="en-GB" altLang="en-US" sz="2800" dirty="0"/>
              <a:t>Inappropriate use of computing resources</a:t>
            </a:r>
          </a:p>
          <a:p>
            <a:pPr lvl="1">
              <a:buClr>
                <a:schemeClr val="accent2"/>
              </a:buClr>
            </a:pPr>
            <a:r>
              <a:rPr lang="en-GB" altLang="en-US" sz="2600" dirty="0"/>
              <a:t>Erodes worker productivity and wastes time</a:t>
            </a:r>
          </a:p>
          <a:p>
            <a:pPr lvl="1">
              <a:buClr>
                <a:schemeClr val="accent2"/>
              </a:buClr>
            </a:pPr>
            <a:r>
              <a:rPr lang="en-GB" altLang="en-US" sz="2600" dirty="0"/>
              <a:t>Could lead to workplace racial/sexual harassment lawsuits</a:t>
            </a:r>
          </a:p>
          <a:p>
            <a:r>
              <a:rPr lang="en-GB" altLang="en-US" sz="2800" dirty="0"/>
              <a:t>Inappropriate sharing of information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Private personal data: Privacy violation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Confidential company data: Could fall into the hands of competitors </a:t>
            </a:r>
            <a:endParaRPr lang="en-GB" altLang="en-US" sz="2600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8"/>
            <a:ext cx="8026400" cy="527837"/>
          </a:xfrm>
        </p:spPr>
        <p:txBody>
          <a:bodyPr/>
          <a:lstStyle/>
          <a:p>
            <a:r>
              <a:rPr lang="en-US" sz="4000" dirty="0"/>
              <a:t>Common Ethical Issues for IT Users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646586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168776"/>
            <a:ext cx="8415338" cy="5078313"/>
          </a:xfrm>
        </p:spPr>
        <p:txBody>
          <a:bodyPr/>
          <a:lstStyle/>
          <a:p>
            <a:r>
              <a:rPr lang="en-US" sz="2800" dirty="0"/>
              <a:t>Establish guidelines for the use of company hardware and software</a:t>
            </a:r>
          </a:p>
          <a:p>
            <a:r>
              <a:rPr lang="en-US" sz="2800" dirty="0"/>
              <a:t>Define an acceptable use policy (AUP)</a:t>
            </a:r>
          </a:p>
          <a:p>
            <a:r>
              <a:rPr lang="en-US" sz="2800" dirty="0"/>
              <a:t>Structure information systems to protect data and information</a:t>
            </a:r>
          </a:p>
          <a:p>
            <a:r>
              <a:rPr lang="en-US" sz="2800" dirty="0"/>
              <a:t>Install and maintain a company firewall</a:t>
            </a:r>
          </a:p>
          <a:p>
            <a:pPr lvl="1">
              <a:buClr>
                <a:schemeClr val="accent2"/>
              </a:buClr>
            </a:pPr>
            <a:r>
              <a:rPr lang="en-US" sz="2600" b="1" dirty="0"/>
              <a:t>Firewall:</a:t>
            </a:r>
            <a:r>
              <a:rPr lang="en-US" sz="2600" dirty="0"/>
              <a:t> Hardware or software that serves as the first line of defense between an organization’s network and the Internet; also limits access to the company’s network </a:t>
            </a:r>
            <a:br>
              <a:rPr lang="en-US" sz="2600" dirty="0"/>
            </a:br>
            <a:r>
              <a:rPr lang="en-US" sz="2600" dirty="0"/>
              <a:t>based on an Internet-usage policy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Compliance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3"/>
            <a:ext cx="8026400" cy="475066"/>
          </a:xfrm>
        </p:spPr>
        <p:txBody>
          <a:bodyPr/>
          <a:lstStyle/>
          <a:p>
            <a:r>
              <a:rPr lang="en-GB" altLang="en-US" sz="3600" dirty="0"/>
              <a:t>Supporting the Ethical Practices of IT Users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39688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19200"/>
            <a:ext cx="8415338" cy="5078313"/>
          </a:xfrm>
        </p:spPr>
        <p:txBody>
          <a:bodyPr/>
          <a:lstStyle/>
          <a:p>
            <a:r>
              <a:rPr lang="en-US" sz="2800" dirty="0"/>
              <a:t>AUP: Stipulates restrictions and practices that a user must agree to in order to use organizational computing and network resources</a:t>
            </a:r>
          </a:p>
          <a:p>
            <a:r>
              <a:rPr lang="en-US" sz="2800" dirty="0"/>
              <a:t>An effective AUP contains five elements: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Purpose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Scope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Policy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Compliance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Sanctions</a:t>
            </a:r>
          </a:p>
          <a:p>
            <a:r>
              <a:rPr lang="en-US" sz="2800" dirty="0"/>
              <a:t>An organization’s information security (infosec) group is responsible for monitoring compliance to the AUP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Acceptable Use Policy (AUP)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27916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2-5 (part 1): This table presents a checklist of questions a manager should ask when trying to establish an acceptable use policy: &#10;Is there a statement that explains the need for an acceptable use policy?&#10;Is it clear how the policy applies to the following types of workers?&#10;Full-time employees&#10;Part-time employees&#10;Temps&#10;Contractors&#10;Does the policy address the following issues?&#10;Protection of the data privacy rights of employees, customers, suppliers, and others&#10;Control of access to proprietary company data and information&#10;Use of unauthorized or pirated software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902303"/>
              </p:ext>
            </p:extLst>
          </p:nvPr>
        </p:nvGraphicFramePr>
        <p:xfrm>
          <a:off x="347270" y="1219200"/>
          <a:ext cx="8403971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675">
                  <a:extLst>
                    <a:ext uri="{9D8B030D-6E8A-4147-A177-3AD203B41FA5}">
                      <a16:colId xmlns:a16="http://schemas.microsoft.com/office/drawing/2014/main" val="2363978071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69672754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640755802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6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there a statement that explains the need for an acceptable use policy?</a:t>
                      </a:r>
                    </a:p>
                    <a:p>
                      <a:pPr marL="28575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it clear how the policy applies to the following types of workers?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Full-time employees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Part-time employees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Temps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Contractors</a:t>
                      </a:r>
                    </a:p>
                    <a:p>
                      <a:pPr marL="28575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the policy address the following issues?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Protection of the data privacy rights of employees, customers, suppliers, and others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 of access to proprietary company data and information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of unauthorized or pirated software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02122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27363"/>
            <a:ext cx="8026400" cy="654025"/>
          </a:xfrm>
        </p:spPr>
        <p:txBody>
          <a:bodyPr/>
          <a:lstStyle/>
          <a:p>
            <a:r>
              <a:rPr lang="en-US" sz="2500" dirty="0"/>
              <a:t>Manager’s Checklist For Establishing an Acceptable Use Policy,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202502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2-5 (part 2): This table presents a checklist of questions a manager should ask when trying to establish an acceptable use policy:&#10;Does the policy address the following issues? (continued)&#10;Employee monitoring, including email, wiretapping and eavesdropping on phone conversations, computer monitoring, and surveillance by video&#10;Respect of the intellectual rights of others, including trade secrets, copyrights, patents, and trademarks&#10;Inappropriate use of IT resources, such as web surfing, excessive use of social networks, blogging, personal emailing, and other use of computers for purposes other than business&#10;The need to protect the security of IT resources through adherence to good security practices, such as not sharing user IDs and passwords, using hard-to-guess passwords, and frequently changing passwords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789097"/>
              </p:ext>
            </p:extLst>
          </p:nvPr>
        </p:nvGraphicFramePr>
        <p:xfrm>
          <a:off x="347270" y="1219200"/>
          <a:ext cx="8403971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675">
                  <a:extLst>
                    <a:ext uri="{9D8B030D-6E8A-4147-A177-3AD203B41FA5}">
                      <a16:colId xmlns:a16="http://schemas.microsoft.com/office/drawing/2014/main" val="2363978071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69672754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640755802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6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the policy address the following issues? </a:t>
                      </a:r>
                      <a:r>
                        <a:rPr lang="en-US" sz="2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(continued)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Employee monitoring, including email, wiretapping and eavesdropping on phone conversations, computer monitoring, and surveillance by video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Respect of the intellectual rights of others, including trade secrets, copyrights, patents, and trademarks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Inappropriate use of IT resources, such as web surfing, excessive use of social networks, blogging, personal emailing, and other use of computers for purposes other than business</a:t>
                      </a:r>
                    </a:p>
                    <a:p>
                      <a:pPr marL="742950" lvl="1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need to protect the security of IT resources through adherence to good security practices, such as not sharing user IDs and passwords, using hard-to-guess passwords, and frequently changing passwords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02122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27363"/>
            <a:ext cx="8026400" cy="654025"/>
          </a:xfrm>
        </p:spPr>
        <p:txBody>
          <a:bodyPr/>
          <a:lstStyle/>
          <a:p>
            <a:r>
              <a:rPr lang="en-US" sz="2500" dirty="0"/>
              <a:t>Manager’s Checklist For Establishing an Acceptable Use Policy,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22468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2-5 (part 3): This table presents a checklist of questions a manager should ask when trying to establish an acceptable use policy:&#10;Does the policy address the following issues? (continued)&#10;The use of the computer to intimidate, harass, or insult others through abusive language in emails and by other means&#10;Are disciplinary actions defined for IT-related abuses?&#10;Is there a process for communicating the policy to employees?&#10;Is there a plan to provide effective, ongoing training relative to the policy?&#10;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989255"/>
              </p:ext>
            </p:extLst>
          </p:nvPr>
        </p:nvGraphicFramePr>
        <p:xfrm>
          <a:off x="347270" y="1219200"/>
          <a:ext cx="8415339" cy="364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6530">
                  <a:extLst>
                    <a:ext uri="{9D8B030D-6E8A-4147-A177-3AD203B41FA5}">
                      <a16:colId xmlns:a16="http://schemas.microsoft.com/office/drawing/2014/main" val="236397807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96727545"/>
                    </a:ext>
                  </a:extLst>
                </a:gridCol>
                <a:gridCol w="609209">
                  <a:extLst>
                    <a:ext uri="{9D8B030D-6E8A-4147-A177-3AD203B41FA5}">
                      <a16:colId xmlns:a16="http://schemas.microsoft.com/office/drawing/2014/main" val="640755802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6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the policy address the following issues? </a:t>
                      </a:r>
                      <a:r>
                        <a:rPr lang="en-US" sz="21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(continued)</a:t>
                      </a:r>
                    </a:p>
                    <a:p>
                      <a:pPr marL="7429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use of the computer to intimidate, harass, or insult others through abusive language in emails and by other means</a:t>
                      </a:r>
                    </a:p>
                    <a:p>
                      <a:pPr marL="285750" lvl="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Are disciplinary actions defined for IT-related abuses?</a:t>
                      </a:r>
                    </a:p>
                    <a:p>
                      <a:pPr marL="285750" lvl="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there a process for communicating the policy to employees?</a:t>
                      </a:r>
                    </a:p>
                    <a:p>
                      <a:pPr marL="285750" lvl="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there a plan to provide effective, ongoing training relative to the policy?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02122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27363"/>
            <a:ext cx="8026400" cy="654025"/>
          </a:xfrm>
        </p:spPr>
        <p:txBody>
          <a:bodyPr/>
          <a:lstStyle/>
          <a:p>
            <a:r>
              <a:rPr lang="en-US" sz="2500" dirty="0"/>
              <a:t>Manager’s Checklist For Establishing an Acceptable Use Policy, Part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74872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210110"/>
          </a:xfrm>
        </p:spPr>
        <p:txBody>
          <a:bodyPr/>
          <a:lstStyle/>
          <a:p>
            <a:r>
              <a:rPr lang="en-US" altLang="en-US" sz="2800" b="1" dirty="0"/>
              <a:t>Compliance: </a:t>
            </a:r>
            <a:r>
              <a:rPr lang="en-US" altLang="en-US" sz="2800" dirty="0"/>
              <a:t>To be in accordance with established policies, guidelines, specifications, or legislation</a:t>
            </a:r>
          </a:p>
          <a:p>
            <a:r>
              <a:rPr lang="en-US" altLang="en-US" sz="2800" dirty="0"/>
              <a:t>Failure to be in compliance with legislation can lead to lawsuits or government fines.</a:t>
            </a:r>
          </a:p>
          <a:p>
            <a:r>
              <a:rPr lang="en-US" altLang="en-US" sz="2800" dirty="0"/>
              <a:t>Demonstrating compliance with multiple government and industry regulations can be challenging.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Compliance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3113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853363"/>
          </a:xfrm>
        </p:spPr>
        <p:txBody>
          <a:bodyPr/>
          <a:lstStyle/>
          <a:p>
            <a:r>
              <a:rPr lang="en-US" sz="2800" dirty="0"/>
              <a:t>Provides assistance to the board of directors with respect to: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Quality and integrity of accounting and reporting practices and controls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Compliance with legal and regulatory requirements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Qualifications, independence, and performance of the organization’s independent auditor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Performance of the company’s internal audit team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Audit Committee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17620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19365" y="1371600"/>
            <a:ext cx="8415338" cy="4661276"/>
          </a:xfrm>
        </p:spPr>
        <p:txBody>
          <a:bodyPr/>
          <a:lstStyle/>
          <a:p>
            <a:r>
              <a:rPr lang="en-US" altLang="en-US" sz="2800" dirty="0"/>
              <a:t>Primary responsibilities: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Determine that internal systems and controls are effective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Verify existence of company assets and maintain proper safeguards over their protection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Measure organization’s compliance with its own policies and procedures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Ensure that institutional policies and procedures, appropriate laws, and good practices are followed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Evaluate adequacy and reliability of information available for management decision making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Internal Audit Department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85141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01" y="1104878"/>
            <a:ext cx="8415338" cy="5840573"/>
          </a:xfrm>
        </p:spPr>
        <p:txBody>
          <a:bodyPr/>
          <a:lstStyle/>
          <a:p>
            <a:r>
              <a:rPr lang="en-US" sz="2800" b="1" dirty="0"/>
              <a:t>What relationships must an IT worker manage, and what key ethical issues can arise in each?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IT workers and employers: 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Setting policies regarding the ethical use of IT, safeguarding trade secrets, and whistle-blowing</a:t>
            </a:r>
          </a:p>
          <a:p>
            <a:pPr lvl="1">
              <a:spcBef>
                <a:spcPts val="500"/>
              </a:spcBef>
              <a:buClr>
                <a:schemeClr val="accent2"/>
              </a:buClr>
            </a:pPr>
            <a:r>
              <a:rPr lang="en-US" sz="2600" dirty="0"/>
              <a:t>IT workers and clients: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Defining and fulfilling each party’s responsibilities for successfully completing an IT project</a:t>
            </a:r>
          </a:p>
          <a:p>
            <a:pPr lvl="1">
              <a:spcBef>
                <a:spcPts val="500"/>
              </a:spcBef>
              <a:buClr>
                <a:schemeClr val="accent2"/>
              </a:buClr>
            </a:pPr>
            <a:r>
              <a:rPr lang="en-US" sz="2600" dirty="0"/>
              <a:t>IT workers and suppliers: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Developing working relationships in which no action can be perceived as unethical</a:t>
            </a:r>
          </a:p>
          <a:p>
            <a:pPr lvl="2"/>
            <a:r>
              <a:rPr lang="en-US" sz="2400" dirty="0"/>
              <a:t>Internal control: Assures effectiveness of operations, reliability of financial reporting and compliance; separation of duties</a:t>
            </a:r>
          </a:p>
          <a:p>
            <a:pPr lvl="1">
              <a:lnSpc>
                <a:spcPct val="150000"/>
              </a:lnSpc>
              <a:buClr>
                <a:schemeClr val="accent2"/>
              </a:buClr>
            </a:pP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7"/>
            <a:ext cx="8026400" cy="527837"/>
          </a:xfrm>
        </p:spPr>
        <p:txBody>
          <a:bodyPr/>
          <a:lstStyle/>
          <a:p>
            <a:r>
              <a:rPr lang="en-US" sz="4000" dirty="0"/>
              <a:t>Summary,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59704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161569"/>
            <a:ext cx="8415338" cy="5233227"/>
          </a:xfrm>
        </p:spPr>
        <p:txBody>
          <a:bodyPr/>
          <a:lstStyle/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en-US" sz="2800" b="1" dirty="0"/>
              <a:t>What relationships must an IT worker manage, and what key ethical issues can arise in each?</a:t>
            </a:r>
          </a:p>
          <a:p>
            <a:pPr lvl="2" indent="-342900">
              <a:spcBef>
                <a:spcPts val="8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IT workers and other professionals: </a:t>
            </a:r>
          </a:p>
          <a:p>
            <a:pPr marL="685800" lvl="4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</a:pPr>
            <a:r>
              <a:rPr lang="en-US" sz="2400" dirty="0"/>
              <a:t>Mentoring inexperienced colleagues, demonstrating professional loyalty, avoiding résumé inflation, and </a:t>
            </a:r>
            <a:br>
              <a:rPr lang="en-US" sz="2400" dirty="0"/>
            </a:br>
            <a:r>
              <a:rPr lang="en-US" sz="2400" dirty="0"/>
              <a:t>preventing inappropriate sharing of information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IT workers and IT users: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Software piracy, inappropriate use of IT resources, and inappropriate sharing of information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IT workers and society at large: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Practicing the profession in ways that cause no harm and</a:t>
            </a:r>
            <a:br>
              <a:rPr lang="en-US" sz="2400" dirty="0"/>
            </a:br>
            <a:r>
              <a:rPr lang="en-US" sz="2400" dirty="0"/>
              <a:t>provide benefits to society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61108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191496"/>
            <a:ext cx="8415338" cy="5066002"/>
          </a:xfrm>
        </p:spPr>
        <p:txBody>
          <a:bodyPr/>
          <a:lstStyle/>
          <a:p>
            <a:r>
              <a:rPr lang="en-US" sz="2800" b="1" dirty="0"/>
              <a:t>What can be done to encourage the professionalism of IT workers?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Professionals: </a:t>
            </a:r>
          </a:p>
          <a:p>
            <a:pPr lvl="2">
              <a:spcBef>
                <a:spcPts val="300"/>
              </a:spcBef>
            </a:pPr>
            <a:r>
              <a:rPr lang="en-US" sz="2300" dirty="0"/>
              <a:t>Possess the skills, good judgment, and work habits expected from a person who has the training and experience to do a job well</a:t>
            </a:r>
          </a:p>
          <a:p>
            <a:pPr lvl="2">
              <a:spcBef>
                <a:spcPts val="300"/>
              </a:spcBef>
            </a:pPr>
            <a:r>
              <a:rPr lang="en-US" sz="2300" dirty="0"/>
              <a:t>Contribute to society, participate in lifelong training, and help develop other professionals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dirty="0"/>
              <a:t>IT workers can improve their profession’s reputation for professionalism:</a:t>
            </a:r>
          </a:p>
          <a:p>
            <a:pPr lvl="2">
              <a:spcBef>
                <a:spcPts val="300"/>
              </a:spcBef>
            </a:pPr>
            <a:r>
              <a:rPr lang="en-US" sz="2300" dirty="0"/>
              <a:t>Subscribe to a professional code of ethics</a:t>
            </a:r>
          </a:p>
          <a:p>
            <a:pPr lvl="2">
              <a:spcBef>
                <a:spcPts val="300"/>
              </a:spcBef>
            </a:pPr>
            <a:r>
              <a:rPr lang="en-US" sz="2300" dirty="0"/>
              <a:t>Join professional organizations</a:t>
            </a:r>
          </a:p>
          <a:p>
            <a:pPr lvl="2">
              <a:spcBef>
                <a:spcPts val="300"/>
              </a:spcBef>
            </a:pPr>
            <a:r>
              <a:rPr lang="en-US" sz="2300" dirty="0"/>
              <a:t>Obtain appropriate certifications</a:t>
            </a:r>
          </a:p>
          <a:p>
            <a:pPr lvl="2">
              <a:spcBef>
                <a:spcPts val="300"/>
              </a:spcBef>
            </a:pPr>
            <a:r>
              <a:rPr lang="en-US" sz="2300" dirty="0"/>
              <a:t>Support government licensing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550418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3062" y="1219200"/>
            <a:ext cx="8415338" cy="4479688"/>
          </a:xfrm>
        </p:spPr>
        <p:txBody>
          <a:bodyPr/>
          <a:lstStyle/>
          <a:p>
            <a:r>
              <a:rPr lang="en-US" sz="2800" b="1" dirty="0"/>
              <a:t>What can be done to encourage the professionalism of IT workers?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Professional code of ethics: States the principles and core values essential to the work of a particular occupational group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Benefits of a code of ethics: Ethical decision making, high standards of ethical behavior, trust and respect with the general public, and access to an evaluation benchmark for self-assessment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IT-related professional organizations with a code of ethics:</a:t>
            </a:r>
          </a:p>
          <a:p>
            <a:pPr lvl="2"/>
            <a:r>
              <a:rPr lang="en-US" sz="2400" dirty="0"/>
              <a:t>ACM, IEEE-CS, AITP, and SANS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749407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8041" y="1328163"/>
            <a:ext cx="8415338" cy="5175263"/>
          </a:xfrm>
        </p:spPr>
        <p:txBody>
          <a:bodyPr/>
          <a:lstStyle/>
          <a:p>
            <a:r>
              <a:rPr lang="en-US" sz="2800" b="1" dirty="0"/>
              <a:t>What can be done to encourage the professionalism of IT workers?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Certification and licensing of IT workers:</a:t>
            </a:r>
          </a:p>
          <a:p>
            <a:pPr lvl="2"/>
            <a:r>
              <a:rPr lang="en-US" sz="2400" dirty="0"/>
              <a:t>Proponents argue that certification and licensing would increase the reliability and effectiveness of information systems.</a:t>
            </a:r>
          </a:p>
          <a:p>
            <a:pPr lvl="2"/>
            <a:r>
              <a:rPr lang="en-US" sz="2400" dirty="0"/>
              <a:t>Certification indicates a professional possesses a particular set of skills, knowledge, or abilities, in the opinion of the certifying organization. </a:t>
            </a:r>
          </a:p>
          <a:p>
            <a:pPr lvl="2"/>
            <a:r>
              <a:rPr lang="en-US" sz="2400" dirty="0"/>
              <a:t>Most states support the licensing of software engineers.</a:t>
            </a:r>
          </a:p>
          <a:p>
            <a:pPr lvl="2"/>
            <a:r>
              <a:rPr lang="en-US" sz="2400" dirty="0"/>
              <a:t>State licensing boards have responsibility over specific </a:t>
            </a:r>
            <a:br>
              <a:rPr lang="en-US" sz="2400" dirty="0"/>
            </a:br>
            <a:r>
              <a:rPr lang="en-US" sz="2400" dirty="0"/>
              <a:t>requirements in their jurisdiction.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81930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1371600"/>
            <a:ext cx="8542338" cy="4284250"/>
          </a:xfrm>
        </p:spPr>
        <p:txBody>
          <a:bodyPr/>
          <a:lstStyle/>
          <a:p>
            <a:r>
              <a:rPr lang="en-US" sz="2800" b="1" dirty="0"/>
              <a:t>What ethical issues do IT users face, and what can be done to encourage their ethical behavior?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400" dirty="0"/>
              <a:t>Ethical issues faced by IT users: Software piracy, inappropriate </a:t>
            </a:r>
            <a:br>
              <a:rPr lang="en-US" sz="2400" dirty="0"/>
            </a:br>
            <a:r>
              <a:rPr lang="en-US" sz="2400" dirty="0"/>
              <a:t>use of computing resources, and inappropriate sharing of data</a:t>
            </a:r>
          </a:p>
          <a:p>
            <a:pPr lvl="1">
              <a:buClr>
                <a:schemeClr val="accent2"/>
              </a:buClr>
            </a:pPr>
            <a:r>
              <a:rPr lang="en-US" sz="2400" dirty="0"/>
              <a:t>Actions to encourage ethical behavior: Establish guidelines </a:t>
            </a:r>
            <a:br>
              <a:rPr lang="en-US" sz="2400" dirty="0"/>
            </a:br>
            <a:r>
              <a:rPr lang="en-US" sz="2400" dirty="0"/>
              <a:t>for the use of technology, define an AUP; structure information systems to protect data, maintain a firewall, and ensure compliance</a:t>
            </a:r>
          </a:p>
          <a:p>
            <a:pPr lvl="1">
              <a:buClr>
                <a:schemeClr val="accent2"/>
              </a:buClr>
            </a:pPr>
            <a:r>
              <a:rPr lang="en-US" sz="2400" dirty="0"/>
              <a:t>The audit committee of a board of directors and the internal audit team: Ensure that the IT organization and IT users are in compliance with organizational policies, laws, and regulations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991132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11452</TotalTime>
  <Words>4096</Words>
  <Application>Microsoft Office PowerPoint</Application>
  <PresentationFormat>On-screen Show (4:3)</PresentationFormat>
  <Paragraphs>286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Ethics in Information Technology</vt:lpstr>
      <vt:lpstr>Learning Objectives</vt:lpstr>
      <vt:lpstr>IT Worker Relationships That Must be Managed</vt:lpstr>
      <vt:lpstr>Relationships Between IT Workers and Employers</vt:lpstr>
      <vt:lpstr>Ethical Use of IT </vt:lpstr>
      <vt:lpstr>Trade Secrets &amp; Whistle-Blowing</vt:lpstr>
      <vt:lpstr>Relationships Between IT Workers and Clients</vt:lpstr>
      <vt:lpstr>Frequent Causes of Problems in IT Projects</vt:lpstr>
      <vt:lpstr>Relationships Between IT Workers and Suppliers</vt:lpstr>
      <vt:lpstr>Foreign Corrupt Practices Act (FCPA)</vt:lpstr>
      <vt:lpstr>Distinguishing Between Bribes and Gifts</vt:lpstr>
      <vt:lpstr>Relationships Between IT Workers and Other Professionals</vt:lpstr>
      <vt:lpstr>Relationships Between IT Workers and Society</vt:lpstr>
      <vt:lpstr>Encouraging the Professionalism of IT Workers</vt:lpstr>
      <vt:lpstr>Improving IT Workers’ Reputation for Professionalism</vt:lpstr>
      <vt:lpstr>Professional Code of Ethics</vt:lpstr>
      <vt:lpstr>Professional Organizations</vt:lpstr>
      <vt:lpstr>Certification</vt:lpstr>
      <vt:lpstr>Licensing of IT Professionals</vt:lpstr>
      <vt:lpstr>Joint Steering Committee for the Establishment of Software Engineering as a Profession</vt:lpstr>
      <vt:lpstr>Potential Legal Issues Related to Licensing IT Workers</vt:lpstr>
      <vt:lpstr>IT Professional Malpractice</vt:lpstr>
      <vt:lpstr>Common Ethical Issues for IT Users</vt:lpstr>
      <vt:lpstr>Supporting the Ethical Practices of IT Users</vt:lpstr>
      <vt:lpstr>Acceptable Use Policy (AUP)</vt:lpstr>
      <vt:lpstr>Manager’s Checklist For Establishing an Acceptable Use Policy, Part 1</vt:lpstr>
      <vt:lpstr>Manager’s Checklist For Establishing an Acceptable Use Policy, Part 2</vt:lpstr>
      <vt:lpstr>Manager’s Checklist For Establishing an Acceptable Use Policy, Part 3</vt:lpstr>
      <vt:lpstr>Compliance</vt:lpstr>
      <vt:lpstr>Audit Committee</vt:lpstr>
      <vt:lpstr>Internal Audit Department</vt:lpstr>
      <vt:lpstr>Summary, Part 1</vt:lpstr>
      <vt:lpstr>Summary, Part 2</vt:lpstr>
      <vt:lpstr>Summary, Part 3</vt:lpstr>
      <vt:lpstr>Summary, Part 4</vt:lpstr>
      <vt:lpstr>Summary, Part 5</vt:lpstr>
      <vt:lpstr>Summary, Part 6</vt:lpstr>
    </vt:vector>
  </TitlesOfParts>
  <Company>Course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Author</dc:creator>
  <cp:lastModifiedBy>Mary Pat Shaffer</cp:lastModifiedBy>
  <cp:revision>375</cp:revision>
  <cp:lastPrinted>2010-11-12T17:54:40Z</cp:lastPrinted>
  <dcterms:created xsi:type="dcterms:W3CDTF">2007-02-15T20:50:52Z</dcterms:created>
  <dcterms:modified xsi:type="dcterms:W3CDTF">2017-08-17T01:39:54Z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1933890983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Alyssa.Pratt@cengage.com</vt:lpwstr>
  </property>
  <property fmtid="{D5CDD505-2E9C-101B-9397-08002B2CF9AE}" pid="6" name="_AuthorEmailDisplayName">
    <vt:lpwstr>Pratt, Alyssa</vt:lpwstr>
  </property>
  <property fmtid="{D5CDD505-2E9C-101B-9397-08002B2CF9AE}" pid="7" name="_PreviousAdHocReviewCycleID">
    <vt:i4>-685122576</vt:i4>
  </property>
</Properties>
</file>