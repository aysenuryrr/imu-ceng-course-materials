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29"/>
  </p:notesMasterIdLst>
  <p:handoutMasterIdLst>
    <p:handoutMasterId r:id="rId30"/>
  </p:handoutMasterIdLst>
  <p:sldIdLst>
    <p:sldId id="264" r:id="rId2"/>
    <p:sldId id="261"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6" autoAdjust="0"/>
    <p:restoredTop sz="99857" autoAdjust="0"/>
  </p:normalViewPr>
  <p:slideViewPr>
    <p:cSldViewPr>
      <p:cViewPr>
        <p:scale>
          <a:sx n="75" d="100"/>
          <a:sy n="75" d="100"/>
        </p:scale>
        <p:origin x="300" y="3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11/9/2023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11/9/2023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a:t>Bilgi Teknolojilerinde Etik</a:t>
            </a:r>
            <a:endParaRPr lang="en-US" sz="4700" dirty="0"/>
          </a:p>
        </p:txBody>
      </p:sp>
      <p:sp>
        <p:nvSpPr>
          <p:cNvPr id="3" name="Subtitle 2"/>
          <p:cNvSpPr>
            <a:spLocks noGrp="1"/>
          </p:cNvSpPr>
          <p:nvPr>
            <p:ph type="subTitle" idx="1"/>
          </p:nvPr>
        </p:nvSpPr>
        <p:spPr>
          <a:xfrm>
            <a:off x="609600" y="3124200"/>
            <a:ext cx="7747000" cy="1798954"/>
          </a:xfrm>
        </p:spPr>
        <p:txBody>
          <a:bodyPr/>
          <a:lstStyle/>
          <a:p>
            <a:r>
              <a:rPr lang="en-US" sz="3400" dirty="0" err="1"/>
              <a:t>Bölüm</a:t>
            </a:r>
            <a:r>
              <a:rPr lang="en-US" sz="3400" dirty="0"/>
              <a:t> 9
</a:t>
            </a:r>
            <a:r>
              <a:rPr lang="en-US" sz="3400" dirty="0" err="1"/>
              <a:t>Sosyal</a:t>
            </a:r>
            <a:r>
              <a:rPr lang="en-US" sz="3400" dirty="0"/>
              <a:t> </a:t>
            </a:r>
            <a:r>
              <a:rPr lang="en-US" sz="3400" dirty="0" err="1"/>
              <a:t>Medya</a:t>
            </a:r>
            <a:r>
              <a:rPr lang="en-US" sz="3400" dirty="0"/>
              <a:t>
George W. Reynolds</a:t>
            </a:r>
            <a:endParaRPr lang="en-US" sz="2400" b="1" dirty="0">
              <a:solidFill>
                <a:schemeClr val="accent2"/>
              </a:solidFill>
            </a:endParaRP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a:t>Öğrenme hedefleri</a:t>
            </a:r>
            <a:endParaRPr lang="en-US" sz="4000" dirty="0"/>
          </a:p>
        </p:txBody>
      </p:sp>
      <p:sp>
        <p:nvSpPr>
          <p:cNvPr id="4" name="Content Placeholder 3"/>
          <p:cNvSpPr>
            <a:spLocks noGrp="1"/>
          </p:cNvSpPr>
          <p:nvPr>
            <p:ph type="body" idx="1"/>
          </p:nvPr>
        </p:nvSpPr>
        <p:spPr>
          <a:xfrm>
            <a:off x="2425131" y="1143000"/>
            <a:ext cx="6337869" cy="3170099"/>
          </a:xfrm>
        </p:spPr>
        <p:txBody>
          <a:bodyPr/>
          <a:lstStyle/>
          <a:p>
            <a:pPr marL="457200" indent="-457200">
              <a:lnSpc>
                <a:spcPct val="100000"/>
              </a:lnSpc>
              <a:buFont typeface="Arial" panose="020B0604020202020204" pitchFamily="34" charset="0"/>
              <a:buChar char="•"/>
            </a:pPr>
            <a:r>
              <a:rPr lang="en-US" sz="2800" dirty="0" err="1">
                <a:solidFill>
                  <a:schemeClr val="tx1"/>
                </a:solidFill>
              </a:rPr>
              <a:t>Bireyler</a:t>
            </a:r>
            <a:r>
              <a:rPr lang="en-US" sz="2800" dirty="0">
                <a:solidFill>
                  <a:schemeClr val="tx1"/>
                </a:solidFill>
              </a:rPr>
              <a:t> </a:t>
            </a:r>
            <a:r>
              <a:rPr lang="en-US" sz="2800" dirty="0" err="1">
                <a:solidFill>
                  <a:schemeClr val="tx1"/>
                </a:solidFill>
              </a:rPr>
              <a:t>sosyal</a:t>
            </a:r>
            <a:r>
              <a:rPr lang="en-US" sz="2800" dirty="0">
                <a:solidFill>
                  <a:schemeClr val="tx1"/>
                </a:solidFill>
              </a:rPr>
              <a:t> </a:t>
            </a:r>
            <a:r>
              <a:rPr lang="en-US" sz="2800" dirty="0" err="1">
                <a:solidFill>
                  <a:schemeClr val="tx1"/>
                </a:solidFill>
              </a:rPr>
              <a:t>ağları</a:t>
            </a:r>
            <a:r>
              <a:rPr lang="en-US" sz="2800" dirty="0">
                <a:solidFill>
                  <a:schemeClr val="tx1"/>
                </a:solidFill>
              </a:rPr>
              <a:t> </a:t>
            </a:r>
            <a:r>
              <a:rPr lang="en-US" sz="2800" dirty="0" err="1">
                <a:solidFill>
                  <a:schemeClr val="tx1"/>
                </a:solidFill>
              </a:rPr>
              <a:t>nasıl</a:t>
            </a:r>
            <a:r>
              <a:rPr lang="en-US" sz="2800" dirty="0">
                <a:solidFill>
                  <a:schemeClr val="tx1"/>
                </a:solidFill>
              </a:rPr>
              <a:t> </a:t>
            </a:r>
            <a:r>
              <a:rPr lang="en-US" sz="2800" dirty="0" err="1">
                <a:solidFill>
                  <a:schemeClr val="tx1"/>
                </a:solidFill>
              </a:rPr>
              <a:t>kullanır</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sosyal</a:t>
            </a:r>
            <a:r>
              <a:rPr lang="en-US" sz="2800" dirty="0">
                <a:solidFill>
                  <a:schemeClr val="tx1"/>
                </a:solidFill>
              </a:rPr>
              <a:t> </a:t>
            </a:r>
            <a:r>
              <a:rPr lang="en-US" sz="2800" dirty="0" err="1">
                <a:solidFill>
                  <a:schemeClr val="tx1"/>
                </a:solidFill>
              </a:rPr>
              <a:t>ağların</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diğer</a:t>
            </a:r>
            <a:r>
              <a:rPr lang="en-US" sz="2800" dirty="0">
                <a:solidFill>
                  <a:schemeClr val="tx1"/>
                </a:solidFill>
              </a:rPr>
              <a:t> </a:t>
            </a:r>
            <a:r>
              <a:rPr lang="en-US" sz="2800" dirty="0" err="1">
                <a:solidFill>
                  <a:schemeClr val="tx1"/>
                </a:solidFill>
              </a:rPr>
              <a:t>sosyal</a:t>
            </a:r>
            <a:r>
              <a:rPr lang="en-US" sz="2800" dirty="0">
                <a:solidFill>
                  <a:schemeClr val="tx1"/>
                </a:solidFill>
              </a:rPr>
              <a:t> </a:t>
            </a:r>
            <a:r>
              <a:rPr lang="en-US" sz="2800" dirty="0" err="1">
                <a:solidFill>
                  <a:schemeClr val="tx1"/>
                </a:solidFill>
              </a:rPr>
              <a:t>medya</a:t>
            </a:r>
            <a:r>
              <a:rPr lang="en-US" sz="2800" dirty="0">
                <a:solidFill>
                  <a:schemeClr val="tx1"/>
                </a:solidFill>
              </a:rPr>
              <a:t> </a:t>
            </a:r>
            <a:r>
              <a:rPr lang="en-US" sz="2800" dirty="0" err="1">
                <a:solidFill>
                  <a:schemeClr val="tx1"/>
                </a:solidFill>
              </a:rPr>
              <a:t>araçlarının</a:t>
            </a:r>
            <a:r>
              <a:rPr lang="en-US" sz="2800" dirty="0">
                <a:solidFill>
                  <a:schemeClr val="tx1"/>
                </a:solidFill>
              </a:rPr>
              <a:t> </a:t>
            </a:r>
            <a:r>
              <a:rPr lang="en-US" sz="2800" dirty="0" err="1">
                <a:solidFill>
                  <a:schemeClr val="tx1"/>
                </a:solidFill>
              </a:rPr>
              <a:t>bazı</a:t>
            </a:r>
            <a:r>
              <a:rPr lang="en-US" sz="2800" dirty="0">
                <a:solidFill>
                  <a:schemeClr val="tx1"/>
                </a:solidFill>
              </a:rPr>
              <a:t> </a:t>
            </a:r>
            <a:r>
              <a:rPr lang="en-US" sz="2800" dirty="0" err="1">
                <a:solidFill>
                  <a:schemeClr val="tx1"/>
                </a:solidFill>
              </a:rPr>
              <a:t>pratik</a:t>
            </a:r>
            <a:r>
              <a:rPr lang="en-US" sz="2800" dirty="0">
                <a:solidFill>
                  <a:schemeClr val="tx1"/>
                </a:solidFill>
              </a:rPr>
              <a:t> </a:t>
            </a:r>
            <a:r>
              <a:rPr lang="en-US" sz="2800" dirty="0" err="1">
                <a:solidFill>
                  <a:schemeClr val="tx1"/>
                </a:solidFill>
              </a:rPr>
              <a:t>iş</a:t>
            </a:r>
            <a:r>
              <a:rPr lang="en-US" sz="2800" dirty="0">
                <a:solidFill>
                  <a:schemeClr val="tx1"/>
                </a:solidFill>
              </a:rPr>
              <a:t> </a:t>
            </a:r>
            <a:r>
              <a:rPr lang="en-US" sz="2800" dirty="0" err="1">
                <a:solidFill>
                  <a:schemeClr val="tx1"/>
                </a:solidFill>
              </a:rPr>
              <a:t>kullanımları</a:t>
            </a:r>
            <a:r>
              <a:rPr lang="en-US" sz="2800" dirty="0">
                <a:solidFill>
                  <a:schemeClr val="tx1"/>
                </a:solidFill>
              </a:rPr>
              <a:t> </a:t>
            </a:r>
            <a:r>
              <a:rPr lang="en-US" sz="2800" dirty="0" err="1">
                <a:solidFill>
                  <a:schemeClr val="tx1"/>
                </a:solidFill>
              </a:rPr>
              <a:t>nelerdir</a:t>
            </a:r>
            <a:r>
              <a:rPr lang="en-US" sz="2800" dirty="0">
                <a:solidFill>
                  <a:schemeClr val="tx1"/>
                </a:solidFill>
              </a:rPr>
              <a:t>?
</a:t>
            </a:r>
            <a:r>
              <a:rPr lang="en-US" sz="2800" dirty="0" err="1">
                <a:solidFill>
                  <a:schemeClr val="tx1"/>
                </a:solidFill>
              </a:rPr>
              <a:t>Sosyal</a:t>
            </a:r>
            <a:r>
              <a:rPr lang="en-US" sz="2800" dirty="0">
                <a:solidFill>
                  <a:schemeClr val="tx1"/>
                </a:solidFill>
              </a:rPr>
              <a:t> </a:t>
            </a:r>
            <a:r>
              <a:rPr lang="en-US" sz="2800" dirty="0" err="1">
                <a:solidFill>
                  <a:schemeClr val="tx1"/>
                </a:solidFill>
              </a:rPr>
              <a:t>ağların</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diğer</a:t>
            </a:r>
            <a:r>
              <a:rPr lang="en-US" sz="2800" dirty="0">
                <a:solidFill>
                  <a:schemeClr val="tx1"/>
                </a:solidFill>
              </a:rPr>
              <a:t> </a:t>
            </a:r>
            <a:r>
              <a:rPr lang="en-US" sz="2800" dirty="0" err="1">
                <a:solidFill>
                  <a:schemeClr val="tx1"/>
                </a:solidFill>
              </a:rPr>
              <a:t>sosyal</a:t>
            </a:r>
            <a:r>
              <a:rPr lang="en-US" sz="2800" dirty="0">
                <a:solidFill>
                  <a:schemeClr val="tx1"/>
                </a:solidFill>
              </a:rPr>
              <a:t> </a:t>
            </a:r>
            <a:r>
              <a:rPr lang="en-US" sz="2800" dirty="0" err="1">
                <a:solidFill>
                  <a:schemeClr val="tx1"/>
                </a:solidFill>
              </a:rPr>
              <a:t>medyanın</a:t>
            </a:r>
            <a:r>
              <a:rPr lang="en-US" sz="2800" dirty="0">
                <a:solidFill>
                  <a:schemeClr val="tx1"/>
                </a:solidFill>
              </a:rPr>
              <a:t> </a:t>
            </a:r>
            <a:r>
              <a:rPr lang="en-US" sz="2800" dirty="0" err="1">
                <a:solidFill>
                  <a:schemeClr val="tx1"/>
                </a:solidFill>
              </a:rPr>
              <a:t>kullanımıyla</a:t>
            </a:r>
            <a:r>
              <a:rPr lang="en-US" sz="2800" dirty="0">
                <a:solidFill>
                  <a:schemeClr val="tx1"/>
                </a:solidFill>
              </a:rPr>
              <a:t> </a:t>
            </a:r>
            <a:r>
              <a:rPr lang="en-US" sz="2800" dirty="0" err="1">
                <a:solidFill>
                  <a:schemeClr val="tx1"/>
                </a:solidFill>
              </a:rPr>
              <a:t>ilgili</a:t>
            </a:r>
            <a:r>
              <a:rPr lang="en-US" sz="2800" dirty="0">
                <a:solidFill>
                  <a:schemeClr val="tx1"/>
                </a:solidFill>
              </a:rPr>
              <a:t> </a:t>
            </a:r>
            <a:r>
              <a:rPr lang="en-US" sz="2800" dirty="0" err="1">
                <a:solidFill>
                  <a:schemeClr val="tx1"/>
                </a:solidFill>
              </a:rPr>
              <a:t>temel</a:t>
            </a:r>
            <a:r>
              <a:rPr lang="en-US" sz="2800" dirty="0">
                <a:solidFill>
                  <a:schemeClr val="tx1"/>
                </a:solidFill>
              </a:rPr>
              <a:t> </a:t>
            </a:r>
            <a:r>
              <a:rPr lang="en-US" sz="2800" dirty="0" err="1">
                <a:solidFill>
                  <a:schemeClr val="tx1"/>
                </a:solidFill>
              </a:rPr>
              <a:t>etik</a:t>
            </a:r>
            <a:r>
              <a:rPr lang="en-US" sz="2800" dirty="0">
                <a:solidFill>
                  <a:schemeClr val="tx1"/>
                </a:solidFill>
              </a:rPr>
              <a:t> </a:t>
            </a:r>
            <a:r>
              <a:rPr lang="en-US" sz="2800" dirty="0" err="1">
                <a:solidFill>
                  <a:schemeClr val="tx1"/>
                </a:solidFill>
              </a:rPr>
              <a:t>sorunlardan</a:t>
            </a:r>
            <a:r>
              <a:rPr lang="en-US" sz="2800" dirty="0">
                <a:solidFill>
                  <a:schemeClr val="tx1"/>
                </a:solidFill>
              </a:rPr>
              <a:t> </a:t>
            </a:r>
            <a:r>
              <a:rPr lang="en-US" sz="2800" dirty="0" err="1">
                <a:solidFill>
                  <a:schemeClr val="tx1"/>
                </a:solidFill>
              </a:rPr>
              <a:t>bazıları</a:t>
            </a:r>
            <a:r>
              <a:rPr lang="en-US" sz="2800" dirty="0">
                <a:solidFill>
                  <a:schemeClr val="tx1"/>
                </a:solidFill>
              </a:rPr>
              <a:t> </a:t>
            </a:r>
            <a:r>
              <a:rPr lang="en-US" sz="2800" dirty="0" err="1">
                <a:solidFill>
                  <a:schemeClr val="tx1"/>
                </a:solidFill>
              </a:rPr>
              <a:t>nelerdir</a:t>
            </a:r>
            <a:r>
              <a:rPr lang="en-US" sz="2800" dirty="0">
                <a:solidFill>
                  <a:schemeClr val="tx1"/>
                </a:solidFill>
              </a:rPr>
              <a:t>?</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4331" y="990600"/>
            <a:ext cx="8415338" cy="4672048"/>
          </a:xfrm>
        </p:spPr>
        <p:txBody>
          <a:bodyPr/>
          <a:lstStyle/>
          <a:p>
            <a:r>
              <a:rPr lang="en-US" sz="2400" dirty="0" err="1"/>
              <a:t>Sosyal</a:t>
            </a:r>
            <a:r>
              <a:rPr lang="en-US" sz="2400" dirty="0"/>
              <a:t> </a:t>
            </a:r>
            <a:r>
              <a:rPr lang="en-US" sz="2400" dirty="0" err="1"/>
              <a:t>medya</a:t>
            </a:r>
            <a:r>
              <a:rPr lang="en-US" sz="2400" dirty="0"/>
              <a:t>: </a:t>
            </a:r>
            <a:r>
              <a:rPr lang="en-US" sz="2400" dirty="0" err="1"/>
              <a:t>İnsanların</a:t>
            </a:r>
            <a:r>
              <a:rPr lang="en-US" sz="2400" dirty="0"/>
              <a:t> </a:t>
            </a:r>
            <a:r>
              <a:rPr lang="en-US" sz="2400" dirty="0" err="1"/>
              <a:t>fikirlerini</a:t>
            </a:r>
            <a:r>
              <a:rPr lang="en-US" sz="2400" dirty="0"/>
              <a:t>, </a:t>
            </a:r>
            <a:r>
              <a:rPr lang="en-US" sz="2400" dirty="0" err="1"/>
              <a:t>mesajlarını</a:t>
            </a:r>
            <a:r>
              <a:rPr lang="en-US" sz="2400" dirty="0"/>
              <a:t>, </a:t>
            </a:r>
            <a:r>
              <a:rPr lang="en-US" sz="2400" dirty="0" err="1"/>
              <a:t>görüntülerini</a:t>
            </a:r>
            <a:r>
              <a:rPr lang="en-US" sz="2400" dirty="0"/>
              <a:t>, </a:t>
            </a:r>
            <a:r>
              <a:rPr lang="en-US" sz="2400" dirty="0" err="1"/>
              <a:t>seslerini</a:t>
            </a:r>
            <a:r>
              <a:rPr lang="en-US" sz="2400" dirty="0"/>
              <a:t> </a:t>
            </a:r>
            <a:r>
              <a:rPr lang="en-US" sz="2400" dirty="0" err="1"/>
              <a:t>ve</a:t>
            </a:r>
            <a:r>
              <a:rPr lang="en-US" sz="2400" dirty="0"/>
              <a:t> </a:t>
            </a:r>
            <a:r>
              <a:rPr lang="en-US" sz="2400" dirty="0" err="1"/>
              <a:t>videolarını</a:t>
            </a:r>
            <a:r>
              <a:rPr lang="en-US" sz="2400" dirty="0"/>
              <a:t> </a:t>
            </a:r>
            <a:r>
              <a:rPr lang="en-US" sz="2400" dirty="0" err="1"/>
              <a:t>paylaşabilecekleri</a:t>
            </a:r>
            <a:r>
              <a:rPr lang="en-US" sz="2400" dirty="0"/>
              <a:t> </a:t>
            </a:r>
            <a:r>
              <a:rPr lang="en-US" sz="2400" dirty="0" err="1"/>
              <a:t>çevrimiçi</a:t>
            </a:r>
            <a:r>
              <a:rPr lang="en-US" sz="2400" dirty="0"/>
              <a:t> </a:t>
            </a:r>
            <a:r>
              <a:rPr lang="en-US" sz="2400" dirty="0" err="1"/>
              <a:t>topluluklarda</a:t>
            </a:r>
            <a:r>
              <a:rPr lang="en-US" sz="2400" dirty="0"/>
              <a:t> </a:t>
            </a:r>
            <a:r>
              <a:rPr lang="en-US" sz="2400" dirty="0" err="1"/>
              <a:t>etkileşim</a:t>
            </a:r>
            <a:r>
              <a:rPr lang="en-US" sz="2400" dirty="0"/>
              <a:t> </a:t>
            </a:r>
            <a:r>
              <a:rPr lang="en-US" sz="2400" dirty="0" err="1"/>
              <a:t>kurmalarını</a:t>
            </a:r>
            <a:r>
              <a:rPr lang="en-US" sz="2400" dirty="0"/>
              <a:t> </a:t>
            </a:r>
            <a:r>
              <a:rPr lang="en-US" sz="2400" dirty="0" err="1"/>
              <a:t>sağlayan</a:t>
            </a:r>
            <a:r>
              <a:rPr lang="en-US" sz="2400" dirty="0"/>
              <a:t> web </a:t>
            </a:r>
            <a:r>
              <a:rPr lang="en-US" sz="2400" dirty="0" err="1"/>
              <a:t>tabanlı</a:t>
            </a:r>
            <a:r>
              <a:rPr lang="en-US" sz="2400" dirty="0"/>
              <a:t> </a:t>
            </a:r>
            <a:r>
              <a:rPr lang="en-US" sz="2400" dirty="0" err="1"/>
              <a:t>iletişim</a:t>
            </a:r>
            <a:r>
              <a:rPr lang="en-US" sz="2400" dirty="0"/>
              <a:t> </a:t>
            </a:r>
            <a:r>
              <a:rPr lang="en-US" sz="2400" dirty="0" err="1"/>
              <a:t>araçları</a:t>
            </a:r>
            <a:r>
              <a:rPr lang="en-US" sz="2400" dirty="0"/>
              <a:t>
</a:t>
            </a:r>
            <a:r>
              <a:rPr lang="en-US" sz="2400" dirty="0" err="1"/>
              <a:t>Ortak</a:t>
            </a:r>
            <a:r>
              <a:rPr lang="en-US" sz="2400" dirty="0"/>
              <a:t> </a:t>
            </a:r>
            <a:r>
              <a:rPr lang="en-US" sz="2400" dirty="0" err="1"/>
              <a:t>özellikler</a:t>
            </a:r>
            <a:r>
              <a:rPr lang="en-US" sz="2400" dirty="0"/>
              <a:t>: </a:t>
            </a:r>
            <a:r>
              <a:rPr lang="en-US" sz="2400" dirty="0" err="1"/>
              <a:t>Kullanıcı</a:t>
            </a:r>
            <a:r>
              <a:rPr lang="en-US" sz="2400" dirty="0"/>
              <a:t> </a:t>
            </a:r>
            <a:r>
              <a:rPr lang="en-US" sz="2400" dirty="0" err="1"/>
              <a:t>hesapları</a:t>
            </a:r>
            <a:r>
              <a:rPr lang="en-US" sz="2400" dirty="0"/>
              <a:t>, </a:t>
            </a:r>
            <a:r>
              <a:rPr lang="en-US" sz="2400" dirty="0" err="1"/>
              <a:t>profil</a:t>
            </a:r>
            <a:r>
              <a:rPr lang="en-US" sz="2400" dirty="0"/>
              <a:t> </a:t>
            </a:r>
            <a:r>
              <a:rPr lang="en-US" sz="2400" dirty="0" err="1"/>
              <a:t>sayfaları</a:t>
            </a:r>
            <a:r>
              <a:rPr lang="en-US" sz="2400" dirty="0"/>
              <a:t>, </a:t>
            </a:r>
            <a:r>
              <a:rPr lang="en-US" sz="2400" dirty="0" err="1"/>
              <a:t>arkadaşlar</a:t>
            </a:r>
            <a:r>
              <a:rPr lang="en-US" sz="2400" dirty="0"/>
              <a:t> </a:t>
            </a:r>
            <a:r>
              <a:rPr lang="en-US" sz="2400" dirty="0" err="1"/>
              <a:t>veya</a:t>
            </a:r>
            <a:r>
              <a:rPr lang="en-US" sz="2400" dirty="0"/>
              <a:t> </a:t>
            </a:r>
            <a:r>
              <a:rPr lang="en-US" sz="2400" dirty="0" err="1"/>
              <a:t>takipçiler</a:t>
            </a:r>
            <a:r>
              <a:rPr lang="en-US" sz="2400" dirty="0"/>
              <a:t>, </a:t>
            </a:r>
            <a:r>
              <a:rPr lang="en-US" sz="2400" dirty="0" err="1"/>
              <a:t>etkinlik</a:t>
            </a:r>
            <a:r>
              <a:rPr lang="en-US" sz="2400" dirty="0"/>
              <a:t> </a:t>
            </a:r>
            <a:r>
              <a:rPr lang="en-US" sz="2400" dirty="0" err="1"/>
              <a:t>sayfaları</a:t>
            </a:r>
            <a:r>
              <a:rPr lang="en-US" sz="2400" dirty="0"/>
              <a:t>, </a:t>
            </a:r>
            <a:r>
              <a:rPr lang="en-US" sz="2400" dirty="0" err="1"/>
              <a:t>haber</a:t>
            </a:r>
            <a:r>
              <a:rPr lang="en-US" sz="2400" dirty="0"/>
              <a:t> </a:t>
            </a:r>
            <a:r>
              <a:rPr lang="en-US" sz="2400" dirty="0" err="1"/>
              <a:t>akışları</a:t>
            </a:r>
            <a:r>
              <a:rPr lang="en-US" sz="2400" dirty="0"/>
              <a:t>, </a:t>
            </a:r>
            <a:r>
              <a:rPr lang="en-US" sz="2400" dirty="0" err="1"/>
              <a:t>medya</a:t>
            </a:r>
            <a:r>
              <a:rPr lang="en-US" sz="2400" dirty="0"/>
              <a:t> </a:t>
            </a:r>
            <a:r>
              <a:rPr lang="en-US" sz="2400" dirty="0" err="1"/>
              <a:t>paylaşım</a:t>
            </a:r>
            <a:r>
              <a:rPr lang="en-US" sz="2400" dirty="0"/>
              <a:t> </a:t>
            </a:r>
            <a:r>
              <a:rPr lang="en-US" sz="2400" dirty="0" err="1"/>
              <a:t>özellikleri</a:t>
            </a:r>
            <a:r>
              <a:rPr lang="en-US" sz="2400" dirty="0"/>
              <a:t>, </a:t>
            </a:r>
            <a:r>
              <a:rPr lang="en-US" sz="2400" dirty="0" err="1"/>
              <a:t>beğenme</a:t>
            </a:r>
            <a:r>
              <a:rPr lang="en-US" sz="2400" dirty="0"/>
              <a:t> </a:t>
            </a:r>
            <a:r>
              <a:rPr lang="en-US" sz="2400" dirty="0" err="1"/>
              <a:t>düğmeleri</a:t>
            </a:r>
            <a:r>
              <a:rPr lang="en-US" sz="2400" dirty="0"/>
              <a:t> </a:t>
            </a:r>
            <a:r>
              <a:rPr lang="en-US" sz="2400" dirty="0" err="1"/>
              <a:t>ve</a:t>
            </a:r>
            <a:r>
              <a:rPr lang="en-US" sz="2400" dirty="0"/>
              <a:t> </a:t>
            </a:r>
            <a:r>
              <a:rPr lang="en-US" sz="2400" dirty="0" err="1"/>
              <a:t>yorum</a:t>
            </a:r>
            <a:r>
              <a:rPr lang="en-US" sz="2400" dirty="0"/>
              <a:t> </a:t>
            </a:r>
            <a:r>
              <a:rPr lang="en-US" sz="2400" dirty="0" err="1"/>
              <a:t>bölümleri</a:t>
            </a:r>
            <a:r>
              <a:rPr lang="en-US" sz="2400" dirty="0"/>
              <a:t>
</a:t>
            </a:r>
            <a:r>
              <a:rPr lang="en-US" sz="2400" dirty="0" err="1"/>
              <a:t>Türler</a:t>
            </a:r>
            <a:r>
              <a:rPr lang="en-US" sz="2400" dirty="0"/>
              <a:t>: </a:t>
            </a:r>
            <a:r>
              <a:rPr lang="en-US" sz="2400" dirty="0" err="1"/>
              <a:t>Bloglar</a:t>
            </a:r>
            <a:r>
              <a:rPr lang="en-US" sz="2400" dirty="0"/>
              <a:t>, </a:t>
            </a:r>
            <a:r>
              <a:rPr lang="en-US" sz="2400" dirty="0" err="1"/>
              <a:t>tartışma</a:t>
            </a:r>
            <a:r>
              <a:rPr lang="en-US" sz="2400" dirty="0"/>
              <a:t> </a:t>
            </a:r>
            <a:r>
              <a:rPr lang="en-US" sz="2400" dirty="0" err="1"/>
              <a:t>forumları</a:t>
            </a:r>
            <a:r>
              <a:rPr lang="en-US" sz="2400" dirty="0"/>
              <a:t>, </a:t>
            </a:r>
            <a:r>
              <a:rPr lang="en-US" sz="2400" dirty="0" err="1"/>
              <a:t>medya</a:t>
            </a:r>
            <a:r>
              <a:rPr lang="en-US" sz="2400" dirty="0"/>
              <a:t> </a:t>
            </a:r>
            <a:r>
              <a:rPr lang="en-US" sz="2400" dirty="0" err="1"/>
              <a:t>paylaşım</a:t>
            </a:r>
            <a:r>
              <a:rPr lang="en-US" sz="2400" dirty="0"/>
              <a:t> </a:t>
            </a:r>
            <a:r>
              <a:rPr lang="en-US" sz="2400" dirty="0" err="1"/>
              <a:t>ağları</a:t>
            </a:r>
            <a:r>
              <a:rPr lang="en-US" sz="2400" dirty="0"/>
              <a:t>, </a:t>
            </a:r>
            <a:r>
              <a:rPr lang="en-US" sz="2400" dirty="0" err="1"/>
              <a:t>wiki'ler</a:t>
            </a:r>
            <a:r>
              <a:rPr lang="en-US" sz="2400" dirty="0"/>
              <a:t>, </a:t>
            </a:r>
            <a:r>
              <a:rPr lang="en-US" sz="2400" dirty="0" err="1"/>
              <a:t>sosyal</a:t>
            </a:r>
            <a:r>
              <a:rPr lang="en-US" sz="2400" dirty="0"/>
              <a:t> </a:t>
            </a:r>
            <a:r>
              <a:rPr lang="en-US" sz="2400" dirty="0" err="1"/>
              <a:t>mesajlaşma</a:t>
            </a:r>
            <a:r>
              <a:rPr lang="en-US" sz="2400" dirty="0"/>
              <a:t> </a:t>
            </a:r>
            <a:r>
              <a:rPr lang="en-US" sz="2400" dirty="0" err="1"/>
              <a:t>uygulamaları</a:t>
            </a:r>
            <a:r>
              <a:rPr lang="en-US" sz="2400" dirty="0"/>
              <a:t>, </a:t>
            </a:r>
            <a:r>
              <a:rPr lang="en-US" sz="2400" dirty="0" err="1"/>
              <a:t>sosyal</a:t>
            </a:r>
            <a:r>
              <a:rPr lang="en-US" sz="2400" dirty="0"/>
              <a:t> </a:t>
            </a:r>
            <a:r>
              <a:rPr lang="en-US" sz="2400" dirty="0" err="1"/>
              <a:t>ağ</a:t>
            </a:r>
            <a:r>
              <a:rPr lang="en-US" sz="2400" dirty="0"/>
              <a:t> </a:t>
            </a:r>
            <a:r>
              <a:rPr lang="en-US" sz="2400" dirty="0" err="1"/>
              <a:t>siteleri</a:t>
            </a:r>
            <a:r>
              <a:rPr lang="en-US" sz="2400" dirty="0"/>
              <a:t> </a:t>
            </a:r>
            <a:r>
              <a:rPr lang="en-US" sz="2400" dirty="0" err="1"/>
              <a:t>ve</a:t>
            </a:r>
            <a:r>
              <a:rPr lang="en-US" sz="2400" dirty="0"/>
              <a:t> </a:t>
            </a:r>
            <a:r>
              <a:rPr lang="en-US" sz="2400" dirty="0" err="1"/>
              <a:t>sosyal</a:t>
            </a:r>
            <a:r>
              <a:rPr lang="en-US" sz="2400" dirty="0"/>
              <a:t> </a:t>
            </a:r>
            <a:r>
              <a:rPr lang="en-US" sz="2400" dirty="0" err="1"/>
              <a:t>alışveriş</a:t>
            </a:r>
            <a:r>
              <a:rPr lang="en-US" sz="2400" dirty="0"/>
              <a:t> </a:t>
            </a:r>
            <a:r>
              <a:rPr lang="en-US" sz="2400" dirty="0" err="1"/>
              <a:t>platformları</a:t>
            </a:r>
            <a:r>
              <a:rPr lang="en-US" sz="2400" dirty="0"/>
              <a:t>
</a:t>
            </a:r>
            <a:r>
              <a:rPr lang="en-US" sz="2400" dirty="0" err="1"/>
              <a:t>Sosyal</a:t>
            </a:r>
            <a:r>
              <a:rPr lang="en-US" sz="2400" dirty="0"/>
              <a:t> </a:t>
            </a:r>
            <a:r>
              <a:rPr lang="en-US" sz="2400" dirty="0" err="1"/>
              <a:t>ağ</a:t>
            </a:r>
            <a:r>
              <a:rPr lang="en-US" sz="2400" dirty="0"/>
              <a:t> </a:t>
            </a:r>
            <a:r>
              <a:rPr lang="en-US" sz="2400" dirty="0" err="1"/>
              <a:t>platformu</a:t>
            </a:r>
            <a:r>
              <a:rPr lang="en-US" sz="2400" dirty="0"/>
              <a:t>: Zaman, </a:t>
            </a:r>
            <a:r>
              <a:rPr lang="en-US" sz="2400" dirty="0" err="1"/>
              <a:t>mesafe</a:t>
            </a:r>
            <a:r>
              <a:rPr lang="en-US" sz="2400" dirty="0"/>
              <a:t> </a:t>
            </a:r>
            <a:r>
              <a:rPr lang="en-US" sz="2400" dirty="0" err="1"/>
              <a:t>ve</a:t>
            </a:r>
            <a:r>
              <a:rPr lang="en-US" sz="2400" dirty="0"/>
              <a:t> </a:t>
            </a:r>
            <a:r>
              <a:rPr lang="en-US" sz="2400" dirty="0" err="1"/>
              <a:t>kültürel</a:t>
            </a:r>
            <a:r>
              <a:rPr lang="en-US" sz="2400" dirty="0"/>
              <a:t> </a:t>
            </a:r>
            <a:r>
              <a:rPr lang="en-US" sz="2400" dirty="0" err="1"/>
              <a:t>farklılıkların</a:t>
            </a:r>
            <a:r>
              <a:rPr lang="en-US" sz="2400" dirty="0"/>
              <a:t> </a:t>
            </a:r>
            <a:r>
              <a:rPr lang="en-US" sz="2400" dirty="0" err="1"/>
              <a:t>yarattığı</a:t>
            </a:r>
            <a:r>
              <a:rPr lang="en-US" sz="2400" dirty="0"/>
              <a:t> </a:t>
            </a:r>
            <a:r>
              <a:rPr lang="en-US" sz="2400" dirty="0" err="1"/>
              <a:t>engelleri</a:t>
            </a:r>
            <a:r>
              <a:rPr lang="en-US" sz="2400" dirty="0"/>
              <a:t> </a:t>
            </a:r>
            <a:r>
              <a:rPr lang="en-US" sz="2400" dirty="0" err="1"/>
              <a:t>ortadan</a:t>
            </a:r>
            <a:r>
              <a:rPr lang="en-US" sz="2400" dirty="0"/>
              <a:t> </a:t>
            </a:r>
            <a:r>
              <a:rPr lang="en-US" sz="2400" dirty="0" err="1"/>
              <a:t>kaldıran</a:t>
            </a:r>
            <a:r>
              <a:rPr lang="en-US" sz="2400" dirty="0"/>
              <a:t> İnternet </a:t>
            </a:r>
            <a:r>
              <a:rPr lang="en-US" sz="2400" dirty="0" err="1"/>
              <a:t>kullanıcılarından</a:t>
            </a:r>
            <a:r>
              <a:rPr lang="en-US" sz="2400" dirty="0"/>
              <a:t> </a:t>
            </a:r>
            <a:r>
              <a:rPr lang="en-US" sz="2400" dirty="0" err="1"/>
              <a:t>oluşan</a:t>
            </a:r>
            <a:r>
              <a:rPr lang="en-US" sz="2400" dirty="0"/>
              <a:t> </a:t>
            </a:r>
            <a:r>
              <a:rPr lang="en-US" sz="2400" dirty="0" err="1"/>
              <a:t>çevrimiçi</a:t>
            </a:r>
            <a:r>
              <a:rPr lang="en-US" sz="2400" dirty="0"/>
              <a:t> </a:t>
            </a:r>
            <a:r>
              <a:rPr lang="en-US" sz="2400" dirty="0" err="1"/>
              <a:t>bir</a:t>
            </a:r>
            <a:r>
              <a:rPr lang="en-US" sz="2400" dirty="0"/>
              <a:t> </a:t>
            </a:r>
            <a:r>
              <a:rPr lang="en-US" sz="2400" dirty="0" err="1"/>
              <a:t>topluluk</a:t>
            </a:r>
            <a:r>
              <a:rPr lang="en-US" sz="2400" dirty="0"/>
              <a:t> </a:t>
            </a:r>
            <a:r>
              <a:rPr lang="en-US" sz="2400" dirty="0" err="1"/>
              <a:t>oluşturur</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Sosyal Medya Nedir?</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9-1: This table lists some of the most popular social networking platforms, along with their estimated unique monthly visitors (in millions). &#10;Facebook: 1,100&#10;YouTube: 1,000&#10;Twitter: 310&#10;LinkedIn: 255&#10;Pinterest: 250&#10;Google Plus+: 120&#10;Tumblr: 110&#10;Instagram: 100&#10;Reddit: 85"/>
          <p:cNvGraphicFramePr>
            <a:graphicFrameLocks noGrp="1"/>
          </p:cNvGraphicFramePr>
          <p:nvPr>
            <p:ph idx="1"/>
            <p:extLst>
              <p:ext uri="{D42A27DB-BD31-4B8C-83A1-F6EECF244321}">
                <p14:modId xmlns:p14="http://schemas.microsoft.com/office/powerpoint/2010/main" val="4029701768"/>
              </p:ext>
            </p:extLst>
          </p:nvPr>
        </p:nvGraphicFramePr>
        <p:xfrm>
          <a:off x="2176462" y="1397140"/>
          <a:ext cx="5197475" cy="4739640"/>
        </p:xfrm>
        <a:graphic>
          <a:graphicData uri="http://schemas.openxmlformats.org/drawingml/2006/table">
            <a:tbl>
              <a:tblPr firstRow="1" bandRow="1">
                <a:tableStyleId>{5C22544A-7EE6-4342-B048-85BDC9FD1C3A}</a:tableStyleId>
              </a:tblPr>
              <a:tblGrid>
                <a:gridCol w="2624138">
                  <a:extLst>
                    <a:ext uri="{9D8B030D-6E8A-4147-A177-3AD203B41FA5}">
                      <a16:colId xmlns:a16="http://schemas.microsoft.com/office/drawing/2014/main" val="589631962"/>
                    </a:ext>
                  </a:extLst>
                </a:gridCol>
                <a:gridCol w="2573337">
                  <a:extLst>
                    <a:ext uri="{9D8B030D-6E8A-4147-A177-3AD203B41FA5}">
                      <a16:colId xmlns:a16="http://schemas.microsoft.com/office/drawing/2014/main" val="941156520"/>
                    </a:ext>
                  </a:extLst>
                </a:gridCol>
              </a:tblGrid>
              <a:tr h="430283">
                <a:tc>
                  <a:txBody>
                    <a:bodyPr/>
                    <a:lstStyle/>
                    <a:p>
                      <a:pPr algn="ctr"/>
                      <a:r>
                        <a:rPr lang="en-US" sz="2200" dirty="0"/>
                        <a:t>Social Networking</a:t>
                      </a:r>
                      <a:r>
                        <a:rPr lang="en-US" sz="2200" baseline="0" dirty="0"/>
                        <a:t> Platform</a:t>
                      </a:r>
                      <a:endParaRPr lang="en-US" sz="2200" dirty="0"/>
                    </a:p>
                  </a:txBody>
                  <a:tcPr/>
                </a:tc>
                <a:tc>
                  <a:txBody>
                    <a:bodyPr/>
                    <a:lstStyle/>
                    <a:p>
                      <a:pPr algn="ctr"/>
                      <a:r>
                        <a:rPr lang="en-US" sz="2200" dirty="0"/>
                        <a:t>Unique Monthly Visitors (Millions)</a:t>
                      </a:r>
                    </a:p>
                  </a:txBody>
                  <a:tcPr/>
                </a:tc>
                <a:extLst>
                  <a:ext uri="{0D108BD9-81ED-4DB2-BD59-A6C34878D82A}">
                    <a16:rowId xmlns:a16="http://schemas.microsoft.com/office/drawing/2014/main" val="2818124517"/>
                  </a:ext>
                </a:extLst>
              </a:tr>
              <a:tr h="373937">
                <a:tc>
                  <a:txBody>
                    <a:bodyPr/>
                    <a:lstStyle/>
                    <a:p>
                      <a:r>
                        <a:rPr lang="en-US" sz="2300" dirty="0"/>
                        <a:t>Facebook</a:t>
                      </a:r>
                    </a:p>
                  </a:txBody>
                  <a:tcPr/>
                </a:tc>
                <a:tc>
                  <a:txBody>
                    <a:bodyPr/>
                    <a:lstStyle/>
                    <a:p>
                      <a:pPr algn="r"/>
                      <a:r>
                        <a:rPr lang="en-US" sz="2300" dirty="0"/>
                        <a:t>1,100</a:t>
                      </a:r>
                    </a:p>
                  </a:txBody>
                  <a:tcPr/>
                </a:tc>
                <a:extLst>
                  <a:ext uri="{0D108BD9-81ED-4DB2-BD59-A6C34878D82A}">
                    <a16:rowId xmlns:a16="http://schemas.microsoft.com/office/drawing/2014/main" val="2940355964"/>
                  </a:ext>
                </a:extLst>
              </a:tr>
              <a:tr h="373937">
                <a:tc>
                  <a:txBody>
                    <a:bodyPr/>
                    <a:lstStyle/>
                    <a:p>
                      <a:r>
                        <a:rPr lang="en-US" sz="2300" dirty="0"/>
                        <a:t>YouTube</a:t>
                      </a:r>
                    </a:p>
                  </a:txBody>
                  <a:tcPr/>
                </a:tc>
                <a:tc>
                  <a:txBody>
                    <a:bodyPr/>
                    <a:lstStyle/>
                    <a:p>
                      <a:pPr algn="r"/>
                      <a:r>
                        <a:rPr lang="en-US" sz="2300" dirty="0"/>
                        <a:t>1,000</a:t>
                      </a:r>
                    </a:p>
                  </a:txBody>
                  <a:tcPr/>
                </a:tc>
                <a:extLst>
                  <a:ext uri="{0D108BD9-81ED-4DB2-BD59-A6C34878D82A}">
                    <a16:rowId xmlns:a16="http://schemas.microsoft.com/office/drawing/2014/main" val="1068795155"/>
                  </a:ext>
                </a:extLst>
              </a:tr>
              <a:tr h="373937">
                <a:tc>
                  <a:txBody>
                    <a:bodyPr/>
                    <a:lstStyle/>
                    <a:p>
                      <a:r>
                        <a:rPr lang="en-US" sz="2300" dirty="0"/>
                        <a:t>Twitter</a:t>
                      </a:r>
                    </a:p>
                  </a:txBody>
                  <a:tcPr/>
                </a:tc>
                <a:tc>
                  <a:txBody>
                    <a:bodyPr/>
                    <a:lstStyle/>
                    <a:p>
                      <a:pPr algn="r"/>
                      <a:r>
                        <a:rPr lang="en-US" sz="2300" dirty="0"/>
                        <a:t>310</a:t>
                      </a:r>
                    </a:p>
                  </a:txBody>
                  <a:tcPr/>
                </a:tc>
                <a:extLst>
                  <a:ext uri="{0D108BD9-81ED-4DB2-BD59-A6C34878D82A}">
                    <a16:rowId xmlns:a16="http://schemas.microsoft.com/office/drawing/2014/main" val="860999432"/>
                  </a:ext>
                </a:extLst>
              </a:tr>
              <a:tr h="373937">
                <a:tc>
                  <a:txBody>
                    <a:bodyPr/>
                    <a:lstStyle/>
                    <a:p>
                      <a:r>
                        <a:rPr lang="en-US" sz="2300" dirty="0"/>
                        <a:t>LinkedIn</a:t>
                      </a:r>
                    </a:p>
                  </a:txBody>
                  <a:tcPr/>
                </a:tc>
                <a:tc>
                  <a:txBody>
                    <a:bodyPr/>
                    <a:lstStyle/>
                    <a:p>
                      <a:pPr algn="r"/>
                      <a:r>
                        <a:rPr lang="en-US" sz="2300" dirty="0"/>
                        <a:t>255</a:t>
                      </a:r>
                    </a:p>
                  </a:txBody>
                  <a:tcPr/>
                </a:tc>
                <a:extLst>
                  <a:ext uri="{0D108BD9-81ED-4DB2-BD59-A6C34878D82A}">
                    <a16:rowId xmlns:a16="http://schemas.microsoft.com/office/drawing/2014/main" val="2530045482"/>
                  </a:ext>
                </a:extLst>
              </a:tr>
              <a:tr h="373937">
                <a:tc>
                  <a:txBody>
                    <a:bodyPr/>
                    <a:lstStyle/>
                    <a:p>
                      <a:r>
                        <a:rPr lang="en-US" sz="2300" dirty="0"/>
                        <a:t>Pinterest</a:t>
                      </a:r>
                    </a:p>
                  </a:txBody>
                  <a:tcPr/>
                </a:tc>
                <a:tc>
                  <a:txBody>
                    <a:bodyPr/>
                    <a:lstStyle/>
                    <a:p>
                      <a:pPr algn="r"/>
                      <a:r>
                        <a:rPr lang="en-US" sz="2300" dirty="0"/>
                        <a:t>250</a:t>
                      </a:r>
                    </a:p>
                  </a:txBody>
                  <a:tcPr/>
                </a:tc>
                <a:extLst>
                  <a:ext uri="{0D108BD9-81ED-4DB2-BD59-A6C34878D82A}">
                    <a16:rowId xmlns:a16="http://schemas.microsoft.com/office/drawing/2014/main" val="65965508"/>
                  </a:ext>
                </a:extLst>
              </a:tr>
              <a:tr h="373937">
                <a:tc>
                  <a:txBody>
                    <a:bodyPr/>
                    <a:lstStyle/>
                    <a:p>
                      <a:r>
                        <a:rPr lang="en-US" sz="2300" dirty="0"/>
                        <a:t>Google Plus+</a:t>
                      </a:r>
                    </a:p>
                  </a:txBody>
                  <a:tcPr/>
                </a:tc>
                <a:tc>
                  <a:txBody>
                    <a:bodyPr/>
                    <a:lstStyle/>
                    <a:p>
                      <a:pPr algn="r"/>
                      <a:r>
                        <a:rPr lang="en-US" sz="2300" dirty="0"/>
                        <a:t>120</a:t>
                      </a:r>
                    </a:p>
                  </a:txBody>
                  <a:tcPr/>
                </a:tc>
                <a:extLst>
                  <a:ext uri="{0D108BD9-81ED-4DB2-BD59-A6C34878D82A}">
                    <a16:rowId xmlns:a16="http://schemas.microsoft.com/office/drawing/2014/main" val="2313669018"/>
                  </a:ext>
                </a:extLst>
              </a:tr>
              <a:tr h="373937">
                <a:tc>
                  <a:txBody>
                    <a:bodyPr/>
                    <a:lstStyle/>
                    <a:p>
                      <a:r>
                        <a:rPr lang="en-US" sz="2300" dirty="0"/>
                        <a:t>Tumblr</a:t>
                      </a:r>
                    </a:p>
                  </a:txBody>
                  <a:tcPr/>
                </a:tc>
                <a:tc>
                  <a:txBody>
                    <a:bodyPr/>
                    <a:lstStyle/>
                    <a:p>
                      <a:pPr algn="r"/>
                      <a:r>
                        <a:rPr lang="en-US" sz="2300" dirty="0"/>
                        <a:t>110</a:t>
                      </a:r>
                    </a:p>
                  </a:txBody>
                  <a:tcPr/>
                </a:tc>
                <a:extLst>
                  <a:ext uri="{0D108BD9-81ED-4DB2-BD59-A6C34878D82A}">
                    <a16:rowId xmlns:a16="http://schemas.microsoft.com/office/drawing/2014/main" val="926690424"/>
                  </a:ext>
                </a:extLst>
              </a:tr>
              <a:tr h="373937">
                <a:tc>
                  <a:txBody>
                    <a:bodyPr/>
                    <a:lstStyle/>
                    <a:p>
                      <a:r>
                        <a:rPr lang="en-US" sz="2300" dirty="0"/>
                        <a:t>Instagram</a:t>
                      </a:r>
                    </a:p>
                  </a:txBody>
                  <a:tcPr/>
                </a:tc>
                <a:tc>
                  <a:txBody>
                    <a:bodyPr/>
                    <a:lstStyle/>
                    <a:p>
                      <a:pPr algn="r"/>
                      <a:r>
                        <a:rPr lang="en-US" sz="2300" dirty="0"/>
                        <a:t>100</a:t>
                      </a:r>
                    </a:p>
                  </a:txBody>
                  <a:tcPr/>
                </a:tc>
                <a:extLst>
                  <a:ext uri="{0D108BD9-81ED-4DB2-BD59-A6C34878D82A}">
                    <a16:rowId xmlns:a16="http://schemas.microsoft.com/office/drawing/2014/main" val="466439117"/>
                  </a:ext>
                </a:extLst>
              </a:tr>
              <a:tr h="373937">
                <a:tc>
                  <a:txBody>
                    <a:bodyPr/>
                    <a:lstStyle/>
                    <a:p>
                      <a:r>
                        <a:rPr lang="en-US" sz="2300" dirty="0"/>
                        <a:t>Reddit</a:t>
                      </a:r>
                    </a:p>
                  </a:txBody>
                  <a:tcPr/>
                </a:tc>
                <a:tc>
                  <a:txBody>
                    <a:bodyPr/>
                    <a:lstStyle/>
                    <a:p>
                      <a:pPr algn="r"/>
                      <a:r>
                        <a:rPr lang="en-US" sz="2300" dirty="0"/>
                        <a:t>85</a:t>
                      </a:r>
                    </a:p>
                  </a:txBody>
                  <a:tcPr/>
                </a:tc>
                <a:extLst>
                  <a:ext uri="{0D108BD9-81ED-4DB2-BD59-A6C34878D82A}">
                    <a16:rowId xmlns:a16="http://schemas.microsoft.com/office/drawing/2014/main" val="4068466506"/>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err="1"/>
              <a:t>Popüler</a:t>
            </a:r>
            <a:r>
              <a:rPr lang="en-US" sz="4000" dirty="0"/>
              <a:t> </a:t>
            </a:r>
            <a:r>
              <a:rPr lang="en-US" sz="4000" dirty="0" err="1"/>
              <a:t>Sosyal</a:t>
            </a:r>
            <a:r>
              <a:rPr lang="en-US" sz="4000" dirty="0"/>
              <a:t> </a:t>
            </a:r>
            <a:r>
              <a:rPr lang="en-US" sz="4000" dirty="0" err="1"/>
              <a:t>Ağ</a:t>
            </a:r>
            <a:r>
              <a:rPr lang="en-US" sz="4000" dirty="0"/>
              <a:t> </a:t>
            </a:r>
            <a:r>
              <a:rPr lang="en-US" sz="4000" dirty="0" err="1"/>
              <a:t>Platformları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59279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95186"/>
          </a:xfrm>
        </p:spPr>
        <p:txBody>
          <a:bodyPr/>
          <a:lstStyle/>
          <a:p>
            <a:r>
              <a:rPr lang="en-US" sz="2800" dirty="0" err="1"/>
              <a:t>Sosyal</a:t>
            </a:r>
            <a:r>
              <a:rPr lang="en-US" sz="2800" dirty="0"/>
              <a:t> </a:t>
            </a:r>
            <a:r>
              <a:rPr lang="en-US" sz="2800" dirty="0" err="1"/>
              <a:t>ağ</a:t>
            </a:r>
            <a:r>
              <a:rPr lang="en-US" sz="2800" dirty="0"/>
              <a:t> </a:t>
            </a:r>
            <a:r>
              <a:rPr lang="en-US" sz="2800" dirty="0" err="1"/>
              <a:t>pazarlaması</a:t>
            </a:r>
            <a:r>
              <a:rPr lang="en-US" sz="2800" dirty="0"/>
              <a:t>: </a:t>
            </a:r>
            <a:r>
              <a:rPr lang="en-US" sz="2800" dirty="0" err="1"/>
              <a:t>Ürün</a:t>
            </a:r>
            <a:r>
              <a:rPr lang="en-US" sz="2800" dirty="0"/>
              <a:t> </a:t>
            </a:r>
            <a:r>
              <a:rPr lang="en-US" sz="2800" dirty="0" err="1"/>
              <a:t>ve</a:t>
            </a:r>
            <a:r>
              <a:rPr lang="en-US" sz="2800" dirty="0"/>
              <a:t> </a:t>
            </a:r>
            <a:r>
              <a:rPr lang="en-US" sz="2800" dirty="0" err="1"/>
              <a:t>hizmetlerin</a:t>
            </a:r>
            <a:r>
              <a:rPr lang="en-US" sz="2800" dirty="0"/>
              <a:t> </a:t>
            </a:r>
            <a:r>
              <a:rPr lang="en-US" sz="2800" dirty="0" err="1"/>
              <a:t>faydalarını</a:t>
            </a:r>
            <a:r>
              <a:rPr lang="en-US" sz="2800" dirty="0"/>
              <a:t> </a:t>
            </a:r>
            <a:r>
              <a:rPr lang="en-US" sz="2800" dirty="0" err="1"/>
              <a:t>iletmek</a:t>
            </a:r>
            <a:r>
              <a:rPr lang="en-US" sz="2800" dirty="0"/>
              <a:t> </a:t>
            </a:r>
            <a:r>
              <a:rPr lang="en-US" sz="2800" dirty="0" err="1"/>
              <a:t>ve</a:t>
            </a:r>
            <a:r>
              <a:rPr lang="en-US" sz="2800" dirty="0"/>
              <a:t> </a:t>
            </a:r>
            <a:r>
              <a:rPr lang="en-US" sz="2800" dirty="0" err="1"/>
              <a:t>tanıtmak</a:t>
            </a:r>
            <a:r>
              <a:rPr lang="en-US" sz="2800" dirty="0"/>
              <a:t> için </a:t>
            </a:r>
            <a:r>
              <a:rPr lang="en-US" sz="2800" dirty="0" err="1"/>
              <a:t>sosyal</a:t>
            </a:r>
            <a:r>
              <a:rPr lang="en-US" sz="2800" dirty="0"/>
              <a:t> </a:t>
            </a:r>
            <a:r>
              <a:rPr lang="en-US" sz="2800" dirty="0" err="1"/>
              <a:t>ağların</a:t>
            </a:r>
            <a:r>
              <a:rPr lang="en-US" sz="2800" dirty="0"/>
              <a:t> </a:t>
            </a:r>
            <a:r>
              <a:rPr lang="en-US" sz="2800" dirty="0" err="1"/>
              <a:t>kullanılması</a:t>
            </a:r>
            <a:r>
              <a:rPr lang="en-US" sz="2800" dirty="0"/>
              <a:t>
</a:t>
            </a:r>
            <a:r>
              <a:rPr lang="en-US" sz="2800" dirty="0" err="1"/>
              <a:t>Tüketicilerin</a:t>
            </a:r>
            <a:r>
              <a:rPr lang="en-US" sz="2800" dirty="0"/>
              <a:t> %37'si </a:t>
            </a:r>
            <a:r>
              <a:rPr lang="en-US" sz="2800" dirty="0" err="1"/>
              <a:t>ürün</a:t>
            </a:r>
            <a:r>
              <a:rPr lang="en-US" sz="2800" dirty="0"/>
              <a:t> </a:t>
            </a:r>
            <a:r>
              <a:rPr lang="en-US" sz="2800" dirty="0" err="1"/>
              <a:t>ve</a:t>
            </a:r>
            <a:r>
              <a:rPr lang="en-US" sz="2800" dirty="0"/>
              <a:t> </a:t>
            </a:r>
            <a:r>
              <a:rPr lang="en-US" sz="2800" dirty="0" err="1"/>
              <a:t>hizmetler</a:t>
            </a:r>
            <a:r>
              <a:rPr lang="en-US" sz="2800" dirty="0"/>
              <a:t> </a:t>
            </a:r>
            <a:r>
              <a:rPr lang="en-US" sz="2800" dirty="0" err="1"/>
              <a:t>hakkında</a:t>
            </a:r>
            <a:r>
              <a:rPr lang="en-US" sz="2800" dirty="0"/>
              <a:t> </a:t>
            </a:r>
            <a:r>
              <a:rPr lang="en-US" sz="2800" dirty="0" err="1"/>
              <a:t>bilgi</a:t>
            </a:r>
            <a:r>
              <a:rPr lang="en-US" sz="2800" dirty="0"/>
              <a:t> </a:t>
            </a:r>
            <a:r>
              <a:rPr lang="en-US" sz="2800" dirty="0" err="1"/>
              <a:t>edinmek</a:t>
            </a:r>
            <a:r>
              <a:rPr lang="en-US" sz="2800" dirty="0"/>
              <a:t> için </a:t>
            </a:r>
            <a:r>
              <a:rPr lang="en-US" sz="2800" dirty="0" err="1"/>
              <a:t>sosyal</a:t>
            </a:r>
            <a:r>
              <a:rPr lang="en-US" sz="2800" dirty="0"/>
              <a:t> </a:t>
            </a:r>
            <a:r>
              <a:rPr lang="en-US" sz="2800" dirty="0" err="1"/>
              <a:t>medyayı</a:t>
            </a:r>
            <a:r>
              <a:rPr lang="en-US" sz="2800" dirty="0"/>
              <a:t> </a:t>
            </a:r>
            <a:r>
              <a:rPr lang="en-US" sz="2800" dirty="0" err="1"/>
              <a:t>kullandıklarını</a:t>
            </a:r>
            <a:r>
              <a:rPr lang="en-US" sz="2800" dirty="0"/>
              <a:t> </a:t>
            </a:r>
            <a:r>
              <a:rPr lang="en-US" sz="2800" dirty="0" err="1"/>
              <a:t>söylüyor</a:t>
            </a:r>
            <a:r>
              <a:rPr lang="en-US" sz="2800" dirty="0"/>
              <a:t>
</a:t>
            </a:r>
            <a:r>
              <a:rPr lang="en-US" sz="2800" dirty="0" err="1"/>
              <a:t>Sosyal</a:t>
            </a:r>
            <a:r>
              <a:rPr lang="en-US" sz="2800" dirty="0"/>
              <a:t> </a:t>
            </a:r>
            <a:r>
              <a:rPr lang="en-US" sz="2800" dirty="0" err="1"/>
              <a:t>medya</a:t>
            </a:r>
            <a:r>
              <a:rPr lang="en-US" sz="2800" dirty="0"/>
              <a:t> </a:t>
            </a:r>
            <a:r>
              <a:rPr lang="en-US" sz="2800" dirty="0" err="1"/>
              <a:t>pazarlamacılarının</a:t>
            </a:r>
            <a:r>
              <a:rPr lang="en-US" sz="2800" dirty="0"/>
              <a:t> </a:t>
            </a:r>
            <a:r>
              <a:rPr lang="en-US" sz="2800" dirty="0" err="1"/>
              <a:t>iki</a:t>
            </a:r>
            <a:r>
              <a:rPr lang="en-US" sz="2800" dirty="0"/>
              <a:t> </a:t>
            </a:r>
            <a:r>
              <a:rPr lang="en-US" sz="2800" dirty="0" err="1"/>
              <a:t>temel</a:t>
            </a:r>
            <a:r>
              <a:rPr lang="en-US" sz="2800" dirty="0"/>
              <a:t> </a:t>
            </a:r>
            <a:r>
              <a:rPr lang="en-US" sz="2800" dirty="0" err="1"/>
              <a:t>hedefi</a:t>
            </a:r>
            <a:r>
              <a:rPr lang="en-US" sz="2800" dirty="0"/>
              <a:t>:
</a:t>
            </a:r>
            <a:r>
              <a:rPr lang="en-US" sz="2800" dirty="0" err="1"/>
              <a:t>Marka</a:t>
            </a:r>
            <a:r>
              <a:rPr lang="en-US" sz="2800" dirty="0"/>
              <a:t> </a:t>
            </a:r>
            <a:r>
              <a:rPr lang="en-US" sz="2800" dirty="0" err="1"/>
              <a:t>bilinirliğini</a:t>
            </a:r>
            <a:r>
              <a:rPr lang="en-US" sz="2800" dirty="0"/>
              <a:t> </a:t>
            </a:r>
            <a:r>
              <a:rPr lang="en-US" sz="2800" dirty="0" err="1"/>
              <a:t>artırın</a:t>
            </a:r>
            <a:r>
              <a:rPr lang="en-US" sz="2800" dirty="0"/>
              <a:t>
</a:t>
            </a:r>
            <a:r>
              <a:rPr lang="en-US" sz="2800" dirty="0" err="1"/>
              <a:t>Satışları</a:t>
            </a:r>
            <a:r>
              <a:rPr lang="en-US" sz="2800" dirty="0"/>
              <a:t> </a:t>
            </a:r>
            <a:r>
              <a:rPr lang="en-US" sz="2800" dirty="0" err="1"/>
              <a:t>artırmak</a:t>
            </a:r>
            <a:r>
              <a:rPr lang="en-US" sz="2800" dirty="0"/>
              <a:t> için </a:t>
            </a:r>
            <a:r>
              <a:rPr lang="en-US" sz="2800" dirty="0" err="1"/>
              <a:t>bir</a:t>
            </a:r>
            <a:r>
              <a:rPr lang="en-US" sz="2800" dirty="0"/>
              <a:t> web </a:t>
            </a:r>
            <a:r>
              <a:rPr lang="en-US" sz="2800" dirty="0" err="1"/>
              <a:t>sitesine</a:t>
            </a:r>
            <a:r>
              <a:rPr lang="en-US" sz="2800" dirty="0"/>
              <a:t> </a:t>
            </a:r>
            <a:r>
              <a:rPr lang="en-US" sz="2800" dirty="0" err="1"/>
              <a:t>trafik</a:t>
            </a:r>
            <a:r>
              <a:rPr lang="en-US" sz="2800" dirty="0"/>
              <a:t> </a:t>
            </a:r>
            <a:r>
              <a:rPr lang="en-US" sz="2800" dirty="0" err="1"/>
              <a:t>çekin</a:t>
            </a:r>
            <a:r>
              <a:rPr lang="en-US" sz="2800" dirty="0"/>
              <a:t>
</a:t>
            </a:r>
            <a:r>
              <a:rPr lang="en-US" sz="2800" dirty="0" err="1"/>
              <a:t>Küresel</a:t>
            </a:r>
            <a:r>
              <a:rPr lang="en-US" sz="2800" dirty="0"/>
              <a:t> </a:t>
            </a:r>
            <a:r>
              <a:rPr lang="en-US" sz="2800" dirty="0" err="1"/>
              <a:t>sosyal</a:t>
            </a:r>
            <a:r>
              <a:rPr lang="en-US" sz="2800" dirty="0"/>
              <a:t> </a:t>
            </a:r>
            <a:r>
              <a:rPr lang="en-US" sz="2800" dirty="0" err="1"/>
              <a:t>medya</a:t>
            </a:r>
            <a:r>
              <a:rPr lang="en-US" sz="2800" dirty="0"/>
              <a:t> </a:t>
            </a:r>
            <a:r>
              <a:rPr lang="en-US" sz="2800" dirty="0" err="1"/>
              <a:t>pazarlama</a:t>
            </a:r>
            <a:r>
              <a:rPr lang="en-US" sz="2800" dirty="0"/>
              <a:t> </a:t>
            </a:r>
            <a:r>
              <a:rPr lang="en-US" sz="2800" dirty="0" err="1"/>
              <a:t>harcamaları</a:t>
            </a:r>
            <a:r>
              <a:rPr lang="en-US" sz="2800" dirty="0"/>
              <a:t> 2014'ten 2016'ya </a:t>
            </a:r>
            <a:r>
              <a:rPr lang="en-US" sz="2800" dirty="0" err="1"/>
              <a:t>neredeyse</a:t>
            </a:r>
            <a:r>
              <a:rPr lang="en-US" sz="2800" dirty="0"/>
              <a:t> </a:t>
            </a:r>
            <a:r>
              <a:rPr lang="en-US" sz="2800" dirty="0" err="1"/>
              <a:t>iki</a:t>
            </a:r>
            <a:r>
              <a:rPr lang="en-US" sz="2800" dirty="0"/>
              <a:t> </a:t>
            </a:r>
            <a:r>
              <a:rPr lang="en-US" sz="2800" dirty="0" err="1"/>
              <a:t>katına</a:t>
            </a:r>
            <a:r>
              <a:rPr lang="en-US" sz="2800" dirty="0"/>
              <a:t> </a:t>
            </a:r>
            <a:r>
              <a:rPr lang="en-US" sz="2800" dirty="0" err="1"/>
              <a:t>çıkarak</a:t>
            </a:r>
            <a:r>
              <a:rPr lang="en-US" sz="2800" dirty="0"/>
              <a:t> 16 </a:t>
            </a:r>
            <a:r>
              <a:rPr lang="en-US" sz="2800" dirty="0" err="1"/>
              <a:t>milyar</a:t>
            </a:r>
            <a:r>
              <a:rPr lang="en-US" sz="2800" dirty="0"/>
              <a:t> </a:t>
            </a:r>
            <a:r>
              <a:rPr lang="en-US" sz="2800" dirty="0" err="1"/>
              <a:t>dolardan</a:t>
            </a:r>
            <a:r>
              <a:rPr lang="en-US" sz="2800" dirty="0"/>
              <a:t> 31 </a:t>
            </a:r>
            <a:r>
              <a:rPr lang="en-US" sz="2800" dirty="0" err="1"/>
              <a:t>milyar</a:t>
            </a:r>
            <a:r>
              <a:rPr lang="en-US" sz="2800" dirty="0"/>
              <a:t> </a:t>
            </a:r>
            <a:r>
              <a:rPr lang="en-US" sz="2800" dirty="0" err="1"/>
              <a:t>dolara</a:t>
            </a:r>
            <a:r>
              <a:rPr lang="en-US" sz="2800" dirty="0"/>
              <a:t> </a:t>
            </a:r>
            <a:r>
              <a:rPr lang="en-US" sz="2800" dirty="0" err="1"/>
              <a:t>yükseldi</a:t>
            </a:r>
            <a:endParaRPr lang="en-US" sz="2800" dirty="0"/>
          </a:p>
        </p:txBody>
      </p:sp>
      <p:sp>
        <p:nvSpPr>
          <p:cNvPr id="3" name="Title 2"/>
          <p:cNvSpPr>
            <a:spLocks noGrp="1"/>
          </p:cNvSpPr>
          <p:nvPr>
            <p:ph type="title"/>
          </p:nvPr>
        </p:nvSpPr>
        <p:spPr>
          <a:xfrm>
            <a:off x="762000" y="290459"/>
            <a:ext cx="8026400" cy="527837"/>
          </a:xfrm>
        </p:spPr>
        <p:txBody>
          <a:bodyPr/>
          <a:lstStyle/>
          <a:p>
            <a:r>
              <a:rPr lang="en-US" altLang="en-US" sz="4000" dirty="0" err="1"/>
              <a:t>Sosyal</a:t>
            </a:r>
            <a:r>
              <a:rPr lang="en-US" altLang="en-US" sz="4000" dirty="0"/>
              <a:t> </a:t>
            </a:r>
            <a:r>
              <a:rPr lang="en-US" altLang="en-US" sz="4000" dirty="0" err="1"/>
              <a:t>Medya</a:t>
            </a:r>
            <a:r>
              <a:rPr lang="en-US" altLang="en-US" sz="4000" dirty="0"/>
              <a:t> </a:t>
            </a:r>
            <a:r>
              <a:rPr lang="en-US" altLang="en-US" sz="4000" dirty="0" err="1"/>
              <a:t>Pazarlaması</a:t>
            </a:r>
            <a:r>
              <a:rPr lang="en-US" altLang="en-US" sz="4000" dirty="0"/>
              <a:t>, </a:t>
            </a:r>
            <a:r>
              <a:rPr lang="en-US" altLang="en-US" sz="4000" dirty="0" err="1"/>
              <a:t>Bölüm</a:t>
            </a:r>
            <a:r>
              <a:rPr lang="en-US" altLang="en-US" sz="4000" dirty="0"/>
              <a:t>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19702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527667"/>
          </a:xfrm>
        </p:spPr>
        <p:txBody>
          <a:bodyPr/>
          <a:lstStyle/>
          <a:p>
            <a:r>
              <a:rPr lang="en-US" sz="2800" dirty="0" err="1"/>
              <a:t>Sosyal</a:t>
            </a:r>
            <a:r>
              <a:rPr lang="en-US" sz="2800" dirty="0"/>
              <a:t> </a:t>
            </a:r>
            <a:r>
              <a:rPr lang="en-US" sz="2800" dirty="0" err="1"/>
              <a:t>medya</a:t>
            </a:r>
            <a:r>
              <a:rPr lang="en-US" sz="2800" dirty="0"/>
              <a:t> </a:t>
            </a:r>
            <a:r>
              <a:rPr lang="en-US" sz="2800" dirty="0" err="1"/>
              <a:t>pazarlamasının</a:t>
            </a:r>
            <a:r>
              <a:rPr lang="en-US" sz="2800" dirty="0"/>
              <a:t> </a:t>
            </a:r>
            <a:r>
              <a:rPr lang="en-US" sz="2800" dirty="0" err="1"/>
              <a:t>avantajları</a:t>
            </a:r>
            <a:r>
              <a:rPr lang="en-US" sz="2800" dirty="0"/>
              <a:t>:
</a:t>
            </a:r>
            <a:r>
              <a:rPr lang="en-US" sz="2800" dirty="0" err="1"/>
              <a:t>Pazarlamacılar</a:t>
            </a:r>
            <a:r>
              <a:rPr lang="en-US" sz="2800" dirty="0"/>
              <a:t>, </a:t>
            </a:r>
            <a:r>
              <a:rPr lang="en-US" sz="2800" dirty="0" err="1"/>
              <a:t>mesajı</a:t>
            </a:r>
            <a:r>
              <a:rPr lang="en-US" sz="2800" dirty="0"/>
              <a:t> </a:t>
            </a:r>
            <a:r>
              <a:rPr lang="en-US" sz="2800" dirty="0" err="1"/>
              <a:t>görüntüleyenlerle</a:t>
            </a:r>
            <a:r>
              <a:rPr lang="en-US" sz="2800" dirty="0"/>
              <a:t> </a:t>
            </a:r>
            <a:r>
              <a:rPr lang="en-US" sz="2800" dirty="0" err="1"/>
              <a:t>bir</a:t>
            </a:r>
            <a:r>
              <a:rPr lang="en-US" sz="2800" dirty="0"/>
              <a:t> </a:t>
            </a:r>
            <a:r>
              <a:rPr lang="en-US" sz="2800" dirty="0" err="1"/>
              <a:t>konuşma</a:t>
            </a:r>
            <a:r>
              <a:rPr lang="en-US" sz="2800" dirty="0"/>
              <a:t> </a:t>
            </a:r>
            <a:r>
              <a:rPr lang="en-US" sz="2800" dirty="0" err="1"/>
              <a:t>oluşturmak</a:t>
            </a:r>
            <a:r>
              <a:rPr lang="en-US" sz="2800" dirty="0"/>
              <a:t> için </a:t>
            </a:r>
            <a:r>
              <a:rPr lang="en-US" sz="2800" dirty="0" err="1"/>
              <a:t>bir</a:t>
            </a:r>
            <a:r>
              <a:rPr lang="en-US" sz="2800" dirty="0"/>
              <a:t> </a:t>
            </a:r>
            <a:r>
              <a:rPr lang="en-US" sz="2800" dirty="0" err="1"/>
              <a:t>fırsat</a:t>
            </a:r>
            <a:r>
              <a:rPr lang="en-US" sz="2800" dirty="0"/>
              <a:t> </a:t>
            </a:r>
            <a:r>
              <a:rPr lang="en-US" sz="2800" dirty="0" err="1"/>
              <a:t>yaratabilir</a:t>
            </a:r>
            <a:r>
              <a:rPr lang="en-US" sz="2800" dirty="0"/>
              <a:t>
</a:t>
            </a:r>
            <a:r>
              <a:rPr lang="en-US" sz="2800" dirty="0" err="1"/>
              <a:t>Mesajlar</a:t>
            </a:r>
            <a:r>
              <a:rPr lang="en-US" sz="2800" dirty="0"/>
              <a:t>, </a:t>
            </a:r>
            <a:r>
              <a:rPr lang="en-US" sz="2800" dirty="0" err="1"/>
              <a:t>belirli</a:t>
            </a:r>
            <a:r>
              <a:rPr lang="en-US" sz="2800" dirty="0"/>
              <a:t> </a:t>
            </a:r>
            <a:r>
              <a:rPr lang="en-US" sz="2800" dirty="0" err="1"/>
              <a:t>bir</a:t>
            </a:r>
            <a:r>
              <a:rPr lang="en-US" sz="2800" dirty="0"/>
              <a:t> </a:t>
            </a:r>
            <a:r>
              <a:rPr lang="en-US" sz="2800" dirty="0" err="1"/>
              <a:t>demografik</a:t>
            </a:r>
            <a:r>
              <a:rPr lang="en-US" sz="2800" dirty="0"/>
              <a:t> </a:t>
            </a:r>
            <a:r>
              <a:rPr lang="en-US" sz="2800" dirty="0" err="1"/>
              <a:t>gruba</a:t>
            </a:r>
            <a:r>
              <a:rPr lang="en-US" sz="2800" dirty="0"/>
              <a:t> </a:t>
            </a:r>
            <a:r>
              <a:rPr lang="en-US" sz="2800" dirty="0" err="1"/>
              <a:t>ulaşmak</a:t>
            </a:r>
            <a:r>
              <a:rPr lang="en-US" sz="2800" dirty="0"/>
              <a:t> için </a:t>
            </a:r>
            <a:r>
              <a:rPr lang="en-US" sz="2800" dirty="0" err="1"/>
              <a:t>hedeflenebilir</a:t>
            </a:r>
            <a:r>
              <a:rPr lang="en-US" sz="2800" dirty="0"/>
              <a:t>
</a:t>
            </a:r>
            <a:r>
              <a:rPr lang="en-US" sz="2800" dirty="0" err="1"/>
              <a:t>Organik</a:t>
            </a:r>
            <a:r>
              <a:rPr lang="en-US" sz="2800" dirty="0"/>
              <a:t> </a:t>
            </a:r>
            <a:r>
              <a:rPr lang="en-US" sz="2800" dirty="0" err="1"/>
              <a:t>medya</a:t>
            </a:r>
            <a:r>
              <a:rPr lang="en-US" sz="2800" dirty="0"/>
              <a:t> </a:t>
            </a:r>
            <a:r>
              <a:rPr lang="en-US" sz="2800" dirty="0" err="1"/>
              <a:t>pazarlaması</a:t>
            </a:r>
            <a:r>
              <a:rPr lang="en-US" sz="2800" dirty="0"/>
              <a:t>: Bir </a:t>
            </a:r>
            <a:r>
              <a:rPr lang="en-US" sz="2800" dirty="0" err="1"/>
              <a:t>sosyal</a:t>
            </a:r>
            <a:r>
              <a:rPr lang="en-US" sz="2800" dirty="0"/>
              <a:t> </a:t>
            </a:r>
            <a:r>
              <a:rPr lang="en-US" sz="2800" dirty="0" err="1"/>
              <a:t>topluluk</a:t>
            </a:r>
            <a:r>
              <a:rPr lang="en-US" sz="2800" dirty="0"/>
              <a:t> </a:t>
            </a:r>
            <a:r>
              <a:rPr lang="en-US" sz="2800" dirty="0" err="1"/>
              <a:t>oluşturmak</a:t>
            </a:r>
            <a:r>
              <a:rPr lang="en-US" sz="2800" dirty="0"/>
              <a:t> </a:t>
            </a:r>
            <a:r>
              <a:rPr lang="en-US" sz="2800" dirty="0" err="1"/>
              <a:t>ve</a:t>
            </a:r>
            <a:r>
              <a:rPr lang="en-US" sz="2800" dirty="0"/>
              <a:t> </a:t>
            </a:r>
            <a:r>
              <a:rPr lang="en-US" sz="2800" dirty="0" err="1"/>
              <a:t>onunla</a:t>
            </a:r>
            <a:r>
              <a:rPr lang="en-US" sz="2800" dirty="0"/>
              <a:t> </a:t>
            </a:r>
            <a:r>
              <a:rPr lang="en-US" sz="2800" dirty="0" err="1"/>
              <a:t>etkileşim</a:t>
            </a:r>
            <a:r>
              <a:rPr lang="en-US" sz="2800" dirty="0"/>
              <a:t> </a:t>
            </a:r>
            <a:r>
              <a:rPr lang="en-US" sz="2800" dirty="0" err="1"/>
              <a:t>kurmak</a:t>
            </a:r>
            <a:r>
              <a:rPr lang="en-US" sz="2800" dirty="0"/>
              <a:t> için </a:t>
            </a:r>
            <a:r>
              <a:rPr lang="en-US" sz="2800" dirty="0" err="1"/>
              <a:t>belirli</a:t>
            </a:r>
            <a:r>
              <a:rPr lang="en-US" sz="2800" dirty="0"/>
              <a:t> </a:t>
            </a:r>
            <a:r>
              <a:rPr lang="en-US" sz="2800" dirty="0" err="1"/>
              <a:t>bir</a:t>
            </a:r>
            <a:r>
              <a:rPr lang="en-US" sz="2800" dirty="0"/>
              <a:t> </a:t>
            </a:r>
            <a:r>
              <a:rPr lang="en-US" sz="2800" dirty="0" err="1"/>
              <a:t>sosyal</a:t>
            </a:r>
            <a:r>
              <a:rPr lang="en-US" sz="2800" dirty="0"/>
              <a:t> </a:t>
            </a:r>
            <a:r>
              <a:rPr lang="en-US" sz="2800" dirty="0" err="1"/>
              <a:t>medya</a:t>
            </a:r>
            <a:r>
              <a:rPr lang="en-US" sz="2800" dirty="0"/>
              <a:t> </a:t>
            </a:r>
            <a:r>
              <a:rPr lang="en-US" sz="2800" dirty="0" err="1"/>
              <a:t>platformu</a:t>
            </a:r>
            <a:r>
              <a:rPr lang="en-US" sz="2800" dirty="0"/>
              <a:t> için </a:t>
            </a:r>
            <a:r>
              <a:rPr lang="en-US" sz="2800" dirty="0" err="1"/>
              <a:t>özel</a:t>
            </a:r>
            <a:r>
              <a:rPr lang="en-US" sz="2800" dirty="0"/>
              <a:t> </a:t>
            </a:r>
            <a:r>
              <a:rPr lang="en-US" sz="2800" dirty="0" err="1"/>
              <a:t>olarak</a:t>
            </a:r>
            <a:r>
              <a:rPr lang="en-US" sz="2800" dirty="0"/>
              <a:t> </a:t>
            </a:r>
            <a:r>
              <a:rPr lang="en-US" sz="2800" dirty="0" err="1"/>
              <a:t>tasarlanmış</a:t>
            </a:r>
            <a:r>
              <a:rPr lang="en-US" sz="2800" dirty="0"/>
              <a:t> </a:t>
            </a:r>
            <a:r>
              <a:rPr lang="en-US" sz="2800" dirty="0" err="1"/>
              <a:t>araçlar</a:t>
            </a:r>
            <a:r>
              <a:rPr lang="en-US" sz="2800" dirty="0"/>
              <a:t> </a:t>
            </a:r>
            <a:r>
              <a:rPr lang="en-US" sz="2800" dirty="0" err="1"/>
              <a:t>kullanır</a:t>
            </a:r>
            <a:r>
              <a:rPr lang="en-US" sz="2800" dirty="0"/>
              <a:t>
Viral </a:t>
            </a:r>
            <a:r>
              <a:rPr lang="en-US" sz="2800" dirty="0" err="1"/>
              <a:t>pazarlama</a:t>
            </a:r>
            <a:r>
              <a:rPr lang="en-US" sz="2800" dirty="0"/>
              <a:t>: </a:t>
            </a:r>
            <a:r>
              <a:rPr lang="en-US" sz="2800" dirty="0" err="1"/>
              <a:t>Bireyleri</a:t>
            </a:r>
            <a:r>
              <a:rPr lang="en-US" sz="2800" dirty="0"/>
              <a:t> </a:t>
            </a:r>
            <a:r>
              <a:rPr lang="en-US" sz="2800" dirty="0" err="1"/>
              <a:t>bir</a:t>
            </a:r>
            <a:r>
              <a:rPr lang="en-US" sz="2800" dirty="0"/>
              <a:t> </a:t>
            </a:r>
            <a:r>
              <a:rPr lang="en-US" sz="2800" dirty="0" err="1"/>
              <a:t>pazarlama</a:t>
            </a:r>
            <a:r>
              <a:rPr lang="en-US" sz="2800" dirty="0"/>
              <a:t> </a:t>
            </a:r>
            <a:r>
              <a:rPr lang="en-US" sz="2800" dirty="0" err="1"/>
              <a:t>mesajını</a:t>
            </a:r>
            <a:r>
              <a:rPr lang="en-US" sz="2800" dirty="0"/>
              <a:t> </a:t>
            </a:r>
            <a:r>
              <a:rPr lang="en-US" sz="2800" dirty="0" err="1"/>
              <a:t>başkalarına</a:t>
            </a:r>
            <a:r>
              <a:rPr lang="en-US" sz="2800" dirty="0"/>
              <a:t> </a:t>
            </a:r>
            <a:r>
              <a:rPr lang="en-US" sz="2800" dirty="0" err="1"/>
              <a:t>iletmeye</a:t>
            </a:r>
            <a:r>
              <a:rPr lang="en-US" sz="2800" dirty="0"/>
              <a:t> </a:t>
            </a:r>
            <a:r>
              <a:rPr lang="en-US" sz="2800" dirty="0" err="1"/>
              <a:t>teşvik</a:t>
            </a:r>
            <a:r>
              <a:rPr lang="en-US" sz="2800" dirty="0"/>
              <a:t> </a:t>
            </a:r>
            <a:r>
              <a:rPr lang="en-US" sz="2800" dirty="0" err="1"/>
              <a:t>eden</a:t>
            </a:r>
            <a:r>
              <a:rPr lang="en-US" sz="2800" dirty="0"/>
              <a:t> </a:t>
            </a:r>
            <a:r>
              <a:rPr lang="en-US" sz="2800" dirty="0" err="1"/>
              <a:t>bir</a:t>
            </a:r>
            <a:r>
              <a:rPr lang="en-US" sz="2800" dirty="0"/>
              <a:t> </a:t>
            </a:r>
            <a:r>
              <a:rPr lang="en-US" sz="2800" dirty="0" err="1"/>
              <a:t>sosyal</a:t>
            </a:r>
            <a:r>
              <a:rPr lang="en-US" sz="2800" dirty="0"/>
              <a:t> </a:t>
            </a:r>
            <a:r>
              <a:rPr lang="en-US" sz="2800" dirty="0" err="1"/>
              <a:t>medya</a:t>
            </a:r>
            <a:r>
              <a:rPr lang="en-US" sz="2800" dirty="0"/>
              <a:t> </a:t>
            </a:r>
            <a:r>
              <a:rPr lang="en-US" sz="2800" dirty="0" err="1"/>
              <a:t>pazarlaması</a:t>
            </a:r>
            <a:r>
              <a:rPr lang="en-US" sz="2800" dirty="0"/>
              <a:t> </a:t>
            </a:r>
            <a:r>
              <a:rPr lang="en-US" sz="2800" dirty="0" err="1"/>
              <a:t>yaklaşımı</a:t>
            </a:r>
            <a:endParaRPr lang="en-US" sz="2700" dirty="0"/>
          </a:p>
        </p:txBody>
      </p:sp>
      <p:sp>
        <p:nvSpPr>
          <p:cNvPr id="3" name="Title 2"/>
          <p:cNvSpPr>
            <a:spLocks noGrp="1"/>
          </p:cNvSpPr>
          <p:nvPr>
            <p:ph type="title"/>
          </p:nvPr>
        </p:nvSpPr>
        <p:spPr>
          <a:xfrm>
            <a:off x="762000" y="290459"/>
            <a:ext cx="8026400" cy="527837"/>
          </a:xfrm>
        </p:spPr>
        <p:txBody>
          <a:bodyPr/>
          <a:lstStyle/>
          <a:p>
            <a:r>
              <a:rPr lang="en-US" altLang="en-US" sz="4000"/>
              <a:t>Sosyal Medya Pazarlaması,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13695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066800"/>
            <a:ext cx="8415338" cy="5556906"/>
          </a:xfrm>
        </p:spPr>
        <p:txBody>
          <a:bodyPr/>
          <a:lstStyle/>
          <a:p>
            <a:r>
              <a:rPr lang="en-US" sz="2600" dirty="0" err="1"/>
              <a:t>Ücretli</a:t>
            </a:r>
            <a:r>
              <a:rPr lang="en-US" sz="2600" dirty="0"/>
              <a:t> </a:t>
            </a:r>
            <a:r>
              <a:rPr lang="en-US" sz="2600" dirty="0" err="1"/>
              <a:t>medya</a:t>
            </a:r>
            <a:r>
              <a:rPr lang="en-US" sz="2600" dirty="0"/>
              <a:t> </a:t>
            </a:r>
            <a:r>
              <a:rPr lang="en-US" sz="2600" dirty="0" err="1"/>
              <a:t>pazarlaması</a:t>
            </a:r>
            <a:r>
              <a:rPr lang="en-US" sz="2600" dirty="0"/>
              <a:t>: Bir </a:t>
            </a:r>
            <a:r>
              <a:rPr lang="en-US" sz="2600" dirty="0" err="1"/>
              <a:t>kuruluşun</a:t>
            </a:r>
            <a:r>
              <a:rPr lang="en-US" sz="2600" dirty="0"/>
              <a:t> </a:t>
            </a:r>
            <a:r>
              <a:rPr lang="en-US" sz="2600" dirty="0" err="1"/>
              <a:t>görüntülü</a:t>
            </a:r>
            <a:r>
              <a:rPr lang="en-US" sz="2600" dirty="0"/>
              <a:t> </a:t>
            </a:r>
            <a:r>
              <a:rPr lang="en-US" sz="2600" dirty="0" err="1"/>
              <a:t>reklamlarını</a:t>
            </a:r>
            <a:r>
              <a:rPr lang="en-US" sz="2600" dirty="0"/>
              <a:t> </a:t>
            </a:r>
            <a:r>
              <a:rPr lang="en-US" sz="2600" dirty="0" err="1"/>
              <a:t>veya</a:t>
            </a:r>
            <a:r>
              <a:rPr lang="en-US" sz="2600" dirty="0"/>
              <a:t> </a:t>
            </a:r>
            <a:r>
              <a:rPr lang="en-US" sz="2600" dirty="0" err="1"/>
              <a:t>sponsorlu</a:t>
            </a:r>
            <a:r>
              <a:rPr lang="en-US" sz="2600" dirty="0"/>
              <a:t> </a:t>
            </a:r>
            <a:r>
              <a:rPr lang="en-US" sz="2600" dirty="0" err="1"/>
              <a:t>mesajlarını</a:t>
            </a:r>
            <a:r>
              <a:rPr lang="en-US" sz="2600" dirty="0"/>
              <a:t> </a:t>
            </a:r>
            <a:r>
              <a:rPr lang="en-US" sz="2600" dirty="0" err="1"/>
              <a:t>sosyal</a:t>
            </a:r>
            <a:r>
              <a:rPr lang="en-US" sz="2600" dirty="0"/>
              <a:t> </a:t>
            </a:r>
            <a:r>
              <a:rPr lang="en-US" sz="2600" dirty="0" err="1"/>
              <a:t>medya</a:t>
            </a:r>
            <a:r>
              <a:rPr lang="en-US" sz="2600" dirty="0"/>
              <a:t> </a:t>
            </a:r>
            <a:r>
              <a:rPr lang="en-US" sz="2600" dirty="0" err="1"/>
              <a:t>kullanıcılarına</a:t>
            </a:r>
            <a:r>
              <a:rPr lang="en-US" sz="2600" dirty="0"/>
              <a:t> </a:t>
            </a:r>
            <a:r>
              <a:rPr lang="en-US" sz="2600" dirty="0" err="1"/>
              <a:t>yayınlaması</a:t>
            </a:r>
            <a:r>
              <a:rPr lang="en-US" sz="2600" dirty="0"/>
              <a:t> için </a:t>
            </a:r>
            <a:r>
              <a:rPr lang="en-US" sz="2600" dirty="0" err="1"/>
              <a:t>üçüncü</a:t>
            </a:r>
            <a:r>
              <a:rPr lang="en-US" sz="2600" dirty="0"/>
              <a:t> </a:t>
            </a:r>
            <a:r>
              <a:rPr lang="en-US" sz="2600" dirty="0" err="1"/>
              <a:t>bir</a:t>
            </a:r>
            <a:r>
              <a:rPr lang="en-US" sz="2600" dirty="0"/>
              <a:t> </a:t>
            </a:r>
            <a:r>
              <a:rPr lang="en-US" sz="2600" dirty="0" err="1"/>
              <a:t>tarafa</a:t>
            </a:r>
            <a:r>
              <a:rPr lang="en-US" sz="2600" dirty="0"/>
              <a:t> </a:t>
            </a:r>
            <a:r>
              <a:rPr lang="en-US" sz="2600" dirty="0" err="1"/>
              <a:t>ödeme</a:t>
            </a:r>
            <a:r>
              <a:rPr lang="en-US" sz="2600" dirty="0"/>
              <a:t> </a:t>
            </a:r>
            <a:r>
              <a:rPr lang="en-US" sz="2600" dirty="0" err="1"/>
              <a:t>yapmayı</a:t>
            </a:r>
            <a:r>
              <a:rPr lang="en-US" sz="2600" dirty="0"/>
              <a:t> </a:t>
            </a:r>
            <a:r>
              <a:rPr lang="en-US" sz="2600" dirty="0" err="1"/>
              <a:t>içerir</a:t>
            </a:r>
            <a:r>
              <a:rPr lang="en-US" sz="2600" dirty="0"/>
              <a:t>
Bir </a:t>
            </a:r>
            <a:r>
              <a:rPr lang="en-US" sz="2600" dirty="0" err="1"/>
              <a:t>sosyal</a:t>
            </a:r>
            <a:r>
              <a:rPr lang="en-US" sz="2600" dirty="0"/>
              <a:t> </a:t>
            </a:r>
            <a:r>
              <a:rPr lang="en-US" sz="2600" dirty="0" err="1"/>
              <a:t>ağdaki</a:t>
            </a:r>
            <a:r>
              <a:rPr lang="en-US" sz="2600" dirty="0"/>
              <a:t> </a:t>
            </a:r>
            <a:r>
              <a:rPr lang="en-US" sz="2600" dirty="0" err="1"/>
              <a:t>belirli</a:t>
            </a:r>
            <a:r>
              <a:rPr lang="en-US" sz="2600" dirty="0"/>
              <a:t> </a:t>
            </a:r>
            <a:r>
              <a:rPr lang="en-US" sz="2600" dirty="0" err="1"/>
              <a:t>demografik</a:t>
            </a:r>
            <a:r>
              <a:rPr lang="en-US" sz="2600" dirty="0"/>
              <a:t> </a:t>
            </a:r>
            <a:r>
              <a:rPr lang="en-US" sz="2600" dirty="0" err="1"/>
              <a:t>gruplara</a:t>
            </a:r>
            <a:r>
              <a:rPr lang="en-US" sz="2600" dirty="0"/>
              <a:t> </a:t>
            </a:r>
            <a:r>
              <a:rPr lang="en-US" sz="2600" dirty="0" err="1"/>
              <a:t>hedeflenebilir</a:t>
            </a:r>
            <a:r>
              <a:rPr lang="en-US" sz="2600" dirty="0"/>
              <a:t>
</a:t>
            </a:r>
            <a:r>
              <a:rPr lang="en-US" sz="2600" dirty="0" err="1"/>
              <a:t>Ücretli</a:t>
            </a:r>
            <a:r>
              <a:rPr lang="en-US" sz="2600" dirty="0"/>
              <a:t> </a:t>
            </a:r>
            <a:r>
              <a:rPr lang="en-US" sz="2600" dirty="0" err="1"/>
              <a:t>medya</a:t>
            </a:r>
            <a:r>
              <a:rPr lang="en-US" sz="2600" dirty="0"/>
              <a:t> için </a:t>
            </a:r>
            <a:r>
              <a:rPr lang="en-US" sz="2600" dirty="0" err="1"/>
              <a:t>iki</a:t>
            </a:r>
            <a:r>
              <a:rPr lang="en-US" sz="2600" dirty="0"/>
              <a:t> </a:t>
            </a:r>
            <a:r>
              <a:rPr lang="en-US" sz="2600" dirty="0" err="1"/>
              <a:t>yaygın</a:t>
            </a:r>
            <a:r>
              <a:rPr lang="en-US" sz="2600" dirty="0"/>
              <a:t> </a:t>
            </a:r>
            <a:r>
              <a:rPr lang="en-US" sz="2600" dirty="0" err="1"/>
              <a:t>ücretlendirme</a:t>
            </a:r>
            <a:r>
              <a:rPr lang="en-US" sz="2600" dirty="0"/>
              <a:t> </a:t>
            </a:r>
            <a:r>
              <a:rPr lang="en-US" sz="2600" dirty="0" err="1"/>
              <a:t>yöntemi</a:t>
            </a:r>
            <a:r>
              <a:rPr lang="en-US" sz="2600" dirty="0"/>
              <a:t>: 
Bin </a:t>
            </a:r>
            <a:r>
              <a:rPr lang="en-US" sz="2600" dirty="0" err="1"/>
              <a:t>gösterim</a:t>
            </a:r>
            <a:r>
              <a:rPr lang="en-US" sz="2600" dirty="0"/>
              <a:t> </a:t>
            </a:r>
            <a:r>
              <a:rPr lang="en-US" sz="2600" dirty="0" err="1"/>
              <a:t>başına</a:t>
            </a:r>
            <a:r>
              <a:rPr lang="en-US" sz="2600" dirty="0"/>
              <a:t> </a:t>
            </a:r>
            <a:r>
              <a:rPr lang="en-US" sz="2600" dirty="0" err="1"/>
              <a:t>maliyet</a:t>
            </a:r>
            <a:r>
              <a:rPr lang="en-US" sz="2600" dirty="0"/>
              <a:t> (BGBM): </a:t>
            </a:r>
            <a:r>
              <a:rPr lang="en-US" sz="2600" dirty="0" err="1"/>
              <a:t>Tıklanıp</a:t>
            </a:r>
            <a:r>
              <a:rPr lang="en-US" sz="2600" dirty="0"/>
              <a:t> </a:t>
            </a:r>
            <a:r>
              <a:rPr lang="en-US" sz="2600" dirty="0" err="1"/>
              <a:t>tıklanmadığına</a:t>
            </a:r>
            <a:r>
              <a:rPr lang="en-US" sz="2600" dirty="0"/>
              <a:t> </a:t>
            </a:r>
            <a:r>
              <a:rPr lang="en-US" sz="2600" dirty="0" err="1"/>
              <a:t>bakılmaksızın</a:t>
            </a:r>
            <a:r>
              <a:rPr lang="en-US" sz="2600" dirty="0"/>
              <a:t> 1.000 </a:t>
            </a:r>
            <a:r>
              <a:rPr lang="en-US" sz="2600" dirty="0" err="1"/>
              <a:t>gösterim</a:t>
            </a:r>
            <a:r>
              <a:rPr lang="en-US" sz="2600" dirty="0"/>
              <a:t> </a:t>
            </a:r>
            <a:r>
              <a:rPr lang="en-US" sz="2600" dirty="0" err="1"/>
              <a:t>başına</a:t>
            </a:r>
            <a:r>
              <a:rPr lang="en-US" sz="2600" dirty="0"/>
              <a:t> </a:t>
            </a:r>
            <a:r>
              <a:rPr lang="en-US" sz="2600" dirty="0" err="1"/>
              <a:t>sabit</a:t>
            </a:r>
            <a:r>
              <a:rPr lang="en-US" sz="2600" dirty="0"/>
              <a:t> </a:t>
            </a:r>
            <a:r>
              <a:rPr lang="en-US" sz="2600" dirty="0" err="1"/>
              <a:t>bir</a:t>
            </a:r>
            <a:r>
              <a:rPr lang="en-US" sz="2600" dirty="0"/>
              <a:t> </a:t>
            </a:r>
            <a:r>
              <a:rPr lang="en-US" sz="2600" dirty="0" err="1"/>
              <a:t>ücret</a:t>
            </a:r>
            <a:r>
              <a:rPr lang="en-US" sz="2600" dirty="0"/>
              <a:t> (</a:t>
            </a:r>
            <a:r>
              <a:rPr lang="en-US" sz="2600" dirty="0" err="1"/>
              <a:t>bir</a:t>
            </a:r>
            <a:r>
              <a:rPr lang="en-US" sz="2600" dirty="0"/>
              <a:t> </a:t>
            </a:r>
            <a:r>
              <a:rPr lang="en-US" sz="2600" dirty="0" err="1"/>
              <a:t>reklamın</a:t>
            </a:r>
            <a:r>
              <a:rPr lang="en-US" sz="2600" dirty="0"/>
              <a:t> </a:t>
            </a:r>
            <a:r>
              <a:rPr lang="en-US" sz="2600" dirty="0" err="1"/>
              <a:t>görüntülenme</a:t>
            </a:r>
            <a:r>
              <a:rPr lang="en-US" sz="2600" dirty="0"/>
              <a:t> </a:t>
            </a:r>
            <a:r>
              <a:rPr lang="en-US" sz="2600" dirty="0" err="1"/>
              <a:t>sayısının</a:t>
            </a:r>
            <a:r>
              <a:rPr lang="en-US" sz="2600" dirty="0"/>
              <a:t> </a:t>
            </a:r>
            <a:r>
              <a:rPr lang="en-US" sz="2600" dirty="0" err="1"/>
              <a:t>bir</a:t>
            </a:r>
            <a:r>
              <a:rPr lang="en-US" sz="2600" dirty="0"/>
              <a:t> </a:t>
            </a:r>
            <a:r>
              <a:rPr lang="en-US" sz="2600" dirty="0" err="1"/>
              <a:t>ölçüsü</a:t>
            </a:r>
            <a:r>
              <a:rPr lang="en-US" sz="2600" dirty="0"/>
              <a:t>) </a:t>
            </a:r>
            <a:r>
              <a:rPr lang="en-US" sz="2600" dirty="0" err="1"/>
              <a:t>üzerinden</a:t>
            </a:r>
            <a:r>
              <a:rPr lang="en-US" sz="2600" dirty="0"/>
              <a:t> </a:t>
            </a:r>
            <a:r>
              <a:rPr lang="en-US" sz="2600" dirty="0" err="1"/>
              <a:t>faturalandırılır</a:t>
            </a:r>
            <a:r>
              <a:rPr lang="en-US" sz="2600" dirty="0"/>
              <a:t>
</a:t>
            </a:r>
            <a:r>
              <a:rPr lang="en-US" sz="2600" dirty="0" err="1"/>
              <a:t>Tıklama</a:t>
            </a:r>
            <a:r>
              <a:rPr lang="en-US" sz="2600" dirty="0"/>
              <a:t> </a:t>
            </a:r>
            <a:r>
              <a:rPr lang="en-US" sz="2600" dirty="0" err="1"/>
              <a:t>başına</a:t>
            </a:r>
            <a:r>
              <a:rPr lang="en-US" sz="2600" dirty="0"/>
              <a:t> </a:t>
            </a:r>
            <a:r>
              <a:rPr lang="en-US" sz="2600" dirty="0" err="1"/>
              <a:t>maliyet</a:t>
            </a:r>
            <a:r>
              <a:rPr lang="en-US" sz="2600" dirty="0"/>
              <a:t>: </a:t>
            </a:r>
            <a:r>
              <a:rPr lang="en-US" sz="2600" dirty="0" err="1"/>
              <a:t>Tıklama</a:t>
            </a:r>
            <a:r>
              <a:rPr lang="en-US" sz="2600" dirty="0"/>
              <a:t> </a:t>
            </a:r>
            <a:r>
              <a:rPr lang="en-US" sz="2600" dirty="0" err="1"/>
              <a:t>başına</a:t>
            </a:r>
            <a:r>
              <a:rPr lang="en-US" sz="2600" dirty="0"/>
              <a:t> </a:t>
            </a:r>
            <a:r>
              <a:rPr lang="en-US" sz="2600" dirty="0" err="1"/>
              <a:t>faturalandırılır</a:t>
            </a:r>
            <a:r>
              <a:rPr lang="en-US" sz="2600" dirty="0"/>
              <a:t>; Bir </a:t>
            </a:r>
            <a:r>
              <a:rPr lang="en-US" sz="2600" dirty="0" err="1"/>
              <a:t>reklam</a:t>
            </a:r>
            <a:r>
              <a:rPr lang="en-US" sz="2600" dirty="0"/>
              <a:t> </a:t>
            </a:r>
            <a:r>
              <a:rPr lang="en-US" sz="2600" dirty="0" err="1"/>
              <a:t>görüntülendiğinde</a:t>
            </a:r>
            <a:r>
              <a:rPr lang="en-US" sz="2600" dirty="0"/>
              <a:t> </a:t>
            </a:r>
            <a:r>
              <a:rPr lang="en-US" sz="2600" dirty="0" err="1"/>
              <a:t>ancak</a:t>
            </a:r>
            <a:r>
              <a:rPr lang="en-US" sz="2600" dirty="0"/>
              <a:t> </a:t>
            </a:r>
            <a:r>
              <a:rPr lang="en-US" sz="2600" dirty="0" err="1"/>
              <a:t>tıklanmadığında</a:t>
            </a:r>
            <a:r>
              <a:rPr lang="en-US" sz="2600" dirty="0"/>
              <a:t> </a:t>
            </a:r>
            <a:r>
              <a:rPr lang="en-US" sz="2600" dirty="0" err="1"/>
              <a:t>ücret</a:t>
            </a:r>
            <a:r>
              <a:rPr lang="en-US" sz="2600" dirty="0"/>
              <a:t> </a:t>
            </a:r>
            <a:r>
              <a:rPr lang="en-US" sz="2600" dirty="0" err="1"/>
              <a:t>alınmaz</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a:t>Ücretli Medya Pazarlaması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0875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428631"/>
          </a:xfrm>
        </p:spPr>
        <p:txBody>
          <a:bodyPr/>
          <a:lstStyle/>
          <a:p>
            <a:r>
              <a:rPr lang="en-US" sz="2800"/>
              <a:t>Kazanılmış medya: Bir kuruluşun basın ve sosyal medyada bahsetmeler, olumlu çevrimiçi derecelendirmeler ve incelemeler, tweet'ler ve retweet'ler ve yeniden gönderiler (veya "paylaşımlar") yoluyla elde ettiği medya görünürlüğünü ifade eder
Kazanılan medyanın hacmi, bir kuruluşun Google'ın arama motorunda ne kadar üst sıralarda yer aldığını belirleyen bir faktördür</a:t>
            </a:r>
            <a:endParaRPr lang="en-US" dirty="0"/>
          </a:p>
        </p:txBody>
      </p:sp>
      <p:sp>
        <p:nvSpPr>
          <p:cNvPr id="3" name="Title 2"/>
          <p:cNvSpPr>
            <a:spLocks noGrp="1"/>
          </p:cNvSpPr>
          <p:nvPr>
            <p:ph type="title"/>
          </p:nvPr>
        </p:nvSpPr>
        <p:spPr>
          <a:xfrm>
            <a:off x="762000" y="290459"/>
            <a:ext cx="8026400" cy="527837"/>
          </a:xfrm>
        </p:spPr>
        <p:txBody>
          <a:bodyPr/>
          <a:lstStyle/>
          <a:p>
            <a:r>
              <a:rPr lang="en-US" sz="4000"/>
              <a:t>Kazanılmış Medya</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325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4331" y="1023430"/>
            <a:ext cx="8415338" cy="5426101"/>
          </a:xfrm>
        </p:spPr>
        <p:txBody>
          <a:bodyPr/>
          <a:lstStyle/>
          <a:p>
            <a:r>
              <a:rPr lang="en-US" sz="2800"/>
              <a:t>İşverenler işe alırken iş adaylarının sosyal medya profillerine bakar
Şirketler, aşağıdaki gönderileri yayınlayan adayları reddedebilir:
İçki veya uyuşturucu kullanımları hakkında bilgi
Kışkırtıcı veya uygunsuz fotoğraflar
Irk, cinsiyet ile ilgili ayrımcı ifadeler,</a:t>
            </a:r>
            <a:br>
              <a:rPr lang="en-US" sz="2800"/>
            </a:br>
            <a:r>
              <a:rPr lang="en-US" sz="2800"/>
              <a:t>veya din 
Gizli bilgi
İş arayan adaylar sosyal medyadaki varlıklarını gözden geçirmelidir</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a:t>İşe Alım Sürecinde Sosyal Medya</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9726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744102"/>
          </a:xfrm>
        </p:spPr>
        <p:txBody>
          <a:bodyPr/>
          <a:lstStyle/>
          <a:p>
            <a:r>
              <a:rPr lang="en-US" sz="2800" dirty="0" err="1"/>
              <a:t>Tüketiciler</a:t>
            </a:r>
            <a:r>
              <a:rPr lang="en-US" sz="2800" dirty="0"/>
              <a:t> </a:t>
            </a:r>
            <a:r>
              <a:rPr lang="en-US" sz="2800" dirty="0" err="1"/>
              <a:t>sosyal</a:t>
            </a:r>
            <a:r>
              <a:rPr lang="en-US" sz="2800" dirty="0"/>
              <a:t> </a:t>
            </a:r>
            <a:r>
              <a:rPr lang="en-US" sz="2800" dirty="0" err="1"/>
              <a:t>ağları</a:t>
            </a:r>
            <a:r>
              <a:rPr lang="en-US" sz="2800" dirty="0"/>
              <a:t> </a:t>
            </a:r>
            <a:r>
              <a:rPr lang="en-US" sz="2800" dirty="0" err="1"/>
              <a:t>şu</a:t>
            </a:r>
            <a:r>
              <a:rPr lang="en-US" sz="2800" dirty="0"/>
              <a:t> </a:t>
            </a:r>
            <a:r>
              <a:rPr lang="en-US" sz="2800" dirty="0" err="1"/>
              <a:t>amaçlarla</a:t>
            </a:r>
            <a:r>
              <a:rPr lang="en-US" sz="2800" dirty="0"/>
              <a:t> </a:t>
            </a:r>
            <a:r>
              <a:rPr lang="en-US" sz="2800" dirty="0" err="1"/>
              <a:t>kullanır</a:t>
            </a:r>
            <a:r>
              <a:rPr lang="en-US" sz="2800" dirty="0"/>
              <a:t>: 
Hem iyi hem de </a:t>
            </a:r>
            <a:r>
              <a:rPr lang="en-US" sz="2800" dirty="0" err="1"/>
              <a:t>kötü</a:t>
            </a:r>
            <a:r>
              <a:rPr lang="en-US" sz="2800" dirty="0"/>
              <a:t> </a:t>
            </a:r>
            <a:r>
              <a:rPr lang="en-US" sz="2800" dirty="0" err="1"/>
              <a:t>deneyimlerini</a:t>
            </a:r>
            <a:r>
              <a:rPr lang="en-US" sz="2800" dirty="0"/>
              <a:t> </a:t>
            </a:r>
            <a:r>
              <a:rPr lang="en-US" sz="2800" dirty="0" err="1"/>
              <a:t>başkalarıyla</a:t>
            </a:r>
            <a:r>
              <a:rPr lang="en-US" sz="2800" dirty="0"/>
              <a:t> </a:t>
            </a:r>
            <a:r>
              <a:rPr lang="en-US" sz="2800" dirty="0" err="1"/>
              <a:t>paylaşın</a:t>
            </a:r>
            <a:r>
              <a:rPr lang="en-US" sz="2800" dirty="0"/>
              <a:t>
</a:t>
            </a:r>
            <a:r>
              <a:rPr lang="en-US" sz="2800" dirty="0" err="1"/>
              <a:t>Ürünlerin</a:t>
            </a:r>
            <a:r>
              <a:rPr lang="en-US" sz="2800" dirty="0"/>
              <a:t> </a:t>
            </a:r>
            <a:r>
              <a:rPr lang="en-US" sz="2800" dirty="0" err="1"/>
              <a:t>nasıl</a:t>
            </a:r>
            <a:r>
              <a:rPr lang="en-US" sz="2800" dirty="0"/>
              <a:t> </a:t>
            </a:r>
            <a:r>
              <a:rPr lang="en-US" sz="2800" dirty="0" err="1"/>
              <a:t>daha</a:t>
            </a:r>
            <a:r>
              <a:rPr lang="en-US" sz="2800" dirty="0"/>
              <a:t> </a:t>
            </a:r>
            <a:r>
              <a:rPr lang="en-US" sz="2800" dirty="0" err="1"/>
              <a:t>etkili</a:t>
            </a:r>
            <a:r>
              <a:rPr lang="en-US" sz="2800" dirty="0"/>
              <a:t> </a:t>
            </a:r>
            <a:r>
              <a:rPr lang="en-US" sz="2800" dirty="0" err="1"/>
              <a:t>kullanılacağı</a:t>
            </a:r>
            <a:r>
              <a:rPr lang="en-US" sz="2800" dirty="0"/>
              <a:t> </a:t>
            </a:r>
            <a:r>
              <a:rPr lang="en-US" sz="2800" dirty="0" err="1"/>
              <a:t>konusunda</a:t>
            </a:r>
            <a:r>
              <a:rPr lang="en-US" sz="2800" dirty="0"/>
              <a:t> </a:t>
            </a:r>
            <a:r>
              <a:rPr lang="en-US" sz="2800" dirty="0" err="1"/>
              <a:t>tavsiye</a:t>
            </a:r>
            <a:r>
              <a:rPr lang="en-US" sz="2800" dirty="0"/>
              <a:t> </a:t>
            </a:r>
            <a:r>
              <a:rPr lang="en-US" sz="2800" dirty="0" err="1"/>
              <a:t>alın</a:t>
            </a:r>
            <a:r>
              <a:rPr lang="en-US" sz="2800" dirty="0"/>
              <a:t>
</a:t>
            </a:r>
            <a:r>
              <a:rPr lang="en-US" sz="2800" dirty="0" err="1"/>
              <a:t>Kuruluşlar</a:t>
            </a:r>
            <a:r>
              <a:rPr lang="en-US" sz="2800" dirty="0"/>
              <a:t> </a:t>
            </a:r>
            <a:r>
              <a:rPr lang="en-US" sz="2800" dirty="0" err="1"/>
              <a:t>sosyal</a:t>
            </a:r>
            <a:r>
              <a:rPr lang="en-US" sz="2800" dirty="0"/>
              <a:t> </a:t>
            </a:r>
            <a:r>
              <a:rPr lang="en-US" sz="2800" dirty="0" err="1"/>
              <a:t>medyayı</a:t>
            </a:r>
            <a:r>
              <a:rPr lang="en-US" sz="2800" dirty="0"/>
              <a:t> </a:t>
            </a:r>
            <a:r>
              <a:rPr lang="en-US" sz="2800" dirty="0" err="1"/>
              <a:t>izlemedikçe</a:t>
            </a:r>
            <a:r>
              <a:rPr lang="en-US" sz="2800" dirty="0"/>
              <a:t>, </a:t>
            </a:r>
            <a:r>
              <a:rPr lang="en-US" sz="2800" dirty="0" err="1"/>
              <a:t>müşteriler</a:t>
            </a:r>
            <a:r>
              <a:rPr lang="en-US" sz="2800" dirty="0"/>
              <a:t> </a:t>
            </a:r>
            <a:r>
              <a:rPr lang="en-US" sz="2800" dirty="0" err="1"/>
              <a:t>soruları</a:t>
            </a:r>
            <a:r>
              <a:rPr lang="en-US" sz="2800" dirty="0"/>
              <a:t> </a:t>
            </a:r>
            <a:r>
              <a:rPr lang="en-US" sz="2800" dirty="0" err="1"/>
              <a:t>ve</a:t>
            </a:r>
            <a:r>
              <a:rPr lang="en-US" sz="2800" dirty="0"/>
              <a:t> </a:t>
            </a:r>
            <a:r>
              <a:rPr lang="en-US" sz="2800" dirty="0" err="1"/>
              <a:t>sorunları</a:t>
            </a:r>
            <a:r>
              <a:rPr lang="en-US" sz="2800" dirty="0"/>
              <a:t> </a:t>
            </a:r>
            <a:r>
              <a:rPr lang="en-US" sz="2800" dirty="0" err="1"/>
              <a:t>kendi</a:t>
            </a:r>
            <a:r>
              <a:rPr lang="en-US" sz="2800" dirty="0"/>
              <a:t> </a:t>
            </a:r>
            <a:r>
              <a:rPr lang="en-US" sz="2800" dirty="0" err="1"/>
              <a:t>başlarına</a:t>
            </a:r>
            <a:r>
              <a:rPr lang="en-US" sz="2800" dirty="0"/>
              <a:t> </a:t>
            </a:r>
            <a:r>
              <a:rPr lang="en-US" sz="2800" dirty="0" err="1"/>
              <a:t>çözmek</a:t>
            </a:r>
            <a:r>
              <a:rPr lang="en-US" sz="2800" dirty="0"/>
              <a:t> </a:t>
            </a:r>
            <a:r>
              <a:rPr lang="en-US" sz="2800" dirty="0" err="1"/>
              <a:t>zorunda</a:t>
            </a:r>
            <a:r>
              <a:rPr lang="en-US" sz="2800" dirty="0"/>
              <a:t> </a:t>
            </a:r>
            <a:r>
              <a:rPr lang="en-US" sz="2800" dirty="0" err="1"/>
              <a:t>kalabilir</a:t>
            </a:r>
            <a:r>
              <a:rPr lang="en-US" sz="2800" dirty="0"/>
              <a:t> </a:t>
            </a:r>
            <a:r>
              <a:rPr lang="en-US" sz="2800" dirty="0" err="1"/>
              <a:t>ve</a:t>
            </a:r>
            <a:r>
              <a:rPr lang="en-US" sz="2800" dirty="0"/>
              <a:t> </a:t>
            </a:r>
            <a:r>
              <a:rPr lang="en-US" sz="2800" dirty="0" err="1"/>
              <a:t>bu</a:t>
            </a:r>
            <a:r>
              <a:rPr lang="en-US" sz="2800" dirty="0"/>
              <a:t> da </a:t>
            </a:r>
            <a:r>
              <a:rPr lang="en-US" sz="2800" dirty="0" err="1"/>
              <a:t>müşteri</a:t>
            </a:r>
            <a:r>
              <a:rPr lang="en-US" sz="2800" dirty="0"/>
              <a:t> </a:t>
            </a:r>
            <a:r>
              <a:rPr lang="en-US" sz="2800" dirty="0" err="1"/>
              <a:t>kaybına</a:t>
            </a:r>
            <a:r>
              <a:rPr lang="en-US" sz="2800" dirty="0"/>
              <a:t> </a:t>
            </a:r>
            <a:r>
              <a:rPr lang="en-US" sz="2800" dirty="0" err="1"/>
              <a:t>ve</a:t>
            </a:r>
            <a:r>
              <a:rPr lang="en-US" sz="2800" dirty="0"/>
              <a:t> </a:t>
            </a:r>
            <a:r>
              <a:rPr lang="en-US" sz="2800" dirty="0" err="1"/>
              <a:t>gelecekteki</a:t>
            </a:r>
            <a:r>
              <a:rPr lang="en-US" sz="2800" dirty="0"/>
              <a:t> </a:t>
            </a:r>
            <a:r>
              <a:rPr lang="en-US" sz="2800" dirty="0" err="1"/>
              <a:t>satışlara</a:t>
            </a:r>
            <a:r>
              <a:rPr lang="en-US" sz="2800" dirty="0"/>
              <a:t> </a:t>
            </a:r>
            <a:r>
              <a:rPr lang="en-US" sz="2800" dirty="0" err="1"/>
              <a:t>yol</a:t>
            </a:r>
            <a:r>
              <a:rPr lang="en-US" sz="2800" dirty="0"/>
              <a:t> </a:t>
            </a:r>
            <a:r>
              <a:rPr lang="en-US" sz="2800" dirty="0" err="1"/>
              <a:t>açabilir</a:t>
            </a:r>
            <a:endParaRPr lang="en-US" dirty="0"/>
          </a:p>
        </p:txBody>
      </p:sp>
      <p:sp>
        <p:nvSpPr>
          <p:cNvPr id="3" name="Title 2"/>
          <p:cNvSpPr>
            <a:spLocks noGrp="1"/>
          </p:cNvSpPr>
          <p:nvPr>
            <p:ph type="title"/>
          </p:nvPr>
        </p:nvSpPr>
        <p:spPr>
          <a:xfrm>
            <a:off x="762000" y="133941"/>
            <a:ext cx="8026400" cy="840871"/>
          </a:xfrm>
        </p:spPr>
        <p:txBody>
          <a:bodyPr/>
          <a:lstStyle/>
          <a:p>
            <a:r>
              <a:rPr lang="en-US" sz="3200"/>
              <a:t>Sosyal Medyayı Kullanarak Müşteri Hizmetlerini İyileştirme</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7826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5016758"/>
          </a:xfrm>
        </p:spPr>
        <p:txBody>
          <a:bodyPr/>
          <a:lstStyle/>
          <a:p>
            <a:r>
              <a:rPr lang="en-US" sz="2800" dirty="0" err="1"/>
              <a:t>Sosyal</a:t>
            </a:r>
            <a:r>
              <a:rPr lang="en-US" sz="2800" dirty="0"/>
              <a:t> </a:t>
            </a:r>
            <a:r>
              <a:rPr lang="en-US" sz="2800" dirty="0" err="1"/>
              <a:t>alışveriş</a:t>
            </a:r>
            <a:r>
              <a:rPr lang="en-US" sz="2800" dirty="0"/>
              <a:t> </a:t>
            </a:r>
            <a:r>
              <a:rPr lang="en-US" sz="2800" dirty="0" err="1"/>
              <a:t>platformları</a:t>
            </a:r>
            <a:r>
              <a:rPr lang="en-US" sz="2800" dirty="0"/>
              <a:t>: Son </a:t>
            </a:r>
            <a:r>
              <a:rPr lang="en-US" sz="2800" dirty="0" err="1"/>
              <a:t>derece</a:t>
            </a:r>
            <a:r>
              <a:rPr lang="en-US" sz="2800" dirty="0"/>
              <a:t> </a:t>
            </a:r>
            <a:r>
              <a:rPr lang="en-US" sz="2800" dirty="0" err="1"/>
              <a:t>popüler</a:t>
            </a:r>
            <a:r>
              <a:rPr lang="en-US" sz="2800" dirty="0"/>
              <a:t> </a:t>
            </a:r>
            <a:r>
              <a:rPr lang="en-US" sz="2800" dirty="0" err="1"/>
              <a:t>iki</a:t>
            </a:r>
            <a:r>
              <a:rPr lang="en-US" sz="2800" dirty="0"/>
              <a:t> </a:t>
            </a:r>
            <a:r>
              <a:rPr lang="en-US" sz="2800" dirty="0" err="1"/>
              <a:t>çevrimiçi</a:t>
            </a:r>
            <a:r>
              <a:rPr lang="en-US" sz="2800" dirty="0"/>
              <a:t> </a:t>
            </a:r>
            <a:r>
              <a:rPr lang="en-US" sz="2800" dirty="0" err="1"/>
              <a:t>etkinliği</a:t>
            </a:r>
            <a:r>
              <a:rPr lang="en-US" sz="2800" dirty="0"/>
              <a:t> </a:t>
            </a:r>
            <a:r>
              <a:rPr lang="en-US" sz="2800" dirty="0" err="1"/>
              <a:t>birleştirin</a:t>
            </a:r>
            <a:r>
              <a:rPr lang="en-US" sz="2800" dirty="0"/>
              <a:t>: </a:t>
            </a:r>
            <a:r>
              <a:rPr lang="en-US" sz="2800" dirty="0" err="1"/>
              <a:t>alışveriş</a:t>
            </a:r>
            <a:r>
              <a:rPr lang="en-US" sz="2800" dirty="0"/>
              <a:t> </a:t>
            </a:r>
            <a:r>
              <a:rPr lang="en-US" sz="2800" dirty="0" err="1"/>
              <a:t>ve</a:t>
            </a:r>
            <a:r>
              <a:rPr lang="en-US" sz="2800" dirty="0"/>
              <a:t> </a:t>
            </a:r>
            <a:r>
              <a:rPr lang="en-US" sz="2800" dirty="0" err="1"/>
              <a:t>sosyal</a:t>
            </a:r>
            <a:r>
              <a:rPr lang="en-US" sz="2800" dirty="0"/>
              <a:t> </a:t>
            </a:r>
            <a:r>
              <a:rPr lang="en-US" sz="2800" dirty="0" err="1"/>
              <a:t>ağ</a:t>
            </a:r>
            <a:r>
              <a:rPr lang="en-US" sz="2800" dirty="0"/>
              <a:t>
</a:t>
            </a:r>
            <a:r>
              <a:rPr lang="en-US" sz="2800" dirty="0" err="1"/>
              <a:t>Alışveriş</a:t>
            </a:r>
            <a:r>
              <a:rPr lang="en-US" sz="2800" dirty="0"/>
              <a:t> </a:t>
            </a:r>
            <a:r>
              <a:rPr lang="en-US" sz="2800" dirty="0" err="1"/>
              <a:t>yapanlar</a:t>
            </a:r>
            <a:r>
              <a:rPr lang="en-US" sz="2800" dirty="0"/>
              <a:t> </a:t>
            </a:r>
            <a:r>
              <a:rPr lang="en-US" sz="2800" dirty="0" err="1"/>
              <a:t>ve</a:t>
            </a:r>
            <a:r>
              <a:rPr lang="en-US" sz="2800" dirty="0"/>
              <a:t> </a:t>
            </a:r>
            <a:r>
              <a:rPr lang="en-US" sz="2800" dirty="0" err="1"/>
              <a:t>satıcılar</a:t>
            </a:r>
            <a:r>
              <a:rPr lang="en-US" sz="2800" dirty="0"/>
              <a:t> </a:t>
            </a:r>
            <a:r>
              <a:rPr lang="en-US" sz="2800" dirty="0" err="1"/>
              <a:t>bilgi</a:t>
            </a:r>
            <a:r>
              <a:rPr lang="en-US" sz="2800" dirty="0"/>
              <a:t> </a:t>
            </a:r>
            <a:r>
              <a:rPr lang="en-US" sz="2800" dirty="0" err="1"/>
              <a:t>paylaşır</a:t>
            </a:r>
            <a:r>
              <a:rPr lang="en-US" sz="2800" dirty="0"/>
              <a:t> </a:t>
            </a:r>
            <a:r>
              <a:rPr lang="en-US" sz="2800" dirty="0" err="1"/>
              <a:t>ve</a:t>
            </a:r>
            <a:r>
              <a:rPr lang="en-US" sz="2800" dirty="0"/>
              <a:t> </a:t>
            </a:r>
            <a:r>
              <a:rPr lang="en-US" sz="2800" dirty="0" err="1"/>
              <a:t>önerilerde</a:t>
            </a:r>
            <a:r>
              <a:rPr lang="en-US" sz="2800" dirty="0"/>
              <a:t> </a:t>
            </a:r>
            <a:r>
              <a:rPr lang="en-US" sz="2800" dirty="0" err="1"/>
              <a:t>bulunur</a:t>
            </a:r>
            <a:r>
              <a:rPr lang="en-US" sz="2800" dirty="0"/>
              <a:t> 
</a:t>
            </a:r>
            <a:r>
              <a:rPr lang="en-US" sz="2800" dirty="0" err="1"/>
              <a:t>Gelir</a:t>
            </a:r>
            <a:r>
              <a:rPr lang="en-US" sz="2800" dirty="0"/>
              <a:t> </a:t>
            </a:r>
            <a:r>
              <a:rPr lang="en-US" sz="2800" dirty="0" err="1"/>
              <a:t>şu</a:t>
            </a:r>
            <a:r>
              <a:rPr lang="en-US" sz="2800" dirty="0"/>
              <a:t> </a:t>
            </a:r>
            <a:r>
              <a:rPr lang="en-US" sz="2800" dirty="0" err="1"/>
              <a:t>yollarla</a:t>
            </a:r>
            <a:r>
              <a:rPr lang="en-US" sz="2800" dirty="0"/>
              <a:t> </a:t>
            </a:r>
            <a:r>
              <a:rPr lang="en-US" sz="2800" dirty="0" err="1"/>
              <a:t>elde</a:t>
            </a:r>
            <a:r>
              <a:rPr lang="en-US" sz="2800" dirty="0"/>
              <a:t> </a:t>
            </a:r>
            <a:r>
              <a:rPr lang="en-US" sz="2800" dirty="0" err="1"/>
              <a:t>edilir</a:t>
            </a:r>
            <a:r>
              <a:rPr lang="en-US" sz="2800" dirty="0"/>
              <a:t>:
</a:t>
            </a:r>
            <a:r>
              <a:rPr lang="en-US" sz="2800" dirty="0" err="1"/>
              <a:t>Perakendeci</a:t>
            </a:r>
            <a:r>
              <a:rPr lang="en-US" sz="2800" dirty="0"/>
              <a:t> </a:t>
            </a:r>
            <a:r>
              <a:rPr lang="en-US" sz="2800" dirty="0" err="1"/>
              <a:t>reklamcılığı</a:t>
            </a:r>
            <a:r>
              <a:rPr lang="en-US" sz="2800" dirty="0"/>
              <a:t> 
</a:t>
            </a:r>
            <a:r>
              <a:rPr lang="en-US" sz="2800" dirty="0" err="1"/>
              <a:t>Üyelerinin</a:t>
            </a:r>
            <a:r>
              <a:rPr lang="en-US" sz="2800" dirty="0"/>
              <a:t> </a:t>
            </a:r>
            <a:r>
              <a:rPr lang="en-US" sz="2800" dirty="0" err="1"/>
              <a:t>beğendiği</a:t>
            </a:r>
            <a:r>
              <a:rPr lang="en-US" sz="2800" dirty="0"/>
              <a:t> </a:t>
            </a:r>
            <a:r>
              <a:rPr lang="en-US" sz="2800" dirty="0" err="1"/>
              <a:t>ve</a:t>
            </a:r>
            <a:r>
              <a:rPr lang="en-US" sz="2800" dirty="0"/>
              <a:t> </a:t>
            </a:r>
            <a:r>
              <a:rPr lang="en-US" sz="2800" dirty="0" err="1"/>
              <a:t>beğenmediği</a:t>
            </a:r>
            <a:r>
              <a:rPr lang="en-US" sz="2800" dirty="0"/>
              <a:t> </a:t>
            </a:r>
            <a:r>
              <a:rPr lang="en-US" sz="2800" dirty="0" err="1"/>
              <a:t>şeylerle</a:t>
            </a:r>
            <a:r>
              <a:rPr lang="en-US" sz="2800" dirty="0"/>
              <a:t> </a:t>
            </a:r>
            <a:r>
              <a:rPr lang="en-US" sz="2800" dirty="0" err="1"/>
              <a:t>ilgili</a:t>
            </a:r>
            <a:r>
              <a:rPr lang="en-US" sz="2800" dirty="0"/>
              <a:t> </a:t>
            </a:r>
            <a:r>
              <a:rPr lang="en-US" sz="2800" dirty="0" err="1"/>
              <a:t>verileri</a:t>
            </a:r>
            <a:r>
              <a:rPr lang="en-US" sz="2800" dirty="0"/>
              <a:t> </a:t>
            </a:r>
            <a:r>
              <a:rPr lang="en-US" sz="2800" dirty="0" err="1"/>
              <a:t>perakendecilerle</a:t>
            </a:r>
            <a:r>
              <a:rPr lang="en-US" sz="2800" dirty="0"/>
              <a:t> </a:t>
            </a:r>
            <a:r>
              <a:rPr lang="en-US" sz="2800" dirty="0" err="1"/>
              <a:t>paylaşma</a:t>
            </a:r>
            <a:r>
              <a:rPr lang="en-US" sz="2800" dirty="0"/>
              <a:t> 
</a:t>
            </a:r>
            <a:r>
              <a:rPr lang="en-US" sz="2800" dirty="0" err="1"/>
              <a:t>Popüler</a:t>
            </a:r>
            <a:r>
              <a:rPr lang="en-US" sz="2800" dirty="0"/>
              <a:t> </a:t>
            </a:r>
            <a:r>
              <a:rPr lang="en-US" sz="2800" dirty="0" err="1"/>
              <a:t>sosyal</a:t>
            </a:r>
            <a:r>
              <a:rPr lang="en-US" sz="2800" dirty="0"/>
              <a:t> </a:t>
            </a:r>
            <a:r>
              <a:rPr lang="en-US" sz="2800" dirty="0" err="1"/>
              <a:t>alışveriş</a:t>
            </a:r>
            <a:r>
              <a:rPr lang="en-US" sz="2800" dirty="0"/>
              <a:t> </a:t>
            </a:r>
            <a:r>
              <a:rPr lang="en-US" sz="2800" dirty="0" err="1"/>
              <a:t>platformları</a:t>
            </a:r>
            <a:r>
              <a:rPr lang="en-US" sz="2800" dirty="0"/>
              <a:t>:
Fancy, </a:t>
            </a:r>
            <a:r>
              <a:rPr lang="en-US" sz="2800" dirty="0" err="1"/>
              <a:t>MyDeco</a:t>
            </a:r>
            <a:r>
              <a:rPr lang="en-US" sz="2800" dirty="0"/>
              <a:t>, Pinterest, Polyvore </a:t>
            </a:r>
            <a:r>
              <a:rPr lang="en-US" sz="2800" dirty="0" err="1"/>
              <a:t>ve</a:t>
            </a:r>
            <a:r>
              <a:rPr lang="en-US" sz="2800" dirty="0"/>
              <a:t> Wanelo</a:t>
            </a:r>
            <a:endParaRPr lang="en-US" sz="2600" dirty="0"/>
          </a:p>
        </p:txBody>
      </p:sp>
      <p:sp>
        <p:nvSpPr>
          <p:cNvPr id="3" name="Title 2"/>
          <p:cNvSpPr>
            <a:spLocks noGrp="1"/>
          </p:cNvSpPr>
          <p:nvPr>
            <p:ph type="title"/>
          </p:nvPr>
        </p:nvSpPr>
        <p:spPr>
          <a:xfrm>
            <a:off x="762000" y="290458"/>
            <a:ext cx="8026400" cy="527837"/>
          </a:xfrm>
        </p:spPr>
        <p:txBody>
          <a:bodyPr/>
          <a:lstStyle/>
          <a:p>
            <a:r>
              <a:rPr lang="en-US" sz="4000"/>
              <a:t>Sosyal Alışveriş Platformları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50463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19200"/>
            <a:ext cx="8415338" cy="4649734"/>
          </a:xfrm>
        </p:spPr>
        <p:txBody>
          <a:bodyPr/>
          <a:lstStyle/>
          <a:p>
            <a:r>
              <a:rPr lang="en-US" altLang="en-US" sz="2700"/>
              <a:t>Siber istismar: Bir elektronik iletişim cihazının kullanımına dayalı, başkalarına zarar veren ve sıkıntıya neden olan hem fiziksel hem de zihinsel her türlü kötü muamele 
Siber zorbalık: Kötü niyetli davranışın bir birey veya birey grubu için aşağılayıcı, incitici, korkutucu, kötü niyetli veya başka bir şekilde saldırgan olduğu ve önemli duygusal sıkıntıya neden olduğu bir siber istismar biçimi
Siber taciz: Bir kişi tarafından diğerine yöneltilen ve mağdurda korku ve sıkıntıya neden olan uzun vadeli istenmeyen, ısrarlı takip ve müdahaleci davranış modelinden oluşan bir siber istismar biçimi</a:t>
            </a:r>
            <a:endParaRPr lang="en-US" dirty="0"/>
          </a:p>
        </p:txBody>
      </p:sp>
      <p:sp>
        <p:nvSpPr>
          <p:cNvPr id="3" name="Title 2"/>
          <p:cNvSpPr>
            <a:spLocks noGrp="1"/>
          </p:cNvSpPr>
          <p:nvPr>
            <p:ph type="title"/>
          </p:nvPr>
        </p:nvSpPr>
        <p:spPr>
          <a:xfrm>
            <a:off x="762000" y="290459"/>
            <a:ext cx="8026400" cy="527837"/>
          </a:xfrm>
        </p:spPr>
        <p:txBody>
          <a:bodyPr/>
          <a:lstStyle/>
          <a:p>
            <a:r>
              <a:rPr lang="en-US" altLang="en-US" sz="4000"/>
              <a:t>Sosyal Ağ Etik Sorunları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810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197542"/>
            <a:ext cx="8636000" cy="4593565"/>
          </a:xfrm>
        </p:spPr>
        <p:txBody>
          <a:bodyPr/>
          <a:lstStyle/>
          <a:p>
            <a:r>
              <a:rPr lang="en-US" sz="2300" dirty="0" err="1"/>
              <a:t>Siber</a:t>
            </a:r>
            <a:r>
              <a:rPr lang="en-US" sz="2300" dirty="0"/>
              <a:t> </a:t>
            </a:r>
            <a:r>
              <a:rPr lang="en-US" sz="2300" dirty="0" err="1"/>
              <a:t>istismar</a:t>
            </a:r>
            <a:r>
              <a:rPr lang="en-US" sz="2300" dirty="0"/>
              <a:t> </a:t>
            </a:r>
            <a:r>
              <a:rPr lang="en-US" sz="2300" dirty="0" err="1"/>
              <a:t>kurbanı</a:t>
            </a:r>
            <a:r>
              <a:rPr lang="en-US" sz="2300" dirty="0"/>
              <a:t> </a:t>
            </a:r>
            <a:r>
              <a:rPr lang="en-US" sz="2300" dirty="0" err="1"/>
              <a:t>olmaktan</a:t>
            </a:r>
            <a:r>
              <a:rPr lang="en-US" sz="2300" dirty="0"/>
              <a:t> </a:t>
            </a:r>
            <a:r>
              <a:rPr lang="en-US" sz="2300" dirty="0" err="1"/>
              <a:t>kaçınmanıza</a:t>
            </a:r>
            <a:r>
              <a:rPr lang="en-US" sz="2300" dirty="0"/>
              <a:t> </a:t>
            </a:r>
            <a:r>
              <a:rPr lang="en-US" sz="2300" dirty="0" err="1"/>
              <a:t>yardımcı</a:t>
            </a:r>
            <a:r>
              <a:rPr lang="en-US" sz="2300" dirty="0"/>
              <a:t> </a:t>
            </a:r>
            <a:r>
              <a:rPr lang="en-US" sz="2300" dirty="0" err="1"/>
              <a:t>olacak</a:t>
            </a:r>
            <a:r>
              <a:rPr lang="en-US" sz="2300" dirty="0"/>
              <a:t> </a:t>
            </a:r>
            <a:r>
              <a:rPr lang="en-US" sz="2300" dirty="0" err="1"/>
              <a:t>ipuçları</a:t>
            </a:r>
            <a:r>
              <a:rPr lang="en-US" sz="2300" dirty="0"/>
              <a:t>:
Her </a:t>
            </a:r>
            <a:r>
              <a:rPr lang="en-US" sz="2300" dirty="0" err="1"/>
              <a:t>sosyal</a:t>
            </a:r>
            <a:r>
              <a:rPr lang="en-US" sz="2300" dirty="0"/>
              <a:t> </a:t>
            </a:r>
            <a:r>
              <a:rPr lang="en-US" sz="2300" dirty="0" err="1"/>
              <a:t>medya</a:t>
            </a:r>
            <a:r>
              <a:rPr lang="en-US" sz="2300" dirty="0"/>
              <a:t> </a:t>
            </a:r>
            <a:r>
              <a:rPr lang="en-US" sz="2300" dirty="0" err="1"/>
              <a:t>sitesi</a:t>
            </a:r>
            <a:r>
              <a:rPr lang="en-US" sz="2300" dirty="0"/>
              <a:t> için </a:t>
            </a:r>
            <a:r>
              <a:rPr lang="en-US" sz="2300" dirty="0" err="1"/>
              <a:t>güçlü</a:t>
            </a:r>
            <a:r>
              <a:rPr lang="en-US" sz="2300" dirty="0"/>
              <a:t> </a:t>
            </a:r>
            <a:r>
              <a:rPr lang="en-US" sz="2300" dirty="0" err="1"/>
              <a:t>ve</a:t>
            </a:r>
            <a:r>
              <a:rPr lang="en-US" sz="2300" dirty="0"/>
              <a:t> </a:t>
            </a:r>
            <a:r>
              <a:rPr lang="en-US" sz="2300" dirty="0" err="1"/>
              <a:t>benzersiz</a:t>
            </a:r>
            <a:r>
              <a:rPr lang="en-US" sz="2300" dirty="0"/>
              <a:t> </a:t>
            </a:r>
            <a:r>
              <a:rPr lang="en-US" sz="2300" dirty="0" err="1"/>
              <a:t>bir</a:t>
            </a:r>
            <a:r>
              <a:rPr lang="en-US" sz="2300" dirty="0"/>
              <a:t> </a:t>
            </a:r>
            <a:r>
              <a:rPr lang="en-US" sz="2300" dirty="0" err="1"/>
              <a:t>şifre</a:t>
            </a:r>
            <a:r>
              <a:rPr lang="en-US" sz="2300" dirty="0"/>
              <a:t> </a:t>
            </a:r>
            <a:r>
              <a:rPr lang="en-US" sz="2300" dirty="0" err="1"/>
              <a:t>kullanın</a:t>
            </a:r>
            <a:r>
              <a:rPr lang="en-US" sz="2300" dirty="0"/>
              <a:t>.
</a:t>
            </a:r>
            <a:r>
              <a:rPr lang="en-US" sz="2300" dirty="0" err="1"/>
              <a:t>Yakın</a:t>
            </a:r>
            <a:r>
              <a:rPr lang="en-US" sz="2300" dirty="0"/>
              <a:t> </a:t>
            </a:r>
            <a:r>
              <a:rPr lang="en-US" sz="2300" dirty="0" err="1"/>
              <a:t>bir</a:t>
            </a:r>
            <a:r>
              <a:rPr lang="en-US" sz="2300" dirty="0"/>
              <a:t> </a:t>
            </a:r>
            <a:r>
              <a:rPr lang="en-US" sz="2300" dirty="0" err="1"/>
              <a:t>partnerden</a:t>
            </a:r>
            <a:r>
              <a:rPr lang="en-US" sz="2300" dirty="0"/>
              <a:t> </a:t>
            </a:r>
            <a:r>
              <a:rPr lang="en-US" sz="2300" dirty="0" err="1"/>
              <a:t>ayrılırsanız</a:t>
            </a:r>
            <a:r>
              <a:rPr lang="en-US" sz="2300" dirty="0"/>
              <a:t>, </a:t>
            </a:r>
            <a:r>
              <a:rPr lang="en-US" sz="2300" dirty="0" err="1"/>
              <a:t>tüm</a:t>
            </a:r>
            <a:r>
              <a:rPr lang="en-US" sz="2300" dirty="0"/>
              <a:t> </a:t>
            </a:r>
            <a:r>
              <a:rPr lang="en-US" sz="2300" dirty="0" err="1"/>
              <a:t>hesaplarınızdaki</a:t>
            </a:r>
            <a:r>
              <a:rPr lang="en-US" sz="2300" dirty="0"/>
              <a:t> </a:t>
            </a:r>
            <a:r>
              <a:rPr lang="en-US" sz="2300" dirty="0" err="1"/>
              <a:t>şifreleri</a:t>
            </a:r>
            <a:r>
              <a:rPr lang="en-US" sz="2300" dirty="0"/>
              <a:t> </a:t>
            </a:r>
            <a:r>
              <a:rPr lang="en-US" sz="2300" dirty="0" err="1"/>
              <a:t>sıfırlayın</a:t>
            </a:r>
            <a:r>
              <a:rPr lang="en-US" sz="2300" dirty="0"/>
              <a:t>.
</a:t>
            </a:r>
            <a:r>
              <a:rPr lang="en-US" sz="2300" dirty="0" err="1"/>
              <a:t>Gizlilik</a:t>
            </a:r>
            <a:r>
              <a:rPr lang="en-US" sz="2300" dirty="0"/>
              <a:t> </a:t>
            </a:r>
            <a:r>
              <a:rPr lang="en-US" sz="2300" dirty="0" err="1"/>
              <a:t>ayarlarınızı</a:t>
            </a:r>
            <a:r>
              <a:rPr lang="en-US" sz="2300" dirty="0"/>
              <a:t> </a:t>
            </a:r>
            <a:r>
              <a:rPr lang="en-US" sz="2300" dirty="0" err="1"/>
              <a:t>kontrol</a:t>
            </a:r>
            <a:r>
              <a:rPr lang="en-US" sz="2300" dirty="0"/>
              <a:t> </a:t>
            </a:r>
            <a:r>
              <a:rPr lang="en-US" sz="2300" dirty="0" err="1"/>
              <a:t>edin</a:t>
            </a:r>
            <a:r>
              <a:rPr lang="en-US" sz="2300" dirty="0"/>
              <a:t>.
</a:t>
            </a:r>
            <a:r>
              <a:rPr lang="en-US" sz="2300" dirty="0" err="1"/>
              <a:t>Arkadaşlarınızdan</a:t>
            </a:r>
            <a:r>
              <a:rPr lang="en-US" sz="2300" dirty="0"/>
              <a:t> </a:t>
            </a:r>
            <a:r>
              <a:rPr lang="en-US" sz="2300" dirty="0" err="1"/>
              <a:t>sizinle</a:t>
            </a:r>
            <a:r>
              <a:rPr lang="en-US" sz="2300" dirty="0"/>
              <a:t> </a:t>
            </a:r>
            <a:r>
              <a:rPr lang="en-US" sz="2300" dirty="0" err="1"/>
              <a:t>ilgili</a:t>
            </a:r>
            <a:r>
              <a:rPr lang="en-US" sz="2300" dirty="0"/>
              <a:t> </a:t>
            </a:r>
            <a:r>
              <a:rPr lang="en-US" sz="2300" dirty="0" err="1"/>
              <a:t>kişisel</a:t>
            </a:r>
            <a:r>
              <a:rPr lang="en-US" sz="2300" dirty="0"/>
              <a:t> </a:t>
            </a:r>
            <a:r>
              <a:rPr lang="en-US" sz="2300" dirty="0" err="1"/>
              <a:t>bilgileri</a:t>
            </a:r>
            <a:r>
              <a:rPr lang="en-US" sz="2300" dirty="0"/>
              <a:t> </a:t>
            </a:r>
            <a:r>
              <a:rPr lang="en-US" sz="2300" dirty="0" err="1"/>
              <a:t>yayınlamamalarını</a:t>
            </a:r>
            <a:r>
              <a:rPr lang="en-US" sz="2300" dirty="0"/>
              <a:t> </a:t>
            </a:r>
            <a:r>
              <a:rPr lang="en-US" sz="2300" dirty="0" err="1"/>
              <a:t>isteyin</a:t>
            </a:r>
            <a:r>
              <a:rPr lang="en-US" sz="2300" dirty="0"/>
              <a:t>.
</a:t>
            </a:r>
            <a:r>
              <a:rPr lang="en-US" sz="2300" dirty="0" err="1"/>
              <a:t>Evinizin</a:t>
            </a:r>
            <a:r>
              <a:rPr lang="en-US" sz="2300" dirty="0"/>
              <a:t> </a:t>
            </a:r>
            <a:r>
              <a:rPr lang="en-US" sz="2300" dirty="0" err="1"/>
              <a:t>konumunu</a:t>
            </a:r>
            <a:r>
              <a:rPr lang="en-US" sz="2300" dirty="0"/>
              <a:t> </a:t>
            </a:r>
            <a:r>
              <a:rPr lang="en-US" sz="2300" dirty="0" err="1"/>
              <a:t>gösteren</a:t>
            </a:r>
            <a:r>
              <a:rPr lang="en-US" sz="2300" dirty="0"/>
              <a:t> </a:t>
            </a:r>
            <a:r>
              <a:rPr lang="en-US" sz="2300" dirty="0" err="1"/>
              <a:t>fotoğraflarını</a:t>
            </a:r>
            <a:r>
              <a:rPr lang="en-US" sz="2300" dirty="0"/>
              <a:t> </a:t>
            </a:r>
            <a:r>
              <a:rPr lang="en-US" sz="2300" dirty="0" err="1"/>
              <a:t>yayınlamayın</a:t>
            </a:r>
            <a:r>
              <a:rPr lang="en-US" sz="2300" dirty="0"/>
              <a:t>. 
</a:t>
            </a:r>
            <a:r>
              <a:rPr lang="en-US" sz="2300" dirty="0" err="1"/>
              <a:t>Mevcut</a:t>
            </a:r>
            <a:r>
              <a:rPr lang="en-US" sz="2300" dirty="0"/>
              <a:t> </a:t>
            </a:r>
            <a:r>
              <a:rPr lang="en-US" sz="2300" dirty="0" err="1"/>
              <a:t>veya</a:t>
            </a:r>
            <a:r>
              <a:rPr lang="en-US" sz="2300" dirty="0"/>
              <a:t> </a:t>
            </a:r>
            <a:r>
              <a:rPr lang="en-US" sz="2300" dirty="0" err="1"/>
              <a:t>gelecekteki</a:t>
            </a:r>
            <a:r>
              <a:rPr lang="en-US" sz="2300" dirty="0"/>
              <a:t> </a:t>
            </a:r>
            <a:r>
              <a:rPr lang="en-US" sz="2300" dirty="0" err="1"/>
              <a:t>konumlarınız</a:t>
            </a:r>
            <a:r>
              <a:rPr lang="en-US" sz="2300" dirty="0"/>
              <a:t>/</a:t>
            </a:r>
            <a:r>
              <a:rPr lang="en-US" sz="2300" dirty="0" err="1"/>
              <a:t>etkinlikleriniz</a:t>
            </a:r>
            <a:r>
              <a:rPr lang="en-US" sz="2300" dirty="0"/>
              <a:t> </a:t>
            </a:r>
            <a:r>
              <a:rPr lang="en-US" sz="2300" dirty="0" err="1"/>
              <a:t>hakkında</a:t>
            </a:r>
            <a:r>
              <a:rPr lang="en-US" sz="2300" dirty="0"/>
              <a:t> </a:t>
            </a:r>
            <a:r>
              <a:rPr lang="en-US" sz="2300" dirty="0" err="1"/>
              <a:t>bilgi</a:t>
            </a:r>
            <a:r>
              <a:rPr lang="en-US" sz="2300" dirty="0"/>
              <a:t> </a:t>
            </a:r>
            <a:r>
              <a:rPr lang="en-US" sz="2300" dirty="0" err="1"/>
              <a:t>yayınlamaktan</a:t>
            </a:r>
            <a:r>
              <a:rPr lang="en-US" sz="2300" dirty="0"/>
              <a:t> </a:t>
            </a:r>
            <a:r>
              <a:rPr lang="en-US" sz="2300" dirty="0" err="1"/>
              <a:t>kaçının</a:t>
            </a:r>
            <a:r>
              <a:rPr lang="en-US" sz="2300" dirty="0"/>
              <a:t>.
</a:t>
            </a:r>
            <a:r>
              <a:rPr lang="en-US" sz="2300" dirty="0" err="1"/>
              <a:t>Yabancılardan</a:t>
            </a:r>
            <a:r>
              <a:rPr lang="en-US" sz="2300" dirty="0"/>
              <a:t> </a:t>
            </a:r>
            <a:r>
              <a:rPr lang="en-US" sz="2300" dirty="0" err="1"/>
              <a:t>gelen</a:t>
            </a:r>
            <a:r>
              <a:rPr lang="en-US" sz="2300" dirty="0"/>
              <a:t> "</a:t>
            </a:r>
            <a:r>
              <a:rPr lang="en-US" sz="2300" dirty="0" err="1"/>
              <a:t>arkadaşlık</a:t>
            </a:r>
            <a:r>
              <a:rPr lang="en-US" sz="2300" dirty="0"/>
              <a:t> </a:t>
            </a:r>
            <a:r>
              <a:rPr lang="en-US" sz="2300" dirty="0" err="1"/>
              <a:t>isteklerini</a:t>
            </a:r>
            <a:r>
              <a:rPr lang="en-US" sz="2300" dirty="0"/>
              <a:t>" </a:t>
            </a:r>
            <a:r>
              <a:rPr lang="en-US" sz="2300" dirty="0" err="1"/>
              <a:t>kabul</a:t>
            </a:r>
            <a:r>
              <a:rPr lang="en-US" sz="2300" dirty="0"/>
              <a:t> </a:t>
            </a:r>
            <a:r>
              <a:rPr lang="en-US" sz="2300" dirty="0" err="1"/>
              <a:t>etmeyin</a:t>
            </a:r>
            <a:r>
              <a:rPr lang="en-US" sz="2300" dirty="0"/>
              <a:t>.
</a:t>
            </a:r>
            <a:r>
              <a:rPr lang="en-US" sz="2300" dirty="0" err="1"/>
              <a:t>Kişisel</a:t>
            </a:r>
            <a:r>
              <a:rPr lang="en-US" sz="2300" dirty="0"/>
              <a:t> </a:t>
            </a:r>
            <a:r>
              <a:rPr lang="en-US" sz="2300" dirty="0" err="1"/>
              <a:t>bilgi</a:t>
            </a:r>
            <a:r>
              <a:rPr lang="en-US" sz="2300" dirty="0"/>
              <a:t> </a:t>
            </a:r>
            <a:r>
              <a:rPr lang="en-US" sz="2300" dirty="0" err="1"/>
              <a:t>isteyen</a:t>
            </a:r>
            <a:r>
              <a:rPr lang="en-US" sz="2300" dirty="0"/>
              <a:t> </a:t>
            </a:r>
            <a:r>
              <a:rPr lang="en-US" sz="2300" dirty="0" err="1"/>
              <a:t>çevrimiçi</a:t>
            </a:r>
            <a:r>
              <a:rPr lang="en-US" sz="2300" dirty="0"/>
              <a:t> </a:t>
            </a:r>
            <a:r>
              <a:rPr lang="en-US" sz="2300" dirty="0" err="1"/>
              <a:t>anketlerden</a:t>
            </a:r>
            <a:r>
              <a:rPr lang="en-US" sz="2300" dirty="0"/>
              <a:t> </a:t>
            </a:r>
            <a:r>
              <a:rPr lang="en-US" sz="2300" dirty="0" err="1"/>
              <a:t>kaçının</a:t>
            </a:r>
            <a:r>
              <a:rPr lang="en-US" sz="2300" dirty="0"/>
              <a:t>.</a:t>
            </a:r>
          </a:p>
        </p:txBody>
      </p:sp>
      <p:sp>
        <p:nvSpPr>
          <p:cNvPr id="3" name="Title 2"/>
          <p:cNvSpPr>
            <a:spLocks noGrp="1"/>
          </p:cNvSpPr>
          <p:nvPr>
            <p:ph type="title"/>
          </p:nvPr>
        </p:nvSpPr>
        <p:spPr>
          <a:xfrm>
            <a:off x="762000" y="290459"/>
            <a:ext cx="8026400" cy="527837"/>
          </a:xfrm>
        </p:spPr>
        <p:txBody>
          <a:bodyPr/>
          <a:lstStyle/>
          <a:p>
            <a:r>
              <a:rPr lang="en-US" sz="4000"/>
              <a:t>Siber İstismarı Önlemek İçin İpuçları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1555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4198072"/>
          </a:xfrm>
        </p:spPr>
        <p:txBody>
          <a:bodyPr/>
          <a:lstStyle/>
          <a:p>
            <a:r>
              <a:rPr lang="en-US" sz="2800"/>
              <a:t>Ulusal Suç Mağdurları Merkezi
Siber tacizle mücadele etmek için ayrıntılı bir dizi önerilen eylem sunar
İlerici İletişim Derneği
Siber Tacizle Mücadele
Gizlilik Hakları Takas Odası
Çevrimiçi Kötüye Kullanımı Durdurmak İçin Çalışıyoruz
Stalking Risk Profili</a:t>
            </a:r>
            <a:endParaRPr lang="en-US" sz="2800" dirty="0"/>
          </a:p>
        </p:txBody>
      </p:sp>
      <p:sp>
        <p:nvSpPr>
          <p:cNvPr id="3" name="Title 2"/>
          <p:cNvSpPr>
            <a:spLocks noGrp="1"/>
          </p:cNvSpPr>
          <p:nvPr>
            <p:ph type="title"/>
          </p:nvPr>
        </p:nvSpPr>
        <p:spPr>
          <a:xfrm>
            <a:off x="762000" y="135801"/>
            <a:ext cx="8026400" cy="837152"/>
          </a:xfrm>
        </p:spPr>
        <p:txBody>
          <a:bodyPr/>
          <a:lstStyle/>
          <a:p>
            <a:r>
              <a:rPr lang="en-US" sz="3200"/>
              <a:t>Siber Kötüye Kullanım ile İlgili Bilgi Kaynakları Sunan Kuruluşlar</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97565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74471"/>
            <a:ext cx="8415338" cy="5593070"/>
          </a:xfrm>
        </p:spPr>
        <p:txBody>
          <a:bodyPr/>
          <a:lstStyle/>
          <a:p>
            <a:r>
              <a:rPr lang="en-US" sz="2700"/>
              <a:t>Bazı sosyal ağ platformları, kolluk kuvvetleri ve mahkemeler, reşit olmayanları cinsel tacizcilerden korumadıkları için eleştirildi
1994 Jacob Wetterling Çocuklara Karşı Suçlar ve Cinsel Şiddet Suçlusu Kayıt Yasası, cinsel suçlu kaydı ve bildirimi için ilk gereklilikleri belirledi
Cinsel suçluların ikametgahlarını yerel kolluk kuvvetlerine kaydettirmeleri gerekli
2006 tarihli Adam Walsh Çocuk Koruma ve Güvenlik Yasası'nın Cinsel Suçlu Kayıt ve Bildirim Hükümleri (SORNA), hangi cinsel suçluların kayıt yaptırması ve hangi verilerin toplanması gerektiğini düzenleyen ulusal standartları belirler</a:t>
            </a:r>
            <a:endParaRPr lang="en-US" sz="2700" dirty="0"/>
          </a:p>
        </p:txBody>
      </p:sp>
      <p:sp>
        <p:nvSpPr>
          <p:cNvPr id="3" name="Title 2"/>
          <p:cNvSpPr>
            <a:spLocks noGrp="1"/>
          </p:cNvSpPr>
          <p:nvPr>
            <p:ph type="title"/>
          </p:nvPr>
        </p:nvSpPr>
        <p:spPr>
          <a:xfrm>
            <a:off x="762000" y="290459"/>
            <a:ext cx="8026400" cy="527837"/>
          </a:xfrm>
        </p:spPr>
        <p:txBody>
          <a:bodyPr/>
          <a:lstStyle/>
          <a:p>
            <a:r>
              <a:rPr lang="en-US" sz="4000"/>
              <a:t>Cinsel Yırtıcılarla Karşılaşmalar</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39758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03623"/>
          </a:xfrm>
        </p:spPr>
        <p:txBody>
          <a:bodyPr/>
          <a:lstStyle/>
          <a:p>
            <a:r>
              <a:rPr lang="en-US" altLang="en-US" sz="2700"/>
              <a:t>Çoğu sosyal medya sitesinin, uygunsuz materyalleri silme ve kullanıcı hesaplarını feshetme hakkı veren kullanım koşulları sözleşmeleri ve politikaları vardır
Müstehcen, karalayıcı, nefret dolu, şiddet içeren veya yasa dışı faaliyetleri teşvik eden içeriklere ilişkin sınırlamalar
İntikam pornosu: Gösterilen kişinin izni olmadan çevrimiçi olarak yayınlanan mahrem fotoğraflar/videolar; genellikle eski partnerlerini utandırmak ve/veya taciz etmek amacıyla eski partnerler tarafından yüklenir
Çoğu site, yayınlanan tüm materyalleri incelemek için yeterli kaynağa sahip değildir.</a:t>
            </a:r>
            <a:endParaRPr lang="en-US" dirty="0"/>
          </a:p>
        </p:txBody>
      </p:sp>
      <p:sp>
        <p:nvSpPr>
          <p:cNvPr id="3" name="Title 2"/>
          <p:cNvSpPr>
            <a:spLocks noGrp="1"/>
          </p:cNvSpPr>
          <p:nvPr>
            <p:ph type="title"/>
          </p:nvPr>
        </p:nvSpPr>
        <p:spPr>
          <a:xfrm>
            <a:off x="762000" y="290458"/>
            <a:ext cx="8026400" cy="527837"/>
          </a:xfrm>
        </p:spPr>
        <p:txBody>
          <a:bodyPr/>
          <a:lstStyle/>
          <a:p>
            <a:r>
              <a:rPr lang="en-US" sz="4000"/>
              <a:t>Uygunsuz Materyal Yükleme</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1867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582519"/>
          </a:xfrm>
        </p:spPr>
        <p:txBody>
          <a:bodyPr/>
          <a:lstStyle/>
          <a:p>
            <a:r>
              <a:rPr lang="en-US" sz="2800"/>
              <a:t>ABD Anayasası'nın Birinci Değişikliği, ifade özgürlüğü hakkını hükümet müdahalesinden korur, ancak özel işverenlerin ifade özgürlüğü müdahalesini yasaklamaz.
Ankete katılan özel işverenlerin yaklaşık% 18'i bir sosyal medya gönderisi nedeniyle çalışanlarını işten çıkardı
Kuruluşlar, yasal sorunlardan kaçınmak ve çalışanlar için net yönergeler ve beklentiler belirlemek için bir sosyal medya politikası oluşturmalıdır.</a:t>
            </a:r>
            <a:endParaRPr lang="en-US" dirty="0"/>
          </a:p>
        </p:txBody>
      </p:sp>
      <p:sp>
        <p:nvSpPr>
          <p:cNvPr id="3" name="Title 2"/>
          <p:cNvSpPr>
            <a:spLocks noGrp="1"/>
          </p:cNvSpPr>
          <p:nvPr>
            <p:ph type="title"/>
          </p:nvPr>
        </p:nvSpPr>
        <p:spPr>
          <a:xfrm>
            <a:off x="762000" y="316842"/>
            <a:ext cx="8026400" cy="475066"/>
          </a:xfrm>
        </p:spPr>
        <p:txBody>
          <a:bodyPr/>
          <a:lstStyle/>
          <a:p>
            <a:r>
              <a:rPr lang="en-US" sz="3600"/>
              <a:t>Sosyal Medya Ağlarında Çalışan Katılımı</a:t>
            </a:r>
            <a:endParaRPr lang="en-US" sz="36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6626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2609945"/>
          </a:xfrm>
        </p:spPr>
        <p:txBody>
          <a:bodyPr/>
          <a:lstStyle/>
          <a:p>
            <a:r>
              <a:rPr lang="en-US" sz="2800"/>
              <a:t>Araba kullanırken mesajlaşıyorsanız veya sosyal medyayı kullanıyorsanız, bir kazaya karışma riski sekiz kat daha yüksektir.
Sosyal medya platformları, hem fiziksel görünüm hem de genel yaşam kalitesi açısından bir dereceye kadar öz imaj manipülasyonuna olanak tanır.</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a:t>Ek Sosyal Medya Sorunları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75485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169275" cy="4876800"/>
          </a:xfrm>
        </p:spPr>
        <p:txBody>
          <a:bodyPr/>
          <a:lstStyle/>
          <a:p>
            <a:r>
              <a:rPr lang="en-US" sz="2700"/>
              <a:t>Bireyler sosyal ağları nasıl kullanır ve sosyal ağların ve diğer sosyal medya araçlarının bazı pratik iş kullanımları nelerdir? 
Sosyal medya: İnsanların fikir, bilgi, görüntü, ses ve video paylaşarak çevrimiçi topluluklarda etkileşim kurmasını sağlayan web tabanlı iletişim araçları
Sosyal ağ platformu: Üyelerin zaman, mesafe ve kültürel farklılıkların yarattığı engelleri yıkmalarını sağlayan çevrimiçi bir İnternet kullanıcıları topluluğu oluşturur
Dünya çapında internet kullanıcılarının sayısı 4 milyara yaklaşıyor.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a:t>Özet,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2630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0362" y="876975"/>
            <a:ext cx="8415338" cy="5746958"/>
          </a:xfrm>
        </p:spPr>
        <p:txBody>
          <a:bodyPr/>
          <a:lstStyle/>
          <a:p>
            <a:pPr>
              <a:spcBef>
                <a:spcPts val="600"/>
              </a:spcBef>
            </a:pPr>
            <a:r>
              <a:rPr lang="en-US" sz="2700"/>
              <a:t>Bireyler sosyal ağları nasıl kullanır ve sosyal ağların ve diğer sosyal medya araçlarının bazı pratik iş kullanımları nelerdir? 
Kuruluşlar, reklam vermek, iş adaylarını belirlemek, müşteri hizmetlerini iyileştirmek, tedarikçilerle bağlantı kurmak ve ürün ve hizmet satmak için sosyal medyayı kullanır.
Sosyal medya pazarlaması: Ürün ve hizmetleri tanıtmak için sosyal medyanın kullanılması
Avantaj -ları: 
Mesajı görüntüleyenlerle görüşme oluşturma
Reklamlarla belirli demografik grupları hedefleme
Hedef: 
Marka bilinirliğini artırın
Satışları artırmak için bir web sitesine trafik çekin</a:t>
            </a:r>
            <a:endParaRPr lang="en-US" sz="2200" dirty="0"/>
          </a:p>
        </p:txBody>
      </p:sp>
      <p:sp>
        <p:nvSpPr>
          <p:cNvPr id="3" name="Title 2"/>
          <p:cNvSpPr>
            <a:spLocks noGrp="1"/>
          </p:cNvSpPr>
          <p:nvPr>
            <p:ph type="title"/>
          </p:nvPr>
        </p:nvSpPr>
        <p:spPr>
          <a:xfrm>
            <a:off x="762000" y="290459"/>
            <a:ext cx="8026400" cy="527837"/>
          </a:xfrm>
        </p:spPr>
        <p:txBody>
          <a:bodyPr/>
          <a:lstStyle/>
          <a:p>
            <a:r>
              <a:rPr lang="en-US" sz="4000"/>
              <a:t>Özet,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7097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001369"/>
          </a:xfrm>
        </p:spPr>
        <p:txBody>
          <a:bodyPr/>
          <a:lstStyle/>
          <a:p>
            <a:r>
              <a:rPr lang="en-US" sz="2500" dirty="0" err="1"/>
              <a:t>Bireyler</a:t>
            </a:r>
            <a:r>
              <a:rPr lang="en-US" sz="2500" dirty="0"/>
              <a:t> </a:t>
            </a:r>
            <a:r>
              <a:rPr lang="en-US" sz="2500" dirty="0" err="1"/>
              <a:t>sosyal</a:t>
            </a:r>
            <a:r>
              <a:rPr lang="en-US" sz="2500" dirty="0"/>
              <a:t> </a:t>
            </a:r>
            <a:r>
              <a:rPr lang="en-US" sz="2500" dirty="0" err="1"/>
              <a:t>ağları</a:t>
            </a:r>
            <a:r>
              <a:rPr lang="en-US" sz="2500" dirty="0"/>
              <a:t> </a:t>
            </a:r>
            <a:r>
              <a:rPr lang="en-US" sz="2500" dirty="0" err="1"/>
              <a:t>nasıl</a:t>
            </a:r>
            <a:r>
              <a:rPr lang="en-US" sz="2500" dirty="0"/>
              <a:t> </a:t>
            </a:r>
            <a:r>
              <a:rPr lang="en-US" sz="2500" dirty="0" err="1"/>
              <a:t>kullanır</a:t>
            </a:r>
            <a:r>
              <a:rPr lang="en-US" sz="2500" dirty="0"/>
              <a:t> </a:t>
            </a:r>
            <a:r>
              <a:rPr lang="en-US" sz="2500" dirty="0" err="1"/>
              <a:t>ve</a:t>
            </a:r>
            <a:r>
              <a:rPr lang="en-US" sz="2500" dirty="0"/>
              <a:t> </a:t>
            </a:r>
            <a:r>
              <a:rPr lang="en-US" sz="2500" dirty="0" err="1"/>
              <a:t>sosyal</a:t>
            </a:r>
            <a:r>
              <a:rPr lang="en-US" sz="2500" dirty="0"/>
              <a:t> </a:t>
            </a:r>
            <a:r>
              <a:rPr lang="en-US" sz="2500" dirty="0" err="1"/>
              <a:t>ağların</a:t>
            </a:r>
            <a:r>
              <a:rPr lang="en-US" sz="2500" dirty="0"/>
              <a:t> </a:t>
            </a:r>
            <a:r>
              <a:rPr lang="en-US" sz="2500" dirty="0" err="1"/>
              <a:t>ve</a:t>
            </a:r>
            <a:r>
              <a:rPr lang="en-US" sz="2500" dirty="0"/>
              <a:t> </a:t>
            </a:r>
            <a:r>
              <a:rPr lang="en-US" sz="2500" dirty="0" err="1"/>
              <a:t>diğer</a:t>
            </a:r>
            <a:r>
              <a:rPr lang="en-US" sz="2500" dirty="0"/>
              <a:t> </a:t>
            </a:r>
            <a:r>
              <a:rPr lang="en-US" sz="2500" dirty="0" err="1"/>
              <a:t>sosyal</a:t>
            </a:r>
            <a:r>
              <a:rPr lang="en-US" sz="2500" dirty="0"/>
              <a:t> </a:t>
            </a:r>
            <a:r>
              <a:rPr lang="en-US" sz="2500" dirty="0" err="1"/>
              <a:t>medya</a:t>
            </a:r>
            <a:r>
              <a:rPr lang="en-US" sz="2500" dirty="0"/>
              <a:t> </a:t>
            </a:r>
            <a:r>
              <a:rPr lang="en-US" sz="2500" dirty="0" err="1"/>
              <a:t>araçlarının</a:t>
            </a:r>
            <a:r>
              <a:rPr lang="en-US" sz="2500" dirty="0"/>
              <a:t> </a:t>
            </a:r>
            <a:r>
              <a:rPr lang="en-US" sz="2500" dirty="0" err="1"/>
              <a:t>bazı</a:t>
            </a:r>
            <a:r>
              <a:rPr lang="en-US" sz="2500" dirty="0"/>
              <a:t> </a:t>
            </a:r>
            <a:r>
              <a:rPr lang="en-US" sz="2500" dirty="0" err="1"/>
              <a:t>pratik</a:t>
            </a:r>
            <a:r>
              <a:rPr lang="en-US" sz="2500" dirty="0"/>
              <a:t> </a:t>
            </a:r>
            <a:r>
              <a:rPr lang="en-US" sz="2500" dirty="0" err="1"/>
              <a:t>iş</a:t>
            </a:r>
            <a:r>
              <a:rPr lang="en-US" sz="2500" dirty="0"/>
              <a:t> </a:t>
            </a:r>
            <a:r>
              <a:rPr lang="en-US" sz="2500" dirty="0" err="1"/>
              <a:t>kullanımları</a:t>
            </a:r>
            <a:r>
              <a:rPr lang="en-US" sz="2500" dirty="0"/>
              <a:t> </a:t>
            </a:r>
            <a:r>
              <a:rPr lang="en-US" sz="2500" dirty="0" err="1"/>
              <a:t>nelerdir</a:t>
            </a:r>
            <a:r>
              <a:rPr lang="en-US" sz="2500" dirty="0"/>
              <a:t>? 
</a:t>
            </a:r>
            <a:r>
              <a:rPr lang="en-US" sz="2500" dirty="0" err="1"/>
              <a:t>Organik</a:t>
            </a:r>
            <a:r>
              <a:rPr lang="en-US" sz="2500" dirty="0"/>
              <a:t> </a:t>
            </a:r>
            <a:r>
              <a:rPr lang="en-US" sz="2500" dirty="0" err="1"/>
              <a:t>medya</a:t>
            </a:r>
            <a:r>
              <a:rPr lang="en-US" sz="2500" dirty="0"/>
              <a:t> </a:t>
            </a:r>
            <a:r>
              <a:rPr lang="en-US" sz="2500" dirty="0" err="1"/>
              <a:t>pazarlaması</a:t>
            </a:r>
            <a:r>
              <a:rPr lang="en-US" sz="2500" dirty="0"/>
              <a:t>: Bir </a:t>
            </a:r>
            <a:r>
              <a:rPr lang="en-US" sz="2500" dirty="0" err="1"/>
              <a:t>sosyal</a:t>
            </a:r>
            <a:r>
              <a:rPr lang="en-US" sz="2500" dirty="0"/>
              <a:t> </a:t>
            </a:r>
            <a:r>
              <a:rPr lang="en-US" sz="2500" dirty="0" err="1"/>
              <a:t>topluluk</a:t>
            </a:r>
            <a:r>
              <a:rPr lang="en-US" sz="2500" dirty="0"/>
              <a:t> </a:t>
            </a:r>
            <a:r>
              <a:rPr lang="en-US" sz="2500" dirty="0" err="1"/>
              <a:t>oluşturmak</a:t>
            </a:r>
            <a:r>
              <a:rPr lang="en-US" sz="2500" dirty="0"/>
              <a:t> </a:t>
            </a:r>
            <a:r>
              <a:rPr lang="en-US" sz="2500" dirty="0" err="1"/>
              <a:t>ve</a:t>
            </a:r>
            <a:r>
              <a:rPr lang="en-US" sz="2500" dirty="0"/>
              <a:t> </a:t>
            </a:r>
            <a:r>
              <a:rPr lang="en-US" sz="2500" dirty="0" err="1"/>
              <a:t>onunla</a:t>
            </a:r>
            <a:r>
              <a:rPr lang="en-US" sz="2500" dirty="0"/>
              <a:t> </a:t>
            </a:r>
            <a:r>
              <a:rPr lang="en-US" sz="2500" dirty="0" err="1"/>
              <a:t>etkileşim</a:t>
            </a:r>
            <a:r>
              <a:rPr lang="en-US" sz="2500" dirty="0"/>
              <a:t> </a:t>
            </a:r>
            <a:r>
              <a:rPr lang="en-US" sz="2500" dirty="0" err="1"/>
              <a:t>kurmak</a:t>
            </a:r>
            <a:r>
              <a:rPr lang="en-US" sz="2500" dirty="0"/>
              <a:t> için </a:t>
            </a:r>
            <a:r>
              <a:rPr lang="en-US" sz="2500" dirty="0" err="1"/>
              <a:t>belirli</a:t>
            </a:r>
            <a:r>
              <a:rPr lang="en-US" sz="2500" dirty="0"/>
              <a:t> </a:t>
            </a:r>
            <a:r>
              <a:rPr lang="en-US" sz="2500" dirty="0" err="1"/>
              <a:t>bir</a:t>
            </a:r>
            <a:r>
              <a:rPr lang="en-US" sz="2500" dirty="0"/>
              <a:t> </a:t>
            </a:r>
            <a:r>
              <a:rPr lang="en-US" sz="2500" dirty="0" err="1"/>
              <a:t>sosyal</a:t>
            </a:r>
            <a:r>
              <a:rPr lang="en-US" sz="2500" dirty="0"/>
              <a:t> </a:t>
            </a:r>
            <a:r>
              <a:rPr lang="en-US" sz="2500" dirty="0" err="1"/>
              <a:t>medya</a:t>
            </a:r>
            <a:r>
              <a:rPr lang="en-US" sz="2500" dirty="0"/>
              <a:t> </a:t>
            </a:r>
            <a:r>
              <a:rPr lang="en-US" sz="2500" dirty="0" err="1"/>
              <a:t>platformu</a:t>
            </a:r>
            <a:r>
              <a:rPr lang="en-US" sz="2500" dirty="0"/>
              <a:t> için </a:t>
            </a:r>
            <a:r>
              <a:rPr lang="en-US" sz="2500" dirty="0" err="1"/>
              <a:t>uyarlanmış</a:t>
            </a:r>
            <a:r>
              <a:rPr lang="en-US" sz="2500" dirty="0"/>
              <a:t> </a:t>
            </a:r>
            <a:r>
              <a:rPr lang="en-US" sz="2500" dirty="0" err="1"/>
              <a:t>araçların</a:t>
            </a:r>
            <a:r>
              <a:rPr lang="en-US" sz="2500" dirty="0"/>
              <a:t> </a:t>
            </a:r>
            <a:r>
              <a:rPr lang="en-US" sz="2500" dirty="0" err="1"/>
              <a:t>kullanılması</a:t>
            </a:r>
            <a:r>
              <a:rPr lang="en-US" sz="2500" dirty="0"/>
              <a:t> 
</a:t>
            </a:r>
            <a:r>
              <a:rPr lang="en-US" sz="2500" dirty="0" err="1"/>
              <a:t>Ücretli</a:t>
            </a:r>
            <a:r>
              <a:rPr lang="en-US" sz="2500" dirty="0"/>
              <a:t> </a:t>
            </a:r>
            <a:r>
              <a:rPr lang="en-US" sz="2500" dirty="0" err="1"/>
              <a:t>medya</a:t>
            </a:r>
            <a:r>
              <a:rPr lang="en-US" sz="2500" dirty="0"/>
              <a:t> </a:t>
            </a:r>
            <a:r>
              <a:rPr lang="en-US" sz="2500" dirty="0" err="1"/>
              <a:t>pazarlaması</a:t>
            </a:r>
            <a:r>
              <a:rPr lang="en-US" sz="2500" dirty="0"/>
              <a:t>: Bir </a:t>
            </a:r>
            <a:r>
              <a:rPr lang="en-US" sz="2500" dirty="0" err="1"/>
              <a:t>kuruluşun</a:t>
            </a:r>
            <a:r>
              <a:rPr lang="en-US" sz="2500" dirty="0"/>
              <a:t> </a:t>
            </a:r>
            <a:r>
              <a:rPr lang="en-US" sz="2500" dirty="0" err="1"/>
              <a:t>görüntülü</a:t>
            </a:r>
            <a:r>
              <a:rPr lang="en-US" sz="2500" dirty="0"/>
              <a:t> </a:t>
            </a:r>
            <a:r>
              <a:rPr lang="en-US" sz="2500" dirty="0" err="1"/>
              <a:t>reklamlarını</a:t>
            </a:r>
            <a:r>
              <a:rPr lang="en-US" sz="2500" dirty="0"/>
              <a:t> </a:t>
            </a:r>
            <a:r>
              <a:rPr lang="en-US" sz="2500" dirty="0" err="1"/>
              <a:t>veya</a:t>
            </a:r>
            <a:r>
              <a:rPr lang="en-US" sz="2500" dirty="0"/>
              <a:t> </a:t>
            </a:r>
            <a:r>
              <a:rPr lang="en-US" sz="2500" dirty="0" err="1"/>
              <a:t>sponsorlu</a:t>
            </a:r>
            <a:r>
              <a:rPr lang="en-US" sz="2500" dirty="0"/>
              <a:t> </a:t>
            </a:r>
            <a:r>
              <a:rPr lang="en-US" sz="2500" dirty="0" err="1"/>
              <a:t>mesajlarını</a:t>
            </a:r>
            <a:r>
              <a:rPr lang="en-US" sz="2500" dirty="0"/>
              <a:t> </a:t>
            </a:r>
            <a:r>
              <a:rPr lang="en-US" sz="2500" dirty="0" err="1"/>
              <a:t>sosyal</a:t>
            </a:r>
            <a:r>
              <a:rPr lang="en-US" sz="2500" dirty="0"/>
              <a:t> </a:t>
            </a:r>
            <a:r>
              <a:rPr lang="en-US" sz="2500" dirty="0" err="1"/>
              <a:t>medya</a:t>
            </a:r>
            <a:r>
              <a:rPr lang="en-US" sz="2500" dirty="0"/>
              <a:t> </a:t>
            </a:r>
            <a:r>
              <a:rPr lang="en-US" sz="2500" dirty="0" err="1"/>
              <a:t>kullanıcılarına</a:t>
            </a:r>
            <a:r>
              <a:rPr lang="en-US" sz="2500" dirty="0"/>
              <a:t> </a:t>
            </a:r>
            <a:r>
              <a:rPr lang="en-US" sz="2500" dirty="0" err="1"/>
              <a:t>yayınlaması</a:t>
            </a:r>
            <a:r>
              <a:rPr lang="en-US" sz="2500" dirty="0"/>
              <a:t> için </a:t>
            </a:r>
            <a:r>
              <a:rPr lang="en-US" sz="2500" dirty="0" err="1"/>
              <a:t>üçüncü</a:t>
            </a:r>
            <a:r>
              <a:rPr lang="en-US" sz="2500" dirty="0"/>
              <a:t> </a:t>
            </a:r>
            <a:r>
              <a:rPr lang="en-US" sz="2500" dirty="0" err="1"/>
              <a:t>bir</a:t>
            </a:r>
            <a:r>
              <a:rPr lang="en-US" sz="2500" dirty="0"/>
              <a:t> </a:t>
            </a:r>
            <a:r>
              <a:rPr lang="en-US" sz="2500" dirty="0" err="1"/>
              <a:t>tarafa</a:t>
            </a:r>
            <a:r>
              <a:rPr lang="en-US" sz="2500" dirty="0"/>
              <a:t> </a:t>
            </a:r>
            <a:r>
              <a:rPr lang="en-US" sz="2500" dirty="0" err="1"/>
              <a:t>ödeme</a:t>
            </a:r>
            <a:r>
              <a:rPr lang="en-US" sz="2500" dirty="0"/>
              <a:t> </a:t>
            </a:r>
            <a:r>
              <a:rPr lang="en-US" sz="2500" dirty="0" err="1"/>
              <a:t>yapmak</a:t>
            </a:r>
            <a:r>
              <a:rPr lang="en-US" sz="2500" dirty="0"/>
              <a:t> 
Bin </a:t>
            </a:r>
            <a:r>
              <a:rPr lang="en-US" sz="2500" dirty="0" err="1"/>
              <a:t>gösterim</a:t>
            </a:r>
            <a:r>
              <a:rPr lang="en-US" sz="2500" dirty="0"/>
              <a:t> </a:t>
            </a:r>
            <a:r>
              <a:rPr lang="en-US" sz="2500" dirty="0" err="1"/>
              <a:t>başına</a:t>
            </a:r>
            <a:r>
              <a:rPr lang="en-US" sz="2500" dirty="0"/>
              <a:t> </a:t>
            </a:r>
            <a:r>
              <a:rPr lang="en-US" sz="2500" dirty="0" err="1"/>
              <a:t>maliyet</a:t>
            </a:r>
            <a:r>
              <a:rPr lang="en-US" sz="2500" dirty="0"/>
              <a:t> </a:t>
            </a:r>
            <a:r>
              <a:rPr lang="en-US" sz="2500" dirty="0" err="1"/>
              <a:t>ve</a:t>
            </a:r>
            <a:r>
              <a:rPr lang="en-US" sz="2500" dirty="0"/>
              <a:t> </a:t>
            </a:r>
            <a:r>
              <a:rPr lang="en-US" sz="2500" dirty="0" err="1"/>
              <a:t>tıklama</a:t>
            </a:r>
            <a:r>
              <a:rPr lang="en-US" sz="2500" dirty="0"/>
              <a:t> </a:t>
            </a:r>
            <a:r>
              <a:rPr lang="en-US" sz="2500" dirty="0" err="1"/>
              <a:t>başına</a:t>
            </a:r>
            <a:r>
              <a:rPr lang="en-US" sz="2500" dirty="0"/>
              <a:t> </a:t>
            </a:r>
            <a:r>
              <a:rPr lang="en-US" sz="2500" dirty="0" err="1"/>
              <a:t>maliyet</a:t>
            </a:r>
            <a:r>
              <a:rPr lang="en-US" sz="2500" dirty="0"/>
              <a:t>
</a:t>
            </a:r>
            <a:r>
              <a:rPr lang="en-US" sz="2500" dirty="0" err="1"/>
              <a:t>Kazanılmış</a:t>
            </a:r>
            <a:r>
              <a:rPr lang="en-US" sz="2500" dirty="0"/>
              <a:t> </a:t>
            </a:r>
            <a:r>
              <a:rPr lang="en-US" sz="2500" dirty="0" err="1"/>
              <a:t>medya</a:t>
            </a:r>
            <a:r>
              <a:rPr lang="en-US" sz="2500" dirty="0"/>
              <a:t>: </a:t>
            </a:r>
            <a:r>
              <a:rPr lang="en-US" sz="2500" dirty="0" err="1"/>
              <a:t>Basın</a:t>
            </a:r>
            <a:r>
              <a:rPr lang="en-US" sz="2500" dirty="0"/>
              <a:t> </a:t>
            </a:r>
            <a:r>
              <a:rPr lang="en-US" sz="2500" dirty="0" err="1"/>
              <a:t>ve</a:t>
            </a:r>
            <a:r>
              <a:rPr lang="en-US" sz="2500" dirty="0"/>
              <a:t> </a:t>
            </a:r>
            <a:r>
              <a:rPr lang="en-US" sz="2500" dirty="0" err="1"/>
              <a:t>sosyal</a:t>
            </a:r>
            <a:r>
              <a:rPr lang="en-US" sz="2500" dirty="0"/>
              <a:t> </a:t>
            </a:r>
            <a:r>
              <a:rPr lang="en-US" sz="2500" dirty="0" err="1"/>
              <a:t>medyadan</a:t>
            </a:r>
            <a:r>
              <a:rPr lang="en-US" sz="2500" dirty="0"/>
              <a:t> </a:t>
            </a:r>
            <a:r>
              <a:rPr lang="en-US" sz="2500" dirty="0" err="1"/>
              <a:t>bahsetmeler</a:t>
            </a:r>
            <a:r>
              <a:rPr lang="en-US" sz="2500" dirty="0"/>
              <a:t>, </a:t>
            </a:r>
            <a:r>
              <a:rPr lang="en-US" sz="2500" dirty="0" err="1"/>
              <a:t>olumlu</a:t>
            </a:r>
            <a:r>
              <a:rPr lang="en-US" sz="2500" dirty="0"/>
              <a:t> </a:t>
            </a:r>
            <a:r>
              <a:rPr lang="en-US" sz="2500" dirty="0" err="1"/>
              <a:t>eleştiriler</a:t>
            </a:r>
            <a:r>
              <a:rPr lang="en-US" sz="2500" dirty="0"/>
              <a:t>, </a:t>
            </a:r>
            <a:r>
              <a:rPr lang="en-US" sz="2500" dirty="0" err="1"/>
              <a:t>tweet'ler</a:t>
            </a:r>
            <a:r>
              <a:rPr lang="en-US" sz="2500" dirty="0"/>
              <a:t> </a:t>
            </a:r>
            <a:r>
              <a:rPr lang="en-US" sz="2500" dirty="0" err="1"/>
              <a:t>ve</a:t>
            </a:r>
            <a:r>
              <a:rPr lang="en-US" sz="2500" dirty="0"/>
              <a:t> </a:t>
            </a:r>
            <a:r>
              <a:rPr lang="en-US" sz="2500" dirty="0" err="1"/>
              <a:t>retweetler</a:t>
            </a:r>
            <a:r>
              <a:rPr lang="en-US" sz="2500" dirty="0"/>
              <a:t> </a:t>
            </a:r>
            <a:r>
              <a:rPr lang="en-US" sz="2500" dirty="0" err="1"/>
              <a:t>ve</a:t>
            </a:r>
            <a:r>
              <a:rPr lang="en-US" sz="2500" dirty="0"/>
              <a:t> </a:t>
            </a:r>
            <a:r>
              <a:rPr lang="en-US" sz="2500" dirty="0" err="1"/>
              <a:t>yeniden</a:t>
            </a:r>
            <a:r>
              <a:rPr lang="en-US" sz="2500" dirty="0"/>
              <a:t> </a:t>
            </a:r>
            <a:r>
              <a:rPr lang="en-US" sz="2500" dirty="0" err="1"/>
              <a:t>gönderiler</a:t>
            </a:r>
            <a:r>
              <a:rPr lang="en-US" sz="2500" dirty="0"/>
              <a:t> (</a:t>
            </a:r>
            <a:r>
              <a:rPr lang="en-US" sz="2500" dirty="0" err="1"/>
              <a:t>veya</a:t>
            </a:r>
            <a:r>
              <a:rPr lang="en-US" sz="2500" dirty="0"/>
              <a:t> "</a:t>
            </a:r>
            <a:r>
              <a:rPr lang="en-US" sz="2500" dirty="0" err="1"/>
              <a:t>paylaşımlar</a:t>
            </a:r>
            <a:r>
              <a:rPr lang="en-US" sz="2500" dirty="0"/>
              <a:t>") </a:t>
            </a:r>
            <a:r>
              <a:rPr lang="en-US" sz="2500" dirty="0" err="1"/>
              <a:t>yoluyla</a:t>
            </a:r>
            <a:r>
              <a:rPr lang="en-US" sz="2500" dirty="0"/>
              <a:t> </a:t>
            </a:r>
            <a:r>
              <a:rPr lang="en-US" sz="2500" dirty="0" err="1"/>
              <a:t>elde</a:t>
            </a:r>
            <a:r>
              <a:rPr lang="en-US" sz="2500" dirty="0"/>
              <a:t> </a:t>
            </a:r>
            <a:r>
              <a:rPr lang="en-US" sz="2500" dirty="0" err="1"/>
              <a:t>edilen</a:t>
            </a:r>
            <a:r>
              <a:rPr lang="en-US" sz="2500" dirty="0"/>
              <a:t> </a:t>
            </a:r>
            <a:r>
              <a:rPr lang="en-US" sz="2500" dirty="0" err="1"/>
              <a:t>medya</a:t>
            </a:r>
            <a:r>
              <a:rPr lang="en-US" sz="2500" dirty="0"/>
              <a:t> </a:t>
            </a:r>
            <a:r>
              <a:rPr lang="en-US" sz="2500" dirty="0" err="1"/>
              <a:t>görünürlüğü</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a:t>Özet, Bölüm 3</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9804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139099"/>
          </a:xfrm>
        </p:spPr>
        <p:txBody>
          <a:bodyPr/>
          <a:lstStyle/>
          <a:p>
            <a:r>
              <a:rPr lang="en-US" sz="2700" dirty="0" err="1"/>
              <a:t>Bireyler</a:t>
            </a:r>
            <a:r>
              <a:rPr lang="en-US" sz="2700" dirty="0"/>
              <a:t> </a:t>
            </a:r>
            <a:r>
              <a:rPr lang="en-US" sz="2700" dirty="0" err="1"/>
              <a:t>sosyal</a:t>
            </a:r>
            <a:r>
              <a:rPr lang="en-US" sz="2700" dirty="0"/>
              <a:t> </a:t>
            </a:r>
            <a:r>
              <a:rPr lang="en-US" sz="2700" dirty="0" err="1"/>
              <a:t>ağları</a:t>
            </a:r>
            <a:r>
              <a:rPr lang="en-US" sz="2700" dirty="0"/>
              <a:t> </a:t>
            </a:r>
            <a:r>
              <a:rPr lang="en-US" sz="2700" dirty="0" err="1"/>
              <a:t>nasıl</a:t>
            </a:r>
            <a:r>
              <a:rPr lang="en-US" sz="2700" dirty="0"/>
              <a:t> </a:t>
            </a:r>
            <a:r>
              <a:rPr lang="en-US" sz="2700" dirty="0" err="1"/>
              <a:t>kullanır</a:t>
            </a:r>
            <a:r>
              <a:rPr lang="en-US" sz="2700" dirty="0"/>
              <a:t> </a:t>
            </a:r>
            <a:r>
              <a:rPr lang="en-US" sz="2700" dirty="0" err="1"/>
              <a:t>ve</a:t>
            </a:r>
            <a:r>
              <a:rPr lang="en-US" sz="2700" dirty="0"/>
              <a:t> </a:t>
            </a:r>
            <a:r>
              <a:rPr lang="en-US" sz="2700" dirty="0" err="1"/>
              <a:t>sosyal</a:t>
            </a:r>
            <a:r>
              <a:rPr lang="en-US" sz="2700" dirty="0"/>
              <a:t> </a:t>
            </a:r>
            <a:r>
              <a:rPr lang="en-US" sz="2700" dirty="0" err="1"/>
              <a:t>ağların</a:t>
            </a:r>
            <a:r>
              <a:rPr lang="en-US" sz="2700" dirty="0"/>
              <a:t> </a:t>
            </a:r>
            <a:r>
              <a:rPr lang="en-US" sz="2700" dirty="0" err="1"/>
              <a:t>ve</a:t>
            </a:r>
            <a:r>
              <a:rPr lang="en-US" sz="2700" dirty="0"/>
              <a:t> </a:t>
            </a:r>
            <a:r>
              <a:rPr lang="en-US" sz="2700" dirty="0" err="1"/>
              <a:t>diğer</a:t>
            </a:r>
            <a:r>
              <a:rPr lang="en-US" sz="2700" dirty="0"/>
              <a:t> </a:t>
            </a:r>
            <a:r>
              <a:rPr lang="en-US" sz="2700" dirty="0" err="1"/>
              <a:t>sosyal</a:t>
            </a:r>
            <a:r>
              <a:rPr lang="en-US" sz="2700" dirty="0"/>
              <a:t> </a:t>
            </a:r>
            <a:r>
              <a:rPr lang="en-US" sz="2700" dirty="0" err="1"/>
              <a:t>medya</a:t>
            </a:r>
            <a:r>
              <a:rPr lang="en-US" sz="2700" dirty="0"/>
              <a:t> </a:t>
            </a:r>
            <a:r>
              <a:rPr lang="en-US" sz="2700" dirty="0" err="1"/>
              <a:t>araçlarının</a:t>
            </a:r>
            <a:r>
              <a:rPr lang="en-US" sz="2700" dirty="0"/>
              <a:t> </a:t>
            </a:r>
            <a:r>
              <a:rPr lang="en-US" sz="2700" dirty="0" err="1"/>
              <a:t>bazı</a:t>
            </a:r>
            <a:r>
              <a:rPr lang="en-US" sz="2700" dirty="0"/>
              <a:t> </a:t>
            </a:r>
            <a:r>
              <a:rPr lang="en-US" sz="2700" dirty="0" err="1"/>
              <a:t>pratik</a:t>
            </a:r>
            <a:r>
              <a:rPr lang="en-US" sz="2700" dirty="0"/>
              <a:t> </a:t>
            </a:r>
            <a:r>
              <a:rPr lang="en-US" sz="2700" dirty="0" err="1"/>
              <a:t>iş</a:t>
            </a:r>
            <a:r>
              <a:rPr lang="en-US" sz="2700" dirty="0"/>
              <a:t> </a:t>
            </a:r>
            <a:r>
              <a:rPr lang="en-US" sz="2700" dirty="0" err="1"/>
              <a:t>kullanımları</a:t>
            </a:r>
            <a:r>
              <a:rPr lang="en-US" sz="2700" dirty="0"/>
              <a:t> </a:t>
            </a:r>
            <a:r>
              <a:rPr lang="en-US" sz="2700" dirty="0" err="1"/>
              <a:t>nelerdir</a:t>
            </a:r>
            <a:r>
              <a:rPr lang="en-US" sz="2700" dirty="0"/>
              <a:t>? 
Viral </a:t>
            </a:r>
            <a:r>
              <a:rPr lang="en-US" sz="2700" dirty="0" err="1"/>
              <a:t>pazarlama</a:t>
            </a:r>
            <a:r>
              <a:rPr lang="en-US" sz="2700" dirty="0"/>
              <a:t>: </a:t>
            </a:r>
            <a:r>
              <a:rPr lang="en-US" sz="2700" dirty="0" err="1"/>
              <a:t>Bireyleri</a:t>
            </a:r>
            <a:r>
              <a:rPr lang="en-US" sz="2700" dirty="0"/>
              <a:t> </a:t>
            </a:r>
            <a:r>
              <a:rPr lang="en-US" sz="2700" dirty="0" err="1"/>
              <a:t>bir</a:t>
            </a:r>
            <a:r>
              <a:rPr lang="en-US" sz="2700" dirty="0"/>
              <a:t> </a:t>
            </a:r>
            <a:r>
              <a:rPr lang="en-US" sz="2700" dirty="0" err="1"/>
              <a:t>pazarlama</a:t>
            </a:r>
            <a:r>
              <a:rPr lang="en-US" sz="2700" dirty="0"/>
              <a:t> </a:t>
            </a:r>
            <a:r>
              <a:rPr lang="en-US" sz="2700" dirty="0" err="1"/>
              <a:t>mesajı</a:t>
            </a:r>
            <a:r>
              <a:rPr lang="en-US" sz="2700" dirty="0"/>
              <a:t> </a:t>
            </a:r>
            <a:r>
              <a:rPr lang="en-US" sz="2700" dirty="0" err="1"/>
              <a:t>iletmeye</a:t>
            </a:r>
            <a:r>
              <a:rPr lang="en-US" sz="2700" dirty="0"/>
              <a:t> </a:t>
            </a:r>
            <a:r>
              <a:rPr lang="en-US" sz="2700" dirty="0" err="1"/>
              <a:t>teşvik</a:t>
            </a:r>
            <a:r>
              <a:rPr lang="en-US" sz="2700" dirty="0"/>
              <a:t> </a:t>
            </a:r>
            <a:r>
              <a:rPr lang="en-US" sz="2700" dirty="0" err="1"/>
              <a:t>eden</a:t>
            </a:r>
            <a:r>
              <a:rPr lang="en-US" sz="2700" dirty="0"/>
              <a:t> </a:t>
            </a:r>
            <a:r>
              <a:rPr lang="en-US" sz="2700" dirty="0" err="1"/>
              <a:t>bir</a:t>
            </a:r>
            <a:r>
              <a:rPr lang="en-US" sz="2700" dirty="0"/>
              <a:t> </a:t>
            </a:r>
            <a:r>
              <a:rPr lang="en-US" sz="2700" dirty="0" err="1"/>
              <a:t>sosyal</a:t>
            </a:r>
            <a:r>
              <a:rPr lang="en-US" sz="2700" dirty="0"/>
              <a:t> </a:t>
            </a:r>
            <a:r>
              <a:rPr lang="en-US" sz="2700" dirty="0" err="1"/>
              <a:t>medya</a:t>
            </a:r>
            <a:r>
              <a:rPr lang="en-US" sz="2700" dirty="0"/>
              <a:t> </a:t>
            </a:r>
            <a:r>
              <a:rPr lang="en-US" sz="2700" dirty="0" err="1"/>
              <a:t>pazarlaması</a:t>
            </a:r>
            <a:r>
              <a:rPr lang="en-US" sz="2700" dirty="0"/>
              <a:t> </a:t>
            </a:r>
            <a:r>
              <a:rPr lang="en-US" sz="2700" dirty="0" err="1"/>
              <a:t>yaklaşımı</a:t>
            </a:r>
            <a:r>
              <a:rPr lang="en-US" sz="2700" dirty="0"/>
              <a:t> 
</a:t>
            </a:r>
            <a:r>
              <a:rPr lang="en-US" sz="2700" dirty="0" err="1"/>
              <a:t>İşverenlerin</a:t>
            </a:r>
            <a:r>
              <a:rPr lang="en-US" sz="2700" dirty="0"/>
              <a:t> </a:t>
            </a:r>
            <a:r>
              <a:rPr lang="en-US" sz="2700" dirty="0" err="1"/>
              <a:t>yaklaşık</a:t>
            </a:r>
            <a:r>
              <a:rPr lang="en-US" sz="2700" dirty="0"/>
              <a:t> %60'ı </a:t>
            </a:r>
            <a:r>
              <a:rPr lang="en-US" sz="2700" dirty="0" err="1"/>
              <a:t>iş</a:t>
            </a:r>
            <a:r>
              <a:rPr lang="en-US" sz="2700" dirty="0"/>
              <a:t> </a:t>
            </a:r>
            <a:r>
              <a:rPr lang="en-US" sz="2700" dirty="0" err="1"/>
              <a:t>adaylarını</a:t>
            </a:r>
            <a:r>
              <a:rPr lang="en-US" sz="2700" dirty="0"/>
              <a:t> </a:t>
            </a:r>
            <a:r>
              <a:rPr lang="en-US" sz="2700" dirty="0" err="1"/>
              <a:t>araştırmak</a:t>
            </a:r>
            <a:r>
              <a:rPr lang="en-US" sz="2700" dirty="0"/>
              <a:t> için </a:t>
            </a:r>
            <a:r>
              <a:rPr lang="en-US" sz="2700" dirty="0" err="1"/>
              <a:t>sosyal</a:t>
            </a:r>
            <a:r>
              <a:rPr lang="en-US" sz="2700" dirty="0"/>
              <a:t> </a:t>
            </a:r>
            <a:r>
              <a:rPr lang="en-US" sz="2700" dirty="0" err="1"/>
              <a:t>medyayı</a:t>
            </a:r>
            <a:r>
              <a:rPr lang="en-US" sz="2700" dirty="0"/>
              <a:t> </a:t>
            </a:r>
            <a:r>
              <a:rPr lang="en-US" sz="2700" dirty="0" err="1"/>
              <a:t>kullandı</a:t>
            </a:r>
            <a:r>
              <a:rPr lang="en-US" sz="2700" dirty="0"/>
              <a:t>
</a:t>
            </a:r>
            <a:r>
              <a:rPr lang="en-US" sz="2700" dirty="0" err="1"/>
              <a:t>İşverenler</a:t>
            </a:r>
            <a:r>
              <a:rPr lang="en-US" sz="2700" dirty="0"/>
              <a:t>, </a:t>
            </a:r>
            <a:r>
              <a:rPr lang="en-US" sz="2700" dirty="0" err="1"/>
              <a:t>şirket</a:t>
            </a:r>
            <a:r>
              <a:rPr lang="en-US" sz="2700" dirty="0"/>
              <a:t> </a:t>
            </a:r>
            <a:r>
              <a:rPr lang="en-US" sz="2700" dirty="0" err="1"/>
              <a:t>ayrımcılık</a:t>
            </a:r>
            <a:r>
              <a:rPr lang="en-US" sz="2700" dirty="0"/>
              <a:t> </a:t>
            </a:r>
            <a:r>
              <a:rPr lang="en-US" sz="2700" dirty="0" err="1"/>
              <a:t>yasalarını</a:t>
            </a:r>
            <a:r>
              <a:rPr lang="en-US" sz="2700" dirty="0"/>
              <a:t> </a:t>
            </a:r>
            <a:r>
              <a:rPr lang="en-US" sz="2700" dirty="0" err="1"/>
              <a:t>ihlal</a:t>
            </a:r>
            <a:r>
              <a:rPr lang="en-US" sz="2700" dirty="0"/>
              <a:t> </a:t>
            </a:r>
            <a:r>
              <a:rPr lang="en-US" sz="2700" dirty="0" err="1"/>
              <a:t>etmediği</a:t>
            </a:r>
            <a:r>
              <a:rPr lang="en-US" sz="2700" dirty="0"/>
              <a:t> </a:t>
            </a:r>
            <a:r>
              <a:rPr lang="en-US" sz="2700" dirty="0" err="1"/>
              <a:t>sürece</a:t>
            </a:r>
            <a:r>
              <a:rPr lang="en-US" sz="2700" dirty="0"/>
              <a:t>, </a:t>
            </a:r>
            <a:r>
              <a:rPr lang="en-US" sz="2700" dirty="0" err="1"/>
              <a:t>kişinin</a:t>
            </a:r>
            <a:r>
              <a:rPr lang="en-US" sz="2700" dirty="0"/>
              <a:t> </a:t>
            </a:r>
            <a:r>
              <a:rPr lang="en-US" sz="2700" dirty="0" err="1"/>
              <a:t>sosyal</a:t>
            </a:r>
            <a:r>
              <a:rPr lang="en-US" sz="2700" dirty="0"/>
              <a:t> </a:t>
            </a:r>
            <a:r>
              <a:rPr lang="en-US" sz="2700" dirty="0" err="1"/>
              <a:t>medya</a:t>
            </a:r>
            <a:r>
              <a:rPr lang="en-US" sz="2700" dirty="0"/>
              <a:t> </a:t>
            </a:r>
            <a:r>
              <a:rPr lang="en-US" sz="2700" dirty="0" err="1"/>
              <a:t>etkinliğine</a:t>
            </a:r>
            <a:r>
              <a:rPr lang="en-US" sz="2700" dirty="0"/>
              <a:t> </a:t>
            </a:r>
            <a:r>
              <a:rPr lang="en-US" sz="2700" dirty="0" err="1"/>
              <a:t>dayalı</a:t>
            </a:r>
            <a:r>
              <a:rPr lang="en-US" sz="2700" dirty="0"/>
              <a:t> </a:t>
            </a:r>
            <a:r>
              <a:rPr lang="en-US" sz="2700" dirty="0" err="1"/>
              <a:t>olarak</a:t>
            </a:r>
            <a:r>
              <a:rPr lang="en-US" sz="2700" dirty="0"/>
              <a:t> </a:t>
            </a:r>
            <a:r>
              <a:rPr lang="en-US" sz="2700" dirty="0" err="1"/>
              <a:t>iş</a:t>
            </a:r>
            <a:r>
              <a:rPr lang="en-US" sz="2700" dirty="0"/>
              <a:t> </a:t>
            </a:r>
            <a:r>
              <a:rPr lang="en-US" sz="2700" dirty="0" err="1"/>
              <a:t>başvurusunda</a:t>
            </a:r>
            <a:r>
              <a:rPr lang="en-US" sz="2700" dirty="0"/>
              <a:t> </a:t>
            </a:r>
            <a:r>
              <a:rPr lang="en-US" sz="2700" dirty="0" err="1"/>
              <a:t>bulunan</a:t>
            </a:r>
            <a:r>
              <a:rPr lang="en-US" sz="2700" dirty="0"/>
              <a:t> </a:t>
            </a:r>
            <a:r>
              <a:rPr lang="en-US" sz="2700" dirty="0" err="1"/>
              <a:t>bir</a:t>
            </a:r>
            <a:r>
              <a:rPr lang="en-US" sz="2700" dirty="0"/>
              <a:t> </a:t>
            </a:r>
            <a:r>
              <a:rPr lang="en-US" sz="2700" dirty="0" err="1"/>
              <a:t>kişiyi</a:t>
            </a:r>
            <a:r>
              <a:rPr lang="en-US" sz="2700" dirty="0"/>
              <a:t> </a:t>
            </a:r>
            <a:r>
              <a:rPr lang="en-US" sz="2700" dirty="0" err="1"/>
              <a:t>yasal</a:t>
            </a:r>
            <a:r>
              <a:rPr lang="en-US" sz="2700" dirty="0"/>
              <a:t> </a:t>
            </a:r>
            <a:r>
              <a:rPr lang="en-US" sz="2700" dirty="0" err="1"/>
              <a:t>olarak</a:t>
            </a:r>
            <a:r>
              <a:rPr lang="en-US" sz="2700" dirty="0"/>
              <a:t> </a:t>
            </a:r>
            <a:r>
              <a:rPr lang="en-US" sz="2700" dirty="0" err="1"/>
              <a:t>reddedebilir</a:t>
            </a:r>
            <a:r>
              <a:rPr lang="en-US" sz="2700" dirty="0"/>
              <a:t>.
</a:t>
            </a:r>
            <a:r>
              <a:rPr lang="en-US" sz="2700" dirty="0" err="1"/>
              <a:t>İş</a:t>
            </a:r>
            <a:r>
              <a:rPr lang="en-US" sz="2700" dirty="0"/>
              <a:t> </a:t>
            </a:r>
            <a:r>
              <a:rPr lang="en-US" sz="2700" dirty="0" err="1"/>
              <a:t>arayan</a:t>
            </a:r>
            <a:r>
              <a:rPr lang="en-US" sz="2700" dirty="0"/>
              <a:t> </a:t>
            </a:r>
            <a:r>
              <a:rPr lang="en-US" sz="2700" dirty="0" err="1"/>
              <a:t>adaylar</a:t>
            </a:r>
            <a:r>
              <a:rPr lang="en-US" sz="2700" dirty="0"/>
              <a:t> </a:t>
            </a:r>
            <a:r>
              <a:rPr lang="en-US" sz="2700" dirty="0" err="1"/>
              <a:t>sosyal</a:t>
            </a:r>
            <a:r>
              <a:rPr lang="en-US" sz="2700" dirty="0"/>
              <a:t> </a:t>
            </a:r>
            <a:r>
              <a:rPr lang="en-US" sz="2700" dirty="0" err="1"/>
              <a:t>medyadaki</a:t>
            </a:r>
            <a:r>
              <a:rPr lang="en-US" sz="2700" dirty="0"/>
              <a:t> </a:t>
            </a:r>
            <a:r>
              <a:rPr lang="en-US" sz="2700" dirty="0" err="1"/>
              <a:t>varlıklarını</a:t>
            </a:r>
            <a:r>
              <a:rPr lang="en-US" sz="2700" dirty="0"/>
              <a:t> </a:t>
            </a:r>
            <a:r>
              <a:rPr lang="en-US" sz="2700" dirty="0" err="1"/>
              <a:t>gözden</a:t>
            </a:r>
            <a:r>
              <a:rPr lang="en-US" sz="2700" dirty="0"/>
              <a:t> </a:t>
            </a:r>
            <a:r>
              <a:rPr lang="en-US" sz="2700" dirty="0" err="1"/>
              <a:t>geçirmelidir</a:t>
            </a:r>
            <a:r>
              <a:rPr lang="en-US" sz="2700" dirty="0"/>
              <a:t>.</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69066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426596"/>
          </a:xfrm>
        </p:spPr>
        <p:txBody>
          <a:bodyPr/>
          <a:lstStyle/>
          <a:p>
            <a:r>
              <a:rPr lang="en-US" sz="2700" dirty="0" err="1"/>
              <a:t>Bireyler</a:t>
            </a:r>
            <a:r>
              <a:rPr lang="en-US" sz="2700" dirty="0"/>
              <a:t> </a:t>
            </a:r>
            <a:r>
              <a:rPr lang="en-US" sz="2700" dirty="0" err="1"/>
              <a:t>sosyal</a:t>
            </a:r>
            <a:r>
              <a:rPr lang="en-US" sz="2700" dirty="0"/>
              <a:t> </a:t>
            </a:r>
            <a:r>
              <a:rPr lang="en-US" sz="2700" dirty="0" err="1"/>
              <a:t>ağları</a:t>
            </a:r>
            <a:r>
              <a:rPr lang="en-US" sz="2700" dirty="0"/>
              <a:t> </a:t>
            </a:r>
            <a:r>
              <a:rPr lang="en-US" sz="2700" dirty="0" err="1"/>
              <a:t>nasıl</a:t>
            </a:r>
            <a:r>
              <a:rPr lang="en-US" sz="2700" dirty="0"/>
              <a:t> </a:t>
            </a:r>
            <a:r>
              <a:rPr lang="en-US" sz="2700" dirty="0" err="1"/>
              <a:t>kullanır</a:t>
            </a:r>
            <a:r>
              <a:rPr lang="en-US" sz="2700" dirty="0"/>
              <a:t> </a:t>
            </a:r>
            <a:r>
              <a:rPr lang="en-US" sz="2700" dirty="0" err="1"/>
              <a:t>ve</a:t>
            </a:r>
            <a:r>
              <a:rPr lang="en-US" sz="2700" dirty="0"/>
              <a:t> </a:t>
            </a:r>
            <a:r>
              <a:rPr lang="en-US" sz="2700" dirty="0" err="1"/>
              <a:t>sosyal</a:t>
            </a:r>
            <a:r>
              <a:rPr lang="en-US" sz="2700" dirty="0"/>
              <a:t> </a:t>
            </a:r>
            <a:r>
              <a:rPr lang="en-US" sz="2700" dirty="0" err="1"/>
              <a:t>ağların</a:t>
            </a:r>
            <a:r>
              <a:rPr lang="en-US" sz="2700" dirty="0"/>
              <a:t> </a:t>
            </a:r>
            <a:r>
              <a:rPr lang="en-US" sz="2700" dirty="0" err="1"/>
              <a:t>ve</a:t>
            </a:r>
            <a:r>
              <a:rPr lang="en-US" sz="2700" dirty="0"/>
              <a:t> </a:t>
            </a:r>
            <a:r>
              <a:rPr lang="en-US" sz="2700" dirty="0" err="1"/>
              <a:t>diğer</a:t>
            </a:r>
            <a:r>
              <a:rPr lang="en-US" sz="2700" dirty="0"/>
              <a:t> </a:t>
            </a:r>
            <a:r>
              <a:rPr lang="en-US" sz="2700" dirty="0" err="1"/>
              <a:t>sosyal</a:t>
            </a:r>
            <a:r>
              <a:rPr lang="en-US" sz="2700" dirty="0"/>
              <a:t> </a:t>
            </a:r>
            <a:r>
              <a:rPr lang="en-US" sz="2700" dirty="0" err="1"/>
              <a:t>medya</a:t>
            </a:r>
            <a:r>
              <a:rPr lang="en-US" sz="2700" dirty="0"/>
              <a:t> </a:t>
            </a:r>
            <a:r>
              <a:rPr lang="en-US" sz="2700" dirty="0" err="1"/>
              <a:t>araçlarının</a:t>
            </a:r>
            <a:r>
              <a:rPr lang="en-US" sz="2700" dirty="0"/>
              <a:t> </a:t>
            </a:r>
            <a:r>
              <a:rPr lang="en-US" sz="2700" dirty="0" err="1"/>
              <a:t>bazı</a:t>
            </a:r>
            <a:r>
              <a:rPr lang="en-US" sz="2700" dirty="0"/>
              <a:t> </a:t>
            </a:r>
            <a:r>
              <a:rPr lang="en-US" sz="2700" dirty="0" err="1"/>
              <a:t>pratik</a:t>
            </a:r>
            <a:r>
              <a:rPr lang="en-US" sz="2700" dirty="0"/>
              <a:t> </a:t>
            </a:r>
            <a:r>
              <a:rPr lang="en-US" sz="2700" dirty="0" err="1"/>
              <a:t>iş</a:t>
            </a:r>
            <a:r>
              <a:rPr lang="en-US" sz="2700" dirty="0"/>
              <a:t> </a:t>
            </a:r>
            <a:r>
              <a:rPr lang="en-US" sz="2700" dirty="0" err="1"/>
              <a:t>kullanımları</a:t>
            </a:r>
            <a:r>
              <a:rPr lang="en-US" sz="2700" dirty="0"/>
              <a:t> </a:t>
            </a:r>
            <a:r>
              <a:rPr lang="en-US" sz="2700" dirty="0" err="1"/>
              <a:t>nelerdir</a:t>
            </a:r>
            <a:r>
              <a:rPr lang="en-US" sz="2700" dirty="0"/>
              <a:t>? 
</a:t>
            </a:r>
            <a:r>
              <a:rPr lang="en-US" sz="2700" dirty="0" err="1"/>
              <a:t>Tüketiciler</a:t>
            </a:r>
            <a:r>
              <a:rPr lang="en-US" sz="2700" dirty="0"/>
              <a:t>, hem iyi hem de </a:t>
            </a:r>
            <a:r>
              <a:rPr lang="en-US" sz="2700" dirty="0" err="1"/>
              <a:t>kötü</a:t>
            </a:r>
            <a:r>
              <a:rPr lang="en-US" sz="2700" dirty="0"/>
              <a:t> </a:t>
            </a:r>
            <a:r>
              <a:rPr lang="en-US" sz="2700" dirty="0" err="1"/>
              <a:t>deneyimlerini</a:t>
            </a:r>
            <a:r>
              <a:rPr lang="en-US" sz="2700" dirty="0"/>
              <a:t> </a:t>
            </a:r>
            <a:r>
              <a:rPr lang="en-US" sz="2700" dirty="0" err="1"/>
              <a:t>başkalarıyla</a:t>
            </a:r>
            <a:r>
              <a:rPr lang="en-US" sz="2700" dirty="0"/>
              <a:t> </a:t>
            </a:r>
            <a:r>
              <a:rPr lang="en-US" sz="2700" dirty="0" err="1"/>
              <a:t>paylaşmak</a:t>
            </a:r>
            <a:r>
              <a:rPr lang="en-US" sz="2700" dirty="0"/>
              <a:t> için </a:t>
            </a:r>
            <a:r>
              <a:rPr lang="en-US" sz="2700" dirty="0" err="1"/>
              <a:t>sosyal</a:t>
            </a:r>
            <a:r>
              <a:rPr lang="en-US" sz="2700" dirty="0"/>
              <a:t> </a:t>
            </a:r>
            <a:r>
              <a:rPr lang="en-US" sz="2700" dirty="0" err="1"/>
              <a:t>ağları</a:t>
            </a:r>
            <a:r>
              <a:rPr lang="en-US" sz="2700" dirty="0"/>
              <a:t> </a:t>
            </a:r>
            <a:r>
              <a:rPr lang="en-US" sz="2700" dirty="0" err="1"/>
              <a:t>kullanır</a:t>
            </a:r>
            <a:r>
              <a:rPr lang="en-US" sz="2700" dirty="0"/>
              <a:t>.
</a:t>
            </a:r>
            <a:r>
              <a:rPr lang="en-US" sz="2700" dirty="0" err="1"/>
              <a:t>Birçok</a:t>
            </a:r>
            <a:r>
              <a:rPr lang="en-US" sz="2700" dirty="0"/>
              <a:t> </a:t>
            </a:r>
            <a:r>
              <a:rPr lang="en-US" sz="2700" dirty="0" err="1"/>
              <a:t>kuruluş</a:t>
            </a:r>
            <a:r>
              <a:rPr lang="en-US" sz="2700" dirty="0"/>
              <a:t>, </a:t>
            </a:r>
            <a:r>
              <a:rPr lang="en-US" sz="2700" dirty="0" err="1"/>
              <a:t>müşteri</a:t>
            </a:r>
            <a:r>
              <a:rPr lang="en-US" sz="2700" dirty="0"/>
              <a:t> </a:t>
            </a:r>
            <a:r>
              <a:rPr lang="en-US" sz="2700" dirty="0" err="1"/>
              <a:t>hizmetlerini</a:t>
            </a:r>
            <a:r>
              <a:rPr lang="en-US" sz="2700" dirty="0"/>
              <a:t> </a:t>
            </a:r>
            <a:r>
              <a:rPr lang="en-US" sz="2700" dirty="0" err="1"/>
              <a:t>iyileştirmek</a:t>
            </a:r>
            <a:r>
              <a:rPr lang="en-US" sz="2700" dirty="0"/>
              <a:t>, </a:t>
            </a:r>
            <a:r>
              <a:rPr lang="en-US" sz="2700" dirty="0" err="1"/>
              <a:t>müşterileri</a:t>
            </a:r>
            <a:r>
              <a:rPr lang="en-US" sz="2700" dirty="0"/>
              <a:t> </a:t>
            </a:r>
            <a:r>
              <a:rPr lang="en-US" sz="2700" dirty="0" err="1"/>
              <a:t>elde</a:t>
            </a:r>
            <a:r>
              <a:rPr lang="en-US" sz="2700" dirty="0"/>
              <a:t> </a:t>
            </a:r>
            <a:r>
              <a:rPr lang="en-US" sz="2700" dirty="0" err="1"/>
              <a:t>tutmak</a:t>
            </a:r>
            <a:r>
              <a:rPr lang="en-US" sz="2700" dirty="0"/>
              <a:t> </a:t>
            </a:r>
            <a:r>
              <a:rPr lang="en-US" sz="2700" dirty="0" err="1"/>
              <a:t>ve</a:t>
            </a:r>
            <a:r>
              <a:rPr lang="en-US" sz="2700" dirty="0"/>
              <a:t> </a:t>
            </a:r>
            <a:r>
              <a:rPr lang="en-US" sz="2700" dirty="0" err="1"/>
              <a:t>satışları</a:t>
            </a:r>
            <a:r>
              <a:rPr lang="en-US" sz="2700" dirty="0"/>
              <a:t> </a:t>
            </a:r>
            <a:r>
              <a:rPr lang="en-US" sz="2700" dirty="0" err="1"/>
              <a:t>artırmak</a:t>
            </a:r>
            <a:r>
              <a:rPr lang="en-US" sz="2700" dirty="0"/>
              <a:t> için </a:t>
            </a:r>
            <a:r>
              <a:rPr lang="en-US" sz="2700" dirty="0" err="1"/>
              <a:t>sosyal</a:t>
            </a:r>
            <a:r>
              <a:rPr lang="en-US" sz="2700" dirty="0"/>
              <a:t> </a:t>
            </a:r>
            <a:r>
              <a:rPr lang="en-US" sz="2700" dirty="0" err="1"/>
              <a:t>medyayı</a:t>
            </a:r>
            <a:r>
              <a:rPr lang="en-US" sz="2700" dirty="0"/>
              <a:t> </a:t>
            </a:r>
            <a:r>
              <a:rPr lang="en-US" sz="2700" dirty="0" err="1"/>
              <a:t>aktif</a:t>
            </a:r>
            <a:r>
              <a:rPr lang="en-US" sz="2700" dirty="0"/>
              <a:t> </a:t>
            </a:r>
            <a:r>
              <a:rPr lang="en-US" sz="2700" dirty="0" err="1"/>
              <a:t>olarak</a:t>
            </a:r>
            <a:r>
              <a:rPr lang="en-US" sz="2700" dirty="0"/>
              <a:t> </a:t>
            </a:r>
            <a:r>
              <a:rPr lang="en-US" sz="2700" dirty="0" err="1"/>
              <a:t>izler</a:t>
            </a:r>
            <a:r>
              <a:rPr lang="en-US" sz="2700" dirty="0"/>
              <a:t>.
</a:t>
            </a:r>
            <a:r>
              <a:rPr lang="en-US" sz="2700" dirty="0" err="1"/>
              <a:t>Sosyal</a:t>
            </a:r>
            <a:r>
              <a:rPr lang="en-US" sz="2700" dirty="0"/>
              <a:t> </a:t>
            </a:r>
            <a:r>
              <a:rPr lang="en-US" sz="2700" dirty="0" err="1"/>
              <a:t>alışveriş</a:t>
            </a:r>
            <a:r>
              <a:rPr lang="en-US" sz="2700" dirty="0"/>
              <a:t> </a:t>
            </a:r>
            <a:r>
              <a:rPr lang="en-US" sz="2700" dirty="0" err="1"/>
              <a:t>platformu</a:t>
            </a:r>
            <a:r>
              <a:rPr lang="en-US" sz="2700" dirty="0"/>
              <a:t>: </a:t>
            </a:r>
            <a:r>
              <a:rPr lang="en-US" sz="2700" dirty="0" err="1"/>
              <a:t>Alışveriş</a:t>
            </a:r>
            <a:r>
              <a:rPr lang="en-US" sz="2700" dirty="0"/>
              <a:t> </a:t>
            </a:r>
            <a:r>
              <a:rPr lang="en-US" sz="2700" dirty="0" err="1"/>
              <a:t>yapanları</a:t>
            </a:r>
            <a:r>
              <a:rPr lang="en-US" sz="2700" dirty="0"/>
              <a:t> </a:t>
            </a:r>
            <a:r>
              <a:rPr lang="en-US" sz="2700" dirty="0" err="1"/>
              <a:t>ve</a:t>
            </a:r>
            <a:r>
              <a:rPr lang="en-US" sz="2700" dirty="0"/>
              <a:t> </a:t>
            </a:r>
            <a:r>
              <a:rPr lang="en-US" sz="2700" dirty="0" err="1"/>
              <a:t>satıcıları</a:t>
            </a:r>
            <a:r>
              <a:rPr lang="en-US" sz="2700" dirty="0"/>
              <a:t> </a:t>
            </a:r>
            <a:r>
              <a:rPr lang="en-US" sz="2700" dirty="0" err="1"/>
              <a:t>bir</a:t>
            </a:r>
            <a:r>
              <a:rPr lang="en-US" sz="2700" dirty="0"/>
              <a:t> </a:t>
            </a:r>
            <a:r>
              <a:rPr lang="en-US" sz="2700" dirty="0" err="1"/>
              <a:t>araya</a:t>
            </a:r>
            <a:r>
              <a:rPr lang="en-US" sz="2700" dirty="0"/>
              <a:t> </a:t>
            </a:r>
            <a:r>
              <a:rPr lang="en-US" sz="2700" dirty="0" err="1"/>
              <a:t>getirir</a:t>
            </a:r>
            <a:r>
              <a:rPr lang="en-US" sz="2700" dirty="0"/>
              <a:t>; </a:t>
            </a:r>
            <a:r>
              <a:rPr lang="en-US" sz="2700" dirty="0" err="1"/>
              <a:t>Üyeler</a:t>
            </a:r>
            <a:r>
              <a:rPr lang="en-US" sz="2700" dirty="0"/>
              <a:t> </a:t>
            </a:r>
            <a:r>
              <a:rPr lang="en-US" sz="2700" dirty="0" err="1"/>
              <a:t>çevrimiçi</a:t>
            </a:r>
            <a:r>
              <a:rPr lang="en-US" sz="2700" dirty="0"/>
              <a:t> </a:t>
            </a:r>
            <a:r>
              <a:rPr lang="en-US" sz="2700" dirty="0" err="1"/>
              <a:t>alışveriş</a:t>
            </a:r>
            <a:r>
              <a:rPr lang="en-US" sz="2700" dirty="0"/>
              <a:t> </a:t>
            </a:r>
            <a:r>
              <a:rPr lang="en-US" sz="2700" dirty="0" err="1"/>
              <a:t>yaparken</a:t>
            </a:r>
            <a:r>
              <a:rPr lang="en-US" sz="2700" dirty="0"/>
              <a:t> </a:t>
            </a:r>
            <a:r>
              <a:rPr lang="en-US" sz="2700" dirty="0" err="1"/>
              <a:t>bilgi</a:t>
            </a:r>
            <a:r>
              <a:rPr lang="en-US" sz="2700" dirty="0"/>
              <a:t> </a:t>
            </a:r>
            <a:r>
              <a:rPr lang="en-US" sz="2700" dirty="0" err="1"/>
              <a:t>paylaşır</a:t>
            </a:r>
            <a:r>
              <a:rPr lang="en-US" sz="2700" dirty="0"/>
              <a:t> </a:t>
            </a:r>
            <a:r>
              <a:rPr lang="en-US" sz="2700" dirty="0" err="1"/>
              <a:t>ve</a:t>
            </a:r>
            <a:r>
              <a:rPr lang="en-US" sz="2700" dirty="0"/>
              <a:t> </a:t>
            </a:r>
            <a:r>
              <a:rPr lang="en-US" sz="2700" dirty="0" err="1"/>
              <a:t>önerilerde</a:t>
            </a:r>
            <a:r>
              <a:rPr lang="en-US" sz="2700" dirty="0"/>
              <a:t> </a:t>
            </a:r>
            <a:r>
              <a:rPr lang="en-US" sz="2700" dirty="0" err="1"/>
              <a:t>bulunur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0276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4825937"/>
          </a:xfrm>
        </p:spPr>
        <p:txBody>
          <a:bodyPr/>
          <a:lstStyle/>
          <a:p>
            <a:r>
              <a:rPr lang="en-US" sz="2400" dirty="0" err="1"/>
              <a:t>Sosyal</a:t>
            </a:r>
            <a:r>
              <a:rPr lang="en-US" sz="2400" dirty="0"/>
              <a:t> </a:t>
            </a:r>
            <a:r>
              <a:rPr lang="en-US" sz="2400" dirty="0" err="1"/>
              <a:t>ağların</a:t>
            </a:r>
            <a:r>
              <a:rPr lang="en-US" sz="2400" dirty="0"/>
              <a:t> </a:t>
            </a:r>
            <a:r>
              <a:rPr lang="en-US" sz="2400" dirty="0" err="1"/>
              <a:t>ve</a:t>
            </a:r>
            <a:r>
              <a:rPr lang="en-US" sz="2400" dirty="0"/>
              <a:t> </a:t>
            </a:r>
            <a:r>
              <a:rPr lang="en-US" sz="2400" dirty="0" err="1"/>
              <a:t>diğer</a:t>
            </a:r>
            <a:r>
              <a:rPr lang="en-US" sz="2400" dirty="0"/>
              <a:t> </a:t>
            </a:r>
            <a:r>
              <a:rPr lang="en-US" sz="2400" dirty="0" err="1"/>
              <a:t>sosyal</a:t>
            </a:r>
            <a:r>
              <a:rPr lang="en-US" sz="2400" dirty="0"/>
              <a:t> </a:t>
            </a:r>
            <a:r>
              <a:rPr lang="en-US" sz="2400" dirty="0" err="1"/>
              <a:t>medyanın</a:t>
            </a:r>
            <a:r>
              <a:rPr lang="en-US" sz="2400" dirty="0"/>
              <a:t> </a:t>
            </a:r>
            <a:r>
              <a:rPr lang="en-US" sz="2400" dirty="0" err="1"/>
              <a:t>kullanımıyla</a:t>
            </a:r>
            <a:r>
              <a:rPr lang="en-US" sz="2400" dirty="0"/>
              <a:t> </a:t>
            </a:r>
            <a:r>
              <a:rPr lang="en-US" sz="2400" dirty="0" err="1"/>
              <a:t>ilgili</a:t>
            </a:r>
            <a:r>
              <a:rPr lang="en-US" sz="2400" dirty="0"/>
              <a:t> </a:t>
            </a:r>
            <a:r>
              <a:rPr lang="en-US" sz="2400" dirty="0" err="1"/>
              <a:t>temel</a:t>
            </a:r>
            <a:r>
              <a:rPr lang="en-US" sz="2400" dirty="0"/>
              <a:t> </a:t>
            </a:r>
            <a:r>
              <a:rPr lang="en-US" sz="2400" dirty="0" err="1"/>
              <a:t>etik</a:t>
            </a:r>
            <a:r>
              <a:rPr lang="en-US" sz="2400" dirty="0"/>
              <a:t> </a:t>
            </a:r>
            <a:r>
              <a:rPr lang="en-US" sz="2400" dirty="0" err="1"/>
              <a:t>sorunlardan</a:t>
            </a:r>
            <a:r>
              <a:rPr lang="en-US" sz="2400" dirty="0"/>
              <a:t> </a:t>
            </a:r>
            <a:r>
              <a:rPr lang="en-US" sz="2400" dirty="0" err="1"/>
              <a:t>bazıları</a:t>
            </a:r>
            <a:r>
              <a:rPr lang="en-US" sz="2400" dirty="0"/>
              <a:t> </a:t>
            </a:r>
            <a:r>
              <a:rPr lang="en-US" sz="2400" dirty="0" err="1"/>
              <a:t>nelerdir</a:t>
            </a:r>
            <a:r>
              <a:rPr lang="en-US" sz="2400" dirty="0"/>
              <a:t>?
</a:t>
            </a:r>
            <a:r>
              <a:rPr lang="en-US" sz="2400" dirty="0" err="1"/>
              <a:t>Siber</a:t>
            </a:r>
            <a:r>
              <a:rPr lang="en-US" sz="2400" dirty="0"/>
              <a:t> </a:t>
            </a:r>
            <a:r>
              <a:rPr lang="en-US" sz="2400" dirty="0" err="1"/>
              <a:t>istismar</a:t>
            </a:r>
            <a:r>
              <a:rPr lang="en-US" sz="2400" dirty="0"/>
              <a:t>: </a:t>
            </a:r>
            <a:r>
              <a:rPr lang="en-US" sz="2400" dirty="0" err="1"/>
              <a:t>Başkalarına</a:t>
            </a:r>
            <a:r>
              <a:rPr lang="en-US" sz="2400" dirty="0"/>
              <a:t> </a:t>
            </a:r>
            <a:r>
              <a:rPr lang="en-US" sz="2400" dirty="0" err="1"/>
              <a:t>zarar</a:t>
            </a:r>
            <a:r>
              <a:rPr lang="en-US" sz="2400" dirty="0"/>
              <a:t> </a:t>
            </a:r>
            <a:r>
              <a:rPr lang="en-US" sz="2400" dirty="0" err="1"/>
              <a:t>vermek</a:t>
            </a:r>
            <a:r>
              <a:rPr lang="en-US" sz="2400" dirty="0"/>
              <a:t> </a:t>
            </a:r>
            <a:r>
              <a:rPr lang="en-US" sz="2400" dirty="0" err="1"/>
              <a:t>ve</a:t>
            </a:r>
            <a:r>
              <a:rPr lang="en-US" sz="2400" dirty="0"/>
              <a:t> </a:t>
            </a:r>
            <a:r>
              <a:rPr lang="en-US" sz="2400" dirty="0" err="1"/>
              <a:t>sıkıntı</a:t>
            </a:r>
            <a:r>
              <a:rPr lang="en-US" sz="2400" dirty="0"/>
              <a:t> </a:t>
            </a:r>
            <a:r>
              <a:rPr lang="en-US" sz="2400" dirty="0" err="1"/>
              <a:t>vermek</a:t>
            </a:r>
            <a:r>
              <a:rPr lang="en-US" sz="2400" dirty="0"/>
              <a:t> için </a:t>
            </a:r>
            <a:r>
              <a:rPr lang="en-US" sz="2400" dirty="0" err="1"/>
              <a:t>bir</a:t>
            </a:r>
            <a:r>
              <a:rPr lang="en-US" sz="2400" dirty="0"/>
              <a:t> </a:t>
            </a:r>
            <a:r>
              <a:rPr lang="en-US" sz="2400" dirty="0" err="1"/>
              <a:t>elektronik</a:t>
            </a:r>
            <a:r>
              <a:rPr lang="en-US" sz="2400" dirty="0"/>
              <a:t> </a:t>
            </a:r>
            <a:r>
              <a:rPr lang="en-US" sz="2400" dirty="0" err="1"/>
              <a:t>iletişim</a:t>
            </a:r>
            <a:r>
              <a:rPr lang="en-US" sz="2400" dirty="0"/>
              <a:t> </a:t>
            </a:r>
            <a:r>
              <a:rPr lang="en-US" sz="2400" dirty="0" err="1"/>
              <a:t>cihazı</a:t>
            </a:r>
            <a:r>
              <a:rPr lang="en-US" sz="2400" dirty="0"/>
              <a:t> </a:t>
            </a:r>
            <a:r>
              <a:rPr lang="en-US" sz="2400" dirty="0" err="1"/>
              <a:t>kullanan</a:t>
            </a:r>
            <a:r>
              <a:rPr lang="en-US" sz="2400" dirty="0"/>
              <a:t> her </a:t>
            </a:r>
            <a:r>
              <a:rPr lang="en-US" sz="2400" dirty="0" err="1"/>
              <a:t>türlü</a:t>
            </a:r>
            <a:r>
              <a:rPr lang="en-US" sz="2400" dirty="0"/>
              <a:t> </a:t>
            </a:r>
            <a:r>
              <a:rPr lang="en-US" sz="2400" dirty="0" err="1"/>
              <a:t>kötü</a:t>
            </a:r>
            <a:r>
              <a:rPr lang="en-US" sz="2400" dirty="0"/>
              <a:t> </a:t>
            </a:r>
            <a:r>
              <a:rPr lang="en-US" sz="2400" dirty="0" err="1"/>
              <a:t>muamele</a:t>
            </a:r>
            <a:r>
              <a:rPr lang="en-US" sz="2400" dirty="0"/>
              <a:t>
</a:t>
            </a:r>
            <a:r>
              <a:rPr lang="en-US" sz="2400" dirty="0" err="1"/>
              <a:t>Siber</a:t>
            </a:r>
            <a:r>
              <a:rPr lang="en-US" sz="2400" dirty="0"/>
              <a:t> </a:t>
            </a:r>
            <a:r>
              <a:rPr lang="en-US" sz="2400" dirty="0" err="1"/>
              <a:t>taciz</a:t>
            </a:r>
            <a:r>
              <a:rPr lang="en-US" sz="2400" dirty="0"/>
              <a:t>: Bir </a:t>
            </a:r>
            <a:r>
              <a:rPr lang="en-US" sz="2400" dirty="0" err="1"/>
              <a:t>birey</a:t>
            </a:r>
            <a:r>
              <a:rPr lang="en-US" sz="2400" dirty="0"/>
              <a:t> </a:t>
            </a:r>
            <a:r>
              <a:rPr lang="en-US" sz="2400" dirty="0" err="1"/>
              <a:t>veya</a:t>
            </a:r>
            <a:r>
              <a:rPr lang="en-US" sz="2400" dirty="0"/>
              <a:t> </a:t>
            </a:r>
            <a:r>
              <a:rPr lang="en-US" sz="2400" dirty="0" err="1"/>
              <a:t>birey</a:t>
            </a:r>
            <a:r>
              <a:rPr lang="en-US" sz="2400" dirty="0"/>
              <a:t> </a:t>
            </a:r>
            <a:r>
              <a:rPr lang="en-US" sz="2400" dirty="0" err="1"/>
              <a:t>grubu</a:t>
            </a:r>
            <a:r>
              <a:rPr lang="en-US" sz="2400" dirty="0"/>
              <a:t> için </a:t>
            </a:r>
            <a:r>
              <a:rPr lang="en-US" sz="2400" dirty="0" err="1"/>
              <a:t>aşağılayıcı</a:t>
            </a:r>
            <a:r>
              <a:rPr lang="en-US" sz="2400" dirty="0"/>
              <a:t>, </a:t>
            </a:r>
            <a:r>
              <a:rPr lang="en-US" sz="2400" dirty="0" err="1"/>
              <a:t>korkutucu</a:t>
            </a:r>
            <a:r>
              <a:rPr lang="en-US" sz="2400" dirty="0"/>
              <a:t>, </a:t>
            </a:r>
            <a:r>
              <a:rPr lang="en-US" sz="2400" dirty="0" err="1"/>
              <a:t>incitici</a:t>
            </a:r>
            <a:r>
              <a:rPr lang="en-US" sz="2400" dirty="0"/>
              <a:t>, </a:t>
            </a:r>
            <a:r>
              <a:rPr lang="en-US" sz="2400" dirty="0" err="1"/>
              <a:t>kötü</a:t>
            </a:r>
            <a:r>
              <a:rPr lang="en-US" sz="2400" dirty="0"/>
              <a:t> </a:t>
            </a:r>
            <a:r>
              <a:rPr lang="en-US" sz="2400" dirty="0" err="1"/>
              <a:t>niyetli</a:t>
            </a:r>
            <a:r>
              <a:rPr lang="en-US" sz="2400" dirty="0"/>
              <a:t> </a:t>
            </a:r>
            <a:r>
              <a:rPr lang="en-US" sz="2400" dirty="0" err="1"/>
              <a:t>veya</a:t>
            </a:r>
            <a:r>
              <a:rPr lang="en-US" sz="2400" dirty="0"/>
              <a:t> </a:t>
            </a:r>
            <a:r>
              <a:rPr lang="en-US" sz="2400" dirty="0" err="1"/>
              <a:t>başka</a:t>
            </a:r>
            <a:r>
              <a:rPr lang="en-US" sz="2400" dirty="0"/>
              <a:t> </a:t>
            </a:r>
            <a:r>
              <a:rPr lang="en-US" sz="2400" dirty="0" err="1"/>
              <a:t>bir</a:t>
            </a:r>
            <a:r>
              <a:rPr lang="en-US" sz="2400" dirty="0"/>
              <a:t> </a:t>
            </a:r>
            <a:r>
              <a:rPr lang="en-US" sz="2400" dirty="0" err="1"/>
              <a:t>şekilde</a:t>
            </a:r>
            <a:r>
              <a:rPr lang="en-US" sz="2400" dirty="0"/>
              <a:t> </a:t>
            </a:r>
            <a:r>
              <a:rPr lang="en-US" sz="2400" dirty="0" err="1"/>
              <a:t>saldırgan</a:t>
            </a:r>
            <a:r>
              <a:rPr lang="en-US" sz="2400" dirty="0"/>
              <a:t> </a:t>
            </a:r>
            <a:r>
              <a:rPr lang="en-US" sz="2400" dirty="0" err="1"/>
              <a:t>olan</a:t>
            </a:r>
            <a:r>
              <a:rPr lang="en-US" sz="2400" dirty="0"/>
              <a:t> </a:t>
            </a:r>
            <a:r>
              <a:rPr lang="en-US" sz="2400" dirty="0" err="1"/>
              <a:t>taciz</a:t>
            </a:r>
            <a:r>
              <a:rPr lang="en-US" sz="2400" dirty="0"/>
              <a:t> </a:t>
            </a:r>
            <a:r>
              <a:rPr lang="en-US" sz="2400" dirty="0" err="1"/>
              <a:t>edici</a:t>
            </a:r>
            <a:r>
              <a:rPr lang="en-US" sz="2400" dirty="0"/>
              <a:t> </a:t>
            </a:r>
            <a:r>
              <a:rPr lang="en-US" sz="2400" dirty="0" err="1"/>
              <a:t>davranış</a:t>
            </a:r>
            <a:r>
              <a:rPr lang="en-US" sz="2400" dirty="0"/>
              <a:t>
</a:t>
            </a:r>
            <a:r>
              <a:rPr lang="en-US" sz="2400" dirty="0" err="1"/>
              <a:t>Siber</a:t>
            </a:r>
            <a:r>
              <a:rPr lang="en-US" sz="2400" dirty="0"/>
              <a:t> </a:t>
            </a:r>
            <a:r>
              <a:rPr lang="en-US" sz="2400" dirty="0" err="1"/>
              <a:t>taciz</a:t>
            </a:r>
            <a:r>
              <a:rPr lang="en-US" sz="2400" dirty="0"/>
              <a:t>: Bir </a:t>
            </a:r>
            <a:r>
              <a:rPr lang="en-US" sz="2400" dirty="0" err="1"/>
              <a:t>kişi</a:t>
            </a:r>
            <a:r>
              <a:rPr lang="en-US" sz="2400" dirty="0"/>
              <a:t> </a:t>
            </a:r>
            <a:r>
              <a:rPr lang="en-US" sz="2400" dirty="0" err="1"/>
              <a:t>tarafından</a:t>
            </a:r>
            <a:r>
              <a:rPr lang="en-US" sz="2400" dirty="0"/>
              <a:t> </a:t>
            </a:r>
            <a:r>
              <a:rPr lang="en-US" sz="2400" dirty="0" err="1"/>
              <a:t>diğerine</a:t>
            </a:r>
            <a:r>
              <a:rPr lang="en-US" sz="2400" dirty="0"/>
              <a:t> </a:t>
            </a:r>
            <a:r>
              <a:rPr lang="en-US" sz="2400" dirty="0" err="1"/>
              <a:t>yöneltilen</a:t>
            </a:r>
            <a:r>
              <a:rPr lang="en-US" sz="2400" dirty="0"/>
              <a:t>, </a:t>
            </a:r>
            <a:r>
              <a:rPr lang="en-US" sz="2400" dirty="0" err="1"/>
              <a:t>mağdurda</a:t>
            </a:r>
            <a:r>
              <a:rPr lang="en-US" sz="2400" dirty="0"/>
              <a:t> </a:t>
            </a:r>
            <a:r>
              <a:rPr lang="en-US" sz="2400" dirty="0" err="1"/>
              <a:t>korku</a:t>
            </a:r>
            <a:r>
              <a:rPr lang="en-US" sz="2400" dirty="0"/>
              <a:t> </a:t>
            </a:r>
            <a:r>
              <a:rPr lang="en-US" sz="2400" dirty="0" err="1"/>
              <a:t>ve</a:t>
            </a:r>
            <a:r>
              <a:rPr lang="en-US" sz="2400" dirty="0"/>
              <a:t> </a:t>
            </a:r>
            <a:r>
              <a:rPr lang="en-US" sz="2400" dirty="0" err="1"/>
              <a:t>sıkıntıya</a:t>
            </a:r>
            <a:r>
              <a:rPr lang="en-US" sz="2400" dirty="0"/>
              <a:t> </a:t>
            </a:r>
            <a:r>
              <a:rPr lang="en-US" sz="2400" dirty="0" err="1"/>
              <a:t>neden</a:t>
            </a:r>
            <a:r>
              <a:rPr lang="en-US" sz="2400" dirty="0"/>
              <a:t> </a:t>
            </a:r>
            <a:r>
              <a:rPr lang="en-US" sz="2400" dirty="0" err="1"/>
              <a:t>olan</a:t>
            </a:r>
            <a:r>
              <a:rPr lang="en-US" sz="2400" dirty="0"/>
              <a:t> </a:t>
            </a:r>
            <a:r>
              <a:rPr lang="en-US" sz="2400" dirty="0" err="1"/>
              <a:t>uzun</a:t>
            </a:r>
            <a:r>
              <a:rPr lang="en-US" sz="2400" dirty="0"/>
              <a:t> </a:t>
            </a:r>
            <a:r>
              <a:rPr lang="en-US" sz="2400" dirty="0" err="1"/>
              <a:t>vadeli</a:t>
            </a:r>
            <a:r>
              <a:rPr lang="en-US" sz="2400" dirty="0"/>
              <a:t> </a:t>
            </a:r>
            <a:r>
              <a:rPr lang="en-US" sz="2400" dirty="0" err="1"/>
              <a:t>istenmeyen</a:t>
            </a:r>
            <a:r>
              <a:rPr lang="en-US" sz="2400" dirty="0"/>
              <a:t> </a:t>
            </a:r>
            <a:r>
              <a:rPr lang="en-US" sz="2400" dirty="0" err="1"/>
              <a:t>ısrarlı</a:t>
            </a:r>
            <a:r>
              <a:rPr lang="en-US" sz="2400" dirty="0"/>
              <a:t> </a:t>
            </a:r>
            <a:r>
              <a:rPr lang="en-US" sz="2400" dirty="0" err="1"/>
              <a:t>takip</a:t>
            </a:r>
            <a:r>
              <a:rPr lang="en-US" sz="2400" dirty="0"/>
              <a:t> </a:t>
            </a:r>
            <a:r>
              <a:rPr lang="en-US" sz="2400" dirty="0" err="1"/>
              <a:t>ve</a:t>
            </a:r>
            <a:r>
              <a:rPr lang="en-US" sz="2400" dirty="0"/>
              <a:t> </a:t>
            </a:r>
            <a:r>
              <a:rPr lang="en-US" sz="2400" dirty="0" err="1"/>
              <a:t>müdahaleci</a:t>
            </a:r>
            <a:r>
              <a:rPr lang="en-US" sz="2400" dirty="0"/>
              <a:t> </a:t>
            </a:r>
            <a:r>
              <a:rPr lang="en-US" sz="2400" dirty="0" err="1"/>
              <a:t>davranış</a:t>
            </a:r>
            <a:r>
              <a:rPr lang="en-US" sz="2400" dirty="0"/>
              <a:t> </a:t>
            </a:r>
            <a:r>
              <a:rPr lang="en-US" sz="2400" dirty="0" err="1"/>
              <a:t>modeli</a:t>
            </a:r>
            <a:r>
              <a:rPr lang="en-US" sz="2400" dirty="0"/>
              <a:t>
</a:t>
            </a:r>
            <a:r>
              <a:rPr lang="en-US" sz="2400" dirty="0" err="1"/>
              <a:t>ABD'deki</a:t>
            </a:r>
            <a:r>
              <a:rPr lang="en-US" sz="2400" dirty="0"/>
              <a:t> İnternet </a:t>
            </a:r>
            <a:r>
              <a:rPr lang="en-US" sz="2400" dirty="0" err="1"/>
              <a:t>kullanıcılarının</a:t>
            </a:r>
            <a:r>
              <a:rPr lang="en-US" sz="2400" dirty="0"/>
              <a:t> </a:t>
            </a:r>
            <a:r>
              <a:rPr lang="en-US" sz="2400" dirty="0" err="1"/>
              <a:t>yaklaşık</a:t>
            </a:r>
            <a:r>
              <a:rPr lang="en-US" sz="2400" dirty="0"/>
              <a:t> </a:t>
            </a:r>
            <a:r>
              <a:rPr lang="en-US" sz="2400" dirty="0" err="1"/>
              <a:t>dörtte</a:t>
            </a:r>
            <a:r>
              <a:rPr lang="en-US" sz="2400" dirty="0"/>
              <a:t> </a:t>
            </a:r>
            <a:r>
              <a:rPr lang="en-US" sz="2400" dirty="0" err="1"/>
              <a:t>üçü</a:t>
            </a:r>
            <a:r>
              <a:rPr lang="en-US" sz="2400" dirty="0"/>
              <a:t> </a:t>
            </a:r>
            <a:r>
              <a:rPr lang="en-US" sz="2400" dirty="0" err="1"/>
              <a:t>siber</a:t>
            </a:r>
            <a:r>
              <a:rPr lang="en-US" sz="2400" dirty="0"/>
              <a:t> </a:t>
            </a:r>
            <a:r>
              <a:rPr lang="en-US" sz="2400" dirty="0" err="1"/>
              <a:t>istismara</a:t>
            </a:r>
            <a:r>
              <a:rPr lang="en-US" sz="2400" dirty="0"/>
              <a:t> </a:t>
            </a:r>
            <a:r>
              <a:rPr lang="en-US" sz="2400" dirty="0" err="1"/>
              <a:t>tanık</a:t>
            </a:r>
            <a:r>
              <a:rPr lang="en-US" sz="2400" dirty="0"/>
              <a:t> </a:t>
            </a:r>
            <a:r>
              <a:rPr lang="en-US" sz="2400" dirty="0" err="1"/>
              <a:t>oldu</a:t>
            </a:r>
            <a:r>
              <a:rPr lang="en-US" sz="2400" dirty="0"/>
              <a:t> </a:t>
            </a:r>
            <a:r>
              <a:rPr lang="en-US" sz="2400" dirty="0" err="1"/>
              <a:t>ve</a:t>
            </a:r>
            <a:r>
              <a:rPr lang="en-US" sz="2400" dirty="0"/>
              <a:t> </a:t>
            </a:r>
            <a:r>
              <a:rPr lang="en-US" sz="2400" dirty="0" err="1"/>
              <a:t>neredeyse</a:t>
            </a:r>
            <a:r>
              <a:rPr lang="en-US" sz="2400" dirty="0"/>
              <a:t> </a:t>
            </a:r>
            <a:r>
              <a:rPr lang="en-US" sz="2400" dirty="0" err="1"/>
              <a:t>yarısı</a:t>
            </a:r>
            <a:r>
              <a:rPr lang="en-US" sz="2400" dirty="0"/>
              <a:t> </a:t>
            </a:r>
            <a:r>
              <a:rPr lang="en-US" sz="2400" dirty="0" err="1"/>
              <a:t>bunu</a:t>
            </a:r>
            <a:r>
              <a:rPr lang="en-US" sz="2400" dirty="0"/>
              <a:t> </a:t>
            </a:r>
            <a:r>
              <a:rPr lang="en-US" sz="2400" dirty="0" err="1"/>
              <a:t>kişisel</a:t>
            </a:r>
            <a:r>
              <a:rPr lang="en-US" sz="2400" dirty="0"/>
              <a:t> </a:t>
            </a:r>
            <a:r>
              <a:rPr lang="en-US" sz="2400" dirty="0" err="1"/>
              <a:t>olarak</a:t>
            </a:r>
            <a:r>
              <a:rPr lang="en-US" sz="2400" dirty="0"/>
              <a:t> </a:t>
            </a:r>
            <a:r>
              <a:rPr lang="en-US" sz="2400" dirty="0" err="1"/>
              <a:t>deneyimledi</a:t>
            </a:r>
            <a:r>
              <a:rPr lang="en-US" sz="2400" dirty="0"/>
              <a:t>.</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26514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5506123"/>
          </a:xfrm>
        </p:spPr>
        <p:txBody>
          <a:bodyPr/>
          <a:lstStyle/>
          <a:p>
            <a:r>
              <a:rPr lang="en-US" sz="2700" dirty="0" err="1"/>
              <a:t>Sosyal</a:t>
            </a:r>
            <a:r>
              <a:rPr lang="en-US" sz="2700" dirty="0"/>
              <a:t> </a:t>
            </a:r>
            <a:r>
              <a:rPr lang="en-US" sz="2700" dirty="0" err="1"/>
              <a:t>ağların</a:t>
            </a:r>
            <a:r>
              <a:rPr lang="en-US" sz="2700" dirty="0"/>
              <a:t> </a:t>
            </a:r>
            <a:r>
              <a:rPr lang="en-US" sz="2700" dirty="0" err="1"/>
              <a:t>ve</a:t>
            </a:r>
            <a:r>
              <a:rPr lang="en-US" sz="2700" dirty="0"/>
              <a:t> </a:t>
            </a:r>
            <a:r>
              <a:rPr lang="en-US" sz="2700" dirty="0" err="1"/>
              <a:t>diğer</a:t>
            </a:r>
            <a:r>
              <a:rPr lang="en-US" sz="2700" dirty="0"/>
              <a:t> </a:t>
            </a:r>
            <a:r>
              <a:rPr lang="en-US" sz="2700" dirty="0" err="1"/>
              <a:t>sosyal</a:t>
            </a:r>
            <a:r>
              <a:rPr lang="en-US" sz="2700" dirty="0"/>
              <a:t> </a:t>
            </a:r>
            <a:r>
              <a:rPr lang="en-US" sz="2700" dirty="0" err="1"/>
              <a:t>medyanın</a:t>
            </a:r>
            <a:r>
              <a:rPr lang="en-US" sz="2700" dirty="0"/>
              <a:t> </a:t>
            </a:r>
            <a:r>
              <a:rPr lang="en-US" sz="2700" dirty="0" err="1"/>
              <a:t>kullanımıyla</a:t>
            </a:r>
            <a:r>
              <a:rPr lang="en-US" sz="2700" dirty="0"/>
              <a:t> </a:t>
            </a:r>
            <a:r>
              <a:rPr lang="en-US" sz="2700" dirty="0" err="1"/>
              <a:t>ilgili</a:t>
            </a:r>
            <a:r>
              <a:rPr lang="en-US" sz="2700" dirty="0"/>
              <a:t> </a:t>
            </a:r>
            <a:r>
              <a:rPr lang="en-US" sz="2700" dirty="0" err="1"/>
              <a:t>temel</a:t>
            </a:r>
            <a:r>
              <a:rPr lang="en-US" sz="2700" dirty="0"/>
              <a:t> </a:t>
            </a:r>
            <a:r>
              <a:rPr lang="en-US" sz="2700" dirty="0" err="1"/>
              <a:t>etik</a:t>
            </a:r>
            <a:r>
              <a:rPr lang="en-US" sz="2700" dirty="0"/>
              <a:t> </a:t>
            </a:r>
            <a:r>
              <a:rPr lang="en-US" sz="2700" dirty="0" err="1"/>
              <a:t>sorunlardan</a:t>
            </a:r>
            <a:r>
              <a:rPr lang="en-US" sz="2700" dirty="0"/>
              <a:t> </a:t>
            </a:r>
            <a:r>
              <a:rPr lang="en-US" sz="2700" dirty="0" err="1"/>
              <a:t>bazıları</a:t>
            </a:r>
            <a:r>
              <a:rPr lang="en-US" sz="2700" dirty="0"/>
              <a:t> </a:t>
            </a:r>
            <a:r>
              <a:rPr lang="en-US" sz="2700" dirty="0" err="1"/>
              <a:t>nelerdir</a:t>
            </a:r>
            <a:r>
              <a:rPr lang="en-US" sz="2700" dirty="0"/>
              <a:t>?
1994 Jacob Wetterling </a:t>
            </a:r>
            <a:r>
              <a:rPr lang="en-US" sz="2700" dirty="0" err="1"/>
              <a:t>Çocuklara</a:t>
            </a:r>
            <a:r>
              <a:rPr lang="en-US" sz="2700" dirty="0"/>
              <a:t> </a:t>
            </a:r>
            <a:r>
              <a:rPr lang="en-US" sz="2700" dirty="0" err="1"/>
              <a:t>Karşı</a:t>
            </a:r>
            <a:r>
              <a:rPr lang="en-US" sz="2700" dirty="0"/>
              <a:t> </a:t>
            </a:r>
            <a:r>
              <a:rPr lang="en-US" sz="2700" dirty="0" err="1"/>
              <a:t>Suçlar</a:t>
            </a:r>
            <a:r>
              <a:rPr lang="en-US" sz="2700" dirty="0"/>
              <a:t> </a:t>
            </a:r>
            <a:r>
              <a:rPr lang="en-US" sz="2700" dirty="0" err="1"/>
              <a:t>ve</a:t>
            </a:r>
            <a:r>
              <a:rPr lang="en-US" sz="2700" dirty="0"/>
              <a:t> </a:t>
            </a:r>
            <a:r>
              <a:rPr lang="en-US" sz="2700" dirty="0" err="1"/>
              <a:t>Cinsel</a:t>
            </a:r>
            <a:r>
              <a:rPr lang="en-US" sz="2700" dirty="0"/>
              <a:t> </a:t>
            </a:r>
            <a:r>
              <a:rPr lang="en-US" sz="2700" dirty="0" err="1"/>
              <a:t>Şiddet</a:t>
            </a:r>
            <a:r>
              <a:rPr lang="en-US" sz="2700" dirty="0"/>
              <a:t> </a:t>
            </a:r>
            <a:r>
              <a:rPr lang="en-US" sz="2700" dirty="0" err="1"/>
              <a:t>Suçlusu</a:t>
            </a:r>
            <a:r>
              <a:rPr lang="en-US" sz="2700" dirty="0"/>
              <a:t> </a:t>
            </a:r>
            <a:r>
              <a:rPr lang="en-US" sz="2700" dirty="0" err="1"/>
              <a:t>Kayıt</a:t>
            </a:r>
            <a:r>
              <a:rPr lang="en-US" sz="2700" dirty="0"/>
              <a:t> </a:t>
            </a:r>
            <a:r>
              <a:rPr lang="en-US" sz="2700" dirty="0" err="1"/>
              <a:t>Yasası</a:t>
            </a:r>
            <a:r>
              <a:rPr lang="en-US" sz="2700" dirty="0"/>
              <a:t>: 
</a:t>
            </a:r>
            <a:r>
              <a:rPr lang="en-US" sz="2700" dirty="0" err="1"/>
              <a:t>Cinsel</a:t>
            </a:r>
            <a:r>
              <a:rPr lang="en-US" sz="2700" dirty="0"/>
              <a:t> </a:t>
            </a:r>
            <a:r>
              <a:rPr lang="en-US" sz="2700" dirty="0" err="1"/>
              <a:t>suçlu</a:t>
            </a:r>
            <a:r>
              <a:rPr lang="en-US" sz="2700" dirty="0"/>
              <a:t> </a:t>
            </a:r>
            <a:r>
              <a:rPr lang="en-US" sz="2700" dirty="0" err="1"/>
              <a:t>kaydı</a:t>
            </a:r>
            <a:r>
              <a:rPr lang="en-US" sz="2700" dirty="0"/>
              <a:t>/</a:t>
            </a:r>
            <a:r>
              <a:rPr lang="en-US" sz="2700" dirty="0" err="1"/>
              <a:t>bildirimi</a:t>
            </a:r>
            <a:r>
              <a:rPr lang="en-US" sz="2700" dirty="0"/>
              <a:t> için </a:t>
            </a:r>
            <a:r>
              <a:rPr lang="en-US" sz="2700" dirty="0" err="1"/>
              <a:t>gereksinimleri</a:t>
            </a:r>
            <a:r>
              <a:rPr lang="en-US" sz="2700" dirty="0"/>
              <a:t> </a:t>
            </a:r>
            <a:r>
              <a:rPr lang="en-US" sz="2700" dirty="0" err="1"/>
              <a:t>belirleyin</a:t>
            </a:r>
            <a:r>
              <a:rPr lang="en-US" sz="2700" dirty="0"/>
              <a:t>
</a:t>
            </a:r>
            <a:r>
              <a:rPr lang="en-US" sz="2700" dirty="0" err="1"/>
              <a:t>Eyalette</a:t>
            </a:r>
            <a:r>
              <a:rPr lang="en-US" sz="2700" dirty="0"/>
              <a:t> </a:t>
            </a:r>
            <a:r>
              <a:rPr lang="en-US" sz="2700" dirty="0" err="1"/>
              <a:t>ikamet</a:t>
            </a:r>
            <a:r>
              <a:rPr lang="en-US" sz="2700" dirty="0"/>
              <a:t> </a:t>
            </a:r>
            <a:r>
              <a:rPr lang="en-US" sz="2700" dirty="0" err="1"/>
              <a:t>eden</a:t>
            </a:r>
            <a:r>
              <a:rPr lang="en-US" sz="2700" dirty="0"/>
              <a:t> </a:t>
            </a:r>
            <a:r>
              <a:rPr lang="en-US" sz="2700" dirty="0" err="1"/>
              <a:t>cinsel</a:t>
            </a:r>
            <a:r>
              <a:rPr lang="en-US" sz="2700" dirty="0"/>
              <a:t> </a:t>
            </a:r>
            <a:r>
              <a:rPr lang="en-US" sz="2700" dirty="0" err="1"/>
              <a:t>suçlular</a:t>
            </a:r>
            <a:r>
              <a:rPr lang="en-US" sz="2700" dirty="0"/>
              <a:t> </a:t>
            </a:r>
            <a:r>
              <a:rPr lang="en-US" sz="2700" dirty="0" err="1"/>
              <a:t>hakkında</a:t>
            </a:r>
            <a:r>
              <a:rPr lang="en-US" sz="2700" dirty="0"/>
              <a:t> </a:t>
            </a:r>
            <a:r>
              <a:rPr lang="en-US" sz="2700" dirty="0" err="1"/>
              <a:t>bilgi</a:t>
            </a:r>
            <a:r>
              <a:rPr lang="en-US" sz="2700" dirty="0"/>
              <a:t> </a:t>
            </a:r>
            <a:r>
              <a:rPr lang="en-US" sz="2700" dirty="0" err="1"/>
              <a:t>içeren</a:t>
            </a:r>
            <a:r>
              <a:rPr lang="en-US" sz="2700" dirty="0"/>
              <a:t> web </a:t>
            </a:r>
            <a:r>
              <a:rPr lang="en-US" sz="2700" dirty="0" err="1"/>
              <a:t>siteleri</a:t>
            </a:r>
            <a:r>
              <a:rPr lang="en-US" sz="2700" dirty="0"/>
              <a:t> </a:t>
            </a:r>
            <a:r>
              <a:rPr lang="en-US" sz="2700" dirty="0" err="1"/>
              <a:t>oluşturmak</a:t>
            </a:r>
            <a:r>
              <a:rPr lang="en-US" sz="2700" dirty="0"/>
              <a:t> için </a:t>
            </a:r>
            <a:r>
              <a:rPr lang="en-US" sz="2700" dirty="0" err="1"/>
              <a:t>gerekli</a:t>
            </a:r>
            <a:r>
              <a:rPr lang="en-US" sz="2700" dirty="0"/>
              <a:t> </a:t>
            </a:r>
            <a:r>
              <a:rPr lang="en-US" sz="2700" dirty="0" err="1"/>
              <a:t>eyaletler</a:t>
            </a:r>
            <a:r>
              <a:rPr lang="en-US" sz="2700" dirty="0"/>
              <a:t>
2006 </a:t>
            </a:r>
            <a:r>
              <a:rPr lang="en-US" sz="2700" dirty="0" err="1"/>
              <a:t>tarihli</a:t>
            </a:r>
            <a:r>
              <a:rPr lang="en-US" sz="2700" dirty="0"/>
              <a:t> Adam Walsh </a:t>
            </a:r>
            <a:r>
              <a:rPr lang="en-US" sz="2700" dirty="0" err="1"/>
              <a:t>Çocuk</a:t>
            </a:r>
            <a:r>
              <a:rPr lang="en-US" sz="2700" dirty="0"/>
              <a:t> </a:t>
            </a:r>
            <a:r>
              <a:rPr lang="en-US" sz="2700" dirty="0" err="1"/>
              <a:t>Koruma</a:t>
            </a:r>
            <a:r>
              <a:rPr lang="en-US" sz="2700" dirty="0"/>
              <a:t> </a:t>
            </a:r>
            <a:r>
              <a:rPr lang="en-US" sz="2700" dirty="0" err="1"/>
              <a:t>ve</a:t>
            </a:r>
            <a:r>
              <a:rPr lang="en-US" sz="2700" dirty="0"/>
              <a:t> </a:t>
            </a:r>
            <a:r>
              <a:rPr lang="en-US" sz="2700" dirty="0" err="1"/>
              <a:t>Güvenlik</a:t>
            </a:r>
            <a:r>
              <a:rPr lang="en-US" sz="2700" dirty="0"/>
              <a:t> </a:t>
            </a:r>
            <a:r>
              <a:rPr lang="en-US" sz="2700" dirty="0" err="1"/>
              <a:t>Yasası'nın</a:t>
            </a:r>
            <a:r>
              <a:rPr lang="en-US" sz="2700" dirty="0"/>
              <a:t> </a:t>
            </a:r>
            <a:r>
              <a:rPr lang="en-US" sz="2700" dirty="0" err="1"/>
              <a:t>Cinsel</a:t>
            </a:r>
            <a:r>
              <a:rPr lang="en-US" sz="2700" dirty="0"/>
              <a:t> </a:t>
            </a:r>
            <a:r>
              <a:rPr lang="en-US" sz="2700" dirty="0" err="1"/>
              <a:t>Suçlu</a:t>
            </a:r>
            <a:r>
              <a:rPr lang="en-US" sz="2700" dirty="0"/>
              <a:t> </a:t>
            </a:r>
            <a:r>
              <a:rPr lang="en-US" sz="2700" dirty="0" err="1"/>
              <a:t>Kayıt</a:t>
            </a:r>
            <a:r>
              <a:rPr lang="en-US" sz="2700" dirty="0"/>
              <a:t> </a:t>
            </a:r>
            <a:r>
              <a:rPr lang="en-US" sz="2700" dirty="0" err="1"/>
              <a:t>ve</a:t>
            </a:r>
            <a:r>
              <a:rPr lang="en-US" sz="2700" dirty="0"/>
              <a:t> </a:t>
            </a:r>
            <a:r>
              <a:rPr lang="en-US" sz="2700" dirty="0" err="1"/>
              <a:t>Bildirim</a:t>
            </a:r>
            <a:r>
              <a:rPr lang="en-US" sz="2700" dirty="0"/>
              <a:t> </a:t>
            </a:r>
            <a:r>
              <a:rPr lang="en-US" sz="2700" dirty="0" err="1"/>
              <a:t>Hükümleri</a:t>
            </a:r>
            <a:r>
              <a:rPr lang="en-US" sz="2700" dirty="0"/>
              <a:t> (SORNA): 
Hangi </a:t>
            </a:r>
            <a:r>
              <a:rPr lang="en-US" sz="2700" dirty="0" err="1"/>
              <a:t>cinsel</a:t>
            </a:r>
            <a:r>
              <a:rPr lang="en-US" sz="2700" dirty="0"/>
              <a:t> </a:t>
            </a:r>
            <a:r>
              <a:rPr lang="en-US" sz="2700" dirty="0" err="1"/>
              <a:t>suçluların</a:t>
            </a:r>
            <a:r>
              <a:rPr lang="en-US" sz="2700" dirty="0"/>
              <a:t> </a:t>
            </a:r>
            <a:r>
              <a:rPr lang="en-US" sz="2700" dirty="0" err="1"/>
              <a:t>kayıt</a:t>
            </a:r>
            <a:r>
              <a:rPr lang="en-US" sz="2700" dirty="0"/>
              <a:t> </a:t>
            </a:r>
            <a:r>
              <a:rPr lang="en-US" sz="2700" dirty="0" err="1"/>
              <a:t>yaptırması</a:t>
            </a:r>
            <a:r>
              <a:rPr lang="en-US" sz="2700" dirty="0"/>
              <a:t> </a:t>
            </a:r>
            <a:r>
              <a:rPr lang="en-US" sz="2700" dirty="0" err="1"/>
              <a:t>gerektiğini</a:t>
            </a:r>
            <a:r>
              <a:rPr lang="en-US" sz="2700" dirty="0"/>
              <a:t> </a:t>
            </a:r>
            <a:r>
              <a:rPr lang="en-US" sz="2700" dirty="0" err="1"/>
              <a:t>ve</a:t>
            </a:r>
            <a:r>
              <a:rPr lang="en-US" sz="2700" dirty="0"/>
              <a:t> hangi </a:t>
            </a:r>
            <a:r>
              <a:rPr lang="en-US" sz="2700" dirty="0" err="1"/>
              <a:t>verilerin</a:t>
            </a:r>
            <a:r>
              <a:rPr lang="en-US" sz="2700" dirty="0"/>
              <a:t> </a:t>
            </a:r>
            <a:r>
              <a:rPr lang="en-US" sz="2700" dirty="0" err="1"/>
              <a:t>toplanması</a:t>
            </a:r>
            <a:r>
              <a:rPr lang="en-US" sz="2700" dirty="0"/>
              <a:t> </a:t>
            </a:r>
            <a:r>
              <a:rPr lang="en-US" sz="2700" dirty="0" err="1"/>
              <a:t>gerektiğini</a:t>
            </a:r>
            <a:r>
              <a:rPr lang="en-US" sz="2700" dirty="0"/>
              <a:t> </a:t>
            </a:r>
            <a:r>
              <a:rPr lang="en-US" sz="2700" dirty="0" err="1"/>
              <a:t>yöneten</a:t>
            </a:r>
            <a:r>
              <a:rPr lang="en-US" sz="2700" dirty="0"/>
              <a:t> </a:t>
            </a:r>
            <a:r>
              <a:rPr lang="en-US" sz="2700" dirty="0" err="1"/>
              <a:t>ulusal</a:t>
            </a:r>
            <a:r>
              <a:rPr lang="en-US" sz="2700" dirty="0"/>
              <a:t> </a:t>
            </a:r>
            <a:r>
              <a:rPr lang="en-US" sz="2700" dirty="0" err="1"/>
              <a:t>standartlar</a:t>
            </a:r>
            <a:r>
              <a:rPr lang="en-US" sz="2700" dirty="0"/>
              <a:t> </a:t>
            </a:r>
            <a:r>
              <a:rPr lang="en-US" sz="2700" dirty="0" err="1"/>
              <a:t>belirleyin</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86116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5198346"/>
          </a:xfrm>
        </p:spPr>
        <p:txBody>
          <a:bodyPr/>
          <a:lstStyle/>
          <a:p>
            <a:r>
              <a:rPr lang="en-US" sz="2700" dirty="0" err="1"/>
              <a:t>Sosyal</a:t>
            </a:r>
            <a:r>
              <a:rPr lang="en-US" sz="2700" dirty="0"/>
              <a:t> </a:t>
            </a:r>
            <a:r>
              <a:rPr lang="en-US" sz="2700" dirty="0" err="1"/>
              <a:t>ağların</a:t>
            </a:r>
            <a:r>
              <a:rPr lang="en-US" sz="2700" dirty="0"/>
              <a:t> </a:t>
            </a:r>
            <a:r>
              <a:rPr lang="en-US" sz="2700" dirty="0" err="1"/>
              <a:t>ve</a:t>
            </a:r>
            <a:r>
              <a:rPr lang="en-US" sz="2700" dirty="0"/>
              <a:t> </a:t>
            </a:r>
            <a:r>
              <a:rPr lang="en-US" sz="2700" dirty="0" err="1"/>
              <a:t>diğer</a:t>
            </a:r>
            <a:r>
              <a:rPr lang="en-US" sz="2700" dirty="0"/>
              <a:t> </a:t>
            </a:r>
            <a:r>
              <a:rPr lang="en-US" sz="2700" dirty="0" err="1"/>
              <a:t>sosyal</a:t>
            </a:r>
            <a:r>
              <a:rPr lang="en-US" sz="2700" dirty="0"/>
              <a:t> </a:t>
            </a:r>
            <a:r>
              <a:rPr lang="en-US" sz="2700" dirty="0" err="1"/>
              <a:t>medyanın</a:t>
            </a:r>
            <a:r>
              <a:rPr lang="en-US" sz="2700" dirty="0"/>
              <a:t> </a:t>
            </a:r>
            <a:r>
              <a:rPr lang="en-US" sz="2700" dirty="0" err="1"/>
              <a:t>kullanımıyla</a:t>
            </a:r>
            <a:r>
              <a:rPr lang="en-US" sz="2700" dirty="0"/>
              <a:t> </a:t>
            </a:r>
            <a:r>
              <a:rPr lang="en-US" sz="2700" dirty="0" err="1"/>
              <a:t>ilgili</a:t>
            </a:r>
            <a:r>
              <a:rPr lang="en-US" sz="2700" dirty="0"/>
              <a:t> </a:t>
            </a:r>
            <a:r>
              <a:rPr lang="en-US" sz="2700" dirty="0" err="1"/>
              <a:t>temel</a:t>
            </a:r>
            <a:r>
              <a:rPr lang="en-US" sz="2700" dirty="0"/>
              <a:t> </a:t>
            </a:r>
            <a:r>
              <a:rPr lang="en-US" sz="2700" dirty="0" err="1"/>
              <a:t>etik</a:t>
            </a:r>
            <a:r>
              <a:rPr lang="en-US" sz="2700" dirty="0"/>
              <a:t> </a:t>
            </a:r>
            <a:r>
              <a:rPr lang="en-US" sz="2700" dirty="0" err="1"/>
              <a:t>sorunlardan</a:t>
            </a:r>
            <a:r>
              <a:rPr lang="en-US" sz="2700" dirty="0"/>
              <a:t> </a:t>
            </a:r>
            <a:r>
              <a:rPr lang="en-US" sz="2700" dirty="0" err="1"/>
              <a:t>bazıları</a:t>
            </a:r>
            <a:r>
              <a:rPr lang="en-US" sz="2700" dirty="0"/>
              <a:t> </a:t>
            </a:r>
            <a:r>
              <a:rPr lang="en-US" sz="2700" dirty="0" err="1"/>
              <a:t>nelerdir</a:t>
            </a:r>
            <a:r>
              <a:rPr lang="en-US" sz="2700" dirty="0"/>
              <a:t>?
</a:t>
            </a:r>
            <a:r>
              <a:rPr lang="en-US" sz="2700" dirty="0" err="1"/>
              <a:t>Çoğu</a:t>
            </a:r>
            <a:r>
              <a:rPr lang="en-US" sz="2700" dirty="0"/>
              <a:t> </a:t>
            </a:r>
            <a:r>
              <a:rPr lang="en-US" sz="2700" dirty="0" err="1"/>
              <a:t>sosyal</a:t>
            </a:r>
            <a:r>
              <a:rPr lang="en-US" sz="2700" dirty="0"/>
              <a:t> </a:t>
            </a:r>
            <a:r>
              <a:rPr lang="en-US" sz="2700" dirty="0" err="1"/>
              <a:t>ağ</a:t>
            </a:r>
            <a:r>
              <a:rPr lang="en-US" sz="2700" dirty="0"/>
              <a:t> </a:t>
            </a:r>
            <a:r>
              <a:rPr lang="en-US" sz="2700" dirty="0" err="1"/>
              <a:t>platformunun</a:t>
            </a:r>
            <a:r>
              <a:rPr lang="en-US" sz="2700" dirty="0"/>
              <a:t>, </a:t>
            </a:r>
            <a:r>
              <a:rPr lang="en-US" sz="2700" dirty="0" err="1"/>
              <a:t>sitenin</a:t>
            </a:r>
            <a:r>
              <a:rPr lang="en-US" sz="2700" dirty="0"/>
              <a:t> </a:t>
            </a:r>
            <a:r>
              <a:rPr lang="en-US" sz="2700" dirty="0" err="1"/>
              <a:t>uygunsuz</a:t>
            </a:r>
            <a:r>
              <a:rPr lang="en-US" sz="2700" dirty="0"/>
              <a:t> </a:t>
            </a:r>
            <a:r>
              <a:rPr lang="en-US" sz="2700" dirty="0" err="1"/>
              <a:t>materyalleri</a:t>
            </a:r>
            <a:r>
              <a:rPr lang="en-US" sz="2700" dirty="0"/>
              <a:t> </a:t>
            </a:r>
            <a:r>
              <a:rPr lang="en-US" sz="2700" dirty="0" err="1"/>
              <a:t>silme</a:t>
            </a:r>
            <a:r>
              <a:rPr lang="en-US" sz="2700" dirty="0"/>
              <a:t> </a:t>
            </a:r>
            <a:r>
              <a:rPr lang="en-US" sz="2700" dirty="0" err="1"/>
              <a:t>ve</a:t>
            </a:r>
            <a:r>
              <a:rPr lang="en-US" sz="2700" dirty="0"/>
              <a:t> </a:t>
            </a:r>
            <a:r>
              <a:rPr lang="en-US" sz="2700" dirty="0" err="1"/>
              <a:t>kullanıcı</a:t>
            </a:r>
            <a:r>
              <a:rPr lang="en-US" sz="2700" dirty="0"/>
              <a:t> </a:t>
            </a:r>
            <a:r>
              <a:rPr lang="en-US" sz="2700" dirty="0" err="1"/>
              <a:t>hesaplarını</a:t>
            </a:r>
            <a:r>
              <a:rPr lang="en-US" sz="2700" dirty="0"/>
              <a:t> </a:t>
            </a:r>
            <a:r>
              <a:rPr lang="en-US" sz="2700" dirty="0" err="1"/>
              <a:t>feshetme</a:t>
            </a:r>
            <a:r>
              <a:rPr lang="en-US" sz="2700" dirty="0"/>
              <a:t> </a:t>
            </a:r>
            <a:r>
              <a:rPr lang="en-US" sz="2700" dirty="0" err="1"/>
              <a:t>hakkına</a:t>
            </a:r>
            <a:r>
              <a:rPr lang="en-US" sz="2700" dirty="0"/>
              <a:t> </a:t>
            </a:r>
            <a:r>
              <a:rPr lang="en-US" sz="2700" dirty="0" err="1"/>
              <a:t>sahip</a:t>
            </a:r>
            <a:r>
              <a:rPr lang="en-US" sz="2700" dirty="0"/>
              <a:t> </a:t>
            </a:r>
            <a:r>
              <a:rPr lang="en-US" sz="2700" dirty="0" err="1"/>
              <a:t>olduğunu</a:t>
            </a:r>
            <a:r>
              <a:rPr lang="en-US" sz="2700" dirty="0"/>
              <a:t> </a:t>
            </a:r>
            <a:r>
              <a:rPr lang="en-US" sz="2700" dirty="0" err="1"/>
              <a:t>belirten</a:t>
            </a:r>
            <a:r>
              <a:rPr lang="en-US" sz="2700" dirty="0"/>
              <a:t> </a:t>
            </a:r>
            <a:r>
              <a:rPr lang="en-US" sz="2700" dirty="0" err="1"/>
              <a:t>kullanım</a:t>
            </a:r>
            <a:r>
              <a:rPr lang="en-US" sz="2700" dirty="0"/>
              <a:t> </a:t>
            </a:r>
            <a:r>
              <a:rPr lang="en-US" sz="2700" dirty="0" err="1"/>
              <a:t>koşulları</a:t>
            </a:r>
            <a:r>
              <a:rPr lang="en-US" sz="2700" dirty="0"/>
              <a:t> </a:t>
            </a:r>
            <a:r>
              <a:rPr lang="en-US" sz="2700" dirty="0" err="1"/>
              <a:t>sözleşmeleri</a:t>
            </a:r>
            <a:r>
              <a:rPr lang="en-US" sz="2700" dirty="0"/>
              <a:t> </a:t>
            </a:r>
            <a:r>
              <a:rPr lang="en-US" sz="2700" dirty="0" err="1"/>
              <a:t>ve</a:t>
            </a:r>
            <a:r>
              <a:rPr lang="en-US" sz="2700" dirty="0"/>
              <a:t> </a:t>
            </a:r>
            <a:r>
              <a:rPr lang="en-US" sz="2700" dirty="0" err="1"/>
              <a:t>politikaları</a:t>
            </a:r>
            <a:r>
              <a:rPr lang="en-US" sz="2700" dirty="0"/>
              <a:t> </a:t>
            </a:r>
            <a:r>
              <a:rPr lang="en-US" sz="2700" dirty="0" err="1"/>
              <a:t>vardır</a:t>
            </a:r>
            <a:r>
              <a:rPr lang="en-US" sz="2700" dirty="0"/>
              <a:t>. 
</a:t>
            </a:r>
            <a:r>
              <a:rPr lang="en-US" sz="2700" dirty="0" err="1"/>
              <a:t>Çevrimiçi</a:t>
            </a:r>
            <a:r>
              <a:rPr lang="en-US" sz="2700" dirty="0"/>
              <a:t> </a:t>
            </a:r>
            <a:r>
              <a:rPr lang="en-US" sz="2700" dirty="0" err="1"/>
              <a:t>olarak</a:t>
            </a:r>
            <a:r>
              <a:rPr lang="en-US" sz="2700" dirty="0"/>
              <a:t> </a:t>
            </a:r>
            <a:r>
              <a:rPr lang="en-US" sz="2700" dirty="0" err="1"/>
              <a:t>yayınlanan</a:t>
            </a:r>
            <a:r>
              <a:rPr lang="en-US" sz="2700" dirty="0"/>
              <a:t> </a:t>
            </a:r>
            <a:r>
              <a:rPr lang="en-US" sz="2700" dirty="0" err="1"/>
              <a:t>uygunsuz</a:t>
            </a:r>
            <a:r>
              <a:rPr lang="en-US" sz="2700" dirty="0"/>
              <a:t> </a:t>
            </a:r>
            <a:r>
              <a:rPr lang="en-US" sz="2700" dirty="0" err="1"/>
              <a:t>materyaller</a:t>
            </a:r>
            <a:r>
              <a:rPr lang="en-US" sz="2700" dirty="0"/>
              <a:t>, </a:t>
            </a:r>
            <a:r>
              <a:rPr lang="en-US" sz="2700" dirty="0" err="1"/>
              <a:t>insanların</a:t>
            </a:r>
            <a:r>
              <a:rPr lang="en-US" sz="2700" dirty="0"/>
              <a:t> </a:t>
            </a:r>
            <a:r>
              <a:rPr lang="en-US" sz="2700" dirty="0" err="1"/>
              <a:t>izinleri</a:t>
            </a:r>
            <a:r>
              <a:rPr lang="en-US" sz="2700" dirty="0"/>
              <a:t> </a:t>
            </a:r>
            <a:r>
              <a:rPr lang="en-US" sz="2700" dirty="0" err="1"/>
              <a:t>olmadan</a:t>
            </a:r>
            <a:r>
              <a:rPr lang="en-US" sz="2700" dirty="0"/>
              <a:t> </a:t>
            </a:r>
            <a:r>
              <a:rPr lang="en-US" sz="2700" dirty="0" err="1"/>
              <a:t>yayınlanan</a:t>
            </a:r>
            <a:r>
              <a:rPr lang="en-US" sz="2700" dirty="0"/>
              <a:t> </a:t>
            </a:r>
            <a:r>
              <a:rPr lang="en-US" sz="2700" dirty="0" err="1"/>
              <a:t>mahrem</a:t>
            </a:r>
            <a:r>
              <a:rPr lang="en-US" sz="2700" dirty="0"/>
              <a:t> </a:t>
            </a:r>
            <a:r>
              <a:rPr lang="en-US" sz="2700" dirty="0" err="1"/>
              <a:t>fotoğraflarını</a:t>
            </a:r>
            <a:r>
              <a:rPr lang="en-US" sz="2700" dirty="0"/>
              <a:t>/</a:t>
            </a:r>
            <a:r>
              <a:rPr lang="en-US" sz="2700" dirty="0" err="1"/>
              <a:t>videolarını</a:t>
            </a:r>
            <a:r>
              <a:rPr lang="en-US" sz="2700" dirty="0"/>
              <a:t> </a:t>
            </a:r>
            <a:r>
              <a:rPr lang="en-US" sz="2700" dirty="0" err="1"/>
              <a:t>içerir</a:t>
            </a:r>
            <a:r>
              <a:rPr lang="en-US" sz="2700" dirty="0"/>
              <a:t>
Bu </a:t>
            </a:r>
            <a:r>
              <a:rPr lang="en-US" sz="2700" dirty="0" err="1"/>
              <a:t>tür</a:t>
            </a:r>
            <a:r>
              <a:rPr lang="en-US" sz="2700" dirty="0"/>
              <a:t> </a:t>
            </a:r>
            <a:r>
              <a:rPr lang="en-US" sz="2700" dirty="0" err="1"/>
              <a:t>gönderiler</a:t>
            </a:r>
            <a:r>
              <a:rPr lang="en-US" sz="2700" dirty="0"/>
              <a:t> </a:t>
            </a:r>
            <a:r>
              <a:rPr lang="en-US" sz="2700" dirty="0" err="1"/>
              <a:t>genellikle</a:t>
            </a:r>
            <a:r>
              <a:rPr lang="en-US" sz="2700" dirty="0"/>
              <a:t> "</a:t>
            </a:r>
            <a:r>
              <a:rPr lang="en-US" sz="2700" dirty="0" err="1"/>
              <a:t>intikam</a:t>
            </a:r>
            <a:r>
              <a:rPr lang="en-US" sz="2700" dirty="0"/>
              <a:t> </a:t>
            </a:r>
            <a:r>
              <a:rPr lang="en-US" sz="2700" dirty="0" err="1"/>
              <a:t>pornosu</a:t>
            </a:r>
            <a:r>
              <a:rPr lang="en-US" sz="2700" dirty="0"/>
              <a:t>" </a:t>
            </a:r>
            <a:r>
              <a:rPr lang="en-US" sz="2700" dirty="0" err="1"/>
              <a:t>olarak</a:t>
            </a:r>
            <a:r>
              <a:rPr lang="en-US" sz="2700" dirty="0"/>
              <a:t> </a:t>
            </a:r>
            <a:r>
              <a:rPr lang="en-US" sz="2700" dirty="0" err="1"/>
              <a:t>adlandırılır</a:t>
            </a:r>
            <a:r>
              <a:rPr lang="en-US" sz="2700" dirty="0"/>
              <a:t> </a:t>
            </a:r>
            <a:r>
              <a:rPr lang="en-US" sz="2700" dirty="0" err="1"/>
              <a:t>ve</a:t>
            </a:r>
            <a:r>
              <a:rPr lang="en-US" sz="2700" dirty="0"/>
              <a:t> </a:t>
            </a:r>
            <a:r>
              <a:rPr lang="en-US" sz="2700" dirty="0" err="1"/>
              <a:t>eski</a:t>
            </a:r>
            <a:r>
              <a:rPr lang="en-US" sz="2700" dirty="0"/>
              <a:t> </a:t>
            </a:r>
            <a:r>
              <a:rPr lang="en-US" sz="2700" dirty="0" err="1"/>
              <a:t>bir</a:t>
            </a:r>
            <a:r>
              <a:rPr lang="en-US" sz="2700" dirty="0"/>
              <a:t> </a:t>
            </a:r>
            <a:r>
              <a:rPr lang="en-US" sz="2700" dirty="0" err="1"/>
              <a:t>partneri</a:t>
            </a:r>
            <a:r>
              <a:rPr lang="en-US" sz="2700" dirty="0"/>
              <a:t> </a:t>
            </a:r>
            <a:r>
              <a:rPr lang="en-US" sz="2700" dirty="0" err="1"/>
              <a:t>utandırmak</a:t>
            </a:r>
            <a:r>
              <a:rPr lang="en-US" sz="2700" dirty="0"/>
              <a:t>, </a:t>
            </a:r>
            <a:r>
              <a:rPr lang="en-US" sz="2700" dirty="0" err="1"/>
              <a:t>utandırmak</a:t>
            </a:r>
            <a:r>
              <a:rPr lang="en-US" sz="2700" dirty="0"/>
              <a:t> </a:t>
            </a:r>
            <a:r>
              <a:rPr lang="en-US" sz="2700" dirty="0" err="1"/>
              <a:t>ve</a:t>
            </a:r>
            <a:r>
              <a:rPr lang="en-US" sz="2700" dirty="0"/>
              <a:t>/</a:t>
            </a:r>
            <a:r>
              <a:rPr lang="en-US" sz="2700" dirty="0" err="1"/>
              <a:t>veya</a:t>
            </a:r>
            <a:r>
              <a:rPr lang="en-US" sz="2700" dirty="0"/>
              <a:t> </a:t>
            </a:r>
            <a:r>
              <a:rPr lang="en-US" sz="2700" dirty="0" err="1"/>
              <a:t>taciz</a:t>
            </a:r>
            <a:r>
              <a:rPr lang="en-US" sz="2700" dirty="0"/>
              <a:t> </a:t>
            </a:r>
            <a:r>
              <a:rPr lang="en-US" sz="2700" dirty="0" err="1"/>
              <a:t>etmek</a:t>
            </a:r>
            <a:r>
              <a:rPr lang="en-US" sz="2700" dirty="0"/>
              <a:t> için </a:t>
            </a:r>
            <a:r>
              <a:rPr lang="en-US" sz="2700" dirty="0" err="1"/>
              <a:t>kullanılır</a:t>
            </a:r>
            <a:endParaRPr lang="en-US" sz="22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336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551863" cy="5198346"/>
          </a:xfrm>
        </p:spPr>
        <p:txBody>
          <a:bodyPr/>
          <a:lstStyle/>
          <a:p>
            <a:r>
              <a:rPr lang="en-US" sz="2700" dirty="0" err="1"/>
              <a:t>Sosyal</a:t>
            </a:r>
            <a:r>
              <a:rPr lang="en-US" sz="2700" dirty="0"/>
              <a:t> </a:t>
            </a:r>
            <a:r>
              <a:rPr lang="en-US" sz="2700" dirty="0" err="1"/>
              <a:t>ağların</a:t>
            </a:r>
            <a:r>
              <a:rPr lang="en-US" sz="2700" dirty="0"/>
              <a:t> </a:t>
            </a:r>
            <a:r>
              <a:rPr lang="en-US" sz="2700" dirty="0" err="1"/>
              <a:t>ve</a:t>
            </a:r>
            <a:r>
              <a:rPr lang="en-US" sz="2700" dirty="0"/>
              <a:t> </a:t>
            </a:r>
            <a:r>
              <a:rPr lang="en-US" sz="2700" dirty="0" err="1"/>
              <a:t>diğer</a:t>
            </a:r>
            <a:r>
              <a:rPr lang="en-US" sz="2700" dirty="0"/>
              <a:t> </a:t>
            </a:r>
            <a:r>
              <a:rPr lang="en-US" sz="2700" dirty="0" err="1"/>
              <a:t>sosyal</a:t>
            </a:r>
            <a:r>
              <a:rPr lang="en-US" sz="2700" dirty="0"/>
              <a:t> </a:t>
            </a:r>
            <a:r>
              <a:rPr lang="en-US" sz="2700" dirty="0" err="1"/>
              <a:t>medyanın</a:t>
            </a:r>
            <a:r>
              <a:rPr lang="en-US" sz="2700" dirty="0"/>
              <a:t> </a:t>
            </a:r>
            <a:r>
              <a:rPr lang="en-US" sz="2700" dirty="0" err="1"/>
              <a:t>kullanımıyla</a:t>
            </a:r>
            <a:r>
              <a:rPr lang="en-US" sz="2700" dirty="0"/>
              <a:t> </a:t>
            </a:r>
            <a:r>
              <a:rPr lang="en-US" sz="2700" dirty="0" err="1"/>
              <a:t>ilgili</a:t>
            </a:r>
            <a:r>
              <a:rPr lang="en-US" sz="2700" dirty="0"/>
              <a:t> </a:t>
            </a:r>
            <a:r>
              <a:rPr lang="en-US" sz="2700" dirty="0" err="1"/>
              <a:t>temel</a:t>
            </a:r>
            <a:r>
              <a:rPr lang="en-US" sz="2700" dirty="0"/>
              <a:t> </a:t>
            </a:r>
            <a:r>
              <a:rPr lang="en-US" sz="2700" dirty="0" err="1"/>
              <a:t>etik</a:t>
            </a:r>
            <a:r>
              <a:rPr lang="en-US" sz="2700" dirty="0"/>
              <a:t> </a:t>
            </a:r>
            <a:r>
              <a:rPr lang="en-US" sz="2700" dirty="0" err="1"/>
              <a:t>sorunlardan</a:t>
            </a:r>
            <a:r>
              <a:rPr lang="en-US" sz="2700" dirty="0"/>
              <a:t> </a:t>
            </a:r>
            <a:r>
              <a:rPr lang="en-US" sz="2700" dirty="0" err="1"/>
              <a:t>bazıları</a:t>
            </a:r>
            <a:r>
              <a:rPr lang="en-US" sz="2700" dirty="0"/>
              <a:t> </a:t>
            </a:r>
            <a:r>
              <a:rPr lang="en-US" sz="2700" dirty="0" err="1"/>
              <a:t>nelerdir</a:t>
            </a:r>
            <a:r>
              <a:rPr lang="en-US" sz="2700" dirty="0"/>
              <a:t>?
</a:t>
            </a:r>
            <a:r>
              <a:rPr lang="en-US" sz="2700" dirty="0" err="1"/>
              <a:t>Birinci</a:t>
            </a:r>
            <a:r>
              <a:rPr lang="en-US" sz="2700" dirty="0"/>
              <a:t> </a:t>
            </a:r>
            <a:r>
              <a:rPr lang="en-US" sz="2700" dirty="0" err="1"/>
              <a:t>Değişiklik</a:t>
            </a:r>
            <a:r>
              <a:rPr lang="en-US" sz="2700" dirty="0"/>
              <a:t>, </a:t>
            </a:r>
            <a:r>
              <a:rPr lang="en-US" sz="2700" dirty="0" err="1"/>
              <a:t>ifade</a:t>
            </a:r>
            <a:r>
              <a:rPr lang="en-US" sz="2700" dirty="0"/>
              <a:t> </a:t>
            </a:r>
            <a:r>
              <a:rPr lang="en-US" sz="2700" dirty="0" err="1"/>
              <a:t>özgürlüğü</a:t>
            </a:r>
            <a:r>
              <a:rPr lang="en-US" sz="2700" dirty="0"/>
              <a:t> </a:t>
            </a:r>
            <a:r>
              <a:rPr lang="en-US" sz="2700" dirty="0" err="1"/>
              <a:t>hakkını</a:t>
            </a:r>
            <a:r>
              <a:rPr lang="en-US" sz="2700" dirty="0"/>
              <a:t> </a:t>
            </a:r>
            <a:r>
              <a:rPr lang="en-US" sz="2700" dirty="0" err="1"/>
              <a:t>hükümet</a:t>
            </a:r>
            <a:r>
              <a:rPr lang="en-US" sz="2700" dirty="0"/>
              <a:t> </a:t>
            </a:r>
            <a:r>
              <a:rPr lang="en-US" sz="2700" dirty="0" err="1"/>
              <a:t>müdahalesinden</a:t>
            </a:r>
            <a:r>
              <a:rPr lang="en-US" sz="2700" dirty="0"/>
              <a:t> </a:t>
            </a:r>
            <a:r>
              <a:rPr lang="en-US" sz="2700" dirty="0" err="1"/>
              <a:t>korur</a:t>
            </a:r>
            <a:r>
              <a:rPr lang="en-US" sz="2700" dirty="0"/>
              <a:t>, </a:t>
            </a:r>
            <a:r>
              <a:rPr lang="en-US" sz="2700" dirty="0" err="1"/>
              <a:t>ancak</a:t>
            </a:r>
            <a:r>
              <a:rPr lang="en-US" sz="2700" dirty="0"/>
              <a:t> </a:t>
            </a:r>
            <a:r>
              <a:rPr lang="en-US" sz="2700" dirty="0" err="1"/>
              <a:t>özel</a:t>
            </a:r>
            <a:r>
              <a:rPr lang="en-US" sz="2700" dirty="0"/>
              <a:t> </a:t>
            </a:r>
            <a:r>
              <a:rPr lang="en-US" sz="2700" dirty="0" err="1"/>
              <a:t>işverenlerin</a:t>
            </a:r>
            <a:r>
              <a:rPr lang="en-US" sz="2700" dirty="0"/>
              <a:t> </a:t>
            </a:r>
            <a:r>
              <a:rPr lang="en-US" sz="2700" dirty="0" err="1"/>
              <a:t>ifade</a:t>
            </a:r>
            <a:r>
              <a:rPr lang="en-US" sz="2700" dirty="0"/>
              <a:t> </a:t>
            </a:r>
            <a:r>
              <a:rPr lang="en-US" sz="2700" dirty="0" err="1"/>
              <a:t>özgürlüğü</a:t>
            </a:r>
            <a:r>
              <a:rPr lang="en-US" sz="2700" dirty="0"/>
              <a:t> </a:t>
            </a:r>
            <a:r>
              <a:rPr lang="en-US" sz="2700" dirty="0" err="1"/>
              <a:t>müdahalesini</a:t>
            </a:r>
            <a:r>
              <a:rPr lang="en-US" sz="2700" dirty="0"/>
              <a:t> </a:t>
            </a:r>
            <a:r>
              <a:rPr lang="en-US" sz="2700" dirty="0" err="1"/>
              <a:t>yasaklamaz</a:t>
            </a:r>
            <a:r>
              <a:rPr lang="en-US" sz="2700" dirty="0"/>
              <a:t>.
</a:t>
            </a:r>
            <a:r>
              <a:rPr lang="en-US" sz="2700" dirty="0" err="1"/>
              <a:t>Kuruluşlar</a:t>
            </a:r>
            <a:r>
              <a:rPr lang="en-US" sz="2700" dirty="0"/>
              <a:t>, </a:t>
            </a:r>
            <a:r>
              <a:rPr lang="en-US" sz="2700" dirty="0" err="1"/>
              <a:t>yasal</a:t>
            </a:r>
            <a:r>
              <a:rPr lang="en-US" sz="2700" dirty="0"/>
              <a:t> </a:t>
            </a:r>
            <a:r>
              <a:rPr lang="en-US" sz="2700" dirty="0" err="1"/>
              <a:t>sorunlardan</a:t>
            </a:r>
            <a:r>
              <a:rPr lang="en-US" sz="2700" dirty="0"/>
              <a:t> </a:t>
            </a:r>
            <a:r>
              <a:rPr lang="en-US" sz="2700" dirty="0" err="1"/>
              <a:t>kaçınmak</a:t>
            </a:r>
            <a:r>
              <a:rPr lang="en-US" sz="2700" dirty="0"/>
              <a:t> </a:t>
            </a:r>
            <a:r>
              <a:rPr lang="en-US" sz="2700" dirty="0" err="1"/>
              <a:t>ve</a:t>
            </a:r>
            <a:r>
              <a:rPr lang="en-US" sz="2700" dirty="0"/>
              <a:t> </a:t>
            </a:r>
            <a:r>
              <a:rPr lang="en-US" sz="2700" dirty="0" err="1"/>
              <a:t>çalışanlar</a:t>
            </a:r>
            <a:r>
              <a:rPr lang="en-US" sz="2700" dirty="0"/>
              <a:t> için net </a:t>
            </a:r>
            <a:r>
              <a:rPr lang="en-US" sz="2700" dirty="0" err="1"/>
              <a:t>beklentiler</a:t>
            </a:r>
            <a:r>
              <a:rPr lang="en-US" sz="2700" dirty="0"/>
              <a:t> </a:t>
            </a:r>
            <a:r>
              <a:rPr lang="en-US" sz="2700" dirty="0" err="1"/>
              <a:t>belirlemek</a:t>
            </a:r>
            <a:r>
              <a:rPr lang="en-US" sz="2700" dirty="0"/>
              <a:t> için </a:t>
            </a:r>
            <a:r>
              <a:rPr lang="en-US" sz="2700" dirty="0" err="1"/>
              <a:t>bir</a:t>
            </a:r>
            <a:r>
              <a:rPr lang="en-US" sz="2700" dirty="0"/>
              <a:t> </a:t>
            </a:r>
            <a:r>
              <a:rPr lang="en-US" sz="2700" dirty="0" err="1"/>
              <a:t>sosyal</a:t>
            </a:r>
            <a:r>
              <a:rPr lang="en-US" sz="2700" dirty="0"/>
              <a:t> </a:t>
            </a:r>
            <a:r>
              <a:rPr lang="en-US" sz="2700" dirty="0" err="1"/>
              <a:t>medya</a:t>
            </a:r>
            <a:r>
              <a:rPr lang="en-US" sz="2700" dirty="0"/>
              <a:t> </a:t>
            </a:r>
            <a:r>
              <a:rPr lang="en-US" sz="2700" dirty="0" err="1"/>
              <a:t>politikası</a:t>
            </a:r>
            <a:r>
              <a:rPr lang="en-US" sz="2700" dirty="0"/>
              <a:t> </a:t>
            </a:r>
            <a:r>
              <a:rPr lang="en-US" sz="2700" dirty="0" err="1"/>
              <a:t>oluşturmalıdır</a:t>
            </a:r>
            <a:r>
              <a:rPr lang="en-US" sz="2700" dirty="0"/>
              <a:t>.
Ek </a:t>
            </a:r>
            <a:r>
              <a:rPr lang="en-US" sz="2700" dirty="0" err="1"/>
              <a:t>sosyal</a:t>
            </a:r>
            <a:r>
              <a:rPr lang="en-US" sz="2700" dirty="0"/>
              <a:t> </a:t>
            </a:r>
            <a:r>
              <a:rPr lang="en-US" sz="2700" dirty="0" err="1"/>
              <a:t>medya</a:t>
            </a:r>
            <a:r>
              <a:rPr lang="en-US" sz="2700" dirty="0"/>
              <a:t> </a:t>
            </a:r>
            <a:r>
              <a:rPr lang="en-US" sz="2700" dirty="0" err="1"/>
              <a:t>sorunları</a:t>
            </a:r>
            <a:r>
              <a:rPr lang="en-US" sz="2700" dirty="0"/>
              <a:t> </a:t>
            </a:r>
            <a:r>
              <a:rPr lang="en-US" sz="2700" dirty="0" err="1"/>
              <a:t>arasında</a:t>
            </a:r>
            <a:r>
              <a:rPr lang="en-US" sz="2700" dirty="0"/>
              <a:t>, araba </a:t>
            </a:r>
            <a:r>
              <a:rPr lang="en-US" sz="2700" dirty="0" err="1"/>
              <a:t>kullanırken</a:t>
            </a:r>
            <a:r>
              <a:rPr lang="en-US" sz="2700" dirty="0"/>
              <a:t> </a:t>
            </a:r>
            <a:r>
              <a:rPr lang="en-US" sz="2700" dirty="0" err="1"/>
              <a:t>sosyal</a:t>
            </a:r>
            <a:r>
              <a:rPr lang="en-US" sz="2700" dirty="0"/>
              <a:t> </a:t>
            </a:r>
            <a:r>
              <a:rPr lang="en-US" sz="2700" dirty="0" err="1"/>
              <a:t>medya</a:t>
            </a:r>
            <a:r>
              <a:rPr lang="en-US" sz="2700" dirty="0"/>
              <a:t> </a:t>
            </a:r>
            <a:r>
              <a:rPr lang="en-US" sz="2700" dirty="0" err="1"/>
              <a:t>kullanımının</a:t>
            </a:r>
            <a:r>
              <a:rPr lang="en-US" sz="2700" dirty="0"/>
              <a:t> </a:t>
            </a:r>
            <a:r>
              <a:rPr lang="en-US" sz="2700" dirty="0" err="1"/>
              <a:t>neden</a:t>
            </a:r>
            <a:r>
              <a:rPr lang="en-US" sz="2700" dirty="0"/>
              <a:t> </a:t>
            </a:r>
            <a:r>
              <a:rPr lang="en-US" sz="2700" dirty="0" err="1"/>
              <a:t>olduğu</a:t>
            </a:r>
            <a:r>
              <a:rPr lang="en-US" sz="2700" dirty="0"/>
              <a:t> araba </a:t>
            </a:r>
            <a:r>
              <a:rPr lang="en-US" sz="2700" dirty="0" err="1"/>
              <a:t>kazası</a:t>
            </a:r>
            <a:r>
              <a:rPr lang="en-US" sz="2700" dirty="0"/>
              <a:t> </a:t>
            </a:r>
            <a:r>
              <a:rPr lang="en-US" sz="2700" dirty="0" err="1"/>
              <a:t>riskinin</a:t>
            </a:r>
            <a:r>
              <a:rPr lang="en-US" sz="2700" dirty="0"/>
              <a:t> </a:t>
            </a:r>
            <a:r>
              <a:rPr lang="en-US" sz="2700" dirty="0" err="1"/>
              <a:t>artması</a:t>
            </a:r>
            <a:r>
              <a:rPr lang="en-US" sz="2700" dirty="0"/>
              <a:t> </a:t>
            </a:r>
            <a:r>
              <a:rPr lang="en-US" sz="2700" dirty="0" err="1"/>
              <a:t>ve</a:t>
            </a:r>
            <a:r>
              <a:rPr lang="en-US" sz="2700" dirty="0"/>
              <a:t> </a:t>
            </a:r>
            <a:r>
              <a:rPr lang="en-US" sz="2700" dirty="0" err="1"/>
              <a:t>sosyal</a:t>
            </a:r>
            <a:r>
              <a:rPr lang="en-US" sz="2700" dirty="0"/>
              <a:t> </a:t>
            </a:r>
            <a:r>
              <a:rPr lang="en-US" sz="2700" dirty="0" err="1"/>
              <a:t>medya</a:t>
            </a:r>
            <a:r>
              <a:rPr lang="en-US" sz="2700" dirty="0"/>
              <a:t> </a:t>
            </a:r>
            <a:r>
              <a:rPr lang="en-US" sz="2700" dirty="0" err="1"/>
              <a:t>kullanıcılarının</a:t>
            </a:r>
            <a:r>
              <a:rPr lang="en-US" sz="2700" dirty="0"/>
              <a:t> </a:t>
            </a:r>
            <a:r>
              <a:rPr lang="en-US" sz="2700" dirty="0" err="1"/>
              <a:t>narsisizm</a:t>
            </a:r>
            <a:r>
              <a:rPr lang="en-US" sz="2700" dirty="0"/>
              <a:t> </a:t>
            </a:r>
            <a:r>
              <a:rPr lang="en-US" sz="2700" dirty="0" err="1"/>
              <a:t>ve</a:t>
            </a:r>
            <a:r>
              <a:rPr lang="en-US" sz="2700" dirty="0"/>
              <a:t> </a:t>
            </a:r>
            <a:r>
              <a:rPr lang="en-US" sz="2700" dirty="0" err="1"/>
              <a:t>öz</a:t>
            </a:r>
            <a:r>
              <a:rPr lang="en-US" sz="2700" dirty="0"/>
              <a:t> </a:t>
            </a:r>
            <a:r>
              <a:rPr lang="en-US" sz="2700" dirty="0" err="1"/>
              <a:t>imaj</a:t>
            </a:r>
            <a:r>
              <a:rPr lang="en-US" sz="2700" dirty="0"/>
              <a:t> </a:t>
            </a:r>
            <a:r>
              <a:rPr lang="en-US" sz="2700" dirty="0" err="1"/>
              <a:t>manipülasyonuna</a:t>
            </a:r>
            <a:r>
              <a:rPr lang="en-US" sz="2700" dirty="0"/>
              <a:t> </a:t>
            </a:r>
            <a:r>
              <a:rPr lang="en-US" sz="2700" dirty="0" err="1"/>
              <a:t>yönelik</a:t>
            </a:r>
            <a:r>
              <a:rPr lang="en-US" sz="2700" dirty="0"/>
              <a:t> </a:t>
            </a:r>
            <a:r>
              <a:rPr lang="en-US" sz="2700" dirty="0" err="1"/>
              <a:t>eğilimleri</a:t>
            </a:r>
            <a:r>
              <a:rPr lang="en-US" sz="2700" dirty="0"/>
              <a:t> </a:t>
            </a:r>
            <a:r>
              <a:rPr lang="en-US" sz="2700" dirty="0" err="1"/>
              <a:t>yer</a:t>
            </a:r>
            <a:r>
              <a:rPr lang="en-US" sz="2700" dirty="0"/>
              <a:t> </a:t>
            </a:r>
            <a:r>
              <a:rPr lang="en-US" sz="2700" dirty="0" err="1"/>
              <a:t>alıyor</a:t>
            </a:r>
            <a:r>
              <a:rPr lang="en-US" sz="2700" dirty="0"/>
              <a:t>.</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6440182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6982</TotalTime>
  <Words>3314</Words>
  <Application>Microsoft Office PowerPoint</Application>
  <PresentationFormat>Ekran Gösterisi (4:3)</PresentationFormat>
  <Paragraphs>100</Paragraphs>
  <Slides>27</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27</vt:i4>
      </vt:variant>
    </vt:vector>
  </HeadingPairs>
  <TitlesOfParts>
    <vt:vector size="31" baseType="lpstr">
      <vt:lpstr>Arial</vt:lpstr>
      <vt:lpstr>Calibri</vt:lpstr>
      <vt:lpstr>Calibri Light</vt:lpstr>
      <vt:lpstr>Office Theme</vt:lpstr>
      <vt:lpstr>Bilgi Teknolojilerinde Etik</vt:lpstr>
      <vt:lpstr>Öğrenme hedefleri</vt:lpstr>
      <vt:lpstr>Sosyal Medya Nedir?</vt:lpstr>
      <vt:lpstr>Popüler Sosyal Ağ Platformları</vt:lpstr>
      <vt:lpstr>Sosyal Medya Pazarlaması, Bölüm 1</vt:lpstr>
      <vt:lpstr>Sosyal Medya Pazarlaması, Bölüm 2</vt:lpstr>
      <vt:lpstr>Ücretli Medya Pazarlaması</vt:lpstr>
      <vt:lpstr>Kazanılmış Medya</vt:lpstr>
      <vt:lpstr>İşe Alım Sürecinde Sosyal Medya</vt:lpstr>
      <vt:lpstr>Sosyal Medyayı Kullanarak Müşteri Hizmetlerini İyileştirme</vt:lpstr>
      <vt:lpstr>Sosyal Alışveriş Platformları</vt:lpstr>
      <vt:lpstr>Sosyal Ağ Etik Sorunları</vt:lpstr>
      <vt:lpstr>Siber İstismarı Önlemek İçin İpuçları</vt:lpstr>
      <vt:lpstr>Siber Kötüye Kullanım ile İlgili Bilgi Kaynakları Sunan Kuruluşlar</vt:lpstr>
      <vt:lpstr>Cinsel Yırtıcılarla Karşılaşmalar</vt:lpstr>
      <vt:lpstr>Uygunsuz Materyal Yükleme</vt:lpstr>
      <vt:lpstr>Sosyal Medya Ağlarında Çalışan Katılımı</vt:lpstr>
      <vt:lpstr>Ek Sosyal Medya Sorunları</vt:lpstr>
      <vt:lpstr>Özet, Bölüm 1</vt:lpstr>
      <vt:lpstr>Özet, Bölüm 2</vt:lpstr>
      <vt:lpstr>Özet, Bölüm 3</vt:lpstr>
      <vt:lpstr>Özet, Bölüm 4</vt:lpstr>
      <vt:lpstr>Özet, Bölüm 5</vt:lpstr>
      <vt:lpstr>Özet, Bölüm 6</vt:lpstr>
      <vt:lpstr>Özet, Bölüm 7</vt:lpstr>
      <vt:lpstr>Özet, Bölüm 8</vt:lpstr>
      <vt:lpstr>Özet, Bölüm 9</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karahocaa</cp:lastModifiedBy>
  <cp:revision>312</cp:revision>
  <cp:lastPrinted>2010-11-12T17:54:40Z</cp:lastPrinted>
  <dcterms:created xsi:type="dcterms:W3CDTF">2007-02-15T20:50:52Z</dcterms:created>
  <dcterms:modified xsi:type="dcterms:W3CDTF">2023-11-09T19:47:43Z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