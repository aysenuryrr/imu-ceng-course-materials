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1" r:id="rId1"/>
  </p:sldMasterIdLst>
  <p:notesMasterIdLst>
    <p:notesMasterId r:id="rId44"/>
  </p:notesMasterIdLst>
  <p:handoutMasterIdLst>
    <p:handoutMasterId r:id="rId45"/>
  </p:handoutMasterIdLst>
  <p:sldIdLst>
    <p:sldId id="264" r:id="rId2"/>
    <p:sldId id="261" r:id="rId3"/>
    <p:sldId id="267" r:id="rId4"/>
    <p:sldId id="266" r:id="rId5"/>
    <p:sldId id="268" r:id="rId6"/>
    <p:sldId id="269" r:id="rId7"/>
    <p:sldId id="270" r:id="rId8"/>
    <p:sldId id="271" r:id="rId9"/>
    <p:sldId id="272" r:id="rId10"/>
    <p:sldId id="273" r:id="rId11"/>
    <p:sldId id="274" r:id="rId12"/>
    <p:sldId id="275" r:id="rId13"/>
    <p:sldId id="276" r:id="rId14"/>
    <p:sldId id="277" r:id="rId15"/>
    <p:sldId id="278" r:id="rId16"/>
    <p:sldId id="279" r:id="rId17"/>
    <p:sldId id="280" r:id="rId18"/>
    <p:sldId id="281" r:id="rId19"/>
    <p:sldId id="282" r:id="rId20"/>
    <p:sldId id="283" r:id="rId21"/>
    <p:sldId id="284" r:id="rId22"/>
    <p:sldId id="285" r:id="rId23"/>
    <p:sldId id="286" r:id="rId24"/>
    <p:sldId id="287" r:id="rId25"/>
    <p:sldId id="288" r:id="rId26"/>
    <p:sldId id="289" r:id="rId27"/>
    <p:sldId id="290" r:id="rId28"/>
    <p:sldId id="294" r:id="rId29"/>
    <p:sldId id="291" r:id="rId30"/>
    <p:sldId id="292" r:id="rId31"/>
    <p:sldId id="293" r:id="rId32"/>
    <p:sldId id="295" r:id="rId33"/>
    <p:sldId id="296" r:id="rId34"/>
    <p:sldId id="298" r:id="rId35"/>
    <p:sldId id="299" r:id="rId36"/>
    <p:sldId id="300" r:id="rId37"/>
    <p:sldId id="301" r:id="rId38"/>
    <p:sldId id="302" r:id="rId39"/>
    <p:sldId id="303" r:id="rId40"/>
    <p:sldId id="304" r:id="rId41"/>
    <p:sldId id="305" r:id="rId42"/>
    <p:sldId id="306" r:id="rId43"/>
  </p:sldIdLst>
  <p:sldSz cx="9144000" cy="6858000" type="screen4x3"/>
  <p:notesSz cx="9372600" cy="70866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anette Stillwell" initials="NBS" lastIdx="5" clrIdx="0"/>
  <p:cmAuthor id="1" name="Gerald Titchener" initials="GT" lastIdx="1" clrIdx="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70A5"/>
    <a:srgbClr val="FFFFFF"/>
    <a:srgbClr val="96CDEE"/>
    <a:srgbClr val="0F3F5D"/>
    <a:srgbClr val="01773A"/>
    <a:srgbClr val="156B13"/>
    <a:srgbClr val="008000"/>
    <a:srgbClr val="F20000"/>
    <a:srgbClr val="66CCFF"/>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486" autoAdjust="0"/>
    <p:restoredTop sz="99857" autoAdjust="0"/>
  </p:normalViewPr>
  <p:slideViewPr>
    <p:cSldViewPr>
      <p:cViewPr varScale="1">
        <p:scale>
          <a:sx n="68" d="100"/>
          <a:sy n="68" d="100"/>
        </p:scale>
        <p:origin x="1614" y="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endParaRPr lang="en-US" dirty="0"/>
          </a:p>
        </p:txBody>
      </p:sp>
      <p:sp>
        <p:nvSpPr>
          <p:cNvPr id="3" name="Date Placeholder 2"/>
          <p:cNvSpPr>
            <a:spLocks noGrp="1"/>
          </p:cNvSpPr>
          <p:nvPr>
            <p:ph type="dt" sz="quarter" idx="1"/>
          </p:nvPr>
        </p:nvSpPr>
        <p:spPr>
          <a:xfrm>
            <a:off x="5308971" y="0"/>
            <a:ext cx="4061460" cy="354330"/>
          </a:xfrm>
          <a:prstGeom prst="rect">
            <a:avLst/>
          </a:prstGeom>
        </p:spPr>
        <p:txBody>
          <a:bodyPr vert="horz" lIns="94046" tIns="47023" rIns="94046" bIns="47023" rtlCol="0"/>
          <a:lstStyle>
            <a:lvl1pPr algn="r">
              <a:defRPr sz="1200"/>
            </a:lvl1pPr>
          </a:lstStyle>
          <a:p>
            <a:fld id="{4EE4060F-EC6E-45B5-96F1-A60F0585115B}" type="datetimeFigureOut">
              <a:rPr lang="en-US" smtClean="0"/>
              <a:pPr/>
              <a:t>8/16/2017</a:t>
            </a:fld>
            <a:endParaRPr lang="en-US" dirty="0"/>
          </a:p>
        </p:txBody>
      </p:sp>
      <p:sp>
        <p:nvSpPr>
          <p:cNvPr id="4" name="Footer Placeholder 3"/>
          <p:cNvSpPr>
            <a:spLocks noGrp="1"/>
          </p:cNvSpPr>
          <p:nvPr>
            <p:ph type="ftr" sz="quarter" idx="2"/>
          </p:nvPr>
        </p:nvSpPr>
        <p:spPr>
          <a:xfrm>
            <a:off x="0" y="6731040"/>
            <a:ext cx="4061460" cy="354330"/>
          </a:xfrm>
          <a:prstGeom prst="rect">
            <a:avLst/>
          </a:prstGeom>
        </p:spPr>
        <p:txBody>
          <a:bodyPr vert="horz" lIns="94046" tIns="47023" rIns="94046" bIns="47023" rtlCol="0" anchor="b"/>
          <a:lstStyle>
            <a:lvl1pPr algn="l">
              <a:defRPr sz="1200"/>
            </a:lvl1pPr>
          </a:lstStyle>
          <a:p>
            <a:endParaRPr lang="en-US" dirty="0"/>
          </a:p>
        </p:txBody>
      </p:sp>
      <p:sp>
        <p:nvSpPr>
          <p:cNvPr id="5" name="Slide Number Placeholder 4"/>
          <p:cNvSpPr>
            <a:spLocks noGrp="1"/>
          </p:cNvSpPr>
          <p:nvPr>
            <p:ph type="sldNum" sz="quarter" idx="3"/>
          </p:nvPr>
        </p:nvSpPr>
        <p:spPr>
          <a:xfrm>
            <a:off x="5308971" y="6731040"/>
            <a:ext cx="4061460" cy="354330"/>
          </a:xfrm>
          <a:prstGeom prst="rect">
            <a:avLst/>
          </a:prstGeom>
        </p:spPr>
        <p:txBody>
          <a:bodyPr vert="horz" lIns="94046" tIns="47023" rIns="94046" bIns="47023" rtlCol="0" anchor="b"/>
          <a:lstStyle>
            <a:lvl1pPr algn="r">
              <a:defRPr sz="1200"/>
            </a:lvl1pPr>
          </a:lstStyle>
          <a:p>
            <a:fld id="{A987596C-5E44-4393-BE44-DB7D499825F1}" type="slidenum">
              <a:rPr lang="en-US" smtClean="0"/>
              <a:pPr/>
              <a:t>‹#›</a:t>
            </a:fld>
            <a:endParaRPr lang="en-US" dirty="0"/>
          </a:p>
        </p:txBody>
      </p:sp>
    </p:spTree>
    <p:extLst>
      <p:ext uri="{BB962C8B-B14F-4D97-AF65-F5344CB8AC3E}">
        <p14:creationId xmlns:p14="http://schemas.microsoft.com/office/powerpoint/2010/main" val="2834206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pPr>
              <a:defRPr/>
            </a:pPr>
            <a:endParaRPr lang="en-US" dirty="0"/>
          </a:p>
        </p:txBody>
      </p:sp>
      <p:sp>
        <p:nvSpPr>
          <p:cNvPr id="3" name="Date Placeholder 2"/>
          <p:cNvSpPr>
            <a:spLocks noGrp="1"/>
          </p:cNvSpPr>
          <p:nvPr>
            <p:ph type="dt" idx="1"/>
          </p:nvPr>
        </p:nvSpPr>
        <p:spPr>
          <a:xfrm>
            <a:off x="5308971" y="0"/>
            <a:ext cx="4061460" cy="354330"/>
          </a:xfrm>
          <a:prstGeom prst="rect">
            <a:avLst/>
          </a:prstGeom>
        </p:spPr>
        <p:txBody>
          <a:bodyPr vert="horz" lIns="94046" tIns="47023" rIns="94046" bIns="47023" rtlCol="0"/>
          <a:lstStyle>
            <a:lvl1pPr algn="r">
              <a:defRPr sz="1200"/>
            </a:lvl1pPr>
          </a:lstStyle>
          <a:p>
            <a:pPr>
              <a:defRPr/>
            </a:pPr>
            <a:fld id="{46950642-C6F2-4E46-90C1-0B12B643B3D7}" type="datetimeFigureOut">
              <a:rPr lang="en-US"/>
              <a:pPr>
                <a:defRPr/>
              </a:pPr>
              <a:t>8/16/2017</a:t>
            </a:fld>
            <a:endParaRPr lang="en-US" dirty="0"/>
          </a:p>
        </p:txBody>
      </p:sp>
      <p:sp>
        <p:nvSpPr>
          <p:cNvPr id="4" name="Slide Image Placeholder 3"/>
          <p:cNvSpPr>
            <a:spLocks noGrp="1" noRot="1" noChangeAspect="1"/>
          </p:cNvSpPr>
          <p:nvPr>
            <p:ph type="sldImg" idx="2"/>
          </p:nvPr>
        </p:nvSpPr>
        <p:spPr>
          <a:xfrm>
            <a:off x="2914650" y="531813"/>
            <a:ext cx="3543300" cy="2657475"/>
          </a:xfrm>
          <a:prstGeom prst="rect">
            <a:avLst/>
          </a:prstGeom>
          <a:noFill/>
          <a:ln w="12700">
            <a:solidFill>
              <a:prstClr val="black"/>
            </a:solidFill>
          </a:ln>
        </p:spPr>
        <p:txBody>
          <a:bodyPr vert="horz" lIns="94046" tIns="47023" rIns="94046" bIns="47023" rtlCol="0" anchor="ctr"/>
          <a:lstStyle/>
          <a:p>
            <a:pPr lvl="0"/>
            <a:endParaRPr lang="en-US" noProof="0" dirty="0"/>
          </a:p>
        </p:txBody>
      </p:sp>
      <p:sp>
        <p:nvSpPr>
          <p:cNvPr id="5" name="Notes Placeholder 4"/>
          <p:cNvSpPr>
            <a:spLocks noGrp="1"/>
          </p:cNvSpPr>
          <p:nvPr>
            <p:ph type="body" sz="quarter" idx="3"/>
          </p:nvPr>
        </p:nvSpPr>
        <p:spPr>
          <a:xfrm>
            <a:off x="937260" y="3366135"/>
            <a:ext cx="7498080" cy="3188970"/>
          </a:xfrm>
          <a:prstGeom prst="rect">
            <a:avLst/>
          </a:prstGeom>
        </p:spPr>
        <p:txBody>
          <a:bodyPr vert="horz" lIns="94046" tIns="47023" rIns="94046" bIns="47023"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6731040"/>
            <a:ext cx="4061460" cy="354330"/>
          </a:xfrm>
          <a:prstGeom prst="rect">
            <a:avLst/>
          </a:prstGeom>
        </p:spPr>
        <p:txBody>
          <a:bodyPr vert="horz" lIns="94046" tIns="47023" rIns="94046" bIns="47023" rtlCol="0" anchor="b"/>
          <a:lstStyle>
            <a:lvl1pPr algn="l">
              <a:defRPr sz="1200"/>
            </a:lvl1pPr>
          </a:lstStyle>
          <a:p>
            <a:pPr>
              <a:defRPr/>
            </a:pPr>
            <a:endParaRPr lang="en-US" dirty="0"/>
          </a:p>
        </p:txBody>
      </p:sp>
      <p:sp>
        <p:nvSpPr>
          <p:cNvPr id="7" name="Slide Number Placeholder 6"/>
          <p:cNvSpPr>
            <a:spLocks noGrp="1"/>
          </p:cNvSpPr>
          <p:nvPr>
            <p:ph type="sldNum" sz="quarter" idx="5"/>
          </p:nvPr>
        </p:nvSpPr>
        <p:spPr>
          <a:xfrm>
            <a:off x="5308971" y="6731040"/>
            <a:ext cx="4061460" cy="354330"/>
          </a:xfrm>
          <a:prstGeom prst="rect">
            <a:avLst/>
          </a:prstGeom>
        </p:spPr>
        <p:txBody>
          <a:bodyPr vert="horz" lIns="94046" tIns="47023" rIns="94046" bIns="47023" rtlCol="0" anchor="b"/>
          <a:lstStyle>
            <a:lvl1pPr algn="r">
              <a:defRPr sz="1200"/>
            </a:lvl1pPr>
          </a:lstStyle>
          <a:p>
            <a:pPr>
              <a:defRPr/>
            </a:pPr>
            <a:fld id="{CAA8545F-A231-4F50-B1F1-95F56EBB643D}" type="slidenum">
              <a:rPr lang="en-US"/>
              <a:pPr>
                <a:defRPr/>
              </a:pPr>
              <a:t>‹#›</a:t>
            </a:fld>
            <a:endParaRPr lang="en-US" dirty="0"/>
          </a:p>
        </p:txBody>
      </p:sp>
    </p:spTree>
    <p:extLst>
      <p:ext uri="{BB962C8B-B14F-4D97-AF65-F5344CB8AC3E}">
        <p14:creationId xmlns:p14="http://schemas.microsoft.com/office/powerpoint/2010/main" val="31546405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descr="Title_Slide.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8134" y="254000"/>
            <a:ext cx="8713465" cy="6526752"/>
          </a:xfrm>
          <a:prstGeom prst="rect">
            <a:avLst/>
          </a:prstGeom>
        </p:spPr>
      </p:pic>
      <p:sp>
        <p:nvSpPr>
          <p:cNvPr id="2" name="Title 1"/>
          <p:cNvSpPr>
            <a:spLocks noGrp="1"/>
          </p:cNvSpPr>
          <p:nvPr>
            <p:ph type="ctrTitle"/>
          </p:nvPr>
        </p:nvSpPr>
        <p:spPr>
          <a:xfrm>
            <a:off x="698500" y="2712698"/>
            <a:ext cx="7747000" cy="377026"/>
          </a:xfrm>
        </p:spPr>
        <p:txBody>
          <a:bodyPr anchor="b"/>
          <a:lstStyle>
            <a:lvl1pPr algn="ctr">
              <a:defRPr sz="2800">
                <a:solidFill>
                  <a:schemeClr val="accent2"/>
                </a:solidFill>
              </a:defRPr>
            </a:lvl1pPr>
          </a:lstStyle>
          <a:p>
            <a:r>
              <a:rPr lang="en-US" dirty="0"/>
              <a:t>Click to edit Master title style</a:t>
            </a:r>
          </a:p>
        </p:txBody>
      </p:sp>
      <p:sp>
        <p:nvSpPr>
          <p:cNvPr id="3" name="Subtitle 2"/>
          <p:cNvSpPr>
            <a:spLocks noGrp="1"/>
          </p:cNvSpPr>
          <p:nvPr>
            <p:ph type="subTitle" idx="1"/>
          </p:nvPr>
        </p:nvSpPr>
        <p:spPr>
          <a:xfrm>
            <a:off x="698500" y="3352800"/>
            <a:ext cx="7747000" cy="235962"/>
          </a:xfrm>
        </p:spPr>
        <p:txBody>
          <a:bodyPr/>
          <a:lstStyle>
            <a:lvl1pPr marL="0" indent="0" algn="ctr">
              <a:buNone/>
              <a:defRPr sz="16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Rectangle 3"/>
          <p:cNvSpPr/>
          <p:nvPr userDrawn="1"/>
        </p:nvSpPr>
        <p:spPr>
          <a:xfrm>
            <a:off x="3482340" y="223520"/>
            <a:ext cx="2125980" cy="9855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Rules_Single_A.png"/>
          <p:cNvPicPr>
            <a:picLocks noChangeAspect="1"/>
          </p:cNvPicPr>
          <p:nvPr userDrawn="1"/>
        </p:nvPicPr>
        <p:blipFill rotWithShape="1">
          <a:blip r:embed="rId3" cstate="print">
            <a:extLst>
              <a:ext uri="{28A0092B-C50C-407E-A947-70E740481C1C}">
                <a14:useLocalDpi xmlns:a14="http://schemas.microsoft.com/office/drawing/2010/main" val="0"/>
              </a:ext>
            </a:extLst>
          </a:blip>
          <a:srcRect l="25529" r="-57141"/>
          <a:stretch/>
        </p:blipFill>
        <p:spPr>
          <a:xfrm>
            <a:off x="1627124" y="481304"/>
            <a:ext cx="10034016" cy="99113"/>
          </a:xfrm>
          <a:prstGeom prst="rect">
            <a:avLst/>
          </a:prstGeom>
        </p:spPr>
      </p:pic>
      <p:sp>
        <p:nvSpPr>
          <p:cNvPr id="5" name="Rectangle 4"/>
          <p:cNvSpPr/>
          <p:nvPr userDrawn="1"/>
        </p:nvSpPr>
        <p:spPr>
          <a:xfrm>
            <a:off x="6812283" y="4885106"/>
            <a:ext cx="2080291" cy="1926127"/>
          </a:xfrm>
          <a:custGeom>
            <a:avLst/>
            <a:gdLst>
              <a:gd name="connsiteX0" fmla="*/ 0 w 1973580"/>
              <a:gd name="connsiteY0" fmla="*/ 0 h 1389864"/>
              <a:gd name="connsiteX1" fmla="*/ 1973580 w 1973580"/>
              <a:gd name="connsiteY1" fmla="*/ 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0 h 1389864"/>
              <a:gd name="connsiteX1" fmla="*/ 1935480 w 1973580"/>
              <a:gd name="connsiteY1" fmla="*/ 6096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54731 h 1444595"/>
              <a:gd name="connsiteX1" fmla="*/ 1577340 w 1973580"/>
              <a:gd name="connsiteY1" fmla="*/ 1391 h 1444595"/>
              <a:gd name="connsiteX2" fmla="*/ 1935480 w 1973580"/>
              <a:gd name="connsiteY2" fmla="*/ 115691 h 1444595"/>
              <a:gd name="connsiteX3" fmla="*/ 1973580 w 1973580"/>
              <a:gd name="connsiteY3" fmla="*/ 1444595 h 1444595"/>
              <a:gd name="connsiteX4" fmla="*/ 0 w 1973580"/>
              <a:gd name="connsiteY4" fmla="*/ 1444595 h 1444595"/>
              <a:gd name="connsiteX5" fmla="*/ 0 w 1973580"/>
              <a:gd name="connsiteY5"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0 w 2080291"/>
              <a:gd name="connsiteY6"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60960 w 2080291"/>
              <a:gd name="connsiteY6" fmla="*/ 103009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99060 w 2080291"/>
              <a:gd name="connsiteY6" fmla="*/ 991992 h 1444595"/>
              <a:gd name="connsiteX7" fmla="*/ 0 w 2080291"/>
              <a:gd name="connsiteY7" fmla="*/ 54731 h 1444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0291" h="1444595">
                <a:moveTo>
                  <a:pt x="0" y="54731"/>
                </a:moveTo>
                <a:cubicBezTo>
                  <a:pt x="520700" y="67431"/>
                  <a:pt x="1056640" y="-11309"/>
                  <a:pt x="1577340" y="1391"/>
                </a:cubicBezTo>
                <a:lnTo>
                  <a:pt x="1935480" y="115691"/>
                </a:lnTo>
                <a:cubicBezTo>
                  <a:pt x="1932940" y="209671"/>
                  <a:pt x="2082800" y="334132"/>
                  <a:pt x="2080260" y="428112"/>
                </a:cubicBezTo>
                <a:lnTo>
                  <a:pt x="1973580" y="1444595"/>
                </a:lnTo>
                <a:lnTo>
                  <a:pt x="0" y="1444595"/>
                </a:lnTo>
                <a:cubicBezTo>
                  <a:pt x="0" y="1319127"/>
                  <a:pt x="99060" y="1117460"/>
                  <a:pt x="99060" y="991992"/>
                </a:cubicBezTo>
                <a:lnTo>
                  <a:pt x="0" y="5473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udio.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865369" y="5389519"/>
            <a:ext cx="987056" cy="1040948"/>
          </a:xfrm>
          <a:prstGeom prst="rect">
            <a:avLst/>
          </a:prstGeom>
        </p:spPr>
      </p:pic>
      <p:pic>
        <p:nvPicPr>
          <p:cNvPr id="12" name="Picture 11"/>
          <p:cNvPicPr>
            <a:picLocks noChangeAspect="1"/>
          </p:cNvPicPr>
          <p:nvPr userDrawn="1"/>
        </p:nvPicPr>
        <p:blipFill rotWithShape="1">
          <a:blip r:embed="rId5" cstate="print">
            <a:extLst>
              <a:ext uri="{28A0092B-C50C-407E-A947-70E740481C1C}">
                <a14:useLocalDpi xmlns:a14="http://schemas.microsoft.com/office/drawing/2010/main" val="0"/>
              </a:ext>
            </a:extLst>
          </a:blip>
          <a:srcRect l="24476" r="23794"/>
          <a:stretch/>
        </p:blipFill>
        <p:spPr>
          <a:xfrm>
            <a:off x="8674488" y="5121741"/>
            <a:ext cx="275507" cy="710099"/>
          </a:xfrm>
          <a:prstGeom prst="rect">
            <a:avLst/>
          </a:prstGeom>
        </p:spPr>
      </p:pic>
      <p:pic>
        <p:nvPicPr>
          <p:cNvPr id="13" name="Picture 12" descr="Swirl_3.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rot="9688654">
            <a:off x="7441068" y="6393019"/>
            <a:ext cx="386047" cy="285072"/>
          </a:xfrm>
          <a:prstGeom prst="rect">
            <a:avLst/>
          </a:prstGeom>
        </p:spPr>
      </p:pic>
      <p:pic>
        <p:nvPicPr>
          <p:cNvPr id="14" name="Picture 13" descr="Swirl_3.png"/>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rot="18073124">
            <a:off x="7908376" y="5449329"/>
            <a:ext cx="591497" cy="245691"/>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4669" t="13753" r="6579" b="12460"/>
          <a:stretch/>
        </p:blipFill>
        <p:spPr>
          <a:xfrm>
            <a:off x="7939373" y="5831840"/>
            <a:ext cx="672857" cy="745880"/>
          </a:xfrm>
          <a:prstGeom prst="rect">
            <a:avLst/>
          </a:prstGeom>
        </p:spPr>
      </p:pic>
      <p:sp>
        <p:nvSpPr>
          <p:cNvPr id="6" name="Footer Placeholder 5"/>
          <p:cNvSpPr>
            <a:spLocks noGrp="1"/>
          </p:cNvSpPr>
          <p:nvPr>
            <p:ph type="ftr" sz="quarter" idx="10"/>
          </p:nvPr>
        </p:nvSpPr>
        <p:spPr>
          <a:xfrm>
            <a:off x="1204120" y="6363869"/>
            <a:ext cx="6201666" cy="366183"/>
          </a:xfrm>
        </p:spPr>
        <p:txBody>
          <a:bodyPr/>
          <a:lstStyle>
            <a:lvl1pPr>
              <a:defRPr sz="600"/>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pic>
        <p:nvPicPr>
          <p:cNvPr id="9" name="Picture 8"/>
          <p:cNvPicPr>
            <a:picLocks noChangeAspect="1"/>
          </p:cNvPicPr>
          <p:nvPr userDrawn="1"/>
        </p:nvPicPr>
        <p:blipFill>
          <a:blip r:embed="rId9"/>
          <a:stretch>
            <a:fillRect/>
          </a:stretch>
        </p:blipFill>
        <p:spPr>
          <a:xfrm>
            <a:off x="0" y="6415635"/>
            <a:ext cx="1151034" cy="354164"/>
          </a:xfrm>
          <a:prstGeom prst="rect">
            <a:avLst/>
          </a:prstGeom>
        </p:spPr>
      </p:pic>
    </p:spTree>
    <p:extLst>
      <p:ext uri="{BB962C8B-B14F-4D97-AF65-F5344CB8AC3E}">
        <p14:creationId xmlns:p14="http://schemas.microsoft.com/office/powerpoint/2010/main" val="2594084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41600" y="2228188"/>
            <a:ext cx="6172200" cy="377026"/>
          </a:xfrm>
        </p:spPr>
        <p:txBody>
          <a:bodyPr anchor="ctr"/>
          <a:lstStyle>
            <a:lvl1pPr algn="l">
              <a:defRPr sz="2800" b="0" cap="none" baseline="0">
                <a:solidFill>
                  <a:srgbClr val="055C91"/>
                </a:solidFill>
              </a:defRPr>
            </a:lvl1pPr>
          </a:lstStyle>
          <a:p>
            <a:r>
              <a:rPr lang="en-US" dirty="0"/>
              <a:t>Click to edit Master title style</a:t>
            </a:r>
          </a:p>
        </p:txBody>
      </p:sp>
      <p:sp>
        <p:nvSpPr>
          <p:cNvPr id="3" name="Text Placeholder 2"/>
          <p:cNvSpPr>
            <a:spLocks noGrp="1"/>
          </p:cNvSpPr>
          <p:nvPr>
            <p:ph type="body" idx="1"/>
          </p:nvPr>
        </p:nvSpPr>
        <p:spPr>
          <a:xfrm>
            <a:off x="2641600" y="2942670"/>
            <a:ext cx="6172200" cy="265457"/>
          </a:xfrm>
        </p:spPr>
        <p:txBody>
          <a:bodyPr anchor="t"/>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pic>
        <p:nvPicPr>
          <p:cNvPr id="6" name="Picture 5" descr="Rules_Single_A.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4" name="Picture 3" descr="Audio.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0707" y="361953"/>
            <a:ext cx="1840495" cy="1940983"/>
          </a:xfrm>
          <a:prstGeom prst="rect">
            <a:avLst/>
          </a:prstGeom>
        </p:spPr>
      </p:pic>
      <p:pic>
        <p:nvPicPr>
          <p:cNvPr id="11" name="Picture 10" descr="Swirl_3.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2569126">
            <a:off x="1431691" y="1916271"/>
            <a:ext cx="908570" cy="670924"/>
          </a:xfrm>
          <a:prstGeom prst="rect">
            <a:avLst/>
          </a:prstGeom>
        </p:spPr>
      </p:pic>
      <p:pic>
        <p:nvPicPr>
          <p:cNvPr id="12" name="Picture 11" descr="Swirl_2.png"/>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rot="3873741" flipH="1">
            <a:off x="218018" y="3551101"/>
            <a:ext cx="795867" cy="833254"/>
          </a:xfrm>
          <a:prstGeom prst="rect">
            <a:avLst/>
          </a:prstGeom>
        </p:spPr>
      </p:pic>
      <p:pic>
        <p:nvPicPr>
          <p:cNvPr id="14" name="Picture 13"/>
          <p:cNvPicPr>
            <a:picLocks noChangeAspect="1"/>
          </p:cNvPicPr>
          <p:nvPr userDrawn="1"/>
        </p:nvPicPr>
        <p:blipFill rotWithShape="1">
          <a:blip r:embed="rId6" cstate="print">
            <a:extLst>
              <a:ext uri="{28A0092B-C50C-407E-A947-70E740481C1C}">
                <a14:useLocalDpi xmlns:a14="http://schemas.microsoft.com/office/drawing/2010/main" val="0"/>
              </a:ext>
            </a:extLst>
          </a:blip>
          <a:srcRect l="4669" t="13753" r="6579" b="12460"/>
          <a:stretch/>
        </p:blipFill>
        <p:spPr>
          <a:xfrm>
            <a:off x="879649" y="2604920"/>
            <a:ext cx="1101550" cy="1221097"/>
          </a:xfrm>
          <a:prstGeom prst="rect">
            <a:avLst/>
          </a:prstGeom>
        </p:spPr>
      </p:pic>
      <p:pic>
        <p:nvPicPr>
          <p:cNvPr id="15" name="Picture 1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0704" y="4534755"/>
            <a:ext cx="596838" cy="795784"/>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24476" r="23794"/>
          <a:stretch/>
        </p:blipFill>
        <p:spPr>
          <a:xfrm>
            <a:off x="737542" y="4804753"/>
            <a:ext cx="252342" cy="650393"/>
          </a:xfrm>
          <a:prstGeom prst="rect">
            <a:avLst/>
          </a:prstGeom>
        </p:spPr>
      </p:pic>
      <p:sp>
        <p:nvSpPr>
          <p:cNvPr id="7" name="Footer Placeholder 6"/>
          <p:cNvSpPr>
            <a:spLocks noGrp="1"/>
          </p:cNvSpPr>
          <p:nvPr>
            <p:ph type="ftr" sz="quarter" idx="10"/>
          </p:nvPr>
        </p:nvSpPr>
        <p:spPr>
          <a:xfrm>
            <a:off x="1597682" y="6578465"/>
            <a:ext cx="6781693" cy="244535"/>
          </a:xfrm>
        </p:spPr>
        <p:txBody>
          <a:bodyPr/>
          <a:lstStyle>
            <a:lvl1pPr>
              <a:defRPr sz="600"/>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pic>
        <p:nvPicPr>
          <p:cNvPr id="17" name="Picture 16"/>
          <p:cNvPicPr>
            <a:picLocks noChangeAspect="1"/>
          </p:cNvPicPr>
          <p:nvPr userDrawn="1"/>
        </p:nvPicPr>
        <p:blipFill>
          <a:blip r:embed="rId9"/>
          <a:stretch>
            <a:fillRect/>
          </a:stretch>
        </p:blipFill>
        <p:spPr>
          <a:xfrm>
            <a:off x="118720" y="6363035"/>
            <a:ext cx="1400289" cy="430858"/>
          </a:xfrm>
          <a:prstGeom prst="rect">
            <a:avLst/>
          </a:prstGeom>
        </p:spPr>
      </p:pic>
    </p:spTree>
    <p:extLst>
      <p:ext uri="{BB962C8B-B14F-4D97-AF65-F5344CB8AC3E}">
        <p14:creationId xmlns:p14="http://schemas.microsoft.com/office/powerpoint/2010/main" val="2706735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p:cNvSpPr>
            <a:spLocks noGrp="1"/>
          </p:cNvSpPr>
          <p:nvPr>
            <p:ph type="title"/>
          </p:nvPr>
        </p:nvSpPr>
        <p:spPr>
          <a:xfrm>
            <a:off x="762000" y="406258"/>
            <a:ext cx="8026400" cy="296235"/>
          </a:xfrm>
        </p:spPr>
        <p:txBody>
          <a:bodyPr/>
          <a:lstStyle/>
          <a:p>
            <a:r>
              <a:rPr lang="en-US" dirty="0"/>
              <a:t>Click to edit Master title style</a:t>
            </a:r>
          </a:p>
        </p:txBody>
      </p:sp>
      <p:pic>
        <p:nvPicPr>
          <p:cNvPr id="7" name="Picture 6"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8" name="Picture 17"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2" name="Footer Placeholder 1"/>
          <p:cNvSpPr>
            <a:spLocks noGrp="1"/>
          </p:cNvSpPr>
          <p:nvPr>
            <p:ph type="ftr" sz="quarter" idx="10"/>
          </p:nvPr>
        </p:nvSpPr>
        <p:spPr>
          <a:xfrm>
            <a:off x="1597682" y="6578465"/>
            <a:ext cx="6781693" cy="244535"/>
          </a:xfrm>
        </p:spPr>
        <p:txBody>
          <a:bodyPr/>
          <a:lstStyle>
            <a:lvl1pPr>
              <a:defRPr sz="600"/>
            </a:lvl1p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5" name="Picture 4"/>
          <p:cNvPicPr>
            <a:picLocks noChangeAspect="1"/>
          </p:cNvPicPr>
          <p:nvPr userDrawn="1"/>
        </p:nvPicPr>
        <p:blipFill>
          <a:blip r:embed="rId5"/>
          <a:stretch>
            <a:fillRect/>
          </a:stretch>
        </p:blipFill>
        <p:spPr>
          <a:xfrm>
            <a:off x="47177" y="6324600"/>
            <a:ext cx="1439449" cy="442907"/>
          </a:xfrm>
          <a:prstGeom prst="rect">
            <a:avLst/>
          </a:prstGeom>
        </p:spPr>
      </p:pic>
    </p:spTree>
    <p:extLst>
      <p:ext uri="{BB962C8B-B14F-4D97-AF65-F5344CB8AC3E}">
        <p14:creationId xmlns:p14="http://schemas.microsoft.com/office/powerpoint/2010/main" val="4024610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dirty="0"/>
              <a:t>Click to edit Master title style</a:t>
            </a:r>
          </a:p>
        </p:txBody>
      </p:sp>
      <p:pic>
        <p:nvPicPr>
          <p:cNvPr id="8" name="Picture 7"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2" name="Picture 21"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3" name="Footer Placeholder 2"/>
          <p:cNvSpPr>
            <a:spLocks noGrp="1"/>
          </p:cNvSpPr>
          <p:nvPr>
            <p:ph type="ftr" sz="quarter" idx="10"/>
          </p:nvPr>
        </p:nvSpPr>
        <p:spPr>
          <a:xfrm>
            <a:off x="1597682" y="6578465"/>
            <a:ext cx="6781693" cy="244535"/>
          </a:xfrm>
        </p:spPr>
        <p:txBody>
          <a:bodyPr/>
          <a:lstStyle>
            <a:lvl1pPr>
              <a:defRPr sz="600"/>
            </a:lvl1p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9" name="Picture 8"/>
          <p:cNvPicPr>
            <a:picLocks noChangeAspect="1"/>
          </p:cNvPicPr>
          <p:nvPr userDrawn="1"/>
        </p:nvPicPr>
        <p:blipFill>
          <a:blip r:embed="rId5"/>
          <a:stretch>
            <a:fillRect/>
          </a:stretch>
        </p:blipFill>
        <p:spPr>
          <a:xfrm>
            <a:off x="60488" y="6305978"/>
            <a:ext cx="1403024" cy="431699"/>
          </a:xfrm>
          <a:prstGeom prst="rect">
            <a:avLst/>
          </a:prstGeom>
        </p:spPr>
      </p:pic>
    </p:spTree>
    <p:extLst>
      <p:ext uri="{BB962C8B-B14F-4D97-AF65-F5344CB8AC3E}">
        <p14:creationId xmlns:p14="http://schemas.microsoft.com/office/powerpoint/2010/main" val="1336393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470330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65125" y="1538818"/>
            <a:ext cx="8415338" cy="1412951"/>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txBox="1">
            <a:spLocks/>
          </p:cNvSpPr>
          <p:nvPr userDrawn="1"/>
        </p:nvSpPr>
        <p:spPr>
          <a:xfrm>
            <a:off x="8376166" y="6513743"/>
            <a:ext cx="312906" cy="215444"/>
          </a:xfrm>
          <a:prstGeom prst="rect">
            <a:avLst/>
          </a:prstGeom>
        </p:spPr>
        <p:txBody>
          <a:bodyPr vert="horz" wrap="none" lIns="91440" tIns="45720" rIns="91440" bIns="45720" rtlCol="0" anchor="ctr">
            <a:sp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8B40067-BD2A-418A-98BB-08A98047DC47}" type="slidenum">
              <a:rPr kumimoji="0" lang="en-US" sz="8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 name="Title Placeholder 1"/>
          <p:cNvSpPr>
            <a:spLocks noGrp="1"/>
          </p:cNvSpPr>
          <p:nvPr>
            <p:ph type="title"/>
          </p:nvPr>
        </p:nvSpPr>
        <p:spPr>
          <a:xfrm>
            <a:off x="365125" y="480785"/>
            <a:ext cx="8415338" cy="296235"/>
          </a:xfrm>
          <a:prstGeom prst="rect">
            <a:avLst/>
          </a:prstGeom>
        </p:spPr>
        <p:txBody>
          <a:bodyPr vert="horz" wrap="square" lIns="0" tIns="0" rIns="0" bIns="0" rtlCol="0" anchor="ctr">
            <a:spAutoFit/>
          </a:bodyPr>
          <a:lstStyle/>
          <a:p>
            <a:r>
              <a:rPr lang="en-US" dirty="0"/>
              <a:t>Click to edit Master title style</a:t>
            </a:r>
          </a:p>
        </p:txBody>
      </p:sp>
      <p:sp>
        <p:nvSpPr>
          <p:cNvPr id="4" name="Footer Placeholder 3"/>
          <p:cNvSpPr>
            <a:spLocks noGrp="1"/>
          </p:cNvSpPr>
          <p:nvPr>
            <p:ph type="ftr" sz="quarter" idx="3"/>
          </p:nvPr>
        </p:nvSpPr>
        <p:spPr>
          <a:xfrm>
            <a:off x="365126" y="6611007"/>
            <a:ext cx="8014247" cy="211991"/>
          </a:xfrm>
          <a:prstGeom prst="rect">
            <a:avLst/>
          </a:prstGeom>
        </p:spPr>
        <p:txBody>
          <a:bodyPr vert="horz" lIns="91440" tIns="45720" rIns="91440" bIns="45720" rtlCol="0" anchor="ctr"/>
          <a:lstStyle>
            <a:lvl1pPr algn="ctr">
              <a:defRPr sz="600">
                <a:solidFill>
                  <a:schemeClr val="tx1">
                    <a:tint val="75000"/>
                  </a:schemeClr>
                </a:solidFill>
              </a:defRPr>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92161740"/>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Lst>
  <p:hf hdr="0" dt="0"/>
  <p:txStyles>
    <p:titleStyle>
      <a:lvl1pPr algn="l" defTabSz="914400" rtl="0" eaLnBrk="1" latinLnBrk="0" hangingPunct="1">
        <a:lnSpc>
          <a:spcPct val="85000"/>
        </a:lnSpc>
        <a:spcBef>
          <a:spcPct val="0"/>
        </a:spcBef>
        <a:buNone/>
        <a:defRPr sz="2200" kern="1200">
          <a:solidFill>
            <a:schemeClr val="accent2"/>
          </a:solidFill>
          <a:latin typeface="+mj-lt"/>
          <a:ea typeface="+mj-ea"/>
          <a:cs typeface="+mj-cs"/>
        </a:defRPr>
      </a:lvl1pPr>
    </p:titleStyle>
    <p:bodyStyle>
      <a:lvl1pPr marL="171450" indent="-171450" algn="l" defTabSz="914400" rtl="0" eaLnBrk="1" latinLnBrk="0" hangingPunct="1">
        <a:lnSpc>
          <a:spcPct val="95000"/>
        </a:lnSpc>
        <a:spcBef>
          <a:spcPts val="1200"/>
        </a:spcBef>
        <a:buClr>
          <a:schemeClr val="accent2"/>
        </a:buClr>
        <a:buFont typeface="Arial" pitchFamily="34" charset="0"/>
        <a:buChar char="•"/>
        <a:defRPr sz="2000" kern="1200">
          <a:solidFill>
            <a:schemeClr val="tx1">
              <a:lumMod val="75000"/>
              <a:lumOff val="25000"/>
            </a:schemeClr>
          </a:solidFill>
          <a:latin typeface="+mn-lt"/>
          <a:ea typeface="+mn-ea"/>
          <a:cs typeface="+mn-cs"/>
        </a:defRPr>
      </a:lvl1pPr>
      <a:lvl2pPr marL="400050" indent="-171450" algn="l" defTabSz="914400" rtl="0" eaLnBrk="1" latinLnBrk="0" hangingPunct="1">
        <a:lnSpc>
          <a:spcPct val="95000"/>
        </a:lnSpc>
        <a:spcBef>
          <a:spcPts val="600"/>
        </a:spcBef>
        <a:buClr>
          <a:schemeClr val="accent1"/>
        </a:buClr>
        <a:buFont typeface="Arial" pitchFamily="34" charset="0"/>
        <a:buChar char="•"/>
        <a:defRPr sz="1800" kern="1200">
          <a:solidFill>
            <a:schemeClr val="tx1">
              <a:lumMod val="75000"/>
              <a:lumOff val="25000"/>
            </a:schemeClr>
          </a:solidFill>
          <a:latin typeface="+mn-lt"/>
          <a:ea typeface="+mn-ea"/>
          <a:cs typeface="+mn-cs"/>
        </a:defRPr>
      </a:lvl2pPr>
      <a:lvl3pPr marL="571500" indent="-114300" algn="l" defTabSz="914400" rtl="0" eaLnBrk="1" latinLnBrk="0" hangingPunct="1">
        <a:lnSpc>
          <a:spcPct val="95000"/>
        </a:lnSpc>
        <a:spcBef>
          <a:spcPct val="20000"/>
        </a:spcBef>
        <a:buClr>
          <a:schemeClr val="tx1">
            <a:lumMod val="75000"/>
            <a:lumOff val="25000"/>
          </a:schemeClr>
        </a:buClr>
        <a:buFont typeface="Arial" pitchFamily="34" charset="0"/>
        <a:buChar char="-"/>
        <a:defRPr sz="1600" kern="1200">
          <a:solidFill>
            <a:schemeClr val="tx1">
              <a:lumMod val="75000"/>
              <a:lumOff val="25000"/>
            </a:schemeClr>
          </a:solidFill>
          <a:latin typeface="+mn-lt"/>
          <a:ea typeface="+mn-ea"/>
          <a:cs typeface="+mn-cs"/>
        </a:defRPr>
      </a:lvl3pPr>
      <a:lvl4pPr marL="74295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4pPr>
      <a:lvl5pPr marL="91440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828800"/>
            <a:ext cx="7747000" cy="620170"/>
          </a:xfrm>
        </p:spPr>
        <p:txBody>
          <a:bodyPr anchor="ctr"/>
          <a:lstStyle/>
          <a:p>
            <a:r>
              <a:rPr lang="en-US" sz="4700" b="1" dirty="0"/>
              <a:t>Ethics in Information Technology</a:t>
            </a:r>
            <a:endParaRPr lang="en-US" sz="4700" dirty="0"/>
          </a:p>
        </p:txBody>
      </p:sp>
      <p:sp>
        <p:nvSpPr>
          <p:cNvPr id="3" name="Subtitle 2"/>
          <p:cNvSpPr>
            <a:spLocks noGrp="1"/>
          </p:cNvSpPr>
          <p:nvPr>
            <p:ph type="subTitle" idx="1"/>
          </p:nvPr>
        </p:nvSpPr>
        <p:spPr>
          <a:xfrm>
            <a:off x="609600" y="3124200"/>
            <a:ext cx="7747000" cy="2472215"/>
          </a:xfrm>
        </p:spPr>
        <p:txBody>
          <a:bodyPr/>
          <a:lstStyle/>
          <a:p>
            <a:r>
              <a:rPr lang="en-US" sz="3400" dirty="0"/>
              <a:t>Chapter 4</a:t>
            </a:r>
          </a:p>
          <a:p>
            <a:r>
              <a:rPr lang="en-US" sz="4800" b="1" dirty="0"/>
              <a:t>Privacy</a:t>
            </a:r>
          </a:p>
          <a:p>
            <a:endParaRPr lang="en-US" sz="1050" b="1" dirty="0"/>
          </a:p>
          <a:p>
            <a:endParaRPr lang="en-US" sz="1050" b="1" dirty="0"/>
          </a:p>
          <a:p>
            <a:r>
              <a:rPr lang="en-US" sz="2400" b="1" dirty="0">
                <a:solidFill>
                  <a:schemeClr val="accent2"/>
                </a:solidFill>
              </a:rPr>
              <a:t>George W. Reynolds</a:t>
            </a:r>
          </a:p>
        </p:txBody>
      </p:sp>
      <p:sp>
        <p:nvSpPr>
          <p:cNvPr id="4" name="Footer Placeholder 3"/>
          <p:cNvSpPr>
            <a:spLocks noGrp="1"/>
          </p:cNvSpPr>
          <p:nvPr>
            <p:ph type="ftr" sz="quarter" idx="10"/>
          </p:nvPr>
        </p:nvSpPr>
        <p:spPr>
          <a:xfrm>
            <a:off x="1066801" y="6477000"/>
            <a:ext cx="6248400" cy="244535"/>
          </a:xfrm>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1460484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5131" y="460303"/>
            <a:ext cx="5528860" cy="523220"/>
          </a:xfrm>
        </p:spPr>
        <p:txBody>
          <a:bodyPr/>
          <a:lstStyle/>
          <a:p>
            <a:r>
              <a:rPr lang="en-US" sz="4000" dirty="0"/>
              <a:t>Learning Objectives, Part 1</a:t>
            </a:r>
          </a:p>
        </p:txBody>
      </p:sp>
      <p:sp>
        <p:nvSpPr>
          <p:cNvPr id="4" name="Content Placeholder 3"/>
          <p:cNvSpPr>
            <a:spLocks noGrp="1"/>
          </p:cNvSpPr>
          <p:nvPr>
            <p:ph type="body" idx="1"/>
          </p:nvPr>
        </p:nvSpPr>
        <p:spPr>
          <a:xfrm>
            <a:off x="2425131" y="1143000"/>
            <a:ext cx="6337869" cy="5201424"/>
          </a:xfrm>
        </p:spPr>
        <p:txBody>
          <a:bodyPr/>
          <a:lstStyle/>
          <a:p>
            <a:pPr marL="457200" indent="-457200">
              <a:lnSpc>
                <a:spcPct val="100000"/>
              </a:lnSpc>
              <a:buFont typeface="Arial" panose="020B0604020202020204" pitchFamily="34" charset="0"/>
              <a:buChar char="•"/>
            </a:pPr>
            <a:r>
              <a:rPr lang="en-US" sz="2800" dirty="0">
                <a:solidFill>
                  <a:schemeClr val="tx1"/>
                </a:solidFill>
              </a:rPr>
              <a:t>What is the right of privacy, and what is the basis for protecting personal privacy under the law?</a:t>
            </a:r>
          </a:p>
          <a:p>
            <a:pPr marL="457200" indent="-457200">
              <a:lnSpc>
                <a:spcPct val="100000"/>
              </a:lnSpc>
              <a:buFont typeface="Arial" panose="020B0604020202020204" pitchFamily="34" charset="0"/>
              <a:buChar char="•"/>
            </a:pPr>
            <a:r>
              <a:rPr lang="en-US" sz="2800" dirty="0">
                <a:solidFill>
                  <a:schemeClr val="tx1"/>
                </a:solidFill>
              </a:rPr>
              <a:t>What are some of the laws that provide protection for the privacy of personal data, and what are some of the associated ethical issues?</a:t>
            </a:r>
          </a:p>
          <a:p>
            <a:pPr marL="457200" indent="-457200">
              <a:lnSpc>
                <a:spcPct val="100000"/>
              </a:lnSpc>
              <a:buFont typeface="Arial" panose="020B0604020202020204" pitchFamily="34" charset="0"/>
              <a:buChar char="•"/>
            </a:pPr>
            <a:r>
              <a:rPr lang="en-US" sz="2800" dirty="0">
                <a:solidFill>
                  <a:schemeClr val="tx1"/>
                </a:solidFill>
              </a:rPr>
              <a:t>What are the various strategies for consumer profiling, and what are the associated ethical issues?</a:t>
            </a:r>
          </a:p>
          <a:p>
            <a:pPr marL="457200" indent="-457200">
              <a:lnSpc>
                <a:spcPct val="100000"/>
              </a:lnSpc>
              <a:buFont typeface="Arial" panose="020B0604020202020204" pitchFamily="34" charset="0"/>
              <a:buChar char="•"/>
            </a:pPr>
            <a:endParaRPr lang="en-US" sz="2800" dirty="0">
              <a:solidFill>
                <a:schemeClr val="tx1"/>
              </a:solidFill>
            </a:endParaRPr>
          </a:p>
        </p:txBody>
      </p:sp>
      <p:sp>
        <p:nvSpPr>
          <p:cNvPr id="3" name="Footer Placeholder 2"/>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82897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5131" y="460303"/>
            <a:ext cx="5528860" cy="523220"/>
          </a:xfrm>
        </p:spPr>
        <p:txBody>
          <a:bodyPr/>
          <a:lstStyle/>
          <a:p>
            <a:r>
              <a:rPr lang="en-US" sz="4000" dirty="0"/>
              <a:t>Learning Objectives, Part 2</a:t>
            </a:r>
          </a:p>
        </p:txBody>
      </p:sp>
      <p:sp>
        <p:nvSpPr>
          <p:cNvPr id="4" name="Content Placeholder 3"/>
          <p:cNvSpPr>
            <a:spLocks noGrp="1"/>
          </p:cNvSpPr>
          <p:nvPr>
            <p:ph type="body" idx="1"/>
          </p:nvPr>
        </p:nvSpPr>
        <p:spPr>
          <a:xfrm>
            <a:off x="2425131" y="1143000"/>
            <a:ext cx="6337869" cy="3754874"/>
          </a:xfrm>
        </p:spPr>
        <p:txBody>
          <a:bodyPr/>
          <a:lstStyle/>
          <a:p>
            <a:pPr marL="457200" indent="-457200">
              <a:lnSpc>
                <a:spcPct val="100000"/>
              </a:lnSpc>
              <a:buFont typeface="Arial" panose="020B0604020202020204" pitchFamily="34" charset="0"/>
              <a:buChar char="•"/>
            </a:pPr>
            <a:r>
              <a:rPr lang="en-US" sz="2800" dirty="0">
                <a:solidFill>
                  <a:schemeClr val="tx1"/>
                </a:solidFill>
              </a:rPr>
              <a:t>What is e-discovery, and how is it being used? </a:t>
            </a:r>
          </a:p>
          <a:p>
            <a:pPr marL="457200" indent="-457200">
              <a:lnSpc>
                <a:spcPct val="100000"/>
              </a:lnSpc>
              <a:buFont typeface="Arial" panose="020B0604020202020204" pitchFamily="34" charset="0"/>
              <a:buChar char="•"/>
            </a:pPr>
            <a:r>
              <a:rPr lang="en-US" sz="2800" dirty="0">
                <a:solidFill>
                  <a:schemeClr val="tx1"/>
                </a:solidFill>
              </a:rPr>
              <a:t>Why and how are employers increasingly using workplace monitoring?</a:t>
            </a:r>
          </a:p>
          <a:p>
            <a:pPr marL="457200" indent="-457200">
              <a:lnSpc>
                <a:spcPct val="100000"/>
              </a:lnSpc>
              <a:buFont typeface="Arial" panose="020B0604020202020204" pitchFamily="34" charset="0"/>
              <a:buChar char="•"/>
            </a:pPr>
            <a:r>
              <a:rPr lang="en-US" sz="2800" dirty="0">
                <a:solidFill>
                  <a:schemeClr val="tx1"/>
                </a:solidFill>
              </a:rPr>
              <a:t>What are the capabilities of advanced surveillance technologies, and what ethical issues do they raise?</a:t>
            </a:r>
          </a:p>
        </p:txBody>
      </p:sp>
      <p:sp>
        <p:nvSpPr>
          <p:cNvPr id="3" name="Footer Placeholder 2"/>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9843475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Figure 4-1: This figure illustrates the types of data that organizations gather about an individual in order to answer the question, &quot;Who are you?&quot; Types of data gathered may related to a person’s: associates and affiliations, driving record, education records, financial data, location data, medical history, police record, work history, sexual orientation, and web-browsing behavior. "/>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84787" y="1066800"/>
            <a:ext cx="5562600" cy="5353482"/>
          </a:xfrm>
        </p:spPr>
      </p:pic>
      <p:sp>
        <p:nvSpPr>
          <p:cNvPr id="3" name="Title 2"/>
          <p:cNvSpPr>
            <a:spLocks noGrp="1"/>
          </p:cNvSpPr>
          <p:nvPr>
            <p:ph type="title"/>
          </p:nvPr>
        </p:nvSpPr>
        <p:spPr>
          <a:xfrm>
            <a:off x="762000" y="384329"/>
            <a:ext cx="8153400" cy="340093"/>
          </a:xfrm>
        </p:spPr>
        <p:txBody>
          <a:bodyPr/>
          <a:lstStyle/>
          <a:p>
            <a:r>
              <a:rPr lang="en-US" sz="2600" dirty="0"/>
              <a:t>Organizations Gather Personal Data to Make Better Decisions</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27971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4855945"/>
          </a:xfrm>
        </p:spPr>
        <p:txBody>
          <a:bodyPr/>
          <a:lstStyle/>
          <a:p>
            <a:pPr>
              <a:spcBef>
                <a:spcPts val="600"/>
              </a:spcBef>
            </a:pPr>
            <a:r>
              <a:rPr lang="en-US" altLang="en-US" sz="2700" b="1" dirty="0"/>
              <a:t>Bill of Rights</a:t>
            </a:r>
            <a:r>
              <a:rPr lang="en-US" altLang="en-US" sz="2700" dirty="0"/>
              <a:t>: The first ten amendments  to the Constitution, which were added to provide more specific guarantees of personal freedoms and rights</a:t>
            </a:r>
          </a:p>
          <a:p>
            <a:pPr>
              <a:spcBef>
                <a:spcPts val="600"/>
              </a:spcBef>
            </a:pPr>
            <a:r>
              <a:rPr lang="en-US" altLang="en-US" sz="2800" b="1" dirty="0"/>
              <a:t>Fourth Amendment</a:t>
            </a:r>
            <a:r>
              <a:rPr lang="en-US" altLang="en-US" sz="2800" dirty="0"/>
              <a:t>: </a:t>
            </a:r>
          </a:p>
          <a:p>
            <a:pPr lvl="1">
              <a:spcBef>
                <a:spcPts val="300"/>
              </a:spcBef>
              <a:buClr>
                <a:schemeClr val="accent2"/>
              </a:buClr>
            </a:pPr>
            <a:r>
              <a:rPr lang="en-US" sz="2600" dirty="0"/>
              <a:t>“The right of the people to be secure in their persons, houses, papers, and effects, against unreasonable searches and seizures, shall not be violated, and no Warrants shall issue, but upon probable cause, supported by Oath or affirmation, and particularly describing the place to be searched, and the persons or things to be seized.”</a:t>
            </a:r>
          </a:p>
          <a:p>
            <a:pPr>
              <a:spcBef>
                <a:spcPts val="600"/>
              </a:spcBef>
            </a:pPr>
            <a:r>
              <a:rPr lang="en-US" sz="2700" dirty="0"/>
              <a:t>Americans are protected by the Fourth Amendment when there is a “reasonable expectation of privacy.”</a:t>
            </a:r>
          </a:p>
        </p:txBody>
      </p:sp>
      <p:sp>
        <p:nvSpPr>
          <p:cNvPr id="3" name="Title 2"/>
          <p:cNvSpPr>
            <a:spLocks noGrp="1"/>
          </p:cNvSpPr>
          <p:nvPr>
            <p:ph type="title"/>
          </p:nvPr>
        </p:nvSpPr>
        <p:spPr>
          <a:xfrm>
            <a:off x="762000" y="290459"/>
            <a:ext cx="8026400" cy="527837"/>
          </a:xfrm>
        </p:spPr>
        <p:txBody>
          <a:bodyPr/>
          <a:lstStyle/>
          <a:p>
            <a:r>
              <a:rPr lang="en-US" sz="4000" dirty="0"/>
              <a:t>Privacy Protection and the Law</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9183449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3056221"/>
          </a:xfrm>
        </p:spPr>
        <p:txBody>
          <a:bodyPr/>
          <a:lstStyle/>
          <a:p>
            <a:r>
              <a:rPr lang="en-US" altLang="en-US" sz="2800" b="1" dirty="0"/>
              <a:t>Right of privacy</a:t>
            </a:r>
            <a:r>
              <a:rPr lang="en-US" altLang="en-US" sz="2800" dirty="0"/>
              <a:t>: The right to be left alone</a:t>
            </a:r>
          </a:p>
          <a:p>
            <a:r>
              <a:rPr lang="en-US" altLang="en-US" sz="2800" b="1" dirty="0"/>
              <a:t>Information privacy: </a:t>
            </a:r>
            <a:r>
              <a:rPr lang="en-US" altLang="en-US" sz="2800" dirty="0"/>
              <a:t>T</a:t>
            </a:r>
            <a:r>
              <a:rPr lang="en-US" sz="2800" dirty="0"/>
              <a:t>he combination of communications privacy (the ability to communicate with others without those communications being monitored) and data privacy (the ability to limit access</a:t>
            </a:r>
            <a:br>
              <a:rPr lang="en-US" sz="2800" dirty="0"/>
            </a:br>
            <a:r>
              <a:rPr lang="en-US" sz="2800" dirty="0"/>
              <a:t>to one’s personal data by others).</a:t>
            </a:r>
            <a:endParaRPr lang="en-US" altLang="en-US" sz="2800" dirty="0"/>
          </a:p>
          <a:p>
            <a:endParaRPr lang="en-US" dirty="0"/>
          </a:p>
        </p:txBody>
      </p:sp>
      <p:sp>
        <p:nvSpPr>
          <p:cNvPr id="3" name="Title 2"/>
          <p:cNvSpPr>
            <a:spLocks noGrp="1"/>
          </p:cNvSpPr>
          <p:nvPr>
            <p:ph type="title"/>
          </p:nvPr>
        </p:nvSpPr>
        <p:spPr>
          <a:xfrm>
            <a:off x="762000" y="290459"/>
            <a:ext cx="8026400" cy="527837"/>
          </a:xfrm>
        </p:spPr>
        <p:txBody>
          <a:bodyPr/>
          <a:lstStyle/>
          <a:p>
            <a:r>
              <a:rPr lang="en-US" sz="4000" dirty="0"/>
              <a:t>Information Privacy</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7026826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3484031"/>
          </a:xfrm>
        </p:spPr>
        <p:txBody>
          <a:bodyPr/>
          <a:lstStyle/>
          <a:p>
            <a:r>
              <a:rPr lang="en-US" sz="2800" b="1" dirty="0"/>
              <a:t>Fair Credit Reporting Act: </a:t>
            </a:r>
            <a:r>
              <a:rPr lang="en-US" sz="2800" dirty="0"/>
              <a:t>Regulates the operations of credit-reporting bureaus</a:t>
            </a:r>
          </a:p>
          <a:p>
            <a:r>
              <a:rPr lang="en-US" sz="2800" b="1" dirty="0"/>
              <a:t>Right to Financial Privacy Act: </a:t>
            </a:r>
            <a:r>
              <a:rPr lang="en-US" sz="2800" dirty="0"/>
              <a:t>Protects the records of financial institution customers from unauthorized scrutiny by the federal government</a:t>
            </a:r>
          </a:p>
          <a:p>
            <a:pPr lvl="1">
              <a:buClr>
                <a:schemeClr val="accent2"/>
              </a:buClr>
            </a:pPr>
            <a:r>
              <a:rPr lang="en-US" sz="2600" dirty="0"/>
              <a:t>Does not cover disclosures to private businesses or state and local governments</a:t>
            </a:r>
          </a:p>
          <a:p>
            <a:endParaRPr lang="en-US" dirty="0"/>
          </a:p>
        </p:txBody>
      </p:sp>
      <p:sp>
        <p:nvSpPr>
          <p:cNvPr id="3" name="Title 2"/>
          <p:cNvSpPr>
            <a:spLocks noGrp="1"/>
          </p:cNvSpPr>
          <p:nvPr>
            <p:ph type="title"/>
          </p:nvPr>
        </p:nvSpPr>
        <p:spPr>
          <a:xfrm>
            <a:off x="762000" y="133942"/>
            <a:ext cx="8026400" cy="840871"/>
          </a:xfrm>
        </p:spPr>
        <p:txBody>
          <a:bodyPr/>
          <a:lstStyle/>
          <a:p>
            <a:r>
              <a:rPr lang="en-US" sz="3200" dirty="0"/>
              <a:t>Privacy Laws, Applications, and Court Rulings: </a:t>
            </a:r>
            <a:br>
              <a:rPr lang="en-US" sz="3200" dirty="0"/>
            </a:br>
            <a:r>
              <a:rPr lang="en-US" sz="3200" dirty="0"/>
              <a:t>Financial Data, Part 1</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0626933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1143000"/>
            <a:ext cx="8415338" cy="4853636"/>
          </a:xfrm>
        </p:spPr>
        <p:txBody>
          <a:bodyPr/>
          <a:lstStyle/>
          <a:p>
            <a:r>
              <a:rPr lang="en-US" altLang="en-US" sz="2800" b="1" dirty="0"/>
              <a:t>Gramm-Leach-Bliley Act (GLBA)</a:t>
            </a:r>
            <a:r>
              <a:rPr lang="en-US" altLang="en-US" sz="2800" dirty="0"/>
              <a:t>: Bank deregulation law that includes three personal privacy rules:</a:t>
            </a:r>
          </a:p>
          <a:p>
            <a:pPr lvl="2">
              <a:buClr>
                <a:schemeClr val="accent2"/>
              </a:buClr>
              <a:buFont typeface="Arial" panose="020B0604020202020204" pitchFamily="34" charset="0"/>
              <a:buChar char="•"/>
            </a:pPr>
            <a:r>
              <a:rPr lang="en-US" altLang="en-US" sz="2600" dirty="0"/>
              <a:t>Financial privacy rule: Established mandatory guidelines for the collection and disclosure of personal financial data</a:t>
            </a:r>
          </a:p>
          <a:p>
            <a:pPr lvl="3">
              <a:spcBef>
                <a:spcPts val="300"/>
              </a:spcBef>
            </a:pPr>
            <a:r>
              <a:rPr lang="en-US" altLang="en-US" sz="2600" b="1" dirty="0"/>
              <a:t>Opt out</a:t>
            </a:r>
            <a:r>
              <a:rPr lang="en-US" altLang="en-US" sz="2600" dirty="0"/>
              <a:t>: Customers can refuse to give institutions the right to share personal data with third parties </a:t>
            </a:r>
          </a:p>
          <a:p>
            <a:pPr lvl="3">
              <a:spcBef>
                <a:spcPts val="300"/>
              </a:spcBef>
            </a:pPr>
            <a:r>
              <a:rPr lang="en-US" altLang="en-US" sz="2600" b="1" dirty="0"/>
              <a:t>Opt in</a:t>
            </a:r>
            <a:r>
              <a:rPr lang="en-US" altLang="en-US" sz="2600" dirty="0"/>
              <a:t>: Customers who do not take action to opt out automatically opt in</a:t>
            </a:r>
          </a:p>
          <a:p>
            <a:pPr lvl="2">
              <a:spcBef>
                <a:spcPts val="300"/>
              </a:spcBef>
              <a:buClr>
                <a:schemeClr val="accent2"/>
              </a:buClr>
              <a:buFont typeface="Arial" panose="020B0604020202020204" pitchFamily="34" charset="0"/>
              <a:buChar char="•"/>
            </a:pPr>
            <a:r>
              <a:rPr lang="en-US" altLang="en-US" sz="2600" dirty="0"/>
              <a:t>Safeguards rule: Requires financial institutions to document a data security plan to protect personal data </a:t>
            </a:r>
          </a:p>
          <a:p>
            <a:pPr lvl="2">
              <a:spcBef>
                <a:spcPts val="300"/>
              </a:spcBef>
              <a:buClr>
                <a:schemeClr val="accent2"/>
              </a:buClr>
              <a:buFont typeface="Arial" panose="020B0604020202020204" pitchFamily="34" charset="0"/>
              <a:buChar char="•"/>
            </a:pPr>
            <a:r>
              <a:rPr lang="en-US" altLang="en-US" sz="2600" dirty="0"/>
              <a:t>Pretexting rule: Addresses attempts by people to access personal information without proper authority</a:t>
            </a:r>
            <a:endParaRPr lang="en-US" sz="2600" dirty="0"/>
          </a:p>
        </p:txBody>
      </p:sp>
      <p:sp>
        <p:nvSpPr>
          <p:cNvPr id="3" name="Title 2"/>
          <p:cNvSpPr>
            <a:spLocks noGrp="1"/>
          </p:cNvSpPr>
          <p:nvPr>
            <p:ph type="title"/>
          </p:nvPr>
        </p:nvSpPr>
        <p:spPr>
          <a:xfrm>
            <a:off x="762000" y="133941"/>
            <a:ext cx="8229600" cy="840871"/>
          </a:xfrm>
        </p:spPr>
        <p:txBody>
          <a:bodyPr/>
          <a:lstStyle/>
          <a:p>
            <a:r>
              <a:rPr lang="en-US" sz="3200" dirty="0"/>
              <a:t>Privacy Laws, Applications, and Court Rulings: </a:t>
            </a:r>
            <a:br>
              <a:rPr lang="en-US" sz="3200" dirty="0"/>
            </a:br>
            <a:r>
              <a:rPr lang="en-US" sz="3200" dirty="0"/>
              <a:t>Financial Data, Part 2</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676332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1143000"/>
            <a:ext cx="8305800" cy="3827202"/>
          </a:xfrm>
        </p:spPr>
        <p:txBody>
          <a:bodyPr/>
          <a:lstStyle/>
          <a:p>
            <a:r>
              <a:rPr lang="en-US" altLang="en-US" sz="2800" b="1" dirty="0"/>
              <a:t>Fair and Accurate Credit Transactions Act</a:t>
            </a:r>
            <a:r>
              <a:rPr lang="en-US" altLang="en-US" sz="2800" dirty="0"/>
              <a:t>: Allows consumers to obtain a free credit report once each year from each of the three primary consumer credit reporting companies (Equifax, Experian, and TransUnion)</a:t>
            </a:r>
          </a:p>
          <a:p>
            <a:pPr lvl="1">
              <a:buClr>
                <a:schemeClr val="accent2"/>
              </a:buClr>
            </a:pPr>
            <a:r>
              <a:rPr lang="en-US" sz="2600" dirty="0"/>
              <a:t>Consumers who suspect that they have been or may become a victim of identity theft can place an alert on their credit files</a:t>
            </a:r>
            <a:endParaRPr lang="en-US" altLang="en-US" sz="2600" dirty="0"/>
          </a:p>
          <a:p>
            <a:endParaRPr lang="en-US" altLang="en-US" sz="2800" dirty="0"/>
          </a:p>
        </p:txBody>
      </p:sp>
      <p:sp>
        <p:nvSpPr>
          <p:cNvPr id="3" name="Title 2"/>
          <p:cNvSpPr>
            <a:spLocks noGrp="1"/>
          </p:cNvSpPr>
          <p:nvPr>
            <p:ph type="title"/>
          </p:nvPr>
        </p:nvSpPr>
        <p:spPr>
          <a:xfrm>
            <a:off x="762000" y="133941"/>
            <a:ext cx="8229600" cy="840871"/>
          </a:xfrm>
        </p:spPr>
        <p:txBody>
          <a:bodyPr/>
          <a:lstStyle/>
          <a:p>
            <a:r>
              <a:rPr lang="en-US" sz="3200" dirty="0"/>
              <a:t>Privacy Laws, Applications, and Court Rulings: </a:t>
            </a:r>
            <a:br>
              <a:rPr lang="en-US" sz="3200" dirty="0"/>
            </a:br>
            <a:r>
              <a:rPr lang="en-US" sz="3200" dirty="0"/>
              <a:t>Financial Data, Part 3</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3323196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143000"/>
            <a:ext cx="8305800" cy="6189387"/>
          </a:xfrm>
        </p:spPr>
        <p:txBody>
          <a:bodyPr/>
          <a:lstStyle/>
          <a:p>
            <a:r>
              <a:rPr lang="en-US" altLang="en-US" sz="2800" b="1" dirty="0"/>
              <a:t>Health Insurance Portability and Accountability Act (HIPAA): </a:t>
            </a:r>
            <a:r>
              <a:rPr lang="en-US" altLang="en-US" sz="2800" dirty="0"/>
              <a:t>Includes provisions designed to:</a:t>
            </a:r>
          </a:p>
          <a:p>
            <a:pPr lvl="1">
              <a:spcBef>
                <a:spcPts val="300"/>
              </a:spcBef>
              <a:buClr>
                <a:schemeClr val="accent2"/>
              </a:buClr>
            </a:pPr>
            <a:r>
              <a:rPr lang="en-US" altLang="en-US" sz="2600" dirty="0"/>
              <a:t>Improve the portability and continuity of health </a:t>
            </a:r>
            <a:br>
              <a:rPr lang="en-US" altLang="en-US" sz="2600" dirty="0"/>
            </a:br>
            <a:r>
              <a:rPr lang="en-US" altLang="en-US" sz="2600" dirty="0"/>
              <a:t>insurance coverage</a:t>
            </a:r>
          </a:p>
          <a:p>
            <a:pPr lvl="1">
              <a:spcBef>
                <a:spcPts val="300"/>
              </a:spcBef>
              <a:buClr>
                <a:schemeClr val="accent2"/>
              </a:buClr>
            </a:pPr>
            <a:r>
              <a:rPr lang="en-US" altLang="en-US" sz="2600" dirty="0"/>
              <a:t>Reduce fraud, waste, and abuse in health insurance and healthcare delivery</a:t>
            </a:r>
          </a:p>
          <a:p>
            <a:pPr lvl="1">
              <a:spcBef>
                <a:spcPts val="300"/>
              </a:spcBef>
              <a:buClr>
                <a:schemeClr val="accent2"/>
              </a:buClr>
            </a:pPr>
            <a:r>
              <a:rPr lang="en-US" altLang="en-US" sz="2600" dirty="0"/>
              <a:t>Simplify the administration of health insurance</a:t>
            </a:r>
          </a:p>
          <a:p>
            <a:r>
              <a:rPr lang="en-US" altLang="en-US" sz="2800" b="1" dirty="0"/>
              <a:t>American Recovery and Reinvestment Act</a:t>
            </a:r>
            <a:r>
              <a:rPr lang="en-US" altLang="en-US" sz="2800" dirty="0"/>
              <a:t>: Includes provisions related to electronic health records (EHRs):</a:t>
            </a:r>
          </a:p>
          <a:p>
            <a:pPr lvl="1">
              <a:spcBef>
                <a:spcPts val="300"/>
              </a:spcBef>
              <a:buClr>
                <a:schemeClr val="accent2"/>
              </a:buClr>
            </a:pPr>
            <a:r>
              <a:rPr lang="en-US" altLang="en-US" sz="2600" dirty="0"/>
              <a:t>Bans the sale of health information</a:t>
            </a:r>
          </a:p>
          <a:p>
            <a:pPr lvl="1">
              <a:spcBef>
                <a:spcPts val="300"/>
              </a:spcBef>
              <a:buClr>
                <a:schemeClr val="accent2"/>
              </a:buClr>
            </a:pPr>
            <a:r>
              <a:rPr lang="en-US" altLang="en-US" sz="2600" dirty="0"/>
              <a:t>Promotes the use of audit trails and encryption</a:t>
            </a:r>
          </a:p>
          <a:p>
            <a:pPr lvl="1">
              <a:spcBef>
                <a:spcPts val="300"/>
              </a:spcBef>
              <a:buClr>
                <a:schemeClr val="accent2"/>
              </a:buClr>
            </a:pPr>
            <a:r>
              <a:rPr lang="en-US" altLang="en-US" sz="2600" dirty="0"/>
              <a:t>Provides rights of access for patients</a:t>
            </a:r>
          </a:p>
          <a:p>
            <a:endParaRPr lang="en-US" altLang="en-US" sz="2800" b="1" dirty="0"/>
          </a:p>
          <a:p>
            <a:pPr marL="0" indent="0">
              <a:buNone/>
            </a:pPr>
            <a:endParaRPr lang="en-US" altLang="en-US" sz="2800" dirty="0"/>
          </a:p>
        </p:txBody>
      </p:sp>
      <p:sp>
        <p:nvSpPr>
          <p:cNvPr id="3" name="Title 2"/>
          <p:cNvSpPr>
            <a:spLocks noGrp="1"/>
          </p:cNvSpPr>
          <p:nvPr>
            <p:ph type="title"/>
          </p:nvPr>
        </p:nvSpPr>
        <p:spPr>
          <a:xfrm>
            <a:off x="762000" y="133941"/>
            <a:ext cx="8001000" cy="840871"/>
          </a:xfrm>
        </p:spPr>
        <p:txBody>
          <a:bodyPr/>
          <a:lstStyle/>
          <a:p>
            <a:r>
              <a:rPr lang="en-US" sz="3200" dirty="0"/>
              <a:t>Privacy Laws, Applications, and Court Rulings: </a:t>
            </a:r>
            <a:br>
              <a:rPr lang="en-US" sz="3200" dirty="0"/>
            </a:br>
            <a:r>
              <a:rPr lang="en-US" sz="3200" dirty="0"/>
              <a:t>Health Information</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850818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87657" y="1143000"/>
            <a:ext cx="8422944" cy="4956742"/>
          </a:xfrm>
        </p:spPr>
        <p:txBody>
          <a:bodyPr/>
          <a:lstStyle/>
          <a:p>
            <a:r>
              <a:rPr lang="en-US" altLang="en-US" sz="2700" b="1" dirty="0"/>
              <a:t>Family Educational Rights and Privacy Act (FERPA)</a:t>
            </a:r>
            <a:r>
              <a:rPr lang="en-US" altLang="en-US" sz="2700" dirty="0"/>
              <a:t>:</a:t>
            </a:r>
            <a:r>
              <a:rPr lang="en-US" altLang="en-US" sz="2700" b="1" dirty="0"/>
              <a:t> </a:t>
            </a:r>
            <a:r>
              <a:rPr lang="en-US" altLang="en-US" sz="2700" dirty="0"/>
              <a:t>Assigns parents rights regarding their children’s educational records, including rights to:</a:t>
            </a:r>
            <a:endParaRPr lang="en-US" sz="2700" dirty="0"/>
          </a:p>
          <a:p>
            <a:pPr lvl="1">
              <a:spcBef>
                <a:spcPts val="300"/>
              </a:spcBef>
              <a:buClr>
                <a:schemeClr val="accent2"/>
              </a:buClr>
            </a:pPr>
            <a:r>
              <a:rPr lang="en-US" sz="2600" dirty="0"/>
              <a:t>Access educational records maintained by a school</a:t>
            </a:r>
          </a:p>
          <a:p>
            <a:pPr lvl="1">
              <a:spcBef>
                <a:spcPts val="300"/>
              </a:spcBef>
              <a:buClr>
                <a:schemeClr val="accent2"/>
              </a:buClr>
            </a:pPr>
            <a:r>
              <a:rPr lang="en-US" sz="2600" dirty="0"/>
              <a:t>Demand that educational records be disclosed only with student consent</a:t>
            </a:r>
          </a:p>
          <a:p>
            <a:pPr lvl="1">
              <a:spcBef>
                <a:spcPts val="300"/>
              </a:spcBef>
              <a:buClr>
                <a:schemeClr val="accent2"/>
              </a:buClr>
            </a:pPr>
            <a:r>
              <a:rPr lang="en-US" sz="2600" dirty="0"/>
              <a:t>Amend educational records</a:t>
            </a:r>
          </a:p>
          <a:p>
            <a:pPr lvl="1">
              <a:spcBef>
                <a:spcPts val="300"/>
              </a:spcBef>
              <a:buClr>
                <a:schemeClr val="accent2"/>
              </a:buClr>
            </a:pPr>
            <a:r>
              <a:rPr lang="en-US" sz="2600" dirty="0"/>
              <a:t>File complaints against a school for disclosing student records</a:t>
            </a:r>
          </a:p>
          <a:p>
            <a:pPr>
              <a:spcBef>
                <a:spcPts val="1000"/>
              </a:spcBef>
            </a:pPr>
            <a:r>
              <a:rPr lang="en-US" altLang="en-US" sz="2700" b="1" dirty="0"/>
              <a:t>Children’s Online Privacy Protection Act (COPPA)</a:t>
            </a:r>
            <a:r>
              <a:rPr lang="en-US" altLang="en-US" sz="2700" dirty="0"/>
              <a:t>: Gives parents control over the collection, use, and disclosure of their children’s personal information over the Internet </a:t>
            </a:r>
          </a:p>
        </p:txBody>
      </p:sp>
      <p:sp>
        <p:nvSpPr>
          <p:cNvPr id="3" name="Title 2"/>
          <p:cNvSpPr>
            <a:spLocks noGrp="1"/>
          </p:cNvSpPr>
          <p:nvPr>
            <p:ph type="title"/>
          </p:nvPr>
        </p:nvSpPr>
        <p:spPr>
          <a:xfrm>
            <a:off x="762000" y="133941"/>
            <a:ext cx="8001000" cy="840871"/>
          </a:xfrm>
        </p:spPr>
        <p:txBody>
          <a:bodyPr/>
          <a:lstStyle/>
          <a:p>
            <a:r>
              <a:rPr lang="en-US" sz="3200" dirty="0"/>
              <a:t>Privacy Laws, Applications, and Court Rulings: </a:t>
            </a:r>
            <a:br>
              <a:rPr lang="en-US" sz="3200" dirty="0"/>
            </a:br>
            <a:r>
              <a:rPr lang="en-US" sz="3200" dirty="0"/>
              <a:t>Children’s Personal Data</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89818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Figure 4-2: This figure shows a timeline for the enactment of some of the most significant laws and executive orders addressing issues of governmental surveillance:&#10;1968: Title III of the Omnibus Crime Control and Safe Streets Act&#10;1978; The Foreign Intelligence Surveillance Act&#10;1981: Executive Order 12333&#10;1986: Electronic Communications Privacy Act&#10;1994: Communications Assistance for Law Enforcement&#10;2001: USA PATRIOT Act&#10;2004: Foreign Intelligence Surveillance Act Amendment&#10;2008: Foreign Intelligence Surveillance Act Amendment&#10;2011: PATRIOT Extension Act&#10;2015: USA Freedom Act&#10;"/>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895" y="2133600"/>
            <a:ext cx="9011197" cy="3352800"/>
          </a:xfrm>
        </p:spPr>
      </p:pic>
      <p:sp>
        <p:nvSpPr>
          <p:cNvPr id="3" name="Title 2"/>
          <p:cNvSpPr>
            <a:spLocks noGrp="1"/>
          </p:cNvSpPr>
          <p:nvPr>
            <p:ph type="title"/>
          </p:nvPr>
        </p:nvSpPr>
        <p:spPr>
          <a:xfrm>
            <a:off x="762000" y="133941"/>
            <a:ext cx="8001000" cy="840871"/>
          </a:xfrm>
        </p:spPr>
        <p:txBody>
          <a:bodyPr/>
          <a:lstStyle/>
          <a:p>
            <a:r>
              <a:rPr lang="en-US" sz="3200" dirty="0"/>
              <a:t>Privacy Laws, Applications, and Court Rulings: </a:t>
            </a:r>
            <a:br>
              <a:rPr lang="en-US" sz="3200" dirty="0"/>
            </a:br>
            <a:r>
              <a:rPr lang="en-US" sz="3200" dirty="0"/>
              <a:t>Electronic Surveillance</a:t>
            </a:r>
            <a:r>
              <a:rPr lang="en-US" dirty="0"/>
              <a:t>—</a:t>
            </a:r>
            <a:r>
              <a:rPr lang="en-US" sz="3200" dirty="0"/>
              <a:t>Timeline </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87937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0" y="133941"/>
            <a:ext cx="8001000" cy="840871"/>
          </a:xfrm>
        </p:spPr>
        <p:txBody>
          <a:bodyPr/>
          <a:lstStyle/>
          <a:p>
            <a:r>
              <a:rPr lang="en-US" sz="3200" dirty="0"/>
              <a:t>Privacy Laws, Applications, and Court Rulings: </a:t>
            </a:r>
            <a:br>
              <a:rPr lang="en-US" sz="3200" dirty="0"/>
            </a:br>
            <a:r>
              <a:rPr lang="en-US" sz="3200" dirty="0"/>
              <a:t>Electronic Surveillance, Part 1 </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
        <p:nvSpPr>
          <p:cNvPr id="2" name="Content Placeholder 1"/>
          <p:cNvSpPr>
            <a:spLocks noGrp="1"/>
          </p:cNvSpPr>
          <p:nvPr>
            <p:ph idx="1"/>
          </p:nvPr>
        </p:nvSpPr>
        <p:spPr>
          <a:xfrm>
            <a:off x="365125" y="1538818"/>
            <a:ext cx="8415338" cy="3436325"/>
          </a:xfrm>
        </p:spPr>
        <p:txBody>
          <a:bodyPr/>
          <a:lstStyle/>
          <a:p>
            <a:r>
              <a:rPr lang="en-US" altLang="en-US" sz="2800" b="1" dirty="0"/>
              <a:t>Title III of the Omnibus Crime Control and Safe Streets Act</a:t>
            </a:r>
            <a:r>
              <a:rPr lang="en-US" altLang="en-US" sz="2800" dirty="0"/>
              <a:t>: Regulates the interception of wire and oral communications</a:t>
            </a:r>
          </a:p>
          <a:p>
            <a:pPr lvl="1"/>
            <a:r>
              <a:rPr lang="en-US" altLang="en-US" sz="2600" dirty="0"/>
              <a:t>Also known as the </a:t>
            </a:r>
            <a:r>
              <a:rPr lang="en-US" altLang="en-US" sz="2600" b="1" dirty="0"/>
              <a:t>Wiretap Act</a:t>
            </a:r>
          </a:p>
          <a:p>
            <a:pPr lvl="1"/>
            <a:r>
              <a:rPr lang="en-US" altLang="en-US" sz="2600" dirty="0"/>
              <a:t>Allows state and federal law enforcement officials to use wiretapping and electronic eavesdropping if a warrant is issued</a:t>
            </a:r>
          </a:p>
          <a:p>
            <a:endParaRPr lang="en-US" dirty="0"/>
          </a:p>
        </p:txBody>
      </p:sp>
    </p:spTree>
    <p:extLst>
      <p:ext uri="{BB962C8B-B14F-4D97-AF65-F5344CB8AC3E}">
        <p14:creationId xmlns:p14="http://schemas.microsoft.com/office/powerpoint/2010/main" val="30450621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0" y="133941"/>
            <a:ext cx="8001000" cy="840871"/>
          </a:xfrm>
        </p:spPr>
        <p:txBody>
          <a:bodyPr/>
          <a:lstStyle/>
          <a:p>
            <a:r>
              <a:rPr lang="en-US" sz="3200" dirty="0"/>
              <a:t>Privacy Laws, Applications, and Court Rulings: </a:t>
            </a:r>
            <a:br>
              <a:rPr lang="en-US" sz="3200" dirty="0"/>
            </a:br>
            <a:r>
              <a:rPr lang="en-US" sz="3200" dirty="0"/>
              <a:t>Electronic Surveillance, Part 2 </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
        <p:nvSpPr>
          <p:cNvPr id="2" name="Content Placeholder 1"/>
          <p:cNvSpPr>
            <a:spLocks noGrp="1"/>
          </p:cNvSpPr>
          <p:nvPr>
            <p:ph idx="1"/>
          </p:nvPr>
        </p:nvSpPr>
        <p:spPr>
          <a:xfrm>
            <a:off x="365125" y="1219200"/>
            <a:ext cx="8415338" cy="4737451"/>
          </a:xfrm>
        </p:spPr>
        <p:txBody>
          <a:bodyPr/>
          <a:lstStyle/>
          <a:p>
            <a:r>
              <a:rPr lang="en-US" altLang="en-US" sz="2700" b="1" dirty="0"/>
              <a:t>Foreign Intelligence Surveillance Act (FISA)</a:t>
            </a:r>
            <a:r>
              <a:rPr lang="en-US" altLang="en-US" sz="2700" dirty="0"/>
              <a:t>:</a:t>
            </a:r>
            <a:r>
              <a:rPr lang="en-US" altLang="en-US" sz="2700" b="1" dirty="0"/>
              <a:t> </a:t>
            </a:r>
            <a:r>
              <a:rPr lang="en-US" altLang="en-US" sz="2700" dirty="0"/>
              <a:t>Describes procedures for electronic surveillance and collection of foreign intelligence information in communications between foreign powers and their agents</a:t>
            </a:r>
          </a:p>
          <a:p>
            <a:pPr lvl="1">
              <a:buClr>
                <a:schemeClr val="accent2"/>
              </a:buClr>
            </a:pPr>
            <a:r>
              <a:rPr lang="en-US" altLang="en-US" sz="2500" dirty="0"/>
              <a:t>Allows surveillance, without court order, within the U.S. for up to a year unless the surveillance will acquire the contents of any communication to which a U.S. citizen, permanent resident, or company is a party</a:t>
            </a:r>
          </a:p>
          <a:p>
            <a:pPr lvl="1">
              <a:buClr>
                <a:schemeClr val="accent2"/>
              </a:buClr>
            </a:pPr>
            <a:r>
              <a:rPr lang="en-US" sz="2500" dirty="0"/>
              <a:t>Requires the government to obtain an individualized court order before it can intentionally target a U.S. person anywhere in the world </a:t>
            </a:r>
            <a:endParaRPr lang="en-US" altLang="en-US" sz="2500" dirty="0"/>
          </a:p>
          <a:p>
            <a:endParaRPr lang="en-US" dirty="0"/>
          </a:p>
        </p:txBody>
      </p:sp>
    </p:spTree>
    <p:extLst>
      <p:ext uri="{BB962C8B-B14F-4D97-AF65-F5344CB8AC3E}">
        <p14:creationId xmlns:p14="http://schemas.microsoft.com/office/powerpoint/2010/main" val="36213218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0" y="133941"/>
            <a:ext cx="8001000" cy="840871"/>
          </a:xfrm>
        </p:spPr>
        <p:txBody>
          <a:bodyPr/>
          <a:lstStyle/>
          <a:p>
            <a:r>
              <a:rPr lang="en-US" sz="3200" dirty="0"/>
              <a:t>Privacy Laws, Applications, and Court Rulings: </a:t>
            </a:r>
            <a:br>
              <a:rPr lang="en-US" sz="3200" dirty="0"/>
            </a:br>
            <a:r>
              <a:rPr lang="en-US" sz="3200" dirty="0"/>
              <a:t>Electronic Surveillance, Part 3 </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
        <p:nvSpPr>
          <p:cNvPr id="2" name="Content Placeholder 1"/>
          <p:cNvSpPr>
            <a:spLocks noGrp="1"/>
          </p:cNvSpPr>
          <p:nvPr>
            <p:ph idx="1"/>
          </p:nvPr>
        </p:nvSpPr>
        <p:spPr>
          <a:xfrm>
            <a:off x="365125" y="1451247"/>
            <a:ext cx="8415338" cy="3425553"/>
          </a:xfrm>
        </p:spPr>
        <p:txBody>
          <a:bodyPr/>
          <a:lstStyle/>
          <a:p>
            <a:r>
              <a:rPr lang="en-US" altLang="en-US" sz="2800" b="1" dirty="0"/>
              <a:t>FISA Court: </a:t>
            </a:r>
            <a:r>
              <a:rPr lang="en-US" altLang="en-US" sz="2800" dirty="0"/>
              <a:t>A court established by FISA that meets in secret to hear </a:t>
            </a:r>
            <a:r>
              <a:rPr lang="en-US" sz="2800" dirty="0"/>
              <a:t>applications for orders approving electronic surveillance anywhere within the U.S.</a:t>
            </a:r>
          </a:p>
          <a:p>
            <a:pPr lvl="1">
              <a:buClr>
                <a:schemeClr val="accent2"/>
              </a:buClr>
            </a:pPr>
            <a:r>
              <a:rPr lang="en-US" sz="2600" dirty="0"/>
              <a:t>Between 2001 and 2015:</a:t>
            </a:r>
          </a:p>
          <a:p>
            <a:pPr lvl="2"/>
            <a:r>
              <a:rPr lang="en-US" sz="2500" dirty="0"/>
              <a:t>More than 25,000 applications were submitted to the </a:t>
            </a:r>
            <a:br>
              <a:rPr lang="en-US" sz="2500" dirty="0"/>
            </a:br>
            <a:r>
              <a:rPr lang="en-US" sz="2500" dirty="0"/>
              <a:t>FISA court</a:t>
            </a:r>
          </a:p>
          <a:p>
            <a:pPr lvl="2"/>
            <a:r>
              <a:rPr lang="en-US" sz="2500" dirty="0"/>
              <a:t>Only 12 of those were rejected</a:t>
            </a:r>
            <a:endParaRPr lang="en-US" altLang="en-US" sz="2500" dirty="0"/>
          </a:p>
          <a:p>
            <a:endParaRPr lang="en-US" dirty="0"/>
          </a:p>
        </p:txBody>
      </p:sp>
    </p:spTree>
    <p:extLst>
      <p:ext uri="{BB962C8B-B14F-4D97-AF65-F5344CB8AC3E}">
        <p14:creationId xmlns:p14="http://schemas.microsoft.com/office/powerpoint/2010/main" val="178045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0" y="133941"/>
            <a:ext cx="8001000" cy="840871"/>
          </a:xfrm>
        </p:spPr>
        <p:txBody>
          <a:bodyPr/>
          <a:lstStyle/>
          <a:p>
            <a:r>
              <a:rPr lang="en-US" sz="3200" dirty="0"/>
              <a:t>Privacy Laws, Applications, and Court Rulings: </a:t>
            </a:r>
            <a:br>
              <a:rPr lang="en-US" sz="3200" dirty="0"/>
            </a:br>
            <a:r>
              <a:rPr lang="en-US" sz="3200" dirty="0"/>
              <a:t>Electronic Surveillance, Part 4 </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
        <p:nvSpPr>
          <p:cNvPr id="2" name="Content Placeholder 1"/>
          <p:cNvSpPr>
            <a:spLocks noGrp="1"/>
          </p:cNvSpPr>
          <p:nvPr>
            <p:ph idx="1"/>
          </p:nvPr>
        </p:nvSpPr>
        <p:spPr>
          <a:xfrm>
            <a:off x="365125" y="1451247"/>
            <a:ext cx="8415338" cy="4789003"/>
          </a:xfrm>
        </p:spPr>
        <p:txBody>
          <a:bodyPr/>
          <a:lstStyle/>
          <a:p>
            <a:r>
              <a:rPr lang="en-US" sz="2800" dirty="0"/>
              <a:t>Executive order:</a:t>
            </a:r>
          </a:p>
          <a:p>
            <a:pPr lvl="1">
              <a:buClr>
                <a:schemeClr val="accent2"/>
              </a:buClr>
            </a:pPr>
            <a:r>
              <a:rPr lang="en-US" sz="2600" dirty="0"/>
              <a:t>An official document used by the U.S. president to </a:t>
            </a:r>
            <a:br>
              <a:rPr lang="en-US" sz="2600" dirty="0"/>
            </a:br>
            <a:r>
              <a:rPr lang="en-US" sz="2600" dirty="0"/>
              <a:t>manage the operations of the federal government</a:t>
            </a:r>
          </a:p>
          <a:p>
            <a:pPr lvl="1">
              <a:buClr>
                <a:schemeClr val="accent2"/>
              </a:buClr>
            </a:pPr>
            <a:r>
              <a:rPr lang="en-US" sz="2600" dirty="0"/>
              <a:t>Subject to judicial review, and may be struck down if determined to be unsupported by statute or the Constitution</a:t>
            </a:r>
          </a:p>
          <a:p>
            <a:r>
              <a:rPr lang="en-US" altLang="en-US" sz="2800" b="1" dirty="0"/>
              <a:t>Executive Order 12333: </a:t>
            </a:r>
            <a:r>
              <a:rPr lang="en-US" altLang="en-US" sz="2800" dirty="0"/>
              <a:t>I</a:t>
            </a:r>
            <a:r>
              <a:rPr lang="en-US" sz="2800" dirty="0"/>
              <a:t>dentifies the various U.S. governmental intelligence-gathering agencies, and defines what information can be collected, retained, </a:t>
            </a:r>
            <a:br>
              <a:rPr lang="en-US" sz="2800" dirty="0"/>
            </a:br>
            <a:r>
              <a:rPr lang="en-US" sz="2800" dirty="0"/>
              <a:t>and disseminated by these agencies</a:t>
            </a:r>
            <a:endParaRPr lang="en-US" altLang="en-US" sz="2800" dirty="0"/>
          </a:p>
          <a:p>
            <a:endParaRPr lang="en-US" dirty="0"/>
          </a:p>
        </p:txBody>
      </p:sp>
    </p:spTree>
    <p:extLst>
      <p:ext uri="{BB962C8B-B14F-4D97-AF65-F5344CB8AC3E}">
        <p14:creationId xmlns:p14="http://schemas.microsoft.com/office/powerpoint/2010/main" val="22771953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0" y="133941"/>
            <a:ext cx="8001000" cy="840871"/>
          </a:xfrm>
        </p:spPr>
        <p:txBody>
          <a:bodyPr/>
          <a:lstStyle/>
          <a:p>
            <a:r>
              <a:rPr lang="en-US" sz="3200" dirty="0"/>
              <a:t>Privacy Laws, Applications, and Court Rulings: </a:t>
            </a:r>
            <a:br>
              <a:rPr lang="en-US" sz="3200" dirty="0"/>
            </a:br>
            <a:r>
              <a:rPr lang="en-US" sz="3200" dirty="0"/>
              <a:t>Electronic Surveillance, Part 5 </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
        <p:nvSpPr>
          <p:cNvPr id="2" name="Content Placeholder 1"/>
          <p:cNvSpPr>
            <a:spLocks noGrp="1"/>
          </p:cNvSpPr>
          <p:nvPr>
            <p:ph idx="1"/>
          </p:nvPr>
        </p:nvSpPr>
        <p:spPr>
          <a:xfrm>
            <a:off x="365125" y="1451247"/>
            <a:ext cx="8415338" cy="4759765"/>
          </a:xfrm>
        </p:spPr>
        <p:txBody>
          <a:bodyPr/>
          <a:lstStyle/>
          <a:p>
            <a:r>
              <a:rPr lang="en-US" altLang="en-US" sz="2800" b="1" dirty="0"/>
              <a:t>Electronic Communications Privacy Act (ECPA): </a:t>
            </a:r>
            <a:r>
              <a:rPr lang="en-US" altLang="en-US" sz="2800" dirty="0"/>
              <a:t>Law passed </a:t>
            </a:r>
            <a:r>
              <a:rPr lang="en-US" sz="2800" dirty="0"/>
              <a:t>as an amendment to Title III of the Omnibus Crime Control and Safe Streets Act; deals with three main issues:</a:t>
            </a:r>
            <a:endParaRPr lang="en-US" altLang="en-US" sz="2800" dirty="0"/>
          </a:p>
          <a:p>
            <a:pPr lvl="1">
              <a:buClr>
                <a:schemeClr val="accent2"/>
              </a:buClr>
            </a:pPr>
            <a:r>
              <a:rPr lang="en-US" altLang="en-US" sz="2600" dirty="0"/>
              <a:t>Protection of communications while in transfer from sender to receiver</a:t>
            </a:r>
          </a:p>
          <a:p>
            <a:pPr lvl="1">
              <a:buClr>
                <a:schemeClr val="accent2"/>
              </a:buClr>
            </a:pPr>
            <a:r>
              <a:rPr lang="en-US" altLang="en-US" sz="2600" dirty="0"/>
              <a:t>Protection of communications held in electronic storage</a:t>
            </a:r>
          </a:p>
          <a:p>
            <a:pPr lvl="1">
              <a:buClr>
                <a:schemeClr val="accent2"/>
              </a:buClr>
            </a:pPr>
            <a:r>
              <a:rPr lang="en-US" altLang="en-US" sz="2600" dirty="0"/>
              <a:t>Prohibition of devices from recording dialing, routing, addressing, and signaling information without a search warrant</a:t>
            </a:r>
          </a:p>
          <a:p>
            <a:endParaRPr lang="en-US" dirty="0"/>
          </a:p>
        </p:txBody>
      </p:sp>
    </p:spTree>
    <p:extLst>
      <p:ext uri="{BB962C8B-B14F-4D97-AF65-F5344CB8AC3E}">
        <p14:creationId xmlns:p14="http://schemas.microsoft.com/office/powerpoint/2010/main" val="20722000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0" y="133941"/>
            <a:ext cx="8001000" cy="840871"/>
          </a:xfrm>
        </p:spPr>
        <p:txBody>
          <a:bodyPr/>
          <a:lstStyle/>
          <a:p>
            <a:r>
              <a:rPr lang="en-US" sz="3200" dirty="0"/>
              <a:t>Privacy Laws, Applications, and Court Rulings: </a:t>
            </a:r>
            <a:br>
              <a:rPr lang="en-US" sz="3200" dirty="0"/>
            </a:br>
            <a:r>
              <a:rPr lang="en-US" sz="3200" dirty="0"/>
              <a:t>Electronic Surveillance, Part 6</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
        <p:nvSpPr>
          <p:cNvPr id="2" name="Content Placeholder 1"/>
          <p:cNvSpPr>
            <a:spLocks noGrp="1"/>
          </p:cNvSpPr>
          <p:nvPr>
            <p:ph idx="1"/>
          </p:nvPr>
        </p:nvSpPr>
        <p:spPr>
          <a:xfrm>
            <a:off x="365125" y="1219200"/>
            <a:ext cx="8415338" cy="5143716"/>
          </a:xfrm>
        </p:spPr>
        <p:txBody>
          <a:bodyPr/>
          <a:lstStyle/>
          <a:p>
            <a:r>
              <a:rPr lang="en-US" sz="2700" b="1" dirty="0"/>
              <a:t>National Security Letter (NSL</a:t>
            </a:r>
            <a:r>
              <a:rPr lang="en-US" sz="2700" dirty="0"/>
              <a:t>): Issued by the FBI director to an ISP; requires the ISP to provide various data and records about a service subscriber</a:t>
            </a:r>
            <a:r>
              <a:rPr lang="en-US" sz="2800" dirty="0"/>
              <a:t>.</a:t>
            </a:r>
          </a:p>
          <a:p>
            <a:pPr lvl="1">
              <a:buClr>
                <a:schemeClr val="accent2"/>
              </a:buClr>
            </a:pPr>
            <a:r>
              <a:rPr lang="en-US" altLang="en-US" sz="2500" dirty="0"/>
              <a:t>C</a:t>
            </a:r>
            <a:r>
              <a:rPr lang="en-US" sz="2500" dirty="0"/>
              <a:t>ompels holders of your personal records to turn them over to the government</a:t>
            </a:r>
          </a:p>
          <a:p>
            <a:pPr lvl="1">
              <a:buClr>
                <a:schemeClr val="accent2"/>
              </a:buClr>
            </a:pPr>
            <a:r>
              <a:rPr lang="en-US" sz="2500" dirty="0"/>
              <a:t>Not subject to judicial review or oversight</a:t>
            </a:r>
          </a:p>
          <a:p>
            <a:pPr lvl="1">
              <a:buClr>
                <a:schemeClr val="accent2"/>
              </a:buClr>
            </a:pPr>
            <a:r>
              <a:rPr lang="en-US" altLang="en-US" sz="2500" b="1" dirty="0"/>
              <a:t>NSL gag provision</a:t>
            </a:r>
            <a:r>
              <a:rPr lang="en-US" altLang="en-US" sz="2500" dirty="0"/>
              <a:t>: Prohibits NSL recipients from revealing that the government has requested an individual’s records</a:t>
            </a:r>
          </a:p>
          <a:p>
            <a:r>
              <a:rPr lang="en-US" sz="2700" b="1" dirty="0"/>
              <a:t>Pen register: </a:t>
            </a:r>
            <a:r>
              <a:rPr lang="en-US" sz="2700" dirty="0"/>
              <a:t>A device that records electronic impulses to identify the numbers dialed for outgoing calls</a:t>
            </a:r>
          </a:p>
          <a:p>
            <a:r>
              <a:rPr lang="en-US" sz="2700" b="1" dirty="0"/>
              <a:t>Trap and trace: </a:t>
            </a:r>
            <a:r>
              <a:rPr lang="en-US" sz="2700" dirty="0"/>
              <a:t>A device that records the originating number of incoming calls for a particular phone number</a:t>
            </a:r>
          </a:p>
        </p:txBody>
      </p:sp>
    </p:spTree>
    <p:extLst>
      <p:ext uri="{BB962C8B-B14F-4D97-AF65-F5344CB8AC3E}">
        <p14:creationId xmlns:p14="http://schemas.microsoft.com/office/powerpoint/2010/main" val="9671816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0" y="133941"/>
            <a:ext cx="8001000" cy="840871"/>
          </a:xfrm>
        </p:spPr>
        <p:txBody>
          <a:bodyPr/>
          <a:lstStyle/>
          <a:p>
            <a:r>
              <a:rPr lang="en-US" sz="3200" dirty="0"/>
              <a:t>Privacy Laws, Applications, and Court Rulings: </a:t>
            </a:r>
            <a:br>
              <a:rPr lang="en-US" sz="3200" dirty="0"/>
            </a:br>
            <a:r>
              <a:rPr lang="en-US" sz="3200" dirty="0"/>
              <a:t>Electronic Surveillance, Part 7</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
        <p:nvSpPr>
          <p:cNvPr id="2" name="Content Placeholder 1"/>
          <p:cNvSpPr>
            <a:spLocks noGrp="1"/>
          </p:cNvSpPr>
          <p:nvPr>
            <p:ph idx="1"/>
          </p:nvPr>
        </p:nvSpPr>
        <p:spPr>
          <a:xfrm>
            <a:off x="365125" y="1219200"/>
            <a:ext cx="8415338" cy="4576637"/>
          </a:xfrm>
        </p:spPr>
        <p:txBody>
          <a:bodyPr/>
          <a:lstStyle/>
          <a:p>
            <a:r>
              <a:rPr lang="en-US" altLang="en-US" sz="2700" b="1" dirty="0"/>
              <a:t>Communications Assistance for Law Enforcement Act (CALEA)</a:t>
            </a:r>
            <a:r>
              <a:rPr lang="en-US" altLang="en-US" sz="2700" dirty="0"/>
              <a:t>:</a:t>
            </a:r>
            <a:r>
              <a:rPr lang="en-US" altLang="en-US" sz="2700" b="1" dirty="0"/>
              <a:t> </a:t>
            </a:r>
            <a:r>
              <a:rPr lang="en-US" altLang="en-US" sz="2700" dirty="0"/>
              <a:t>Required the telecommunications industry to build tools into its products f</a:t>
            </a:r>
            <a:r>
              <a:rPr lang="en-US" altLang="en-US" sz="2600" dirty="0"/>
              <a:t>or use by federal investigators, after obtaining a court order, to intercept communications</a:t>
            </a:r>
          </a:p>
          <a:p>
            <a:r>
              <a:rPr lang="en-US" altLang="en-US" sz="2700" b="1" dirty="0"/>
              <a:t>USA PATRIOT Act: </a:t>
            </a:r>
            <a:r>
              <a:rPr lang="en-US" altLang="en-US" sz="2700" dirty="0"/>
              <a:t>Ga</a:t>
            </a:r>
            <a:r>
              <a:rPr lang="en-US" sz="2700" dirty="0"/>
              <a:t>ve sweeping new powers to both domestic law enforcement and U.S. international intelligence agencies</a:t>
            </a:r>
          </a:p>
          <a:p>
            <a:pPr lvl="1">
              <a:buClr>
                <a:schemeClr val="accent2"/>
              </a:buClr>
            </a:pPr>
            <a:r>
              <a:rPr lang="en-US" sz="2600" dirty="0"/>
              <a:t>Increased their ability to search telephone, email, </a:t>
            </a:r>
            <a:br>
              <a:rPr lang="en-US" sz="2600" dirty="0"/>
            </a:br>
            <a:r>
              <a:rPr lang="en-US" sz="2600" dirty="0"/>
              <a:t>medical, financial, and other records</a:t>
            </a:r>
          </a:p>
          <a:p>
            <a:pPr lvl="1">
              <a:buClr>
                <a:schemeClr val="accent2"/>
              </a:buClr>
            </a:pPr>
            <a:r>
              <a:rPr lang="en-US" sz="2600" dirty="0"/>
              <a:t>Passed five weeks after the terrorist attacks of </a:t>
            </a:r>
            <a:br>
              <a:rPr lang="en-US" sz="2600" dirty="0"/>
            </a:br>
            <a:r>
              <a:rPr lang="en-US" sz="2600" dirty="0"/>
              <a:t>September 11, 2001</a:t>
            </a:r>
            <a:endParaRPr lang="en-US" dirty="0"/>
          </a:p>
        </p:txBody>
      </p:sp>
    </p:spTree>
    <p:extLst>
      <p:ext uri="{BB962C8B-B14F-4D97-AF65-F5344CB8AC3E}">
        <p14:creationId xmlns:p14="http://schemas.microsoft.com/office/powerpoint/2010/main" val="29612942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0" y="133941"/>
            <a:ext cx="8001000" cy="840871"/>
          </a:xfrm>
        </p:spPr>
        <p:txBody>
          <a:bodyPr/>
          <a:lstStyle/>
          <a:p>
            <a:r>
              <a:rPr lang="en-US" sz="3200" dirty="0"/>
              <a:t>Privacy Laws, Applications, and Court Rulings: </a:t>
            </a:r>
            <a:br>
              <a:rPr lang="en-US" sz="3200" dirty="0"/>
            </a:br>
            <a:r>
              <a:rPr lang="en-US" sz="3200" dirty="0"/>
              <a:t>Electronic Surveillance, Part 8</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
        <p:nvSpPr>
          <p:cNvPr id="2" name="Content Placeholder 1"/>
          <p:cNvSpPr>
            <a:spLocks noGrp="1"/>
          </p:cNvSpPr>
          <p:nvPr>
            <p:ph idx="1"/>
          </p:nvPr>
        </p:nvSpPr>
        <p:spPr>
          <a:xfrm>
            <a:off x="365125" y="1219200"/>
            <a:ext cx="8415338" cy="4225772"/>
          </a:xfrm>
        </p:spPr>
        <p:txBody>
          <a:bodyPr/>
          <a:lstStyle/>
          <a:p>
            <a:r>
              <a:rPr lang="en-US" altLang="en-US" sz="2800" b="1" dirty="0"/>
              <a:t>Foreign Intelligence Surveillance Act Amendments Act (2004)</a:t>
            </a:r>
          </a:p>
          <a:p>
            <a:pPr lvl="1">
              <a:buClr>
                <a:schemeClr val="accent2"/>
              </a:buClr>
            </a:pPr>
            <a:r>
              <a:rPr lang="en-US" sz="2600" dirty="0"/>
              <a:t>Authorized intelligence gathering on individuals not affiliated with any known terrorist organization (so-called lone wolves)</a:t>
            </a:r>
            <a:endParaRPr lang="en-US" altLang="en-US" sz="2600" b="1" dirty="0"/>
          </a:p>
          <a:p>
            <a:r>
              <a:rPr lang="en-US" altLang="en-US" sz="2800" b="1" dirty="0"/>
              <a:t>Foreign Intelligence Surveillance Act of 1978 Amendments Act of 2008</a:t>
            </a:r>
          </a:p>
          <a:p>
            <a:pPr lvl="1">
              <a:buClr>
                <a:schemeClr val="accent2"/>
              </a:buClr>
            </a:pPr>
            <a:r>
              <a:rPr lang="en-US" altLang="en-US" sz="2600" dirty="0"/>
              <a:t>Granted NSA expanded authority to collect (without court-approved warrants) international communications as they flow through U.S. telecom network equipment and facilities</a:t>
            </a:r>
          </a:p>
        </p:txBody>
      </p:sp>
    </p:spTree>
    <p:extLst>
      <p:ext uri="{BB962C8B-B14F-4D97-AF65-F5344CB8AC3E}">
        <p14:creationId xmlns:p14="http://schemas.microsoft.com/office/powerpoint/2010/main" val="31653450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0" y="133941"/>
            <a:ext cx="8001000" cy="840871"/>
          </a:xfrm>
        </p:spPr>
        <p:txBody>
          <a:bodyPr/>
          <a:lstStyle/>
          <a:p>
            <a:r>
              <a:rPr lang="en-US" sz="3200" dirty="0"/>
              <a:t>Privacy Laws, Applications, and Court Rulings: </a:t>
            </a:r>
            <a:br>
              <a:rPr lang="en-US" sz="3200" dirty="0"/>
            </a:br>
            <a:r>
              <a:rPr lang="en-US" sz="3200" dirty="0"/>
              <a:t>Electronic Surveillance, Part 9</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
        <p:nvSpPr>
          <p:cNvPr id="2" name="Content Placeholder 1"/>
          <p:cNvSpPr>
            <a:spLocks noGrp="1"/>
          </p:cNvSpPr>
          <p:nvPr>
            <p:ph idx="1"/>
          </p:nvPr>
        </p:nvSpPr>
        <p:spPr>
          <a:xfrm>
            <a:off x="365125" y="1219200"/>
            <a:ext cx="8415338" cy="4645887"/>
          </a:xfrm>
        </p:spPr>
        <p:txBody>
          <a:bodyPr/>
          <a:lstStyle/>
          <a:p>
            <a:r>
              <a:rPr lang="en-US" sz="2800" b="1" dirty="0"/>
              <a:t>PATRIOT Sunsets Extension Act of 2011: </a:t>
            </a:r>
            <a:r>
              <a:rPr lang="en-US" sz="2800" dirty="0"/>
              <a:t>Law that granted a four-year extension of roving wiretaps and searches of business records; also extended authorized intelligence gathering on “lone wolves”</a:t>
            </a:r>
          </a:p>
          <a:p>
            <a:r>
              <a:rPr lang="en-US" sz="2800" b="1" dirty="0"/>
              <a:t>USA Freedom Act: </a:t>
            </a:r>
            <a:r>
              <a:rPr lang="en-US" sz="2800" dirty="0"/>
              <a:t>Law passed following revelations by Edward Snowden (a former government contractor who leaked classified information) of secret NSA surveillance programs</a:t>
            </a:r>
          </a:p>
          <a:p>
            <a:pPr lvl="1">
              <a:spcBef>
                <a:spcPts val="300"/>
              </a:spcBef>
              <a:buClr>
                <a:schemeClr val="accent2"/>
              </a:buClr>
            </a:pPr>
            <a:r>
              <a:rPr lang="en-US" sz="2600" dirty="0"/>
              <a:t>Terminated NSA’s bulk collection of telephone metadata</a:t>
            </a:r>
          </a:p>
          <a:p>
            <a:pPr lvl="1">
              <a:spcBef>
                <a:spcPts val="300"/>
              </a:spcBef>
              <a:buClr>
                <a:schemeClr val="accent2"/>
              </a:buClr>
            </a:pPr>
            <a:r>
              <a:rPr lang="en-US" sz="2600" dirty="0"/>
              <a:t>Telecommunications providers are now required to hold that data and respond to NSA queries</a:t>
            </a:r>
            <a:endParaRPr lang="en-US" altLang="en-US" sz="2600" dirty="0"/>
          </a:p>
        </p:txBody>
      </p:sp>
    </p:spTree>
    <p:extLst>
      <p:ext uri="{BB962C8B-B14F-4D97-AF65-F5344CB8AC3E}">
        <p14:creationId xmlns:p14="http://schemas.microsoft.com/office/powerpoint/2010/main" val="28519456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0" y="133941"/>
            <a:ext cx="8001000" cy="840871"/>
          </a:xfrm>
        </p:spPr>
        <p:txBody>
          <a:bodyPr/>
          <a:lstStyle/>
          <a:p>
            <a:r>
              <a:rPr lang="en-US" sz="3200" dirty="0"/>
              <a:t>Privacy Laws, Applications, and Court Rulings: </a:t>
            </a:r>
            <a:br>
              <a:rPr lang="en-US" sz="3200" dirty="0"/>
            </a:br>
            <a:r>
              <a:rPr lang="en-US" sz="3200" dirty="0"/>
              <a:t>Fair Information Practices, Part 1</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
        <p:nvSpPr>
          <p:cNvPr id="2" name="Content Placeholder 1"/>
          <p:cNvSpPr>
            <a:spLocks noGrp="1"/>
          </p:cNvSpPr>
          <p:nvPr>
            <p:ph idx="1"/>
          </p:nvPr>
        </p:nvSpPr>
        <p:spPr>
          <a:xfrm>
            <a:off x="365125" y="1485340"/>
            <a:ext cx="8415338" cy="3173176"/>
          </a:xfrm>
        </p:spPr>
        <p:txBody>
          <a:bodyPr/>
          <a:lstStyle/>
          <a:p>
            <a:r>
              <a:rPr lang="en-US" altLang="en-US" sz="2800" b="1" dirty="0"/>
              <a:t>Fair information practices</a:t>
            </a:r>
            <a:r>
              <a:rPr lang="en-US" altLang="en-US" sz="2800" dirty="0"/>
              <a:t>: A set of guidelines that govern the collection and use of personal data</a:t>
            </a:r>
          </a:p>
          <a:p>
            <a:r>
              <a:rPr lang="en-US" altLang="en-US" sz="2800" b="1" dirty="0"/>
              <a:t>Transborder data flow</a:t>
            </a:r>
            <a:r>
              <a:rPr lang="en-US" altLang="en-US" sz="2800" dirty="0"/>
              <a:t>: The flow of personal data </a:t>
            </a:r>
            <a:br>
              <a:rPr lang="en-US" altLang="en-US" sz="2800" dirty="0"/>
            </a:br>
            <a:r>
              <a:rPr lang="en-US" altLang="en-US" sz="2800" dirty="0"/>
              <a:t>across national boundaries </a:t>
            </a:r>
          </a:p>
          <a:p>
            <a:r>
              <a:rPr lang="en-US" sz="2800" dirty="0"/>
              <a:t>Fair information practices form the underlying basis for many national laws addressing data privacy and data protection issues</a:t>
            </a:r>
            <a:endParaRPr lang="en-US" altLang="en-US" sz="3600" dirty="0"/>
          </a:p>
        </p:txBody>
      </p:sp>
    </p:spTree>
    <p:extLst>
      <p:ext uri="{BB962C8B-B14F-4D97-AF65-F5344CB8AC3E}">
        <p14:creationId xmlns:p14="http://schemas.microsoft.com/office/powerpoint/2010/main" val="42550601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0" y="133941"/>
            <a:ext cx="8001000" cy="840871"/>
          </a:xfrm>
        </p:spPr>
        <p:txBody>
          <a:bodyPr/>
          <a:lstStyle/>
          <a:p>
            <a:r>
              <a:rPr lang="en-US" sz="3200" dirty="0"/>
              <a:t>Privacy Laws, Applications, and Court Rulings: </a:t>
            </a:r>
            <a:br>
              <a:rPr lang="en-US" sz="3200" dirty="0"/>
            </a:br>
            <a:r>
              <a:rPr lang="en-US" sz="3200" dirty="0"/>
              <a:t>Fair Information Practices, Part 2</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
        <p:nvSpPr>
          <p:cNvPr id="2" name="Content Placeholder 1"/>
          <p:cNvSpPr>
            <a:spLocks noGrp="1"/>
          </p:cNvSpPr>
          <p:nvPr>
            <p:ph idx="1"/>
          </p:nvPr>
        </p:nvSpPr>
        <p:spPr>
          <a:xfrm>
            <a:off x="365125" y="1066800"/>
            <a:ext cx="8415338" cy="5501506"/>
          </a:xfrm>
        </p:spPr>
        <p:txBody>
          <a:bodyPr/>
          <a:lstStyle/>
          <a:p>
            <a:r>
              <a:rPr lang="en-US" altLang="en-US" sz="2600" dirty="0"/>
              <a:t>Organisation for Economic Co-operation and Development (OECD): International organization that sets policies and produces agreements on topics for which multilateral consensus is required</a:t>
            </a:r>
          </a:p>
          <a:p>
            <a:pPr lvl="1">
              <a:buClr>
                <a:schemeClr val="accent2"/>
              </a:buClr>
            </a:pPr>
            <a:r>
              <a:rPr lang="en-US" altLang="en-US" sz="2500" dirty="0"/>
              <a:t>OECD fair information practices guidelines are composed </a:t>
            </a:r>
            <a:br>
              <a:rPr lang="en-US" altLang="en-US" sz="2500" dirty="0"/>
            </a:br>
            <a:r>
              <a:rPr lang="en-US" altLang="en-US" sz="2500" dirty="0"/>
              <a:t>of eight principles:</a:t>
            </a:r>
          </a:p>
          <a:p>
            <a:pPr lvl="2">
              <a:spcBef>
                <a:spcPts val="200"/>
              </a:spcBef>
            </a:pPr>
            <a:r>
              <a:rPr lang="en-US" altLang="en-US" sz="2400" dirty="0"/>
              <a:t>Collection limitation</a:t>
            </a:r>
          </a:p>
          <a:p>
            <a:pPr lvl="2">
              <a:spcBef>
                <a:spcPts val="200"/>
              </a:spcBef>
            </a:pPr>
            <a:r>
              <a:rPr lang="en-US" altLang="en-US" sz="2400" dirty="0"/>
              <a:t>Data quality</a:t>
            </a:r>
          </a:p>
          <a:p>
            <a:pPr lvl="2">
              <a:spcBef>
                <a:spcPts val="200"/>
              </a:spcBef>
            </a:pPr>
            <a:r>
              <a:rPr lang="en-US" altLang="en-US" sz="2400" dirty="0"/>
              <a:t>Purpose specification</a:t>
            </a:r>
          </a:p>
          <a:p>
            <a:pPr lvl="2">
              <a:spcBef>
                <a:spcPts val="200"/>
              </a:spcBef>
            </a:pPr>
            <a:r>
              <a:rPr lang="en-US" altLang="en-US" sz="2400" dirty="0"/>
              <a:t>Use limitation</a:t>
            </a:r>
          </a:p>
          <a:p>
            <a:pPr lvl="2">
              <a:spcBef>
                <a:spcPts val="200"/>
              </a:spcBef>
            </a:pPr>
            <a:r>
              <a:rPr lang="en-US" altLang="en-US" sz="2400" dirty="0"/>
              <a:t>Security safeguards</a:t>
            </a:r>
          </a:p>
          <a:p>
            <a:pPr lvl="2">
              <a:spcBef>
                <a:spcPts val="200"/>
              </a:spcBef>
            </a:pPr>
            <a:r>
              <a:rPr lang="en-US" altLang="en-US" sz="2400" dirty="0"/>
              <a:t>Openness principle</a:t>
            </a:r>
          </a:p>
          <a:p>
            <a:pPr lvl="2">
              <a:spcBef>
                <a:spcPts val="200"/>
              </a:spcBef>
            </a:pPr>
            <a:r>
              <a:rPr lang="en-US" altLang="en-US" sz="2400" dirty="0"/>
              <a:t>Individual participation</a:t>
            </a:r>
          </a:p>
          <a:p>
            <a:pPr lvl="2">
              <a:spcBef>
                <a:spcPts val="200"/>
              </a:spcBef>
            </a:pPr>
            <a:r>
              <a:rPr lang="en-US" altLang="en-US" sz="2400" dirty="0"/>
              <a:t>Accountability</a:t>
            </a:r>
          </a:p>
        </p:txBody>
      </p:sp>
    </p:spTree>
    <p:extLst>
      <p:ext uri="{BB962C8B-B14F-4D97-AF65-F5344CB8AC3E}">
        <p14:creationId xmlns:p14="http://schemas.microsoft.com/office/powerpoint/2010/main" val="39872142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0" y="133941"/>
            <a:ext cx="8001000" cy="840871"/>
          </a:xfrm>
        </p:spPr>
        <p:txBody>
          <a:bodyPr/>
          <a:lstStyle/>
          <a:p>
            <a:r>
              <a:rPr lang="en-US" sz="3200" dirty="0"/>
              <a:t>Privacy Laws, Applications, and Court Rulings: </a:t>
            </a:r>
            <a:br>
              <a:rPr lang="en-US" sz="3200" dirty="0"/>
            </a:br>
            <a:r>
              <a:rPr lang="en-US" sz="3200" dirty="0"/>
              <a:t>Fair Information Practices, Part 3</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
        <p:nvSpPr>
          <p:cNvPr id="2" name="Content Placeholder 1"/>
          <p:cNvSpPr>
            <a:spLocks noGrp="1"/>
          </p:cNvSpPr>
          <p:nvPr>
            <p:ph idx="1"/>
          </p:nvPr>
        </p:nvSpPr>
        <p:spPr>
          <a:xfrm>
            <a:off x="365125" y="1219200"/>
            <a:ext cx="8415338" cy="5179880"/>
          </a:xfrm>
        </p:spPr>
        <p:txBody>
          <a:bodyPr/>
          <a:lstStyle/>
          <a:p>
            <a:r>
              <a:rPr lang="en-US" altLang="en-US" sz="2700" b="1" dirty="0"/>
              <a:t>European Union Data Protection Directive: </a:t>
            </a:r>
            <a:r>
              <a:rPr lang="en-US" altLang="en-US" sz="2700" dirty="0"/>
              <a:t>Ensures that data transferred to non-European Union countries is protected</a:t>
            </a:r>
          </a:p>
          <a:p>
            <a:pPr lvl="1">
              <a:buClr>
                <a:schemeClr val="accent2"/>
              </a:buClr>
            </a:pPr>
            <a:r>
              <a:rPr lang="en-US" altLang="en-US" sz="2400" dirty="0"/>
              <a:t>Only U.S. companies certified as meeting certain “safe harbor” principles were allowed to process and store data of European consumers and companies.</a:t>
            </a:r>
          </a:p>
          <a:p>
            <a:r>
              <a:rPr lang="en-US" altLang="en-US" sz="2700" dirty="0"/>
              <a:t>European–United States Privacy Shield Data Transfer Program Guidelines</a:t>
            </a:r>
          </a:p>
          <a:p>
            <a:pPr lvl="1">
              <a:buClr>
                <a:schemeClr val="accent2"/>
              </a:buClr>
            </a:pPr>
            <a:r>
              <a:rPr lang="en-US" altLang="en-US" sz="2400" dirty="0"/>
              <a:t>Replaced the Safe Harbor agreement between the U.S. and EU, which was declared invalid by the European Court of Justice</a:t>
            </a:r>
          </a:p>
          <a:p>
            <a:pPr lvl="1">
              <a:buClr>
                <a:schemeClr val="accent2"/>
              </a:buClr>
            </a:pPr>
            <a:r>
              <a:rPr lang="en-US" sz="2400" dirty="0"/>
              <a:t>Places stronger obligations on U.S. companies to protect the personal data of EU citizens and requires stronger enforcement by U.S. agencies</a:t>
            </a:r>
            <a:endParaRPr lang="en-US" altLang="en-US" sz="2400" dirty="0"/>
          </a:p>
        </p:txBody>
      </p:sp>
    </p:spTree>
    <p:extLst>
      <p:ext uri="{BB962C8B-B14F-4D97-AF65-F5344CB8AC3E}">
        <p14:creationId xmlns:p14="http://schemas.microsoft.com/office/powerpoint/2010/main" val="8366859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0" y="133941"/>
            <a:ext cx="8001000" cy="840871"/>
          </a:xfrm>
        </p:spPr>
        <p:txBody>
          <a:bodyPr/>
          <a:lstStyle/>
          <a:p>
            <a:r>
              <a:rPr lang="en-US" sz="3200" dirty="0"/>
              <a:t>Privacy Laws, Applications, and Court Rulings: </a:t>
            </a:r>
            <a:br>
              <a:rPr lang="en-US" sz="3200" dirty="0"/>
            </a:br>
            <a:r>
              <a:rPr lang="en-US" sz="3200" dirty="0"/>
              <a:t>Fair Information Practices, Part 4</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
        <p:nvSpPr>
          <p:cNvPr id="2" name="Content Placeholder 1"/>
          <p:cNvSpPr>
            <a:spLocks noGrp="1"/>
          </p:cNvSpPr>
          <p:nvPr>
            <p:ph idx="1"/>
          </p:nvPr>
        </p:nvSpPr>
        <p:spPr>
          <a:xfrm>
            <a:off x="365125" y="1621962"/>
            <a:ext cx="8415338" cy="2950038"/>
          </a:xfrm>
        </p:spPr>
        <p:txBody>
          <a:bodyPr/>
          <a:lstStyle/>
          <a:p>
            <a:r>
              <a:rPr lang="en-US" altLang="en-US" sz="2800" dirty="0"/>
              <a:t>General Data Protection Regulation (GDPR): An EU regulation passed in 2016; designed to strengthen data protection for individuals within the EU</a:t>
            </a:r>
          </a:p>
          <a:p>
            <a:pPr lvl="1">
              <a:buClr>
                <a:schemeClr val="accent2"/>
              </a:buClr>
            </a:pPr>
            <a:r>
              <a:rPr lang="en-US" sz="2600" dirty="0"/>
              <a:t>Organizations anywhere in the world that collect, store, </a:t>
            </a:r>
            <a:br>
              <a:rPr lang="en-US" sz="2600" dirty="0"/>
            </a:br>
            <a:r>
              <a:rPr lang="en-US" sz="2600" dirty="0"/>
              <a:t>or transfer personal data of EU citizens must ensure their systems and procedures are compliant</a:t>
            </a:r>
            <a:endParaRPr lang="en-US" altLang="en-US" sz="2600" dirty="0"/>
          </a:p>
          <a:p>
            <a:endParaRPr lang="en-US" altLang="en-US" sz="2400" dirty="0"/>
          </a:p>
        </p:txBody>
      </p:sp>
    </p:spTree>
    <p:extLst>
      <p:ext uri="{BB962C8B-B14F-4D97-AF65-F5344CB8AC3E}">
        <p14:creationId xmlns:p14="http://schemas.microsoft.com/office/powerpoint/2010/main" val="35531843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0" y="133941"/>
            <a:ext cx="8001000" cy="840871"/>
          </a:xfrm>
        </p:spPr>
        <p:txBody>
          <a:bodyPr/>
          <a:lstStyle/>
          <a:p>
            <a:r>
              <a:rPr lang="en-US" sz="3200" dirty="0"/>
              <a:t>Privacy Laws, Applications, and Court Rulings: </a:t>
            </a:r>
            <a:br>
              <a:rPr lang="en-US" sz="3200" dirty="0"/>
            </a:br>
            <a:r>
              <a:rPr lang="en-US" sz="3200" dirty="0"/>
              <a:t>Access to Government Records</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
        <p:nvSpPr>
          <p:cNvPr id="2" name="Content Placeholder 1"/>
          <p:cNvSpPr>
            <a:spLocks noGrp="1"/>
          </p:cNvSpPr>
          <p:nvPr>
            <p:ph idx="1"/>
          </p:nvPr>
        </p:nvSpPr>
        <p:spPr>
          <a:xfrm>
            <a:off x="365125" y="1219200"/>
            <a:ext cx="8415338" cy="5045997"/>
          </a:xfrm>
        </p:spPr>
        <p:txBody>
          <a:bodyPr/>
          <a:lstStyle/>
          <a:p>
            <a:r>
              <a:rPr lang="en-US" altLang="en-US" sz="2800" b="1" dirty="0"/>
              <a:t>Freedom of Information Act (FOIA)</a:t>
            </a:r>
            <a:r>
              <a:rPr lang="en-US" altLang="en-US" sz="2800" dirty="0"/>
              <a:t>:</a:t>
            </a:r>
            <a:r>
              <a:rPr lang="en-US" altLang="en-US" sz="2800" b="1" dirty="0"/>
              <a:t> </a:t>
            </a:r>
            <a:r>
              <a:rPr lang="en-US" altLang="en-US" sz="2800" dirty="0"/>
              <a:t>Grants citizens the right to access certain information and records of federal, state, and local governments upon request</a:t>
            </a:r>
          </a:p>
          <a:p>
            <a:pPr lvl="1">
              <a:buClr>
                <a:schemeClr val="accent2"/>
              </a:buClr>
            </a:pPr>
            <a:r>
              <a:rPr lang="en-US" altLang="en-US" sz="2600" dirty="0"/>
              <a:t>Two </a:t>
            </a:r>
            <a:r>
              <a:rPr lang="en-US" sz="2600" dirty="0"/>
              <a:t>basic requirements for a FOIA request</a:t>
            </a:r>
            <a:r>
              <a:rPr lang="en-US" altLang="en-US" sz="2600" dirty="0"/>
              <a:t>: </a:t>
            </a:r>
          </a:p>
          <a:p>
            <a:pPr lvl="2"/>
            <a:r>
              <a:rPr lang="en-US" altLang="en-US" sz="2400" dirty="0"/>
              <a:t>The request must not require wide-ranging, unreasonable, or burdensome searches for records</a:t>
            </a:r>
          </a:p>
          <a:p>
            <a:pPr lvl="2"/>
            <a:r>
              <a:rPr lang="en-US" altLang="en-US" sz="2400" dirty="0"/>
              <a:t>The request must be made according to procedural regulations published in the Federal Register</a:t>
            </a:r>
          </a:p>
          <a:p>
            <a:r>
              <a:rPr lang="en-US" altLang="en-US" sz="2800" b="1" dirty="0"/>
              <a:t>Privacy Act</a:t>
            </a:r>
            <a:r>
              <a:rPr lang="en-US" altLang="en-US" sz="2800" dirty="0"/>
              <a:t>:</a:t>
            </a:r>
            <a:r>
              <a:rPr lang="en-US" altLang="en-US" sz="2800" b="1" dirty="0"/>
              <a:t> </a:t>
            </a:r>
            <a:r>
              <a:rPr lang="en-US" altLang="en-US" sz="2800" dirty="0"/>
              <a:t>Sets rules for the collection, use, and dissemination of personal data kept by federal agencies</a:t>
            </a:r>
          </a:p>
          <a:p>
            <a:pPr lvl="1"/>
            <a:r>
              <a:rPr lang="en-US" altLang="en-US" sz="2600" dirty="0"/>
              <a:t>Prohibits U.S. government agencies from concealing the existence of any personal data record-keeping system</a:t>
            </a:r>
            <a:endParaRPr lang="en-US" altLang="en-US" sz="2200" dirty="0"/>
          </a:p>
        </p:txBody>
      </p:sp>
    </p:spTree>
    <p:extLst>
      <p:ext uri="{BB962C8B-B14F-4D97-AF65-F5344CB8AC3E}">
        <p14:creationId xmlns:p14="http://schemas.microsoft.com/office/powerpoint/2010/main" val="36423329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3710246"/>
          </a:xfrm>
        </p:spPr>
        <p:txBody>
          <a:bodyPr/>
          <a:lstStyle/>
          <a:p>
            <a:r>
              <a:rPr lang="en-US" altLang="en-US" sz="2800" dirty="0"/>
              <a:t>Information about web surfers can be obtained through the use of: </a:t>
            </a:r>
          </a:p>
          <a:p>
            <a:pPr lvl="1">
              <a:buClr>
                <a:schemeClr val="accent2"/>
              </a:buClr>
            </a:pPr>
            <a:r>
              <a:rPr lang="en-US" altLang="en-US" sz="2600" dirty="0"/>
              <a:t>Voluntary methods: Website registrations, survey, contests, and social media</a:t>
            </a:r>
          </a:p>
          <a:p>
            <a:pPr lvl="1">
              <a:buClr>
                <a:schemeClr val="accent2"/>
              </a:buClr>
            </a:pPr>
            <a:r>
              <a:rPr lang="en-US" altLang="en-US" sz="2600" b="1" dirty="0"/>
              <a:t>Cookies</a:t>
            </a:r>
            <a:r>
              <a:rPr lang="en-US" altLang="en-US" sz="2600" dirty="0"/>
              <a:t>: T</a:t>
            </a:r>
            <a:r>
              <a:rPr lang="en-US" sz="2600" dirty="0"/>
              <a:t>ext files that can be downloaded to the hard drives of users who visit a website, so that the website is able to identify visitors on subsequent visits</a:t>
            </a:r>
          </a:p>
          <a:p>
            <a:pPr lvl="1">
              <a:buClr>
                <a:schemeClr val="accent2"/>
              </a:buClr>
            </a:pPr>
            <a:r>
              <a:rPr lang="en-US" altLang="en-US" sz="2600" dirty="0"/>
              <a:t>Tracking software: Allows a website </a:t>
            </a:r>
            <a:r>
              <a:rPr lang="en-US" sz="2600" dirty="0"/>
              <a:t>to analyze browsing habits and deduce personal interests and preferences</a:t>
            </a:r>
            <a:endParaRPr lang="en-US" dirty="0"/>
          </a:p>
        </p:txBody>
      </p:sp>
      <p:sp>
        <p:nvSpPr>
          <p:cNvPr id="3" name="Title 2"/>
          <p:cNvSpPr>
            <a:spLocks noGrp="1"/>
          </p:cNvSpPr>
          <p:nvPr>
            <p:ph type="title"/>
          </p:nvPr>
        </p:nvSpPr>
        <p:spPr>
          <a:xfrm>
            <a:off x="762000" y="107685"/>
            <a:ext cx="8026400" cy="893386"/>
          </a:xfrm>
        </p:spPr>
        <p:txBody>
          <a:bodyPr/>
          <a:lstStyle/>
          <a:p>
            <a:r>
              <a:rPr lang="en-US" altLang="en-US" sz="3400" dirty="0"/>
              <a:t>Key Privacy and Anonymity Issues: </a:t>
            </a:r>
            <a:br>
              <a:rPr lang="en-US" altLang="en-US" sz="3400" dirty="0"/>
            </a:br>
            <a:r>
              <a:rPr lang="en-US" sz="3400" dirty="0"/>
              <a:t>Consumer Profiling, Part 1</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0058412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4887492"/>
          </a:xfrm>
        </p:spPr>
        <p:txBody>
          <a:bodyPr/>
          <a:lstStyle/>
          <a:p>
            <a:r>
              <a:rPr lang="en-US" altLang="en-US" sz="2800" dirty="0"/>
              <a:t>Criticisms of consumer profiling:</a:t>
            </a:r>
          </a:p>
          <a:p>
            <a:pPr lvl="1">
              <a:buClr>
                <a:schemeClr val="accent2"/>
              </a:buClr>
            </a:pPr>
            <a:r>
              <a:rPr lang="en-US" altLang="en-US" sz="2600" dirty="0"/>
              <a:t>Personal data may be gathered and sold to other companies without the permission of consumers who provide the data</a:t>
            </a:r>
          </a:p>
          <a:p>
            <a:pPr lvl="1">
              <a:buClr>
                <a:schemeClr val="accent2"/>
              </a:buClr>
            </a:pPr>
            <a:r>
              <a:rPr lang="en-US" altLang="en-US" sz="2600" dirty="0"/>
              <a:t>Risk of a </a:t>
            </a:r>
            <a:r>
              <a:rPr lang="en-US" altLang="en-US" sz="2600" b="1" dirty="0"/>
              <a:t>data breach: </a:t>
            </a:r>
            <a:r>
              <a:rPr lang="en-US" altLang="en-US" sz="2600" dirty="0"/>
              <a:t>The </a:t>
            </a:r>
            <a:r>
              <a:rPr lang="en-US" sz="2600" dirty="0"/>
              <a:t>unintended release of sensitive data or the access of sensitive data (e.g., credit card numbers or Social Security numbers) by unauthorized individuals</a:t>
            </a:r>
          </a:p>
          <a:p>
            <a:pPr lvl="1">
              <a:buClr>
                <a:schemeClr val="accent2"/>
              </a:buClr>
            </a:pPr>
            <a:r>
              <a:rPr lang="en-US" altLang="en-US" sz="2600" dirty="0"/>
              <a:t>Risk of identity theft: The </a:t>
            </a:r>
            <a:r>
              <a:rPr lang="en-US" sz="2600" dirty="0"/>
              <a:t>theft of personal information, which is then used without the owner’s permission—often to commit fraud or other crimes</a:t>
            </a:r>
            <a:endParaRPr lang="en-US" altLang="en-US" sz="2600" dirty="0"/>
          </a:p>
          <a:p>
            <a:endParaRPr lang="en-US" dirty="0"/>
          </a:p>
        </p:txBody>
      </p:sp>
      <p:sp>
        <p:nvSpPr>
          <p:cNvPr id="3" name="Title 2"/>
          <p:cNvSpPr>
            <a:spLocks noGrp="1"/>
          </p:cNvSpPr>
          <p:nvPr>
            <p:ph type="title"/>
          </p:nvPr>
        </p:nvSpPr>
        <p:spPr>
          <a:xfrm>
            <a:off x="762000" y="107685"/>
            <a:ext cx="8026400" cy="893386"/>
          </a:xfrm>
        </p:spPr>
        <p:txBody>
          <a:bodyPr/>
          <a:lstStyle/>
          <a:p>
            <a:r>
              <a:rPr lang="en-US" altLang="en-US" sz="3400" dirty="0"/>
              <a:t>Key Privacy and Anonymity Issues: </a:t>
            </a:r>
            <a:br>
              <a:rPr lang="en-US" altLang="en-US" sz="3400" dirty="0"/>
            </a:br>
            <a:r>
              <a:rPr lang="en-US" sz="3400" dirty="0"/>
              <a:t>Consumer Profiling, Part 2</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1043822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95400"/>
            <a:ext cx="8415338" cy="4401205"/>
          </a:xfrm>
        </p:spPr>
        <p:txBody>
          <a:bodyPr/>
          <a:lstStyle/>
          <a:p>
            <a:r>
              <a:rPr lang="en-US" sz="2800" b="1" dirty="0"/>
              <a:t>Electronic discovery (e-discovery): </a:t>
            </a:r>
            <a:r>
              <a:rPr lang="en-US" sz="2800" dirty="0"/>
              <a:t>The c</a:t>
            </a:r>
            <a:r>
              <a:rPr lang="en-US" altLang="en-US" sz="2800" dirty="0"/>
              <a:t>ollection, preparation, review, and production of electronically stored information for use in criminal and civil actions</a:t>
            </a:r>
          </a:p>
          <a:p>
            <a:r>
              <a:rPr lang="en-US" altLang="en-US" sz="2800" b="1" dirty="0"/>
              <a:t>Electronically stored information (ESI)</a:t>
            </a:r>
            <a:r>
              <a:rPr lang="en-US" altLang="en-US" sz="2800" dirty="0"/>
              <a:t>:</a:t>
            </a:r>
            <a:r>
              <a:rPr lang="en-US" altLang="en-US" sz="2800" b="1" dirty="0"/>
              <a:t> </a:t>
            </a:r>
            <a:r>
              <a:rPr lang="en-US" altLang="en-US" sz="2800" dirty="0"/>
              <a:t>Any form of digital information stored on any form of electronic storage device</a:t>
            </a:r>
          </a:p>
          <a:p>
            <a:r>
              <a:rPr lang="en-US" sz="2800" b="1" dirty="0"/>
              <a:t>Predictive coding: </a:t>
            </a:r>
            <a:r>
              <a:rPr lang="en-US" sz="2800" dirty="0"/>
              <a:t>A process that couples human guidance with computer-driven concept searching in order to “train” document review software to recognize relevant documents</a:t>
            </a:r>
          </a:p>
        </p:txBody>
      </p:sp>
      <p:sp>
        <p:nvSpPr>
          <p:cNvPr id="3" name="Title 2"/>
          <p:cNvSpPr>
            <a:spLocks noGrp="1"/>
          </p:cNvSpPr>
          <p:nvPr>
            <p:ph type="title"/>
          </p:nvPr>
        </p:nvSpPr>
        <p:spPr>
          <a:xfrm>
            <a:off x="762000" y="81397"/>
            <a:ext cx="8026400" cy="945965"/>
          </a:xfrm>
        </p:spPr>
        <p:txBody>
          <a:bodyPr/>
          <a:lstStyle/>
          <a:p>
            <a:r>
              <a:rPr lang="en-US" altLang="en-US" sz="3600" dirty="0"/>
              <a:t>Key Privacy and Anonymity Issues: </a:t>
            </a:r>
            <a:r>
              <a:rPr lang="en-US" sz="3600" dirty="0"/>
              <a:t>Electronic Discovery</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1655704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43624"/>
            <a:ext cx="8415338" cy="4014176"/>
          </a:xfrm>
        </p:spPr>
        <p:txBody>
          <a:bodyPr/>
          <a:lstStyle/>
          <a:p>
            <a:r>
              <a:rPr lang="en-US" sz="2700" b="1" dirty="0"/>
              <a:t>Cyberloafing: </a:t>
            </a:r>
            <a:r>
              <a:rPr lang="en-US" sz="2700" dirty="0"/>
              <a:t>Using the Internet for purposes unrelated to work, such as posting to Facebook, sending personal emails or texts, or shopping online</a:t>
            </a:r>
          </a:p>
          <a:p>
            <a:r>
              <a:rPr lang="en-US" sz="2700" dirty="0"/>
              <a:t>Private employers may legally monitor employees’ use of any employer-provided mobile phone or computing device</a:t>
            </a:r>
          </a:p>
          <a:p>
            <a:r>
              <a:rPr lang="en-US" altLang="en-US" sz="2700" dirty="0"/>
              <a:t>The Fourth Amendment does not limit how a private employer treats its employees</a:t>
            </a:r>
          </a:p>
          <a:p>
            <a:r>
              <a:rPr lang="en-US" altLang="en-US" sz="2700" dirty="0"/>
              <a:t>State privacy statutes tend to favor employers over employees</a:t>
            </a:r>
          </a:p>
        </p:txBody>
      </p:sp>
      <p:sp>
        <p:nvSpPr>
          <p:cNvPr id="3" name="Title 2"/>
          <p:cNvSpPr>
            <a:spLocks noGrp="1"/>
          </p:cNvSpPr>
          <p:nvPr>
            <p:ph type="title"/>
          </p:nvPr>
        </p:nvSpPr>
        <p:spPr>
          <a:xfrm>
            <a:off x="762000" y="83482"/>
            <a:ext cx="8026400" cy="941796"/>
          </a:xfrm>
        </p:spPr>
        <p:txBody>
          <a:bodyPr/>
          <a:lstStyle/>
          <a:p>
            <a:r>
              <a:rPr lang="en-US" altLang="en-US" sz="3600" dirty="0"/>
              <a:t>Key Privacy and Anonymity Issues: </a:t>
            </a:r>
            <a:r>
              <a:rPr lang="en-US" sz="3600" dirty="0"/>
              <a:t>Workplace Monitoring</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9060635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2939266"/>
          </a:xfrm>
        </p:spPr>
        <p:txBody>
          <a:bodyPr/>
          <a:lstStyle/>
          <a:p>
            <a:r>
              <a:rPr lang="en-US" altLang="en-US" sz="2800" dirty="0"/>
              <a:t>Camera surveillance</a:t>
            </a:r>
          </a:p>
          <a:p>
            <a:pPr lvl="1">
              <a:buClr>
                <a:schemeClr val="accent2"/>
              </a:buClr>
            </a:pPr>
            <a:r>
              <a:rPr lang="en-US" altLang="en-US" sz="2600" dirty="0"/>
              <a:t>Used in major cities around the world to deter crime and terrorist activities</a:t>
            </a:r>
          </a:p>
          <a:p>
            <a:pPr lvl="1">
              <a:buClr>
                <a:schemeClr val="accent2"/>
              </a:buClr>
            </a:pPr>
            <a:r>
              <a:rPr lang="en-US" altLang="en-US" sz="2600" dirty="0"/>
              <a:t>Criticism: Su</a:t>
            </a:r>
            <a:r>
              <a:rPr lang="en-US" sz="2600" dirty="0"/>
              <a:t>ch scrutiny is a violation of civil liberties and the cost of the equipment and people required to monitor the video feeds is excessive</a:t>
            </a:r>
            <a:endParaRPr lang="en-US" altLang="en-US" sz="2600" dirty="0"/>
          </a:p>
          <a:p>
            <a:endParaRPr lang="en-US" dirty="0"/>
          </a:p>
        </p:txBody>
      </p:sp>
      <p:sp>
        <p:nvSpPr>
          <p:cNvPr id="3" name="Title 2"/>
          <p:cNvSpPr>
            <a:spLocks noGrp="1"/>
          </p:cNvSpPr>
          <p:nvPr>
            <p:ph type="title"/>
          </p:nvPr>
        </p:nvSpPr>
        <p:spPr>
          <a:xfrm>
            <a:off x="762000" y="83482"/>
            <a:ext cx="8026400" cy="941796"/>
          </a:xfrm>
        </p:spPr>
        <p:txBody>
          <a:bodyPr/>
          <a:lstStyle/>
          <a:p>
            <a:r>
              <a:rPr lang="en-US" altLang="en-US" sz="3600" dirty="0"/>
              <a:t>Key Privacy and Anonymity Issues: </a:t>
            </a:r>
            <a:r>
              <a:rPr lang="en-US" sz="3600" dirty="0"/>
              <a:t>Advanced Surveillance Technology, Part 1</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713053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95400"/>
            <a:ext cx="8415338" cy="3645613"/>
          </a:xfrm>
        </p:spPr>
        <p:txBody>
          <a:bodyPr/>
          <a:lstStyle/>
          <a:p>
            <a:r>
              <a:rPr lang="en-US" altLang="en-US" sz="2800" b="1" dirty="0"/>
              <a:t>Vehicle event data recorder (EDR): </a:t>
            </a:r>
            <a:r>
              <a:rPr lang="en-US" altLang="en-US" sz="2800" dirty="0"/>
              <a:t>A device that records vehicle and occupant data for a few seconds before, during, and after any vehicle crash severe enough to deploy the vehicle’s air bags</a:t>
            </a:r>
          </a:p>
          <a:p>
            <a:pPr lvl="1">
              <a:buClr>
                <a:schemeClr val="accent2"/>
              </a:buClr>
            </a:pPr>
            <a:r>
              <a:rPr lang="en-US" altLang="en-US" sz="2600" dirty="0"/>
              <a:t>Purposes: </a:t>
            </a:r>
          </a:p>
          <a:p>
            <a:pPr lvl="2"/>
            <a:r>
              <a:rPr lang="en-US" altLang="en-US" sz="2400" dirty="0"/>
              <a:t>To capture and record data to make changes to improve vehicle performance</a:t>
            </a:r>
          </a:p>
          <a:p>
            <a:pPr lvl="2"/>
            <a:r>
              <a:rPr lang="en-US" altLang="en-US" sz="2400" dirty="0"/>
              <a:t>For use in a court of law to determine what happened during a vehicle accident</a:t>
            </a:r>
          </a:p>
        </p:txBody>
      </p:sp>
      <p:sp>
        <p:nvSpPr>
          <p:cNvPr id="3" name="Title 2"/>
          <p:cNvSpPr>
            <a:spLocks noGrp="1"/>
          </p:cNvSpPr>
          <p:nvPr>
            <p:ph type="title"/>
          </p:nvPr>
        </p:nvSpPr>
        <p:spPr>
          <a:xfrm>
            <a:off x="762000" y="83482"/>
            <a:ext cx="8026400" cy="941796"/>
          </a:xfrm>
        </p:spPr>
        <p:txBody>
          <a:bodyPr/>
          <a:lstStyle/>
          <a:p>
            <a:r>
              <a:rPr lang="en-US" altLang="en-US" sz="3600" dirty="0"/>
              <a:t>Key Privacy and Anonymity Issues: </a:t>
            </a:r>
            <a:r>
              <a:rPr lang="en-US" sz="3600" dirty="0"/>
              <a:t>Advanced Surveillance Technology, Part 2</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422484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46506"/>
            <a:ext cx="8415338" cy="2873094"/>
          </a:xfrm>
        </p:spPr>
        <p:txBody>
          <a:bodyPr/>
          <a:lstStyle/>
          <a:p>
            <a:r>
              <a:rPr lang="en-US" sz="2800" b="1" dirty="0"/>
              <a:t>Stalking app: </a:t>
            </a:r>
            <a:r>
              <a:rPr lang="en-US" altLang="en-US" sz="2800" dirty="0"/>
              <a:t>Software that can be loaded onto a cell phone or smartphone</a:t>
            </a:r>
          </a:p>
          <a:p>
            <a:pPr lvl="1">
              <a:buClr>
                <a:schemeClr val="accent2"/>
              </a:buClr>
            </a:pPr>
            <a:r>
              <a:rPr lang="en-US" altLang="en-US" sz="2600" dirty="0"/>
              <a:t>Performs location tracking, records calls, views text messages sent or received, and records the URLs of any website visited on the phone</a:t>
            </a:r>
          </a:p>
          <a:p>
            <a:pPr lvl="1">
              <a:buClr>
                <a:schemeClr val="accent2"/>
              </a:buClr>
            </a:pPr>
            <a:r>
              <a:rPr lang="en-US" altLang="en-US" sz="2600" dirty="0"/>
              <a:t>Illegal to install the software on a phone without the permission of the phone owner</a:t>
            </a:r>
            <a:endParaRPr lang="en-US" dirty="0"/>
          </a:p>
        </p:txBody>
      </p:sp>
      <p:sp>
        <p:nvSpPr>
          <p:cNvPr id="3" name="Title 2"/>
          <p:cNvSpPr>
            <a:spLocks noGrp="1"/>
          </p:cNvSpPr>
          <p:nvPr>
            <p:ph type="title"/>
          </p:nvPr>
        </p:nvSpPr>
        <p:spPr>
          <a:xfrm>
            <a:off x="762000" y="83482"/>
            <a:ext cx="8026400" cy="941796"/>
          </a:xfrm>
        </p:spPr>
        <p:txBody>
          <a:bodyPr/>
          <a:lstStyle/>
          <a:p>
            <a:r>
              <a:rPr lang="en-US" altLang="en-US" sz="3600" dirty="0"/>
              <a:t>Key Privacy and Anonymity Issues: </a:t>
            </a:r>
            <a:r>
              <a:rPr lang="en-US" sz="3600" dirty="0"/>
              <a:t>Advanced Surveillance Technology, Part 3</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593135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46062" y="1219200"/>
            <a:ext cx="8542338" cy="5092163"/>
          </a:xfrm>
        </p:spPr>
        <p:txBody>
          <a:bodyPr/>
          <a:lstStyle/>
          <a:p>
            <a:r>
              <a:rPr lang="en-US" sz="2800" b="1" dirty="0"/>
              <a:t>What is the right of privacy, and what is the basis for protecting personal privacy under the law?</a:t>
            </a:r>
          </a:p>
          <a:p>
            <a:pPr lvl="1">
              <a:buClr>
                <a:schemeClr val="accent2"/>
              </a:buClr>
            </a:pPr>
            <a:r>
              <a:rPr lang="en-US" sz="2600" dirty="0"/>
              <a:t>Right of privacy: “The right to be left alone”</a:t>
            </a:r>
          </a:p>
          <a:p>
            <a:pPr lvl="1">
              <a:buClr>
                <a:schemeClr val="accent2"/>
              </a:buClr>
            </a:pPr>
            <a:r>
              <a:rPr lang="en-US" sz="2600" dirty="0"/>
              <a:t>Information privacy: Communications privacy (the ability to communicate with others without those communications being monitored) and data privacy (the ability to limit access to one’s personal data)</a:t>
            </a:r>
          </a:p>
          <a:p>
            <a:pPr lvl="1">
              <a:buClr>
                <a:schemeClr val="accent2"/>
              </a:buClr>
            </a:pPr>
            <a:r>
              <a:rPr lang="en-US" sz="2600" dirty="0"/>
              <a:t>The needs of those who use information must be balanced against the rights and desires of the people whose information is being used</a:t>
            </a:r>
          </a:p>
          <a:p>
            <a:pPr lvl="1">
              <a:buClr>
                <a:schemeClr val="accent2"/>
              </a:buClr>
            </a:pPr>
            <a:r>
              <a:rPr lang="en-US" sz="2600" dirty="0"/>
              <a:t>Without a reasonable expectation of privacy, there is no privacy right to protect.</a:t>
            </a:r>
            <a:endParaRPr lang="en-US" sz="2600" b="1" dirty="0"/>
          </a:p>
        </p:txBody>
      </p:sp>
      <p:sp>
        <p:nvSpPr>
          <p:cNvPr id="3" name="Title 2"/>
          <p:cNvSpPr>
            <a:spLocks noGrp="1"/>
          </p:cNvSpPr>
          <p:nvPr>
            <p:ph type="title"/>
          </p:nvPr>
        </p:nvSpPr>
        <p:spPr>
          <a:xfrm>
            <a:off x="762000" y="290459"/>
            <a:ext cx="8026400" cy="527837"/>
          </a:xfrm>
        </p:spPr>
        <p:txBody>
          <a:bodyPr/>
          <a:lstStyle/>
          <a:p>
            <a:r>
              <a:rPr lang="en-US" sz="4000" dirty="0"/>
              <a:t>Summary, Part 1</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9446671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46062" y="1371600"/>
            <a:ext cx="8542338" cy="3359381"/>
          </a:xfrm>
        </p:spPr>
        <p:txBody>
          <a:bodyPr/>
          <a:lstStyle/>
          <a:p>
            <a:r>
              <a:rPr lang="en-US" sz="2800" b="1" dirty="0"/>
              <a:t>What are some of the laws that provide protection for the privacy of personal data, and what are some of the associated ethical issues?</a:t>
            </a:r>
          </a:p>
          <a:p>
            <a:pPr lvl="1">
              <a:buClr>
                <a:schemeClr val="accent2"/>
              </a:buClr>
            </a:pPr>
            <a:r>
              <a:rPr lang="en-US" sz="2600" dirty="0"/>
              <a:t>Few laws provide privacy protection from private industry.</a:t>
            </a:r>
          </a:p>
          <a:p>
            <a:pPr lvl="1">
              <a:buClr>
                <a:schemeClr val="accent2"/>
              </a:buClr>
            </a:pPr>
            <a:r>
              <a:rPr lang="en-US" sz="2600" dirty="0"/>
              <a:t>There is no single, overarching national data privacy policy in the U.S.</a:t>
            </a:r>
          </a:p>
          <a:p>
            <a:pPr lvl="1">
              <a:buClr>
                <a:schemeClr val="accent2"/>
              </a:buClr>
            </a:pPr>
            <a:r>
              <a:rPr lang="en-US" sz="2600" dirty="0"/>
              <a:t>A range of laws, executive orders, and court rulings govern the privacy of personal data.</a:t>
            </a:r>
          </a:p>
        </p:txBody>
      </p:sp>
      <p:sp>
        <p:nvSpPr>
          <p:cNvPr id="3" name="Title 2"/>
          <p:cNvSpPr>
            <a:spLocks noGrp="1"/>
          </p:cNvSpPr>
          <p:nvPr>
            <p:ph type="title"/>
          </p:nvPr>
        </p:nvSpPr>
        <p:spPr>
          <a:xfrm>
            <a:off x="762000" y="290459"/>
            <a:ext cx="8026400" cy="527837"/>
          </a:xfrm>
        </p:spPr>
        <p:txBody>
          <a:bodyPr/>
          <a:lstStyle/>
          <a:p>
            <a:r>
              <a:rPr lang="en-US" sz="4000" dirty="0"/>
              <a:t>Summary, Part 2</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731456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62000" y="290459"/>
            <a:ext cx="8026400" cy="527837"/>
          </a:xfrm>
        </p:spPr>
        <p:txBody>
          <a:bodyPr/>
          <a:lstStyle/>
          <a:p>
            <a:r>
              <a:rPr lang="en-US" sz="4000" dirty="0"/>
              <a:t>Summary, Part 3</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graphicFrame>
        <p:nvGraphicFramePr>
          <p:cNvPr id="11" name="Content Placeholder 10" descr="This tables lists the various laws and executive orders that impact privacy protection in the United States: &#10;The Fair Credit Reporting Act&#10;The Right to Financial Privacy Act&#10;Gramm-Leach-Bliley Act (GLBA)&#10;Fair and Accurate Credit Transaction Act&#10;Health Insurance Portability and Accountability Act (HIPAA)&#10;American Recovery and Reinvestment Act EHR provisions &#10;Family Educational Rights and Privacy Act (FERPA) &#10;Children’s Online Privacy Protection Act (COPPA) &#10;Title III of the Omnibus Crime Control and Safe Streets Act (also known as the Wiretap Act)&#10;Foreign Intelligence Surveillance Act&#10;Executive Order 12333 &#10;Electronic Communications Privacy Act (ECPA) &#10;Communications Assistance for Law Enforcement Act (CALEA) &#10;USA PATRIOT Act &#10;Foreign Intelligence Surveillance Act Amendments Acts of 2004&#10;Foreign Intelligence Surveillance Act Amendments Acts of 2008&#10;USA Freedom Act &#10;PATRIOT Sunsets Extension Act&#10;"/>
          <p:cNvGraphicFramePr>
            <a:graphicFrameLocks noGrp="1"/>
          </p:cNvGraphicFramePr>
          <p:nvPr>
            <p:ph idx="1"/>
            <p:extLst>
              <p:ext uri="{D42A27DB-BD31-4B8C-83A1-F6EECF244321}">
                <p14:modId xmlns:p14="http://schemas.microsoft.com/office/powerpoint/2010/main" val="1296008358"/>
              </p:ext>
            </p:extLst>
          </p:nvPr>
        </p:nvGraphicFramePr>
        <p:xfrm>
          <a:off x="457200" y="1097887"/>
          <a:ext cx="8458200" cy="5209032"/>
        </p:xfrm>
        <a:graphic>
          <a:graphicData uri="http://schemas.openxmlformats.org/drawingml/2006/table">
            <a:tbl>
              <a:tblPr firstRow="1" firstCol="1" bandRow="1">
                <a:tableStyleId>{8A107856-5554-42FB-B03E-39F5DBC370BA}</a:tableStyleId>
              </a:tblPr>
              <a:tblGrid>
                <a:gridCol w="4229100">
                  <a:extLst>
                    <a:ext uri="{9D8B030D-6E8A-4147-A177-3AD203B41FA5}">
                      <a16:colId xmlns:a16="http://schemas.microsoft.com/office/drawing/2014/main" val="2345265367"/>
                    </a:ext>
                  </a:extLst>
                </a:gridCol>
                <a:gridCol w="4229100">
                  <a:extLst>
                    <a:ext uri="{9D8B030D-6E8A-4147-A177-3AD203B41FA5}">
                      <a16:colId xmlns:a16="http://schemas.microsoft.com/office/drawing/2014/main" val="1169216346"/>
                    </a:ext>
                  </a:extLst>
                </a:gridCol>
              </a:tblGrid>
              <a:tr h="307073">
                <a:tc>
                  <a:txBody>
                    <a:bodyPr/>
                    <a:lstStyle/>
                    <a:p>
                      <a:pPr marL="0" marR="0">
                        <a:lnSpc>
                          <a:spcPct val="115000"/>
                        </a:lnSpc>
                        <a:spcBef>
                          <a:spcPts val="0"/>
                        </a:spcBef>
                        <a:spcAft>
                          <a:spcPts val="0"/>
                        </a:spcAft>
                      </a:pPr>
                      <a:r>
                        <a:rPr lang="en-US" sz="2000" b="0" dirty="0">
                          <a:effectLst/>
                        </a:rPr>
                        <a:t>The Fair Credit Reporting Act</a:t>
                      </a:r>
                      <a:endParaRPr lang="en-US" sz="2000" b="0" dirty="0">
                        <a:effectLst/>
                        <a:latin typeface="Calibri" panose="020F0502020204030204" pitchFamily="34" charset="0"/>
                        <a:ea typeface="Calibri" panose="020F0502020204030204" pitchFamily="34" charset="0"/>
                        <a:cs typeface="Times New Roman" panose="02020603050405020304" pitchFamily="18" charset="0"/>
                      </a:endParaRPr>
                    </a:p>
                  </a:txBody>
                  <a:tcPr marL="36260" marR="36260" marT="0" marB="0"/>
                </a:tc>
                <a:tc>
                  <a:txBody>
                    <a:bodyPr/>
                    <a:lstStyle/>
                    <a:p>
                      <a:pPr marL="0" marR="0">
                        <a:lnSpc>
                          <a:spcPct val="115000"/>
                        </a:lnSpc>
                        <a:spcBef>
                          <a:spcPts val="0"/>
                        </a:spcBef>
                        <a:spcAft>
                          <a:spcPts val="0"/>
                        </a:spcAft>
                      </a:pPr>
                      <a:r>
                        <a:rPr lang="en-US" sz="2000" b="0" dirty="0">
                          <a:effectLst/>
                        </a:rPr>
                        <a:t>The Right to Financial Privacy Act</a:t>
                      </a:r>
                      <a:endParaRPr lang="en-US" sz="2000" b="0" dirty="0">
                        <a:effectLst/>
                        <a:latin typeface="Calibri" panose="020F0502020204030204" pitchFamily="34" charset="0"/>
                        <a:ea typeface="Calibri" panose="020F0502020204030204" pitchFamily="34" charset="0"/>
                        <a:cs typeface="Times New Roman" panose="02020603050405020304" pitchFamily="18" charset="0"/>
                      </a:endParaRPr>
                    </a:p>
                  </a:txBody>
                  <a:tcPr marL="36260" marR="36260" marT="0" marB="0"/>
                </a:tc>
                <a:extLst>
                  <a:ext uri="{0D108BD9-81ED-4DB2-BD59-A6C34878D82A}">
                    <a16:rowId xmlns:a16="http://schemas.microsoft.com/office/drawing/2014/main" val="3549985316"/>
                  </a:ext>
                </a:extLst>
              </a:tr>
              <a:tr h="307073">
                <a:tc>
                  <a:txBody>
                    <a:bodyPr/>
                    <a:lstStyle/>
                    <a:p>
                      <a:pPr marL="0" marR="0">
                        <a:lnSpc>
                          <a:spcPct val="115000"/>
                        </a:lnSpc>
                        <a:spcBef>
                          <a:spcPts val="0"/>
                        </a:spcBef>
                        <a:spcAft>
                          <a:spcPts val="0"/>
                        </a:spcAft>
                      </a:pPr>
                      <a:r>
                        <a:rPr lang="en-US" sz="2000" b="0" dirty="0">
                          <a:effectLst/>
                        </a:rPr>
                        <a:t>Gramm-Leach-Bliley Act (GLBA)</a:t>
                      </a:r>
                      <a:endParaRPr lang="en-US" sz="2000" b="0" dirty="0">
                        <a:effectLst/>
                        <a:latin typeface="Calibri" panose="020F0502020204030204" pitchFamily="34" charset="0"/>
                        <a:ea typeface="Calibri" panose="020F0502020204030204" pitchFamily="34" charset="0"/>
                        <a:cs typeface="Times New Roman" panose="02020603050405020304" pitchFamily="18" charset="0"/>
                      </a:endParaRPr>
                    </a:p>
                  </a:txBody>
                  <a:tcPr marL="36260" marR="36260" marT="0" marB="0"/>
                </a:tc>
                <a:tc>
                  <a:txBody>
                    <a:bodyPr/>
                    <a:lstStyle/>
                    <a:p>
                      <a:pPr marL="0" marR="0">
                        <a:lnSpc>
                          <a:spcPct val="115000"/>
                        </a:lnSpc>
                        <a:spcBef>
                          <a:spcPts val="0"/>
                        </a:spcBef>
                        <a:spcAft>
                          <a:spcPts val="0"/>
                        </a:spcAft>
                      </a:pPr>
                      <a:r>
                        <a:rPr lang="en-US" sz="2000" dirty="0">
                          <a:effectLst/>
                        </a:rPr>
                        <a:t>Fair and Accurate Credit Transaction Act</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36260" marR="36260" marT="0" marB="0"/>
                </a:tc>
                <a:extLst>
                  <a:ext uri="{0D108BD9-81ED-4DB2-BD59-A6C34878D82A}">
                    <a16:rowId xmlns:a16="http://schemas.microsoft.com/office/drawing/2014/main" val="128411028"/>
                  </a:ext>
                </a:extLst>
              </a:tr>
              <a:tr h="615017">
                <a:tc>
                  <a:txBody>
                    <a:bodyPr/>
                    <a:lstStyle/>
                    <a:p>
                      <a:pPr marL="0" marR="0">
                        <a:lnSpc>
                          <a:spcPct val="107000"/>
                        </a:lnSpc>
                        <a:spcBef>
                          <a:spcPts val="0"/>
                        </a:spcBef>
                        <a:spcAft>
                          <a:spcPts val="0"/>
                        </a:spcAft>
                      </a:pPr>
                      <a:r>
                        <a:rPr lang="en-US" sz="2000" b="0" dirty="0">
                          <a:effectLst/>
                        </a:rPr>
                        <a:t>Health Insurance Portability and Accountability Act (HIPAA)</a:t>
                      </a:r>
                      <a:endParaRPr lang="en-US" sz="2000" b="0" dirty="0">
                        <a:effectLst/>
                        <a:latin typeface="Calibri" panose="020F0502020204030204" pitchFamily="34" charset="0"/>
                        <a:ea typeface="Calibri" panose="020F0502020204030204" pitchFamily="34" charset="0"/>
                        <a:cs typeface="Times New Roman" panose="02020603050405020304" pitchFamily="18" charset="0"/>
                      </a:endParaRPr>
                    </a:p>
                  </a:txBody>
                  <a:tcPr marL="36260" marR="36260" marT="0" marB="0"/>
                </a:tc>
                <a:tc>
                  <a:txBody>
                    <a:bodyPr/>
                    <a:lstStyle/>
                    <a:p>
                      <a:pPr marL="0" marR="0">
                        <a:lnSpc>
                          <a:spcPct val="115000"/>
                        </a:lnSpc>
                        <a:spcBef>
                          <a:spcPts val="0"/>
                        </a:spcBef>
                        <a:spcAft>
                          <a:spcPts val="0"/>
                        </a:spcAft>
                      </a:pPr>
                      <a:r>
                        <a:rPr lang="en-US" sz="2000" dirty="0">
                          <a:effectLst/>
                        </a:rPr>
                        <a:t>American Recovery and Reinvestment Act EHR provisions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36260" marR="36260" marT="0" marB="0"/>
                </a:tc>
                <a:extLst>
                  <a:ext uri="{0D108BD9-81ED-4DB2-BD59-A6C34878D82A}">
                    <a16:rowId xmlns:a16="http://schemas.microsoft.com/office/drawing/2014/main" val="3740520892"/>
                  </a:ext>
                </a:extLst>
              </a:tr>
              <a:tr h="615017">
                <a:tc>
                  <a:txBody>
                    <a:bodyPr/>
                    <a:lstStyle/>
                    <a:p>
                      <a:pPr marL="0" marR="0">
                        <a:lnSpc>
                          <a:spcPct val="115000"/>
                        </a:lnSpc>
                        <a:spcBef>
                          <a:spcPts val="0"/>
                        </a:spcBef>
                        <a:spcAft>
                          <a:spcPts val="0"/>
                        </a:spcAft>
                      </a:pPr>
                      <a:r>
                        <a:rPr lang="en-US" sz="2000" b="0" dirty="0">
                          <a:effectLst/>
                        </a:rPr>
                        <a:t>Family Educational Rights and Privacy Act (FERPA) </a:t>
                      </a:r>
                      <a:endParaRPr lang="en-US" sz="2000" b="0" dirty="0">
                        <a:effectLst/>
                        <a:latin typeface="Calibri" panose="020F0502020204030204" pitchFamily="34" charset="0"/>
                        <a:ea typeface="Calibri" panose="020F0502020204030204" pitchFamily="34" charset="0"/>
                        <a:cs typeface="Times New Roman" panose="02020603050405020304" pitchFamily="18" charset="0"/>
                      </a:endParaRPr>
                    </a:p>
                  </a:txBody>
                  <a:tcPr marL="36260" marR="36260" marT="0" marB="0"/>
                </a:tc>
                <a:tc>
                  <a:txBody>
                    <a:bodyPr/>
                    <a:lstStyle/>
                    <a:p>
                      <a:pPr marL="0" marR="0">
                        <a:lnSpc>
                          <a:spcPct val="115000"/>
                        </a:lnSpc>
                        <a:spcBef>
                          <a:spcPts val="0"/>
                        </a:spcBef>
                        <a:spcAft>
                          <a:spcPts val="0"/>
                        </a:spcAft>
                      </a:pPr>
                      <a:r>
                        <a:rPr lang="en-US" sz="2000" dirty="0">
                          <a:effectLst/>
                        </a:rPr>
                        <a:t>Children’s Online Privacy Protection Act (COPPA)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36260" marR="36260" marT="0" marB="0"/>
                </a:tc>
                <a:extLst>
                  <a:ext uri="{0D108BD9-81ED-4DB2-BD59-A6C34878D82A}">
                    <a16:rowId xmlns:a16="http://schemas.microsoft.com/office/drawing/2014/main" val="3136060608"/>
                  </a:ext>
                </a:extLst>
              </a:tr>
              <a:tr h="615017">
                <a:tc>
                  <a:txBody>
                    <a:bodyPr/>
                    <a:lstStyle/>
                    <a:p>
                      <a:pPr marL="0" marR="0">
                        <a:lnSpc>
                          <a:spcPct val="115000"/>
                        </a:lnSpc>
                        <a:spcBef>
                          <a:spcPts val="0"/>
                        </a:spcBef>
                        <a:spcAft>
                          <a:spcPts val="0"/>
                        </a:spcAft>
                      </a:pPr>
                      <a:r>
                        <a:rPr lang="en-US" sz="2000" b="0" dirty="0">
                          <a:effectLst/>
                        </a:rPr>
                        <a:t>Title III of the Omnibus Crime Control and Safe Streets Act (the Wiretap Act)</a:t>
                      </a:r>
                      <a:endParaRPr lang="en-US" sz="2000" b="0" dirty="0">
                        <a:effectLst/>
                        <a:latin typeface="Calibri" panose="020F0502020204030204" pitchFamily="34" charset="0"/>
                        <a:ea typeface="Calibri" panose="020F0502020204030204" pitchFamily="34" charset="0"/>
                        <a:cs typeface="Times New Roman" panose="02020603050405020304" pitchFamily="18" charset="0"/>
                      </a:endParaRPr>
                    </a:p>
                  </a:txBody>
                  <a:tcPr marL="36260" marR="36260" marT="0" marB="0"/>
                </a:tc>
                <a:tc>
                  <a:txBody>
                    <a:bodyPr/>
                    <a:lstStyle/>
                    <a:p>
                      <a:pPr marL="0" marR="0">
                        <a:lnSpc>
                          <a:spcPct val="115000"/>
                        </a:lnSpc>
                        <a:spcBef>
                          <a:spcPts val="0"/>
                        </a:spcBef>
                        <a:spcAft>
                          <a:spcPts val="0"/>
                        </a:spcAft>
                      </a:pPr>
                      <a:r>
                        <a:rPr lang="en-US" sz="2000" dirty="0">
                          <a:effectLst/>
                        </a:rPr>
                        <a:t>Foreign Intelligence Surveillance Act</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36260" marR="36260" marT="0" marB="0"/>
                </a:tc>
                <a:extLst>
                  <a:ext uri="{0D108BD9-81ED-4DB2-BD59-A6C34878D82A}">
                    <a16:rowId xmlns:a16="http://schemas.microsoft.com/office/drawing/2014/main" val="1966039650"/>
                  </a:ext>
                </a:extLst>
              </a:tr>
              <a:tr h="307073">
                <a:tc>
                  <a:txBody>
                    <a:bodyPr/>
                    <a:lstStyle/>
                    <a:p>
                      <a:pPr marL="0" marR="0">
                        <a:lnSpc>
                          <a:spcPct val="115000"/>
                        </a:lnSpc>
                        <a:spcBef>
                          <a:spcPts val="0"/>
                        </a:spcBef>
                        <a:spcAft>
                          <a:spcPts val="0"/>
                        </a:spcAft>
                      </a:pPr>
                      <a:r>
                        <a:rPr lang="en-US" sz="2000" b="0" dirty="0">
                          <a:effectLst/>
                        </a:rPr>
                        <a:t>Executive Order 12333 </a:t>
                      </a:r>
                      <a:endParaRPr lang="en-US" sz="2000" b="0" dirty="0">
                        <a:effectLst/>
                        <a:latin typeface="Calibri" panose="020F0502020204030204" pitchFamily="34" charset="0"/>
                        <a:ea typeface="Calibri" panose="020F0502020204030204" pitchFamily="34" charset="0"/>
                        <a:cs typeface="Times New Roman" panose="02020603050405020304" pitchFamily="18" charset="0"/>
                      </a:endParaRPr>
                    </a:p>
                  </a:txBody>
                  <a:tcPr marL="36260" marR="36260" marT="0" marB="0"/>
                </a:tc>
                <a:tc>
                  <a:txBody>
                    <a:bodyPr/>
                    <a:lstStyle/>
                    <a:p>
                      <a:pPr marL="0" marR="0">
                        <a:lnSpc>
                          <a:spcPct val="115000"/>
                        </a:lnSpc>
                        <a:spcBef>
                          <a:spcPts val="0"/>
                        </a:spcBef>
                        <a:spcAft>
                          <a:spcPts val="0"/>
                        </a:spcAft>
                      </a:pPr>
                      <a:r>
                        <a:rPr lang="en-US" sz="2000" dirty="0">
                          <a:effectLst/>
                        </a:rPr>
                        <a:t>Electronic Communications Privacy Act (ECPA)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36260" marR="36260" marT="0" marB="0"/>
                </a:tc>
                <a:extLst>
                  <a:ext uri="{0D108BD9-81ED-4DB2-BD59-A6C34878D82A}">
                    <a16:rowId xmlns:a16="http://schemas.microsoft.com/office/drawing/2014/main" val="3743921821"/>
                  </a:ext>
                </a:extLst>
              </a:tr>
              <a:tr h="576565">
                <a:tc>
                  <a:txBody>
                    <a:bodyPr/>
                    <a:lstStyle/>
                    <a:p>
                      <a:pPr marL="0" marR="0">
                        <a:lnSpc>
                          <a:spcPct val="107000"/>
                        </a:lnSpc>
                        <a:spcBef>
                          <a:spcPts val="0"/>
                        </a:spcBef>
                        <a:spcAft>
                          <a:spcPts val="0"/>
                        </a:spcAft>
                      </a:pPr>
                      <a:r>
                        <a:rPr lang="en-US" sz="2000" b="0" dirty="0">
                          <a:effectLst/>
                        </a:rPr>
                        <a:t>Communications Assistance for Law Enforcement Act (CALEA) </a:t>
                      </a:r>
                      <a:endParaRPr lang="en-US" sz="2000" b="0" dirty="0">
                        <a:effectLst/>
                        <a:latin typeface="Calibri" panose="020F0502020204030204" pitchFamily="34" charset="0"/>
                        <a:ea typeface="Calibri" panose="020F0502020204030204" pitchFamily="34" charset="0"/>
                        <a:cs typeface="Times New Roman" panose="02020603050405020304" pitchFamily="18" charset="0"/>
                      </a:endParaRPr>
                    </a:p>
                  </a:txBody>
                  <a:tcPr marL="36260" marR="36260" marT="0" marB="0"/>
                </a:tc>
                <a:tc>
                  <a:txBody>
                    <a:bodyPr/>
                    <a:lstStyle/>
                    <a:p>
                      <a:pPr marL="0" marR="0">
                        <a:lnSpc>
                          <a:spcPct val="115000"/>
                        </a:lnSpc>
                        <a:spcBef>
                          <a:spcPts val="0"/>
                        </a:spcBef>
                        <a:spcAft>
                          <a:spcPts val="0"/>
                        </a:spcAft>
                      </a:pPr>
                      <a:r>
                        <a:rPr lang="en-US" sz="2000" dirty="0">
                          <a:effectLst/>
                        </a:rPr>
                        <a:t>USA PATRIOT Act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36260" marR="36260" marT="0" marB="0"/>
                </a:tc>
                <a:extLst>
                  <a:ext uri="{0D108BD9-81ED-4DB2-BD59-A6C34878D82A}">
                    <a16:rowId xmlns:a16="http://schemas.microsoft.com/office/drawing/2014/main" val="4194584113"/>
                  </a:ext>
                </a:extLst>
              </a:tr>
              <a:tr h="0">
                <a:tc>
                  <a:txBody>
                    <a:bodyPr/>
                    <a:lstStyle/>
                    <a:p>
                      <a:pPr marL="0" marR="0">
                        <a:lnSpc>
                          <a:spcPct val="115000"/>
                        </a:lnSpc>
                        <a:spcBef>
                          <a:spcPts val="0"/>
                        </a:spcBef>
                        <a:spcAft>
                          <a:spcPts val="0"/>
                        </a:spcAft>
                      </a:pPr>
                      <a:r>
                        <a:rPr lang="en-US" sz="2000" b="0" dirty="0">
                          <a:effectLst/>
                        </a:rPr>
                        <a:t>Foreign Intelligence Surveillance Act Amendments Acts of 2004</a:t>
                      </a:r>
                      <a:endParaRPr lang="en-US" sz="2000" b="0" dirty="0">
                        <a:effectLst/>
                        <a:latin typeface="Calibri" panose="020F0502020204030204" pitchFamily="34" charset="0"/>
                        <a:ea typeface="Calibri" panose="020F0502020204030204" pitchFamily="34" charset="0"/>
                        <a:cs typeface="Times New Roman" panose="02020603050405020304" pitchFamily="18" charset="0"/>
                      </a:endParaRPr>
                    </a:p>
                  </a:txBody>
                  <a:tcPr marL="36260" marR="36260" marT="0" marB="0"/>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2000" dirty="0">
                          <a:effectLst/>
                        </a:rPr>
                        <a:t>Foreign Intelligence Surveillance Act Amendments Acts of 2008</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36260" marR="36260" marT="0" marB="0"/>
                </a:tc>
                <a:extLst>
                  <a:ext uri="{0D108BD9-81ED-4DB2-BD59-A6C34878D82A}">
                    <a16:rowId xmlns:a16="http://schemas.microsoft.com/office/drawing/2014/main" val="2465762031"/>
                  </a:ext>
                </a:extLst>
              </a:tr>
              <a:tr h="307073">
                <a:tc>
                  <a:txBody>
                    <a:bodyPr/>
                    <a:lstStyle/>
                    <a:p>
                      <a:pPr marL="0" marR="0">
                        <a:lnSpc>
                          <a:spcPct val="115000"/>
                        </a:lnSpc>
                        <a:spcBef>
                          <a:spcPts val="0"/>
                        </a:spcBef>
                        <a:spcAft>
                          <a:spcPts val="0"/>
                        </a:spcAft>
                      </a:pPr>
                      <a:r>
                        <a:rPr lang="en-US" sz="2000" b="0" dirty="0">
                          <a:effectLst/>
                        </a:rPr>
                        <a:t>USA Freedom Act </a:t>
                      </a:r>
                      <a:endParaRPr lang="en-US" sz="2000" b="0" dirty="0">
                        <a:effectLst/>
                        <a:latin typeface="Calibri" panose="020F0502020204030204" pitchFamily="34" charset="0"/>
                        <a:ea typeface="Calibri" panose="020F0502020204030204" pitchFamily="34" charset="0"/>
                        <a:cs typeface="Times New Roman" panose="02020603050405020304" pitchFamily="18" charset="0"/>
                      </a:endParaRPr>
                    </a:p>
                  </a:txBody>
                  <a:tcPr marL="36260" marR="36260" marT="0" marB="0"/>
                </a:tc>
                <a:tc>
                  <a:txBody>
                    <a:bodyPr/>
                    <a:lstStyle/>
                    <a:p>
                      <a:pPr marL="0" marR="0">
                        <a:lnSpc>
                          <a:spcPct val="115000"/>
                        </a:lnSpc>
                        <a:spcBef>
                          <a:spcPts val="0"/>
                        </a:spcBef>
                        <a:spcAft>
                          <a:spcPts val="0"/>
                        </a:spcAft>
                      </a:pPr>
                      <a:r>
                        <a:rPr lang="en-US" sz="700" dirty="0">
                          <a:effectLst/>
                        </a:rPr>
                        <a:t> </a:t>
                      </a:r>
                      <a:r>
                        <a:rPr lang="en-US" sz="2000" kern="1200" dirty="0">
                          <a:solidFill>
                            <a:schemeClr val="dk1"/>
                          </a:solidFill>
                          <a:effectLst/>
                          <a:latin typeface="+mn-lt"/>
                          <a:ea typeface="+mn-ea"/>
                          <a:cs typeface="+mn-cs"/>
                        </a:rPr>
                        <a:t>PATRIOT Sunsets Extension Act</a:t>
                      </a:r>
                      <a:endParaRPr lang="en-US" sz="700" dirty="0">
                        <a:effectLst/>
                        <a:latin typeface="Calibri" panose="020F0502020204030204" pitchFamily="34" charset="0"/>
                        <a:ea typeface="Calibri" panose="020F0502020204030204" pitchFamily="34" charset="0"/>
                        <a:cs typeface="Times New Roman" panose="02020603050405020304" pitchFamily="18" charset="0"/>
                      </a:endParaRPr>
                    </a:p>
                  </a:txBody>
                  <a:tcPr marL="36260" marR="36260" marT="0" marB="0"/>
                </a:tc>
                <a:extLst>
                  <a:ext uri="{0D108BD9-81ED-4DB2-BD59-A6C34878D82A}">
                    <a16:rowId xmlns:a16="http://schemas.microsoft.com/office/drawing/2014/main" val="1253960122"/>
                  </a:ext>
                </a:extLst>
              </a:tr>
            </a:tbl>
          </a:graphicData>
        </a:graphic>
      </p:graphicFrame>
    </p:spTree>
    <p:extLst>
      <p:ext uri="{BB962C8B-B14F-4D97-AF65-F5344CB8AC3E}">
        <p14:creationId xmlns:p14="http://schemas.microsoft.com/office/powerpoint/2010/main" val="25819460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46062" y="990600"/>
            <a:ext cx="8542338" cy="5563061"/>
          </a:xfrm>
        </p:spPr>
        <p:txBody>
          <a:bodyPr/>
          <a:lstStyle/>
          <a:p>
            <a:pPr>
              <a:spcBef>
                <a:spcPts val="600"/>
              </a:spcBef>
            </a:pPr>
            <a:r>
              <a:rPr lang="en-US" sz="2700" b="1" dirty="0"/>
              <a:t>What are some of the laws that provide protection for the privacy of personal data, and what are some of the associated ethical issues?</a:t>
            </a:r>
          </a:p>
          <a:p>
            <a:pPr lvl="1">
              <a:spcBef>
                <a:spcPts val="200"/>
              </a:spcBef>
              <a:buClr>
                <a:schemeClr val="accent2"/>
              </a:buClr>
            </a:pPr>
            <a:r>
              <a:rPr lang="en-US" sz="2600" dirty="0"/>
              <a:t>Fair information practices: Govern the collection and use of personal data</a:t>
            </a:r>
          </a:p>
          <a:p>
            <a:pPr lvl="1">
              <a:spcBef>
                <a:spcPts val="200"/>
              </a:spcBef>
              <a:buClr>
                <a:schemeClr val="accent2"/>
              </a:buClr>
            </a:pPr>
            <a:r>
              <a:rPr lang="en-US" sz="2600" dirty="0"/>
              <a:t>OECD’s fair information practices: Held up as the model for organizations to adopt for the ethical treatment of consumer data</a:t>
            </a:r>
          </a:p>
          <a:p>
            <a:pPr lvl="1">
              <a:spcBef>
                <a:spcPts val="200"/>
              </a:spcBef>
              <a:buClr>
                <a:schemeClr val="accent2"/>
              </a:buClr>
            </a:pPr>
            <a:r>
              <a:rPr lang="en-US" sz="2600" dirty="0"/>
              <a:t>The EU Data Protection Directive: Requires member countries to ensure data transferred to non-EU countries </a:t>
            </a:r>
            <a:br>
              <a:rPr lang="en-US" sz="2600" dirty="0"/>
            </a:br>
            <a:r>
              <a:rPr lang="en-US" sz="2600" dirty="0"/>
              <a:t>is protected</a:t>
            </a:r>
          </a:p>
          <a:p>
            <a:pPr lvl="1">
              <a:spcBef>
                <a:spcPts val="200"/>
              </a:spcBef>
              <a:buClr>
                <a:schemeClr val="accent2"/>
              </a:buClr>
            </a:pPr>
            <a:r>
              <a:rPr lang="en-US" sz="2600" dirty="0"/>
              <a:t>The European–U.S. Privacy Shield Data Transfer Program Guidelines: A stopgap measure that allows businesses to transfer personal data about EU citizens to the U.S. </a:t>
            </a:r>
            <a:endParaRPr lang="en-US" sz="2800" b="1" dirty="0"/>
          </a:p>
        </p:txBody>
      </p:sp>
      <p:sp>
        <p:nvSpPr>
          <p:cNvPr id="3" name="Title 2"/>
          <p:cNvSpPr>
            <a:spLocks noGrp="1"/>
          </p:cNvSpPr>
          <p:nvPr>
            <p:ph type="title"/>
          </p:nvPr>
        </p:nvSpPr>
        <p:spPr>
          <a:xfrm>
            <a:off x="762000" y="290459"/>
            <a:ext cx="8026400" cy="527837"/>
          </a:xfrm>
        </p:spPr>
        <p:txBody>
          <a:bodyPr/>
          <a:lstStyle/>
          <a:p>
            <a:r>
              <a:rPr lang="en-US" sz="4000" dirty="0"/>
              <a:t>Summary, Part 4</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958479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46062" y="1143000"/>
            <a:ext cx="8542338" cy="5366084"/>
          </a:xfrm>
        </p:spPr>
        <p:txBody>
          <a:bodyPr/>
          <a:lstStyle/>
          <a:p>
            <a:pPr>
              <a:spcBef>
                <a:spcPts val="600"/>
              </a:spcBef>
            </a:pPr>
            <a:r>
              <a:rPr lang="en-US" sz="2800" b="1" dirty="0"/>
              <a:t>What are some of the laws that provide protection for the privacy of personal data, and what are some of the associated ethical issues?</a:t>
            </a:r>
          </a:p>
          <a:p>
            <a:pPr lvl="1">
              <a:buClr>
                <a:schemeClr val="accent2"/>
              </a:buClr>
            </a:pPr>
            <a:r>
              <a:rPr lang="en-US" sz="2600" dirty="0"/>
              <a:t>The General Data Protection Regulation (GDPR): Takes effect in May 2018 and addresses the export of personal data outside the EU</a:t>
            </a:r>
          </a:p>
          <a:p>
            <a:pPr lvl="1">
              <a:buClr>
                <a:schemeClr val="accent2"/>
              </a:buClr>
            </a:pPr>
            <a:r>
              <a:rPr lang="en-US" sz="2600" dirty="0"/>
              <a:t>The Freedom of Information Act (FOIA): Grants citizens the right to access certain information and records of the federal, state, and local governments upon request</a:t>
            </a:r>
          </a:p>
          <a:p>
            <a:pPr lvl="1">
              <a:buClr>
                <a:schemeClr val="accent2"/>
              </a:buClr>
            </a:pPr>
            <a:r>
              <a:rPr lang="en-US" sz="2600" dirty="0"/>
              <a:t>The Privacy Act: Prohibits U.S. government agencies from concealing the existence of any personal data record-keeping system</a:t>
            </a:r>
          </a:p>
          <a:p>
            <a:pPr>
              <a:spcBef>
                <a:spcPts val="600"/>
              </a:spcBef>
            </a:pPr>
            <a:endParaRPr lang="en-US" sz="2800" b="1" dirty="0"/>
          </a:p>
        </p:txBody>
      </p:sp>
      <p:sp>
        <p:nvSpPr>
          <p:cNvPr id="3" name="Title 2"/>
          <p:cNvSpPr>
            <a:spLocks noGrp="1"/>
          </p:cNvSpPr>
          <p:nvPr>
            <p:ph type="title"/>
          </p:nvPr>
        </p:nvSpPr>
        <p:spPr>
          <a:xfrm>
            <a:off x="762000" y="290459"/>
            <a:ext cx="8026400" cy="527837"/>
          </a:xfrm>
        </p:spPr>
        <p:txBody>
          <a:bodyPr/>
          <a:lstStyle/>
          <a:p>
            <a:r>
              <a:rPr lang="en-US" sz="4000" dirty="0"/>
              <a:t>Summary, Part 5</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0971623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46062" y="1143000"/>
            <a:ext cx="8542338" cy="5413790"/>
          </a:xfrm>
        </p:spPr>
        <p:txBody>
          <a:bodyPr/>
          <a:lstStyle/>
          <a:p>
            <a:pPr>
              <a:spcBef>
                <a:spcPts val="600"/>
              </a:spcBef>
            </a:pPr>
            <a:r>
              <a:rPr lang="en-US" sz="2800" b="1" dirty="0"/>
              <a:t>What are the various strategies for consumer profiling, and what are the associated ethical issues?</a:t>
            </a:r>
          </a:p>
          <a:p>
            <a:pPr lvl="1">
              <a:buClr>
                <a:schemeClr val="accent2"/>
              </a:buClr>
            </a:pPr>
            <a:r>
              <a:rPr lang="en-US" sz="2600" dirty="0"/>
              <a:t>Companies use different methods to collect personal data about visitors to their websites, including using cookies and tracking software.</a:t>
            </a:r>
          </a:p>
          <a:p>
            <a:pPr lvl="1">
              <a:buClr>
                <a:schemeClr val="accent2"/>
              </a:buClr>
            </a:pPr>
            <a:r>
              <a:rPr lang="en-US" sz="2600" dirty="0"/>
              <a:t>Companies that cannot protect or do not respect customer information have lost business and have become defendants in class actions stemming from privacy violations.</a:t>
            </a:r>
          </a:p>
          <a:p>
            <a:pPr lvl="1">
              <a:buClr>
                <a:schemeClr val="accent2"/>
              </a:buClr>
            </a:pPr>
            <a:r>
              <a:rPr lang="en-US" sz="2600" dirty="0"/>
              <a:t>Data breach: The unintended release of sensitive data or </a:t>
            </a:r>
            <a:br>
              <a:rPr lang="en-US" sz="2600" dirty="0"/>
            </a:br>
            <a:r>
              <a:rPr lang="en-US" sz="2600" dirty="0"/>
              <a:t>the access of sensitive data by unauthorized individuals</a:t>
            </a:r>
          </a:p>
          <a:p>
            <a:pPr lvl="2"/>
            <a:r>
              <a:rPr lang="en-US" sz="2400" dirty="0"/>
              <a:t>Some states have passed data breach notifications laws requiring companies to quickly notify affected customers.</a:t>
            </a:r>
          </a:p>
          <a:p>
            <a:pPr>
              <a:spcBef>
                <a:spcPts val="600"/>
              </a:spcBef>
            </a:pPr>
            <a:endParaRPr lang="en-US" sz="2800" b="1" dirty="0"/>
          </a:p>
        </p:txBody>
      </p:sp>
      <p:sp>
        <p:nvSpPr>
          <p:cNvPr id="3" name="Title 2"/>
          <p:cNvSpPr>
            <a:spLocks noGrp="1"/>
          </p:cNvSpPr>
          <p:nvPr>
            <p:ph type="title"/>
          </p:nvPr>
        </p:nvSpPr>
        <p:spPr>
          <a:xfrm>
            <a:off x="762000" y="290459"/>
            <a:ext cx="8026400" cy="527837"/>
          </a:xfrm>
        </p:spPr>
        <p:txBody>
          <a:bodyPr/>
          <a:lstStyle/>
          <a:p>
            <a:r>
              <a:rPr lang="en-US" sz="4000" dirty="0"/>
              <a:t>Summary, Part 6</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66471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46062" y="1371600"/>
            <a:ext cx="8542338" cy="3407087"/>
          </a:xfrm>
        </p:spPr>
        <p:txBody>
          <a:bodyPr/>
          <a:lstStyle/>
          <a:p>
            <a:pPr>
              <a:spcBef>
                <a:spcPts val="600"/>
              </a:spcBef>
            </a:pPr>
            <a:r>
              <a:rPr lang="en-US" sz="2800" b="1" dirty="0"/>
              <a:t>What is e-discovery, and how is it being used?</a:t>
            </a:r>
          </a:p>
          <a:p>
            <a:pPr lvl="1">
              <a:buClr>
                <a:schemeClr val="accent2"/>
              </a:buClr>
            </a:pPr>
            <a:r>
              <a:rPr lang="en-US" sz="2600" dirty="0"/>
              <a:t>E-discovery: The collection, preparation, review, and production of electronically stored information for use in criminal and civil actions</a:t>
            </a:r>
          </a:p>
          <a:p>
            <a:pPr lvl="1">
              <a:buClr>
                <a:schemeClr val="accent2"/>
              </a:buClr>
            </a:pPr>
            <a:r>
              <a:rPr lang="en-US" sz="2600" dirty="0"/>
              <a:t>Predictive coding: Couples human intelligence with computer-driven concept searching in order to “train” document review software to recognize relevant documents</a:t>
            </a:r>
          </a:p>
          <a:p>
            <a:pPr>
              <a:spcBef>
                <a:spcPts val="600"/>
              </a:spcBef>
            </a:pPr>
            <a:endParaRPr lang="en-US" sz="2800" b="1" dirty="0"/>
          </a:p>
        </p:txBody>
      </p:sp>
      <p:sp>
        <p:nvSpPr>
          <p:cNvPr id="3" name="Title 2"/>
          <p:cNvSpPr>
            <a:spLocks noGrp="1"/>
          </p:cNvSpPr>
          <p:nvPr>
            <p:ph type="title"/>
          </p:nvPr>
        </p:nvSpPr>
        <p:spPr>
          <a:xfrm>
            <a:off x="762000" y="290459"/>
            <a:ext cx="8026400" cy="527837"/>
          </a:xfrm>
        </p:spPr>
        <p:txBody>
          <a:bodyPr/>
          <a:lstStyle/>
          <a:p>
            <a:r>
              <a:rPr lang="en-US" sz="4000" dirty="0"/>
              <a:t>Summary, Part 7</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838515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46062" y="1371600"/>
            <a:ext cx="8542338" cy="5033686"/>
          </a:xfrm>
        </p:spPr>
        <p:txBody>
          <a:bodyPr/>
          <a:lstStyle/>
          <a:p>
            <a:pPr>
              <a:spcBef>
                <a:spcPts val="600"/>
              </a:spcBef>
            </a:pPr>
            <a:r>
              <a:rPr lang="en-US" sz="2800" b="1" dirty="0"/>
              <a:t>Why and how are employers increasingly using workplace monitoring?</a:t>
            </a:r>
          </a:p>
          <a:p>
            <a:pPr lvl="1">
              <a:buClr>
                <a:schemeClr val="accent2"/>
              </a:buClr>
            </a:pPr>
            <a:r>
              <a:rPr lang="en-US" sz="2600" dirty="0"/>
              <a:t>Many organizations have developed IT usage policies to protect against employee abuses that reduce worker productivity and expose employers to harassment lawsuits.</a:t>
            </a:r>
          </a:p>
          <a:p>
            <a:pPr lvl="1">
              <a:buClr>
                <a:schemeClr val="accent2"/>
              </a:buClr>
            </a:pPr>
            <a:r>
              <a:rPr lang="en-US" sz="2600" dirty="0"/>
              <a:t>About 80 percent of U.S. firms record and review employee communications and activities on the job, including phone calls, email, web surfing, and computer files.</a:t>
            </a:r>
          </a:p>
          <a:p>
            <a:pPr lvl="1">
              <a:buClr>
                <a:schemeClr val="accent2"/>
              </a:buClr>
            </a:pPr>
            <a:r>
              <a:rPr lang="en-US" sz="2600" dirty="0"/>
              <a:t>The use of fitness trackers in the workplace has opened up potential new legal and ethical issues.</a:t>
            </a:r>
          </a:p>
          <a:p>
            <a:pPr lvl="1"/>
            <a:endParaRPr lang="en-US" sz="2600" dirty="0"/>
          </a:p>
          <a:p>
            <a:pPr>
              <a:spcBef>
                <a:spcPts val="600"/>
              </a:spcBef>
            </a:pPr>
            <a:endParaRPr lang="en-US" sz="2800" b="1" dirty="0"/>
          </a:p>
        </p:txBody>
      </p:sp>
      <p:sp>
        <p:nvSpPr>
          <p:cNvPr id="3" name="Title 2"/>
          <p:cNvSpPr>
            <a:spLocks noGrp="1"/>
          </p:cNvSpPr>
          <p:nvPr>
            <p:ph type="title"/>
          </p:nvPr>
        </p:nvSpPr>
        <p:spPr>
          <a:xfrm>
            <a:off x="762000" y="290459"/>
            <a:ext cx="8026400" cy="527837"/>
          </a:xfrm>
        </p:spPr>
        <p:txBody>
          <a:bodyPr/>
          <a:lstStyle/>
          <a:p>
            <a:r>
              <a:rPr lang="en-US" sz="4000" dirty="0"/>
              <a:t>Summary, Part 8</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7821325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46062" y="1066800"/>
            <a:ext cx="8542338" cy="5732338"/>
          </a:xfrm>
        </p:spPr>
        <p:txBody>
          <a:bodyPr/>
          <a:lstStyle/>
          <a:p>
            <a:pPr>
              <a:spcBef>
                <a:spcPts val="600"/>
              </a:spcBef>
            </a:pPr>
            <a:r>
              <a:rPr lang="en-US" sz="2800" b="1" dirty="0"/>
              <a:t>What are the capabilities of advanced surveillance technologies, and what ethical issues do they raise?</a:t>
            </a:r>
          </a:p>
          <a:p>
            <a:pPr lvl="1">
              <a:buClr>
                <a:schemeClr val="accent2"/>
              </a:buClr>
            </a:pPr>
            <a:r>
              <a:rPr lang="en-US" sz="2600" dirty="0"/>
              <a:t>Surveillance cameras are used in major cities around the world to deter crime and terrorist activities. </a:t>
            </a:r>
          </a:p>
          <a:p>
            <a:pPr lvl="1">
              <a:buClr>
                <a:schemeClr val="accent2"/>
              </a:buClr>
            </a:pPr>
            <a:r>
              <a:rPr lang="en-US" sz="2600" dirty="0"/>
              <a:t>A vehicle event data recorder</a:t>
            </a:r>
            <a:r>
              <a:rPr lang="en-US" sz="2600" b="1" dirty="0"/>
              <a:t> </a:t>
            </a:r>
            <a:r>
              <a:rPr lang="en-US" sz="2600" dirty="0"/>
              <a:t>(EDR): Records data for </a:t>
            </a:r>
            <a:br>
              <a:rPr lang="en-US" sz="2600" dirty="0"/>
            </a:br>
            <a:r>
              <a:rPr lang="en-US" sz="2600" dirty="0"/>
              <a:t>a few seconds before, during, and after any vehicle crash that is severe enough to deploy the vehicle’s air bags</a:t>
            </a:r>
          </a:p>
          <a:p>
            <a:pPr lvl="2"/>
            <a:r>
              <a:rPr lang="en-US" sz="2400" dirty="0"/>
              <a:t>Many people are unaware that most cars now come equipped with an EDR and that the data from this device may be used as evidence in court.</a:t>
            </a:r>
          </a:p>
          <a:p>
            <a:pPr lvl="1">
              <a:buClr>
                <a:schemeClr val="accent2"/>
              </a:buClr>
            </a:pPr>
            <a:r>
              <a:rPr lang="en-US" sz="2600" dirty="0"/>
              <a:t>Stalking apps can be downloaded onto a person’s cell phone; it is illegal to do so without the permission of the phone’s owner.</a:t>
            </a:r>
          </a:p>
          <a:p>
            <a:pPr>
              <a:spcBef>
                <a:spcPts val="600"/>
              </a:spcBef>
            </a:pPr>
            <a:endParaRPr lang="en-US" sz="2800" b="1" dirty="0"/>
          </a:p>
        </p:txBody>
      </p:sp>
      <p:sp>
        <p:nvSpPr>
          <p:cNvPr id="3" name="Title 2"/>
          <p:cNvSpPr>
            <a:spLocks noGrp="1"/>
          </p:cNvSpPr>
          <p:nvPr>
            <p:ph type="title"/>
          </p:nvPr>
        </p:nvSpPr>
        <p:spPr>
          <a:xfrm>
            <a:off x="762000" y="290459"/>
            <a:ext cx="8026400" cy="527837"/>
          </a:xfrm>
        </p:spPr>
        <p:txBody>
          <a:bodyPr/>
          <a:lstStyle/>
          <a:p>
            <a:r>
              <a:rPr lang="en-US" sz="4000" dirty="0"/>
              <a:t>Summary, Part 9</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036763653"/>
      </p:ext>
    </p:extLst>
  </p:cSld>
  <p:clrMapOvr>
    <a:masterClrMapping/>
  </p:clrMapOvr>
</p:sld>
</file>

<file path=ppt/theme/theme1.xml><?xml version="1.0" encoding="utf-8"?>
<a:theme xmlns:a="http://schemas.openxmlformats.org/drawingml/2006/main" name="Office Theme">
  <a:themeElements>
    <a:clrScheme name="Cengage">
      <a:dk1>
        <a:srgbClr val="000000"/>
      </a:dk1>
      <a:lt1>
        <a:srgbClr val="FFFFFF"/>
      </a:lt1>
      <a:dk2>
        <a:srgbClr val="000000"/>
      </a:dk2>
      <a:lt2>
        <a:srgbClr val="AAAEB4"/>
      </a:lt2>
      <a:accent1>
        <a:srgbClr val="0D3857"/>
      </a:accent1>
      <a:accent2>
        <a:srgbClr val="055C91"/>
      </a:accent2>
      <a:accent3>
        <a:srgbClr val="81C0DA"/>
      </a:accent3>
      <a:accent4>
        <a:srgbClr val="B0D3DF"/>
      </a:accent4>
      <a:accent5>
        <a:srgbClr val="E0DCCD"/>
      </a:accent5>
      <a:accent6>
        <a:srgbClr val="7C7666"/>
      </a:accent6>
      <a:hlink>
        <a:srgbClr val="055C91"/>
      </a:hlink>
      <a:folHlink>
        <a:srgbClr val="81C0DA"/>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5754</TotalTime>
  <Words>4919</Words>
  <Application>Microsoft Office PowerPoint</Application>
  <PresentationFormat>On-screen Show (4:3)</PresentationFormat>
  <Paragraphs>266</Paragraphs>
  <Slides>42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Arial</vt:lpstr>
      <vt:lpstr>Calibri</vt:lpstr>
      <vt:lpstr>Calibri Light</vt:lpstr>
      <vt:lpstr>Times New Roman</vt:lpstr>
      <vt:lpstr>Office Theme</vt:lpstr>
      <vt:lpstr>Ethics in Information Technology</vt:lpstr>
      <vt:lpstr>Learning Objectives, Part 1</vt:lpstr>
      <vt:lpstr>Learning Objectives, Part 2</vt:lpstr>
      <vt:lpstr>Organizations Gather Personal Data to Make Better Decisions</vt:lpstr>
      <vt:lpstr>Privacy Protection and the Law</vt:lpstr>
      <vt:lpstr>Information Privacy</vt:lpstr>
      <vt:lpstr>Privacy Laws, Applications, and Court Rulings:  Financial Data, Part 1</vt:lpstr>
      <vt:lpstr>Privacy Laws, Applications, and Court Rulings:  Financial Data, Part 2</vt:lpstr>
      <vt:lpstr>Privacy Laws, Applications, and Court Rulings:  Financial Data, Part 3</vt:lpstr>
      <vt:lpstr>Privacy Laws, Applications, and Court Rulings:  Health Information</vt:lpstr>
      <vt:lpstr>Privacy Laws, Applications, and Court Rulings:  Children’s Personal Data</vt:lpstr>
      <vt:lpstr>Privacy Laws, Applications, and Court Rulings:  Electronic Surveillance—Timeline </vt:lpstr>
      <vt:lpstr>Privacy Laws, Applications, and Court Rulings:  Electronic Surveillance, Part 1 </vt:lpstr>
      <vt:lpstr>Privacy Laws, Applications, and Court Rulings:  Electronic Surveillance, Part 2 </vt:lpstr>
      <vt:lpstr>Privacy Laws, Applications, and Court Rulings:  Electronic Surveillance, Part 3 </vt:lpstr>
      <vt:lpstr>Privacy Laws, Applications, and Court Rulings:  Electronic Surveillance, Part 4 </vt:lpstr>
      <vt:lpstr>Privacy Laws, Applications, and Court Rulings:  Electronic Surveillance, Part 5 </vt:lpstr>
      <vt:lpstr>Privacy Laws, Applications, and Court Rulings:  Electronic Surveillance, Part 6</vt:lpstr>
      <vt:lpstr>Privacy Laws, Applications, and Court Rulings:  Electronic Surveillance, Part 7</vt:lpstr>
      <vt:lpstr>Privacy Laws, Applications, and Court Rulings:  Electronic Surveillance, Part 8</vt:lpstr>
      <vt:lpstr>Privacy Laws, Applications, and Court Rulings:  Electronic Surveillance, Part 9</vt:lpstr>
      <vt:lpstr>Privacy Laws, Applications, and Court Rulings:  Fair Information Practices, Part 1</vt:lpstr>
      <vt:lpstr>Privacy Laws, Applications, and Court Rulings:  Fair Information Practices, Part 2</vt:lpstr>
      <vt:lpstr>Privacy Laws, Applications, and Court Rulings:  Fair Information Practices, Part 3</vt:lpstr>
      <vt:lpstr>Privacy Laws, Applications, and Court Rulings:  Fair Information Practices, Part 4</vt:lpstr>
      <vt:lpstr>Privacy Laws, Applications, and Court Rulings:  Access to Government Records</vt:lpstr>
      <vt:lpstr>Key Privacy and Anonymity Issues:  Consumer Profiling, Part 1</vt:lpstr>
      <vt:lpstr>Key Privacy and Anonymity Issues:  Consumer Profiling, Part 2</vt:lpstr>
      <vt:lpstr>Key Privacy and Anonymity Issues: Electronic Discovery</vt:lpstr>
      <vt:lpstr>Key Privacy and Anonymity Issues: Workplace Monitoring</vt:lpstr>
      <vt:lpstr>Key Privacy and Anonymity Issues: Advanced Surveillance Technology, Part 1</vt:lpstr>
      <vt:lpstr>Key Privacy and Anonymity Issues: Advanced Surveillance Technology, Part 2</vt:lpstr>
      <vt:lpstr>Key Privacy and Anonymity Issues: Advanced Surveillance Technology, Part 3</vt:lpstr>
      <vt:lpstr>Summary, Part 1</vt:lpstr>
      <vt:lpstr>Summary, Part 2</vt:lpstr>
      <vt:lpstr>Summary, Part 3</vt:lpstr>
      <vt:lpstr>Summary, Part 4</vt:lpstr>
      <vt:lpstr>Summary, Part 5</vt:lpstr>
      <vt:lpstr>Summary, Part 6</vt:lpstr>
      <vt:lpstr>Summary, Part 7</vt:lpstr>
      <vt:lpstr>Summary, Part 8</vt:lpstr>
      <vt:lpstr>Summary, Part 9</vt:lpstr>
    </vt:vector>
  </TitlesOfParts>
  <Company>Course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Author</dc:creator>
  <cp:lastModifiedBy>Mary Pat Shaffer</cp:lastModifiedBy>
  <cp:revision>343</cp:revision>
  <cp:lastPrinted>2010-11-12T17:54:40Z</cp:lastPrinted>
  <dcterms:created xsi:type="dcterms:W3CDTF">2007-02-15T20:50:52Z</dcterms:created>
  <dcterms:modified xsi:type="dcterms:W3CDTF">2017-08-17T01:53:26Z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1933890983</vt:i4>
  </property>
  <property fmtid="{D5CDD505-2E9C-101B-9397-08002B2CF9AE}" pid="3" name="_NewReviewCycle">
    <vt:lpwstr/>
  </property>
  <property fmtid="{D5CDD505-2E9C-101B-9397-08002B2CF9AE}" pid="4" name="_EmailSubject">
    <vt:lpwstr>Cengage Branding/Accessibility </vt:lpwstr>
  </property>
  <property fmtid="{D5CDD505-2E9C-101B-9397-08002B2CF9AE}" pid="5" name="_AuthorEmail">
    <vt:lpwstr>Alyssa.Pratt@cengage.com</vt:lpwstr>
  </property>
  <property fmtid="{D5CDD505-2E9C-101B-9397-08002B2CF9AE}" pid="6" name="_AuthorEmailDisplayName">
    <vt:lpwstr>Pratt, Alyssa</vt:lpwstr>
  </property>
  <property fmtid="{D5CDD505-2E9C-101B-9397-08002B2CF9AE}" pid="7" name="_PreviousAdHocReviewCycleID">
    <vt:i4>-685122576</vt:i4>
  </property>
</Properties>
</file>