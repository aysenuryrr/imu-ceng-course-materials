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34"/>
  </p:notesMasterIdLst>
  <p:handoutMasterIdLst>
    <p:handoutMasterId r:id="rId35"/>
  </p:handoutMasterIdLst>
  <p:sldIdLst>
    <p:sldId id="264" r:id="rId2"/>
    <p:sldId id="261" r:id="rId3"/>
    <p:sldId id="266" r:id="rId4"/>
    <p:sldId id="267" r:id="rId5"/>
    <p:sldId id="268" r:id="rId6"/>
    <p:sldId id="269" r:id="rId7"/>
    <p:sldId id="270" r:id="rId8"/>
    <p:sldId id="272" r:id="rId9"/>
    <p:sldId id="271" r:id="rId10"/>
    <p:sldId id="273"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9" r:id="rId25"/>
    <p:sldId id="288" r:id="rId26"/>
    <p:sldId id="290" r:id="rId27"/>
    <p:sldId id="291" r:id="rId28"/>
    <p:sldId id="292" r:id="rId29"/>
    <p:sldId id="293" r:id="rId30"/>
    <p:sldId id="294" r:id="rId31"/>
    <p:sldId id="295" r:id="rId32"/>
    <p:sldId id="296" r:id="rId3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09" autoAdjust="0"/>
    <p:restoredTop sz="99857" autoAdjust="0"/>
  </p:normalViewPr>
  <p:slideViewPr>
    <p:cSldViewPr>
      <p:cViewPr varScale="1">
        <p:scale>
          <a:sx n="68" d="100"/>
          <a:sy n="68" d="100"/>
        </p:scale>
        <p:origin x="1638"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8/16/2017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8/16/2017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326021"/>
          </a:xfrm>
        </p:spPr>
        <p:txBody>
          <a:bodyPr/>
          <a:lstStyle/>
          <a:p>
            <a:r>
              <a:rPr lang="en-US" sz="3400" dirty="0"/>
              <a:t>Chapter 6</a:t>
            </a:r>
          </a:p>
          <a:p>
            <a:r>
              <a:rPr lang="en-US" sz="3800" b="1" dirty="0"/>
              <a:t>Intellectual Property</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a:t>
            </a:r>
          </a:p>
        </p:txBody>
      </p:sp>
      <p:sp>
        <p:nvSpPr>
          <p:cNvPr id="4" name="Content Placeholder 3"/>
          <p:cNvSpPr>
            <a:spLocks noGrp="1"/>
          </p:cNvSpPr>
          <p:nvPr>
            <p:ph type="body" idx="1"/>
          </p:nvPr>
        </p:nvSpPr>
        <p:spPr>
          <a:xfrm>
            <a:off x="2425131" y="1143000"/>
            <a:ext cx="6337869" cy="3170099"/>
          </a:xfrm>
        </p:spPr>
        <p:txBody>
          <a:bodyPr/>
          <a:lstStyle/>
          <a:p>
            <a:pPr marL="457200" indent="-457200">
              <a:lnSpc>
                <a:spcPct val="100000"/>
              </a:lnSpc>
              <a:buFont typeface="Arial" panose="020B0604020202020204" pitchFamily="34" charset="0"/>
              <a:buChar char="•"/>
            </a:pPr>
            <a:r>
              <a:rPr lang="en-US" sz="2800" dirty="0">
                <a:solidFill>
                  <a:schemeClr val="tx1"/>
                </a:solidFill>
              </a:rPr>
              <a:t>What does the term </a:t>
            </a:r>
            <a:r>
              <a:rPr lang="en-US" sz="2800" i="1" dirty="0">
                <a:solidFill>
                  <a:schemeClr val="tx1"/>
                </a:solidFill>
              </a:rPr>
              <a:t>intellectual property </a:t>
            </a:r>
            <a:r>
              <a:rPr lang="en-US" sz="2800" dirty="0">
                <a:solidFill>
                  <a:schemeClr val="tx1"/>
                </a:solidFill>
              </a:rPr>
              <a:t>encompass, and what measures can organizations take to protect their intellectual property?</a:t>
            </a:r>
          </a:p>
          <a:p>
            <a:pPr marL="457200" indent="-457200">
              <a:lnSpc>
                <a:spcPct val="100000"/>
              </a:lnSpc>
              <a:buFont typeface="Arial" panose="020B0604020202020204" pitchFamily="34" charset="0"/>
              <a:buChar char="•"/>
            </a:pPr>
            <a:r>
              <a:rPr lang="en-US" sz="2800" dirty="0">
                <a:solidFill>
                  <a:schemeClr val="tx1"/>
                </a:solidFill>
              </a:rPr>
              <a:t>What are some of the current issues associated with the protection of intellectual property?</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567678"/>
          </a:xfrm>
        </p:spPr>
        <p:txBody>
          <a:bodyPr/>
          <a:lstStyle/>
          <a:p>
            <a:pPr>
              <a:spcBef>
                <a:spcPts val="600"/>
              </a:spcBef>
            </a:pPr>
            <a:r>
              <a:rPr lang="en-US" sz="2800" dirty="0"/>
              <a:t>Intellectual property: Describes works of the mind that are distinct and owned or created by a single person or group</a:t>
            </a:r>
          </a:p>
          <a:p>
            <a:pPr lvl="1">
              <a:spcBef>
                <a:spcPts val="300"/>
              </a:spcBef>
              <a:buClr>
                <a:schemeClr val="accent2"/>
              </a:buClr>
            </a:pPr>
            <a:r>
              <a:rPr lang="en-US" sz="2600" dirty="0"/>
              <a:t>Art and music</a:t>
            </a:r>
          </a:p>
          <a:p>
            <a:pPr lvl="1">
              <a:spcBef>
                <a:spcPts val="300"/>
              </a:spcBef>
              <a:buClr>
                <a:schemeClr val="accent2"/>
              </a:buClr>
            </a:pPr>
            <a:r>
              <a:rPr lang="en-US" sz="2600" dirty="0"/>
              <a:t>Books and film</a:t>
            </a:r>
          </a:p>
          <a:p>
            <a:pPr lvl="1">
              <a:spcBef>
                <a:spcPts val="300"/>
              </a:spcBef>
              <a:buClr>
                <a:schemeClr val="accent2"/>
              </a:buClr>
            </a:pPr>
            <a:r>
              <a:rPr lang="en-US" sz="2600" dirty="0"/>
              <a:t>Formulas, inventions and processes</a:t>
            </a:r>
          </a:p>
          <a:p>
            <a:pPr>
              <a:spcBef>
                <a:spcPts val="600"/>
              </a:spcBef>
            </a:pPr>
            <a:r>
              <a:rPr lang="en-US" sz="2800" dirty="0"/>
              <a:t>Intellectual property is protected through:</a:t>
            </a:r>
          </a:p>
          <a:p>
            <a:pPr lvl="1">
              <a:spcBef>
                <a:spcPts val="300"/>
              </a:spcBef>
              <a:buClr>
                <a:schemeClr val="accent2"/>
              </a:buClr>
            </a:pPr>
            <a:r>
              <a:rPr lang="en-US" sz="2600" dirty="0"/>
              <a:t>Copyright</a:t>
            </a:r>
          </a:p>
          <a:p>
            <a:pPr lvl="1">
              <a:spcBef>
                <a:spcPts val="300"/>
              </a:spcBef>
              <a:buClr>
                <a:schemeClr val="accent2"/>
              </a:buClr>
            </a:pPr>
            <a:r>
              <a:rPr lang="en-US" sz="2600" dirty="0"/>
              <a:t>Patent</a:t>
            </a:r>
          </a:p>
          <a:p>
            <a:pPr lvl="1">
              <a:spcBef>
                <a:spcPts val="300"/>
              </a:spcBef>
              <a:buClr>
                <a:schemeClr val="accent2"/>
              </a:buClr>
            </a:pPr>
            <a:r>
              <a:rPr lang="en-US" sz="2600" dirty="0"/>
              <a:t>Trade secret laws</a:t>
            </a:r>
          </a:p>
          <a:p>
            <a:pPr>
              <a:spcBef>
                <a:spcPts val="600"/>
              </a:spcBef>
            </a:pPr>
            <a:r>
              <a:rPr lang="en-US" sz="2800" dirty="0"/>
              <a:t>Owners control and receive compensation for the use of their intellectual property</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What is Intellectual Property?</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633850"/>
          </a:xfrm>
        </p:spPr>
        <p:txBody>
          <a:bodyPr/>
          <a:lstStyle/>
          <a:p>
            <a:pPr>
              <a:spcBef>
                <a:spcPts val="600"/>
              </a:spcBef>
            </a:pPr>
            <a:r>
              <a:rPr lang="en-US" sz="2700" b="1" dirty="0"/>
              <a:t>Copyright: </a:t>
            </a:r>
            <a:r>
              <a:rPr lang="en-US" sz="2700" dirty="0"/>
              <a:t>The exclusive right to distribute, display, perform, or reproduce an original work in copies, or to prepare derivative works based on the work</a:t>
            </a:r>
          </a:p>
          <a:p>
            <a:pPr>
              <a:spcBef>
                <a:spcPts val="600"/>
              </a:spcBef>
            </a:pPr>
            <a:r>
              <a:rPr lang="en-US" sz="2700" b="1" dirty="0"/>
              <a:t>Copyright infringement</a:t>
            </a:r>
            <a:r>
              <a:rPr lang="en-US" sz="2700" dirty="0"/>
              <a:t>: A violation of the rights secured by the owner of a copyright</a:t>
            </a:r>
          </a:p>
          <a:p>
            <a:pPr>
              <a:spcBef>
                <a:spcPts val="600"/>
              </a:spcBef>
            </a:pPr>
            <a:r>
              <a:rPr lang="en-US" sz="2700" dirty="0"/>
              <a:t>Copyright law guarantees developers the rights to their works for a certain amount of time.</a:t>
            </a:r>
          </a:p>
          <a:p>
            <a:pPr lvl="1">
              <a:buClr>
                <a:schemeClr val="accent2"/>
              </a:buClr>
            </a:pPr>
            <a:r>
              <a:rPr lang="en-US" sz="2500" dirty="0"/>
              <a:t>Since 1960, the term of copyright has been extended 11 </a:t>
            </a:r>
            <a:br>
              <a:rPr lang="en-US" sz="2500" dirty="0"/>
            </a:br>
            <a:r>
              <a:rPr lang="en-US" sz="2500" dirty="0"/>
              <a:t>times; new works are protected for the life of the author plus 70 years.</a:t>
            </a:r>
          </a:p>
          <a:p>
            <a:r>
              <a:rPr lang="en-US" sz="2700" dirty="0"/>
              <a:t>Eligibility criteria: Work must be original and fall within one of the categories described in Title 17 of the U.S. Code</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Copyright,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8643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879797"/>
          </a:xfrm>
        </p:spPr>
        <p:txBody>
          <a:bodyPr/>
          <a:lstStyle/>
          <a:p>
            <a:r>
              <a:rPr lang="en-US" sz="2800" b="1" dirty="0"/>
              <a:t>Fair use doctrine: </a:t>
            </a:r>
            <a:r>
              <a:rPr lang="en-US" sz="2800" dirty="0"/>
              <a:t>Allows portions of copyrighted materials to be used without permission</a:t>
            </a:r>
          </a:p>
          <a:p>
            <a:pPr lvl="1">
              <a:buClr>
                <a:schemeClr val="accent2"/>
              </a:buClr>
            </a:pPr>
            <a:r>
              <a:rPr lang="en-US" sz="2600" dirty="0"/>
              <a:t>Court decisions regarding fair use are based on four factors: </a:t>
            </a:r>
          </a:p>
          <a:p>
            <a:pPr lvl="2"/>
            <a:r>
              <a:rPr lang="en-US" sz="2400" dirty="0"/>
              <a:t>Purpose and character of the use</a:t>
            </a:r>
          </a:p>
          <a:p>
            <a:pPr lvl="2"/>
            <a:r>
              <a:rPr lang="en-US" sz="2400" dirty="0"/>
              <a:t>Nature of the copyrighted work</a:t>
            </a:r>
          </a:p>
          <a:p>
            <a:pPr lvl="2"/>
            <a:r>
              <a:rPr lang="en-US" sz="2400" dirty="0"/>
              <a:t>The portion of the work used in relation to the whole</a:t>
            </a:r>
          </a:p>
          <a:p>
            <a:pPr lvl="2"/>
            <a:r>
              <a:rPr lang="en-US" sz="2400" dirty="0"/>
              <a:t>Effect of the use on the value of the copyrighted work</a:t>
            </a:r>
          </a:p>
          <a:p>
            <a:r>
              <a:rPr lang="en-US" sz="2800" dirty="0"/>
              <a:t>Software copyright protection</a:t>
            </a:r>
          </a:p>
          <a:p>
            <a:pPr lvl="1">
              <a:buClr>
                <a:schemeClr val="accent2"/>
              </a:buClr>
            </a:pPr>
            <a:r>
              <a:rPr lang="en-US" sz="2600" dirty="0"/>
              <a:t>Proving infringement requires showing striking resemblance that could be explained only by copying</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Copyright,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2003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834896"/>
          </a:xfrm>
        </p:spPr>
        <p:txBody>
          <a:bodyPr/>
          <a:lstStyle/>
          <a:p>
            <a:pPr marL="171450" lvl="1">
              <a:spcBef>
                <a:spcPts val="1200"/>
              </a:spcBef>
              <a:buClr>
                <a:schemeClr val="accent2"/>
              </a:buClr>
            </a:pPr>
            <a:r>
              <a:rPr lang="en-US" sz="2800" b="1" dirty="0"/>
              <a:t>Prioritizing Resources and Organization for Intellectual Property (PRO-IP) Act of 2008: </a:t>
            </a:r>
            <a:r>
              <a:rPr lang="en-CA" sz="2800" dirty="0"/>
              <a:t>Increased trademark and copyright enforcement and substantially increased </a:t>
            </a:r>
            <a:r>
              <a:rPr lang="en-US" sz="2800" dirty="0"/>
              <a:t>penalties for infringement</a:t>
            </a:r>
            <a:endParaRPr lang="en-CA" sz="2800" dirty="0"/>
          </a:p>
          <a:p>
            <a:r>
              <a:rPr lang="en-US" sz="2800" dirty="0"/>
              <a:t>General Agreement on Tariffs and Trade (GATT)</a:t>
            </a:r>
          </a:p>
          <a:p>
            <a:pPr lvl="1">
              <a:buClr>
                <a:schemeClr val="accent2"/>
              </a:buClr>
            </a:pPr>
            <a:r>
              <a:rPr lang="en-US" sz="2400" dirty="0"/>
              <a:t>Multilateral agreement governing international trade</a:t>
            </a:r>
            <a:endParaRPr lang="en-CA" sz="2400" dirty="0"/>
          </a:p>
          <a:p>
            <a:pPr lvl="1">
              <a:buClr>
                <a:schemeClr val="accent2"/>
              </a:buClr>
            </a:pPr>
            <a:r>
              <a:rPr lang="en-US" sz="2400" dirty="0"/>
              <a:t>Established the World Trade Organization (WTO)</a:t>
            </a:r>
          </a:p>
          <a:p>
            <a:pPr lvl="1">
              <a:buClr>
                <a:schemeClr val="accent2"/>
              </a:buClr>
            </a:pPr>
            <a:r>
              <a:rPr lang="en-US" sz="2400" dirty="0"/>
              <a:t>Despite GATT, copyright protection varies greatly from country to country</a:t>
            </a:r>
          </a:p>
        </p:txBody>
      </p:sp>
      <p:sp>
        <p:nvSpPr>
          <p:cNvPr id="3" name="Title 2"/>
          <p:cNvSpPr>
            <a:spLocks noGrp="1"/>
          </p:cNvSpPr>
          <p:nvPr>
            <p:ph type="title"/>
          </p:nvPr>
        </p:nvSpPr>
        <p:spPr>
          <a:xfrm>
            <a:off x="762000" y="290459"/>
            <a:ext cx="8026400" cy="527837"/>
          </a:xfrm>
        </p:spPr>
        <p:txBody>
          <a:bodyPr/>
          <a:lstStyle/>
          <a:p>
            <a:r>
              <a:rPr lang="en-US" sz="4000" dirty="0"/>
              <a:t>Copyright,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43958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5204502"/>
          </a:xfrm>
        </p:spPr>
        <p:txBody>
          <a:bodyPr/>
          <a:lstStyle/>
          <a:p>
            <a:pPr marL="171450" lvl="1" defTabSz="755650">
              <a:lnSpc>
                <a:spcPct val="90000"/>
              </a:lnSpc>
              <a:spcBef>
                <a:spcPct val="0"/>
              </a:spcBef>
              <a:spcAft>
                <a:spcPct val="20000"/>
              </a:spcAft>
              <a:buClr>
                <a:schemeClr val="accent2"/>
              </a:buClr>
              <a:buChar char="••"/>
            </a:pPr>
            <a:r>
              <a:rPr lang="en-US" sz="2800" b="1" dirty="0"/>
              <a:t>Agreement on Trade-Related Aspects of Intellectual Property Rights (TRIPS)</a:t>
            </a:r>
            <a:endParaRPr lang="en-CA" sz="2800" dirty="0"/>
          </a:p>
          <a:p>
            <a:pPr marL="342900" lvl="2" defTabSz="755650">
              <a:lnSpc>
                <a:spcPct val="90000"/>
              </a:lnSpc>
              <a:spcBef>
                <a:spcPct val="0"/>
              </a:spcBef>
              <a:spcAft>
                <a:spcPct val="20000"/>
              </a:spcAft>
              <a:buClr>
                <a:schemeClr val="accent2"/>
              </a:buClr>
              <a:buChar char="••"/>
            </a:pPr>
            <a:r>
              <a:rPr lang="en-CA" sz="2600" dirty="0"/>
              <a:t>Established minimum levels of protection that each government must provide to the intellectual property of </a:t>
            </a:r>
            <a:br>
              <a:rPr lang="en-CA" sz="2600" dirty="0"/>
            </a:br>
            <a:r>
              <a:rPr lang="en-CA" sz="2600" dirty="0"/>
              <a:t>all WTO members</a:t>
            </a:r>
          </a:p>
          <a:p>
            <a:pPr marL="171450" lvl="1" defTabSz="755650">
              <a:lnSpc>
                <a:spcPct val="90000"/>
              </a:lnSpc>
              <a:spcBef>
                <a:spcPct val="0"/>
              </a:spcBef>
              <a:spcAft>
                <a:spcPct val="20000"/>
              </a:spcAft>
              <a:buClr>
                <a:schemeClr val="accent2"/>
              </a:buClr>
              <a:buFont typeface="Arial" pitchFamily="34" charset="0"/>
              <a:buChar char="••"/>
            </a:pPr>
            <a:r>
              <a:rPr lang="en-US" sz="2800" dirty="0"/>
              <a:t>The World Intellectual Property Organization Copyright Treaty (1996): </a:t>
            </a:r>
          </a:p>
          <a:p>
            <a:pPr marL="342900" lvl="2" defTabSz="755650">
              <a:lnSpc>
                <a:spcPct val="90000"/>
              </a:lnSpc>
              <a:spcBef>
                <a:spcPct val="0"/>
              </a:spcBef>
              <a:spcAft>
                <a:spcPct val="20000"/>
              </a:spcAft>
              <a:buClr>
                <a:schemeClr val="accent2"/>
              </a:buClr>
              <a:buFont typeface="Arial" pitchFamily="34" charset="0"/>
              <a:buChar char="••"/>
            </a:pPr>
            <a:r>
              <a:rPr lang="en-US" sz="2600" dirty="0"/>
              <a:t>Encourages the </a:t>
            </a:r>
            <a:r>
              <a:rPr lang="en-CA" sz="2600" dirty="0"/>
              <a:t>use of intellectual property as a means </a:t>
            </a:r>
            <a:br>
              <a:rPr lang="en-CA" sz="2600" dirty="0"/>
            </a:br>
            <a:r>
              <a:rPr lang="en-CA" sz="2600" dirty="0"/>
              <a:t>to stimulate innovation and creativity</a:t>
            </a:r>
          </a:p>
          <a:p>
            <a:pPr marL="342900" lvl="2" defTabSz="755650">
              <a:lnSpc>
                <a:spcPct val="90000"/>
              </a:lnSpc>
              <a:spcBef>
                <a:spcPct val="0"/>
              </a:spcBef>
              <a:spcAft>
                <a:spcPct val="20000"/>
              </a:spcAft>
              <a:buClr>
                <a:schemeClr val="accent2"/>
              </a:buClr>
              <a:buFont typeface="Arial" pitchFamily="34" charset="0"/>
              <a:buChar char="••"/>
            </a:pPr>
            <a:r>
              <a:rPr lang="en-US" sz="2600" dirty="0"/>
              <a:t>Ensures that computer programs are protected as literary works; also protects the arrangement and selection of material in databases</a:t>
            </a:r>
            <a:endParaRPr lang="en-CA" sz="2600" dirty="0"/>
          </a:p>
          <a:p>
            <a:pPr marL="342900" lvl="2" defTabSz="755650">
              <a:lnSpc>
                <a:spcPct val="90000"/>
              </a:lnSpc>
              <a:spcBef>
                <a:spcPct val="0"/>
              </a:spcBef>
              <a:spcAft>
                <a:spcPct val="20000"/>
              </a:spcAft>
              <a:buChar char="••"/>
            </a:pPr>
            <a:endParaRPr lang="en-CA" sz="2600" dirty="0"/>
          </a:p>
        </p:txBody>
      </p:sp>
      <p:sp>
        <p:nvSpPr>
          <p:cNvPr id="3" name="Title 2"/>
          <p:cNvSpPr>
            <a:spLocks noGrp="1"/>
          </p:cNvSpPr>
          <p:nvPr>
            <p:ph type="title"/>
          </p:nvPr>
        </p:nvSpPr>
        <p:spPr>
          <a:xfrm>
            <a:off x="762000" y="290459"/>
            <a:ext cx="8026400" cy="527837"/>
          </a:xfrm>
        </p:spPr>
        <p:txBody>
          <a:bodyPr/>
          <a:lstStyle/>
          <a:p>
            <a:r>
              <a:rPr lang="en-US" sz="4000" dirty="0"/>
              <a:t>Copyright,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9427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1: This table provides a summary of the key points of the WTO TRIPS Agreement. &#10;Copyright: Computer programs are protected as literary works. Authors of computer programs and producers of sound recordings have the right to prohibit the commercial rental of their works to the public.&#10;Patent: Patent protection is available for any invention, whether a product or process. Discrimination is not allowed based on the place of invention.&#10;Trade secret: Trade secrets must be protected against breach of confidence and other acts that are contrary to honest commercial practices."/>
          <p:cNvGraphicFramePr>
            <a:graphicFrameLocks noGrp="1"/>
          </p:cNvGraphicFramePr>
          <p:nvPr>
            <p:ph idx="1"/>
            <p:extLst>
              <p:ext uri="{D42A27DB-BD31-4B8C-83A1-F6EECF244321}">
                <p14:modId xmlns:p14="http://schemas.microsoft.com/office/powerpoint/2010/main" val="1263406344"/>
              </p:ext>
            </p:extLst>
          </p:nvPr>
        </p:nvGraphicFramePr>
        <p:xfrm>
          <a:off x="365125" y="1219200"/>
          <a:ext cx="8415338" cy="4858512"/>
        </p:xfrm>
        <a:graphic>
          <a:graphicData uri="http://schemas.openxmlformats.org/drawingml/2006/table">
            <a:tbl>
              <a:tblPr firstRow="1" bandRow="1">
                <a:tableStyleId>{5C22544A-7EE6-4342-B048-85BDC9FD1C3A}</a:tableStyleId>
              </a:tblPr>
              <a:tblGrid>
                <a:gridCol w="2530475">
                  <a:extLst>
                    <a:ext uri="{9D8B030D-6E8A-4147-A177-3AD203B41FA5}">
                      <a16:colId xmlns:a16="http://schemas.microsoft.com/office/drawing/2014/main" val="3889578818"/>
                    </a:ext>
                  </a:extLst>
                </a:gridCol>
                <a:gridCol w="5884863">
                  <a:extLst>
                    <a:ext uri="{9D8B030D-6E8A-4147-A177-3AD203B41FA5}">
                      <a16:colId xmlns:a16="http://schemas.microsoft.com/office/drawing/2014/main" val="1876020907"/>
                    </a:ext>
                  </a:extLst>
                </a:gridCol>
              </a:tblGrid>
              <a:tr h="376872">
                <a:tc>
                  <a:txBody>
                    <a:bodyPr/>
                    <a:lstStyle/>
                    <a:p>
                      <a:r>
                        <a:rPr lang="en-US" sz="2200" b="1" kern="1200" dirty="0">
                          <a:solidFill>
                            <a:schemeClr val="lt1"/>
                          </a:solidFill>
                          <a:latin typeface="+mn-lt"/>
                          <a:ea typeface="+mn-ea"/>
                          <a:cs typeface="+mn-cs"/>
                        </a:rPr>
                        <a:t>Form of Intellectual Property</a:t>
                      </a:r>
                    </a:p>
                  </a:txBody>
                  <a:tcPr>
                    <a:solidFill>
                      <a:schemeClr val="accent1"/>
                    </a:solidFill>
                  </a:tcPr>
                </a:tc>
                <a:tc>
                  <a:txBody>
                    <a:bodyPr/>
                    <a:lstStyle/>
                    <a:p>
                      <a:r>
                        <a:rPr lang="en-US" sz="2200" b="1" kern="1200" dirty="0">
                          <a:solidFill>
                            <a:schemeClr val="lt1"/>
                          </a:solidFill>
                          <a:latin typeface="+mn-lt"/>
                          <a:ea typeface="+mn-ea"/>
                          <a:cs typeface="+mn-cs"/>
                        </a:rPr>
                        <a:t>Key Terms of the WTO TRIPS Agreement</a:t>
                      </a:r>
                    </a:p>
                  </a:txBody>
                  <a:tcPr anchor="b">
                    <a:solidFill>
                      <a:schemeClr val="accent1"/>
                    </a:solidFill>
                  </a:tcPr>
                </a:tc>
                <a:extLst>
                  <a:ext uri="{0D108BD9-81ED-4DB2-BD59-A6C34878D82A}">
                    <a16:rowId xmlns:a16="http://schemas.microsoft.com/office/drawing/2014/main" val="468678022"/>
                  </a:ext>
                </a:extLst>
              </a:tr>
              <a:tr h="370840">
                <a:tc>
                  <a:txBody>
                    <a:bodyPr/>
                    <a:lstStyle/>
                    <a:p>
                      <a:pPr>
                        <a:lnSpc>
                          <a:spcPct val="114000"/>
                        </a:lnSpc>
                      </a:pPr>
                      <a:r>
                        <a:rPr lang="en-US" sz="2000" dirty="0"/>
                        <a:t>Copyright</a:t>
                      </a:r>
                    </a:p>
                  </a:txBody>
                  <a:tcPr/>
                </a:tc>
                <a:tc>
                  <a:txBody>
                    <a:bodyPr/>
                    <a:lstStyle/>
                    <a:p>
                      <a:pPr marL="285750" indent="-285750">
                        <a:lnSpc>
                          <a:spcPct val="114000"/>
                        </a:lnSpc>
                        <a:buFont typeface="Arial" panose="020B0604020202020204" pitchFamily="34" charset="0"/>
                        <a:buChar char="•"/>
                      </a:pPr>
                      <a:r>
                        <a:rPr lang="en-US" sz="2000" dirty="0"/>
                        <a:t>Computer programs are protected as literary works.</a:t>
                      </a:r>
                    </a:p>
                    <a:p>
                      <a:pPr marL="285750" indent="-285750">
                        <a:lnSpc>
                          <a:spcPct val="114000"/>
                        </a:lnSpc>
                        <a:buFont typeface="Arial" panose="020B0604020202020204" pitchFamily="34" charset="0"/>
                        <a:buChar char="•"/>
                      </a:pPr>
                      <a:r>
                        <a:rPr lang="en-US" sz="2000" dirty="0"/>
                        <a:t>Authors of computer programs and producers of sound recordings have the right to prohibit the commercial rental of their works to the public.</a:t>
                      </a:r>
                    </a:p>
                  </a:txBody>
                  <a:tcPr/>
                </a:tc>
                <a:extLst>
                  <a:ext uri="{0D108BD9-81ED-4DB2-BD59-A6C34878D82A}">
                    <a16:rowId xmlns:a16="http://schemas.microsoft.com/office/drawing/2014/main" val="4174400247"/>
                  </a:ext>
                </a:extLst>
              </a:tr>
              <a:tr h="370840">
                <a:tc>
                  <a:txBody>
                    <a:bodyPr/>
                    <a:lstStyle/>
                    <a:p>
                      <a:pPr>
                        <a:lnSpc>
                          <a:spcPct val="114000"/>
                        </a:lnSpc>
                      </a:pPr>
                      <a:r>
                        <a:rPr lang="en-US" sz="2000" dirty="0"/>
                        <a:t>Patent</a:t>
                      </a:r>
                    </a:p>
                  </a:txBody>
                  <a:tcPr/>
                </a:tc>
                <a:tc>
                  <a:txBody>
                    <a:bodyPr/>
                    <a:lstStyle/>
                    <a:p>
                      <a:pPr marL="285750" indent="-285750">
                        <a:lnSpc>
                          <a:spcPct val="114000"/>
                        </a:lnSpc>
                        <a:buFont typeface="Arial" panose="020B0604020202020204" pitchFamily="34" charset="0"/>
                        <a:buChar char="•"/>
                      </a:pPr>
                      <a:r>
                        <a:rPr lang="en-US" sz="2000" dirty="0"/>
                        <a:t>Patent protection is available for any invention, whether a product or process.</a:t>
                      </a:r>
                    </a:p>
                    <a:p>
                      <a:pPr marL="285750" indent="-285750">
                        <a:lnSpc>
                          <a:spcPct val="114000"/>
                        </a:lnSpc>
                        <a:buFont typeface="Arial" panose="020B0604020202020204" pitchFamily="34" charset="0"/>
                        <a:buChar char="•"/>
                      </a:pPr>
                      <a:r>
                        <a:rPr lang="en-US" sz="2000" dirty="0"/>
                        <a:t>Discrimination is not allowed based on the place of invention.</a:t>
                      </a:r>
                    </a:p>
                  </a:txBody>
                  <a:tcPr/>
                </a:tc>
                <a:extLst>
                  <a:ext uri="{0D108BD9-81ED-4DB2-BD59-A6C34878D82A}">
                    <a16:rowId xmlns:a16="http://schemas.microsoft.com/office/drawing/2014/main" val="1613171981"/>
                  </a:ext>
                </a:extLst>
              </a:tr>
              <a:tr h="370840">
                <a:tc>
                  <a:txBody>
                    <a:bodyPr/>
                    <a:lstStyle/>
                    <a:p>
                      <a:pPr>
                        <a:lnSpc>
                          <a:spcPct val="114000"/>
                        </a:lnSpc>
                      </a:pPr>
                      <a:r>
                        <a:rPr lang="en-US" sz="2000" dirty="0"/>
                        <a:t>Trade secret</a:t>
                      </a:r>
                    </a:p>
                  </a:txBody>
                  <a:tcPr/>
                </a:tc>
                <a:tc>
                  <a:txBody>
                    <a:bodyPr/>
                    <a:lstStyle/>
                    <a:p>
                      <a:pPr marL="285750" indent="-285750">
                        <a:lnSpc>
                          <a:spcPct val="114000"/>
                        </a:lnSpc>
                        <a:buFont typeface="Arial" panose="020B0604020202020204" pitchFamily="34" charset="0"/>
                        <a:buChar char="•"/>
                      </a:pPr>
                      <a:r>
                        <a:rPr lang="en-US" sz="2000" dirty="0"/>
                        <a:t>Trade secrets</a:t>
                      </a:r>
                      <a:r>
                        <a:rPr lang="en-US" sz="2000" baseline="0" dirty="0"/>
                        <a:t> m</a:t>
                      </a:r>
                      <a:r>
                        <a:rPr lang="en-US" sz="2000" dirty="0"/>
                        <a:t>ust be protected against breach of confidence and other acts that are contrary to honest commercial practices.</a:t>
                      </a:r>
                    </a:p>
                  </a:txBody>
                  <a:tcPr/>
                </a:tc>
                <a:extLst>
                  <a:ext uri="{0D108BD9-81ED-4DB2-BD59-A6C34878D82A}">
                    <a16:rowId xmlns:a16="http://schemas.microsoft.com/office/drawing/2014/main" val="1163657871"/>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a:t>Copyright,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66264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761030"/>
          </a:xfrm>
        </p:spPr>
        <p:txBody>
          <a:bodyPr/>
          <a:lstStyle/>
          <a:p>
            <a:pPr marL="171450" lvl="1" defTabSz="755650">
              <a:lnSpc>
                <a:spcPct val="90000"/>
              </a:lnSpc>
              <a:spcBef>
                <a:spcPct val="0"/>
              </a:spcBef>
              <a:spcAft>
                <a:spcPct val="20000"/>
              </a:spcAft>
              <a:buClr>
                <a:schemeClr val="accent2"/>
              </a:buClr>
              <a:buChar char="••"/>
            </a:pPr>
            <a:r>
              <a:rPr lang="en-US" sz="2800" b="1" dirty="0"/>
              <a:t>Digital Millennium Copyright Act (1998): </a:t>
            </a:r>
            <a:r>
              <a:rPr lang="en-US" sz="2800" dirty="0"/>
              <a:t>Implements </a:t>
            </a:r>
            <a:r>
              <a:rPr lang="en-CA" sz="2800" dirty="0"/>
              <a:t>the WIPO Copyright Treaty and the WIPO Performances and Phonograms Treaty</a:t>
            </a:r>
          </a:p>
          <a:p>
            <a:pPr marL="342900" lvl="2" defTabSz="755650">
              <a:lnSpc>
                <a:spcPct val="90000"/>
              </a:lnSpc>
              <a:spcBef>
                <a:spcPct val="0"/>
              </a:spcBef>
              <a:spcAft>
                <a:spcPct val="20000"/>
              </a:spcAft>
              <a:buClr>
                <a:schemeClr val="accent2"/>
              </a:buClr>
              <a:buChar char="••"/>
            </a:pPr>
            <a:r>
              <a:rPr lang="en-US" sz="2400" dirty="0"/>
              <a:t>Unlike traditional copyright law, the DMCA does not govern copying; it focuses on the distribution of tools and software </a:t>
            </a:r>
            <a:br>
              <a:rPr lang="en-US" sz="2400" dirty="0"/>
            </a:br>
            <a:r>
              <a:rPr lang="en-US" sz="2400" dirty="0"/>
              <a:t>that can be used for copyright infringement. </a:t>
            </a:r>
          </a:p>
          <a:p>
            <a:pPr marL="342900" lvl="2" defTabSz="755650">
              <a:lnSpc>
                <a:spcPct val="90000"/>
              </a:lnSpc>
              <a:spcBef>
                <a:spcPct val="0"/>
              </a:spcBef>
              <a:spcAft>
                <a:spcPct val="20000"/>
              </a:spcAft>
              <a:buClr>
                <a:schemeClr val="accent2"/>
              </a:buClr>
              <a:buChar char="••"/>
            </a:pPr>
            <a:r>
              <a:rPr lang="en-US" sz="2400" dirty="0"/>
              <a:t>The DMCA explicitly outlaws technologies that can defeat copyright protection devices, but it does permit reverse engineering for encryption, interoperability, and computer security research.</a:t>
            </a:r>
            <a:endParaRPr lang="en-CA" sz="2400" dirty="0"/>
          </a:p>
        </p:txBody>
      </p:sp>
      <p:sp>
        <p:nvSpPr>
          <p:cNvPr id="3" name="Title 2"/>
          <p:cNvSpPr>
            <a:spLocks noGrp="1"/>
          </p:cNvSpPr>
          <p:nvPr>
            <p:ph type="title"/>
          </p:nvPr>
        </p:nvSpPr>
        <p:spPr>
          <a:xfrm>
            <a:off x="762000" y="290459"/>
            <a:ext cx="8026400" cy="527837"/>
          </a:xfrm>
        </p:spPr>
        <p:txBody>
          <a:bodyPr/>
          <a:lstStyle/>
          <a:p>
            <a:r>
              <a:rPr lang="en-US" sz="4000" dirty="0"/>
              <a:t>Copyright,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52590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045227"/>
          </a:xfrm>
        </p:spPr>
        <p:txBody>
          <a:bodyPr/>
          <a:lstStyle/>
          <a:p>
            <a:r>
              <a:rPr lang="en-US" sz="2700" b="1" dirty="0"/>
              <a:t>Patent: </a:t>
            </a:r>
            <a:r>
              <a:rPr lang="en-US" sz="2700" dirty="0"/>
              <a:t>A grant of a property right issued by the U.S. Patent and Trademark Office (USPTO) to an inventor</a:t>
            </a:r>
          </a:p>
          <a:p>
            <a:pPr lvl="1">
              <a:buClr>
                <a:schemeClr val="accent2"/>
              </a:buClr>
            </a:pPr>
            <a:r>
              <a:rPr lang="en-US" sz="2400" dirty="0"/>
              <a:t>Permits its owner to exclude the public from making, </a:t>
            </a:r>
            <a:br>
              <a:rPr lang="en-US" sz="2400" dirty="0"/>
            </a:br>
            <a:r>
              <a:rPr lang="en-US" sz="2400" dirty="0"/>
              <a:t>using, or selling a protected invention</a:t>
            </a:r>
          </a:p>
          <a:p>
            <a:pPr lvl="1">
              <a:buClr>
                <a:schemeClr val="accent2"/>
              </a:buClr>
            </a:pPr>
            <a:r>
              <a:rPr lang="en-US" sz="2400" dirty="0"/>
              <a:t>Prevents independent creation as well as copying</a:t>
            </a:r>
          </a:p>
          <a:p>
            <a:pPr lvl="1">
              <a:buClr>
                <a:schemeClr val="accent2"/>
              </a:buClr>
            </a:pPr>
            <a:r>
              <a:rPr lang="en-US" sz="2400" dirty="0"/>
              <a:t>Before granting a patent, the USPTO searches the </a:t>
            </a:r>
            <a:r>
              <a:rPr lang="en-US" sz="2400" b="1" dirty="0"/>
              <a:t>prior art</a:t>
            </a:r>
            <a:r>
              <a:rPr lang="en-US" sz="2400" dirty="0"/>
              <a:t> (the existing body of knowledge available to a person of ordinary skill in the art, including existing patents and published material).</a:t>
            </a:r>
          </a:p>
          <a:p>
            <a:r>
              <a:rPr lang="en-US" sz="2700" dirty="0"/>
              <a:t>The following cannot be patented</a:t>
            </a:r>
          </a:p>
          <a:p>
            <a:pPr lvl="1">
              <a:buClr>
                <a:schemeClr val="accent2"/>
              </a:buClr>
            </a:pPr>
            <a:r>
              <a:rPr lang="en-US" sz="2400" dirty="0"/>
              <a:t>Abstract ideas</a:t>
            </a:r>
          </a:p>
          <a:p>
            <a:pPr lvl="1">
              <a:buClr>
                <a:schemeClr val="accent2"/>
              </a:buClr>
            </a:pPr>
            <a:r>
              <a:rPr lang="en-US" sz="2400" dirty="0"/>
              <a:t>Laws of nature</a:t>
            </a:r>
          </a:p>
          <a:p>
            <a:pPr lvl="1">
              <a:buClr>
                <a:schemeClr val="accent2"/>
              </a:buClr>
            </a:pPr>
            <a:r>
              <a:rPr lang="en-US" sz="2400" dirty="0"/>
              <a:t>Natural phenomenon</a:t>
            </a:r>
          </a:p>
        </p:txBody>
      </p:sp>
      <p:sp>
        <p:nvSpPr>
          <p:cNvPr id="3" name="Title 2"/>
          <p:cNvSpPr>
            <a:spLocks noGrp="1"/>
          </p:cNvSpPr>
          <p:nvPr>
            <p:ph type="title"/>
          </p:nvPr>
        </p:nvSpPr>
        <p:spPr>
          <a:xfrm>
            <a:off x="762000" y="290459"/>
            <a:ext cx="8026400" cy="527837"/>
          </a:xfrm>
        </p:spPr>
        <p:txBody>
          <a:bodyPr/>
          <a:lstStyle/>
          <a:p>
            <a:r>
              <a:rPr lang="en-US" sz="4000" dirty="0"/>
              <a:t>Patents,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59631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741298"/>
          </a:xfrm>
        </p:spPr>
        <p:txBody>
          <a:bodyPr/>
          <a:lstStyle/>
          <a:p>
            <a:r>
              <a:rPr lang="en-US" sz="2800" b="1" dirty="0"/>
              <a:t>Patent infringement: </a:t>
            </a:r>
            <a:r>
              <a:rPr lang="en-US" sz="2800" dirty="0"/>
              <a:t>Unauthorized use of another’s patent</a:t>
            </a:r>
          </a:p>
          <a:p>
            <a:pPr lvl="1">
              <a:buClr>
                <a:schemeClr val="accent2"/>
              </a:buClr>
            </a:pPr>
            <a:r>
              <a:rPr lang="en-US" sz="2600" dirty="0"/>
              <a:t>Courts can award up to three times the amount of damages claimed by the patent holder if infringement is found</a:t>
            </a:r>
          </a:p>
          <a:p>
            <a:r>
              <a:rPr lang="en-US" sz="2800" b="1" dirty="0"/>
              <a:t>Leahy-Smith America Invents Act (2011): </a:t>
            </a:r>
            <a:r>
              <a:rPr lang="en-US" sz="2800" dirty="0"/>
              <a:t>Enacted a major change in patent law; changed U.S. patent system from a “first-to-invent” to a “first-inventor-to-file” system</a:t>
            </a:r>
          </a:p>
          <a:p>
            <a:pPr lvl="1">
              <a:buClr>
                <a:schemeClr val="accent2"/>
              </a:buClr>
            </a:pPr>
            <a:r>
              <a:rPr lang="en-US" sz="2600" dirty="0"/>
              <a:t>Also expanded the definition of prior art used to determine the novelty of an invention and whether it can be patented</a:t>
            </a:r>
          </a:p>
          <a:p>
            <a:pPr lvl="1">
              <a:buClr>
                <a:schemeClr val="accent2"/>
              </a:buClr>
            </a:pPr>
            <a:r>
              <a:rPr lang="en-US" sz="2600" dirty="0"/>
              <a:t>The law made it more difficult to obtain a U.S. patent.</a:t>
            </a:r>
          </a:p>
        </p:txBody>
      </p:sp>
      <p:sp>
        <p:nvSpPr>
          <p:cNvPr id="3" name="Title 2"/>
          <p:cNvSpPr>
            <a:spLocks noGrp="1"/>
          </p:cNvSpPr>
          <p:nvPr>
            <p:ph type="title"/>
          </p:nvPr>
        </p:nvSpPr>
        <p:spPr>
          <a:xfrm>
            <a:off x="762000" y="290459"/>
            <a:ext cx="8026400" cy="527837"/>
          </a:xfrm>
        </p:spPr>
        <p:txBody>
          <a:bodyPr/>
          <a:lstStyle/>
          <a:p>
            <a:r>
              <a:rPr lang="en-US" sz="4000" dirty="0"/>
              <a:t>Patents,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79490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556906"/>
          </a:xfrm>
        </p:spPr>
        <p:txBody>
          <a:bodyPr/>
          <a:lstStyle/>
          <a:p>
            <a:r>
              <a:rPr lang="en-US" sz="2800" dirty="0"/>
              <a:t>Software patent: </a:t>
            </a:r>
            <a:r>
              <a:rPr lang="en-US" altLang="en-US" sz="2800" dirty="0"/>
              <a:t>Protects a feature, function, or process embodied in instructions executed on a computer</a:t>
            </a:r>
          </a:p>
          <a:p>
            <a:pPr lvl="1">
              <a:spcBef>
                <a:spcPts val="300"/>
              </a:spcBef>
              <a:buClr>
                <a:schemeClr val="accent2"/>
              </a:buClr>
            </a:pPr>
            <a:r>
              <a:rPr lang="en-US" sz="2600" dirty="0"/>
              <a:t>In recent years, the courts have become more restrictive </a:t>
            </a:r>
            <a:br>
              <a:rPr lang="en-US" sz="2600" dirty="0"/>
            </a:br>
            <a:r>
              <a:rPr lang="en-US" sz="2600" dirty="0"/>
              <a:t>in granting software patents.</a:t>
            </a:r>
          </a:p>
          <a:p>
            <a:pPr>
              <a:spcBef>
                <a:spcPts val="600"/>
              </a:spcBef>
            </a:pPr>
            <a:r>
              <a:rPr lang="en-US" sz="2800" dirty="0"/>
              <a:t>Cross-licensing agreements</a:t>
            </a:r>
          </a:p>
          <a:p>
            <a:pPr lvl="1">
              <a:spcBef>
                <a:spcPts val="300"/>
              </a:spcBef>
              <a:buClr>
                <a:schemeClr val="accent2"/>
              </a:buClr>
            </a:pPr>
            <a:r>
              <a:rPr lang="en-US" sz="2600" dirty="0"/>
              <a:t>Each party agrees not to sue the other over patent infringements</a:t>
            </a:r>
          </a:p>
          <a:p>
            <a:pPr lvl="1">
              <a:spcBef>
                <a:spcPts val="300"/>
              </a:spcBef>
              <a:buClr>
                <a:schemeClr val="accent2"/>
              </a:buClr>
            </a:pPr>
            <a:r>
              <a:rPr lang="en-US" sz="2600" dirty="0"/>
              <a:t>Typically involves large software companies</a:t>
            </a:r>
          </a:p>
          <a:p>
            <a:pPr lvl="1">
              <a:spcBef>
                <a:spcPts val="300"/>
              </a:spcBef>
              <a:buClr>
                <a:schemeClr val="accent2"/>
              </a:buClr>
            </a:pPr>
            <a:r>
              <a:rPr lang="en-US" sz="2600" dirty="0"/>
              <a:t>Small businesses, therefore, often must pay additional costs.</a:t>
            </a:r>
          </a:p>
          <a:p>
            <a:pPr lvl="1">
              <a:spcBef>
                <a:spcPts val="300"/>
              </a:spcBef>
              <a:buClr>
                <a:schemeClr val="accent2"/>
              </a:buClr>
            </a:pPr>
            <a:r>
              <a:rPr lang="en-US" sz="2600" dirty="0"/>
              <a:t>Small businesses are also generally unsuccessful in enforcing their patents against larger companies.</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Patents,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16961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211922"/>
          </a:xfrm>
        </p:spPr>
        <p:txBody>
          <a:bodyPr/>
          <a:lstStyle/>
          <a:p>
            <a:r>
              <a:rPr lang="en-US" sz="2800" b="1" dirty="0"/>
              <a:t>Trade secret: </a:t>
            </a:r>
            <a:r>
              <a:rPr lang="en-US" sz="2800" dirty="0"/>
              <a:t>Business information that has the following qualities:</a:t>
            </a:r>
          </a:p>
          <a:p>
            <a:pPr lvl="1">
              <a:buClr>
                <a:schemeClr val="accent2"/>
              </a:buClr>
            </a:pPr>
            <a:r>
              <a:rPr lang="en-US" sz="2600" dirty="0"/>
              <a:t>Represents something of economic value</a:t>
            </a:r>
          </a:p>
          <a:p>
            <a:pPr lvl="1">
              <a:buClr>
                <a:schemeClr val="accent2"/>
              </a:buClr>
            </a:pPr>
            <a:r>
              <a:rPr lang="en-US" sz="2600" dirty="0"/>
              <a:t>Required effort or cost to develop</a:t>
            </a:r>
          </a:p>
          <a:p>
            <a:pPr lvl="1">
              <a:buClr>
                <a:schemeClr val="accent2"/>
              </a:buClr>
            </a:pPr>
            <a:r>
              <a:rPr lang="en-US" sz="2600" dirty="0"/>
              <a:t>Has some degree of uniqueness or novelty</a:t>
            </a:r>
          </a:p>
          <a:p>
            <a:pPr lvl="1">
              <a:buClr>
                <a:schemeClr val="accent2"/>
              </a:buClr>
            </a:pPr>
            <a:r>
              <a:rPr lang="en-US" sz="2600" dirty="0"/>
              <a:t>Is generally unknown to the public</a:t>
            </a:r>
          </a:p>
          <a:p>
            <a:pPr lvl="1">
              <a:buClr>
                <a:schemeClr val="accent2"/>
              </a:buClr>
            </a:pPr>
            <a:r>
              <a:rPr lang="en-US" sz="2600" dirty="0"/>
              <a:t>Is kept confidential</a:t>
            </a:r>
          </a:p>
          <a:p>
            <a:r>
              <a:rPr lang="en-US" sz="2800" dirty="0"/>
              <a:t>Trade secret law protects only against the misappropriation of trade secrets.</a:t>
            </a:r>
          </a:p>
        </p:txBody>
      </p:sp>
      <p:sp>
        <p:nvSpPr>
          <p:cNvPr id="3" name="Title 2"/>
          <p:cNvSpPr>
            <a:spLocks noGrp="1"/>
          </p:cNvSpPr>
          <p:nvPr>
            <p:ph type="title"/>
          </p:nvPr>
        </p:nvSpPr>
        <p:spPr>
          <a:xfrm>
            <a:off x="762000" y="290459"/>
            <a:ext cx="8026400" cy="527837"/>
          </a:xfrm>
        </p:spPr>
        <p:txBody>
          <a:bodyPr/>
          <a:lstStyle/>
          <a:p>
            <a:r>
              <a:rPr lang="en-US" sz="4000" dirty="0"/>
              <a:t>Trade Secrets,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4623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076501"/>
          </a:xfrm>
        </p:spPr>
        <p:txBody>
          <a:bodyPr/>
          <a:lstStyle/>
          <a:p>
            <a:r>
              <a:rPr lang="en-US" sz="2800" dirty="0"/>
              <a:t>Trade secret laws protect more technology worldwide than patent laws do.</a:t>
            </a:r>
          </a:p>
          <a:p>
            <a:r>
              <a:rPr lang="en-US" sz="2800" dirty="0"/>
              <a:t>Key advantages:</a:t>
            </a:r>
          </a:p>
          <a:p>
            <a:pPr lvl="1">
              <a:buClr>
                <a:schemeClr val="accent2"/>
              </a:buClr>
            </a:pPr>
            <a:r>
              <a:rPr lang="en-US" sz="2600" dirty="0"/>
              <a:t>No time limitations on the protection of trade secrets</a:t>
            </a:r>
          </a:p>
          <a:p>
            <a:pPr lvl="1">
              <a:buClr>
                <a:schemeClr val="accent2"/>
              </a:buClr>
            </a:pPr>
            <a:r>
              <a:rPr lang="en-US" sz="2600" dirty="0"/>
              <a:t>No need to file an application, make disclosures to any person or agency, or disclose a trade secret to outsiders to gain protection</a:t>
            </a:r>
          </a:p>
          <a:p>
            <a:pPr lvl="1">
              <a:buClr>
                <a:schemeClr val="accent2"/>
              </a:buClr>
            </a:pPr>
            <a:r>
              <a:rPr lang="en-US" sz="2600" dirty="0"/>
              <a:t>Trade secrets cannot be ruled invalid by the courts</a:t>
            </a:r>
          </a:p>
          <a:p>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Trade Secrets,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789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639732"/>
          </a:xfrm>
        </p:spPr>
        <p:txBody>
          <a:bodyPr/>
          <a:lstStyle/>
          <a:p>
            <a:r>
              <a:rPr lang="en-US" sz="2800" dirty="0"/>
              <a:t>Trade secret laws vary greatly from country to country.</a:t>
            </a:r>
          </a:p>
          <a:p>
            <a:r>
              <a:rPr lang="en-US" sz="2800" dirty="0"/>
              <a:t>U.S. trade secret laws:</a:t>
            </a:r>
          </a:p>
          <a:p>
            <a:pPr lvl="1">
              <a:buClr>
                <a:schemeClr val="accent2"/>
              </a:buClr>
            </a:pPr>
            <a:r>
              <a:rPr lang="en-US" sz="2600" b="1" dirty="0"/>
              <a:t>Uniform Trade Secrets Act (UTSA): </a:t>
            </a:r>
            <a:r>
              <a:rPr lang="en-US" sz="2600" dirty="0"/>
              <a:t>Established uniformity across the states in area of trade secret law</a:t>
            </a:r>
          </a:p>
          <a:p>
            <a:pPr lvl="1">
              <a:buClr>
                <a:schemeClr val="accent2"/>
              </a:buClr>
            </a:pPr>
            <a:r>
              <a:rPr lang="en-US" sz="2600" b="1" dirty="0"/>
              <a:t>Economic Espionage Act (EEA) of 1996: </a:t>
            </a:r>
            <a:r>
              <a:rPr lang="en-US" sz="2600" dirty="0"/>
              <a:t>Imposes penalties for the theft of trade secrets</a:t>
            </a:r>
          </a:p>
          <a:p>
            <a:pPr lvl="1">
              <a:buClr>
                <a:schemeClr val="accent2"/>
              </a:buClr>
            </a:pPr>
            <a:r>
              <a:rPr lang="en-US" sz="2600" b="1" dirty="0"/>
              <a:t>Defend Trade Secrets Act of 2016: </a:t>
            </a:r>
            <a:r>
              <a:rPr lang="en-US" sz="2600" dirty="0"/>
              <a:t>Amended the EEA to create a federal civil remedy for trade secret misappropriation</a:t>
            </a:r>
          </a:p>
          <a:p>
            <a:pPr lvl="2"/>
            <a:r>
              <a:rPr lang="en-US" sz="2400" dirty="0"/>
              <a:t>Allows for seizure of property under certain conditions to prevent dissemination of the misappropriated trade secret</a:t>
            </a:r>
          </a:p>
        </p:txBody>
      </p:sp>
      <p:sp>
        <p:nvSpPr>
          <p:cNvPr id="3" name="Title 2"/>
          <p:cNvSpPr>
            <a:spLocks noGrp="1"/>
          </p:cNvSpPr>
          <p:nvPr>
            <p:ph type="title"/>
          </p:nvPr>
        </p:nvSpPr>
        <p:spPr>
          <a:xfrm>
            <a:off x="762000" y="290459"/>
            <a:ext cx="8026400" cy="527837"/>
          </a:xfrm>
        </p:spPr>
        <p:txBody>
          <a:bodyPr/>
          <a:lstStyle/>
          <a:p>
            <a:r>
              <a:rPr lang="en-US" sz="4000" dirty="0"/>
              <a:t>Trade Secrets,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3402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145750"/>
          </a:xfrm>
        </p:spPr>
        <p:txBody>
          <a:bodyPr/>
          <a:lstStyle/>
          <a:p>
            <a:r>
              <a:rPr lang="en-US" sz="2800" dirty="0"/>
              <a:t>Employees are the greatest threat to the loss of company trade secrets.</a:t>
            </a:r>
          </a:p>
          <a:p>
            <a:r>
              <a:rPr lang="en-US" sz="2800" b="1" dirty="0"/>
              <a:t>Nondisclosure clause: </a:t>
            </a:r>
            <a:r>
              <a:rPr lang="en-US" sz="2800" dirty="0"/>
              <a:t>Part of an employment contract that specifically prohibits an employee from revealing company secrets</a:t>
            </a:r>
          </a:p>
          <a:p>
            <a:r>
              <a:rPr lang="en-US" sz="2800" b="1" dirty="0"/>
              <a:t>Noncompete agreement: </a:t>
            </a:r>
            <a:r>
              <a:rPr lang="en-US" sz="2800" dirty="0"/>
              <a:t>Part of an employment contract that prohibits an employee from working for any competitors for a period of time</a:t>
            </a:r>
          </a:p>
          <a:p>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Trade Secrets,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961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769272"/>
          </a:xfrm>
        </p:spPr>
        <p:txBody>
          <a:bodyPr/>
          <a:lstStyle/>
          <a:p>
            <a:r>
              <a:rPr lang="en-US" sz="2800" b="1" dirty="0"/>
              <a:t>Plagiarism: </a:t>
            </a:r>
            <a:r>
              <a:rPr lang="en-US" sz="2800" dirty="0"/>
              <a:t>The act of stealing someone’s ideas or words and passing them off as one’s own</a:t>
            </a:r>
          </a:p>
          <a:p>
            <a:pPr>
              <a:spcBef>
                <a:spcPts val="600"/>
              </a:spcBef>
            </a:pPr>
            <a:r>
              <a:rPr lang="en-US" sz="2800" dirty="0"/>
              <a:t>Actions that schools can take to combat student plagiarism:</a:t>
            </a:r>
          </a:p>
          <a:p>
            <a:pPr lvl="1">
              <a:buClr>
                <a:schemeClr val="accent2"/>
              </a:buClr>
            </a:pPr>
            <a:r>
              <a:rPr lang="en-US" sz="2600" dirty="0"/>
              <a:t>Help students understand what constitutes plagiarism and why they need to cite sources</a:t>
            </a:r>
          </a:p>
          <a:p>
            <a:pPr lvl="1">
              <a:buClr>
                <a:schemeClr val="accent2"/>
              </a:buClr>
            </a:pPr>
            <a:r>
              <a:rPr lang="en-US" sz="2600" dirty="0"/>
              <a:t>Show students how to document material found online</a:t>
            </a:r>
          </a:p>
          <a:p>
            <a:pPr lvl="1">
              <a:buClr>
                <a:schemeClr val="accent2"/>
              </a:buClr>
            </a:pPr>
            <a:r>
              <a:rPr lang="en-US" sz="2600" dirty="0"/>
              <a:t>Schedule major writing assignments in portions due over the course of the term</a:t>
            </a:r>
          </a:p>
          <a:p>
            <a:pPr lvl="1">
              <a:buClr>
                <a:schemeClr val="accent2"/>
              </a:buClr>
            </a:pPr>
            <a:r>
              <a:rPr lang="en-US" sz="2600" dirty="0"/>
              <a:t>Tell students that instructors are aware of Internet paper mills and plagiarism detection services</a:t>
            </a:r>
          </a:p>
          <a:p>
            <a:pPr lvl="1">
              <a:buClr>
                <a:schemeClr val="accent2"/>
              </a:buClr>
            </a:pPr>
            <a:r>
              <a:rPr lang="en-US" sz="2600" dirty="0"/>
              <a:t>Incorporate detection software and services</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Plagiarism</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37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059847"/>
          </a:xfrm>
        </p:spPr>
        <p:txBody>
          <a:bodyPr/>
          <a:lstStyle/>
          <a:p>
            <a:r>
              <a:rPr lang="en-US" sz="2700" b="1" dirty="0"/>
              <a:t>Reverse engineering: </a:t>
            </a:r>
            <a:r>
              <a:rPr lang="en-US" sz="2700" dirty="0"/>
              <a:t>The process of taking something apart in order to understand it, build a copy of it, or improve it</a:t>
            </a:r>
          </a:p>
          <a:p>
            <a:pPr lvl="1">
              <a:buClr>
                <a:schemeClr val="accent2"/>
              </a:buClr>
            </a:pPr>
            <a:r>
              <a:rPr lang="en-US" sz="2600" dirty="0"/>
              <a:t>Applicable for both hardware and software</a:t>
            </a:r>
          </a:p>
          <a:p>
            <a:pPr lvl="1">
              <a:buClr>
                <a:schemeClr val="accent2"/>
              </a:buClr>
            </a:pPr>
            <a:r>
              <a:rPr lang="en-US" sz="2600" dirty="0"/>
              <a:t>Violates copyright and trade secret laws</a:t>
            </a:r>
          </a:p>
          <a:p>
            <a:r>
              <a:rPr lang="en-US" sz="2700" dirty="0"/>
              <a:t>Software license agreements typically forbid reverse engineering.</a:t>
            </a:r>
          </a:p>
          <a:p>
            <a:r>
              <a:rPr lang="en-US" sz="2700" dirty="0"/>
              <a:t>The courts have ruled in favor of using reverse engineering to enable interoperability.</a:t>
            </a:r>
          </a:p>
          <a:p>
            <a:r>
              <a:rPr lang="en-US" sz="2700" dirty="0"/>
              <a:t>Reverse engineering can also be a useful tool in detecting software bugs and security holes.</a:t>
            </a:r>
          </a:p>
        </p:txBody>
      </p:sp>
      <p:sp>
        <p:nvSpPr>
          <p:cNvPr id="3" name="Title 2"/>
          <p:cNvSpPr>
            <a:spLocks noGrp="1"/>
          </p:cNvSpPr>
          <p:nvPr>
            <p:ph type="title"/>
          </p:nvPr>
        </p:nvSpPr>
        <p:spPr>
          <a:xfrm>
            <a:off x="762000" y="290459"/>
            <a:ext cx="8026400" cy="527837"/>
          </a:xfrm>
        </p:spPr>
        <p:txBody>
          <a:bodyPr/>
          <a:lstStyle/>
          <a:p>
            <a:r>
              <a:rPr lang="en-US" sz="4000" dirty="0"/>
              <a:t>Reverse Engineering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19512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5359929"/>
          </a:xfrm>
        </p:spPr>
        <p:txBody>
          <a:bodyPr/>
          <a:lstStyle/>
          <a:p>
            <a:r>
              <a:rPr lang="en-US" sz="2800" dirty="0"/>
              <a:t>Open source code: Any program whose source code is made available for use or modification, as users or other developers see fit</a:t>
            </a:r>
          </a:p>
          <a:p>
            <a:pPr lvl="1">
              <a:buClr>
                <a:schemeClr val="accent2"/>
              </a:buClr>
            </a:pPr>
            <a:r>
              <a:rPr lang="en-US" sz="2600" dirty="0"/>
              <a:t>Advocates believe open source code produces better software than the traditional closed model</a:t>
            </a:r>
          </a:p>
          <a:p>
            <a:r>
              <a:rPr lang="en-US" sz="2800" dirty="0"/>
              <a:t>Reasons for developing open source code:</a:t>
            </a:r>
          </a:p>
          <a:p>
            <a:pPr lvl="1">
              <a:buClr>
                <a:schemeClr val="accent2"/>
              </a:buClr>
            </a:pPr>
            <a:r>
              <a:rPr lang="en-US" sz="2600" dirty="0"/>
              <a:t>To earn respect for solving a problem</a:t>
            </a:r>
          </a:p>
          <a:p>
            <a:pPr lvl="1">
              <a:buClr>
                <a:schemeClr val="accent2"/>
              </a:buClr>
            </a:pPr>
            <a:r>
              <a:rPr lang="en-US" sz="2600" dirty="0"/>
              <a:t>To pay back the developer community</a:t>
            </a:r>
          </a:p>
          <a:p>
            <a:pPr lvl="1">
              <a:buClr>
                <a:schemeClr val="accent2"/>
              </a:buClr>
            </a:pPr>
            <a:r>
              <a:rPr lang="en-US" sz="2600" dirty="0"/>
              <a:t>To promote expertise and/or attract new clients</a:t>
            </a:r>
          </a:p>
          <a:p>
            <a:pPr lvl="1">
              <a:buClr>
                <a:schemeClr val="accent2"/>
              </a:buClr>
            </a:pPr>
            <a:r>
              <a:rPr lang="en-US" sz="2600" dirty="0"/>
              <a:t>To recover maintenance cost</a:t>
            </a:r>
          </a:p>
          <a:p>
            <a:pPr lvl="1">
              <a:buClr>
                <a:schemeClr val="accent2"/>
              </a:buClr>
            </a:pPr>
            <a:r>
              <a:rPr lang="en-US" sz="2600" dirty="0"/>
              <a:t>To avoid the hassle of license and marketing</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Open Source Code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9977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227585"/>
          </a:xfrm>
        </p:spPr>
        <p:txBody>
          <a:bodyPr/>
          <a:lstStyle/>
          <a:p>
            <a:r>
              <a:rPr lang="en-US" sz="2700" b="1" dirty="0"/>
              <a:t>Competitive intelligence: </a:t>
            </a:r>
            <a:r>
              <a:rPr lang="en-US" sz="2700" dirty="0"/>
              <a:t>Legally obtained information gathered to help a company gain an advantage over rivals</a:t>
            </a:r>
          </a:p>
          <a:p>
            <a:pPr lvl="1">
              <a:spcBef>
                <a:spcPts val="300"/>
              </a:spcBef>
              <a:buClr>
                <a:schemeClr val="accent2"/>
              </a:buClr>
            </a:pPr>
            <a:r>
              <a:rPr lang="en-US" altLang="en-US" sz="2500" dirty="0"/>
              <a:t>Integrated into a company’s strategic plans and decision making</a:t>
            </a:r>
          </a:p>
          <a:p>
            <a:pPr lvl="1">
              <a:spcBef>
                <a:spcPts val="300"/>
              </a:spcBef>
              <a:buClr>
                <a:schemeClr val="accent2"/>
              </a:buClr>
            </a:pPr>
            <a:r>
              <a:rPr lang="en-US" altLang="en-US" sz="2500" dirty="0"/>
              <a:t>Not the same as </a:t>
            </a:r>
            <a:r>
              <a:rPr lang="en-US" sz="2500" dirty="0"/>
              <a:t>industrial espionage (the use </a:t>
            </a:r>
            <a:r>
              <a:rPr lang="en-CA" sz="2500" dirty="0"/>
              <a:t>of illegal means to obtain business information)</a:t>
            </a:r>
            <a:endParaRPr lang="en-US" altLang="en-US" sz="2500" b="1" dirty="0"/>
          </a:p>
          <a:p>
            <a:pPr>
              <a:spcBef>
                <a:spcPts val="600"/>
              </a:spcBef>
            </a:pPr>
            <a:r>
              <a:rPr lang="en-US" sz="2700" dirty="0"/>
              <a:t>Sources of competitive intelligence data:</a:t>
            </a:r>
          </a:p>
          <a:p>
            <a:pPr lvl="1">
              <a:spcBef>
                <a:spcPts val="300"/>
              </a:spcBef>
              <a:buClr>
                <a:schemeClr val="accent2"/>
              </a:buClr>
            </a:pPr>
            <a:r>
              <a:rPr lang="en-US" sz="2500" dirty="0"/>
              <a:t>Annual and quarterly reports</a:t>
            </a:r>
          </a:p>
          <a:p>
            <a:pPr lvl="1">
              <a:spcBef>
                <a:spcPts val="300"/>
              </a:spcBef>
              <a:buClr>
                <a:schemeClr val="accent2"/>
              </a:buClr>
            </a:pPr>
            <a:r>
              <a:rPr lang="en-US" sz="2500" dirty="0"/>
              <a:t>Promotional materials and websites</a:t>
            </a:r>
          </a:p>
          <a:p>
            <a:pPr lvl="1">
              <a:spcBef>
                <a:spcPts val="300"/>
              </a:spcBef>
              <a:buClr>
                <a:schemeClr val="accent2"/>
              </a:buClr>
            </a:pPr>
            <a:r>
              <a:rPr lang="en-US" sz="2500" dirty="0"/>
              <a:t>Credit reports and investment analyses</a:t>
            </a:r>
          </a:p>
          <a:p>
            <a:pPr lvl="1">
              <a:spcBef>
                <a:spcPts val="300"/>
              </a:spcBef>
              <a:buClr>
                <a:schemeClr val="accent2"/>
              </a:buClr>
            </a:pPr>
            <a:r>
              <a:rPr lang="en-US" sz="2500" dirty="0"/>
              <a:t>Software applications, databases, and social media tools, such as Rapportive, Crunchbase, CORI, and WhoGotFunded.com</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Competitive Intelligence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9928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4 (part 1): This table presents a checklist of questions a manager should ask in order to run an ethical competitive intelligence operation. &#10;Has the competitive intelligence organization developed a mission statement, objectives, goals, and a code of ethics?&#10;Has the company’s legal department approved the mission statement, objectives, goals, and code of ethics?&#10;Do analysts understand the need to abide by their organization’s code of ethics and corporate policies?&#10;Is there a rigorous training and certification process for analysts?&#10;Do analysts understand all applicable laws—domestic and international—including the Uniform Trade Secrets Act, Defend Trade Secrets Act, and the Economic Espionage Act, and do they understand the critical importance of abiding by them?"/>
          <p:cNvGraphicFramePr>
            <a:graphicFrameLocks noGrp="1"/>
          </p:cNvGraphicFramePr>
          <p:nvPr>
            <p:ph idx="1"/>
            <p:extLst>
              <p:ext uri="{D42A27DB-BD31-4B8C-83A1-F6EECF244321}">
                <p14:modId xmlns:p14="http://schemas.microsoft.com/office/powerpoint/2010/main" val="1570629055"/>
              </p:ext>
            </p:extLst>
          </p:nvPr>
        </p:nvGraphicFramePr>
        <p:xfrm>
          <a:off x="365125" y="1066800"/>
          <a:ext cx="8415339" cy="5231003"/>
        </p:xfrm>
        <a:graphic>
          <a:graphicData uri="http://schemas.openxmlformats.org/drawingml/2006/table">
            <a:tbl>
              <a:tblPr firstRow="1" bandRow="1">
                <a:tableStyleId>{5C22544A-7EE6-4342-B048-85BDC9FD1C3A}</a:tableStyleId>
              </a:tblPr>
              <a:tblGrid>
                <a:gridCol w="7254875">
                  <a:extLst>
                    <a:ext uri="{9D8B030D-6E8A-4147-A177-3AD203B41FA5}">
                      <a16:colId xmlns:a16="http://schemas.microsoft.com/office/drawing/2014/main" val="3537333476"/>
                    </a:ext>
                  </a:extLst>
                </a:gridCol>
                <a:gridCol w="609600">
                  <a:extLst>
                    <a:ext uri="{9D8B030D-6E8A-4147-A177-3AD203B41FA5}">
                      <a16:colId xmlns:a16="http://schemas.microsoft.com/office/drawing/2014/main" val="4169488854"/>
                    </a:ext>
                  </a:extLst>
                </a:gridCol>
                <a:gridCol w="550864">
                  <a:extLst>
                    <a:ext uri="{9D8B030D-6E8A-4147-A177-3AD203B41FA5}">
                      <a16:colId xmlns:a16="http://schemas.microsoft.com/office/drawing/2014/main" val="2181048457"/>
                    </a:ext>
                  </a:extLst>
                </a:gridCol>
              </a:tblGrid>
              <a:tr h="370840">
                <a:tc>
                  <a:txBody>
                    <a:bodyPr/>
                    <a:lstStyle/>
                    <a:p>
                      <a:r>
                        <a:rPr lang="en-US" sz="20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2146939194"/>
                  </a:ext>
                </a:extLst>
              </a:tr>
              <a:tr h="370840">
                <a:tc>
                  <a:txBody>
                    <a:bodyPr/>
                    <a:lstStyle/>
                    <a:p>
                      <a:pPr marL="285750" indent="-285750">
                        <a:lnSpc>
                          <a:spcPct val="114000"/>
                        </a:lnSpc>
                        <a:buClr>
                          <a:schemeClr val="accent2"/>
                        </a:buClr>
                        <a:buFont typeface="Arial" panose="020B0604020202020204" pitchFamily="34" charset="0"/>
                        <a:buChar char="•"/>
                      </a:pPr>
                      <a:r>
                        <a:rPr lang="en-US" sz="2100" dirty="0"/>
                        <a:t>Has the competitive intelligence organization developed a mission statement, objectives, goals, and a code of ethics?</a:t>
                      </a:r>
                    </a:p>
                    <a:p>
                      <a:pPr marL="285750" indent="-285750">
                        <a:lnSpc>
                          <a:spcPct val="114000"/>
                        </a:lnSpc>
                        <a:buClr>
                          <a:schemeClr val="accent2"/>
                        </a:buClr>
                        <a:buFont typeface="Arial" panose="020B0604020202020204" pitchFamily="34" charset="0"/>
                        <a:buChar char="•"/>
                      </a:pPr>
                      <a:r>
                        <a:rPr lang="en-US" sz="2100" dirty="0"/>
                        <a:t>Has the company’s legal department approved the mission statement, objectives, goals, and code of ethics?</a:t>
                      </a:r>
                    </a:p>
                    <a:p>
                      <a:pPr marL="285750" indent="-285750">
                        <a:lnSpc>
                          <a:spcPct val="114000"/>
                        </a:lnSpc>
                        <a:buClr>
                          <a:schemeClr val="accent2"/>
                        </a:buClr>
                        <a:buFont typeface="Arial" panose="020B0604020202020204" pitchFamily="34" charset="0"/>
                        <a:buChar char="•"/>
                      </a:pPr>
                      <a:r>
                        <a:rPr lang="en-US" sz="2100" dirty="0"/>
                        <a:t>Do analysts understand the need to abide by their organization’s code of ethics and corporate policies?</a:t>
                      </a:r>
                    </a:p>
                    <a:p>
                      <a:pPr marL="285750" indent="-285750">
                        <a:lnSpc>
                          <a:spcPct val="114000"/>
                        </a:lnSpc>
                        <a:buClr>
                          <a:schemeClr val="accent2"/>
                        </a:buClr>
                        <a:buFont typeface="Arial" panose="020B0604020202020204" pitchFamily="34" charset="0"/>
                        <a:buChar char="•"/>
                      </a:pPr>
                      <a:r>
                        <a:rPr lang="en-US" sz="2100" dirty="0"/>
                        <a:t>Is there a rigorous training and certification process for analysts?</a:t>
                      </a:r>
                    </a:p>
                    <a:p>
                      <a:pPr marL="285750" indent="-285750">
                        <a:lnSpc>
                          <a:spcPct val="114000"/>
                        </a:lnSpc>
                        <a:buClr>
                          <a:schemeClr val="accent2"/>
                        </a:buClr>
                        <a:buFont typeface="Arial" panose="020B0604020202020204" pitchFamily="34" charset="0"/>
                        <a:buChar char="•"/>
                      </a:pPr>
                      <a:r>
                        <a:rPr lang="en-US" sz="2100" dirty="0"/>
                        <a:t>Do analysts understand all applicable laws—domestic and international—including the Uniform Trade Secrets Act, Defend Trade Secrets Act, and the Economic Espionage Act, and do they understand the critical importance of abiding by them?</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8938185"/>
                  </a:ext>
                </a:extLst>
              </a:tr>
            </a:tbl>
          </a:graphicData>
        </a:graphic>
      </p:graphicFrame>
      <p:sp>
        <p:nvSpPr>
          <p:cNvPr id="3" name="Title 2"/>
          <p:cNvSpPr>
            <a:spLocks noGrp="1"/>
          </p:cNvSpPr>
          <p:nvPr>
            <p:ph type="title"/>
          </p:nvPr>
        </p:nvSpPr>
        <p:spPr>
          <a:xfrm>
            <a:off x="762000" y="186519"/>
            <a:ext cx="8026400" cy="735714"/>
          </a:xfrm>
        </p:spPr>
        <p:txBody>
          <a:bodyPr/>
          <a:lstStyle/>
          <a:p>
            <a:r>
              <a:rPr lang="en-US" sz="2800" dirty="0"/>
              <a:t>A Manager’s Checklist for Running an Ethical Competitive Intelligence Operation,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65042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6-4 (part 2): This table presents a checklist of questions a manager should ask in order to run an ethical competitive intelligence operation. &#10;Do analysts disclose their true identity as well as the name of their organization prior to any interviews?&#10;Do analysts understand that everything their firm learns about the competition must be obtained legally?&#10;Do analysts respect all requests for anonymity and confidentiality of information?&#10;Has the company’s legal department approved the processes for gathering data?&#10;Do analysts provide honest recommendations and conclusions?&#10;Is the use of third parties to gather competitive intelligence carefully reviewed and managed?&#10;"/>
          <p:cNvGraphicFramePr>
            <a:graphicFrameLocks noGrp="1"/>
          </p:cNvGraphicFramePr>
          <p:nvPr>
            <p:ph idx="1"/>
            <p:extLst>
              <p:ext uri="{D42A27DB-BD31-4B8C-83A1-F6EECF244321}">
                <p14:modId xmlns:p14="http://schemas.microsoft.com/office/powerpoint/2010/main" val="2408963472"/>
              </p:ext>
            </p:extLst>
          </p:nvPr>
        </p:nvGraphicFramePr>
        <p:xfrm>
          <a:off x="365125" y="1371600"/>
          <a:ext cx="8415339" cy="4866132"/>
        </p:xfrm>
        <a:graphic>
          <a:graphicData uri="http://schemas.openxmlformats.org/drawingml/2006/table">
            <a:tbl>
              <a:tblPr firstRow="1" bandRow="1">
                <a:tableStyleId>{5C22544A-7EE6-4342-B048-85BDC9FD1C3A}</a:tableStyleId>
              </a:tblPr>
              <a:tblGrid>
                <a:gridCol w="7254875">
                  <a:extLst>
                    <a:ext uri="{9D8B030D-6E8A-4147-A177-3AD203B41FA5}">
                      <a16:colId xmlns:a16="http://schemas.microsoft.com/office/drawing/2014/main" val="3537333476"/>
                    </a:ext>
                  </a:extLst>
                </a:gridCol>
                <a:gridCol w="609600">
                  <a:extLst>
                    <a:ext uri="{9D8B030D-6E8A-4147-A177-3AD203B41FA5}">
                      <a16:colId xmlns:a16="http://schemas.microsoft.com/office/drawing/2014/main" val="4169488854"/>
                    </a:ext>
                  </a:extLst>
                </a:gridCol>
                <a:gridCol w="550864">
                  <a:extLst>
                    <a:ext uri="{9D8B030D-6E8A-4147-A177-3AD203B41FA5}">
                      <a16:colId xmlns:a16="http://schemas.microsoft.com/office/drawing/2014/main" val="2181048457"/>
                    </a:ext>
                  </a:extLst>
                </a:gridCol>
              </a:tblGrid>
              <a:tr h="370840">
                <a:tc>
                  <a:txBody>
                    <a:bodyPr/>
                    <a:lstStyle/>
                    <a:p>
                      <a:r>
                        <a:rPr lang="en-US" sz="2000" dirty="0"/>
                        <a:t>QUESTION</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2146939194"/>
                  </a:ext>
                </a:extLst>
              </a:tr>
              <a:tr h="370840">
                <a:tc>
                  <a:txBody>
                    <a:bodyPr/>
                    <a:lstStyle/>
                    <a:p>
                      <a:pPr marL="285750" indent="-285750">
                        <a:lnSpc>
                          <a:spcPct val="114000"/>
                        </a:lnSpc>
                        <a:buClr>
                          <a:schemeClr val="accent2"/>
                        </a:buClr>
                        <a:buFont typeface="Arial" panose="020B0604020202020204" pitchFamily="34" charset="0"/>
                        <a:buChar char="•"/>
                      </a:pPr>
                      <a:r>
                        <a:rPr lang="en-US" sz="2100" dirty="0"/>
                        <a:t>Do analysts disclose their true identity as well as the name of their organization prior to any interviews?</a:t>
                      </a:r>
                    </a:p>
                    <a:p>
                      <a:pPr marL="285750" indent="-285750">
                        <a:lnSpc>
                          <a:spcPct val="114000"/>
                        </a:lnSpc>
                        <a:buClr>
                          <a:schemeClr val="accent2"/>
                        </a:buClr>
                        <a:buFont typeface="Arial" panose="020B0604020202020204" pitchFamily="34" charset="0"/>
                        <a:buChar char="•"/>
                      </a:pPr>
                      <a:r>
                        <a:rPr lang="en-US" sz="2100" dirty="0"/>
                        <a:t>Do analysts understand that everything their firm learns about the competition must be obtained legally?</a:t>
                      </a:r>
                    </a:p>
                    <a:p>
                      <a:pPr marL="285750" indent="-285750">
                        <a:lnSpc>
                          <a:spcPct val="114000"/>
                        </a:lnSpc>
                        <a:buClr>
                          <a:schemeClr val="accent2"/>
                        </a:buClr>
                        <a:buFont typeface="Arial" panose="020B0604020202020204" pitchFamily="34" charset="0"/>
                        <a:buChar char="•"/>
                      </a:pPr>
                      <a:r>
                        <a:rPr lang="en-US" sz="2100" dirty="0"/>
                        <a:t>Do analysts respect all requests for anonymity and confidentiality of information?</a:t>
                      </a:r>
                    </a:p>
                    <a:p>
                      <a:pPr marL="285750" indent="-285750">
                        <a:lnSpc>
                          <a:spcPct val="114000"/>
                        </a:lnSpc>
                        <a:buClr>
                          <a:schemeClr val="accent2"/>
                        </a:buClr>
                        <a:buFont typeface="Arial" panose="020B0604020202020204" pitchFamily="34" charset="0"/>
                        <a:buChar char="•"/>
                      </a:pPr>
                      <a:r>
                        <a:rPr lang="en-US" sz="2100" dirty="0"/>
                        <a:t>Has the company’s legal department approved the processes for gathering data?</a:t>
                      </a:r>
                    </a:p>
                    <a:p>
                      <a:pPr marL="285750" indent="-285750">
                        <a:lnSpc>
                          <a:spcPct val="114000"/>
                        </a:lnSpc>
                        <a:buClr>
                          <a:schemeClr val="accent2"/>
                        </a:buClr>
                        <a:buFont typeface="Arial" panose="020B0604020202020204" pitchFamily="34" charset="0"/>
                        <a:buChar char="•"/>
                      </a:pPr>
                      <a:r>
                        <a:rPr lang="en-US" sz="2100" dirty="0"/>
                        <a:t>Do analysts provide honest recommendations and conclusions?</a:t>
                      </a:r>
                    </a:p>
                    <a:p>
                      <a:pPr marL="285750" indent="-285750">
                        <a:lnSpc>
                          <a:spcPct val="114000"/>
                        </a:lnSpc>
                        <a:buClr>
                          <a:schemeClr val="accent2"/>
                        </a:buClr>
                        <a:buFont typeface="Arial" panose="020B0604020202020204" pitchFamily="34" charset="0"/>
                        <a:buChar char="•"/>
                      </a:pPr>
                      <a:r>
                        <a:rPr lang="en-US" sz="2100" dirty="0"/>
                        <a:t>Is the use of third parties to gather competitive intelligence carefully reviewed and managed?</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8938185"/>
                  </a:ext>
                </a:extLst>
              </a:tr>
            </a:tbl>
          </a:graphicData>
        </a:graphic>
      </p:graphicFrame>
      <p:sp>
        <p:nvSpPr>
          <p:cNvPr id="3" name="Title 2"/>
          <p:cNvSpPr>
            <a:spLocks noGrp="1"/>
          </p:cNvSpPr>
          <p:nvPr>
            <p:ph type="title"/>
          </p:nvPr>
        </p:nvSpPr>
        <p:spPr>
          <a:xfrm>
            <a:off x="762000" y="186519"/>
            <a:ext cx="8026400" cy="735714"/>
          </a:xfrm>
        </p:spPr>
        <p:txBody>
          <a:bodyPr/>
          <a:lstStyle/>
          <a:p>
            <a:r>
              <a:rPr lang="en-US" sz="2800" dirty="0"/>
              <a:t>A Manager’s Checklist for Running an Ethical Competitive Intelligence Operation,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9120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485843"/>
          </a:xfrm>
        </p:spPr>
        <p:txBody>
          <a:bodyPr/>
          <a:lstStyle/>
          <a:p>
            <a:r>
              <a:rPr lang="en-US" sz="3000" b="1" dirty="0"/>
              <a:t>Trademark: </a:t>
            </a:r>
            <a:r>
              <a:rPr lang="en-US" sz="3000" dirty="0"/>
              <a:t>A logo, package design, phrase, sound, or word that enables a consumer to differentiate </a:t>
            </a:r>
            <a:br>
              <a:rPr lang="en-US" sz="3000" dirty="0"/>
            </a:br>
            <a:r>
              <a:rPr lang="en-US" sz="3000" dirty="0"/>
              <a:t>one company’s products from another’s</a:t>
            </a:r>
          </a:p>
          <a:p>
            <a:pPr lvl="1">
              <a:buClr>
                <a:schemeClr val="accent2"/>
              </a:buClr>
            </a:pPr>
            <a:r>
              <a:rPr lang="en-US" sz="2800" dirty="0"/>
              <a:t>Can be renewed forever, so long as a mark is in use</a:t>
            </a:r>
          </a:p>
          <a:p>
            <a:r>
              <a:rPr lang="en-US" sz="2800" dirty="0"/>
              <a:t>Lanham Act of </a:t>
            </a:r>
            <a:r>
              <a:rPr lang="en-US" sz="2800" dirty="0">
                <a:latin typeface="Calibri" panose="020F0502020204030204" pitchFamily="34" charset="0"/>
                <a:cs typeface="Calibri" panose="020F0502020204030204" pitchFamily="34" charset="0"/>
              </a:rPr>
              <a:t>1946</a:t>
            </a:r>
          </a:p>
          <a:p>
            <a:pPr lvl="1">
              <a:buClr>
                <a:schemeClr val="accent2"/>
              </a:buClr>
            </a:pPr>
            <a:r>
              <a:rPr lang="en-US" sz="2600" dirty="0"/>
              <a:t>Defines the use of a trademark and the process for obtaining a trademark from the USPTO</a:t>
            </a:r>
          </a:p>
          <a:p>
            <a:pPr lvl="1">
              <a:buClr>
                <a:schemeClr val="accent2"/>
              </a:buClr>
            </a:pPr>
            <a:r>
              <a:rPr lang="en-US" sz="2600" dirty="0"/>
              <a:t>Outlines penalties associated with trademark </a:t>
            </a:r>
            <a:br>
              <a:rPr lang="en-US" sz="2600" dirty="0"/>
            </a:br>
            <a:r>
              <a:rPr lang="en-US" sz="2600" dirty="0"/>
              <a:t>infringement</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Trademark Infringement</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69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321183"/>
          </a:xfrm>
        </p:spPr>
        <p:txBody>
          <a:bodyPr/>
          <a:lstStyle/>
          <a:p>
            <a:r>
              <a:rPr lang="en-US" sz="2800" dirty="0"/>
              <a:t>Nominative fair use: A defense employed by the defendant in a trademark infringement case, requires proving the following:</a:t>
            </a:r>
          </a:p>
          <a:p>
            <a:pPr lvl="1">
              <a:buClr>
                <a:schemeClr val="accent2"/>
              </a:buClr>
            </a:pPr>
            <a:r>
              <a:rPr lang="en-US" sz="2600" dirty="0"/>
              <a:t>Plaintiff’s product or service cannot be readily identifiable without using the plaintiff’s mark</a:t>
            </a:r>
          </a:p>
          <a:p>
            <a:pPr lvl="1">
              <a:buClr>
                <a:schemeClr val="accent2"/>
              </a:buClr>
            </a:pPr>
            <a:r>
              <a:rPr lang="en-US" sz="2600" dirty="0"/>
              <a:t>Defendant uses only as much of the plaintiff’s mark as necessary to identify the defendant’s product or service</a:t>
            </a:r>
          </a:p>
          <a:p>
            <a:pPr lvl="1">
              <a:buClr>
                <a:schemeClr val="accent2"/>
              </a:buClr>
            </a:pPr>
            <a:r>
              <a:rPr lang="en-US" sz="2600" dirty="0"/>
              <a:t>Defendant does nothing with the plaintiff’s mark that suggests endorsement or sponsorship by the plaintiff</a:t>
            </a:r>
          </a:p>
          <a:p>
            <a:endParaRPr lang="en-US" dirty="0"/>
          </a:p>
        </p:txBody>
      </p:sp>
      <p:sp>
        <p:nvSpPr>
          <p:cNvPr id="3" name="Title 2"/>
          <p:cNvSpPr>
            <a:spLocks noGrp="1"/>
          </p:cNvSpPr>
          <p:nvPr>
            <p:ph type="title"/>
          </p:nvPr>
        </p:nvSpPr>
        <p:spPr>
          <a:xfrm>
            <a:off x="754063" y="341401"/>
            <a:ext cx="8026400" cy="527837"/>
          </a:xfrm>
        </p:spPr>
        <p:txBody>
          <a:bodyPr/>
          <a:lstStyle/>
          <a:p>
            <a:r>
              <a:rPr lang="en-US" sz="4000" dirty="0"/>
              <a:t>Nominative Fair Use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46307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230389"/>
          </a:xfrm>
        </p:spPr>
        <p:txBody>
          <a:bodyPr/>
          <a:lstStyle/>
          <a:p>
            <a:r>
              <a:rPr lang="en-US" sz="2700" b="1" dirty="0"/>
              <a:t>Cybersquatter: </a:t>
            </a:r>
            <a:r>
              <a:rPr lang="en-US" sz="2700" dirty="0"/>
              <a:t>An individual or company that registers domain names for famous trademarks or company names to which they have no connection</a:t>
            </a:r>
          </a:p>
          <a:p>
            <a:pPr lvl="1">
              <a:buClr>
                <a:schemeClr val="accent2"/>
              </a:buClr>
            </a:pPr>
            <a:r>
              <a:rPr lang="en-US" sz="2600" dirty="0"/>
              <a:t>Goal is to sell domain name for a large sum of money</a:t>
            </a:r>
          </a:p>
          <a:p>
            <a:r>
              <a:rPr lang="en-US" sz="2700" dirty="0"/>
              <a:t>Tactics to circumvent cybersquatting:</a:t>
            </a:r>
          </a:p>
          <a:p>
            <a:pPr lvl="1">
              <a:buClr>
                <a:schemeClr val="accent2"/>
              </a:buClr>
            </a:pPr>
            <a:r>
              <a:rPr lang="en-US" sz="2600" dirty="0"/>
              <a:t>Promptly register all possible domain names and variations </a:t>
            </a:r>
          </a:p>
          <a:p>
            <a:pPr lvl="1">
              <a:buClr>
                <a:schemeClr val="accent2"/>
              </a:buClr>
            </a:pPr>
            <a:r>
              <a:rPr lang="en-US" sz="2600" dirty="0"/>
              <a:t>ICANN’s Uniform Domain-Name Dispute-Resolution Policy:</a:t>
            </a:r>
          </a:p>
          <a:p>
            <a:pPr lvl="2"/>
            <a:r>
              <a:rPr lang="en-US" sz="2400" dirty="0"/>
              <a:t>Designed to provide for fast, relatively inexpensive arbitration of a trademark owner’s complaint that a domain name was registered or used in bad faith</a:t>
            </a:r>
          </a:p>
        </p:txBody>
      </p:sp>
      <p:sp>
        <p:nvSpPr>
          <p:cNvPr id="3" name="Title 2"/>
          <p:cNvSpPr>
            <a:spLocks noGrp="1"/>
          </p:cNvSpPr>
          <p:nvPr>
            <p:ph type="title"/>
          </p:nvPr>
        </p:nvSpPr>
        <p:spPr>
          <a:xfrm>
            <a:off x="762000" y="290459"/>
            <a:ext cx="8026400" cy="527837"/>
          </a:xfrm>
        </p:spPr>
        <p:txBody>
          <a:bodyPr/>
          <a:lstStyle/>
          <a:p>
            <a:r>
              <a:rPr lang="en-US" sz="4000" dirty="0"/>
              <a:t>Cybersquatting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47810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238357"/>
          </a:xfrm>
        </p:spPr>
        <p:txBody>
          <a:bodyPr/>
          <a:lstStyle/>
          <a:p>
            <a:r>
              <a:rPr lang="en-US" sz="2700" b="1" dirty="0"/>
              <a:t>What does the term </a:t>
            </a:r>
            <a:r>
              <a:rPr lang="en-US" sz="2700" b="1" i="1" dirty="0"/>
              <a:t>intellectual property </a:t>
            </a:r>
            <a:r>
              <a:rPr lang="en-US" sz="2700" b="1" dirty="0"/>
              <a:t>encompass, and what measures can organizations take to protect their intellectual property?</a:t>
            </a:r>
          </a:p>
          <a:p>
            <a:pPr lvl="1">
              <a:buClr>
                <a:schemeClr val="accent2"/>
              </a:buClr>
            </a:pPr>
            <a:r>
              <a:rPr lang="en-US" sz="2500" dirty="0"/>
              <a:t>Intellectual property: Describes works of the mind that are distinct and owned or created by a single person or group</a:t>
            </a:r>
          </a:p>
          <a:p>
            <a:pPr lvl="1">
              <a:buClr>
                <a:schemeClr val="accent2"/>
              </a:buClr>
            </a:pPr>
            <a:r>
              <a:rPr lang="en-US" sz="2500" dirty="0"/>
              <a:t>Intellectual property is protected by copyrights, patents, trademarks, and trade secrets law.</a:t>
            </a:r>
          </a:p>
          <a:p>
            <a:pPr lvl="1">
              <a:buClr>
                <a:schemeClr val="accent2"/>
              </a:buClr>
            </a:pPr>
            <a:r>
              <a:rPr lang="en-US" sz="2500" dirty="0"/>
              <a:t>Copyright is the exclusive right to distribute, display, perform, or reproduce an original work</a:t>
            </a:r>
          </a:p>
          <a:p>
            <a:pPr lvl="1">
              <a:buClr>
                <a:schemeClr val="accent2"/>
              </a:buClr>
            </a:pPr>
            <a:r>
              <a:rPr lang="en-US" sz="2500" dirty="0"/>
              <a:t>Fair use doctrine established four factors for courts to consider when deciding whether a use of copyrighted property is fair.</a:t>
            </a:r>
          </a:p>
          <a:p>
            <a:pPr marL="228600" lvl="1" indent="0">
              <a:buClr>
                <a:schemeClr val="accent2"/>
              </a:buClr>
              <a:buNone/>
            </a:pPr>
            <a:endParaRPr lang="en-US" sz="2600" b="1" dirty="0"/>
          </a:p>
        </p:txBody>
      </p:sp>
      <p:sp>
        <p:nvSpPr>
          <p:cNvPr id="3" name="Title 2"/>
          <p:cNvSpPr>
            <a:spLocks noGrp="1"/>
          </p:cNvSpPr>
          <p:nvPr>
            <p:ph type="title"/>
          </p:nvPr>
        </p:nvSpPr>
        <p:spPr>
          <a:xfrm>
            <a:off x="762000" y="290459"/>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62197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645392"/>
          </a:xfrm>
        </p:spPr>
        <p:txBody>
          <a:bodyPr/>
          <a:lstStyle/>
          <a:p>
            <a:r>
              <a:rPr lang="en-US" sz="2700" b="1" dirty="0"/>
              <a:t>What does the term </a:t>
            </a:r>
            <a:r>
              <a:rPr lang="en-US" sz="2700" b="1" i="1" dirty="0"/>
              <a:t>intellectual property</a:t>
            </a:r>
            <a:r>
              <a:rPr lang="en-US" sz="2700" b="1" dirty="0"/>
              <a:t> encompass, and what measures can organizations take to protect their intellectual property?</a:t>
            </a:r>
          </a:p>
          <a:p>
            <a:pPr lvl="1">
              <a:buClr>
                <a:schemeClr val="accent2"/>
              </a:buClr>
            </a:pPr>
            <a:r>
              <a:rPr lang="en-US" sz="2500" dirty="0"/>
              <a:t>The Prioritizing Resources and Organization for Intellectual Property (PRO-IP) Act of 2008: Increased trademark and copyright enforcement</a:t>
            </a:r>
          </a:p>
          <a:p>
            <a:pPr lvl="1">
              <a:buClr>
                <a:schemeClr val="accent2"/>
              </a:buClr>
            </a:pPr>
            <a:r>
              <a:rPr lang="en-US" sz="2500" dirty="0"/>
              <a:t>General Agreement on Tariffs and Trade (GATT)</a:t>
            </a:r>
          </a:p>
          <a:p>
            <a:pPr lvl="2"/>
            <a:r>
              <a:rPr lang="en-US" sz="2300" dirty="0"/>
              <a:t>The Agreement on Trade-Related Aspects of Intellectual Property Rights (TRIPS) covers copyrights</a:t>
            </a:r>
          </a:p>
          <a:p>
            <a:pPr lvl="1">
              <a:buClr>
                <a:schemeClr val="accent2"/>
              </a:buClr>
            </a:pPr>
            <a:r>
              <a:rPr lang="en-US" sz="2500" dirty="0"/>
              <a:t>Digital Millennium Copyright Act (DMCA): Makes it illegal to access (or develop tools that allow others to access) a technologically protected work; limits the liability of ISPs for copyright infringement by their customers.</a:t>
            </a:r>
          </a:p>
          <a:p>
            <a:pPr marL="0" indent="0">
              <a:buNone/>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27764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5344540"/>
          </a:xfrm>
        </p:spPr>
        <p:txBody>
          <a:bodyPr/>
          <a:lstStyle/>
          <a:p>
            <a:r>
              <a:rPr lang="en-US" sz="2700" b="1" dirty="0"/>
              <a:t>What does the term </a:t>
            </a:r>
            <a:r>
              <a:rPr lang="en-US" sz="2700" b="1" i="1" dirty="0"/>
              <a:t>intellectual property</a:t>
            </a:r>
            <a:r>
              <a:rPr lang="en-US" sz="2700" b="1" dirty="0"/>
              <a:t> encompass, and what measures can organizations take to protect their intellectual property?</a:t>
            </a:r>
          </a:p>
          <a:p>
            <a:pPr lvl="1">
              <a:buClr>
                <a:schemeClr val="accent2"/>
              </a:buClr>
            </a:pPr>
            <a:r>
              <a:rPr lang="en-US" sz="2500" dirty="0"/>
              <a:t>Patent: A grant of property right issued by the USPTO that permits its owner to exclude the public from making, using, or selling a protected invention</a:t>
            </a:r>
          </a:p>
          <a:p>
            <a:pPr lvl="1">
              <a:buClr>
                <a:schemeClr val="accent2"/>
              </a:buClr>
            </a:pPr>
            <a:r>
              <a:rPr lang="en-US" sz="2500" dirty="0"/>
              <a:t>Courts can award up to three times the amount of damages claimed by the patent holder if infringement is found</a:t>
            </a:r>
          </a:p>
          <a:p>
            <a:pPr lvl="1">
              <a:buClr>
                <a:schemeClr val="accent2"/>
              </a:buClr>
            </a:pPr>
            <a:r>
              <a:rPr lang="en-US" sz="2500" dirty="0"/>
              <a:t>The Leahy-Smith America Invents Act changed the U.S. patent system from a “first-to-invent” to a “first-inventor-to file” system; expanded definition of prior art</a:t>
            </a:r>
          </a:p>
          <a:p>
            <a:pPr lvl="1">
              <a:buClr>
                <a:schemeClr val="accent2"/>
              </a:buClr>
            </a:pPr>
            <a:endParaRPr lang="en-US" sz="2500" dirty="0"/>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Summary,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79635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6351739"/>
          </a:xfrm>
        </p:spPr>
        <p:txBody>
          <a:bodyPr/>
          <a:lstStyle/>
          <a:p>
            <a:r>
              <a:rPr lang="en-US" sz="2700" b="1" dirty="0"/>
              <a:t>What does the term </a:t>
            </a:r>
            <a:r>
              <a:rPr lang="en-US" sz="2700" b="1" i="1" dirty="0"/>
              <a:t>intellectual prope</a:t>
            </a:r>
            <a:r>
              <a:rPr lang="en-US" sz="2700" b="1" dirty="0"/>
              <a:t>rty encompass, and what measures can organizations take to protect their intellectual property?</a:t>
            </a:r>
          </a:p>
          <a:p>
            <a:pPr lvl="1">
              <a:buClr>
                <a:schemeClr val="accent2"/>
              </a:buClr>
            </a:pPr>
            <a:r>
              <a:rPr lang="en-US" sz="2500" dirty="0"/>
              <a:t>Trade secret: </a:t>
            </a:r>
          </a:p>
          <a:p>
            <a:pPr lvl="2">
              <a:spcBef>
                <a:spcPts val="300"/>
              </a:spcBef>
              <a:buClr>
                <a:schemeClr val="accent2"/>
              </a:buClr>
            </a:pPr>
            <a:r>
              <a:rPr lang="en-US" sz="2300" dirty="0"/>
              <a:t>Information must have economic value, must not be readily ascertainable, and must have been kept confidential</a:t>
            </a:r>
          </a:p>
          <a:p>
            <a:pPr lvl="2">
              <a:spcBef>
                <a:spcPts val="300"/>
              </a:spcBef>
              <a:buClr>
                <a:schemeClr val="accent2"/>
              </a:buClr>
            </a:pPr>
            <a:r>
              <a:rPr lang="en-US" sz="2300" dirty="0"/>
              <a:t>Protected by: The Uniform Trade Secrets Act, the Economic Espionage Act, and the Defend Trade Secrets Act</a:t>
            </a:r>
          </a:p>
          <a:p>
            <a:pPr lvl="1">
              <a:buClr>
                <a:schemeClr val="accent2"/>
              </a:buClr>
            </a:pPr>
            <a:r>
              <a:rPr lang="en-US" sz="2500" dirty="0"/>
              <a:t>Key advantages of trade secret law:</a:t>
            </a:r>
          </a:p>
          <a:p>
            <a:pPr lvl="2">
              <a:spcBef>
                <a:spcPts val="300"/>
              </a:spcBef>
              <a:buClr>
                <a:schemeClr val="accent2"/>
              </a:buClr>
            </a:pPr>
            <a:r>
              <a:rPr lang="en-US" sz="2300" dirty="0"/>
              <a:t>No time limits on protection</a:t>
            </a:r>
          </a:p>
          <a:p>
            <a:pPr lvl="2">
              <a:spcBef>
                <a:spcPts val="300"/>
              </a:spcBef>
              <a:buClr>
                <a:schemeClr val="accent2"/>
              </a:buClr>
            </a:pPr>
            <a:r>
              <a:rPr lang="en-US" sz="2300" dirty="0"/>
              <a:t>No need to file an application to gain protection</a:t>
            </a:r>
          </a:p>
          <a:p>
            <a:pPr lvl="2">
              <a:spcBef>
                <a:spcPts val="300"/>
              </a:spcBef>
              <a:buClr>
                <a:schemeClr val="accent2"/>
              </a:buClr>
            </a:pPr>
            <a:r>
              <a:rPr lang="en-US" sz="2300" dirty="0"/>
              <a:t>No risk that a trade secret might be found invalid in court </a:t>
            </a:r>
          </a:p>
          <a:p>
            <a:pPr lvl="1">
              <a:buClr>
                <a:schemeClr val="accent2"/>
              </a:buClr>
            </a:pPr>
            <a:r>
              <a:rPr lang="en-US" sz="2500" dirty="0"/>
              <a:t>Employers protect their intellectual property through nondisclosure clauses and noncompete agreements</a:t>
            </a:r>
          </a:p>
          <a:p>
            <a:pPr lvl="1">
              <a:buClr>
                <a:schemeClr val="accent2"/>
              </a:buClr>
            </a:pPr>
            <a:endParaRPr lang="en-US" sz="2500" dirty="0"/>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26739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190652"/>
          </a:xfrm>
        </p:spPr>
        <p:txBody>
          <a:bodyPr/>
          <a:lstStyle/>
          <a:p>
            <a:r>
              <a:rPr lang="en-US" sz="2700" b="1" dirty="0"/>
              <a:t>What are some of the current issues associated with the protection of intellectual property?</a:t>
            </a:r>
          </a:p>
          <a:p>
            <a:pPr lvl="1">
              <a:buClr>
                <a:schemeClr val="accent2"/>
              </a:buClr>
            </a:pPr>
            <a:r>
              <a:rPr lang="en-US" sz="2800" dirty="0"/>
              <a:t>Plagiarism: Stealing someone’s ideas or words and passing them off as one’s own</a:t>
            </a:r>
          </a:p>
          <a:p>
            <a:pPr lvl="1">
              <a:buClr>
                <a:schemeClr val="accent2"/>
              </a:buClr>
            </a:pPr>
            <a:r>
              <a:rPr lang="en-US" sz="2800" dirty="0"/>
              <a:t>Reverse engineering: Breaking something down in order to understand it, build a copy of it, or improve it</a:t>
            </a:r>
          </a:p>
          <a:p>
            <a:pPr lvl="1">
              <a:buClr>
                <a:schemeClr val="accent2"/>
              </a:buClr>
            </a:pPr>
            <a:r>
              <a:rPr lang="en-US" sz="2800" dirty="0"/>
              <a:t>Open source code: Any program whose source code is made available for use or modification, as users or other developers see fit. </a:t>
            </a:r>
          </a:p>
          <a:p>
            <a:pPr lvl="1">
              <a:buClr>
                <a:schemeClr val="accent2"/>
              </a:buClr>
            </a:pPr>
            <a:r>
              <a:rPr lang="en-US" sz="2800" dirty="0"/>
              <a:t>The basic premise behind open source code is that when many programmers can read, redistribute, and modify it, software improves. </a:t>
            </a:r>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75515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5190652"/>
          </a:xfrm>
        </p:spPr>
        <p:txBody>
          <a:bodyPr/>
          <a:lstStyle/>
          <a:p>
            <a:r>
              <a:rPr lang="en-US" sz="2700" b="1" dirty="0"/>
              <a:t>What are some of the current issues associated with the protection of intellectual property?</a:t>
            </a:r>
          </a:p>
          <a:p>
            <a:pPr lvl="1">
              <a:buClr>
                <a:schemeClr val="accent2"/>
              </a:buClr>
            </a:pPr>
            <a:r>
              <a:rPr lang="en-US" sz="2800" dirty="0"/>
              <a:t>Competitive intelligence: Legally obtained information that is gathered to help a company gain an advantage over its rivals; not the same as industrial espionage</a:t>
            </a:r>
          </a:p>
          <a:p>
            <a:pPr lvl="1">
              <a:buClr>
                <a:schemeClr val="accent2"/>
              </a:buClr>
            </a:pPr>
            <a:r>
              <a:rPr lang="en-US" sz="2800" dirty="0"/>
              <a:t> Competitive intelligence analysts must avoid unethical or illegal behavior, including lying, misrepresentation, theft, bribery, or eavesdropping with illegal devices.</a:t>
            </a:r>
          </a:p>
          <a:p>
            <a:pPr lvl="1">
              <a:buClr>
                <a:schemeClr val="accent2"/>
              </a:buClr>
            </a:pPr>
            <a:r>
              <a:rPr lang="en-US" sz="2800" dirty="0"/>
              <a:t>A trademark: A logo, package design, phrase, sound, or word that enables a consumer to differentiate one company’s products from another’s</a:t>
            </a:r>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Summary,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2414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066800"/>
            <a:ext cx="8415338" cy="4295022"/>
          </a:xfrm>
        </p:spPr>
        <p:txBody>
          <a:bodyPr/>
          <a:lstStyle/>
          <a:p>
            <a:r>
              <a:rPr lang="en-US" sz="2700" b="1" dirty="0"/>
              <a:t>What are some of the current issues associated with the protection of intellectual property?</a:t>
            </a:r>
          </a:p>
          <a:p>
            <a:pPr lvl="1">
              <a:buClr>
                <a:schemeClr val="accent2"/>
              </a:buClr>
            </a:pPr>
            <a:r>
              <a:rPr lang="en-US" sz="2800" dirty="0"/>
              <a:t>Cybersquatters register domain names for famous trademarks or company names to which they have no connection with the hope of selling the domain name to the trademark’s owner.</a:t>
            </a:r>
          </a:p>
          <a:p>
            <a:pPr lvl="1">
              <a:buClr>
                <a:schemeClr val="accent2"/>
              </a:buClr>
            </a:pPr>
            <a:r>
              <a:rPr lang="en-US" sz="2800" dirty="0"/>
              <a:t>The main tactic used to circumvent cybersquatting is </a:t>
            </a:r>
            <a:br>
              <a:rPr lang="en-US" sz="2800" dirty="0"/>
            </a:br>
            <a:r>
              <a:rPr lang="en-US" sz="2800" dirty="0"/>
              <a:t>to protect a trademark by registering possible domain names (and variations) as soon as possible.</a:t>
            </a:r>
          </a:p>
          <a:p>
            <a:pPr lvl="1">
              <a:buClr>
                <a:schemeClr val="accent2"/>
              </a:buClr>
            </a:pP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a:t>Summary, Part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74608909"/>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5698</TotalTime>
  <Words>3875</Words>
  <Application>Microsoft Office PowerPoint</Application>
  <PresentationFormat>On-screen Show (4:3)</PresentationFormat>
  <Paragraphs>253</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Ethics in Information Technology</vt:lpstr>
      <vt:lpstr>Learning Objectives</vt:lpstr>
      <vt:lpstr>What is Intellectual Property?</vt:lpstr>
      <vt:lpstr>Copyright, Part 1</vt:lpstr>
      <vt:lpstr>Copyright, Part 2</vt:lpstr>
      <vt:lpstr>Copyright, Part 3</vt:lpstr>
      <vt:lpstr>Copyright, Part 4</vt:lpstr>
      <vt:lpstr>Copyright, Part 5</vt:lpstr>
      <vt:lpstr>Copyright, Part 6</vt:lpstr>
      <vt:lpstr>Patents, Part 1</vt:lpstr>
      <vt:lpstr>Patents, Part 2</vt:lpstr>
      <vt:lpstr>Patents, Part 3</vt:lpstr>
      <vt:lpstr>Trade Secrets, Part 1</vt:lpstr>
      <vt:lpstr>Trade Secrets, Part 2</vt:lpstr>
      <vt:lpstr>Trade Secrets, Part 3</vt:lpstr>
      <vt:lpstr>Trade Secrets, Part 4</vt:lpstr>
      <vt:lpstr>Plagiarism</vt:lpstr>
      <vt:lpstr>Reverse Engineering</vt:lpstr>
      <vt:lpstr>Open Source Code</vt:lpstr>
      <vt:lpstr>Competitive Intelligence</vt:lpstr>
      <vt:lpstr>A Manager’s Checklist for Running an Ethical Competitive Intelligence Operation, Part 1</vt:lpstr>
      <vt:lpstr>A Manager’s Checklist for Running an Ethical Competitive Intelligence Operation, Part 2</vt:lpstr>
      <vt:lpstr>Trademark Infringement</vt:lpstr>
      <vt:lpstr>Nominative Fair Use</vt:lpstr>
      <vt:lpstr>Cybersquatting</vt:lpstr>
      <vt:lpstr>Summary, Part 1</vt:lpstr>
      <vt:lpstr>Summary, Part 2</vt:lpstr>
      <vt:lpstr>Summary, Part 3</vt:lpstr>
      <vt:lpstr>Summary, Part 4</vt:lpstr>
      <vt:lpstr>Summary, Part 5</vt:lpstr>
      <vt:lpstr>Summary, Part 6</vt:lpstr>
      <vt:lpstr>Summary, Part 7</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308</cp:revision>
  <cp:lastPrinted>2010-11-12T17:54:40Z</cp:lastPrinted>
  <dcterms:created xsi:type="dcterms:W3CDTF">2007-02-15T20:50:52Z</dcterms:created>
  <dcterms:modified xsi:type="dcterms:W3CDTF">2017-08-17T02:08:28Z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