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1" r:id="rId1"/>
  </p:sldMasterIdLst>
  <p:notesMasterIdLst>
    <p:notesMasterId r:id="rId46"/>
  </p:notesMasterIdLst>
  <p:handoutMasterIdLst>
    <p:handoutMasterId r:id="rId47"/>
  </p:handoutMasterIdLst>
  <p:sldIdLst>
    <p:sldId id="264" r:id="rId2"/>
    <p:sldId id="261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91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6" r:id="rId43"/>
    <p:sldId id="307" r:id="rId44"/>
    <p:sldId id="308" r:id="rId45"/>
  </p:sldIdLst>
  <p:sldSz cx="9144000" cy="6858000" type="screen4x3"/>
  <p:notesSz cx="9372600" cy="7086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anette Stillwell" initials="NBS" lastIdx="5" clrIdx="0"/>
  <p:cmAuthor id="1" name="Gerald Titchener" initials="GT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70A5"/>
    <a:srgbClr val="FFFFFF"/>
    <a:srgbClr val="96CDEE"/>
    <a:srgbClr val="0F3F5D"/>
    <a:srgbClr val="01773A"/>
    <a:srgbClr val="156B13"/>
    <a:srgbClr val="008000"/>
    <a:srgbClr val="F20000"/>
    <a:srgbClr val="66CC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93" autoAdjust="0"/>
    <p:restoredTop sz="93886" autoAdjust="0"/>
  </p:normalViewPr>
  <p:slideViewPr>
    <p:cSldViewPr>
      <p:cViewPr varScale="1">
        <p:scale>
          <a:sx n="82" d="100"/>
          <a:sy n="82" d="100"/>
        </p:scale>
        <p:origin x="164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83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4EE4060F-EC6E-45B5-96F1-A60F0585115B}" type="datetimeFigureOut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A987596C-5E44-4393-BE44-DB7D499825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206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pPr>
              <a:defRPr/>
            </a:pPr>
            <a:fld id="{46950642-C6F2-4E46-90C1-0B12B643B3D7}" type="datetimeFigureOut">
              <a:rPr lang="en-US"/>
              <a:pPr>
                <a:defRPr/>
              </a:pPr>
              <a:t>10/16/2023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531813"/>
            <a:ext cx="3543300" cy="2657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7260" y="3366135"/>
            <a:ext cx="7498080" cy="3188970"/>
          </a:xfrm>
          <a:prstGeom prst="rect">
            <a:avLst/>
          </a:prstGeom>
        </p:spPr>
        <p:txBody>
          <a:bodyPr vert="horz" lIns="94046" tIns="47023" rIns="94046" bIns="4702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pPr>
              <a:defRPr/>
            </a:pPr>
            <a:fld id="{CAA8545F-A231-4F50-B1F1-95F56EBB64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405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tle_Slid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54000"/>
            <a:ext cx="8713465" cy="65267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2712698"/>
            <a:ext cx="7747000" cy="377026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352800"/>
            <a:ext cx="7747000" cy="2359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3482340" y="223520"/>
            <a:ext cx="212598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Rules_Single_A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627124" y="481304"/>
            <a:ext cx="10034016" cy="99113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6812283" y="4885106"/>
            <a:ext cx="2080291" cy="1926127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udi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389519"/>
            <a:ext cx="987056" cy="10409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88" y="5121741"/>
            <a:ext cx="275507" cy="710099"/>
          </a:xfrm>
          <a:prstGeom prst="rect">
            <a:avLst/>
          </a:prstGeom>
        </p:spPr>
      </p:pic>
      <p:pic>
        <p:nvPicPr>
          <p:cNvPr id="13" name="Picture 12" descr="Swirl_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68" y="6393019"/>
            <a:ext cx="386047" cy="285072"/>
          </a:xfrm>
          <a:prstGeom prst="rect">
            <a:avLst/>
          </a:prstGeom>
        </p:spPr>
      </p:pic>
      <p:pic>
        <p:nvPicPr>
          <p:cNvPr id="14" name="Picture 13" descr="Swirl_3.png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08376" y="5449329"/>
            <a:ext cx="591497" cy="2456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831840"/>
            <a:ext cx="672857" cy="74588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204120" y="6363869"/>
            <a:ext cx="6201666" cy="36618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6415635"/>
            <a:ext cx="1151034" cy="35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228188"/>
            <a:ext cx="6172200" cy="377026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0"/>
            <a:ext cx="6172200" cy="265457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 descr="Rules_Single_A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pic>
        <p:nvPicPr>
          <p:cNvPr id="4" name="Picture 3" descr="Audio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361953"/>
            <a:ext cx="1840495" cy="1940983"/>
          </a:xfrm>
          <a:prstGeom prst="rect">
            <a:avLst/>
          </a:prstGeom>
        </p:spPr>
      </p:pic>
      <p:pic>
        <p:nvPicPr>
          <p:cNvPr id="11" name="Picture 10" descr="Swirl_3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12" name="Picture 11" descr="Swirl_2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604920"/>
            <a:ext cx="1101550" cy="12210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804753"/>
            <a:ext cx="252342" cy="65039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8720" y="6363035"/>
            <a:ext cx="1400289" cy="43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7177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0488" y="6305978"/>
            <a:ext cx="1403024" cy="43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538818"/>
            <a:ext cx="8415338" cy="1412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6166" y="6513743"/>
            <a:ext cx="312906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80785"/>
            <a:ext cx="8415338" cy="2962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5126" y="6611007"/>
            <a:ext cx="8014247" cy="2119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102"/>
            <a:ext cx="7747000" cy="1229567"/>
          </a:xfrm>
        </p:spPr>
        <p:txBody>
          <a:bodyPr anchor="ctr"/>
          <a:lstStyle/>
          <a:p>
            <a:r>
              <a:rPr lang="en-US" sz="4700" b="1" dirty="0"/>
              <a:t>Ethics in Information Technology</a:t>
            </a:r>
            <a:br>
              <a:rPr lang="tr-TR" sz="4700" b="1" dirty="0"/>
            </a:br>
            <a:r>
              <a:rPr lang="tr-TR" sz="4700" b="1" dirty="0"/>
              <a:t>Bilgi Teknolojilerinde Etik</a:t>
            </a:r>
            <a:endParaRPr lang="en-US" sz="47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24200"/>
            <a:ext cx="7747000" cy="2976969"/>
          </a:xfrm>
        </p:spPr>
        <p:txBody>
          <a:bodyPr/>
          <a:lstStyle/>
          <a:p>
            <a:r>
              <a:rPr lang="en-US" sz="3400" dirty="0"/>
              <a:t>Chapter 3</a:t>
            </a:r>
            <a:endParaRPr lang="tr-TR" sz="3400" dirty="0"/>
          </a:p>
          <a:p>
            <a:r>
              <a:rPr lang="tr-TR" sz="3400" dirty="0"/>
              <a:t>Bölüm 3</a:t>
            </a:r>
            <a:endParaRPr lang="en-US" sz="3400" dirty="0"/>
          </a:p>
          <a:p>
            <a:r>
              <a:rPr lang="en-US" sz="3800" b="1" dirty="0" err="1"/>
              <a:t>Siber</a:t>
            </a:r>
            <a:r>
              <a:rPr lang="en-US" sz="3800" b="1" dirty="0"/>
              <a:t> </a:t>
            </a:r>
            <a:r>
              <a:rPr lang="en-US" sz="3800" b="1" dirty="0" err="1"/>
              <a:t>Saldırılar</a:t>
            </a:r>
            <a:r>
              <a:rPr lang="en-US" sz="3800" b="1" dirty="0"/>
              <a:t> ve </a:t>
            </a:r>
            <a:r>
              <a:rPr lang="en-US" sz="3800" b="1" dirty="0" err="1"/>
              <a:t>Siber</a:t>
            </a:r>
            <a:r>
              <a:rPr lang="en-US" sz="3800" b="1" dirty="0"/>
              <a:t> </a:t>
            </a:r>
            <a:r>
              <a:rPr lang="en-US" sz="3800" b="1" dirty="0" err="1"/>
              <a:t>Güvenlik</a:t>
            </a:r>
            <a:endParaRPr lang="en-US" sz="3800" b="1" dirty="0"/>
          </a:p>
          <a:p>
            <a:endParaRPr lang="en-US" sz="1050" b="1" dirty="0"/>
          </a:p>
          <a:p>
            <a:endParaRPr lang="en-US" sz="1050" b="1" dirty="0"/>
          </a:p>
          <a:p>
            <a:r>
              <a:rPr lang="en-US" sz="2400" b="1" dirty="0">
                <a:solidFill>
                  <a:schemeClr val="accent2"/>
                </a:solidFill>
              </a:rPr>
              <a:t>George W. Reynolds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066801" y="6477000"/>
            <a:ext cx="6248400" cy="244535"/>
          </a:xfrm>
        </p:spPr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46048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5131" y="196385"/>
            <a:ext cx="5528860" cy="1051057"/>
          </a:xfrm>
        </p:spPr>
        <p:txBody>
          <a:bodyPr/>
          <a:lstStyle/>
          <a:p>
            <a:r>
              <a:rPr lang="en-US" sz="4000" dirty="0"/>
              <a:t>Learning Objectives</a:t>
            </a:r>
            <a:br>
              <a:rPr lang="tr-TR" sz="4000" dirty="0"/>
            </a:br>
            <a:r>
              <a:rPr lang="tr-TR" sz="4000" dirty="0"/>
              <a:t>Öğrenme hedefleri</a:t>
            </a:r>
            <a:endParaRPr lang="en-US" sz="4000" dirty="0"/>
          </a:p>
        </p:txBody>
      </p:sp>
      <p:sp>
        <p:nvSpPr>
          <p:cNvPr id="4" name="Content Placeholder 3"/>
          <p:cNvSpPr>
            <a:spLocks noGrp="1"/>
          </p:cNvSpPr>
          <p:nvPr>
            <p:ph type="body" idx="1"/>
          </p:nvPr>
        </p:nvSpPr>
        <p:spPr>
          <a:xfrm>
            <a:off x="2425131" y="1196638"/>
            <a:ext cx="6337869" cy="3323987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tx1"/>
                </a:solidFill>
              </a:rPr>
              <a:t>Bilgisayar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olayları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neden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kadar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yaygın</a:t>
            </a:r>
            <a:r>
              <a:rPr lang="en-US" sz="2800" dirty="0">
                <a:solidFill>
                  <a:schemeClr val="tx1"/>
                </a:solidFill>
              </a:rPr>
              <a:t> ve </a:t>
            </a:r>
            <a:r>
              <a:rPr lang="en-US" sz="2800" dirty="0" err="1">
                <a:solidFill>
                  <a:schemeClr val="tx1"/>
                </a:solidFill>
              </a:rPr>
              <a:t>etkileri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nelerdir</a:t>
            </a:r>
            <a:r>
              <a:rPr lang="en-US" sz="2800" dirty="0">
                <a:solidFill>
                  <a:schemeClr val="tx1"/>
                </a:solidFill>
              </a:rPr>
              <a:t>? </a:t>
            </a:r>
            <a:endParaRPr lang="tr-TR" sz="28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tx1"/>
                </a:solidFill>
              </a:rPr>
              <a:t>Siber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saldırıları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önlemek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için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güçlü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bir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güvenlik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programı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uygulamak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için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neler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yapılabilir</a:t>
            </a:r>
            <a:r>
              <a:rPr lang="en-US" sz="2800" dirty="0">
                <a:solidFill>
                  <a:schemeClr val="tx1"/>
                </a:solidFill>
              </a:rPr>
              <a:t>? </a:t>
            </a:r>
            <a:endParaRPr lang="tr-TR" sz="28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tx1"/>
                </a:solidFill>
              </a:rPr>
              <a:t>Başarılı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bir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güvenlik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ihlali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durumunda</a:t>
            </a:r>
            <a:r>
              <a:rPr lang="en-US" sz="2800" dirty="0">
                <a:solidFill>
                  <a:schemeClr val="tx1"/>
                </a:solidFill>
              </a:rPr>
              <a:t> ne </a:t>
            </a:r>
            <a:r>
              <a:rPr lang="en-US" sz="2800" dirty="0" err="1">
                <a:solidFill>
                  <a:schemeClr val="tx1"/>
                </a:solidFill>
              </a:rPr>
              <a:t>gibi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önlemler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alınmalıdır</a:t>
            </a:r>
            <a:r>
              <a:rPr lang="en-US" sz="28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282897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4701287"/>
          </a:xfrm>
        </p:spPr>
        <p:txBody>
          <a:bodyPr/>
          <a:lstStyle/>
          <a:p>
            <a:r>
              <a:rPr lang="en-US" sz="2800" dirty="0"/>
              <a:t>BT </a:t>
            </a:r>
            <a:r>
              <a:rPr lang="en-US" sz="2800" dirty="0" err="1"/>
              <a:t>güvenliğiyle</a:t>
            </a:r>
            <a:r>
              <a:rPr lang="en-US" sz="2800" dirty="0"/>
              <a:t> </a:t>
            </a:r>
            <a:r>
              <a:rPr lang="en-US" sz="2800" dirty="0" err="1"/>
              <a:t>ilgili</a:t>
            </a:r>
            <a:r>
              <a:rPr lang="en-US" sz="2800" dirty="0"/>
              <a:t> </a:t>
            </a:r>
            <a:r>
              <a:rPr lang="en-US" sz="2800" dirty="0" err="1"/>
              <a:t>kararlar</a:t>
            </a:r>
            <a:r>
              <a:rPr lang="en-US" sz="2800" dirty="0"/>
              <a:t> </a:t>
            </a:r>
            <a:r>
              <a:rPr lang="en-US" sz="2800" dirty="0" err="1"/>
              <a:t>almak</a:t>
            </a:r>
            <a:r>
              <a:rPr lang="en-US" sz="2800" dirty="0"/>
              <a:t>, </a:t>
            </a:r>
            <a:r>
              <a:rPr lang="en-US" sz="2800" dirty="0" err="1"/>
              <a:t>karmaşık</a:t>
            </a:r>
            <a:r>
              <a:rPr lang="en-US" sz="2800" dirty="0"/>
              <a:t> </a:t>
            </a:r>
            <a:r>
              <a:rPr lang="en-US" sz="2800" dirty="0" err="1"/>
              <a:t>ödünleşimleri</a:t>
            </a:r>
            <a:r>
              <a:rPr lang="en-US" sz="2800" dirty="0"/>
              <a:t> </a:t>
            </a:r>
            <a:r>
              <a:rPr lang="en-US" sz="2800" dirty="0" err="1"/>
              <a:t>tartmayı</a:t>
            </a:r>
            <a:r>
              <a:rPr lang="en-US" sz="2800" dirty="0"/>
              <a:t> </a:t>
            </a:r>
            <a:r>
              <a:rPr lang="en-US" sz="2800" dirty="0" err="1"/>
              <a:t>içerir</a:t>
            </a:r>
            <a:r>
              <a:rPr lang="en-US" sz="2800" dirty="0"/>
              <a:t>:</a:t>
            </a:r>
            <a:endParaRPr lang="tr-TR" sz="2800" dirty="0"/>
          </a:p>
          <a:p>
            <a:r>
              <a:rPr lang="en-US" sz="2600" dirty="0" err="1"/>
              <a:t>Bilgisayar</a:t>
            </a:r>
            <a:r>
              <a:rPr lang="en-US" sz="2600" dirty="0"/>
              <a:t> </a:t>
            </a:r>
            <a:r>
              <a:rPr lang="en-US" sz="2600" dirty="0" err="1"/>
              <a:t>suçlarına</a:t>
            </a:r>
            <a:r>
              <a:rPr lang="en-US" sz="2600" dirty="0"/>
              <a:t> </a:t>
            </a:r>
            <a:r>
              <a:rPr lang="en-US" sz="2600" dirty="0" err="1"/>
              <a:t>karşı</a:t>
            </a:r>
            <a:r>
              <a:rPr lang="en-US" sz="2600" dirty="0"/>
              <a:t> </a:t>
            </a:r>
            <a:r>
              <a:rPr lang="en-US" sz="2600" dirty="0" err="1"/>
              <a:t>korunmak</a:t>
            </a:r>
            <a:r>
              <a:rPr lang="en-US" sz="2600" dirty="0"/>
              <a:t> </a:t>
            </a:r>
            <a:r>
              <a:rPr lang="en-US" sz="2600" dirty="0" err="1"/>
              <a:t>için</a:t>
            </a:r>
            <a:r>
              <a:rPr lang="en-US" sz="2600" dirty="0"/>
              <a:t> ne </a:t>
            </a:r>
            <a:r>
              <a:rPr lang="en-US" sz="2600" dirty="0" err="1"/>
              <a:t>kadar</a:t>
            </a:r>
            <a:r>
              <a:rPr lang="en-US" sz="2600" dirty="0"/>
              <a:t> </a:t>
            </a:r>
            <a:r>
              <a:rPr lang="en-US" sz="2600" dirty="0" err="1"/>
              <a:t>çaba</a:t>
            </a:r>
            <a:r>
              <a:rPr lang="en-US" sz="2600" dirty="0"/>
              <a:t> ve para </a:t>
            </a:r>
            <a:r>
              <a:rPr lang="en-US" sz="2600" dirty="0" err="1"/>
              <a:t>harcanmalıdır</a:t>
            </a:r>
            <a:r>
              <a:rPr lang="en-US" sz="2600" dirty="0"/>
              <a:t>? </a:t>
            </a:r>
            <a:endParaRPr lang="tr-TR" sz="2600" dirty="0"/>
          </a:p>
          <a:p>
            <a:r>
              <a:rPr lang="en-US" sz="2600" dirty="0" err="1"/>
              <a:t>Önerilen</a:t>
            </a:r>
            <a:r>
              <a:rPr lang="en-US" sz="2600" dirty="0"/>
              <a:t> BT </a:t>
            </a:r>
            <a:r>
              <a:rPr lang="en-US" sz="2600" dirty="0" err="1"/>
              <a:t>güvenlik</a:t>
            </a:r>
            <a:r>
              <a:rPr lang="en-US" sz="2600" dirty="0"/>
              <a:t> </a:t>
            </a:r>
            <a:r>
              <a:rPr lang="en-US" sz="2600" dirty="0" err="1"/>
              <a:t>önlemleri</a:t>
            </a:r>
            <a:r>
              <a:rPr lang="en-US" sz="2600" dirty="0"/>
              <a:t>, </a:t>
            </a:r>
            <a:r>
              <a:rPr lang="en-US" sz="2600" dirty="0" err="1"/>
              <a:t>iş</a:t>
            </a:r>
            <a:r>
              <a:rPr lang="en-US" sz="2600" dirty="0"/>
              <a:t> </a:t>
            </a:r>
            <a:r>
              <a:rPr lang="en-US" sz="2600" dirty="0" err="1"/>
              <a:t>yürütmeyi</a:t>
            </a:r>
            <a:r>
              <a:rPr lang="en-US" sz="2600" dirty="0"/>
              <a:t> </a:t>
            </a:r>
            <a:r>
              <a:rPr lang="en-US" sz="2600" dirty="0" err="1"/>
              <a:t>zorlaştırarak</a:t>
            </a:r>
            <a:r>
              <a:rPr lang="en-US" sz="2600" dirty="0"/>
              <a:t> </a:t>
            </a:r>
            <a:r>
              <a:rPr lang="en-US" sz="2600" dirty="0" err="1"/>
              <a:t>satış</a:t>
            </a:r>
            <a:r>
              <a:rPr lang="en-US" sz="2600" dirty="0"/>
              <a:t> </a:t>
            </a:r>
            <a:r>
              <a:rPr lang="en-US" sz="2600" dirty="0" err="1"/>
              <a:t>kaybına</a:t>
            </a:r>
            <a:r>
              <a:rPr lang="en-US" sz="2600" dirty="0"/>
              <a:t> ve </a:t>
            </a:r>
            <a:r>
              <a:rPr lang="en-US" sz="2600" dirty="0" err="1"/>
              <a:t>maliyetlerin</a:t>
            </a:r>
            <a:r>
              <a:rPr lang="en-US" sz="2600" dirty="0"/>
              <a:t> </a:t>
            </a:r>
            <a:r>
              <a:rPr lang="en-US" sz="2600" dirty="0" err="1"/>
              <a:t>artmasına</a:t>
            </a:r>
            <a:r>
              <a:rPr lang="en-US" sz="2600" dirty="0"/>
              <a:t> </a:t>
            </a:r>
            <a:r>
              <a:rPr lang="en-US" sz="2600" dirty="0" err="1"/>
              <a:t>neden</a:t>
            </a:r>
            <a:r>
              <a:rPr lang="en-US" sz="2600" dirty="0"/>
              <a:t> </a:t>
            </a:r>
            <a:r>
              <a:rPr lang="en-US" sz="2600" dirty="0" err="1"/>
              <a:t>oluyorsa</a:t>
            </a:r>
            <a:r>
              <a:rPr lang="en-US" sz="2600" dirty="0"/>
              <a:t> ne </a:t>
            </a:r>
            <a:r>
              <a:rPr lang="en-US" sz="2600" dirty="0" err="1"/>
              <a:t>yapılmalıdır</a:t>
            </a:r>
            <a:r>
              <a:rPr lang="en-US" sz="2600" dirty="0"/>
              <a:t>? </a:t>
            </a:r>
            <a:endParaRPr lang="tr-TR" sz="2600" dirty="0"/>
          </a:p>
          <a:p>
            <a:r>
              <a:rPr lang="en-US" sz="2600" dirty="0" err="1"/>
              <a:t>Bir</a:t>
            </a:r>
            <a:r>
              <a:rPr lang="en-US" sz="2600" dirty="0"/>
              <a:t> firma </a:t>
            </a:r>
            <a:r>
              <a:rPr lang="en-US" sz="2600" dirty="0" err="1"/>
              <a:t>bir</a:t>
            </a:r>
            <a:r>
              <a:rPr lang="en-US" sz="2600" dirty="0"/>
              <a:t> </a:t>
            </a:r>
            <a:r>
              <a:rPr lang="en-US" sz="2600" dirty="0" err="1"/>
              <a:t>siber</a:t>
            </a:r>
            <a:r>
              <a:rPr lang="en-US" sz="2600" dirty="0"/>
              <a:t> </a:t>
            </a:r>
            <a:r>
              <a:rPr lang="en-US" sz="2600" dirty="0" err="1"/>
              <a:t>suçun</a:t>
            </a:r>
            <a:r>
              <a:rPr lang="en-US" sz="2600" dirty="0"/>
              <a:t> </a:t>
            </a:r>
            <a:r>
              <a:rPr lang="en-US" sz="2600" dirty="0" err="1"/>
              <a:t>kurbanıysa</a:t>
            </a:r>
            <a:r>
              <a:rPr lang="en-US" sz="2600" dirty="0"/>
              <a:t>, </a:t>
            </a:r>
            <a:r>
              <a:rPr lang="en-US" sz="2600" dirty="0" err="1"/>
              <a:t>suçluların</a:t>
            </a:r>
            <a:r>
              <a:rPr lang="en-US" sz="2600" dirty="0"/>
              <a:t> </a:t>
            </a:r>
            <a:r>
              <a:rPr lang="en-US" sz="2600" dirty="0" err="1"/>
              <a:t>kovuşturulmasını</a:t>
            </a:r>
            <a:r>
              <a:rPr lang="en-US" sz="2600" dirty="0"/>
              <a:t> </a:t>
            </a:r>
            <a:r>
              <a:rPr lang="en-US" sz="2600" dirty="0" err="1"/>
              <a:t>sürdürmeli</a:t>
            </a:r>
            <a:r>
              <a:rPr lang="en-US" sz="2600" dirty="0"/>
              <a:t>, </a:t>
            </a:r>
            <a:r>
              <a:rPr lang="en-US" sz="2600" dirty="0" err="1"/>
              <a:t>olumsuz</a:t>
            </a:r>
            <a:r>
              <a:rPr lang="en-US" sz="2600" dirty="0"/>
              <a:t> </a:t>
            </a:r>
            <a:r>
              <a:rPr lang="en-US" sz="2600" dirty="0" err="1"/>
              <a:t>tanıtımdan</a:t>
            </a:r>
            <a:r>
              <a:rPr lang="en-US" sz="2600" dirty="0"/>
              <a:t> </a:t>
            </a:r>
            <a:r>
              <a:rPr lang="en-US" sz="2600" dirty="0" err="1"/>
              <a:t>kaçınmak</a:t>
            </a:r>
            <a:r>
              <a:rPr lang="en-US" sz="2600" dirty="0"/>
              <a:t> </a:t>
            </a:r>
            <a:r>
              <a:rPr lang="en-US" sz="2600" dirty="0" err="1"/>
              <a:t>için</a:t>
            </a:r>
            <a:r>
              <a:rPr lang="en-US" sz="2600" dirty="0"/>
              <a:t> </a:t>
            </a:r>
            <a:r>
              <a:rPr lang="en-US" sz="2600" dirty="0" err="1"/>
              <a:t>düşük</a:t>
            </a:r>
            <a:r>
              <a:rPr lang="en-US" sz="2600" dirty="0"/>
              <a:t> </a:t>
            </a:r>
            <a:r>
              <a:rPr lang="en-US" sz="2600" dirty="0" err="1"/>
              <a:t>bir</a:t>
            </a:r>
            <a:r>
              <a:rPr lang="en-US" sz="2600" dirty="0"/>
              <a:t> </a:t>
            </a:r>
            <a:r>
              <a:rPr lang="en-US" sz="2600" dirty="0" err="1"/>
              <a:t>profil</a:t>
            </a:r>
            <a:r>
              <a:rPr lang="en-US" sz="2600" dirty="0"/>
              <a:t> </a:t>
            </a:r>
            <a:r>
              <a:rPr lang="en-US" sz="2600" dirty="0" err="1"/>
              <a:t>tutmalı</a:t>
            </a:r>
            <a:r>
              <a:rPr lang="en-US" sz="2600" dirty="0"/>
              <a:t>, </a:t>
            </a:r>
            <a:r>
              <a:rPr lang="en-US" sz="2600" dirty="0" err="1"/>
              <a:t>etkilenen</a:t>
            </a:r>
            <a:r>
              <a:rPr lang="en-US" sz="2600" dirty="0"/>
              <a:t> </a:t>
            </a:r>
            <a:r>
              <a:rPr lang="en-US" sz="2600" dirty="0" err="1"/>
              <a:t>müşterileri</a:t>
            </a:r>
            <a:r>
              <a:rPr lang="en-US" sz="2600" dirty="0"/>
              <a:t> </a:t>
            </a:r>
            <a:r>
              <a:rPr lang="en-US" sz="2600" dirty="0" err="1"/>
              <a:t>bilgilendirmeli</a:t>
            </a:r>
            <a:r>
              <a:rPr lang="en-US" sz="2600" dirty="0"/>
              <a:t> </a:t>
            </a:r>
            <a:r>
              <a:rPr lang="en-US" sz="2600" dirty="0" err="1"/>
              <a:t>veya</a:t>
            </a:r>
            <a:r>
              <a:rPr lang="en-US" sz="2600" dirty="0"/>
              <a:t> </a:t>
            </a:r>
            <a:r>
              <a:rPr lang="en-US" sz="2600" dirty="0" err="1"/>
              <a:t>başka</a:t>
            </a:r>
            <a:r>
              <a:rPr lang="en-US" sz="2600" dirty="0"/>
              <a:t> </a:t>
            </a:r>
            <a:r>
              <a:rPr lang="en-US" sz="2600" dirty="0" err="1"/>
              <a:t>bir</a:t>
            </a:r>
            <a:r>
              <a:rPr lang="en-US" sz="2600" dirty="0"/>
              <a:t> </a:t>
            </a:r>
            <a:r>
              <a:rPr lang="en-US" sz="2600" dirty="0" err="1"/>
              <a:t>işlem</a:t>
            </a:r>
            <a:r>
              <a:rPr lang="en-US" sz="2600" dirty="0"/>
              <a:t> </a:t>
            </a:r>
            <a:r>
              <a:rPr lang="en-US" sz="2600" dirty="0" err="1"/>
              <a:t>yapmalı</a:t>
            </a:r>
            <a:r>
              <a:rPr lang="en-US" sz="2600" dirty="0"/>
              <a:t> </a:t>
            </a:r>
            <a:r>
              <a:rPr lang="en-US" sz="2600" dirty="0" err="1"/>
              <a:t>mı</a:t>
            </a:r>
            <a:r>
              <a:rPr lang="en-US" sz="2600" dirty="0"/>
              <a:t>?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 err="1"/>
              <a:t>Tehdit</a:t>
            </a:r>
            <a:r>
              <a:rPr lang="en-US" sz="4000" dirty="0"/>
              <a:t> </a:t>
            </a:r>
            <a:r>
              <a:rPr lang="en-US" sz="4000" dirty="0" err="1"/>
              <a:t>Ortamı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214668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5389168"/>
          </a:xfrm>
        </p:spPr>
        <p:txBody>
          <a:bodyPr/>
          <a:lstStyle/>
          <a:p>
            <a:r>
              <a:rPr lang="en-US" altLang="en-US" sz="2800" dirty="0" err="1"/>
              <a:t>Artan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karmaşıklık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güvenlik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açığını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artırır</a:t>
            </a:r>
            <a:r>
              <a:rPr lang="en-US" altLang="en-US" sz="2800" dirty="0"/>
              <a:t> </a:t>
            </a:r>
            <a:endParaRPr lang="tr-TR" altLang="en-US" sz="2800" dirty="0"/>
          </a:p>
          <a:p>
            <a:pPr lvl="1"/>
            <a:r>
              <a:rPr lang="en-US" altLang="en-US" sz="2600" dirty="0" err="1"/>
              <a:t>Daha</a:t>
            </a:r>
            <a:r>
              <a:rPr lang="en-US" altLang="en-US" sz="2600" dirty="0"/>
              <a:t> </a:t>
            </a:r>
            <a:r>
              <a:rPr lang="en-US" altLang="en-US" sz="2600" dirty="0" err="1"/>
              <a:t>fazla</a:t>
            </a:r>
            <a:r>
              <a:rPr lang="en-US" altLang="en-US" sz="2600" dirty="0"/>
              <a:t> </a:t>
            </a:r>
            <a:r>
              <a:rPr lang="en-US" altLang="en-US" sz="2600" dirty="0" err="1"/>
              <a:t>cihaz</a:t>
            </a:r>
            <a:r>
              <a:rPr lang="en-US" altLang="en-US" sz="2600" dirty="0"/>
              <a:t> </a:t>
            </a:r>
            <a:r>
              <a:rPr lang="en-US" altLang="en-US" sz="2600" dirty="0" err="1"/>
              <a:t>eklendikçe</a:t>
            </a:r>
            <a:r>
              <a:rPr lang="en-US" altLang="en-US" sz="2600" dirty="0"/>
              <a:t>, </a:t>
            </a:r>
            <a:r>
              <a:rPr lang="en-US" altLang="en-US" sz="2600" dirty="0" err="1"/>
              <a:t>ağ</a:t>
            </a:r>
            <a:r>
              <a:rPr lang="en-US" altLang="en-US" sz="2600" dirty="0"/>
              <a:t> </a:t>
            </a:r>
            <a:r>
              <a:rPr lang="en-US" altLang="en-US" sz="2600" dirty="0" err="1"/>
              <a:t>giriş</a:t>
            </a:r>
            <a:r>
              <a:rPr lang="en-US" altLang="en-US" sz="2600" dirty="0"/>
              <a:t> </a:t>
            </a:r>
            <a:r>
              <a:rPr lang="en-US" altLang="en-US" sz="2600" dirty="0" err="1"/>
              <a:t>noktalarının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sayısı</a:t>
            </a:r>
            <a:r>
              <a:rPr lang="en-US" altLang="en-US" sz="2600" dirty="0"/>
              <a:t> </a:t>
            </a:r>
            <a:r>
              <a:rPr lang="en-US" altLang="en-US" sz="2600" dirty="0" err="1"/>
              <a:t>artar</a:t>
            </a:r>
            <a:r>
              <a:rPr lang="en-US" altLang="en-US" sz="2600" dirty="0"/>
              <a:t> ve </a:t>
            </a:r>
            <a:r>
              <a:rPr lang="en-US" altLang="en-US" sz="2600" dirty="0" err="1"/>
              <a:t>güvenlik</a:t>
            </a:r>
            <a:r>
              <a:rPr lang="en-US" altLang="en-US" sz="2600" dirty="0"/>
              <a:t> </a:t>
            </a:r>
            <a:r>
              <a:rPr lang="en-US" altLang="en-US" sz="2600" dirty="0" err="1"/>
              <a:t>riskleri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artar</a:t>
            </a:r>
            <a:endParaRPr lang="tr-TR" altLang="en-US" sz="2600" dirty="0"/>
          </a:p>
          <a:p>
            <a:r>
              <a:rPr lang="en-US" sz="2800" dirty="0" err="1"/>
              <a:t>Genişleyen</a:t>
            </a:r>
            <a:r>
              <a:rPr lang="en-US" sz="2800" dirty="0"/>
              <a:t> ve </a:t>
            </a:r>
            <a:r>
              <a:rPr lang="en-US" sz="2800" dirty="0" err="1"/>
              <a:t>değişen</a:t>
            </a:r>
            <a:r>
              <a:rPr lang="en-US" sz="2800" dirty="0"/>
              <a:t> </a:t>
            </a:r>
            <a:r>
              <a:rPr lang="en-US" sz="2800" dirty="0" err="1"/>
              <a:t>sistemler</a:t>
            </a:r>
            <a:r>
              <a:rPr lang="en-US" sz="2800" dirty="0"/>
              <a:t> </a:t>
            </a:r>
            <a:r>
              <a:rPr lang="en-US" sz="2800" dirty="0" err="1"/>
              <a:t>yeni</a:t>
            </a:r>
            <a:r>
              <a:rPr lang="en-US" sz="2800" dirty="0"/>
              <a:t> </a:t>
            </a:r>
            <a:r>
              <a:rPr lang="en-US" sz="2800" dirty="0" err="1"/>
              <a:t>riskler</a:t>
            </a:r>
            <a:r>
              <a:rPr lang="en-US" sz="2800" dirty="0"/>
              <a:t> </a:t>
            </a:r>
            <a:r>
              <a:rPr lang="en-US" sz="2800" dirty="0" err="1"/>
              <a:t>getirir</a:t>
            </a:r>
            <a:r>
              <a:rPr lang="en-US" sz="2800" dirty="0"/>
              <a:t>: BT </a:t>
            </a:r>
            <a:r>
              <a:rPr lang="en-US" sz="2800" dirty="0" err="1"/>
              <a:t>kuruluşları</a:t>
            </a:r>
            <a:r>
              <a:rPr lang="en-US" sz="2800" dirty="0"/>
              <a:t> </a:t>
            </a:r>
            <a:r>
              <a:rPr lang="en-US" sz="2800" dirty="0" err="1"/>
              <a:t>şunları</a:t>
            </a:r>
            <a:r>
              <a:rPr lang="en-US" sz="2800" dirty="0"/>
              <a:t> </a:t>
            </a:r>
            <a:r>
              <a:rPr lang="en-US" sz="2800" dirty="0" err="1"/>
              <a:t>yapmalıdır</a:t>
            </a:r>
            <a:r>
              <a:rPr lang="en-US" sz="2800" dirty="0"/>
              <a:t>:</a:t>
            </a:r>
            <a:endParaRPr lang="tr-TR" sz="2800" dirty="0"/>
          </a:p>
          <a:p>
            <a:pPr lvl="1"/>
            <a:r>
              <a:rPr lang="en-US" altLang="en-US" sz="2400" dirty="0" err="1"/>
              <a:t>Teknolojik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değişime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ayak</a:t>
            </a:r>
            <a:r>
              <a:rPr lang="en-US" altLang="en-US" sz="2400" dirty="0"/>
              <a:t> </a:t>
            </a:r>
            <a:r>
              <a:rPr lang="en-US" altLang="en-US" sz="2400" dirty="0" err="1"/>
              <a:t>uydurun</a:t>
            </a:r>
            <a:r>
              <a:rPr lang="en-US" altLang="en-US" sz="2400" dirty="0"/>
              <a:t> </a:t>
            </a:r>
            <a:endParaRPr lang="tr-TR" altLang="en-US" sz="2400" dirty="0"/>
          </a:p>
          <a:p>
            <a:pPr lvl="1"/>
            <a:r>
              <a:rPr lang="en-US" altLang="en-US" sz="2400" dirty="0" err="1"/>
              <a:t>Sürekli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güvenlik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değerlendirmeleri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gerçekleştirin</a:t>
            </a:r>
            <a:r>
              <a:rPr lang="en-US" altLang="en-US" sz="2400" dirty="0"/>
              <a:t> </a:t>
            </a:r>
            <a:endParaRPr lang="tr-TR" altLang="en-US" sz="2400" dirty="0"/>
          </a:p>
          <a:p>
            <a:pPr lvl="1"/>
            <a:r>
              <a:rPr lang="en-US" altLang="en-US" sz="2400" dirty="0" err="1"/>
              <a:t>Yeni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risklerle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başa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çıkmak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için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yaklaşımlar</a:t>
            </a:r>
            <a:r>
              <a:rPr lang="en-US" altLang="en-US" sz="2400" dirty="0"/>
              <a:t> </a:t>
            </a:r>
            <a:r>
              <a:rPr lang="en-US" altLang="en-US" sz="2400" dirty="0" err="1"/>
              <a:t>uygulayın</a:t>
            </a:r>
            <a:endParaRPr lang="tr-TR" altLang="en-US" sz="2400" dirty="0"/>
          </a:p>
          <a:p>
            <a:r>
              <a:rPr lang="en-US" altLang="en-US" sz="3000" dirty="0"/>
              <a:t>BYOD </a:t>
            </a:r>
            <a:r>
              <a:rPr lang="en-US" altLang="en-US" sz="3000" dirty="0" err="1"/>
              <a:t>politikalarının</a:t>
            </a:r>
            <a:r>
              <a:rPr lang="en-US" altLang="en-US" sz="3000" dirty="0"/>
              <a:t> </a:t>
            </a:r>
            <a:r>
              <a:rPr lang="en-US" altLang="en-US" sz="3000" dirty="0" err="1"/>
              <a:t>yaygınlığının</a:t>
            </a:r>
            <a:r>
              <a:rPr lang="en-US" altLang="en-US" sz="3000" dirty="0"/>
              <a:t> </a:t>
            </a:r>
            <a:r>
              <a:rPr lang="en-US" altLang="en-US" sz="3000" dirty="0" err="1"/>
              <a:t>artırılması</a:t>
            </a:r>
            <a:endParaRPr lang="tr-TR" altLang="en-US" sz="3000" dirty="0"/>
          </a:p>
          <a:p>
            <a:pPr lvl="1"/>
            <a:r>
              <a:rPr lang="en-US" altLang="en-US" sz="2400" b="1" dirty="0" err="1"/>
              <a:t>Kendi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cihazını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getir</a:t>
            </a:r>
            <a:r>
              <a:rPr lang="en-US" altLang="en-US" sz="2400" b="1" dirty="0"/>
              <a:t> (BYOD): </a:t>
            </a:r>
            <a:r>
              <a:rPr lang="en-US" altLang="en-US" sz="2400" b="1" dirty="0" err="1"/>
              <a:t>Çalışanların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şirket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bilgi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işlem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kaynaklarına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erişmek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için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kendi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mobil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cihazlarını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kullanmalarına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izin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veren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iş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ilkesi</a:t>
            </a: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1"/>
            <a:ext cx="8026400" cy="840871"/>
          </a:xfrm>
        </p:spPr>
        <p:txBody>
          <a:bodyPr/>
          <a:lstStyle/>
          <a:p>
            <a:r>
              <a:rPr lang="en-US" altLang="en-US" sz="3200" dirty="0" err="1"/>
              <a:t>Bilgisayar</a:t>
            </a:r>
            <a:r>
              <a:rPr lang="en-US" altLang="en-US" sz="3200" dirty="0"/>
              <a:t> </a:t>
            </a:r>
            <a:r>
              <a:rPr lang="en-US" altLang="en-US" sz="3200" dirty="0" err="1"/>
              <a:t>Olayları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Neden</a:t>
            </a:r>
            <a:r>
              <a:rPr lang="en-US" altLang="en-US" sz="3200" dirty="0"/>
              <a:t> Bu Kadar </a:t>
            </a:r>
            <a:r>
              <a:rPr lang="en-US" altLang="en-US" sz="3200" dirty="0" err="1"/>
              <a:t>Yaygın</a:t>
            </a:r>
            <a:r>
              <a:rPr lang="en-US" altLang="en-US" sz="3200" dirty="0"/>
              <a:t>, </a:t>
            </a:r>
            <a:r>
              <a:rPr lang="en-US" altLang="en-US" sz="3200" dirty="0" err="1"/>
              <a:t>Bölüm</a:t>
            </a:r>
            <a:r>
              <a:rPr lang="en-US" altLang="en-US" sz="3200" dirty="0"/>
              <a:t> 1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054750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245476" cy="3747180"/>
          </a:xfrm>
        </p:spPr>
        <p:txBody>
          <a:bodyPr/>
          <a:lstStyle/>
          <a:p>
            <a:r>
              <a:rPr lang="en-US" sz="2800" dirty="0" err="1"/>
              <a:t>Bilinen</a:t>
            </a:r>
            <a:r>
              <a:rPr lang="en-US" sz="2800" dirty="0"/>
              <a:t> </a:t>
            </a:r>
            <a:r>
              <a:rPr lang="en-US" sz="2800" dirty="0" err="1"/>
              <a:t>güvenlik</a:t>
            </a:r>
            <a:r>
              <a:rPr lang="en-US" sz="2800" dirty="0"/>
              <a:t> </a:t>
            </a:r>
            <a:r>
              <a:rPr lang="en-US" sz="2800" dirty="0" err="1"/>
              <a:t>açıklarına</a:t>
            </a:r>
            <a:r>
              <a:rPr lang="en-US" sz="2800" dirty="0"/>
              <a:t> </a:t>
            </a:r>
            <a:r>
              <a:rPr lang="en-US" sz="2800" dirty="0" err="1"/>
              <a:t>sahip</a:t>
            </a:r>
            <a:r>
              <a:rPr lang="en-US" sz="2800" dirty="0"/>
              <a:t> </a:t>
            </a:r>
            <a:r>
              <a:rPr lang="en-US" sz="2800" dirty="0" err="1"/>
              <a:t>ticari</a:t>
            </a:r>
            <a:r>
              <a:rPr lang="en-US" sz="2800" dirty="0"/>
              <a:t> </a:t>
            </a:r>
            <a:r>
              <a:rPr lang="en-US" sz="2800" dirty="0" err="1"/>
              <a:t>yazılımlara</a:t>
            </a:r>
            <a:r>
              <a:rPr lang="en-US" sz="2800" dirty="0"/>
              <a:t> </a:t>
            </a:r>
            <a:r>
              <a:rPr lang="en-US" sz="2800" dirty="0" err="1"/>
              <a:t>artan</a:t>
            </a:r>
            <a:r>
              <a:rPr lang="en-US" sz="2800" dirty="0"/>
              <a:t> </a:t>
            </a:r>
            <a:r>
              <a:rPr lang="en-US" sz="2800" dirty="0" err="1"/>
              <a:t>bağımlılık</a:t>
            </a:r>
            <a:endParaRPr lang="tr-TR" sz="2800" dirty="0"/>
          </a:p>
          <a:p>
            <a:pPr lvl="1"/>
            <a:r>
              <a:rPr lang="en-US" altLang="en-US" sz="2400" b="1" dirty="0" err="1"/>
              <a:t>Istismar</a:t>
            </a:r>
            <a:r>
              <a:rPr lang="en-US" altLang="en-US" sz="2400" b="1" dirty="0"/>
              <a:t>: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Belirli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bir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sistem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güvenlik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açığından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yararlanan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bir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bilgi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sistemine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yapılan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saldırı</a:t>
            </a:r>
            <a:endParaRPr lang="tr-TR" altLang="en-US" sz="2400" dirty="0"/>
          </a:p>
          <a:p>
            <a:pPr lvl="1"/>
            <a:r>
              <a:rPr lang="en-US" altLang="en-US" sz="2600" b="1" dirty="0" err="1"/>
              <a:t>Sıfır</a:t>
            </a:r>
            <a:r>
              <a:rPr lang="en-US" altLang="en-US" sz="2600" b="1" dirty="0"/>
              <a:t> </a:t>
            </a:r>
            <a:r>
              <a:rPr lang="en-US" altLang="en-US" sz="2600" b="1" dirty="0" err="1"/>
              <a:t>gün</a:t>
            </a:r>
            <a:r>
              <a:rPr lang="en-US" altLang="en-US" sz="2600" b="1" dirty="0"/>
              <a:t> </a:t>
            </a:r>
            <a:r>
              <a:rPr lang="en-US" altLang="en-US" sz="2600" b="1" dirty="0" err="1"/>
              <a:t>saldırısı</a:t>
            </a:r>
            <a:r>
              <a:rPr lang="en-US" altLang="en-US" sz="2600" b="1" dirty="0"/>
              <a:t>: </a:t>
            </a:r>
            <a:r>
              <a:rPr lang="en-US" altLang="en-US" sz="2600" dirty="0" err="1"/>
              <a:t>Güvenlik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topluluğu</a:t>
            </a:r>
            <a:r>
              <a:rPr lang="en-US" altLang="en-US" sz="2600" dirty="0"/>
              <a:t> </a:t>
            </a:r>
            <a:r>
              <a:rPr lang="en-US" altLang="en-US" sz="2600" dirty="0" err="1"/>
              <a:t>veya</a:t>
            </a:r>
            <a:r>
              <a:rPr lang="en-US" altLang="en-US" sz="2600" dirty="0"/>
              <a:t> </a:t>
            </a:r>
            <a:r>
              <a:rPr lang="en-US" altLang="en-US" sz="2600" dirty="0" err="1"/>
              <a:t>yazılım</a:t>
            </a:r>
            <a:r>
              <a:rPr lang="en-US" altLang="en-US" sz="2600" dirty="0"/>
              <a:t> </a:t>
            </a:r>
            <a:r>
              <a:rPr lang="en-US" altLang="en-US" sz="2600" dirty="0" err="1"/>
              <a:t>geliştiricisi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bir</a:t>
            </a:r>
            <a:r>
              <a:rPr lang="en-US" altLang="en-US" sz="2600" dirty="0"/>
              <a:t> </a:t>
            </a:r>
            <a:r>
              <a:rPr lang="en-US" altLang="en-US" sz="2600" dirty="0" err="1"/>
              <a:t>güvenlik</a:t>
            </a:r>
            <a:r>
              <a:rPr lang="en-US" altLang="en-US" sz="2600" dirty="0"/>
              <a:t> </a:t>
            </a:r>
            <a:r>
              <a:rPr lang="en-US" altLang="en-US" sz="2600" dirty="0" err="1"/>
              <a:t>açığının</a:t>
            </a:r>
            <a:r>
              <a:rPr lang="en-US" altLang="en-US" sz="2600" dirty="0"/>
              <a:t> </a:t>
            </a:r>
            <a:r>
              <a:rPr lang="en-US" altLang="en-US" sz="2600" dirty="0" err="1"/>
              <a:t>farkına</a:t>
            </a:r>
            <a:r>
              <a:rPr lang="en-US" altLang="en-US" sz="2600" dirty="0"/>
              <a:t> </a:t>
            </a:r>
            <a:r>
              <a:rPr lang="en-US" altLang="en-US" sz="2600" dirty="0" err="1"/>
              <a:t>varmadan</a:t>
            </a:r>
            <a:r>
              <a:rPr lang="en-US" altLang="en-US" sz="2600" dirty="0"/>
              <a:t> ve </a:t>
            </a:r>
            <a:r>
              <a:rPr lang="en-US" altLang="en-US" sz="2600" dirty="0" err="1"/>
              <a:t>onu</a:t>
            </a:r>
            <a:r>
              <a:rPr lang="en-US" altLang="en-US" sz="2600" dirty="0"/>
              <a:t> </a:t>
            </a:r>
            <a:r>
              <a:rPr lang="en-US" altLang="en-US" sz="2600" dirty="0" err="1"/>
              <a:t>onarmadan</a:t>
            </a:r>
            <a:r>
              <a:rPr lang="en-US" altLang="en-US" sz="2600" dirty="0"/>
              <a:t> </a:t>
            </a:r>
            <a:r>
              <a:rPr lang="en-US" altLang="en-US" sz="2600" dirty="0" err="1"/>
              <a:t>önce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gerçekleşir</a:t>
            </a:r>
            <a:endParaRPr lang="tr-TR" altLang="en-US" sz="2600" dirty="0"/>
          </a:p>
          <a:p>
            <a:pPr lvl="1"/>
            <a:r>
              <a:rPr lang="en-US" altLang="en-US" sz="2800" dirty="0" err="1"/>
              <a:t>Zarar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vermek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isteyenlerin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karmaşıklığını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artırmak</a:t>
            </a:r>
            <a:endParaRPr lang="en-US" altLang="en-US" sz="28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0"/>
            <a:ext cx="8229600" cy="840871"/>
          </a:xfrm>
        </p:spPr>
        <p:txBody>
          <a:bodyPr/>
          <a:lstStyle/>
          <a:p>
            <a:r>
              <a:rPr lang="en-US" altLang="en-US" sz="3200" dirty="0" err="1"/>
              <a:t>Bilgisayar</a:t>
            </a:r>
            <a:r>
              <a:rPr lang="en-US" altLang="en-US" sz="3200" dirty="0"/>
              <a:t> </a:t>
            </a:r>
            <a:r>
              <a:rPr lang="en-US" altLang="en-US" sz="3200" dirty="0" err="1"/>
              <a:t>Olayları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Neden</a:t>
            </a:r>
            <a:r>
              <a:rPr lang="en-US" altLang="en-US" sz="3200" dirty="0"/>
              <a:t> Bu Kadar </a:t>
            </a:r>
            <a:r>
              <a:rPr lang="en-US" altLang="en-US" sz="3200" dirty="0" err="1"/>
              <a:t>Yaygın</a:t>
            </a:r>
            <a:r>
              <a:rPr lang="en-US" altLang="en-US" sz="3200" dirty="0"/>
              <a:t>, </a:t>
            </a:r>
            <a:r>
              <a:rPr lang="en-US" altLang="en-US" sz="3200" dirty="0" err="1"/>
              <a:t>Bölüm</a:t>
            </a:r>
            <a:r>
              <a:rPr lang="en-US" altLang="en-US" sz="3200" dirty="0"/>
              <a:t> 2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806391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 descr="Table 3-1: This table presents a list of type of perpetrators of computer crime, along with descriptions. &#10;Black hat hacker: Someone who violates computer or Internet security maliciously or for illegal personal gain.&#10;Cracker: An individual who causes problems, steals data, and corrupts systems.&#10;Malicious insider: An employee or contractor who attempts to gain financially and/or disrupt a company’s information systems.&#10;Industrial spy: An individual who captures trade secrets to gain an unfair competitive advantage.&#10;Cybercriminal: Someone who attacks a computer system for financial gain. &#10;Hacktivist: An individual whose goal is to promote a political ideology.&#10;Cyberterrorist: Someone who attempts to destroy government infrastructure, financial institutions, and other corporations, utilities, and emergency response units.&#10;&#10;&#10;&#10;&#10;&#10;&#10;&#10;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1066969"/>
              </p:ext>
            </p:extLst>
          </p:nvPr>
        </p:nvGraphicFramePr>
        <p:xfrm>
          <a:off x="228600" y="1219200"/>
          <a:ext cx="8686799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29">
                  <a:extLst>
                    <a:ext uri="{9D8B030D-6E8A-4147-A177-3AD203B41FA5}">
                      <a16:colId xmlns:a16="http://schemas.microsoft.com/office/drawing/2014/main" val="323376496"/>
                    </a:ext>
                  </a:extLst>
                </a:gridCol>
                <a:gridCol w="6310670">
                  <a:extLst>
                    <a:ext uri="{9D8B030D-6E8A-4147-A177-3AD203B41FA5}">
                      <a16:colId xmlns:a16="http://schemas.microsoft.com/office/drawing/2014/main" val="3921556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Suçun</a:t>
                      </a:r>
                      <a:r>
                        <a:rPr lang="en-US" sz="2000" dirty="0"/>
                        <a:t> tipi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Açıklması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887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Black</a:t>
                      </a:r>
                      <a:r>
                        <a:rPr lang="en-US" sz="2000" baseline="0" dirty="0"/>
                        <a:t> hat hacker</a:t>
                      </a:r>
                    </a:p>
                    <a:p>
                      <a:r>
                        <a:rPr lang="en-US" sz="2000" dirty="0" err="1"/>
                        <a:t>Siyah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şapkalı</a:t>
                      </a:r>
                      <a:r>
                        <a:rPr lang="en-US" sz="2000" dirty="0"/>
                        <a:t> hacker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Kötü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niyetli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olarak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veya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yasa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dışı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kişisel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kazanç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elde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etmek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amacıyla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bilgisayar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veya</a:t>
                      </a:r>
                      <a:r>
                        <a:rPr lang="en-US" sz="2000" dirty="0"/>
                        <a:t> İnternet </a:t>
                      </a:r>
                      <a:r>
                        <a:rPr lang="en-US" sz="2000" dirty="0" err="1"/>
                        <a:t>güvenliğini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ihlal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eden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kişi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60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Cracker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Sorunlara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neden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olan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veri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çalan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ve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sistemleri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bozan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bir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kişi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070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Malicious insider</a:t>
                      </a:r>
                    </a:p>
                    <a:p>
                      <a:r>
                        <a:rPr lang="en-US" sz="2000" dirty="0" err="1"/>
                        <a:t>İçeriden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kötü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niyetli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kişiler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Maddi </a:t>
                      </a:r>
                      <a:r>
                        <a:rPr lang="en-US" sz="2000" dirty="0" err="1"/>
                        <a:t>kazanç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elde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etmeye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ve</a:t>
                      </a:r>
                      <a:r>
                        <a:rPr lang="en-US" sz="2000" dirty="0"/>
                        <a:t>/</a:t>
                      </a:r>
                      <a:r>
                        <a:rPr lang="en-US" sz="2000" dirty="0" err="1"/>
                        <a:t>veya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bir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şirketin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bilgi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sistemlerini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bozmaya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çalışan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bir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çalışan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veya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yüklenici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608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Industrial</a:t>
                      </a:r>
                      <a:r>
                        <a:rPr lang="en-US" sz="2000" baseline="0" dirty="0"/>
                        <a:t> spy</a:t>
                      </a:r>
                    </a:p>
                    <a:p>
                      <a:r>
                        <a:rPr lang="en-US" sz="2000" dirty="0" err="1"/>
                        <a:t>Endüstriyel</a:t>
                      </a:r>
                      <a:r>
                        <a:rPr lang="en-US" sz="2000" dirty="0"/>
                        <a:t> casus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Haksız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rekabet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avantajı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elde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etmek</a:t>
                      </a:r>
                      <a:r>
                        <a:rPr lang="en-US" sz="2000" dirty="0"/>
                        <a:t> için </a:t>
                      </a:r>
                      <a:r>
                        <a:rPr lang="en-US" sz="2000" dirty="0" err="1"/>
                        <a:t>ticari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sırları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ele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geçiren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bir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kişi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0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Cybercriminal-</a:t>
                      </a:r>
                      <a:r>
                        <a:rPr lang="en-US" sz="2000" dirty="0" err="1"/>
                        <a:t>Siber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Suçlu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Finansal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kazanç</a:t>
                      </a:r>
                      <a:r>
                        <a:rPr lang="en-US" sz="2000" dirty="0"/>
                        <a:t> için </a:t>
                      </a:r>
                      <a:r>
                        <a:rPr lang="en-US" sz="2000" dirty="0" err="1"/>
                        <a:t>bir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bilgisayar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sistemine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saldıran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kişi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070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Hacktivist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Amacı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siyasi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bir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ideolojiyi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desteklemek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olan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bir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birey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820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Cyberterrorist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Hükümet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altyapısını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finans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kurumlarını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ve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diğer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şirketleri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kamu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hizmetlerini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ve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acil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müdahale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birimlerini</a:t>
                      </a:r>
                      <a:r>
                        <a:rPr lang="en-US" sz="2000" dirty="0"/>
                        <a:t> yok </a:t>
                      </a:r>
                      <a:r>
                        <a:rPr lang="en-US" sz="2000" dirty="0" err="1"/>
                        <a:t>etmeye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çalışan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biri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835331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81394"/>
            <a:ext cx="8026400" cy="945965"/>
          </a:xfrm>
        </p:spPr>
        <p:txBody>
          <a:bodyPr/>
          <a:lstStyle/>
          <a:p>
            <a:r>
              <a:rPr lang="en-US" sz="3600" dirty="0"/>
              <a:t>Classifying Perpetrators of Computer Crime</a:t>
            </a:r>
            <a:br>
              <a:rPr lang="en-US" sz="3600" dirty="0"/>
            </a:br>
            <a:r>
              <a:rPr lang="en-US" sz="3600" dirty="0" err="1"/>
              <a:t>Bilgisayar</a:t>
            </a:r>
            <a:r>
              <a:rPr lang="en-US" sz="3600" dirty="0"/>
              <a:t> </a:t>
            </a:r>
            <a:r>
              <a:rPr lang="en-US" sz="3600" dirty="0" err="1"/>
              <a:t>Suçu</a:t>
            </a:r>
            <a:r>
              <a:rPr lang="en-US" sz="3600" dirty="0"/>
              <a:t> </a:t>
            </a:r>
            <a:r>
              <a:rPr lang="en-US" sz="3600" dirty="0" err="1"/>
              <a:t>Faillerinin</a:t>
            </a:r>
            <a:r>
              <a:rPr lang="en-US" sz="3600" dirty="0"/>
              <a:t> </a:t>
            </a:r>
            <a:r>
              <a:rPr lang="en-US" sz="3600" dirty="0" err="1"/>
              <a:t>Sınıflandırılması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585786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94068"/>
            <a:ext cx="8169275" cy="5798510"/>
          </a:xfrm>
        </p:spPr>
        <p:txBody>
          <a:bodyPr/>
          <a:lstStyle/>
          <a:p>
            <a:r>
              <a:rPr lang="en-US" sz="2700" b="1" dirty="0" err="1"/>
              <a:t>Fidye</a:t>
            </a:r>
            <a:r>
              <a:rPr lang="en-US" sz="2700" b="1" dirty="0"/>
              <a:t> </a:t>
            </a:r>
            <a:r>
              <a:rPr lang="en-US" sz="2700" b="1" dirty="0" err="1"/>
              <a:t>yazılımı</a:t>
            </a:r>
            <a:r>
              <a:rPr lang="en-US" sz="2700" b="1" dirty="0"/>
              <a:t>:</a:t>
            </a:r>
            <a:r>
              <a:rPr lang="en-US" sz="2700" dirty="0"/>
              <a:t> </a:t>
            </a:r>
            <a:r>
              <a:rPr lang="en-US" sz="2700" dirty="0" err="1"/>
              <a:t>Fidye</a:t>
            </a:r>
            <a:r>
              <a:rPr lang="en-US" sz="2700" dirty="0"/>
              <a:t> </a:t>
            </a:r>
            <a:r>
              <a:rPr lang="en-US" sz="2700" dirty="0" err="1"/>
              <a:t>ödemek</a:t>
            </a:r>
            <a:r>
              <a:rPr lang="en-US" sz="2700" dirty="0"/>
              <a:t> </a:t>
            </a:r>
            <a:r>
              <a:rPr lang="en-US" sz="2700" dirty="0" err="1"/>
              <a:t>gibi</a:t>
            </a:r>
            <a:r>
              <a:rPr lang="en-US" sz="2700" dirty="0"/>
              <a:t> </a:t>
            </a:r>
            <a:r>
              <a:rPr lang="en-US" sz="2700" dirty="0" err="1"/>
              <a:t>belirli</a:t>
            </a:r>
            <a:r>
              <a:rPr lang="en-US" sz="2700" dirty="0"/>
              <a:t> </a:t>
            </a:r>
            <a:r>
              <a:rPr lang="en-US" sz="2700" dirty="0" err="1"/>
              <a:t>talepleri</a:t>
            </a:r>
            <a:r>
              <a:rPr lang="en-US" sz="2700" dirty="0"/>
              <a:t> </a:t>
            </a:r>
            <a:r>
              <a:rPr lang="en-US" sz="2700" dirty="0" err="1"/>
              <a:t>yerine</a:t>
            </a:r>
            <a:r>
              <a:rPr lang="en-US" sz="2700" dirty="0"/>
              <a:t> </a:t>
            </a:r>
            <a:r>
              <a:rPr lang="en-US" sz="2700" dirty="0" err="1"/>
              <a:t>getirene</a:t>
            </a:r>
            <a:r>
              <a:rPr lang="en-US" sz="2700" dirty="0"/>
              <a:t> </a:t>
            </a:r>
            <a:r>
              <a:rPr lang="en-US" sz="2700" dirty="0" err="1"/>
              <a:t>kadar</a:t>
            </a:r>
            <a:r>
              <a:rPr lang="en-US" sz="2700" dirty="0"/>
              <a:t> </a:t>
            </a:r>
            <a:r>
              <a:rPr lang="en-US" sz="2700" dirty="0" err="1"/>
              <a:t>bilgisayarınızı</a:t>
            </a:r>
            <a:r>
              <a:rPr lang="en-US" sz="2700" dirty="0"/>
              <a:t> </a:t>
            </a:r>
            <a:r>
              <a:rPr lang="en-US" sz="2700" dirty="0" err="1"/>
              <a:t>kullanmanızı</a:t>
            </a:r>
            <a:r>
              <a:rPr lang="en-US" sz="2700" dirty="0"/>
              <a:t> </a:t>
            </a:r>
            <a:r>
              <a:rPr lang="en-US" sz="2700" dirty="0" err="1"/>
              <a:t>veya</a:t>
            </a:r>
            <a:r>
              <a:rPr lang="en-US" sz="2700" dirty="0"/>
              <a:t> </a:t>
            </a:r>
            <a:r>
              <a:rPr lang="en-US" sz="2700" dirty="0" err="1"/>
              <a:t>verilerinize</a:t>
            </a:r>
            <a:r>
              <a:rPr lang="en-US" sz="2700" dirty="0"/>
              <a:t> </a:t>
            </a:r>
            <a:r>
              <a:rPr lang="en-US" sz="2700" dirty="0" err="1"/>
              <a:t>erişmenizi</a:t>
            </a:r>
            <a:r>
              <a:rPr lang="en-US" sz="2700" dirty="0"/>
              <a:t> </a:t>
            </a:r>
            <a:r>
              <a:rPr lang="en-US" sz="2700" dirty="0" err="1"/>
              <a:t>engelleyen</a:t>
            </a:r>
            <a:r>
              <a:rPr lang="en-US" sz="2700" dirty="0"/>
              <a:t> </a:t>
            </a:r>
            <a:r>
              <a:rPr lang="en-US" sz="2700" dirty="0" err="1"/>
              <a:t>kötü</a:t>
            </a:r>
            <a:r>
              <a:rPr lang="en-US" sz="2700" dirty="0"/>
              <a:t> </a:t>
            </a:r>
            <a:r>
              <a:rPr lang="en-US" sz="2700" dirty="0" err="1"/>
              <a:t>amaçlı</a:t>
            </a:r>
            <a:r>
              <a:rPr lang="en-US" sz="2700" dirty="0"/>
              <a:t> </a:t>
            </a:r>
            <a:r>
              <a:rPr lang="en-US" sz="2700" dirty="0" err="1"/>
              <a:t>yazılım</a:t>
            </a:r>
            <a:endParaRPr lang="en-US" sz="2700" dirty="0"/>
          </a:p>
          <a:p>
            <a:r>
              <a:rPr lang="en-US" sz="2700" b="1" dirty="0" err="1"/>
              <a:t>Virüs</a:t>
            </a:r>
            <a:r>
              <a:rPr lang="en-US" sz="2700" b="1" dirty="0"/>
              <a:t>:</a:t>
            </a:r>
            <a:r>
              <a:rPr lang="en-US" sz="2700" dirty="0"/>
              <a:t> Bir </a:t>
            </a:r>
            <a:r>
              <a:rPr lang="en-US" sz="2700" dirty="0" err="1"/>
              <a:t>bilgisayarın</a:t>
            </a:r>
            <a:r>
              <a:rPr lang="en-US" sz="2700" dirty="0"/>
              <a:t> </a:t>
            </a:r>
            <a:r>
              <a:rPr lang="en-US" sz="2700" dirty="0" err="1"/>
              <a:t>beklenmedik</a:t>
            </a:r>
            <a:r>
              <a:rPr lang="en-US" sz="2700" dirty="0"/>
              <a:t> </a:t>
            </a:r>
            <a:r>
              <a:rPr lang="en-US" sz="2700" dirty="0" err="1"/>
              <a:t>ve</a:t>
            </a:r>
            <a:r>
              <a:rPr lang="en-US" sz="2700" dirty="0"/>
              <a:t> </a:t>
            </a:r>
            <a:r>
              <a:rPr lang="en-US" sz="2700" dirty="0" err="1"/>
              <a:t>genellikle</a:t>
            </a:r>
            <a:r>
              <a:rPr lang="en-US" sz="2700" dirty="0"/>
              <a:t> </a:t>
            </a:r>
            <a:r>
              <a:rPr lang="en-US" sz="2700" dirty="0" err="1"/>
              <a:t>istenmeyen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şekilde</a:t>
            </a:r>
            <a:r>
              <a:rPr lang="en-US" sz="2700" dirty="0"/>
              <a:t> </a:t>
            </a:r>
            <a:r>
              <a:rPr lang="en-US" sz="2700" dirty="0" err="1"/>
              <a:t>davranmasına</a:t>
            </a:r>
            <a:r>
              <a:rPr lang="en-US" sz="2700" dirty="0"/>
              <a:t> </a:t>
            </a:r>
            <a:r>
              <a:rPr lang="en-US" sz="2700" dirty="0" err="1"/>
              <a:t>neden</a:t>
            </a:r>
            <a:r>
              <a:rPr lang="en-US" sz="2700" dirty="0"/>
              <a:t> </a:t>
            </a:r>
            <a:r>
              <a:rPr lang="en-US" sz="2700" dirty="0" err="1"/>
              <a:t>olan</a:t>
            </a:r>
            <a:r>
              <a:rPr lang="en-US" sz="2700" dirty="0"/>
              <a:t>, </a:t>
            </a:r>
            <a:r>
              <a:rPr lang="en-US" sz="2700" dirty="0" err="1"/>
              <a:t>başka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şey</a:t>
            </a:r>
            <a:r>
              <a:rPr lang="en-US" sz="2700" dirty="0"/>
              <a:t> </a:t>
            </a:r>
            <a:r>
              <a:rPr lang="en-US" sz="2700" dirty="0" err="1"/>
              <a:t>gibi</a:t>
            </a:r>
            <a:r>
              <a:rPr lang="en-US" sz="2700" dirty="0"/>
              <a:t> </a:t>
            </a:r>
            <a:r>
              <a:rPr lang="en-US" sz="2700" dirty="0" err="1"/>
              <a:t>gizlenmiş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programlama</a:t>
            </a:r>
            <a:r>
              <a:rPr lang="en-US" sz="2700" dirty="0"/>
              <a:t> </a:t>
            </a:r>
            <a:r>
              <a:rPr lang="en-US" sz="2700" dirty="0" err="1"/>
              <a:t>kodu</a:t>
            </a:r>
            <a:r>
              <a:rPr lang="en-US" sz="2700" dirty="0"/>
              <a:t> </a:t>
            </a:r>
            <a:r>
              <a:rPr lang="en-US" sz="2700" dirty="0" err="1"/>
              <a:t>parçası</a:t>
            </a:r>
            <a:endParaRPr lang="en-US" sz="2700" dirty="0"/>
          </a:p>
          <a:p>
            <a:r>
              <a:rPr lang="en-US" sz="2700" b="1" dirty="0" err="1"/>
              <a:t>Solucan</a:t>
            </a:r>
            <a:r>
              <a:rPr lang="en-US" sz="2700" b="1" dirty="0"/>
              <a:t>:</a:t>
            </a:r>
            <a:r>
              <a:rPr lang="en-US" sz="2700" dirty="0"/>
              <a:t> </a:t>
            </a:r>
            <a:r>
              <a:rPr lang="en-US" sz="2700" dirty="0" err="1"/>
              <a:t>Bilgisayarın</a:t>
            </a:r>
            <a:r>
              <a:rPr lang="en-US" sz="2700" dirty="0"/>
              <a:t> </a:t>
            </a:r>
            <a:r>
              <a:rPr lang="en-US" sz="2700" dirty="0" err="1"/>
              <a:t>aktif</a:t>
            </a:r>
            <a:r>
              <a:rPr lang="en-US" sz="2700" dirty="0"/>
              <a:t> </a:t>
            </a:r>
            <a:r>
              <a:rPr lang="en-US" sz="2700" dirty="0" err="1"/>
              <a:t>belleğinde</a:t>
            </a:r>
            <a:r>
              <a:rPr lang="en-US" sz="2700" dirty="0"/>
              <a:t> </a:t>
            </a:r>
            <a:r>
              <a:rPr lang="en-US" sz="2700" dirty="0" err="1"/>
              <a:t>bulunan</a:t>
            </a:r>
            <a:r>
              <a:rPr lang="en-US" sz="2700" dirty="0"/>
              <a:t> </a:t>
            </a:r>
            <a:r>
              <a:rPr lang="en-US" sz="2700" dirty="0" err="1"/>
              <a:t>ve</a:t>
            </a:r>
            <a:r>
              <a:rPr lang="en-US" sz="2700" dirty="0"/>
              <a:t> </a:t>
            </a:r>
            <a:r>
              <a:rPr lang="en-US" sz="2700" dirty="0" err="1"/>
              <a:t>kendini</a:t>
            </a:r>
            <a:r>
              <a:rPr lang="en-US" sz="2700" dirty="0"/>
              <a:t> </a:t>
            </a:r>
            <a:r>
              <a:rPr lang="en-US" sz="2700" dirty="0" err="1"/>
              <a:t>kopyalayan</a:t>
            </a:r>
            <a:r>
              <a:rPr lang="en-US" sz="2700" dirty="0"/>
              <a:t> </a:t>
            </a:r>
            <a:r>
              <a:rPr lang="en-US" sz="2700" dirty="0" err="1"/>
              <a:t>zararlı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program</a:t>
            </a:r>
          </a:p>
          <a:p>
            <a:r>
              <a:rPr lang="en-US" sz="2700" b="1" dirty="0" err="1"/>
              <a:t>Truva</a:t>
            </a:r>
            <a:r>
              <a:rPr lang="en-US" sz="2700" b="1" dirty="0"/>
              <a:t> </a:t>
            </a:r>
            <a:r>
              <a:rPr lang="en-US" sz="2700" b="1" dirty="0" err="1"/>
              <a:t>atı</a:t>
            </a:r>
            <a:r>
              <a:rPr lang="en-US" sz="2700" b="1" dirty="0"/>
              <a:t>:</a:t>
            </a:r>
            <a:r>
              <a:rPr lang="en-US" sz="2700" dirty="0"/>
              <a:t> </a:t>
            </a:r>
            <a:r>
              <a:rPr lang="en-US" sz="2700" dirty="0" err="1"/>
              <a:t>Zararsız</a:t>
            </a:r>
            <a:r>
              <a:rPr lang="en-US" sz="2700" dirty="0"/>
              <a:t> </a:t>
            </a:r>
            <a:r>
              <a:rPr lang="en-US" sz="2700" dirty="0" err="1"/>
              <a:t>görünen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programın</a:t>
            </a:r>
            <a:r>
              <a:rPr lang="en-US" sz="2700" dirty="0"/>
              <a:t> </a:t>
            </a:r>
            <a:r>
              <a:rPr lang="en-US" sz="2700" dirty="0" err="1"/>
              <a:t>içine</a:t>
            </a:r>
            <a:r>
              <a:rPr lang="en-US" sz="2700" dirty="0"/>
              <a:t> </a:t>
            </a:r>
            <a:r>
              <a:rPr lang="en-US" sz="2700" dirty="0" err="1"/>
              <a:t>kötü</a:t>
            </a:r>
            <a:r>
              <a:rPr lang="en-US" sz="2700" dirty="0"/>
              <a:t> </a:t>
            </a:r>
            <a:r>
              <a:rPr lang="en-US" sz="2700" dirty="0" err="1"/>
              <a:t>amaçlı</a:t>
            </a:r>
            <a:r>
              <a:rPr lang="en-US" sz="2700" dirty="0"/>
              <a:t> </a:t>
            </a:r>
            <a:r>
              <a:rPr lang="en-US" sz="2700" dirty="0" err="1"/>
              <a:t>kodların</a:t>
            </a:r>
            <a:r>
              <a:rPr lang="en-US" sz="2700" dirty="0"/>
              <a:t> </a:t>
            </a:r>
            <a:r>
              <a:rPr lang="en-US" sz="2700" dirty="0" err="1"/>
              <a:t>gizlendiği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program</a:t>
            </a:r>
          </a:p>
          <a:p>
            <a:pPr lvl="1"/>
            <a:r>
              <a:rPr lang="en-US" sz="2500" b="1" dirty="0" err="1"/>
              <a:t>Mantık</a:t>
            </a:r>
            <a:r>
              <a:rPr lang="en-US" sz="2500" b="1" dirty="0"/>
              <a:t> </a:t>
            </a:r>
            <a:r>
              <a:rPr lang="en-US" sz="2500" b="1" dirty="0" err="1"/>
              <a:t>bombası</a:t>
            </a:r>
            <a:r>
              <a:rPr lang="en-US" sz="2500" b="1" dirty="0"/>
              <a:t>:</a:t>
            </a:r>
            <a:r>
              <a:rPr lang="en-US" sz="2500" dirty="0"/>
              <a:t> </a:t>
            </a:r>
            <a:r>
              <a:rPr lang="en-US" sz="2500" dirty="0" err="1"/>
              <a:t>Belirli</a:t>
            </a:r>
            <a:r>
              <a:rPr lang="en-US" sz="2500" dirty="0"/>
              <a:t> </a:t>
            </a:r>
            <a:r>
              <a:rPr lang="en-US" sz="2500" dirty="0" err="1"/>
              <a:t>bir</a:t>
            </a:r>
            <a:r>
              <a:rPr lang="en-US" sz="2500" dirty="0"/>
              <a:t> </a:t>
            </a:r>
            <a:r>
              <a:rPr lang="en-US" sz="2500" dirty="0" err="1"/>
              <a:t>olay</a:t>
            </a:r>
            <a:r>
              <a:rPr lang="en-US" sz="2500" dirty="0"/>
              <a:t> </a:t>
            </a:r>
            <a:r>
              <a:rPr lang="en-US" sz="2500" dirty="0" err="1"/>
              <a:t>tarafından</a:t>
            </a:r>
            <a:r>
              <a:rPr lang="en-US" sz="2500" dirty="0"/>
              <a:t> </a:t>
            </a:r>
            <a:r>
              <a:rPr lang="en-US" sz="2500" dirty="0" err="1"/>
              <a:t>tetiklendiğinde</a:t>
            </a:r>
            <a:r>
              <a:rPr lang="en-US" sz="2500" dirty="0"/>
              <a:t> </a:t>
            </a:r>
            <a:r>
              <a:rPr lang="en-US" sz="2500" dirty="0" err="1"/>
              <a:t>çalışır</a:t>
            </a:r>
            <a:endParaRPr lang="en-US" sz="25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8849"/>
            <a:ext cx="8026400" cy="1051057"/>
          </a:xfrm>
        </p:spPr>
        <p:txBody>
          <a:bodyPr/>
          <a:lstStyle/>
          <a:p>
            <a:r>
              <a:rPr lang="en-US" sz="4000" dirty="0"/>
              <a:t>Types of Exploits, Part 1</a:t>
            </a:r>
            <a:br>
              <a:rPr lang="en-US" sz="4000" dirty="0"/>
            </a:br>
            <a:r>
              <a:rPr lang="en-US" sz="4000" dirty="0" err="1"/>
              <a:t>Suistimal</a:t>
            </a:r>
            <a:r>
              <a:rPr lang="en-US" sz="4000" dirty="0"/>
              <a:t> </a:t>
            </a:r>
            <a:r>
              <a:rPr lang="en-US" sz="4000" dirty="0" err="1"/>
              <a:t>Türleri</a:t>
            </a:r>
            <a:r>
              <a:rPr lang="en-US" sz="4000" dirty="0"/>
              <a:t>, </a:t>
            </a:r>
            <a:r>
              <a:rPr lang="en-US" sz="4000" dirty="0" err="1"/>
              <a:t>Bölüm</a:t>
            </a:r>
            <a:r>
              <a:rPr lang="en-US" sz="4000" dirty="0"/>
              <a:t>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799045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197017"/>
            <a:ext cx="8559800" cy="496751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600" dirty="0"/>
              <a:t>Karma </a:t>
            </a:r>
            <a:r>
              <a:rPr lang="en-US" sz="2600" dirty="0" err="1"/>
              <a:t>tehdit</a:t>
            </a:r>
            <a:r>
              <a:rPr lang="en-US" sz="2600" dirty="0"/>
              <a:t>: </a:t>
            </a:r>
            <a:r>
              <a:rPr lang="en-US" sz="2600" dirty="0" err="1"/>
              <a:t>Virüs</a:t>
            </a:r>
            <a:r>
              <a:rPr lang="en-US" sz="2600" dirty="0"/>
              <a:t>, </a:t>
            </a:r>
            <a:r>
              <a:rPr lang="en-US" sz="2600" dirty="0" err="1"/>
              <a:t>solucan</a:t>
            </a:r>
            <a:r>
              <a:rPr lang="en-US" sz="2600" dirty="0"/>
              <a:t>, </a:t>
            </a:r>
            <a:r>
              <a:rPr lang="en-US" sz="2600" dirty="0" err="1"/>
              <a:t>Truva</a:t>
            </a:r>
            <a:r>
              <a:rPr lang="en-US" sz="2600" dirty="0"/>
              <a:t> </a:t>
            </a:r>
            <a:r>
              <a:rPr lang="en-US" sz="2600" dirty="0" err="1"/>
              <a:t>atı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</a:t>
            </a:r>
            <a:r>
              <a:rPr lang="en-US" sz="2600" dirty="0" err="1"/>
              <a:t>diğer</a:t>
            </a:r>
            <a:r>
              <a:rPr lang="en-US" sz="2600" dirty="0"/>
              <a:t> </a:t>
            </a:r>
            <a:r>
              <a:rPr lang="en-US" sz="2600" dirty="0" err="1"/>
              <a:t>kötü</a:t>
            </a:r>
            <a:r>
              <a:rPr lang="en-US" sz="2600" dirty="0"/>
              <a:t> </a:t>
            </a:r>
            <a:r>
              <a:rPr lang="en-US" sz="2600" dirty="0" err="1"/>
              <a:t>amaçlı</a:t>
            </a:r>
            <a:r>
              <a:rPr lang="en-US" sz="2600" dirty="0"/>
              <a:t> </a:t>
            </a:r>
            <a:r>
              <a:rPr lang="en-US" sz="2600" dirty="0" err="1"/>
              <a:t>kodların</a:t>
            </a:r>
            <a:r>
              <a:rPr lang="en-US" sz="2600" dirty="0"/>
              <a:t> </a:t>
            </a:r>
            <a:r>
              <a:rPr lang="en-US" sz="2600" dirty="0" err="1"/>
              <a:t>özelliklerini</a:t>
            </a:r>
            <a:r>
              <a:rPr lang="en-US" sz="2600" dirty="0"/>
              <a:t> </a:t>
            </a:r>
            <a:r>
              <a:rPr lang="en-US" sz="2600" dirty="0" err="1"/>
              <a:t>tek</a:t>
            </a:r>
            <a:r>
              <a:rPr lang="en-US" sz="2600" dirty="0"/>
              <a:t> </a:t>
            </a:r>
            <a:r>
              <a:rPr lang="en-US" sz="2600" dirty="0" err="1"/>
              <a:t>bir</a:t>
            </a:r>
            <a:r>
              <a:rPr lang="en-US" sz="2600" dirty="0"/>
              <a:t> </a:t>
            </a:r>
            <a:r>
              <a:rPr lang="en-US" sz="2600" dirty="0" err="1"/>
              <a:t>yükte</a:t>
            </a:r>
            <a:r>
              <a:rPr lang="en-US" sz="2600" dirty="0"/>
              <a:t> </a:t>
            </a:r>
            <a:r>
              <a:rPr lang="en-US" sz="2600" dirty="0" err="1"/>
              <a:t>birleştiren</a:t>
            </a:r>
            <a:r>
              <a:rPr lang="en-US" sz="2600" dirty="0"/>
              <a:t> </a:t>
            </a:r>
            <a:r>
              <a:rPr lang="en-US" sz="2600" dirty="0" err="1"/>
              <a:t>bir</a:t>
            </a:r>
            <a:r>
              <a:rPr lang="en-US" sz="2600" dirty="0"/>
              <a:t> </a:t>
            </a:r>
            <a:r>
              <a:rPr lang="en-US" sz="2600" dirty="0" err="1"/>
              <a:t>saldırı</a:t>
            </a:r>
            <a:endParaRPr lang="en-US" sz="2600" dirty="0"/>
          </a:p>
          <a:p>
            <a:pPr>
              <a:spcBef>
                <a:spcPts val="600"/>
              </a:spcBef>
            </a:pPr>
            <a:r>
              <a:rPr lang="en-US" sz="2600" dirty="0"/>
              <a:t>Spam: </a:t>
            </a:r>
            <a:r>
              <a:rPr lang="en-US" sz="2600" dirty="0" err="1"/>
              <a:t>Çok</a:t>
            </a:r>
            <a:r>
              <a:rPr lang="en-US" sz="2600" dirty="0"/>
              <a:t> </a:t>
            </a:r>
            <a:r>
              <a:rPr lang="en-US" sz="2600" dirty="0" err="1"/>
              <a:t>sayıda</a:t>
            </a:r>
            <a:r>
              <a:rPr lang="en-US" sz="2600" dirty="0"/>
              <a:t> </a:t>
            </a:r>
            <a:r>
              <a:rPr lang="en-US" sz="2600" dirty="0" err="1"/>
              <a:t>kişiye</a:t>
            </a:r>
            <a:r>
              <a:rPr lang="en-US" sz="2600" dirty="0"/>
              <a:t> </a:t>
            </a:r>
            <a:r>
              <a:rPr lang="en-US" sz="2600" dirty="0" err="1"/>
              <a:t>istenmeyen</a:t>
            </a:r>
            <a:r>
              <a:rPr lang="en-US" sz="2600" dirty="0"/>
              <a:t> e-</a:t>
            </a:r>
            <a:r>
              <a:rPr lang="en-US" sz="2600" dirty="0" err="1"/>
              <a:t>posta</a:t>
            </a:r>
            <a:r>
              <a:rPr lang="en-US" sz="2600" dirty="0"/>
              <a:t> </a:t>
            </a:r>
            <a:r>
              <a:rPr lang="en-US" sz="2600" dirty="0" err="1"/>
              <a:t>göndermek</a:t>
            </a:r>
            <a:r>
              <a:rPr lang="en-US" sz="2600" dirty="0"/>
              <a:t> için e-</a:t>
            </a:r>
            <a:r>
              <a:rPr lang="en-US" sz="2600" dirty="0" err="1"/>
              <a:t>posta</a:t>
            </a:r>
            <a:r>
              <a:rPr lang="en-US" sz="2600" dirty="0"/>
              <a:t> </a:t>
            </a:r>
            <a:r>
              <a:rPr lang="en-US" sz="2600" dirty="0" err="1"/>
              <a:t>sistemlerinin</a:t>
            </a:r>
            <a:r>
              <a:rPr lang="en-US" sz="2600" dirty="0"/>
              <a:t> </a:t>
            </a:r>
            <a:r>
              <a:rPr lang="en-US" sz="2600" dirty="0" err="1"/>
              <a:t>kullanılması</a:t>
            </a:r>
            <a:endParaRPr lang="en-US" sz="2600" dirty="0"/>
          </a:p>
          <a:p>
            <a:pPr lvl="1"/>
            <a:r>
              <a:rPr lang="en-US" sz="2400" dirty="0" err="1"/>
              <a:t>İstenmeyen</a:t>
            </a:r>
            <a:r>
              <a:rPr lang="en-US" sz="2400" dirty="0"/>
              <a:t> </a:t>
            </a:r>
            <a:r>
              <a:rPr lang="en-US" sz="2400" dirty="0" err="1"/>
              <a:t>Pornografi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Pazarlama</a:t>
            </a:r>
            <a:r>
              <a:rPr lang="en-US" sz="2400" dirty="0"/>
              <a:t> </a:t>
            </a:r>
            <a:r>
              <a:rPr lang="en-US" sz="2400" dirty="0" err="1"/>
              <a:t>Saldırılarının</a:t>
            </a:r>
            <a:r>
              <a:rPr lang="en-US" sz="2400" dirty="0"/>
              <a:t> </a:t>
            </a:r>
            <a:r>
              <a:rPr lang="en-US" sz="2400" dirty="0" err="1"/>
              <a:t>Kontrolü</a:t>
            </a:r>
            <a:r>
              <a:rPr lang="en-US" sz="2400" dirty="0"/>
              <a:t> (CAN-SPAM) </a:t>
            </a:r>
            <a:r>
              <a:rPr lang="en-US" sz="2400" dirty="0" err="1"/>
              <a:t>Yasası</a:t>
            </a:r>
            <a:r>
              <a:rPr lang="en-US" sz="2400" dirty="0"/>
              <a:t>: </a:t>
            </a:r>
            <a:r>
              <a:rPr lang="en-US" sz="2400" dirty="0" err="1"/>
              <a:t>Belirli</a:t>
            </a:r>
            <a:r>
              <a:rPr lang="en-US" sz="2400" dirty="0"/>
              <a:t> </a:t>
            </a:r>
            <a:r>
              <a:rPr lang="en-US" sz="2400" dirty="0" err="1"/>
              <a:t>kısıtlamalarla</a:t>
            </a:r>
            <a:r>
              <a:rPr lang="en-US" sz="2400" dirty="0"/>
              <a:t> </a:t>
            </a:r>
            <a:r>
              <a:rPr lang="en-US" sz="2400" dirty="0" err="1"/>
              <a:t>spam'i</a:t>
            </a:r>
            <a:r>
              <a:rPr lang="en-US" sz="2400" dirty="0"/>
              <a:t> </a:t>
            </a:r>
            <a:r>
              <a:rPr lang="en-US" sz="2400" dirty="0" err="1"/>
              <a:t>yasal</a:t>
            </a:r>
            <a:r>
              <a:rPr lang="en-US" sz="2400" dirty="0"/>
              <a:t> hale </a:t>
            </a:r>
            <a:r>
              <a:rPr lang="en-US" sz="2400" dirty="0" err="1"/>
              <a:t>getirir</a:t>
            </a:r>
            <a:r>
              <a:rPr lang="en-US" sz="2400" dirty="0"/>
              <a:t> - e-</a:t>
            </a:r>
            <a:r>
              <a:rPr lang="en-US" sz="2400" dirty="0" err="1"/>
              <a:t>posta</a:t>
            </a:r>
            <a:r>
              <a:rPr lang="en-US" sz="2400" dirty="0"/>
              <a:t> </a:t>
            </a:r>
            <a:r>
              <a:rPr lang="en-US" sz="2400" dirty="0" err="1"/>
              <a:t>şunları</a:t>
            </a:r>
            <a:r>
              <a:rPr lang="en-US" sz="2400" dirty="0"/>
              <a:t> </a:t>
            </a:r>
            <a:r>
              <a:rPr lang="en-US" sz="2400" dirty="0" err="1"/>
              <a:t>içermelidir</a:t>
            </a:r>
            <a:r>
              <a:rPr lang="en-US" sz="2400" dirty="0"/>
              <a:t>: </a:t>
            </a: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iade</a:t>
            </a:r>
            <a:r>
              <a:rPr lang="en-US" sz="2400" dirty="0"/>
              <a:t> </a:t>
            </a:r>
            <a:r>
              <a:rPr lang="en-US" sz="2400" dirty="0" err="1"/>
              <a:t>adresi</a:t>
            </a:r>
            <a:r>
              <a:rPr lang="en-US" sz="2400" dirty="0"/>
              <a:t>, </a:t>
            </a:r>
            <a:r>
              <a:rPr lang="en-US" sz="2400" dirty="0" err="1"/>
              <a:t>bunun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reklam</a:t>
            </a:r>
            <a:r>
              <a:rPr lang="en-US" sz="2400" dirty="0"/>
              <a:t> </a:t>
            </a:r>
            <a:r>
              <a:rPr lang="en-US" sz="2400" dirty="0" err="1"/>
              <a:t>veya</a:t>
            </a:r>
            <a:r>
              <a:rPr lang="en-US" sz="2400" dirty="0"/>
              <a:t> </a:t>
            </a:r>
            <a:r>
              <a:rPr lang="en-US" sz="2400" dirty="0" err="1"/>
              <a:t>talep</a:t>
            </a:r>
            <a:r>
              <a:rPr lang="en-US" sz="2400" dirty="0"/>
              <a:t> </a:t>
            </a:r>
            <a:r>
              <a:rPr lang="en-US" sz="2400" dirty="0" err="1"/>
              <a:t>olduğunu</a:t>
            </a:r>
            <a:r>
              <a:rPr lang="en-US" sz="2400" dirty="0"/>
              <a:t> </a:t>
            </a:r>
            <a:r>
              <a:rPr lang="en-US" sz="2400" dirty="0" err="1"/>
              <a:t>belirten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etiket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alıcıların</a:t>
            </a:r>
            <a:r>
              <a:rPr lang="en-US" sz="2400" dirty="0"/>
              <a:t> </a:t>
            </a:r>
            <a:r>
              <a:rPr lang="en-US" sz="2400" dirty="0" err="1"/>
              <a:t>gelecekteki</a:t>
            </a:r>
            <a:r>
              <a:rPr lang="en-US" sz="2400" dirty="0"/>
              <a:t> e-</a:t>
            </a:r>
            <a:r>
              <a:rPr lang="en-US" sz="2400" dirty="0" err="1"/>
              <a:t>postalardan</a:t>
            </a:r>
            <a:r>
              <a:rPr lang="en-US" sz="2400" dirty="0"/>
              <a:t> </a:t>
            </a:r>
            <a:r>
              <a:rPr lang="en-US" sz="2400" dirty="0" err="1"/>
              <a:t>vazgeçmeleri</a:t>
            </a:r>
            <a:r>
              <a:rPr lang="en-US" sz="2400" dirty="0"/>
              <a:t> için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yol</a:t>
            </a:r>
            <a:endParaRPr lang="en-US" sz="2400" dirty="0"/>
          </a:p>
          <a:p>
            <a:pPr lvl="1"/>
            <a:r>
              <a:rPr lang="en-US" sz="2400" dirty="0"/>
              <a:t>CAPTCHA (Completely Automated Public Turing Test to Tell Computers and Humans Apart): </a:t>
            </a:r>
            <a:r>
              <a:rPr lang="en-US" sz="2400" dirty="0" err="1"/>
              <a:t>İnsanların</a:t>
            </a:r>
            <a:r>
              <a:rPr lang="en-US" sz="2400" dirty="0"/>
              <a:t> </a:t>
            </a:r>
            <a:r>
              <a:rPr lang="en-US" sz="2400" dirty="0" err="1"/>
              <a:t>geçebileceği</a:t>
            </a:r>
            <a:r>
              <a:rPr lang="en-US" sz="2400" dirty="0"/>
              <a:t> </a:t>
            </a:r>
            <a:r>
              <a:rPr lang="en-US" sz="2400" dirty="0" err="1"/>
              <a:t>ancak</a:t>
            </a:r>
            <a:r>
              <a:rPr lang="en-US" sz="2400" dirty="0"/>
              <a:t> </a:t>
            </a:r>
            <a:r>
              <a:rPr lang="en-US" sz="2400" dirty="0" err="1"/>
              <a:t>bilgisayar</a:t>
            </a:r>
            <a:r>
              <a:rPr lang="en-US" sz="2400" dirty="0"/>
              <a:t> </a:t>
            </a:r>
            <a:r>
              <a:rPr lang="en-US" sz="2400" dirty="0" err="1"/>
              <a:t>programlarının</a:t>
            </a:r>
            <a:r>
              <a:rPr lang="en-US" sz="2400" dirty="0"/>
              <a:t> </a:t>
            </a:r>
            <a:r>
              <a:rPr lang="en-US" sz="2400" dirty="0" err="1"/>
              <a:t>geçemeyeceği</a:t>
            </a:r>
            <a:r>
              <a:rPr lang="en-US" sz="2400" dirty="0"/>
              <a:t> </a:t>
            </a:r>
            <a:r>
              <a:rPr lang="en-US" sz="2400" dirty="0" err="1"/>
              <a:t>testler</a:t>
            </a:r>
            <a:r>
              <a:rPr lang="en-US" sz="2400" dirty="0"/>
              <a:t> </a:t>
            </a:r>
            <a:r>
              <a:rPr lang="en-US" sz="2400" dirty="0" err="1"/>
              <a:t>üreten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derecelendiren</a:t>
            </a:r>
            <a:r>
              <a:rPr lang="en-US" sz="2400" dirty="0"/>
              <a:t> </a:t>
            </a:r>
            <a:r>
              <a:rPr lang="en-US" sz="2400" dirty="0" err="1"/>
              <a:t>yazılım</a:t>
            </a:r>
            <a:endParaRPr lang="en-US" sz="2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8849"/>
            <a:ext cx="8026400" cy="1051057"/>
          </a:xfrm>
        </p:spPr>
        <p:txBody>
          <a:bodyPr/>
          <a:lstStyle/>
          <a:p>
            <a:r>
              <a:rPr lang="en-US" sz="4000" dirty="0"/>
              <a:t>Types of Exploits, Part 2</a:t>
            </a:r>
            <a:br>
              <a:rPr lang="en-US" sz="4000" dirty="0"/>
            </a:br>
            <a:r>
              <a:rPr lang="en-US" sz="4000" dirty="0" err="1"/>
              <a:t>Suistimal</a:t>
            </a:r>
            <a:r>
              <a:rPr lang="en-US" sz="4000" dirty="0"/>
              <a:t> </a:t>
            </a:r>
            <a:r>
              <a:rPr lang="en-US" sz="4000" dirty="0" err="1"/>
              <a:t>Türleri</a:t>
            </a:r>
            <a:r>
              <a:rPr lang="en-US" sz="4000" dirty="0"/>
              <a:t>, </a:t>
            </a:r>
            <a:r>
              <a:rPr lang="en-US" sz="4000" dirty="0" err="1"/>
              <a:t>Bölüm</a:t>
            </a:r>
            <a:r>
              <a:rPr lang="en-US" sz="4000" dirty="0"/>
              <a:t>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110542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231389"/>
            <a:ext cx="8686800" cy="3860288"/>
          </a:xfrm>
        </p:spPr>
        <p:txBody>
          <a:bodyPr/>
          <a:lstStyle/>
          <a:p>
            <a:r>
              <a:rPr lang="en-US" sz="2700" dirty="0" err="1"/>
              <a:t>Dağıtılmış</a:t>
            </a:r>
            <a:r>
              <a:rPr lang="en-US" sz="2700" dirty="0"/>
              <a:t> </a:t>
            </a:r>
            <a:r>
              <a:rPr lang="en-US" sz="2700" dirty="0" err="1"/>
              <a:t>hizmet</a:t>
            </a:r>
            <a:r>
              <a:rPr lang="en-US" sz="2700" dirty="0"/>
              <a:t> </a:t>
            </a:r>
            <a:r>
              <a:rPr lang="en-US" sz="2700" dirty="0" err="1"/>
              <a:t>reddi</a:t>
            </a:r>
            <a:r>
              <a:rPr lang="en-US" sz="2700" dirty="0"/>
              <a:t> (DDoS) </a:t>
            </a:r>
            <a:r>
              <a:rPr lang="en-US" sz="2700" dirty="0" err="1"/>
              <a:t>saldırısı</a:t>
            </a:r>
            <a:r>
              <a:rPr lang="en-US" sz="2700" dirty="0"/>
              <a:t>: İnternet </a:t>
            </a:r>
            <a:r>
              <a:rPr lang="en-US" sz="2700" dirty="0" err="1"/>
              <a:t>üzerinden</a:t>
            </a:r>
            <a:r>
              <a:rPr lang="en-US" sz="2700" dirty="0"/>
              <a:t> </a:t>
            </a:r>
            <a:r>
              <a:rPr lang="en-US" sz="2700" dirty="0" err="1"/>
              <a:t>bilgisayarları</a:t>
            </a:r>
            <a:r>
              <a:rPr lang="en-US" sz="2700" dirty="0"/>
              <a:t> </a:t>
            </a:r>
            <a:r>
              <a:rPr lang="en-US" sz="2700" dirty="0" err="1"/>
              <a:t>ele</a:t>
            </a:r>
            <a:r>
              <a:rPr lang="en-US" sz="2700" dirty="0"/>
              <a:t> </a:t>
            </a:r>
            <a:r>
              <a:rPr lang="en-US" sz="2700" dirty="0" err="1"/>
              <a:t>geçirerek</a:t>
            </a:r>
            <a:r>
              <a:rPr lang="en-US" sz="2700" dirty="0"/>
              <a:t> </a:t>
            </a:r>
            <a:r>
              <a:rPr lang="en-US" sz="2700" dirty="0" err="1"/>
              <a:t>hedef</a:t>
            </a:r>
            <a:r>
              <a:rPr lang="en-US" sz="2700" dirty="0"/>
              <a:t> </a:t>
            </a:r>
            <a:r>
              <a:rPr lang="en-US" sz="2700" dirty="0" err="1"/>
              <a:t>siteyi</a:t>
            </a:r>
            <a:r>
              <a:rPr lang="en-US" sz="2700" dirty="0"/>
              <a:t> </a:t>
            </a:r>
            <a:r>
              <a:rPr lang="en-US" sz="2700" dirty="0" err="1"/>
              <a:t>veri</a:t>
            </a:r>
            <a:r>
              <a:rPr lang="en-US" sz="2700" dirty="0"/>
              <a:t> </a:t>
            </a:r>
            <a:r>
              <a:rPr lang="en-US" sz="2700" dirty="0" err="1"/>
              <a:t>ve</a:t>
            </a:r>
            <a:r>
              <a:rPr lang="en-US" sz="2700" dirty="0"/>
              <a:t> </a:t>
            </a:r>
            <a:r>
              <a:rPr lang="en-US" sz="2700" dirty="0" err="1"/>
              <a:t>diğer</a:t>
            </a:r>
            <a:r>
              <a:rPr lang="en-US" sz="2700" dirty="0"/>
              <a:t> </a:t>
            </a:r>
            <a:r>
              <a:rPr lang="en-US" sz="2700" dirty="0" err="1"/>
              <a:t>küçük</a:t>
            </a:r>
            <a:r>
              <a:rPr lang="en-US" sz="2700" dirty="0"/>
              <a:t> </a:t>
            </a:r>
            <a:r>
              <a:rPr lang="en-US" sz="2700" dirty="0" err="1"/>
              <a:t>görevler</a:t>
            </a:r>
            <a:r>
              <a:rPr lang="en-US" sz="2700" dirty="0"/>
              <a:t> için </a:t>
            </a:r>
            <a:r>
              <a:rPr lang="en-US" sz="2700" dirty="0" err="1"/>
              <a:t>taleplerle</a:t>
            </a:r>
            <a:r>
              <a:rPr lang="en-US" sz="2700" dirty="0"/>
              <a:t> </a:t>
            </a:r>
            <a:r>
              <a:rPr lang="en-US" sz="2700" dirty="0" err="1"/>
              <a:t>doldurmalarına</a:t>
            </a:r>
            <a:r>
              <a:rPr lang="en-US" sz="2700" dirty="0"/>
              <a:t> </a:t>
            </a:r>
            <a:r>
              <a:rPr lang="en-US" sz="2700" dirty="0" err="1"/>
              <a:t>neden</a:t>
            </a:r>
            <a:r>
              <a:rPr lang="en-US" sz="2700" dirty="0"/>
              <a:t> </a:t>
            </a:r>
            <a:r>
              <a:rPr lang="en-US" sz="2700" dirty="0" err="1"/>
              <a:t>olan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saldırı</a:t>
            </a:r>
            <a:endParaRPr lang="en-US" sz="2700" dirty="0"/>
          </a:p>
          <a:p>
            <a:r>
              <a:rPr lang="en-US" sz="2700" dirty="0"/>
              <a:t>Rootkit: </a:t>
            </a:r>
            <a:r>
              <a:rPr lang="en-US" sz="2700" dirty="0" err="1"/>
              <a:t>Kullanıcısının</a:t>
            </a:r>
            <a:r>
              <a:rPr lang="en-US" sz="2700" dirty="0"/>
              <a:t>, son </a:t>
            </a:r>
            <a:r>
              <a:rPr lang="en-US" sz="2700" dirty="0" err="1"/>
              <a:t>kullanıcının</a:t>
            </a:r>
            <a:r>
              <a:rPr lang="en-US" sz="2700" dirty="0"/>
              <a:t> </a:t>
            </a:r>
            <a:r>
              <a:rPr lang="en-US" sz="2700" dirty="0" err="1"/>
              <a:t>izni</a:t>
            </a:r>
            <a:r>
              <a:rPr lang="en-US" sz="2700" dirty="0"/>
              <a:t> </a:t>
            </a:r>
            <a:r>
              <a:rPr lang="en-US" sz="2700" dirty="0" err="1"/>
              <a:t>veya</a:t>
            </a:r>
            <a:r>
              <a:rPr lang="en-US" sz="2700" dirty="0"/>
              <a:t> </a:t>
            </a:r>
            <a:r>
              <a:rPr lang="en-US" sz="2700" dirty="0" err="1"/>
              <a:t>bilgisi</a:t>
            </a:r>
            <a:r>
              <a:rPr lang="en-US" sz="2700" dirty="0"/>
              <a:t> </a:t>
            </a:r>
            <a:r>
              <a:rPr lang="en-US" sz="2700" dirty="0" err="1"/>
              <a:t>olmadan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bilgisayara</a:t>
            </a:r>
            <a:r>
              <a:rPr lang="en-US" sz="2700" dirty="0"/>
              <a:t> </a:t>
            </a:r>
            <a:r>
              <a:rPr lang="en-US" sz="2700" dirty="0" err="1"/>
              <a:t>yönetici</a:t>
            </a:r>
            <a:r>
              <a:rPr lang="en-US" sz="2700" dirty="0"/>
              <a:t> </a:t>
            </a:r>
            <a:r>
              <a:rPr lang="en-US" sz="2700" dirty="0" err="1"/>
              <a:t>düzeyinde</a:t>
            </a:r>
            <a:r>
              <a:rPr lang="en-US" sz="2700" dirty="0"/>
              <a:t> </a:t>
            </a:r>
            <a:r>
              <a:rPr lang="en-US" sz="2700" dirty="0" err="1"/>
              <a:t>erişim</a:t>
            </a:r>
            <a:r>
              <a:rPr lang="en-US" sz="2700" dirty="0"/>
              <a:t> </a:t>
            </a:r>
            <a:r>
              <a:rPr lang="en-US" sz="2700" dirty="0" err="1"/>
              <a:t>elde</a:t>
            </a:r>
            <a:r>
              <a:rPr lang="en-US" sz="2700" dirty="0"/>
              <a:t> </a:t>
            </a:r>
            <a:r>
              <a:rPr lang="en-US" sz="2700" dirty="0" err="1"/>
              <a:t>etmesini</a:t>
            </a:r>
            <a:r>
              <a:rPr lang="en-US" sz="2700" dirty="0"/>
              <a:t> </a:t>
            </a:r>
            <a:r>
              <a:rPr lang="en-US" sz="2700" dirty="0" err="1"/>
              <a:t>sağlayan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dizi program</a:t>
            </a:r>
          </a:p>
          <a:p>
            <a:r>
              <a:rPr lang="en-US" sz="2700" dirty="0" err="1"/>
              <a:t>Gelişmiş</a:t>
            </a:r>
            <a:r>
              <a:rPr lang="en-US" sz="2700" dirty="0"/>
              <a:t> </a:t>
            </a:r>
            <a:r>
              <a:rPr lang="en-US" sz="2700" dirty="0" err="1"/>
              <a:t>kalıcı</a:t>
            </a:r>
            <a:r>
              <a:rPr lang="en-US" sz="2700" dirty="0"/>
              <a:t> </a:t>
            </a:r>
            <a:r>
              <a:rPr lang="en-US" sz="2700" dirty="0" err="1"/>
              <a:t>tehdit</a:t>
            </a:r>
            <a:r>
              <a:rPr lang="en-US" sz="2700" dirty="0"/>
              <a:t> (APT): Bir </a:t>
            </a:r>
            <a:r>
              <a:rPr lang="en-US" sz="2700" dirty="0" err="1"/>
              <a:t>saldırganın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ağa</a:t>
            </a:r>
            <a:r>
              <a:rPr lang="en-US" sz="2700" dirty="0"/>
              <a:t> </a:t>
            </a:r>
            <a:r>
              <a:rPr lang="en-US" sz="2700" dirty="0" err="1"/>
              <a:t>erişim</a:t>
            </a:r>
            <a:r>
              <a:rPr lang="en-US" sz="2700" dirty="0"/>
              <a:t> </a:t>
            </a:r>
            <a:r>
              <a:rPr lang="en-US" sz="2700" dirty="0" err="1"/>
              <a:t>sağladığı</a:t>
            </a:r>
            <a:r>
              <a:rPr lang="en-US" sz="2700" dirty="0"/>
              <a:t> </a:t>
            </a:r>
            <a:r>
              <a:rPr lang="en-US" sz="2700" dirty="0" err="1"/>
              <a:t>ve</a:t>
            </a:r>
            <a:r>
              <a:rPr lang="en-US" sz="2700" dirty="0"/>
              <a:t> </a:t>
            </a:r>
            <a:r>
              <a:rPr lang="en-US" sz="2700" dirty="0" err="1"/>
              <a:t>haftalar</a:t>
            </a:r>
            <a:r>
              <a:rPr lang="en-US" sz="2700" dirty="0"/>
              <a:t> </a:t>
            </a:r>
            <a:r>
              <a:rPr lang="en-US" sz="2700" dirty="0" err="1"/>
              <a:t>veya</a:t>
            </a:r>
            <a:r>
              <a:rPr lang="en-US" sz="2700" dirty="0"/>
              <a:t> </a:t>
            </a:r>
            <a:r>
              <a:rPr lang="en-US" sz="2700" dirty="0" err="1"/>
              <a:t>aylar</a:t>
            </a:r>
            <a:r>
              <a:rPr lang="en-US" sz="2700" dirty="0"/>
              <a:t> </a:t>
            </a:r>
            <a:r>
              <a:rPr lang="en-US" sz="2700" dirty="0" err="1"/>
              <a:t>boyunca</a:t>
            </a:r>
            <a:r>
              <a:rPr lang="en-US" sz="2700" dirty="0"/>
              <a:t> </a:t>
            </a:r>
            <a:r>
              <a:rPr lang="en-US" sz="2700" dirty="0" err="1"/>
              <a:t>veri</a:t>
            </a:r>
            <a:r>
              <a:rPr lang="en-US" sz="2700" dirty="0"/>
              <a:t> </a:t>
            </a:r>
            <a:r>
              <a:rPr lang="en-US" sz="2700" dirty="0" err="1"/>
              <a:t>çalmak</a:t>
            </a:r>
            <a:r>
              <a:rPr lang="en-US" sz="2700" dirty="0"/>
              <a:t> </a:t>
            </a:r>
            <a:r>
              <a:rPr lang="en-US" sz="2700" dirty="0" err="1"/>
              <a:t>amacıyla</a:t>
            </a:r>
            <a:r>
              <a:rPr lang="en-US" sz="2700" dirty="0"/>
              <a:t> </a:t>
            </a:r>
            <a:r>
              <a:rPr lang="en-US" sz="2700" dirty="0" err="1"/>
              <a:t>orada</a:t>
            </a:r>
            <a:r>
              <a:rPr lang="en-US" sz="2700" dirty="0"/>
              <a:t> </a:t>
            </a:r>
            <a:r>
              <a:rPr lang="en-US" sz="2700" dirty="0" err="1"/>
              <a:t>kaldığı</a:t>
            </a:r>
            <a:r>
              <a:rPr lang="en-US" sz="2700" dirty="0"/>
              <a:t> - </a:t>
            </a:r>
            <a:r>
              <a:rPr lang="en-US" sz="2700" dirty="0" err="1"/>
              <a:t>tespit</a:t>
            </a:r>
            <a:r>
              <a:rPr lang="en-US" sz="2700" dirty="0"/>
              <a:t> </a:t>
            </a:r>
            <a:r>
              <a:rPr lang="en-US" sz="2700" dirty="0" err="1"/>
              <a:t>edilmediği</a:t>
            </a:r>
            <a:r>
              <a:rPr lang="en-US" sz="2700" dirty="0"/>
              <a:t> -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saldırı</a:t>
            </a:r>
            <a:endParaRPr lang="en-US" sz="27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8849"/>
            <a:ext cx="8026400" cy="1051057"/>
          </a:xfrm>
        </p:spPr>
        <p:txBody>
          <a:bodyPr/>
          <a:lstStyle/>
          <a:p>
            <a:r>
              <a:rPr lang="en-US" sz="4000" dirty="0"/>
              <a:t>Types of Exploits, Part 3</a:t>
            </a:r>
            <a:br>
              <a:rPr lang="en-US" sz="4000" dirty="0"/>
            </a:br>
            <a:r>
              <a:rPr lang="en-US" sz="4000" dirty="0" err="1"/>
              <a:t>Suistimal</a:t>
            </a:r>
            <a:r>
              <a:rPr lang="en-US" sz="4000" dirty="0"/>
              <a:t> </a:t>
            </a:r>
            <a:r>
              <a:rPr lang="en-US" sz="4000" dirty="0" err="1"/>
              <a:t>Türleri</a:t>
            </a:r>
            <a:r>
              <a:rPr lang="en-US" sz="4000" dirty="0"/>
              <a:t>, </a:t>
            </a:r>
            <a:r>
              <a:rPr lang="en-US" sz="4000" dirty="0" err="1"/>
              <a:t>Bölüm</a:t>
            </a:r>
            <a:r>
              <a:rPr lang="en-US" sz="4000" dirty="0"/>
              <a:t> 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242794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95400"/>
            <a:ext cx="8415338" cy="4803623"/>
          </a:xfrm>
        </p:spPr>
        <p:txBody>
          <a:bodyPr/>
          <a:lstStyle/>
          <a:p>
            <a:r>
              <a:rPr lang="en-US" sz="2700" dirty="0" err="1"/>
              <a:t>Oltalama</a:t>
            </a:r>
            <a:r>
              <a:rPr lang="en-US" sz="2700" dirty="0"/>
              <a:t>: </a:t>
            </a:r>
            <a:r>
              <a:rPr lang="en-US" sz="2700" dirty="0" err="1"/>
              <a:t>Alıcının</a:t>
            </a:r>
            <a:r>
              <a:rPr lang="en-US" sz="2700" dirty="0"/>
              <a:t> </a:t>
            </a:r>
            <a:r>
              <a:rPr lang="en-US" sz="2700" dirty="0" err="1"/>
              <a:t>kişisel</a:t>
            </a:r>
            <a:r>
              <a:rPr lang="en-US" sz="2700" dirty="0"/>
              <a:t> </a:t>
            </a:r>
            <a:r>
              <a:rPr lang="en-US" sz="2700" dirty="0" err="1"/>
              <a:t>verilerini</a:t>
            </a:r>
            <a:r>
              <a:rPr lang="en-US" sz="2700" dirty="0"/>
              <a:t> </a:t>
            </a:r>
            <a:r>
              <a:rPr lang="en-US" sz="2700" dirty="0" err="1"/>
              <a:t>ifşa</a:t>
            </a:r>
            <a:r>
              <a:rPr lang="en-US" sz="2700" dirty="0"/>
              <a:t> </a:t>
            </a:r>
            <a:r>
              <a:rPr lang="en-US" sz="2700" dirty="0" err="1"/>
              <a:t>etmesini</a:t>
            </a:r>
            <a:r>
              <a:rPr lang="en-US" sz="2700" dirty="0"/>
              <a:t> </a:t>
            </a:r>
            <a:r>
              <a:rPr lang="en-US" sz="2700" dirty="0" err="1"/>
              <a:t>sağlamak</a:t>
            </a:r>
            <a:r>
              <a:rPr lang="en-US" sz="2700" dirty="0"/>
              <a:t> için e-</a:t>
            </a:r>
            <a:r>
              <a:rPr lang="en-US" sz="2700" dirty="0" err="1"/>
              <a:t>postayı</a:t>
            </a:r>
            <a:r>
              <a:rPr lang="en-US" sz="2700" dirty="0"/>
              <a:t> </a:t>
            </a:r>
            <a:r>
              <a:rPr lang="en-US" sz="2700" dirty="0" err="1"/>
              <a:t>hileli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şekilde</a:t>
            </a:r>
            <a:r>
              <a:rPr lang="en-US" sz="2700" dirty="0"/>
              <a:t> </a:t>
            </a:r>
            <a:r>
              <a:rPr lang="en-US" sz="2700" dirty="0" err="1"/>
              <a:t>kullanma</a:t>
            </a:r>
            <a:r>
              <a:rPr lang="en-US" sz="2700" dirty="0"/>
              <a:t> </a:t>
            </a:r>
            <a:r>
              <a:rPr lang="en-US" sz="2700" dirty="0" err="1"/>
              <a:t>eylemi</a:t>
            </a:r>
            <a:endParaRPr lang="en-US" sz="2700" dirty="0"/>
          </a:p>
          <a:p>
            <a:r>
              <a:rPr lang="en-US" sz="2700" dirty="0"/>
              <a:t>Spear phishing: </a:t>
            </a:r>
            <a:r>
              <a:rPr lang="en-US" sz="2700" dirty="0" err="1"/>
              <a:t>Kimlik</a:t>
            </a:r>
            <a:r>
              <a:rPr lang="en-US" sz="2700" dirty="0"/>
              <a:t> </a:t>
            </a:r>
            <a:r>
              <a:rPr lang="en-US" sz="2700" dirty="0" err="1"/>
              <a:t>avcısının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kuruluşun</a:t>
            </a:r>
            <a:r>
              <a:rPr lang="en-US" sz="2700" dirty="0"/>
              <a:t> </a:t>
            </a:r>
            <a:r>
              <a:rPr lang="en-US" sz="2700" dirty="0" err="1"/>
              <a:t>çalışanlarına</a:t>
            </a:r>
            <a:r>
              <a:rPr lang="en-US" sz="2700" dirty="0"/>
              <a:t> </a:t>
            </a:r>
            <a:r>
              <a:rPr lang="en-US" sz="2700" dirty="0" err="1"/>
              <a:t>hileli</a:t>
            </a:r>
            <a:r>
              <a:rPr lang="en-US" sz="2700" dirty="0"/>
              <a:t> e-</a:t>
            </a:r>
            <a:r>
              <a:rPr lang="en-US" sz="2700" dirty="0" err="1"/>
              <a:t>postalar</a:t>
            </a:r>
            <a:r>
              <a:rPr lang="en-US" sz="2700" dirty="0"/>
              <a:t> </a:t>
            </a:r>
            <a:r>
              <a:rPr lang="en-US" sz="2700" dirty="0" err="1"/>
              <a:t>gönderdiği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kimlik</a:t>
            </a:r>
            <a:r>
              <a:rPr lang="en-US" sz="2700" dirty="0"/>
              <a:t> </a:t>
            </a:r>
            <a:r>
              <a:rPr lang="en-US" sz="2700" dirty="0" err="1"/>
              <a:t>avı</a:t>
            </a:r>
            <a:r>
              <a:rPr lang="en-US" sz="2700" dirty="0"/>
              <a:t> </a:t>
            </a:r>
            <a:r>
              <a:rPr lang="en-US" sz="2700" dirty="0" err="1"/>
              <a:t>çeşidi</a:t>
            </a:r>
            <a:endParaRPr lang="en-US" sz="2700" dirty="0"/>
          </a:p>
          <a:p>
            <a:r>
              <a:rPr lang="en-US" sz="2700" dirty="0"/>
              <a:t>Smishing: </a:t>
            </a:r>
            <a:r>
              <a:rPr lang="en-US" sz="2700" dirty="0" err="1"/>
              <a:t>Kurbanların</a:t>
            </a:r>
            <a:r>
              <a:rPr lang="en-US" sz="2700" dirty="0"/>
              <a:t> </a:t>
            </a:r>
            <a:r>
              <a:rPr lang="en-US" sz="2700" dirty="0" err="1"/>
              <a:t>belirli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telefon</a:t>
            </a:r>
            <a:r>
              <a:rPr lang="en-US" sz="2700" dirty="0"/>
              <a:t> </a:t>
            </a:r>
            <a:r>
              <a:rPr lang="en-US" sz="2700" dirty="0" err="1"/>
              <a:t>numarasını</a:t>
            </a:r>
            <a:r>
              <a:rPr lang="en-US" sz="2700" dirty="0"/>
              <a:t> </a:t>
            </a:r>
            <a:r>
              <a:rPr lang="en-US" sz="2700" dirty="0" err="1"/>
              <a:t>aramalarını</a:t>
            </a:r>
            <a:r>
              <a:rPr lang="en-US" sz="2700" dirty="0"/>
              <a:t> </a:t>
            </a:r>
            <a:r>
              <a:rPr lang="en-US" sz="2700" dirty="0" err="1"/>
              <a:t>veya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web </a:t>
            </a:r>
            <a:r>
              <a:rPr lang="en-US" sz="2700" dirty="0" err="1"/>
              <a:t>sitesinde</a:t>
            </a:r>
            <a:r>
              <a:rPr lang="en-US" sz="2700" dirty="0"/>
              <a:t> </a:t>
            </a:r>
            <a:r>
              <a:rPr lang="en-US" sz="2700" dirty="0" err="1"/>
              <a:t>oturum</a:t>
            </a:r>
            <a:r>
              <a:rPr lang="en-US" sz="2700" dirty="0"/>
              <a:t> </a:t>
            </a:r>
            <a:r>
              <a:rPr lang="en-US" sz="2700" dirty="0" err="1"/>
              <a:t>açmalarını</a:t>
            </a:r>
            <a:r>
              <a:rPr lang="en-US" sz="2700" dirty="0"/>
              <a:t> </a:t>
            </a:r>
            <a:r>
              <a:rPr lang="en-US" sz="2700" dirty="0" err="1"/>
              <a:t>söyleyen</a:t>
            </a:r>
            <a:r>
              <a:rPr lang="en-US" sz="2700" dirty="0"/>
              <a:t> </a:t>
            </a:r>
            <a:r>
              <a:rPr lang="en-US" sz="2700" dirty="0" err="1"/>
              <a:t>meşru</a:t>
            </a:r>
            <a:r>
              <a:rPr lang="en-US" sz="2700" dirty="0"/>
              <a:t> </a:t>
            </a:r>
            <a:r>
              <a:rPr lang="en-US" sz="2700" dirty="0" err="1"/>
              <a:t>görünümlü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kısa</a:t>
            </a:r>
            <a:r>
              <a:rPr lang="en-US" sz="2700" dirty="0"/>
              <a:t> </a:t>
            </a:r>
            <a:r>
              <a:rPr lang="en-US" sz="2700" dirty="0" err="1"/>
              <a:t>mesaj</a:t>
            </a:r>
            <a:r>
              <a:rPr lang="en-US" sz="2700" dirty="0"/>
              <a:t> </a:t>
            </a:r>
            <a:r>
              <a:rPr lang="en-US" sz="2700" dirty="0" err="1"/>
              <a:t>aldıkları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kimlik</a:t>
            </a:r>
            <a:r>
              <a:rPr lang="en-US" sz="2700" dirty="0"/>
              <a:t> </a:t>
            </a:r>
            <a:r>
              <a:rPr lang="en-US" sz="2700" dirty="0" err="1"/>
              <a:t>avı</a:t>
            </a:r>
            <a:r>
              <a:rPr lang="en-US" sz="2700" dirty="0"/>
              <a:t> </a:t>
            </a:r>
            <a:r>
              <a:rPr lang="en-US" sz="2700" dirty="0" err="1"/>
              <a:t>çeşidi</a:t>
            </a:r>
            <a:endParaRPr lang="en-US" sz="2700" dirty="0"/>
          </a:p>
          <a:p>
            <a:r>
              <a:rPr lang="en-US" sz="2700" dirty="0"/>
              <a:t>Vishing: </a:t>
            </a:r>
            <a:r>
              <a:rPr lang="en-US" sz="2700" dirty="0" err="1"/>
              <a:t>Kurbanların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telefon</a:t>
            </a:r>
            <a:r>
              <a:rPr lang="en-US" sz="2700" dirty="0"/>
              <a:t> </a:t>
            </a:r>
            <a:r>
              <a:rPr lang="en-US" sz="2700" dirty="0" err="1"/>
              <a:t>numarasını</a:t>
            </a:r>
            <a:r>
              <a:rPr lang="en-US" sz="2700" dirty="0"/>
              <a:t> </a:t>
            </a:r>
            <a:r>
              <a:rPr lang="en-US" sz="2700" dirty="0" err="1"/>
              <a:t>aramalarını</a:t>
            </a:r>
            <a:r>
              <a:rPr lang="en-US" sz="2700" dirty="0"/>
              <a:t> </a:t>
            </a:r>
            <a:r>
              <a:rPr lang="en-US" sz="2700" dirty="0" err="1"/>
              <a:t>veya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web </a:t>
            </a:r>
            <a:r>
              <a:rPr lang="en-US" sz="2700" dirty="0" err="1"/>
              <a:t>sitesine</a:t>
            </a:r>
            <a:r>
              <a:rPr lang="en-US" sz="2700" dirty="0"/>
              <a:t> </a:t>
            </a:r>
            <a:r>
              <a:rPr lang="en-US" sz="2700" dirty="0" err="1"/>
              <a:t>erişmelerini</a:t>
            </a:r>
            <a:r>
              <a:rPr lang="en-US" sz="2700" dirty="0"/>
              <a:t> </a:t>
            </a:r>
            <a:r>
              <a:rPr lang="en-US" sz="2700" dirty="0" err="1"/>
              <a:t>söyleyen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sesli</a:t>
            </a:r>
            <a:r>
              <a:rPr lang="en-US" sz="2700" dirty="0"/>
              <a:t> </a:t>
            </a:r>
            <a:r>
              <a:rPr lang="en-US" sz="2700" dirty="0" err="1"/>
              <a:t>posta</a:t>
            </a:r>
            <a:r>
              <a:rPr lang="en-US" sz="2700" dirty="0"/>
              <a:t> </a:t>
            </a:r>
            <a:r>
              <a:rPr lang="en-US" sz="2700" dirty="0" err="1"/>
              <a:t>mesajı</a:t>
            </a:r>
            <a:r>
              <a:rPr lang="en-US" sz="2700" dirty="0"/>
              <a:t> </a:t>
            </a:r>
            <a:r>
              <a:rPr lang="en-US" sz="2700" dirty="0" err="1"/>
              <a:t>aldıkları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kimlik</a:t>
            </a:r>
            <a:r>
              <a:rPr lang="en-US" sz="2700" dirty="0"/>
              <a:t> </a:t>
            </a:r>
            <a:r>
              <a:rPr lang="en-US" sz="2700" dirty="0" err="1"/>
              <a:t>avı</a:t>
            </a:r>
            <a:r>
              <a:rPr lang="en-US" sz="2700" dirty="0"/>
              <a:t> </a:t>
            </a:r>
            <a:r>
              <a:rPr lang="en-US" sz="2700" dirty="0" err="1"/>
              <a:t>çeşidi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8849"/>
            <a:ext cx="8026400" cy="1051057"/>
          </a:xfrm>
        </p:spPr>
        <p:txBody>
          <a:bodyPr/>
          <a:lstStyle/>
          <a:p>
            <a:r>
              <a:rPr lang="en-US" sz="4000" dirty="0"/>
              <a:t>Types of Exploits, Part 4</a:t>
            </a:r>
            <a:br>
              <a:rPr lang="en-US" sz="4000" dirty="0"/>
            </a:br>
            <a:r>
              <a:rPr lang="en-US" sz="4000" dirty="0" err="1"/>
              <a:t>Suistimal</a:t>
            </a:r>
            <a:r>
              <a:rPr lang="en-US" sz="4000" dirty="0"/>
              <a:t> </a:t>
            </a:r>
            <a:r>
              <a:rPr lang="en-US" sz="4000" dirty="0" err="1"/>
              <a:t>Türleri</a:t>
            </a:r>
            <a:r>
              <a:rPr lang="en-US" sz="4000" dirty="0"/>
              <a:t>, </a:t>
            </a:r>
            <a:r>
              <a:rPr lang="en-US" sz="4000" dirty="0" err="1"/>
              <a:t>Bölüm</a:t>
            </a:r>
            <a:r>
              <a:rPr lang="en-US" sz="4000" dirty="0"/>
              <a:t> 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510737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314691"/>
            <a:ext cx="8559800" cy="4401205"/>
          </a:xfrm>
        </p:spPr>
        <p:txBody>
          <a:bodyPr/>
          <a:lstStyle/>
          <a:p>
            <a:r>
              <a:rPr lang="en-US" sz="2600" dirty="0" err="1"/>
              <a:t>Siber</a:t>
            </a:r>
            <a:r>
              <a:rPr lang="en-US" sz="2600" dirty="0"/>
              <a:t> </a:t>
            </a:r>
            <a:r>
              <a:rPr lang="en-US" sz="2600" dirty="0" err="1"/>
              <a:t>casusluk</a:t>
            </a:r>
            <a:r>
              <a:rPr lang="en-US" sz="2600" dirty="0"/>
              <a:t>: </a:t>
            </a:r>
            <a:r>
              <a:rPr lang="en-US" sz="2600" dirty="0" err="1"/>
              <a:t>Devlet</a:t>
            </a:r>
            <a:r>
              <a:rPr lang="en-US" sz="2600" dirty="0"/>
              <a:t> </a:t>
            </a:r>
            <a:r>
              <a:rPr lang="en-US" sz="2600" dirty="0" err="1"/>
              <a:t>kurumlarından</a:t>
            </a:r>
            <a:r>
              <a:rPr lang="en-US" sz="2600" dirty="0"/>
              <a:t>, </a:t>
            </a:r>
            <a:r>
              <a:rPr lang="en-US" sz="2600" dirty="0" err="1"/>
              <a:t>askeri</a:t>
            </a:r>
            <a:r>
              <a:rPr lang="en-US" sz="2600" dirty="0"/>
              <a:t> </a:t>
            </a:r>
            <a:r>
              <a:rPr lang="en-US" sz="2600" dirty="0" err="1"/>
              <a:t>yüklenicilerden</a:t>
            </a:r>
            <a:r>
              <a:rPr lang="en-US" sz="2600" dirty="0"/>
              <a:t>, </a:t>
            </a:r>
            <a:r>
              <a:rPr lang="en-US" sz="2600" dirty="0" err="1"/>
              <a:t>siyasi</a:t>
            </a:r>
            <a:r>
              <a:rPr lang="en-US" sz="2600" dirty="0"/>
              <a:t> </a:t>
            </a:r>
            <a:r>
              <a:rPr lang="en-US" sz="2600" dirty="0" err="1"/>
              <a:t>kuruluşlardan</a:t>
            </a:r>
            <a:r>
              <a:rPr lang="en-US" sz="2600" dirty="0"/>
              <a:t> </a:t>
            </a:r>
            <a:r>
              <a:rPr lang="en-US" sz="2600" dirty="0" err="1"/>
              <a:t>veya</a:t>
            </a:r>
            <a:r>
              <a:rPr lang="en-US" sz="2600" dirty="0"/>
              <a:t> </a:t>
            </a:r>
            <a:r>
              <a:rPr lang="en-US" sz="2600" dirty="0" err="1"/>
              <a:t>üretim</a:t>
            </a:r>
            <a:r>
              <a:rPr lang="en-US" sz="2600" dirty="0"/>
              <a:t> </a:t>
            </a:r>
            <a:r>
              <a:rPr lang="en-US" sz="2600" dirty="0" err="1"/>
              <a:t>firmalarından</a:t>
            </a:r>
            <a:r>
              <a:rPr lang="en-US" sz="2600" dirty="0"/>
              <a:t> </a:t>
            </a:r>
            <a:r>
              <a:rPr lang="en-US" sz="2600" dirty="0" err="1"/>
              <a:t>veri</a:t>
            </a:r>
            <a:r>
              <a:rPr lang="en-US" sz="2600" dirty="0"/>
              <a:t> </a:t>
            </a:r>
            <a:r>
              <a:rPr lang="en-US" sz="2600" dirty="0" err="1"/>
              <a:t>çalan</a:t>
            </a:r>
            <a:r>
              <a:rPr lang="en-US" sz="2600" dirty="0"/>
              <a:t> </a:t>
            </a:r>
            <a:r>
              <a:rPr lang="en-US" sz="2600" dirty="0" err="1"/>
              <a:t>kötü</a:t>
            </a:r>
            <a:r>
              <a:rPr lang="en-US" sz="2600" dirty="0"/>
              <a:t> </a:t>
            </a:r>
            <a:r>
              <a:rPr lang="en-US" sz="2600" dirty="0" err="1"/>
              <a:t>amaçlı</a:t>
            </a:r>
            <a:r>
              <a:rPr lang="en-US" sz="2600" dirty="0"/>
              <a:t> </a:t>
            </a:r>
            <a:r>
              <a:rPr lang="en-US" sz="2600" dirty="0" err="1"/>
              <a:t>yazılımların</a:t>
            </a:r>
            <a:r>
              <a:rPr lang="en-US" sz="2600" dirty="0"/>
              <a:t> </a:t>
            </a:r>
            <a:r>
              <a:rPr lang="en-US" sz="2600" dirty="0" err="1"/>
              <a:t>konuşlandırılması</a:t>
            </a:r>
            <a:endParaRPr lang="en-US" sz="2600" dirty="0"/>
          </a:p>
          <a:p>
            <a:r>
              <a:rPr lang="en-US" sz="2600" dirty="0" err="1"/>
              <a:t>Siber</a:t>
            </a:r>
            <a:r>
              <a:rPr lang="en-US" sz="2600" dirty="0"/>
              <a:t> </a:t>
            </a:r>
            <a:r>
              <a:rPr lang="en-US" sz="2600" dirty="0" err="1"/>
              <a:t>terörizm</a:t>
            </a:r>
            <a:r>
              <a:rPr lang="en-US" sz="2600" dirty="0"/>
              <a:t>: </a:t>
            </a:r>
            <a:r>
              <a:rPr lang="en-US" sz="2600" dirty="0" err="1"/>
              <a:t>Kritik</a:t>
            </a:r>
            <a:r>
              <a:rPr lang="en-US" sz="2600" dirty="0"/>
              <a:t> </a:t>
            </a:r>
            <a:r>
              <a:rPr lang="en-US" sz="2600" dirty="0" err="1"/>
              <a:t>ulusal</a:t>
            </a:r>
            <a:r>
              <a:rPr lang="en-US" sz="2600" dirty="0"/>
              <a:t> </a:t>
            </a:r>
            <a:r>
              <a:rPr lang="en-US" sz="2600" dirty="0" err="1"/>
              <a:t>altyapıyı</a:t>
            </a:r>
            <a:r>
              <a:rPr lang="en-US" sz="2600" dirty="0"/>
              <a:t> </a:t>
            </a:r>
            <a:r>
              <a:rPr lang="en-US" sz="2600" dirty="0" err="1"/>
              <a:t>devre</a:t>
            </a:r>
            <a:r>
              <a:rPr lang="en-US" sz="2600" dirty="0"/>
              <a:t> </a:t>
            </a:r>
            <a:r>
              <a:rPr lang="en-US" sz="2600" dirty="0" err="1"/>
              <a:t>dışı</a:t>
            </a:r>
            <a:r>
              <a:rPr lang="en-US" sz="2600" dirty="0"/>
              <a:t> </a:t>
            </a:r>
            <a:r>
              <a:rPr lang="en-US" sz="2600" dirty="0" err="1"/>
              <a:t>bırakmak</a:t>
            </a:r>
            <a:r>
              <a:rPr lang="en-US" sz="2600" dirty="0"/>
              <a:t> için BT </a:t>
            </a:r>
            <a:r>
              <a:rPr lang="en-US" sz="2600" dirty="0" err="1"/>
              <a:t>kullanılarak</a:t>
            </a:r>
            <a:r>
              <a:rPr lang="en-US" sz="2600" dirty="0"/>
              <a:t> </a:t>
            </a:r>
            <a:r>
              <a:rPr lang="en-US" sz="2600" dirty="0" err="1"/>
              <a:t>bir</a:t>
            </a:r>
            <a:r>
              <a:rPr lang="en-US" sz="2600" dirty="0"/>
              <a:t> </a:t>
            </a:r>
            <a:r>
              <a:rPr lang="en-US" sz="2600" dirty="0" err="1"/>
              <a:t>hükümetin</a:t>
            </a:r>
            <a:r>
              <a:rPr lang="en-US" sz="2600" dirty="0"/>
              <a:t> </a:t>
            </a:r>
            <a:r>
              <a:rPr lang="en-US" sz="2600" dirty="0" err="1"/>
              <a:t>veya</a:t>
            </a:r>
            <a:r>
              <a:rPr lang="en-US" sz="2600" dirty="0"/>
              <a:t> </a:t>
            </a:r>
            <a:r>
              <a:rPr lang="en-US" sz="2600" dirty="0" err="1"/>
              <a:t>sivil</a:t>
            </a:r>
            <a:r>
              <a:rPr lang="en-US" sz="2600" dirty="0"/>
              <a:t> </a:t>
            </a:r>
            <a:r>
              <a:rPr lang="en-US" sz="2600" dirty="0" err="1"/>
              <a:t>halkın</a:t>
            </a:r>
            <a:r>
              <a:rPr lang="en-US" sz="2600" dirty="0"/>
              <a:t> </a:t>
            </a:r>
            <a:r>
              <a:rPr lang="en-US" sz="2600" dirty="0" err="1"/>
              <a:t>korkutulması</a:t>
            </a:r>
            <a:endParaRPr lang="en-US" sz="2600" dirty="0"/>
          </a:p>
          <a:p>
            <a:pPr lvl="1"/>
            <a:r>
              <a:rPr lang="en-US" sz="2400" dirty="0" err="1"/>
              <a:t>İç</a:t>
            </a:r>
            <a:r>
              <a:rPr lang="en-US" sz="2400" dirty="0"/>
              <a:t> </a:t>
            </a:r>
            <a:r>
              <a:rPr lang="en-US" sz="2400" dirty="0" err="1"/>
              <a:t>Güvenlik</a:t>
            </a:r>
            <a:r>
              <a:rPr lang="en-US" sz="2400" dirty="0"/>
              <a:t> </a:t>
            </a:r>
            <a:r>
              <a:rPr lang="en-US" sz="2400" dirty="0" err="1"/>
              <a:t>Bakanlığı</a:t>
            </a:r>
            <a:r>
              <a:rPr lang="en-US" sz="2400" dirty="0"/>
              <a:t> (DHS): </a:t>
            </a:r>
            <a:r>
              <a:rPr lang="en-US" sz="2400" dirty="0" err="1"/>
              <a:t>Amacı</a:t>
            </a:r>
            <a:r>
              <a:rPr lang="en-US" sz="2400" dirty="0"/>
              <a:t> </a:t>
            </a:r>
            <a:r>
              <a:rPr lang="en-US" sz="2400" dirty="0" err="1"/>
              <a:t>daha</a:t>
            </a:r>
            <a:r>
              <a:rPr lang="en-US" sz="2400" dirty="0"/>
              <a:t> </a:t>
            </a:r>
            <a:r>
              <a:rPr lang="en-US" sz="2400" dirty="0" err="1"/>
              <a:t>güvenli</a:t>
            </a:r>
            <a:r>
              <a:rPr lang="en-US" sz="2400" dirty="0"/>
              <a:t>, </a:t>
            </a:r>
            <a:r>
              <a:rPr lang="en-US" sz="2400" dirty="0" err="1"/>
              <a:t>terörizme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diğer</a:t>
            </a:r>
            <a:r>
              <a:rPr lang="en-US" sz="2400" dirty="0"/>
              <a:t> </a:t>
            </a:r>
            <a:r>
              <a:rPr lang="en-US" sz="2400" dirty="0" err="1"/>
              <a:t>potansiyel</a:t>
            </a:r>
            <a:r>
              <a:rPr lang="en-US" sz="2400" dirty="0"/>
              <a:t> </a:t>
            </a:r>
            <a:r>
              <a:rPr lang="en-US" sz="2400" dirty="0" err="1"/>
              <a:t>tehditlere</a:t>
            </a:r>
            <a:r>
              <a:rPr lang="en-US" sz="2400" dirty="0"/>
              <a:t> </a:t>
            </a:r>
            <a:r>
              <a:rPr lang="en-US" sz="2400" dirty="0" err="1"/>
              <a:t>karşı</a:t>
            </a:r>
            <a:r>
              <a:rPr lang="en-US" sz="2400" dirty="0"/>
              <a:t> </a:t>
            </a:r>
            <a:r>
              <a:rPr lang="en-US" sz="2400" dirty="0" err="1"/>
              <a:t>dirençli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Amerika </a:t>
            </a:r>
            <a:r>
              <a:rPr lang="en-US" sz="2400" dirty="0" err="1"/>
              <a:t>sağlamak</a:t>
            </a:r>
            <a:r>
              <a:rPr lang="en-US" sz="2400" dirty="0"/>
              <a:t> </a:t>
            </a:r>
            <a:r>
              <a:rPr lang="en-US" sz="2400" dirty="0" err="1"/>
              <a:t>olan</a:t>
            </a:r>
            <a:r>
              <a:rPr lang="en-US" sz="2400" dirty="0"/>
              <a:t> federal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kurum</a:t>
            </a:r>
            <a:endParaRPr lang="en-US" sz="2400" dirty="0"/>
          </a:p>
          <a:p>
            <a:pPr lvl="1"/>
            <a:r>
              <a:rPr lang="en-US" sz="2400" dirty="0"/>
              <a:t>ABD </a:t>
            </a:r>
            <a:r>
              <a:rPr lang="en-US" sz="2400" dirty="0" err="1"/>
              <a:t>Bilgisayar</a:t>
            </a:r>
            <a:r>
              <a:rPr lang="en-US" sz="2400" dirty="0"/>
              <a:t> </a:t>
            </a:r>
            <a:r>
              <a:rPr lang="en-US" sz="2400" dirty="0" err="1"/>
              <a:t>Acil</a:t>
            </a:r>
            <a:r>
              <a:rPr lang="en-US" sz="2400" dirty="0"/>
              <a:t> Durum </a:t>
            </a:r>
            <a:r>
              <a:rPr lang="en-US" sz="2400" dirty="0" err="1"/>
              <a:t>Hazırlık</a:t>
            </a:r>
            <a:r>
              <a:rPr lang="en-US" sz="2400" dirty="0"/>
              <a:t> </a:t>
            </a:r>
            <a:r>
              <a:rPr lang="en-US" sz="2400" dirty="0" err="1"/>
              <a:t>Ekibi</a:t>
            </a:r>
            <a:r>
              <a:rPr lang="en-US" sz="2400" dirty="0"/>
              <a:t> (US-CERT): Bir DHS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kamu</a:t>
            </a:r>
            <a:r>
              <a:rPr lang="en-US" sz="2400" dirty="0"/>
              <a:t>/</a:t>
            </a:r>
            <a:r>
              <a:rPr lang="en-US" sz="2400" dirty="0" err="1"/>
              <a:t>özel</a:t>
            </a:r>
            <a:r>
              <a:rPr lang="en-US" sz="2400" dirty="0"/>
              <a:t> </a:t>
            </a:r>
            <a:r>
              <a:rPr lang="en-US" sz="2400" dirty="0" err="1"/>
              <a:t>sektör</a:t>
            </a:r>
            <a:r>
              <a:rPr lang="en-US" sz="2400" dirty="0"/>
              <a:t> </a:t>
            </a:r>
            <a:r>
              <a:rPr lang="en-US" sz="2400" dirty="0" err="1"/>
              <a:t>ortaklığı</a:t>
            </a:r>
            <a:r>
              <a:rPr lang="en-US" sz="2400" dirty="0"/>
              <a:t>; yeni </a:t>
            </a:r>
            <a:r>
              <a:rPr lang="en-US" sz="2400" dirty="0" err="1"/>
              <a:t>güvenlik</a:t>
            </a:r>
            <a:r>
              <a:rPr lang="en-US" sz="2400" dirty="0"/>
              <a:t> </a:t>
            </a:r>
            <a:r>
              <a:rPr lang="en-US" sz="2400" dirty="0" err="1"/>
              <a:t>tehditleri</a:t>
            </a:r>
            <a:r>
              <a:rPr lang="en-US" sz="2400" dirty="0"/>
              <a:t> </a:t>
            </a:r>
            <a:r>
              <a:rPr lang="en-US" sz="2400" dirty="0" err="1"/>
              <a:t>hakkında</a:t>
            </a:r>
            <a:r>
              <a:rPr lang="en-US" sz="2400" dirty="0"/>
              <a:t> </a:t>
            </a:r>
            <a:r>
              <a:rPr lang="en-US" sz="2400" dirty="0" err="1"/>
              <a:t>bilgi</a:t>
            </a:r>
            <a:r>
              <a:rPr lang="en-US" sz="2400" dirty="0"/>
              <a:t> için </a:t>
            </a:r>
            <a:r>
              <a:rPr lang="en-US" sz="2400" dirty="0" err="1"/>
              <a:t>bir</a:t>
            </a:r>
            <a:r>
              <a:rPr lang="en-US" sz="2400" dirty="0"/>
              <a:t> takas </a:t>
            </a:r>
            <a:r>
              <a:rPr lang="en-US" sz="2400" dirty="0" err="1"/>
              <a:t>merkezi</a:t>
            </a:r>
            <a:r>
              <a:rPr lang="en-US" sz="2400" dirty="0"/>
              <a:t> </a:t>
            </a:r>
            <a:r>
              <a:rPr lang="en-US" sz="2400" dirty="0" err="1"/>
              <a:t>olarak</a:t>
            </a:r>
            <a:r>
              <a:rPr lang="en-US" sz="2400" dirty="0"/>
              <a:t> </a:t>
            </a:r>
            <a:r>
              <a:rPr lang="en-US" sz="2400" dirty="0" err="1"/>
              <a:t>hizmet</a:t>
            </a:r>
            <a:r>
              <a:rPr lang="en-US" sz="2400" dirty="0"/>
              <a:t> </a:t>
            </a:r>
            <a:r>
              <a:rPr lang="en-US" sz="2400" dirty="0" err="1"/>
              <a:t>vermektedir</a:t>
            </a:r>
            <a:endParaRPr lang="en-US" sz="23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8849"/>
            <a:ext cx="8026400" cy="1051057"/>
          </a:xfrm>
        </p:spPr>
        <p:txBody>
          <a:bodyPr/>
          <a:lstStyle/>
          <a:p>
            <a:r>
              <a:rPr lang="en-US" sz="4000" dirty="0"/>
              <a:t>Types of Exploits, Part 5</a:t>
            </a:r>
            <a:br>
              <a:rPr lang="en-US" sz="4000" dirty="0"/>
            </a:br>
            <a:r>
              <a:rPr lang="en-US" sz="4000" dirty="0" err="1"/>
              <a:t>Suistimal</a:t>
            </a:r>
            <a:r>
              <a:rPr lang="en-US" sz="4000" dirty="0"/>
              <a:t> </a:t>
            </a:r>
            <a:r>
              <a:rPr lang="en-US" sz="4000" dirty="0" err="1"/>
              <a:t>Türleri</a:t>
            </a:r>
            <a:r>
              <a:rPr lang="en-US" sz="4000" dirty="0"/>
              <a:t>, </a:t>
            </a:r>
            <a:r>
              <a:rPr lang="en-US" sz="4000" dirty="0" err="1"/>
              <a:t>Bölüm</a:t>
            </a:r>
            <a:r>
              <a:rPr lang="en-US" sz="4000" dirty="0"/>
              <a:t> 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957171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335340"/>
            <a:ext cx="8415338" cy="4376583"/>
          </a:xfrm>
        </p:spPr>
        <p:txBody>
          <a:bodyPr/>
          <a:lstStyle/>
          <a:p>
            <a:r>
              <a:rPr lang="en-US" sz="2600" dirty="0" err="1"/>
              <a:t>Bilgisayar</a:t>
            </a:r>
            <a:r>
              <a:rPr lang="en-US" sz="2600" dirty="0"/>
              <a:t> </a:t>
            </a:r>
            <a:r>
              <a:rPr lang="en-US" sz="2600" dirty="0" err="1"/>
              <a:t>Dolandırıcılığı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</a:t>
            </a:r>
            <a:r>
              <a:rPr lang="en-US" sz="2600" dirty="0" err="1"/>
              <a:t>Suistimali</a:t>
            </a:r>
            <a:r>
              <a:rPr lang="en-US" sz="2600" dirty="0"/>
              <a:t> </a:t>
            </a:r>
            <a:r>
              <a:rPr lang="en-US" sz="2600" dirty="0" err="1"/>
              <a:t>Yasası</a:t>
            </a:r>
            <a:r>
              <a:rPr lang="en-US" sz="2600" dirty="0"/>
              <a:t> </a:t>
            </a:r>
          </a:p>
          <a:p>
            <a:r>
              <a:rPr lang="en-US" sz="2600" dirty="0" err="1"/>
              <a:t>Aşağıdakiler</a:t>
            </a:r>
            <a:r>
              <a:rPr lang="en-US" sz="2600" dirty="0"/>
              <a:t> de </a:t>
            </a:r>
            <a:r>
              <a:rPr lang="en-US" sz="2600" dirty="0" err="1"/>
              <a:t>dahil</a:t>
            </a:r>
            <a:r>
              <a:rPr lang="en-US" sz="2600" dirty="0"/>
              <a:t> </a:t>
            </a:r>
            <a:r>
              <a:rPr lang="en-US" sz="2600" dirty="0" err="1"/>
              <a:t>olmak</a:t>
            </a:r>
            <a:r>
              <a:rPr lang="en-US" sz="2600" dirty="0"/>
              <a:t> </a:t>
            </a:r>
            <a:r>
              <a:rPr lang="en-US" sz="2600" dirty="0" err="1"/>
              <a:t>üzere</a:t>
            </a:r>
            <a:r>
              <a:rPr lang="en-US" sz="2600" dirty="0"/>
              <a:t> </a:t>
            </a:r>
            <a:r>
              <a:rPr lang="en-US" sz="2600" dirty="0" err="1"/>
              <a:t>bilgisayarlarla</a:t>
            </a:r>
            <a:r>
              <a:rPr lang="en-US" sz="2600" dirty="0"/>
              <a:t> </a:t>
            </a:r>
            <a:r>
              <a:rPr lang="en-US" sz="2600" dirty="0" err="1"/>
              <a:t>ilişkili</a:t>
            </a:r>
            <a:r>
              <a:rPr lang="en-US" sz="2600" dirty="0"/>
              <a:t> </a:t>
            </a:r>
            <a:r>
              <a:rPr lang="en-US" sz="2600" dirty="0" err="1"/>
              <a:t>dolandırıcılık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</a:t>
            </a:r>
            <a:r>
              <a:rPr lang="en-US" sz="2600" dirty="0" err="1"/>
              <a:t>ilgili</a:t>
            </a:r>
            <a:r>
              <a:rPr lang="en-US" sz="2600" dirty="0"/>
              <a:t> </a:t>
            </a:r>
            <a:r>
              <a:rPr lang="en-US" sz="2600" dirty="0" err="1"/>
              <a:t>faaliyetleri</a:t>
            </a:r>
            <a:r>
              <a:rPr lang="en-US" sz="2600" dirty="0"/>
              <a:t> </a:t>
            </a:r>
            <a:r>
              <a:rPr lang="en-US" sz="2600" dirty="0" err="1"/>
              <a:t>ele</a:t>
            </a:r>
            <a:r>
              <a:rPr lang="en-US" sz="2600" dirty="0"/>
              <a:t> </a:t>
            </a:r>
            <a:r>
              <a:rPr lang="en-US" sz="2600" dirty="0" err="1"/>
              <a:t>alır</a:t>
            </a:r>
            <a:r>
              <a:rPr lang="en-US" sz="2600" dirty="0"/>
              <a:t>: </a:t>
            </a:r>
          </a:p>
          <a:p>
            <a:pPr lvl="1"/>
            <a:r>
              <a:rPr lang="en-US" sz="2400" dirty="0"/>
              <a:t>Bir </a:t>
            </a:r>
            <a:r>
              <a:rPr lang="en-US" sz="2400" dirty="0" err="1"/>
              <a:t>bilgisayara</a:t>
            </a:r>
            <a:r>
              <a:rPr lang="en-US" sz="2400" dirty="0"/>
              <a:t> </a:t>
            </a:r>
            <a:r>
              <a:rPr lang="en-US" sz="2400" dirty="0" err="1"/>
              <a:t>yetkisiz</a:t>
            </a:r>
            <a:r>
              <a:rPr lang="en-US" sz="2400" dirty="0"/>
              <a:t> </a:t>
            </a:r>
            <a:r>
              <a:rPr lang="en-US" sz="2400" dirty="0" err="1"/>
              <a:t>erişim</a:t>
            </a:r>
            <a:endParaRPr lang="en-US" sz="2400" dirty="0"/>
          </a:p>
          <a:p>
            <a:pPr lvl="1"/>
            <a:r>
              <a:rPr lang="en-US" sz="2400" dirty="0"/>
              <a:t>Bir </a:t>
            </a:r>
            <a:r>
              <a:rPr lang="en-US" sz="2400" dirty="0" err="1"/>
              <a:t>bilgisayara</a:t>
            </a:r>
            <a:r>
              <a:rPr lang="en-US" sz="2400" dirty="0"/>
              <a:t> </a:t>
            </a:r>
            <a:r>
              <a:rPr lang="en-US" sz="2400" dirty="0" err="1"/>
              <a:t>zarar</a:t>
            </a:r>
            <a:r>
              <a:rPr lang="en-US" sz="2400" dirty="0"/>
              <a:t> </a:t>
            </a:r>
            <a:r>
              <a:rPr lang="en-US" sz="2400" dirty="0" err="1"/>
              <a:t>veren</a:t>
            </a:r>
            <a:r>
              <a:rPr lang="en-US" sz="2400" dirty="0"/>
              <a:t> </a:t>
            </a:r>
            <a:r>
              <a:rPr lang="en-US" sz="2400" dirty="0" err="1"/>
              <a:t>kod</a:t>
            </a:r>
            <a:r>
              <a:rPr lang="en-US" sz="2400" dirty="0"/>
              <a:t> </a:t>
            </a:r>
            <a:r>
              <a:rPr lang="en-US" sz="2400" dirty="0" err="1"/>
              <a:t>iletmek</a:t>
            </a:r>
            <a:endParaRPr lang="en-US" sz="2400" dirty="0"/>
          </a:p>
          <a:p>
            <a:pPr lvl="1"/>
            <a:r>
              <a:rPr lang="en-US" sz="2400" dirty="0" err="1"/>
              <a:t>Bilgisayar</a:t>
            </a:r>
            <a:r>
              <a:rPr lang="en-US" sz="2400" dirty="0"/>
              <a:t> </a:t>
            </a:r>
            <a:r>
              <a:rPr lang="en-US" sz="2400" dirty="0" err="1"/>
              <a:t>şifrelerinin</a:t>
            </a:r>
            <a:r>
              <a:rPr lang="en-US" sz="2400" dirty="0"/>
              <a:t> </a:t>
            </a:r>
            <a:r>
              <a:rPr lang="en-US" sz="2400" dirty="0" err="1"/>
              <a:t>kaçakçılığı</a:t>
            </a:r>
            <a:endParaRPr lang="en-US" sz="2400" dirty="0"/>
          </a:p>
          <a:p>
            <a:pPr lvl="1"/>
            <a:r>
              <a:rPr lang="en-US" sz="2400" dirty="0" err="1"/>
              <a:t>Korunan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bilgisayara</a:t>
            </a:r>
            <a:r>
              <a:rPr lang="en-US" sz="2400" dirty="0"/>
              <a:t> </a:t>
            </a:r>
            <a:r>
              <a:rPr lang="en-US" sz="2400" dirty="0" err="1"/>
              <a:t>zarar</a:t>
            </a:r>
            <a:r>
              <a:rPr lang="en-US" sz="2400" dirty="0"/>
              <a:t> </a:t>
            </a:r>
            <a:r>
              <a:rPr lang="en-US" sz="2400" dirty="0" err="1"/>
              <a:t>verme</a:t>
            </a:r>
            <a:r>
              <a:rPr lang="en-US" sz="2400" dirty="0"/>
              <a:t> </a:t>
            </a:r>
            <a:r>
              <a:rPr lang="en-US" sz="2400" dirty="0" err="1"/>
              <a:t>tehdidinde</a:t>
            </a:r>
            <a:r>
              <a:rPr lang="en-US" sz="2400" dirty="0"/>
              <a:t> </a:t>
            </a:r>
            <a:r>
              <a:rPr lang="en-US" sz="2400" dirty="0" err="1"/>
              <a:t>bulunmak</a:t>
            </a:r>
            <a:endParaRPr lang="en-US" sz="2400" dirty="0"/>
          </a:p>
          <a:p>
            <a:r>
              <a:rPr lang="en-US" sz="2600" dirty="0" err="1"/>
              <a:t>Erişim</a:t>
            </a:r>
            <a:r>
              <a:rPr lang="en-US" sz="2600" dirty="0"/>
              <a:t> </a:t>
            </a:r>
            <a:r>
              <a:rPr lang="en-US" sz="2600" dirty="0" err="1"/>
              <a:t>Cihazları</a:t>
            </a:r>
            <a:r>
              <a:rPr lang="en-US" sz="2600" dirty="0"/>
              <a:t> </a:t>
            </a:r>
            <a:r>
              <a:rPr lang="en-US" sz="2600" dirty="0" err="1"/>
              <a:t>ile</a:t>
            </a:r>
            <a:r>
              <a:rPr lang="en-US" sz="2600" dirty="0"/>
              <a:t> </a:t>
            </a:r>
            <a:r>
              <a:rPr lang="en-US" sz="2600" dirty="0" err="1"/>
              <a:t>Bağlantılı</a:t>
            </a:r>
            <a:r>
              <a:rPr lang="en-US" sz="2600" dirty="0"/>
              <a:t> </a:t>
            </a:r>
            <a:r>
              <a:rPr lang="en-US" sz="2600" dirty="0" err="1"/>
              <a:t>Dolandırıcılık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</a:t>
            </a:r>
            <a:r>
              <a:rPr lang="en-US" sz="2600" dirty="0" err="1"/>
              <a:t>İlgili</a:t>
            </a:r>
            <a:r>
              <a:rPr lang="en-US" sz="2600" dirty="0"/>
              <a:t> </a:t>
            </a:r>
            <a:r>
              <a:rPr lang="en-US" sz="2600" dirty="0" err="1"/>
              <a:t>Faaliyetler</a:t>
            </a:r>
            <a:r>
              <a:rPr lang="en-US" sz="2600" dirty="0"/>
              <a:t> </a:t>
            </a:r>
            <a:r>
              <a:rPr lang="en-US" sz="2600" dirty="0" err="1"/>
              <a:t>Tüzüğü</a:t>
            </a:r>
            <a:r>
              <a:rPr lang="en-US" sz="2600" dirty="0"/>
              <a:t> </a:t>
            </a:r>
          </a:p>
          <a:p>
            <a:pPr lvl="1"/>
            <a:r>
              <a:rPr lang="en-US" sz="2400" dirty="0" err="1"/>
              <a:t>Kredi</a:t>
            </a:r>
            <a:r>
              <a:rPr lang="en-US" sz="2400" dirty="0"/>
              <a:t> </a:t>
            </a:r>
            <a:r>
              <a:rPr lang="en-US" sz="2400" dirty="0" err="1"/>
              <a:t>kartlarının</a:t>
            </a:r>
            <a:r>
              <a:rPr lang="en-US" sz="2400" dirty="0"/>
              <a:t> </a:t>
            </a:r>
            <a:r>
              <a:rPr lang="en-US" sz="2400" dirty="0" err="1"/>
              <a:t>yetkisiz</a:t>
            </a:r>
            <a:r>
              <a:rPr lang="en-US" sz="2400" dirty="0"/>
              <a:t> </a:t>
            </a:r>
            <a:r>
              <a:rPr lang="en-US" sz="2400" dirty="0" err="1"/>
              <a:t>kullanımına</a:t>
            </a:r>
            <a:r>
              <a:rPr lang="en-US" sz="2400" dirty="0"/>
              <a:t> </a:t>
            </a:r>
            <a:r>
              <a:rPr lang="en-US" sz="2400" dirty="0" err="1"/>
              <a:t>ilişkin</a:t>
            </a:r>
            <a:r>
              <a:rPr lang="en-US" sz="2400" dirty="0"/>
              <a:t> </a:t>
            </a:r>
            <a:r>
              <a:rPr lang="en-US" sz="2400" dirty="0" err="1"/>
              <a:t>asılsız</a:t>
            </a:r>
            <a:r>
              <a:rPr lang="en-US" sz="2400" dirty="0"/>
              <a:t> </a:t>
            </a:r>
            <a:r>
              <a:rPr lang="en-US" sz="2400" dirty="0" err="1"/>
              <a:t>iddiaları</a:t>
            </a:r>
            <a:r>
              <a:rPr lang="en-US" sz="2400" dirty="0"/>
              <a:t> </a:t>
            </a:r>
            <a:r>
              <a:rPr lang="en-US" sz="2400" dirty="0" err="1"/>
              <a:t>kapsar</a:t>
            </a:r>
            <a:endParaRPr lang="en-US" sz="2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90892"/>
            <a:ext cx="8382000" cy="1180708"/>
          </a:xfrm>
        </p:spPr>
        <p:txBody>
          <a:bodyPr/>
          <a:lstStyle/>
          <a:p>
            <a:r>
              <a:rPr lang="en-US" sz="3000" dirty="0"/>
              <a:t>Federal Laws for Prosecuting Computer Attacks, Part 1</a:t>
            </a:r>
            <a:br>
              <a:rPr lang="en-US" sz="3000" dirty="0"/>
            </a:br>
            <a:r>
              <a:rPr lang="en-US" sz="3000" dirty="0" err="1"/>
              <a:t>Bilgisayar</a:t>
            </a:r>
            <a:r>
              <a:rPr lang="en-US" sz="3000" dirty="0"/>
              <a:t> </a:t>
            </a:r>
            <a:r>
              <a:rPr lang="en-US" sz="3000" dirty="0" err="1"/>
              <a:t>Saldırılarının</a:t>
            </a:r>
            <a:r>
              <a:rPr lang="en-US" sz="3000" dirty="0"/>
              <a:t> </a:t>
            </a:r>
            <a:r>
              <a:rPr lang="en-US" sz="3000" dirty="0" err="1"/>
              <a:t>Kovuşturulması</a:t>
            </a:r>
            <a:r>
              <a:rPr lang="en-US" sz="3000" dirty="0"/>
              <a:t> için Federal </a:t>
            </a:r>
            <a:r>
              <a:rPr lang="en-US" sz="3000" dirty="0" err="1"/>
              <a:t>Yasalar</a:t>
            </a:r>
            <a:r>
              <a:rPr lang="en-US" sz="3000" dirty="0"/>
              <a:t>, </a:t>
            </a:r>
            <a:r>
              <a:rPr lang="en-US" sz="3000" dirty="0" err="1"/>
              <a:t>Bölüm</a:t>
            </a:r>
            <a:r>
              <a:rPr lang="en-US" sz="3000" dirty="0"/>
              <a:t>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284091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320391"/>
            <a:ext cx="8415338" cy="3231654"/>
          </a:xfrm>
        </p:spPr>
        <p:txBody>
          <a:bodyPr/>
          <a:lstStyle/>
          <a:p>
            <a:r>
              <a:rPr lang="en-US" sz="2600" dirty="0" err="1"/>
              <a:t>Saklı</a:t>
            </a:r>
            <a:r>
              <a:rPr lang="en-US" sz="2600" dirty="0"/>
              <a:t> </a:t>
            </a:r>
            <a:r>
              <a:rPr lang="en-US" sz="2600" dirty="0" err="1"/>
              <a:t>Telgraf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</a:t>
            </a:r>
            <a:r>
              <a:rPr lang="en-US" sz="2600" dirty="0" err="1"/>
              <a:t>Elektronik</a:t>
            </a:r>
            <a:r>
              <a:rPr lang="en-US" sz="2600" dirty="0"/>
              <a:t> </a:t>
            </a:r>
            <a:r>
              <a:rPr lang="en-US" sz="2600" dirty="0" err="1"/>
              <a:t>İletişim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</a:t>
            </a:r>
            <a:r>
              <a:rPr lang="en-US" sz="2600" dirty="0" err="1"/>
              <a:t>İşlem</a:t>
            </a:r>
            <a:r>
              <a:rPr lang="en-US" sz="2600" dirty="0"/>
              <a:t> </a:t>
            </a:r>
            <a:r>
              <a:rPr lang="en-US" sz="2600" dirty="0" err="1"/>
              <a:t>Kayıtlarına</a:t>
            </a:r>
            <a:r>
              <a:rPr lang="en-US" sz="2600" dirty="0"/>
              <a:t> </a:t>
            </a:r>
            <a:r>
              <a:rPr lang="en-US" sz="2600" dirty="0" err="1"/>
              <a:t>Erişim</a:t>
            </a:r>
            <a:r>
              <a:rPr lang="en-US" sz="2600" dirty="0"/>
              <a:t> </a:t>
            </a:r>
            <a:r>
              <a:rPr lang="en-US" sz="2600" dirty="0" err="1"/>
              <a:t>Tüzükleri</a:t>
            </a:r>
            <a:endParaRPr lang="en-US" sz="2600" dirty="0"/>
          </a:p>
          <a:p>
            <a:pPr lvl="1"/>
            <a:r>
              <a:rPr lang="en-US" sz="2400" dirty="0"/>
              <a:t>Bir </a:t>
            </a:r>
            <a:r>
              <a:rPr lang="en-US" sz="2400" dirty="0" err="1"/>
              <a:t>telgraf</a:t>
            </a:r>
            <a:r>
              <a:rPr lang="en-US" sz="2400" dirty="0"/>
              <a:t> </a:t>
            </a:r>
            <a:r>
              <a:rPr lang="en-US" sz="2400" dirty="0" err="1"/>
              <a:t>veya</a:t>
            </a:r>
            <a:r>
              <a:rPr lang="en-US" sz="2400" dirty="0"/>
              <a:t> </a:t>
            </a:r>
            <a:r>
              <a:rPr lang="en-US" sz="2400" dirty="0" err="1"/>
              <a:t>elektronik</a:t>
            </a:r>
            <a:r>
              <a:rPr lang="en-US" sz="2400" dirty="0"/>
              <a:t> </a:t>
            </a:r>
            <a:r>
              <a:rPr lang="en-US" sz="2400" dirty="0" err="1"/>
              <a:t>haberleşmeyi</a:t>
            </a:r>
            <a:r>
              <a:rPr lang="en-US" sz="2400" dirty="0"/>
              <a:t> </a:t>
            </a:r>
            <a:r>
              <a:rPr lang="en-US" sz="2400" dirty="0" err="1"/>
              <a:t>elektronik</a:t>
            </a:r>
            <a:r>
              <a:rPr lang="en-US" sz="2400" dirty="0"/>
              <a:t> </a:t>
            </a:r>
            <a:r>
              <a:rPr lang="en-US" sz="2400" dirty="0" err="1"/>
              <a:t>ortamda</a:t>
            </a:r>
            <a:r>
              <a:rPr lang="en-US" sz="2400" dirty="0"/>
              <a:t> </a:t>
            </a:r>
            <a:r>
              <a:rPr lang="en-US" sz="2400" dirty="0" err="1"/>
              <a:t>saklanırken</a:t>
            </a:r>
            <a:r>
              <a:rPr lang="en-US" sz="2400" dirty="0"/>
              <a:t> </a:t>
            </a:r>
            <a:r>
              <a:rPr lang="en-US" sz="2400" dirty="0" err="1"/>
              <a:t>elde</a:t>
            </a:r>
            <a:r>
              <a:rPr lang="en-US" sz="2400" dirty="0"/>
              <a:t> </a:t>
            </a:r>
            <a:r>
              <a:rPr lang="en-US" sz="2400" dirty="0" err="1"/>
              <a:t>etmek</a:t>
            </a:r>
            <a:r>
              <a:rPr lang="en-US" sz="2400" dirty="0"/>
              <a:t>, </a:t>
            </a:r>
            <a:r>
              <a:rPr lang="en-US" sz="2400" dirty="0" err="1"/>
              <a:t>değiştirmek</a:t>
            </a:r>
            <a:r>
              <a:rPr lang="en-US" sz="2400" dirty="0"/>
              <a:t> </a:t>
            </a:r>
            <a:r>
              <a:rPr lang="en-US" sz="2400" dirty="0" err="1"/>
              <a:t>veya</a:t>
            </a:r>
            <a:r>
              <a:rPr lang="en-US" sz="2400" dirty="0"/>
              <a:t> </a:t>
            </a:r>
            <a:r>
              <a:rPr lang="en-US" sz="2400" dirty="0" err="1"/>
              <a:t>yetkili</a:t>
            </a:r>
            <a:r>
              <a:rPr lang="en-US" sz="2400" dirty="0"/>
              <a:t> </a:t>
            </a:r>
            <a:r>
              <a:rPr lang="en-US" sz="2400" dirty="0" err="1"/>
              <a:t>erişimi</a:t>
            </a:r>
            <a:r>
              <a:rPr lang="en-US" sz="2400" dirty="0"/>
              <a:t> </a:t>
            </a:r>
            <a:r>
              <a:rPr lang="en-US" sz="2400" dirty="0" err="1"/>
              <a:t>engellemek</a:t>
            </a:r>
            <a:r>
              <a:rPr lang="en-US" sz="2400" dirty="0"/>
              <a:t> için </a:t>
            </a:r>
            <a:r>
              <a:rPr lang="en-US" sz="2400" dirty="0" err="1"/>
              <a:t>saklanan</a:t>
            </a:r>
            <a:r>
              <a:rPr lang="en-US" sz="2400" dirty="0"/>
              <a:t> </a:t>
            </a:r>
            <a:r>
              <a:rPr lang="en-US" sz="2400" dirty="0" err="1"/>
              <a:t>haberleşmelere</a:t>
            </a:r>
            <a:r>
              <a:rPr lang="en-US" sz="2400" dirty="0"/>
              <a:t> </a:t>
            </a:r>
            <a:r>
              <a:rPr lang="en-US" sz="2400" dirty="0" err="1"/>
              <a:t>yasa</a:t>
            </a:r>
            <a:r>
              <a:rPr lang="en-US" sz="2400" dirty="0"/>
              <a:t> </a:t>
            </a:r>
            <a:r>
              <a:rPr lang="en-US" sz="2400" dirty="0" err="1"/>
              <a:t>dışı</a:t>
            </a:r>
            <a:r>
              <a:rPr lang="en-US" sz="2400" dirty="0"/>
              <a:t> </a:t>
            </a:r>
            <a:r>
              <a:rPr lang="en-US" sz="2400" dirty="0" err="1"/>
              <a:t>erişime</a:t>
            </a:r>
            <a:r>
              <a:rPr lang="en-US" sz="2400" dirty="0"/>
              <a:t> </a:t>
            </a:r>
            <a:r>
              <a:rPr lang="en-US" sz="2400" dirty="0" err="1"/>
              <a:t>odaklanır</a:t>
            </a:r>
            <a:endParaRPr lang="en-US" sz="2400" dirty="0"/>
          </a:p>
          <a:p>
            <a:r>
              <a:rPr lang="en-US" sz="2600" dirty="0"/>
              <a:t>ABD </a:t>
            </a:r>
            <a:r>
              <a:rPr lang="en-US" sz="2600" dirty="0" err="1"/>
              <a:t>Vatanseverlik</a:t>
            </a:r>
            <a:r>
              <a:rPr lang="en-US" sz="2600" dirty="0"/>
              <a:t> </a:t>
            </a:r>
            <a:r>
              <a:rPr lang="en-US" sz="2600" dirty="0" err="1"/>
              <a:t>Yasası</a:t>
            </a:r>
            <a:r>
              <a:rPr lang="en-US" sz="2600" dirty="0"/>
              <a:t> </a:t>
            </a:r>
          </a:p>
          <a:p>
            <a:pPr lvl="1"/>
            <a:r>
              <a:rPr lang="en-US" sz="2400" dirty="0" err="1"/>
              <a:t>Siber</a:t>
            </a:r>
            <a:r>
              <a:rPr lang="en-US" sz="2400" dirty="0"/>
              <a:t> </a:t>
            </a:r>
            <a:r>
              <a:rPr lang="en-US" sz="2400" dirty="0" err="1"/>
              <a:t>terörizmi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ilgili</a:t>
            </a:r>
            <a:r>
              <a:rPr lang="en-US" sz="2400" dirty="0"/>
              <a:t> </a:t>
            </a:r>
            <a:r>
              <a:rPr lang="en-US" sz="2400" dirty="0" err="1"/>
              <a:t>cezaları</a:t>
            </a:r>
            <a:r>
              <a:rPr lang="en-US" sz="2400" dirty="0"/>
              <a:t> </a:t>
            </a:r>
            <a:r>
              <a:rPr lang="en-US" sz="2400" dirty="0" err="1"/>
              <a:t>tanımlar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90892"/>
            <a:ext cx="8382000" cy="1180708"/>
          </a:xfrm>
        </p:spPr>
        <p:txBody>
          <a:bodyPr/>
          <a:lstStyle/>
          <a:p>
            <a:r>
              <a:rPr lang="en-US" sz="3000" dirty="0"/>
              <a:t>Federal Laws for Prosecuting Computer Attacks, Part 2</a:t>
            </a:r>
            <a:br>
              <a:rPr lang="en-US" sz="3000" dirty="0"/>
            </a:br>
            <a:r>
              <a:rPr lang="en-US" sz="3000" dirty="0" err="1"/>
              <a:t>Bilgisayar</a:t>
            </a:r>
            <a:r>
              <a:rPr lang="en-US" sz="3000" dirty="0"/>
              <a:t> </a:t>
            </a:r>
            <a:r>
              <a:rPr lang="en-US" sz="3000" dirty="0" err="1"/>
              <a:t>Saldırılarının</a:t>
            </a:r>
            <a:r>
              <a:rPr lang="en-US" sz="3000" dirty="0"/>
              <a:t> </a:t>
            </a:r>
            <a:r>
              <a:rPr lang="en-US" sz="3000" dirty="0" err="1"/>
              <a:t>Kovuşturulması</a:t>
            </a:r>
            <a:r>
              <a:rPr lang="en-US" sz="3000" dirty="0"/>
              <a:t> için Federal </a:t>
            </a:r>
            <a:r>
              <a:rPr lang="en-US" sz="3000" dirty="0" err="1"/>
              <a:t>Yasalar</a:t>
            </a:r>
            <a:r>
              <a:rPr lang="en-US" sz="3000" dirty="0"/>
              <a:t>, </a:t>
            </a:r>
            <a:r>
              <a:rPr lang="en-US" sz="3000" dirty="0" err="1"/>
              <a:t>Bölüm</a:t>
            </a:r>
            <a:r>
              <a:rPr lang="en-US" sz="3000" dirty="0"/>
              <a:t>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398941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219200"/>
            <a:ext cx="8542338" cy="5272213"/>
          </a:xfrm>
        </p:spPr>
        <p:txBody>
          <a:bodyPr/>
          <a:lstStyle/>
          <a:p>
            <a:r>
              <a:rPr lang="en-US" sz="2800" dirty="0"/>
              <a:t>CIA </a:t>
            </a:r>
            <a:r>
              <a:rPr lang="en-US" sz="2800" dirty="0" err="1"/>
              <a:t>güvenlik</a:t>
            </a:r>
            <a:r>
              <a:rPr lang="en-US" sz="2800" dirty="0"/>
              <a:t> </a:t>
            </a:r>
            <a:r>
              <a:rPr lang="en-US" sz="2800" dirty="0" err="1"/>
              <a:t>üçlüsü</a:t>
            </a:r>
            <a:r>
              <a:rPr lang="en-US" sz="2800" dirty="0"/>
              <a:t>: </a:t>
            </a:r>
            <a:r>
              <a:rPr lang="en-US" sz="2800" dirty="0" err="1"/>
              <a:t>Sistemlerin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verilerin</a:t>
            </a:r>
            <a:r>
              <a:rPr lang="en-US" sz="2800" dirty="0"/>
              <a:t> </a:t>
            </a:r>
            <a:r>
              <a:rPr lang="en-US" sz="2800" dirty="0" err="1"/>
              <a:t>gizliliği</a:t>
            </a:r>
            <a:r>
              <a:rPr lang="en-US" sz="2800" dirty="0"/>
              <a:t>, </a:t>
            </a:r>
            <a:r>
              <a:rPr lang="en-US" sz="2800" dirty="0" err="1"/>
              <a:t>bütünlüğü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kullanılabilirliği</a:t>
            </a:r>
            <a:endParaRPr lang="en-US" sz="2800" dirty="0"/>
          </a:p>
          <a:p>
            <a:r>
              <a:rPr lang="en-US" sz="2800" dirty="0"/>
              <a:t>BT </a:t>
            </a:r>
            <a:r>
              <a:rPr lang="en-US" sz="2800" dirty="0" err="1"/>
              <a:t>güvenlik</a:t>
            </a:r>
            <a:r>
              <a:rPr lang="en-US" sz="2800" dirty="0"/>
              <a:t> </a:t>
            </a:r>
            <a:r>
              <a:rPr lang="en-US" sz="2800" dirty="0" err="1"/>
              <a:t>uygulamaları</a:t>
            </a:r>
            <a:r>
              <a:rPr lang="en-US" sz="2800" dirty="0"/>
              <a:t> CIA </a:t>
            </a:r>
            <a:r>
              <a:rPr lang="en-US" sz="2800" dirty="0" err="1"/>
              <a:t>güvenlik</a:t>
            </a:r>
            <a:r>
              <a:rPr lang="en-US" sz="2800" dirty="0"/>
              <a:t> </a:t>
            </a:r>
            <a:r>
              <a:rPr lang="en-US" sz="2800" dirty="0" err="1"/>
              <a:t>üçlüsüne</a:t>
            </a:r>
            <a:r>
              <a:rPr lang="en-US" sz="2800" dirty="0"/>
              <a:t> </a:t>
            </a:r>
            <a:r>
              <a:rPr lang="en-US" sz="2800" dirty="0" err="1"/>
              <a:t>odaklanır</a:t>
            </a:r>
            <a:r>
              <a:rPr lang="en-US" sz="2800" dirty="0"/>
              <a:t>:</a:t>
            </a:r>
          </a:p>
          <a:p>
            <a:r>
              <a:rPr lang="en-US" sz="2800" dirty="0" err="1"/>
              <a:t>Gizlilik</a:t>
            </a:r>
            <a:r>
              <a:rPr lang="en-US" sz="2800" dirty="0"/>
              <a:t>, </a:t>
            </a:r>
            <a:r>
              <a:rPr lang="en-US" sz="2800" dirty="0" err="1"/>
              <a:t>hassas</a:t>
            </a:r>
            <a:r>
              <a:rPr lang="en-US" sz="2800" dirty="0"/>
              <a:t> </a:t>
            </a:r>
            <a:r>
              <a:rPr lang="en-US" sz="2800" dirty="0" err="1"/>
              <a:t>verilere</a:t>
            </a:r>
            <a:r>
              <a:rPr lang="en-US" sz="2800" dirty="0"/>
              <a:t> </a:t>
            </a:r>
            <a:r>
              <a:rPr lang="en-US" sz="2800" dirty="0" err="1"/>
              <a:t>yalnızca</a:t>
            </a:r>
            <a:r>
              <a:rPr lang="en-US" sz="2800" dirty="0"/>
              <a:t> </a:t>
            </a:r>
            <a:r>
              <a:rPr lang="en-US" sz="2800" dirty="0" err="1"/>
              <a:t>uygun</a:t>
            </a:r>
            <a:r>
              <a:rPr lang="en-US" sz="2800" dirty="0"/>
              <a:t> </a:t>
            </a:r>
            <a:r>
              <a:rPr lang="en-US" sz="2800" dirty="0" err="1"/>
              <a:t>yetkiye</a:t>
            </a:r>
            <a:r>
              <a:rPr lang="en-US" sz="2800" dirty="0"/>
              <a:t> </a:t>
            </a:r>
            <a:r>
              <a:rPr lang="en-US" sz="2800" dirty="0" err="1"/>
              <a:t>sahip</a:t>
            </a:r>
            <a:r>
              <a:rPr lang="en-US" sz="2800" dirty="0"/>
              <a:t> </a:t>
            </a:r>
            <a:r>
              <a:rPr lang="en-US" sz="2800" dirty="0" err="1"/>
              <a:t>kişilerin</a:t>
            </a:r>
            <a:r>
              <a:rPr lang="en-US" sz="2800" dirty="0"/>
              <a:t> </a:t>
            </a:r>
            <a:r>
              <a:rPr lang="en-US" sz="2800" dirty="0" err="1"/>
              <a:t>erişebilmesini</a:t>
            </a:r>
            <a:r>
              <a:rPr lang="en-US" sz="2800" dirty="0"/>
              <a:t> </a:t>
            </a:r>
            <a:r>
              <a:rPr lang="en-US" sz="2800" dirty="0" err="1"/>
              <a:t>sağlar</a:t>
            </a:r>
            <a:endParaRPr lang="en-US" sz="2800" dirty="0"/>
          </a:p>
          <a:p>
            <a:r>
              <a:rPr lang="en-US" sz="2800" dirty="0" err="1"/>
              <a:t>Bütünlük</a:t>
            </a:r>
            <a:r>
              <a:rPr lang="en-US" sz="2800" dirty="0"/>
              <a:t>, </a:t>
            </a:r>
            <a:r>
              <a:rPr lang="en-US" sz="2800" dirty="0" err="1"/>
              <a:t>verilerin</a:t>
            </a:r>
            <a:r>
              <a:rPr lang="en-US" sz="2800" dirty="0"/>
              <a:t> </a:t>
            </a:r>
            <a:r>
              <a:rPr lang="en-US" sz="2800" dirty="0" err="1"/>
              <a:t>yalnızca</a:t>
            </a:r>
            <a:r>
              <a:rPr lang="en-US" sz="2800" dirty="0"/>
              <a:t> </a:t>
            </a:r>
            <a:r>
              <a:rPr lang="en-US" sz="2800" dirty="0" err="1"/>
              <a:t>yetkili</a:t>
            </a:r>
            <a:r>
              <a:rPr lang="en-US" sz="2800" dirty="0"/>
              <a:t> </a:t>
            </a:r>
            <a:r>
              <a:rPr lang="en-US" sz="2800" dirty="0" err="1"/>
              <a:t>kullanıcılar</a:t>
            </a:r>
            <a:r>
              <a:rPr lang="en-US" sz="2800" dirty="0"/>
              <a:t> </a:t>
            </a:r>
            <a:r>
              <a:rPr lang="en-US" sz="2800" dirty="0" err="1"/>
              <a:t>tarafından</a:t>
            </a:r>
            <a:r>
              <a:rPr lang="en-US" sz="2800" dirty="0"/>
              <a:t> </a:t>
            </a:r>
            <a:r>
              <a:rPr lang="en-US" sz="2800" dirty="0" err="1"/>
              <a:t>değiştirilebilmesini</a:t>
            </a:r>
            <a:r>
              <a:rPr lang="en-US" sz="2800" dirty="0"/>
              <a:t> </a:t>
            </a:r>
            <a:r>
              <a:rPr lang="en-US" sz="2800" dirty="0" err="1"/>
              <a:t>sağlar</a:t>
            </a:r>
            <a:endParaRPr lang="en-US" sz="2800" dirty="0"/>
          </a:p>
          <a:p>
            <a:r>
              <a:rPr lang="en-US" sz="2800" dirty="0"/>
              <a:t> </a:t>
            </a:r>
            <a:r>
              <a:rPr lang="en-US" sz="2800" dirty="0" err="1"/>
              <a:t>Erişilebilirlik</a:t>
            </a:r>
            <a:r>
              <a:rPr lang="en-US" sz="2800" dirty="0"/>
              <a:t>, </a:t>
            </a:r>
            <a:r>
              <a:rPr lang="en-US" sz="2800" dirty="0" err="1"/>
              <a:t>verilere</a:t>
            </a:r>
            <a:r>
              <a:rPr lang="en-US" sz="2800" dirty="0"/>
              <a:t> </a:t>
            </a:r>
            <a:r>
              <a:rPr lang="en-US" sz="2800" dirty="0" err="1"/>
              <a:t>ihtiyaç</a:t>
            </a:r>
            <a:r>
              <a:rPr lang="en-US" sz="2800" dirty="0"/>
              <a:t> </a:t>
            </a:r>
            <a:r>
              <a:rPr lang="en-US" sz="2800" dirty="0" err="1"/>
              <a:t>duyulduğu</a:t>
            </a:r>
            <a:r>
              <a:rPr lang="en-US" sz="2800" dirty="0"/>
              <a:t> zaman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yerde</a:t>
            </a:r>
            <a:r>
              <a:rPr lang="en-US" sz="2800" dirty="0"/>
              <a:t> </a:t>
            </a:r>
            <a:r>
              <a:rPr lang="en-US" sz="2800" dirty="0" err="1"/>
              <a:t>erişilebilmesini</a:t>
            </a:r>
            <a:r>
              <a:rPr lang="en-US" sz="2800" dirty="0"/>
              <a:t> </a:t>
            </a:r>
            <a:r>
              <a:rPr lang="en-US" sz="2800" dirty="0" err="1"/>
              <a:t>sağlar</a:t>
            </a:r>
            <a:endParaRPr lang="en-US" sz="2800" dirty="0"/>
          </a:p>
          <a:p>
            <a:r>
              <a:rPr lang="en-US" sz="2800" dirty="0"/>
              <a:t>CIA </a:t>
            </a:r>
            <a:r>
              <a:rPr lang="en-US" sz="2800" dirty="0" err="1"/>
              <a:t>güvenliği</a:t>
            </a:r>
            <a:r>
              <a:rPr lang="en-US" sz="2800" dirty="0"/>
              <a:t> </a:t>
            </a:r>
            <a:r>
              <a:rPr lang="en-US" sz="2800" dirty="0" err="1"/>
              <a:t>kuruluş</a:t>
            </a:r>
            <a:r>
              <a:rPr lang="en-US" sz="2800" dirty="0"/>
              <a:t>, </a:t>
            </a:r>
            <a:r>
              <a:rPr lang="en-US" sz="2800" dirty="0" err="1"/>
              <a:t>ağ</a:t>
            </a:r>
            <a:r>
              <a:rPr lang="en-US" sz="2800" dirty="0"/>
              <a:t>, </a:t>
            </a:r>
            <a:r>
              <a:rPr lang="en-US" sz="2800" dirty="0" err="1"/>
              <a:t>uygulama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son </a:t>
            </a:r>
            <a:r>
              <a:rPr lang="en-US" sz="2800" dirty="0" err="1"/>
              <a:t>kullanıcı</a:t>
            </a:r>
            <a:r>
              <a:rPr lang="en-US" sz="2800" dirty="0"/>
              <a:t> </a:t>
            </a:r>
            <a:r>
              <a:rPr lang="en-US" sz="2800" dirty="0" err="1"/>
              <a:t>seviyelerinde</a:t>
            </a:r>
            <a:r>
              <a:rPr lang="en-US" sz="2800" dirty="0"/>
              <a:t> </a:t>
            </a:r>
            <a:r>
              <a:rPr lang="en-US" sz="2800" dirty="0" err="1"/>
              <a:t>uygulanmalıdır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CIA Security Triad-CIA </a:t>
            </a:r>
            <a:r>
              <a:rPr lang="en-US" sz="4000" dirty="0" err="1"/>
              <a:t>Güvenlik</a:t>
            </a:r>
            <a:r>
              <a:rPr lang="en-US" sz="4000" dirty="0"/>
              <a:t> </a:t>
            </a:r>
            <a:r>
              <a:rPr lang="en-US" sz="4000" dirty="0" err="1"/>
              <a:t>Üçlüsü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544250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8849"/>
            <a:ext cx="8026400" cy="1051057"/>
          </a:xfrm>
        </p:spPr>
        <p:txBody>
          <a:bodyPr/>
          <a:lstStyle/>
          <a:p>
            <a:r>
              <a:rPr lang="en-US" sz="4000" dirty="0"/>
              <a:t>Implementing CIA security-</a:t>
            </a:r>
            <a:br>
              <a:rPr lang="en-US" sz="4000" dirty="0"/>
            </a:br>
            <a:r>
              <a:rPr lang="en-US" sz="4000" dirty="0"/>
              <a:t>CIA </a:t>
            </a:r>
            <a:r>
              <a:rPr lang="en-US" sz="4000" dirty="0" err="1"/>
              <a:t>güvenliğinin</a:t>
            </a:r>
            <a:r>
              <a:rPr lang="en-US" sz="4000" dirty="0"/>
              <a:t> </a:t>
            </a:r>
            <a:r>
              <a:rPr lang="en-US" sz="4000" dirty="0" err="1"/>
              <a:t>uygulanması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6" name="Content Placeholder 4" descr="Figure 3-4: This figure shows how CIA security is implemented at the organization, network, application and end-user levels. Each level is represented by one of four concentric circles. &#10;In the middle, is the end-user level, which includes the following elements: security education, authentication methods, antivirus software, and data encryption. &#10;The next circle is the application level, which includes the following elements: Authentication methods, user roles and accounts, and data encryption. &#10;The next circle is the network level, which includes the following elements: authentication methods, routers, proxy servers-VPN, intrusion detection system, firewall, and encryption. &#10;The outermost circle is the organization level, which includes the following elements: security strategy, disaster recovery, security audit, security dashboard, risk assessment, security policies, and regulatory standards compliance.  &#10;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219200"/>
            <a:ext cx="5334000" cy="5334000"/>
          </a:xfrm>
        </p:spPr>
      </p:pic>
    </p:spTree>
    <p:extLst>
      <p:ext uri="{BB962C8B-B14F-4D97-AF65-F5344CB8AC3E}">
        <p14:creationId xmlns:p14="http://schemas.microsoft.com/office/powerpoint/2010/main" val="1329966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95400"/>
            <a:ext cx="8415338" cy="4207306"/>
          </a:xfrm>
        </p:spPr>
        <p:txBody>
          <a:bodyPr/>
          <a:lstStyle/>
          <a:p>
            <a:r>
              <a:rPr lang="en-US" sz="2800" dirty="0" err="1"/>
              <a:t>CIA'in</a:t>
            </a:r>
            <a:r>
              <a:rPr lang="en-US" sz="2800" dirty="0"/>
              <a:t> </a:t>
            </a:r>
            <a:r>
              <a:rPr lang="en-US" sz="2800" dirty="0" err="1"/>
              <a:t>uygulanması</a:t>
            </a:r>
            <a:r>
              <a:rPr lang="en-US" sz="2800" dirty="0"/>
              <a:t>, </a:t>
            </a:r>
            <a:r>
              <a:rPr lang="en-US" sz="2800" dirty="0" err="1"/>
              <a:t>aktif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yönetişim</a:t>
            </a:r>
            <a:r>
              <a:rPr lang="en-US" sz="2800" dirty="0"/>
              <a:t> </a:t>
            </a:r>
            <a:r>
              <a:rPr lang="en-US" sz="2800" dirty="0" err="1"/>
              <a:t>süreci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iyi </a:t>
            </a:r>
            <a:r>
              <a:rPr lang="en-US" sz="2800" dirty="0" err="1"/>
              <a:t>tanımlanmış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felaket</a:t>
            </a:r>
            <a:r>
              <a:rPr lang="en-US" sz="2800" dirty="0"/>
              <a:t> </a:t>
            </a:r>
            <a:r>
              <a:rPr lang="en-US" sz="2800" dirty="0" err="1"/>
              <a:t>kurtarma</a:t>
            </a:r>
            <a:r>
              <a:rPr lang="en-US" sz="2800" dirty="0"/>
              <a:t> </a:t>
            </a:r>
            <a:r>
              <a:rPr lang="en-US" sz="2800" dirty="0" err="1"/>
              <a:t>planı</a:t>
            </a:r>
            <a:r>
              <a:rPr lang="en-US" sz="2800" dirty="0"/>
              <a:t> </a:t>
            </a:r>
            <a:r>
              <a:rPr lang="en-US" sz="2800" dirty="0" err="1"/>
              <a:t>ile</a:t>
            </a:r>
            <a:r>
              <a:rPr lang="en-US" sz="2800" dirty="0"/>
              <a:t> risk </a:t>
            </a:r>
            <a:r>
              <a:rPr lang="en-US" sz="2800" dirty="0" err="1"/>
              <a:t>tabanlı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güvenlik</a:t>
            </a:r>
            <a:r>
              <a:rPr lang="en-US" sz="2800" dirty="0"/>
              <a:t> </a:t>
            </a:r>
            <a:r>
              <a:rPr lang="en-US" sz="2800" dirty="0" err="1"/>
              <a:t>stratejisi</a:t>
            </a:r>
            <a:r>
              <a:rPr lang="en-US" sz="2800" dirty="0"/>
              <a:t> </a:t>
            </a:r>
            <a:r>
              <a:rPr lang="en-US" sz="2800" dirty="0" err="1"/>
              <a:t>gerektirir</a:t>
            </a:r>
            <a:r>
              <a:rPr lang="en-US" sz="2800" dirty="0"/>
              <a:t>.</a:t>
            </a:r>
          </a:p>
          <a:p>
            <a:r>
              <a:rPr lang="en-US" sz="2800" dirty="0"/>
              <a:t>Risk </a:t>
            </a:r>
            <a:r>
              <a:rPr lang="en-US" sz="2800" dirty="0" err="1"/>
              <a:t>değerlendirmesi</a:t>
            </a:r>
            <a:r>
              <a:rPr lang="en-US" sz="2800" dirty="0"/>
              <a:t>: Bir </a:t>
            </a:r>
            <a:r>
              <a:rPr lang="en-US" sz="2800" dirty="0" err="1"/>
              <a:t>kuruluşun</a:t>
            </a:r>
            <a:r>
              <a:rPr lang="en-US" sz="2800" dirty="0"/>
              <a:t> </a:t>
            </a:r>
            <a:r>
              <a:rPr lang="en-US" sz="2800" dirty="0" err="1"/>
              <a:t>bilgisayarlarına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ağlarına</a:t>
            </a:r>
            <a:r>
              <a:rPr lang="en-US" sz="2800" dirty="0"/>
              <a:t> </a:t>
            </a:r>
            <a:r>
              <a:rPr lang="en-US" sz="2800" dirty="0" err="1"/>
              <a:t>yönelik</a:t>
            </a:r>
            <a:r>
              <a:rPr lang="en-US" sz="2800" dirty="0"/>
              <a:t> hem </a:t>
            </a:r>
            <a:r>
              <a:rPr lang="en-US" sz="2800" dirty="0" err="1"/>
              <a:t>iç</a:t>
            </a:r>
            <a:r>
              <a:rPr lang="en-US" sz="2800" dirty="0"/>
              <a:t> hem de </a:t>
            </a:r>
            <a:r>
              <a:rPr lang="en-US" sz="2800" dirty="0" err="1"/>
              <a:t>dış</a:t>
            </a:r>
            <a:r>
              <a:rPr lang="en-US" sz="2800" dirty="0"/>
              <a:t> </a:t>
            </a:r>
            <a:r>
              <a:rPr lang="en-US" sz="2800" dirty="0" err="1"/>
              <a:t>tehditlerden</a:t>
            </a:r>
            <a:r>
              <a:rPr lang="en-US" sz="2800" dirty="0"/>
              <a:t> </a:t>
            </a:r>
            <a:r>
              <a:rPr lang="en-US" sz="2800" dirty="0" err="1"/>
              <a:t>kaynaklanan</a:t>
            </a:r>
            <a:r>
              <a:rPr lang="en-US" sz="2800" dirty="0"/>
              <a:t> </a:t>
            </a:r>
            <a:r>
              <a:rPr lang="en-US" sz="2800" dirty="0" err="1"/>
              <a:t>güvenlikle</a:t>
            </a:r>
            <a:r>
              <a:rPr lang="en-US" sz="2800" dirty="0"/>
              <a:t> </a:t>
            </a:r>
            <a:r>
              <a:rPr lang="en-US" sz="2800" dirty="0" err="1"/>
              <a:t>ilgili</a:t>
            </a:r>
            <a:r>
              <a:rPr lang="en-US" sz="2800" dirty="0"/>
              <a:t> </a:t>
            </a:r>
            <a:r>
              <a:rPr lang="en-US" sz="2800" dirty="0" err="1"/>
              <a:t>riskleri</a:t>
            </a:r>
            <a:r>
              <a:rPr lang="en-US" sz="2800" dirty="0"/>
              <a:t> </a:t>
            </a:r>
            <a:r>
              <a:rPr lang="en-US" sz="2800" dirty="0" err="1"/>
              <a:t>değerlendirme</a:t>
            </a:r>
            <a:r>
              <a:rPr lang="en-US" sz="2800" dirty="0"/>
              <a:t> </a:t>
            </a:r>
            <a:r>
              <a:rPr lang="en-US" sz="2800" dirty="0" err="1"/>
              <a:t>süreci</a:t>
            </a:r>
            <a:endParaRPr lang="en-US" sz="2800" dirty="0"/>
          </a:p>
          <a:p>
            <a:pPr lvl="1"/>
            <a:r>
              <a:rPr lang="en-US" sz="2600" dirty="0" err="1"/>
              <a:t>Tamamlanmış</a:t>
            </a:r>
            <a:r>
              <a:rPr lang="en-US" sz="2600" dirty="0"/>
              <a:t> </a:t>
            </a:r>
            <a:r>
              <a:rPr lang="en-US" sz="2600" dirty="0" err="1"/>
              <a:t>bir</a:t>
            </a:r>
            <a:r>
              <a:rPr lang="en-US" sz="2600" dirty="0"/>
              <a:t> risk </a:t>
            </a:r>
            <a:r>
              <a:rPr lang="en-US" sz="2600" dirty="0" err="1"/>
              <a:t>değerlendirmesi</a:t>
            </a:r>
            <a:r>
              <a:rPr lang="en-US" sz="2600" dirty="0"/>
              <a:t>, </a:t>
            </a:r>
            <a:r>
              <a:rPr lang="en-US" sz="2600" dirty="0" err="1"/>
              <a:t>bir</a:t>
            </a:r>
            <a:r>
              <a:rPr lang="en-US" sz="2600" dirty="0"/>
              <a:t> </a:t>
            </a:r>
            <a:r>
              <a:rPr lang="en-US" sz="2600" dirty="0" err="1"/>
              <a:t>şirkete</a:t>
            </a:r>
            <a:r>
              <a:rPr lang="en-US" sz="2600" dirty="0"/>
              <a:t> </a:t>
            </a:r>
            <a:r>
              <a:rPr lang="en-US" sz="2600" dirty="0" err="1"/>
              <a:t>yönelik</a:t>
            </a:r>
            <a:r>
              <a:rPr lang="en-US" sz="2600" dirty="0"/>
              <a:t> </a:t>
            </a:r>
            <a:r>
              <a:rPr lang="en-US" sz="2600" dirty="0" err="1"/>
              <a:t>en</a:t>
            </a:r>
            <a:r>
              <a:rPr lang="en-US" sz="2600" dirty="0"/>
              <a:t> </a:t>
            </a:r>
            <a:r>
              <a:rPr lang="en-US" sz="2600" dirty="0" err="1"/>
              <a:t>büyük</a:t>
            </a:r>
            <a:r>
              <a:rPr lang="en-US" sz="2600" dirty="0"/>
              <a:t> </a:t>
            </a:r>
            <a:r>
              <a:rPr lang="en-US" sz="2600" dirty="0" err="1"/>
              <a:t>tehditleri</a:t>
            </a:r>
            <a:r>
              <a:rPr lang="en-US" sz="2600" dirty="0"/>
              <a:t> </a:t>
            </a:r>
            <a:r>
              <a:rPr lang="en-US" sz="2600" dirty="0" err="1"/>
              <a:t>belirler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</a:t>
            </a:r>
            <a:r>
              <a:rPr lang="en-US" sz="2600" dirty="0" err="1"/>
              <a:t>güvenlik</a:t>
            </a:r>
            <a:r>
              <a:rPr lang="en-US" sz="2600" dirty="0"/>
              <a:t> </a:t>
            </a:r>
            <a:r>
              <a:rPr lang="en-US" sz="2600" dirty="0" err="1"/>
              <a:t>çabalarının</a:t>
            </a:r>
            <a:r>
              <a:rPr lang="en-US" sz="2600" dirty="0"/>
              <a:t> </a:t>
            </a:r>
            <a:r>
              <a:rPr lang="en-US" sz="2600" dirty="0" err="1"/>
              <a:t>en</a:t>
            </a:r>
            <a:r>
              <a:rPr lang="en-US" sz="2600" dirty="0"/>
              <a:t> </a:t>
            </a:r>
            <a:r>
              <a:rPr lang="en-US" sz="2600" dirty="0" err="1"/>
              <a:t>yüksek</a:t>
            </a:r>
            <a:r>
              <a:rPr lang="en-US" sz="2600" dirty="0"/>
              <a:t> </a:t>
            </a:r>
            <a:r>
              <a:rPr lang="en-US" sz="2600" dirty="0" err="1"/>
              <a:t>getiri</a:t>
            </a:r>
            <a:r>
              <a:rPr lang="en-US" sz="2600" dirty="0"/>
              <a:t> </a:t>
            </a:r>
            <a:r>
              <a:rPr lang="en-US" sz="2600" dirty="0" err="1"/>
              <a:t>sağlayacak</a:t>
            </a:r>
            <a:r>
              <a:rPr lang="en-US" sz="2600" dirty="0"/>
              <a:t> </a:t>
            </a:r>
            <a:r>
              <a:rPr lang="en-US" sz="2600" dirty="0" err="1"/>
              <a:t>alanlara</a:t>
            </a:r>
            <a:r>
              <a:rPr lang="en-US" sz="2600" dirty="0"/>
              <a:t> </a:t>
            </a:r>
            <a:r>
              <a:rPr lang="en-US" sz="2600" dirty="0" err="1"/>
              <a:t>odaklanmasına</a:t>
            </a:r>
            <a:r>
              <a:rPr lang="en-US" sz="2600" dirty="0"/>
              <a:t> </a:t>
            </a:r>
            <a:r>
              <a:rPr lang="en-US" sz="2600" dirty="0" err="1"/>
              <a:t>yardımcı</a:t>
            </a:r>
            <a:r>
              <a:rPr lang="en-US" sz="2600" dirty="0"/>
              <a:t> </a:t>
            </a:r>
            <a:r>
              <a:rPr lang="en-US" sz="2600" dirty="0" err="1"/>
              <a:t>olur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0937"/>
            <a:ext cx="8026400" cy="1416863"/>
          </a:xfrm>
        </p:spPr>
        <p:txBody>
          <a:bodyPr/>
          <a:lstStyle/>
          <a:p>
            <a:r>
              <a:rPr lang="en-US" sz="3600" dirty="0"/>
              <a:t>Implementing CIA at the Organization Level</a:t>
            </a:r>
            <a:br>
              <a:rPr lang="en-US" sz="3600" dirty="0"/>
            </a:br>
            <a:r>
              <a:rPr lang="en-US" sz="3600" dirty="0" err="1"/>
              <a:t>CIA'in</a:t>
            </a:r>
            <a:r>
              <a:rPr lang="en-US" sz="3600" dirty="0"/>
              <a:t> </a:t>
            </a:r>
            <a:r>
              <a:rPr lang="en-US" sz="3600" dirty="0" err="1"/>
              <a:t>Organizasyon</a:t>
            </a:r>
            <a:r>
              <a:rPr lang="en-US" sz="3600" dirty="0"/>
              <a:t> </a:t>
            </a:r>
            <a:r>
              <a:rPr lang="en-US" sz="3600" dirty="0" err="1"/>
              <a:t>Düzeyinde</a:t>
            </a:r>
            <a:r>
              <a:rPr lang="en-US" sz="3600" dirty="0"/>
              <a:t> </a:t>
            </a:r>
            <a:r>
              <a:rPr lang="en-US" sz="3600" dirty="0" err="1"/>
              <a:t>Uygulanması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999796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 descr="This table presents the eight steps that are part of the general risk assessment process. &#10;Step 1: Identify the set of IT assets of most concern.&#10;Step 2: Identify the loss events or the risks/threats that could occur.&#10;Step 3: Assess the frequency of events or the likelihood of each potential threat.&#10;Step 4: Determine the impact of each threat occurring.&#10;Step 5: Determine how each threat can be mitigated.&#10;Step 6: Assess the feasibility of implementing the mitigation options.&#10;Step 7: Perform a cost-benefit analysis to ensure that your efforts will be cost effective.&#10;Step 8: Decide whether or not to implement a countermeasure.&#10;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5024873"/>
              </p:ext>
            </p:extLst>
          </p:nvPr>
        </p:nvGraphicFramePr>
        <p:xfrm>
          <a:off x="366238" y="1122820"/>
          <a:ext cx="8415338" cy="551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875">
                  <a:extLst>
                    <a:ext uri="{9D8B030D-6E8A-4147-A177-3AD203B41FA5}">
                      <a16:colId xmlns:a16="http://schemas.microsoft.com/office/drawing/2014/main" val="3844281672"/>
                    </a:ext>
                  </a:extLst>
                </a:gridCol>
                <a:gridCol w="7637463">
                  <a:extLst>
                    <a:ext uri="{9D8B030D-6E8A-4147-A177-3AD203B41FA5}">
                      <a16:colId xmlns:a16="http://schemas.microsoft.com/office/drawing/2014/main" val="3352006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Adım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Açıklama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37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En </a:t>
                      </a:r>
                      <a:r>
                        <a:rPr lang="en-US" sz="2400" dirty="0" err="1"/>
                        <a:t>çok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endişe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duyulan</a:t>
                      </a:r>
                      <a:r>
                        <a:rPr lang="en-US" sz="2400" dirty="0"/>
                        <a:t> BT </a:t>
                      </a:r>
                      <a:r>
                        <a:rPr lang="en-US" sz="2400" dirty="0" err="1"/>
                        <a:t>varlıkları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kümesini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belirleyin</a:t>
                      </a:r>
                      <a:r>
                        <a:rPr lang="en-US" sz="2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320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Kayıp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olaylarını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veya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meydana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gelebilecek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riskleri</a:t>
                      </a:r>
                      <a:r>
                        <a:rPr lang="en-US" sz="2400" dirty="0"/>
                        <a:t>/</a:t>
                      </a:r>
                      <a:r>
                        <a:rPr lang="en-US" sz="2400" dirty="0" err="1"/>
                        <a:t>tehditleri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tanımlayın</a:t>
                      </a:r>
                      <a:r>
                        <a:rPr lang="en-US" sz="2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118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Olayların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sıklığını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veya</a:t>
                      </a:r>
                      <a:r>
                        <a:rPr lang="en-US" sz="2400" dirty="0"/>
                        <a:t> her </a:t>
                      </a:r>
                      <a:r>
                        <a:rPr lang="en-US" sz="2400" dirty="0" err="1"/>
                        <a:t>bir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potansiyel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tehdidin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olasılığını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değerlendirin</a:t>
                      </a:r>
                      <a:r>
                        <a:rPr lang="en-US" sz="2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282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Her </a:t>
                      </a:r>
                      <a:r>
                        <a:rPr lang="en-US" sz="2400" dirty="0" err="1"/>
                        <a:t>bir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tehdidin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gerçekleşmesinin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etkisini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belirleyin</a:t>
                      </a:r>
                      <a:r>
                        <a:rPr lang="en-US" sz="2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488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Her </a:t>
                      </a:r>
                      <a:r>
                        <a:rPr lang="en-US" sz="2400" dirty="0" err="1"/>
                        <a:t>bir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tehdidin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nasıl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azaltılabileceğini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belirleyin</a:t>
                      </a:r>
                      <a:r>
                        <a:rPr lang="en-US" sz="2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93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Etki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azaltma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seçeneklerinin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uygulanmasının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fizibilitesini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değerlendirin</a:t>
                      </a:r>
                      <a:r>
                        <a:rPr lang="en-US" sz="2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261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Çabalarınızın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maliyet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açısından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etkili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olmasını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sağlamak</a:t>
                      </a:r>
                      <a:r>
                        <a:rPr lang="en-US" sz="2400" dirty="0"/>
                        <a:t> için </a:t>
                      </a:r>
                      <a:r>
                        <a:rPr lang="en-US" sz="2400" dirty="0" err="1"/>
                        <a:t>bir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fayda-maliyet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analizi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yapın</a:t>
                      </a:r>
                      <a:r>
                        <a:rPr lang="en-US" sz="2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56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Bir </a:t>
                      </a:r>
                      <a:r>
                        <a:rPr lang="en-US" sz="2400" dirty="0" err="1"/>
                        <a:t>karşı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önlemin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uygulanıp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uygulanmayacağına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karar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verin</a:t>
                      </a:r>
                      <a:r>
                        <a:rPr lang="en-US" sz="2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50095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8848"/>
            <a:ext cx="8026400" cy="1051057"/>
          </a:xfrm>
        </p:spPr>
        <p:txBody>
          <a:bodyPr/>
          <a:lstStyle/>
          <a:p>
            <a:r>
              <a:rPr lang="en-US" sz="4000" dirty="0"/>
              <a:t>General Risk Assessment Process</a:t>
            </a:r>
            <a:br>
              <a:rPr lang="en-US" sz="4000" dirty="0"/>
            </a:br>
            <a:r>
              <a:rPr lang="en-US" sz="4000" dirty="0" err="1"/>
              <a:t>Genel</a:t>
            </a:r>
            <a:r>
              <a:rPr lang="en-US" sz="4000" dirty="0"/>
              <a:t> Risk </a:t>
            </a:r>
            <a:r>
              <a:rPr lang="en-US" sz="4000" dirty="0" err="1"/>
              <a:t>Değerlendirme</a:t>
            </a:r>
            <a:r>
              <a:rPr lang="en-US" sz="4000" dirty="0"/>
              <a:t> </a:t>
            </a:r>
            <a:r>
              <a:rPr lang="en-US" sz="4000" dirty="0" err="1"/>
              <a:t>Süreci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1542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6" y="1538818"/>
            <a:ext cx="8014250" cy="3019288"/>
          </a:xfrm>
        </p:spPr>
        <p:txBody>
          <a:bodyPr/>
          <a:lstStyle/>
          <a:p>
            <a:r>
              <a:rPr lang="en-US" sz="2800" dirty="0" err="1"/>
              <a:t>Felaketten</a:t>
            </a:r>
            <a:r>
              <a:rPr lang="en-US" sz="2800" dirty="0"/>
              <a:t> </a:t>
            </a:r>
            <a:r>
              <a:rPr lang="en-US" sz="2800" dirty="0" err="1"/>
              <a:t>kurtarma</a:t>
            </a:r>
            <a:r>
              <a:rPr lang="en-US" sz="2800" dirty="0"/>
              <a:t> </a:t>
            </a:r>
            <a:r>
              <a:rPr lang="en-US" sz="2800" dirty="0" err="1"/>
              <a:t>planı</a:t>
            </a:r>
            <a:r>
              <a:rPr lang="en-US" sz="2800" dirty="0"/>
              <a:t>: Bir </a:t>
            </a:r>
            <a:r>
              <a:rPr lang="en-US" sz="2800" dirty="0" err="1"/>
              <a:t>felaket</a:t>
            </a:r>
            <a:r>
              <a:rPr lang="en-US" sz="2800" dirty="0"/>
              <a:t> </a:t>
            </a:r>
            <a:r>
              <a:rPr lang="en-US" sz="2800" dirty="0" err="1"/>
              <a:t>durumunda</a:t>
            </a:r>
            <a:r>
              <a:rPr lang="en-US" sz="2800" dirty="0"/>
              <a:t> </a:t>
            </a:r>
            <a:r>
              <a:rPr lang="en-US" sz="2800" dirty="0" err="1"/>
              <a:t>donanım</a:t>
            </a:r>
            <a:r>
              <a:rPr lang="en-US" sz="2800" dirty="0"/>
              <a:t>, </a:t>
            </a:r>
            <a:r>
              <a:rPr lang="en-US" sz="2800" dirty="0" err="1"/>
              <a:t>yazılım</a:t>
            </a:r>
            <a:r>
              <a:rPr lang="en-US" sz="2800" dirty="0"/>
              <a:t>, </a:t>
            </a:r>
            <a:r>
              <a:rPr lang="en-US" sz="2800" dirty="0" err="1"/>
              <a:t>veri</a:t>
            </a:r>
            <a:r>
              <a:rPr lang="en-US" sz="2800" dirty="0"/>
              <a:t>, </a:t>
            </a:r>
            <a:r>
              <a:rPr lang="en-US" sz="2800" dirty="0" err="1"/>
              <a:t>ağlar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tesisler</a:t>
            </a:r>
            <a:r>
              <a:rPr lang="en-US" sz="2800" dirty="0"/>
              <a:t> </a:t>
            </a:r>
            <a:r>
              <a:rPr lang="en-US" sz="2800" dirty="0" err="1"/>
              <a:t>dahil</a:t>
            </a:r>
            <a:r>
              <a:rPr lang="en-US" sz="2800" dirty="0"/>
              <a:t> </a:t>
            </a:r>
            <a:r>
              <a:rPr lang="en-US" sz="2800" dirty="0" err="1"/>
              <a:t>olmak</a:t>
            </a:r>
            <a:r>
              <a:rPr lang="en-US" sz="2800" dirty="0"/>
              <a:t> </a:t>
            </a:r>
            <a:r>
              <a:rPr lang="en-US" sz="2800" dirty="0" err="1"/>
              <a:t>üzere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kuruluşun</a:t>
            </a:r>
            <a:r>
              <a:rPr lang="en-US" sz="2800" dirty="0"/>
              <a:t> </a:t>
            </a:r>
            <a:r>
              <a:rPr lang="en-US" sz="2800" dirty="0" err="1"/>
              <a:t>iş</a:t>
            </a:r>
            <a:r>
              <a:rPr lang="en-US" sz="2800" dirty="0"/>
              <a:t> </a:t>
            </a:r>
            <a:r>
              <a:rPr lang="en-US" sz="2800" dirty="0" err="1"/>
              <a:t>bilgi</a:t>
            </a:r>
            <a:r>
              <a:rPr lang="en-US" sz="2800" dirty="0"/>
              <a:t> </a:t>
            </a:r>
            <a:r>
              <a:rPr lang="en-US" sz="2800" dirty="0" err="1"/>
              <a:t>sistemi</a:t>
            </a:r>
            <a:r>
              <a:rPr lang="en-US" sz="2800" dirty="0"/>
              <a:t> </a:t>
            </a:r>
            <a:r>
              <a:rPr lang="en-US" sz="2800" dirty="0" err="1"/>
              <a:t>varlıklarının</a:t>
            </a:r>
            <a:r>
              <a:rPr lang="en-US" sz="2800" dirty="0"/>
              <a:t> </a:t>
            </a:r>
            <a:r>
              <a:rPr lang="en-US" sz="2800" dirty="0" err="1"/>
              <a:t>kurtarılmasına</a:t>
            </a:r>
            <a:r>
              <a:rPr lang="en-US" sz="2800" dirty="0"/>
              <a:t> </a:t>
            </a:r>
            <a:r>
              <a:rPr lang="en-US" sz="2800" dirty="0" err="1"/>
              <a:t>yönelik</a:t>
            </a:r>
            <a:r>
              <a:rPr lang="en-US" sz="2800" dirty="0"/>
              <a:t> </a:t>
            </a:r>
            <a:r>
              <a:rPr lang="en-US" sz="2800" dirty="0" err="1"/>
              <a:t>belgelendirilmiş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süreç</a:t>
            </a:r>
            <a:endParaRPr lang="en-US" sz="2800" dirty="0"/>
          </a:p>
          <a:p>
            <a:r>
              <a:rPr lang="en-US" sz="2800" dirty="0" err="1"/>
              <a:t>Görev</a:t>
            </a:r>
            <a:r>
              <a:rPr lang="en-US" sz="2800" dirty="0"/>
              <a:t> </a:t>
            </a:r>
            <a:r>
              <a:rPr lang="en-US" sz="2800" dirty="0" err="1"/>
              <a:t>açısından</a:t>
            </a:r>
            <a:r>
              <a:rPr lang="en-US" sz="2800" dirty="0"/>
              <a:t> </a:t>
            </a:r>
            <a:r>
              <a:rPr lang="en-US" sz="2800" dirty="0" err="1"/>
              <a:t>kritik</a:t>
            </a:r>
            <a:r>
              <a:rPr lang="en-US" sz="2800" dirty="0"/>
              <a:t> </a:t>
            </a:r>
            <a:r>
              <a:rPr lang="en-US" sz="2800" dirty="0" err="1"/>
              <a:t>süreçler</a:t>
            </a:r>
            <a:r>
              <a:rPr lang="en-US" sz="2800" dirty="0"/>
              <a:t>: </a:t>
            </a:r>
            <a:r>
              <a:rPr lang="en-US" sz="2800" dirty="0" err="1"/>
              <a:t>Faaliyetlerin</a:t>
            </a:r>
            <a:r>
              <a:rPr lang="en-US" sz="2800" dirty="0"/>
              <a:t> </a:t>
            </a:r>
            <a:r>
              <a:rPr lang="en-US" sz="2800" dirty="0" err="1"/>
              <a:t>sürdürülmesi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hedeflere</a:t>
            </a:r>
            <a:r>
              <a:rPr lang="en-US" sz="2800" dirty="0"/>
              <a:t> </a:t>
            </a:r>
            <a:r>
              <a:rPr lang="en-US" sz="2800" dirty="0" err="1"/>
              <a:t>ulaşılması</a:t>
            </a:r>
            <a:r>
              <a:rPr lang="en-US" sz="2800" dirty="0"/>
              <a:t> için </a:t>
            </a:r>
            <a:r>
              <a:rPr lang="en-US" sz="2800" dirty="0" err="1"/>
              <a:t>diğerlerinden</a:t>
            </a:r>
            <a:r>
              <a:rPr lang="en-US" sz="2800" dirty="0"/>
              <a:t> </a:t>
            </a:r>
            <a:r>
              <a:rPr lang="en-US" sz="2800" dirty="0" err="1"/>
              <a:t>daha</a:t>
            </a:r>
            <a:r>
              <a:rPr lang="en-US" sz="2800" dirty="0"/>
              <a:t> </a:t>
            </a:r>
            <a:r>
              <a:rPr lang="en-US" sz="2800" dirty="0" err="1"/>
              <a:t>önemli</a:t>
            </a:r>
            <a:r>
              <a:rPr lang="en-US" sz="2800" dirty="0"/>
              <a:t> </a:t>
            </a:r>
            <a:r>
              <a:rPr lang="en-US" sz="2800" dirty="0" err="1"/>
              <a:t>olan</a:t>
            </a:r>
            <a:r>
              <a:rPr lang="en-US" sz="2800" dirty="0"/>
              <a:t> </a:t>
            </a:r>
            <a:r>
              <a:rPr lang="en-US" sz="2800" dirty="0" err="1"/>
              <a:t>iş</a:t>
            </a:r>
            <a:r>
              <a:rPr lang="en-US" sz="2800" dirty="0"/>
              <a:t> </a:t>
            </a:r>
            <a:r>
              <a:rPr lang="en-US" sz="2800" dirty="0" err="1"/>
              <a:t>süreçleri</a:t>
            </a: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8849"/>
            <a:ext cx="8026400" cy="1051057"/>
          </a:xfrm>
        </p:spPr>
        <p:txBody>
          <a:bodyPr/>
          <a:lstStyle/>
          <a:p>
            <a:r>
              <a:rPr lang="en-US" sz="4000" dirty="0"/>
              <a:t>Disaster Recovery</a:t>
            </a:r>
            <a:br>
              <a:rPr lang="en-US" sz="4000" dirty="0"/>
            </a:br>
            <a:r>
              <a:rPr lang="en-US" sz="4000" dirty="0" err="1"/>
              <a:t>Felaketten</a:t>
            </a:r>
            <a:r>
              <a:rPr lang="en-US" sz="4000" dirty="0"/>
              <a:t> </a:t>
            </a:r>
            <a:r>
              <a:rPr lang="en-US" sz="4000" dirty="0" err="1"/>
              <a:t>Kurtarma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2771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4401205"/>
          </a:xfrm>
        </p:spPr>
        <p:txBody>
          <a:bodyPr/>
          <a:lstStyle/>
          <a:p>
            <a:r>
              <a:rPr lang="en-US" sz="2800" dirty="0" err="1"/>
              <a:t>Güvenlik</a:t>
            </a:r>
            <a:r>
              <a:rPr lang="en-US" sz="2800" dirty="0"/>
              <a:t> </a:t>
            </a:r>
            <a:r>
              <a:rPr lang="en-US" sz="2800" dirty="0" err="1"/>
              <a:t>politikası</a:t>
            </a:r>
            <a:r>
              <a:rPr lang="en-US" sz="2800" dirty="0"/>
              <a:t>: Bir </a:t>
            </a:r>
            <a:r>
              <a:rPr lang="en-US" sz="2800" dirty="0" err="1"/>
              <a:t>kuruluşun</a:t>
            </a:r>
            <a:r>
              <a:rPr lang="en-US" sz="2800" dirty="0"/>
              <a:t> </a:t>
            </a:r>
            <a:r>
              <a:rPr lang="en-US" sz="2800" dirty="0" err="1"/>
              <a:t>güvenlik</a:t>
            </a:r>
            <a:r>
              <a:rPr lang="en-US" sz="2800" dirty="0"/>
              <a:t> </a:t>
            </a:r>
            <a:r>
              <a:rPr lang="en-US" sz="2800" dirty="0" err="1"/>
              <a:t>gereksinimlerinin</a:t>
            </a:r>
            <a:r>
              <a:rPr lang="en-US" sz="2800" dirty="0"/>
              <a:t> </a:t>
            </a:r>
            <a:r>
              <a:rPr lang="en-US" sz="2800" dirty="0" err="1"/>
              <a:t>yanı</a:t>
            </a:r>
            <a:r>
              <a:rPr lang="en-US" sz="2800" dirty="0"/>
              <a:t> </a:t>
            </a:r>
            <a:r>
              <a:rPr lang="en-US" sz="2800" dirty="0" err="1"/>
              <a:t>sıra</a:t>
            </a:r>
            <a:r>
              <a:rPr lang="en-US" sz="2800" dirty="0"/>
              <a:t> </a:t>
            </a:r>
            <a:r>
              <a:rPr lang="en-US" sz="2800" dirty="0" err="1"/>
              <a:t>bu</a:t>
            </a:r>
            <a:r>
              <a:rPr lang="en-US" sz="2800" dirty="0"/>
              <a:t> </a:t>
            </a:r>
            <a:r>
              <a:rPr lang="en-US" sz="2800" dirty="0" err="1"/>
              <a:t>gereksinimleri</a:t>
            </a:r>
            <a:r>
              <a:rPr lang="en-US" sz="2800" dirty="0"/>
              <a:t> </a:t>
            </a:r>
            <a:r>
              <a:rPr lang="en-US" sz="2800" dirty="0" err="1"/>
              <a:t>karşılamak</a:t>
            </a:r>
            <a:r>
              <a:rPr lang="en-US" sz="2800" dirty="0"/>
              <a:t> için </a:t>
            </a:r>
            <a:r>
              <a:rPr lang="en-US" sz="2800" dirty="0" err="1"/>
              <a:t>gereken</a:t>
            </a:r>
            <a:r>
              <a:rPr lang="en-US" sz="2800" dirty="0"/>
              <a:t> </a:t>
            </a:r>
            <a:r>
              <a:rPr lang="en-US" sz="2800" dirty="0" err="1"/>
              <a:t>kontrolleri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yaptırımları</a:t>
            </a:r>
            <a:r>
              <a:rPr lang="en-US" sz="2800" dirty="0"/>
              <a:t> </a:t>
            </a:r>
            <a:r>
              <a:rPr lang="en-US" sz="2800" dirty="0" err="1"/>
              <a:t>tanımlayan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politika</a:t>
            </a:r>
            <a:endParaRPr lang="en-US" sz="2800" dirty="0"/>
          </a:p>
          <a:p>
            <a:pPr lvl="1"/>
            <a:r>
              <a:rPr lang="en-US" sz="2600" dirty="0"/>
              <a:t>İyi </a:t>
            </a:r>
            <a:r>
              <a:rPr lang="en-US" sz="2600" dirty="0" err="1"/>
              <a:t>bir</a:t>
            </a:r>
            <a:r>
              <a:rPr lang="en-US" sz="2600" dirty="0"/>
              <a:t> </a:t>
            </a:r>
            <a:r>
              <a:rPr lang="en-US" sz="2600" dirty="0" err="1"/>
              <a:t>güvenlik</a:t>
            </a:r>
            <a:r>
              <a:rPr lang="en-US" sz="2600" dirty="0"/>
              <a:t> </a:t>
            </a:r>
            <a:r>
              <a:rPr lang="en-US" sz="2600" dirty="0" err="1"/>
              <a:t>politikası</a:t>
            </a:r>
            <a:r>
              <a:rPr lang="en-US" sz="2600" dirty="0"/>
              <a:t>, </a:t>
            </a:r>
            <a:r>
              <a:rPr lang="en-US" sz="2600" dirty="0" err="1"/>
              <a:t>sorumlulukları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</a:t>
            </a:r>
            <a:r>
              <a:rPr lang="en-US" sz="2600" dirty="0" err="1"/>
              <a:t>kuruluş</a:t>
            </a:r>
            <a:r>
              <a:rPr lang="en-US" sz="2600" dirty="0"/>
              <a:t> </a:t>
            </a:r>
            <a:r>
              <a:rPr lang="en-US" sz="2600" dirty="0" err="1"/>
              <a:t>üyelerinden</a:t>
            </a:r>
            <a:r>
              <a:rPr lang="en-US" sz="2600" dirty="0"/>
              <a:t> </a:t>
            </a:r>
            <a:r>
              <a:rPr lang="en-US" sz="2600" dirty="0" err="1"/>
              <a:t>beklenen</a:t>
            </a:r>
            <a:r>
              <a:rPr lang="en-US" sz="2600" dirty="0"/>
              <a:t> </a:t>
            </a:r>
            <a:r>
              <a:rPr lang="en-US" sz="2600" dirty="0" err="1"/>
              <a:t>davranışları</a:t>
            </a:r>
            <a:r>
              <a:rPr lang="en-US" sz="2600" dirty="0"/>
              <a:t> </a:t>
            </a:r>
            <a:r>
              <a:rPr lang="en-US" sz="2600" dirty="0" err="1"/>
              <a:t>tanımlar</a:t>
            </a:r>
            <a:r>
              <a:rPr lang="en-US" sz="2600" dirty="0"/>
              <a:t>.</a:t>
            </a:r>
          </a:p>
          <a:p>
            <a:r>
              <a:rPr lang="en-US" sz="2800" dirty="0" err="1"/>
              <a:t>Güvenlik</a:t>
            </a:r>
            <a:r>
              <a:rPr lang="en-US" sz="2800" dirty="0"/>
              <a:t> </a:t>
            </a:r>
            <a:r>
              <a:rPr lang="en-US" sz="2800" dirty="0" err="1"/>
              <a:t>denetimi</a:t>
            </a:r>
            <a:r>
              <a:rPr lang="en-US" sz="2800" dirty="0"/>
              <a:t>: Bir </a:t>
            </a:r>
            <a:r>
              <a:rPr lang="en-US" sz="2800" dirty="0" err="1"/>
              <a:t>kuruluşun</a:t>
            </a:r>
            <a:r>
              <a:rPr lang="en-US" sz="2800" dirty="0"/>
              <a:t> iyi </a:t>
            </a:r>
            <a:r>
              <a:rPr lang="en-US" sz="2800" dirty="0" err="1"/>
              <a:t>düşünülmüş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güvenlik</a:t>
            </a:r>
            <a:r>
              <a:rPr lang="en-US" sz="2800" dirty="0"/>
              <a:t> </a:t>
            </a:r>
            <a:r>
              <a:rPr lang="en-US" sz="2800" dirty="0" err="1"/>
              <a:t>politikasına</a:t>
            </a:r>
            <a:r>
              <a:rPr lang="en-US" sz="2800" dirty="0"/>
              <a:t> </a:t>
            </a:r>
            <a:r>
              <a:rPr lang="en-US" sz="2800" dirty="0" err="1"/>
              <a:t>sahip</a:t>
            </a:r>
            <a:r>
              <a:rPr lang="en-US" sz="2800" dirty="0"/>
              <a:t> </a:t>
            </a:r>
            <a:r>
              <a:rPr lang="en-US" sz="2800" dirty="0" err="1"/>
              <a:t>olup</a:t>
            </a:r>
            <a:r>
              <a:rPr lang="en-US" sz="2800" dirty="0"/>
              <a:t> </a:t>
            </a:r>
            <a:r>
              <a:rPr lang="en-US" sz="2800" dirty="0" err="1"/>
              <a:t>olmadığını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bu</a:t>
            </a:r>
            <a:r>
              <a:rPr lang="en-US" sz="2800" dirty="0"/>
              <a:t> </a:t>
            </a:r>
            <a:r>
              <a:rPr lang="en-US" sz="2800" dirty="0" err="1"/>
              <a:t>politikaya</a:t>
            </a:r>
            <a:r>
              <a:rPr lang="en-US" sz="2800" dirty="0"/>
              <a:t> </a:t>
            </a:r>
            <a:r>
              <a:rPr lang="en-US" sz="2800" dirty="0" err="1"/>
              <a:t>uyulup</a:t>
            </a:r>
            <a:r>
              <a:rPr lang="en-US" sz="2800" dirty="0"/>
              <a:t> </a:t>
            </a:r>
            <a:r>
              <a:rPr lang="en-US" sz="2800" dirty="0" err="1"/>
              <a:t>uyulmadığını</a:t>
            </a:r>
            <a:r>
              <a:rPr lang="en-US" sz="2800" dirty="0"/>
              <a:t> </a:t>
            </a:r>
            <a:r>
              <a:rPr lang="en-US" sz="2800" dirty="0" err="1"/>
              <a:t>değerlendiren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denetim</a:t>
            </a: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-53044"/>
            <a:ext cx="8229600" cy="1574277"/>
          </a:xfrm>
        </p:spPr>
        <p:txBody>
          <a:bodyPr/>
          <a:lstStyle/>
          <a:p>
            <a:r>
              <a:rPr lang="en-US" sz="4000" dirty="0"/>
              <a:t>Security Policies and Security Audits</a:t>
            </a:r>
            <a:br>
              <a:rPr lang="en-US" sz="4000" dirty="0"/>
            </a:br>
            <a:r>
              <a:rPr lang="en-US" sz="4000" dirty="0" err="1"/>
              <a:t>Güvenlik</a:t>
            </a:r>
            <a:r>
              <a:rPr lang="en-US" sz="4000" dirty="0"/>
              <a:t> </a:t>
            </a:r>
            <a:r>
              <a:rPr lang="en-US" sz="4000" dirty="0" err="1"/>
              <a:t>Politikaları</a:t>
            </a:r>
            <a:r>
              <a:rPr lang="en-US" sz="4000" dirty="0"/>
              <a:t> </a:t>
            </a:r>
            <a:r>
              <a:rPr lang="en-US" sz="4000" dirty="0" err="1"/>
              <a:t>ve</a:t>
            </a:r>
            <a:r>
              <a:rPr lang="en-US" sz="4000" dirty="0"/>
              <a:t> </a:t>
            </a:r>
            <a:r>
              <a:rPr lang="en-US" sz="4000" dirty="0" err="1"/>
              <a:t>Güvenlik</a:t>
            </a:r>
            <a:r>
              <a:rPr lang="en-US" sz="4000" dirty="0"/>
              <a:t> </a:t>
            </a:r>
            <a:r>
              <a:rPr lang="en-US" sz="4000" dirty="0" err="1"/>
              <a:t>Denetimleri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452344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219200"/>
            <a:ext cx="8313738" cy="5293757"/>
          </a:xfrm>
        </p:spPr>
        <p:txBody>
          <a:bodyPr/>
          <a:lstStyle/>
          <a:p>
            <a:r>
              <a:rPr lang="en-US" sz="2800" dirty="0"/>
              <a:t>Bir </a:t>
            </a:r>
            <a:r>
              <a:rPr lang="en-US" sz="2800" dirty="0" err="1"/>
              <a:t>kuruluşun</a:t>
            </a:r>
            <a:r>
              <a:rPr lang="en-US" sz="2800" dirty="0"/>
              <a:t> </a:t>
            </a:r>
            <a:r>
              <a:rPr lang="en-US" sz="2800" dirty="0" err="1"/>
              <a:t>harici</a:t>
            </a:r>
            <a:r>
              <a:rPr lang="en-US" sz="2800" dirty="0"/>
              <a:t> </a:t>
            </a:r>
            <a:r>
              <a:rPr lang="en-US" sz="2800" dirty="0" err="1"/>
              <a:t>standartlara</a:t>
            </a:r>
            <a:r>
              <a:rPr lang="en-US" sz="2800" dirty="0"/>
              <a:t> </a:t>
            </a:r>
            <a:r>
              <a:rPr lang="en-US" sz="2800" dirty="0" err="1"/>
              <a:t>uyması</a:t>
            </a:r>
            <a:r>
              <a:rPr lang="en-US" sz="2800" dirty="0"/>
              <a:t> </a:t>
            </a:r>
            <a:r>
              <a:rPr lang="en-US" sz="2800" dirty="0" err="1"/>
              <a:t>gerekebilir</a:t>
            </a:r>
            <a:r>
              <a:rPr lang="en-US" sz="2800" dirty="0"/>
              <a:t>; </a:t>
            </a:r>
            <a:r>
              <a:rPr lang="en-US" sz="2800" dirty="0" err="1"/>
              <a:t>örnekler</a:t>
            </a:r>
            <a:r>
              <a:rPr lang="en-US" sz="2800" dirty="0"/>
              <a:t> </a:t>
            </a:r>
            <a:r>
              <a:rPr lang="en-US" sz="2800" dirty="0" err="1"/>
              <a:t>şunlardır</a:t>
            </a:r>
            <a:r>
              <a:rPr lang="en-US" sz="2800" dirty="0"/>
              <a:t>: </a:t>
            </a:r>
          </a:p>
          <a:p>
            <a:pPr lvl="1"/>
            <a:r>
              <a:rPr lang="en-US" sz="2600" dirty="0"/>
              <a:t>1970 </a:t>
            </a:r>
            <a:r>
              <a:rPr lang="en-US" sz="2600" dirty="0" err="1"/>
              <a:t>tarihli</a:t>
            </a:r>
            <a:r>
              <a:rPr lang="en-US" sz="2600" dirty="0"/>
              <a:t> Banka </a:t>
            </a:r>
            <a:r>
              <a:rPr lang="en-US" sz="2600" dirty="0" err="1"/>
              <a:t>Gizlilik</a:t>
            </a:r>
            <a:r>
              <a:rPr lang="en-US" sz="2600" dirty="0"/>
              <a:t> </a:t>
            </a:r>
            <a:r>
              <a:rPr lang="en-US" sz="2600" dirty="0" err="1"/>
              <a:t>Yasası</a:t>
            </a:r>
            <a:endParaRPr lang="en-US" sz="2600" dirty="0"/>
          </a:p>
          <a:p>
            <a:pPr lvl="1"/>
            <a:r>
              <a:rPr lang="en-US" sz="2600" dirty="0"/>
              <a:t>Amerika </a:t>
            </a:r>
            <a:r>
              <a:rPr lang="en-US" sz="2600" dirty="0" err="1"/>
              <a:t>Birleşik</a:t>
            </a:r>
            <a:r>
              <a:rPr lang="en-US" sz="2600" dirty="0"/>
              <a:t> </a:t>
            </a:r>
            <a:r>
              <a:rPr lang="en-US" sz="2600" dirty="0" err="1"/>
              <a:t>Devletleri'ndeki</a:t>
            </a:r>
            <a:r>
              <a:rPr lang="en-US" sz="2600" dirty="0"/>
              <a:t> </a:t>
            </a:r>
            <a:r>
              <a:rPr lang="en-US" sz="2600" dirty="0" err="1"/>
              <a:t>finans</a:t>
            </a:r>
            <a:r>
              <a:rPr lang="en-US" sz="2600" dirty="0"/>
              <a:t> </a:t>
            </a:r>
            <a:r>
              <a:rPr lang="en-US" sz="2600" dirty="0" err="1"/>
              <a:t>kuruluşlarının</a:t>
            </a:r>
            <a:r>
              <a:rPr lang="en-US" sz="2600" dirty="0"/>
              <a:t> kara para </a:t>
            </a:r>
            <a:r>
              <a:rPr lang="en-US" sz="2600" dirty="0" err="1"/>
              <a:t>aklamanın</a:t>
            </a:r>
            <a:r>
              <a:rPr lang="en-US" sz="2600" dirty="0"/>
              <a:t> </a:t>
            </a:r>
            <a:r>
              <a:rPr lang="en-US" sz="2600" dirty="0" err="1"/>
              <a:t>tespit</a:t>
            </a:r>
            <a:r>
              <a:rPr lang="en-US" sz="2600" dirty="0"/>
              <a:t> </a:t>
            </a:r>
            <a:r>
              <a:rPr lang="en-US" sz="2600" dirty="0" err="1"/>
              <a:t>edilmesi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</a:t>
            </a:r>
            <a:r>
              <a:rPr lang="en-US" sz="2600" dirty="0" err="1"/>
              <a:t>önlenmesinde</a:t>
            </a:r>
            <a:r>
              <a:rPr lang="en-US" sz="2600" dirty="0"/>
              <a:t> ABD </a:t>
            </a:r>
            <a:r>
              <a:rPr lang="en-US" sz="2600" dirty="0" err="1"/>
              <a:t>devlet</a:t>
            </a:r>
            <a:r>
              <a:rPr lang="en-US" sz="2600" dirty="0"/>
              <a:t> </a:t>
            </a:r>
            <a:r>
              <a:rPr lang="en-US" sz="2600" dirty="0" err="1"/>
              <a:t>kurumlarına</a:t>
            </a:r>
            <a:r>
              <a:rPr lang="en-US" sz="2600" dirty="0"/>
              <a:t> </a:t>
            </a:r>
            <a:r>
              <a:rPr lang="en-US" sz="2600" dirty="0" err="1"/>
              <a:t>yardımcı</a:t>
            </a:r>
            <a:r>
              <a:rPr lang="en-US" sz="2600" dirty="0"/>
              <a:t> </a:t>
            </a:r>
            <a:r>
              <a:rPr lang="en-US" sz="2600" dirty="0" err="1"/>
              <a:t>olmasını</a:t>
            </a:r>
            <a:r>
              <a:rPr lang="en-US" sz="2600" dirty="0"/>
              <a:t> </a:t>
            </a:r>
            <a:r>
              <a:rPr lang="en-US" sz="2600" dirty="0" err="1"/>
              <a:t>gerektirir</a:t>
            </a:r>
            <a:endParaRPr lang="en-US" sz="2600" dirty="0"/>
          </a:p>
          <a:p>
            <a:r>
              <a:rPr lang="en-US" sz="2800" dirty="0"/>
              <a:t>Federal Bilgi </a:t>
            </a:r>
            <a:r>
              <a:rPr lang="en-US" sz="2800" dirty="0" err="1"/>
              <a:t>Güvenliği</a:t>
            </a:r>
            <a:r>
              <a:rPr lang="en-US" sz="2800" dirty="0"/>
              <a:t> </a:t>
            </a:r>
            <a:r>
              <a:rPr lang="en-US" sz="2800" dirty="0" err="1"/>
              <a:t>Yönetimi</a:t>
            </a:r>
            <a:r>
              <a:rPr lang="en-US" sz="2800" dirty="0"/>
              <a:t> </a:t>
            </a:r>
            <a:r>
              <a:rPr lang="en-US" sz="2800" dirty="0" err="1"/>
              <a:t>Yasası</a:t>
            </a:r>
            <a:endParaRPr lang="en-US" sz="2800" dirty="0"/>
          </a:p>
          <a:p>
            <a:pPr lvl="1"/>
            <a:r>
              <a:rPr lang="en-US" sz="2600" dirty="0"/>
              <a:t>Her federal </a:t>
            </a:r>
            <a:r>
              <a:rPr lang="en-US" sz="2600" dirty="0" err="1"/>
              <a:t>kurumun</a:t>
            </a:r>
            <a:r>
              <a:rPr lang="en-US" sz="2600" dirty="0"/>
              <a:t>, </a:t>
            </a:r>
            <a:r>
              <a:rPr lang="en-US" sz="2600" dirty="0" err="1"/>
              <a:t>kurumun</a:t>
            </a:r>
            <a:r>
              <a:rPr lang="en-US" sz="2600" dirty="0"/>
              <a:t> </a:t>
            </a:r>
            <a:r>
              <a:rPr lang="en-US" sz="2600" dirty="0" err="1"/>
              <a:t>faaliyetlerini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</a:t>
            </a:r>
            <a:r>
              <a:rPr lang="en-US" sz="2600" dirty="0" err="1"/>
              <a:t>varlıklarını</a:t>
            </a:r>
            <a:r>
              <a:rPr lang="en-US" sz="2600" dirty="0"/>
              <a:t> </a:t>
            </a:r>
            <a:r>
              <a:rPr lang="en-US" sz="2600" dirty="0" err="1"/>
              <a:t>destekleyen</a:t>
            </a:r>
            <a:r>
              <a:rPr lang="en-US" sz="2600" dirty="0"/>
              <a:t> </a:t>
            </a:r>
            <a:r>
              <a:rPr lang="en-US" sz="2600" dirty="0" err="1"/>
              <a:t>veri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</a:t>
            </a:r>
            <a:r>
              <a:rPr lang="en-US" sz="2600" dirty="0" err="1"/>
              <a:t>bilgi</a:t>
            </a:r>
            <a:r>
              <a:rPr lang="en-US" sz="2600" dirty="0"/>
              <a:t> </a:t>
            </a:r>
            <a:r>
              <a:rPr lang="en-US" sz="2600" dirty="0" err="1"/>
              <a:t>sistemleri</a:t>
            </a:r>
            <a:r>
              <a:rPr lang="en-US" sz="2600" dirty="0"/>
              <a:t> için </a:t>
            </a:r>
            <a:r>
              <a:rPr lang="en-US" sz="2600" dirty="0" err="1"/>
              <a:t>bilgi</a:t>
            </a:r>
            <a:r>
              <a:rPr lang="en-US" sz="2600" dirty="0"/>
              <a:t> </a:t>
            </a:r>
            <a:r>
              <a:rPr lang="en-US" sz="2600" dirty="0" err="1"/>
              <a:t>güvenliği</a:t>
            </a:r>
            <a:r>
              <a:rPr lang="en-US" sz="2600" dirty="0"/>
              <a:t> </a:t>
            </a:r>
            <a:r>
              <a:rPr lang="en-US" sz="2600" dirty="0" err="1"/>
              <a:t>sağlamasını</a:t>
            </a:r>
            <a:r>
              <a:rPr lang="en-US" sz="2600" dirty="0"/>
              <a:t> </a:t>
            </a:r>
            <a:r>
              <a:rPr lang="en-US" sz="2600" dirty="0" err="1"/>
              <a:t>gerektirir</a:t>
            </a:r>
            <a:endParaRPr lang="en-US" sz="2600" dirty="0"/>
          </a:p>
          <a:p>
            <a:r>
              <a:rPr lang="en-US" sz="2800" dirty="0" err="1"/>
              <a:t>Sağlık</a:t>
            </a:r>
            <a:r>
              <a:rPr lang="en-US" sz="2800" dirty="0"/>
              <a:t> </a:t>
            </a:r>
            <a:r>
              <a:rPr lang="en-US" sz="2800" dirty="0" err="1"/>
              <a:t>Sigortası</a:t>
            </a:r>
            <a:r>
              <a:rPr lang="en-US" sz="2800" dirty="0"/>
              <a:t> </a:t>
            </a:r>
            <a:r>
              <a:rPr lang="en-US" sz="2800" dirty="0" err="1"/>
              <a:t>Taşınabilirlik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Sorumluluk</a:t>
            </a:r>
            <a:r>
              <a:rPr lang="en-US" sz="2800" dirty="0"/>
              <a:t> </a:t>
            </a:r>
            <a:r>
              <a:rPr lang="en-US" sz="2800" dirty="0" err="1"/>
              <a:t>Yasası</a:t>
            </a:r>
            <a:endParaRPr lang="en-US" sz="2800" dirty="0"/>
          </a:p>
          <a:p>
            <a:pPr lvl="1"/>
            <a:r>
              <a:rPr lang="en-US" sz="2600" dirty="0"/>
              <a:t>Bir </a:t>
            </a:r>
            <a:r>
              <a:rPr lang="en-US" sz="2600" dirty="0" err="1"/>
              <a:t>bireyin</a:t>
            </a:r>
            <a:r>
              <a:rPr lang="en-US" sz="2600" dirty="0"/>
              <a:t> </a:t>
            </a:r>
            <a:r>
              <a:rPr lang="en-US" sz="2600" dirty="0" err="1"/>
              <a:t>sağlık</a:t>
            </a:r>
            <a:r>
              <a:rPr lang="en-US" sz="2600" dirty="0"/>
              <a:t> </a:t>
            </a:r>
            <a:r>
              <a:rPr lang="en-US" sz="2600" dirty="0" err="1"/>
              <a:t>bilgilerinin</a:t>
            </a:r>
            <a:r>
              <a:rPr lang="en-US" sz="2600" dirty="0"/>
              <a:t> </a:t>
            </a:r>
            <a:r>
              <a:rPr lang="en-US" sz="2600" dirty="0" err="1"/>
              <a:t>kullanımını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</a:t>
            </a:r>
            <a:r>
              <a:rPr lang="en-US" sz="2600" dirty="0" err="1"/>
              <a:t>ifşasını</a:t>
            </a:r>
            <a:r>
              <a:rPr lang="en-US" sz="2600" dirty="0"/>
              <a:t> </a:t>
            </a:r>
            <a:r>
              <a:rPr lang="en-US" sz="2600" dirty="0" err="1"/>
              <a:t>düzenler</a:t>
            </a:r>
            <a:endParaRPr lang="en-US" sz="2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8849"/>
            <a:ext cx="8026400" cy="1051057"/>
          </a:xfrm>
        </p:spPr>
        <p:txBody>
          <a:bodyPr/>
          <a:lstStyle/>
          <a:p>
            <a:r>
              <a:rPr lang="en-US" sz="4000" dirty="0"/>
              <a:t>Regulatory Standards Compliance</a:t>
            </a:r>
            <a:br>
              <a:rPr lang="en-US" sz="4000" dirty="0"/>
            </a:br>
            <a:r>
              <a:rPr lang="en-US" sz="4000" dirty="0" err="1"/>
              <a:t>Düzenleyici</a:t>
            </a:r>
            <a:r>
              <a:rPr lang="en-US" sz="4000" dirty="0"/>
              <a:t> </a:t>
            </a:r>
            <a:r>
              <a:rPr lang="en-US" sz="4000" dirty="0" err="1"/>
              <a:t>Standartlara</a:t>
            </a:r>
            <a:r>
              <a:rPr lang="en-US" sz="4000" dirty="0"/>
              <a:t> </a:t>
            </a:r>
            <a:r>
              <a:rPr lang="en-US" sz="4000" dirty="0" err="1"/>
              <a:t>Uyum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021773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295400"/>
            <a:ext cx="8415338" cy="3917996"/>
          </a:xfrm>
        </p:spPr>
        <p:txBody>
          <a:bodyPr/>
          <a:lstStyle/>
          <a:p>
            <a:r>
              <a:rPr lang="en-US" sz="2800" dirty="0" err="1"/>
              <a:t>Güvenlik</a:t>
            </a:r>
            <a:r>
              <a:rPr lang="en-US" sz="2800" dirty="0"/>
              <a:t> </a:t>
            </a:r>
            <a:r>
              <a:rPr lang="en-US" sz="2800" dirty="0" err="1"/>
              <a:t>kontrol</a:t>
            </a:r>
            <a:r>
              <a:rPr lang="en-US" sz="2800" dirty="0"/>
              <a:t> </a:t>
            </a:r>
            <a:r>
              <a:rPr lang="en-US" sz="2800" dirty="0" err="1"/>
              <a:t>paneli</a:t>
            </a:r>
            <a:r>
              <a:rPr lang="en-US" sz="2800" dirty="0"/>
              <a:t> </a:t>
            </a:r>
            <a:r>
              <a:rPr lang="en-US" sz="2800" dirty="0" err="1"/>
              <a:t>yazılımı</a:t>
            </a:r>
            <a:endParaRPr lang="en-US" sz="2800" dirty="0"/>
          </a:p>
          <a:p>
            <a:pPr lvl="1"/>
            <a:r>
              <a:rPr lang="en-US" sz="2600" dirty="0"/>
              <a:t>Bir </a:t>
            </a:r>
            <a:r>
              <a:rPr lang="en-US" sz="2600" dirty="0" err="1"/>
              <a:t>kuruluşun</a:t>
            </a:r>
            <a:r>
              <a:rPr lang="en-US" sz="2600" dirty="0"/>
              <a:t> </a:t>
            </a:r>
            <a:r>
              <a:rPr lang="en-US" sz="2600" dirty="0" err="1"/>
              <a:t>güvenlik</a:t>
            </a:r>
            <a:r>
              <a:rPr lang="en-US" sz="2600" dirty="0"/>
              <a:t> </a:t>
            </a:r>
            <a:r>
              <a:rPr lang="en-US" sz="2600" dirty="0" err="1"/>
              <a:t>savunmalarıyla</a:t>
            </a:r>
            <a:r>
              <a:rPr lang="en-US" sz="2600" dirty="0"/>
              <a:t> </a:t>
            </a:r>
            <a:r>
              <a:rPr lang="en-US" sz="2600" dirty="0" err="1"/>
              <a:t>ilgili</a:t>
            </a:r>
            <a:r>
              <a:rPr lang="en-US" sz="2600" dirty="0"/>
              <a:t> </a:t>
            </a:r>
            <a:r>
              <a:rPr lang="en-US" sz="2600" dirty="0" err="1"/>
              <a:t>tüm</a:t>
            </a:r>
            <a:r>
              <a:rPr lang="en-US" sz="2600" dirty="0"/>
              <a:t> </a:t>
            </a:r>
            <a:r>
              <a:rPr lang="en-US" sz="2600" dirty="0" err="1"/>
              <a:t>temel</a:t>
            </a:r>
            <a:r>
              <a:rPr lang="en-US" sz="2600" dirty="0"/>
              <a:t> </a:t>
            </a:r>
            <a:r>
              <a:rPr lang="en-US" sz="2600" dirty="0" err="1"/>
              <a:t>performans</a:t>
            </a:r>
            <a:r>
              <a:rPr lang="en-US" sz="2600" dirty="0"/>
              <a:t> </a:t>
            </a:r>
            <a:r>
              <a:rPr lang="en-US" sz="2600" dirty="0" err="1"/>
              <a:t>göstergelerinin</a:t>
            </a:r>
            <a:r>
              <a:rPr lang="en-US" sz="2600" dirty="0"/>
              <a:t> </a:t>
            </a:r>
            <a:r>
              <a:rPr lang="en-US" sz="2600" dirty="0" err="1"/>
              <a:t>kapsamlı</a:t>
            </a:r>
            <a:r>
              <a:rPr lang="en-US" sz="2600" dirty="0"/>
              <a:t> </a:t>
            </a:r>
            <a:r>
              <a:rPr lang="en-US" sz="2600" dirty="0" err="1"/>
              <a:t>bir</a:t>
            </a:r>
            <a:r>
              <a:rPr lang="en-US" sz="2600" dirty="0"/>
              <a:t> </a:t>
            </a:r>
            <a:r>
              <a:rPr lang="en-US" sz="2600" dirty="0" err="1"/>
              <a:t>gösterimini</a:t>
            </a:r>
            <a:r>
              <a:rPr lang="en-US" sz="2600" dirty="0"/>
              <a:t> </a:t>
            </a:r>
            <a:r>
              <a:rPr lang="en-US" sz="2600" dirty="0" err="1"/>
              <a:t>sağlar</a:t>
            </a:r>
            <a:r>
              <a:rPr lang="en-US" sz="2600" dirty="0"/>
              <a:t>:</a:t>
            </a:r>
          </a:p>
          <a:p>
            <a:pPr lvl="2"/>
            <a:r>
              <a:rPr lang="en-US" sz="2400" dirty="0" err="1"/>
              <a:t>Tehditler</a:t>
            </a:r>
            <a:endParaRPr lang="en-US" sz="2400" dirty="0"/>
          </a:p>
          <a:p>
            <a:pPr lvl="2"/>
            <a:r>
              <a:rPr lang="en-US" sz="2400" dirty="0" err="1"/>
              <a:t>Maruziyetler</a:t>
            </a:r>
            <a:endParaRPr lang="en-US" sz="2400" dirty="0"/>
          </a:p>
          <a:p>
            <a:pPr lvl="2"/>
            <a:r>
              <a:rPr lang="en-US" sz="2400" dirty="0" err="1"/>
              <a:t>Politika</a:t>
            </a:r>
            <a:r>
              <a:rPr lang="en-US" sz="2400" dirty="0"/>
              <a:t> </a:t>
            </a:r>
            <a:r>
              <a:rPr lang="en-US" sz="2400" dirty="0" err="1"/>
              <a:t>uyumluluğu</a:t>
            </a:r>
            <a:endParaRPr lang="en-US" sz="2400" dirty="0"/>
          </a:p>
          <a:p>
            <a:pPr lvl="2"/>
            <a:r>
              <a:rPr lang="en-US" sz="2400" dirty="0"/>
              <a:t>Olay </a:t>
            </a:r>
            <a:r>
              <a:rPr lang="en-US" sz="2400" dirty="0" err="1"/>
              <a:t>uyarıları</a:t>
            </a:r>
            <a:endParaRPr lang="en-US" sz="2400" dirty="0"/>
          </a:p>
          <a:p>
            <a:r>
              <a:rPr lang="en-US" sz="2800" dirty="0" err="1"/>
              <a:t>Tehditleri</a:t>
            </a:r>
            <a:r>
              <a:rPr lang="en-US" sz="2800" dirty="0"/>
              <a:t> </a:t>
            </a:r>
            <a:r>
              <a:rPr lang="en-US" sz="2800" dirty="0" err="1"/>
              <a:t>izlemek</a:t>
            </a:r>
            <a:r>
              <a:rPr lang="en-US" sz="2800" dirty="0"/>
              <a:t>, </a:t>
            </a:r>
            <a:r>
              <a:rPr lang="en-US" sz="2800" dirty="0" err="1"/>
              <a:t>tanımlamak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bunlara</a:t>
            </a:r>
            <a:r>
              <a:rPr lang="en-US" sz="2800" dirty="0"/>
              <a:t> </a:t>
            </a:r>
            <a:r>
              <a:rPr lang="en-US" sz="2800" dirty="0" err="1"/>
              <a:t>yanıt</a:t>
            </a:r>
            <a:r>
              <a:rPr lang="en-US" sz="2800" dirty="0"/>
              <a:t> </a:t>
            </a:r>
            <a:r>
              <a:rPr lang="en-US" sz="2800" dirty="0" err="1"/>
              <a:t>vermek</a:t>
            </a:r>
            <a:r>
              <a:rPr lang="en-US" sz="2800" dirty="0"/>
              <a:t> için </a:t>
            </a:r>
            <a:r>
              <a:rPr lang="en-US" sz="2800" dirty="0" err="1"/>
              <a:t>gereken</a:t>
            </a:r>
            <a:r>
              <a:rPr lang="en-US" sz="2800" dirty="0"/>
              <a:t> </a:t>
            </a:r>
            <a:r>
              <a:rPr lang="en-US" sz="2800" dirty="0" err="1"/>
              <a:t>çabayı</a:t>
            </a:r>
            <a:r>
              <a:rPr lang="en-US" sz="2800" dirty="0"/>
              <a:t> </a:t>
            </a:r>
            <a:r>
              <a:rPr lang="en-US" sz="2800" dirty="0" err="1"/>
              <a:t>azaltır</a:t>
            </a:r>
            <a:endParaRPr lang="en-US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8849"/>
            <a:ext cx="8026400" cy="1051057"/>
          </a:xfrm>
        </p:spPr>
        <p:txBody>
          <a:bodyPr/>
          <a:lstStyle/>
          <a:p>
            <a:r>
              <a:rPr lang="en-US" sz="4000" dirty="0"/>
              <a:t>Security Dashboards</a:t>
            </a:r>
            <a:br>
              <a:rPr lang="en-US" sz="4000" dirty="0"/>
            </a:br>
            <a:r>
              <a:rPr lang="en-US" sz="4000" dirty="0" err="1"/>
              <a:t>Güvenlik</a:t>
            </a:r>
            <a:r>
              <a:rPr lang="en-US" sz="4000" dirty="0"/>
              <a:t> </a:t>
            </a:r>
            <a:r>
              <a:rPr lang="en-US" sz="4000" dirty="0" err="1"/>
              <a:t>Gösterge</a:t>
            </a:r>
            <a:r>
              <a:rPr lang="en-US" sz="4000" dirty="0"/>
              <a:t> </a:t>
            </a:r>
            <a:r>
              <a:rPr lang="en-US" sz="4000" dirty="0" err="1"/>
              <a:t>Tabloları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642548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990600"/>
            <a:ext cx="8415338" cy="5749266"/>
          </a:xfrm>
        </p:spPr>
        <p:txBody>
          <a:bodyPr/>
          <a:lstStyle/>
          <a:p>
            <a:r>
              <a:rPr lang="en-US" sz="2800" dirty="0" err="1"/>
              <a:t>Kimlik</a:t>
            </a:r>
            <a:r>
              <a:rPr lang="en-US" sz="2800" dirty="0"/>
              <a:t> </a:t>
            </a:r>
            <a:r>
              <a:rPr lang="en-US" sz="2800" dirty="0" err="1"/>
              <a:t>doğrulama</a:t>
            </a:r>
            <a:r>
              <a:rPr lang="en-US" sz="2800" dirty="0"/>
              <a:t> </a:t>
            </a:r>
            <a:r>
              <a:rPr lang="en-US" sz="2800" dirty="0" err="1"/>
              <a:t>yöntemleri</a:t>
            </a:r>
            <a:endParaRPr lang="en-US" sz="2800" dirty="0"/>
          </a:p>
          <a:p>
            <a:pPr lvl="1"/>
            <a:r>
              <a:rPr lang="en-US" sz="2600" dirty="0"/>
              <a:t>Bir </a:t>
            </a:r>
            <a:r>
              <a:rPr lang="en-US" sz="2600" dirty="0" err="1"/>
              <a:t>kuruluş</a:t>
            </a:r>
            <a:r>
              <a:rPr lang="en-US" sz="2600" dirty="0"/>
              <a:t>, </a:t>
            </a:r>
            <a:r>
              <a:rPr lang="en-US" sz="2600" dirty="0" err="1"/>
              <a:t>ağına</a:t>
            </a:r>
            <a:r>
              <a:rPr lang="en-US" sz="2600" dirty="0"/>
              <a:t> </a:t>
            </a:r>
            <a:r>
              <a:rPr lang="en-US" sz="2600" dirty="0" err="1"/>
              <a:t>erişmeye</a:t>
            </a:r>
            <a:r>
              <a:rPr lang="en-US" sz="2600" dirty="0"/>
              <a:t> </a:t>
            </a:r>
            <a:r>
              <a:rPr lang="en-US" sz="2600" dirty="0" err="1"/>
              <a:t>çalışan</a:t>
            </a:r>
            <a:r>
              <a:rPr lang="en-US" sz="2600" dirty="0"/>
              <a:t> </a:t>
            </a:r>
            <a:r>
              <a:rPr lang="en-US" sz="2600" dirty="0" err="1"/>
              <a:t>kullanıcıların</a:t>
            </a:r>
            <a:r>
              <a:rPr lang="en-US" sz="2600" dirty="0"/>
              <a:t> </a:t>
            </a:r>
            <a:r>
              <a:rPr lang="en-US" sz="2600" dirty="0" err="1"/>
              <a:t>kimliklerini</a:t>
            </a:r>
            <a:r>
              <a:rPr lang="en-US" sz="2600" dirty="0"/>
              <a:t> </a:t>
            </a:r>
            <a:r>
              <a:rPr lang="en-US" sz="2600" dirty="0" err="1"/>
              <a:t>doğrulamalıdır</a:t>
            </a:r>
            <a:endParaRPr lang="en-US" sz="2600" dirty="0"/>
          </a:p>
          <a:p>
            <a:pPr lvl="2"/>
            <a:r>
              <a:rPr lang="en-US" sz="2400" dirty="0" err="1"/>
              <a:t>Kullanıcı</a:t>
            </a:r>
            <a:r>
              <a:rPr lang="en-US" sz="2400" dirty="0"/>
              <a:t> </a:t>
            </a:r>
            <a:r>
              <a:rPr lang="en-US" sz="2400" dirty="0" err="1"/>
              <a:t>adı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şifre</a:t>
            </a:r>
            <a:endParaRPr lang="en-US" sz="2400" dirty="0"/>
          </a:p>
          <a:p>
            <a:pPr lvl="2"/>
            <a:r>
              <a:rPr lang="en-US" sz="2400" dirty="0" err="1"/>
              <a:t>Akıllı</a:t>
            </a:r>
            <a:r>
              <a:rPr lang="en-US" sz="2400" dirty="0"/>
              <a:t> kart </a:t>
            </a:r>
            <a:r>
              <a:rPr lang="en-US" sz="2400" dirty="0" err="1"/>
              <a:t>ve</a:t>
            </a:r>
            <a:r>
              <a:rPr lang="en-US" sz="2400" dirty="0"/>
              <a:t> PIN</a:t>
            </a:r>
          </a:p>
          <a:p>
            <a:pPr lvl="2"/>
            <a:r>
              <a:rPr lang="en-US" sz="2400" dirty="0" err="1"/>
              <a:t>Parmak</a:t>
            </a:r>
            <a:r>
              <a:rPr lang="en-US" sz="2400" dirty="0"/>
              <a:t> </a:t>
            </a:r>
            <a:r>
              <a:rPr lang="en-US" sz="2400" dirty="0" err="1"/>
              <a:t>izi</a:t>
            </a:r>
            <a:endParaRPr lang="en-US" sz="2400" dirty="0"/>
          </a:p>
          <a:p>
            <a:pPr lvl="2"/>
            <a:r>
              <a:rPr lang="en-US" sz="2400" dirty="0" err="1"/>
              <a:t>Ses</a:t>
            </a:r>
            <a:r>
              <a:rPr lang="en-US" sz="2400" dirty="0"/>
              <a:t> </a:t>
            </a:r>
            <a:r>
              <a:rPr lang="en-US" sz="2400" dirty="0" err="1"/>
              <a:t>kalıbı</a:t>
            </a:r>
            <a:r>
              <a:rPr lang="en-US" sz="2400" dirty="0"/>
              <a:t> </a:t>
            </a:r>
            <a:r>
              <a:rPr lang="en-US" sz="2400" dirty="0" err="1"/>
              <a:t>örneği</a:t>
            </a:r>
            <a:endParaRPr lang="en-US" sz="2400" dirty="0"/>
          </a:p>
          <a:p>
            <a:pPr lvl="2"/>
            <a:r>
              <a:rPr lang="en-US" sz="2400" dirty="0"/>
              <a:t>Retina </a:t>
            </a:r>
            <a:r>
              <a:rPr lang="en-US" sz="2400" dirty="0" err="1"/>
              <a:t>taraması</a:t>
            </a:r>
            <a:endParaRPr lang="en-US" sz="2400" dirty="0"/>
          </a:p>
          <a:p>
            <a:r>
              <a:rPr lang="en-US" sz="2800" dirty="0" err="1"/>
              <a:t>Çok</a:t>
            </a:r>
            <a:r>
              <a:rPr lang="en-US" sz="2800" dirty="0"/>
              <a:t> </a:t>
            </a:r>
            <a:r>
              <a:rPr lang="en-US" sz="2800" dirty="0" err="1"/>
              <a:t>faktörlü</a:t>
            </a:r>
            <a:r>
              <a:rPr lang="en-US" sz="2800" dirty="0"/>
              <a:t> </a:t>
            </a:r>
            <a:r>
              <a:rPr lang="en-US" sz="2800" dirty="0" err="1"/>
              <a:t>kimlik</a:t>
            </a:r>
            <a:r>
              <a:rPr lang="en-US" sz="2800" dirty="0"/>
              <a:t> </a:t>
            </a:r>
            <a:r>
              <a:rPr lang="en-US" sz="2800" dirty="0" err="1"/>
              <a:t>doğrulama</a:t>
            </a:r>
            <a:r>
              <a:rPr lang="en-US" sz="2800" dirty="0"/>
              <a:t> </a:t>
            </a:r>
            <a:r>
              <a:rPr lang="en-US" sz="2800" dirty="0" err="1"/>
              <a:t>şemaları</a:t>
            </a:r>
            <a:r>
              <a:rPr lang="en-US" sz="2800" dirty="0"/>
              <a:t> </a:t>
            </a:r>
            <a:r>
              <a:rPr lang="en-US" sz="2800" dirty="0" err="1"/>
              <a:t>şunları</a:t>
            </a:r>
            <a:r>
              <a:rPr lang="en-US" sz="2800" dirty="0"/>
              <a:t> </a:t>
            </a:r>
            <a:r>
              <a:rPr lang="en-US" sz="2800" dirty="0" err="1"/>
              <a:t>içerir</a:t>
            </a:r>
            <a:r>
              <a:rPr lang="en-US" sz="2800" dirty="0"/>
              <a:t>: </a:t>
            </a:r>
          </a:p>
          <a:p>
            <a:pPr lvl="1"/>
            <a:r>
              <a:rPr lang="en-US" sz="2600" dirty="0" err="1"/>
              <a:t>Biyometri</a:t>
            </a:r>
            <a:endParaRPr lang="en-US" sz="2600" dirty="0"/>
          </a:p>
          <a:p>
            <a:pPr lvl="1"/>
            <a:r>
              <a:rPr lang="en-US" sz="2600" dirty="0"/>
              <a:t>Tek </a:t>
            </a:r>
            <a:r>
              <a:rPr lang="en-US" sz="2600" dirty="0" err="1"/>
              <a:t>kullanımlık</a:t>
            </a:r>
            <a:r>
              <a:rPr lang="en-US" sz="2600" dirty="0"/>
              <a:t> </a:t>
            </a:r>
            <a:r>
              <a:rPr lang="en-US" sz="2600" dirty="0" err="1"/>
              <a:t>şifreler</a:t>
            </a:r>
            <a:endParaRPr lang="en-US" sz="2600" dirty="0"/>
          </a:p>
          <a:p>
            <a:pPr lvl="1"/>
            <a:r>
              <a:rPr lang="en-US" sz="2600" dirty="0"/>
              <a:t>USB </a:t>
            </a:r>
            <a:r>
              <a:rPr lang="en-US" sz="2600" dirty="0" err="1"/>
              <a:t>bağlantı</a:t>
            </a:r>
            <a:r>
              <a:rPr lang="en-US" sz="2600" dirty="0"/>
              <a:t> </a:t>
            </a:r>
            <a:r>
              <a:rPr lang="en-US" sz="2600" dirty="0" err="1"/>
              <a:t>noktasına</a:t>
            </a:r>
            <a:r>
              <a:rPr lang="en-US" sz="2600" dirty="0"/>
              <a:t> </a:t>
            </a:r>
            <a:r>
              <a:rPr lang="en-US" sz="2600" dirty="0" err="1"/>
              <a:t>takılan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</a:t>
            </a:r>
            <a:r>
              <a:rPr lang="en-US" sz="2600" dirty="0" err="1"/>
              <a:t>bir</a:t>
            </a:r>
            <a:r>
              <a:rPr lang="en-US" sz="2600" dirty="0"/>
              <a:t> </a:t>
            </a:r>
            <a:r>
              <a:rPr lang="en-US" sz="2600" dirty="0" err="1"/>
              <a:t>parola</a:t>
            </a:r>
            <a:r>
              <a:rPr lang="en-US" sz="2600" dirty="0"/>
              <a:t> </a:t>
            </a:r>
            <a:r>
              <a:rPr lang="en-US" sz="2600" dirty="0" err="1"/>
              <a:t>oluşturan</a:t>
            </a:r>
            <a:r>
              <a:rPr lang="en-US" sz="2600" dirty="0"/>
              <a:t> </a:t>
            </a:r>
            <a:r>
              <a:rPr lang="en-US" sz="2600" dirty="0" err="1"/>
              <a:t>donanım</a:t>
            </a:r>
            <a:r>
              <a:rPr lang="en-US" sz="2600" dirty="0"/>
              <a:t> </a:t>
            </a:r>
            <a:r>
              <a:rPr lang="en-US" sz="2600" dirty="0" err="1"/>
              <a:t>belirteçleri</a:t>
            </a:r>
            <a:endParaRPr lang="en-US" sz="2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8849"/>
            <a:ext cx="8026400" cy="1051057"/>
          </a:xfrm>
        </p:spPr>
        <p:txBody>
          <a:bodyPr/>
          <a:lstStyle/>
          <a:p>
            <a:r>
              <a:rPr lang="en-US" sz="4000" dirty="0"/>
              <a:t>Implementing CIA at the Network Level</a:t>
            </a:r>
            <a:br>
              <a:rPr lang="en-US" sz="4000" dirty="0"/>
            </a:br>
            <a:r>
              <a:rPr lang="en-US" sz="4000" dirty="0" err="1"/>
              <a:t>CIA'in</a:t>
            </a:r>
            <a:r>
              <a:rPr lang="en-US" sz="4000" dirty="0"/>
              <a:t> </a:t>
            </a:r>
            <a:r>
              <a:rPr lang="en-US" sz="4000" dirty="0" err="1"/>
              <a:t>Ağ</a:t>
            </a:r>
            <a:r>
              <a:rPr lang="en-US" sz="4000" dirty="0"/>
              <a:t> </a:t>
            </a:r>
            <a:r>
              <a:rPr lang="en-US" sz="4000" dirty="0" err="1"/>
              <a:t>Düzeyinde</a:t>
            </a:r>
            <a:r>
              <a:rPr lang="en-US" sz="4000" dirty="0"/>
              <a:t> </a:t>
            </a:r>
            <a:r>
              <a:rPr lang="en-US" sz="4000" dirty="0" err="1"/>
              <a:t>Uygulanması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528355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5264518"/>
          </a:xfrm>
        </p:spPr>
        <p:txBody>
          <a:bodyPr/>
          <a:lstStyle/>
          <a:p>
            <a:r>
              <a:rPr lang="en-US" sz="2700" dirty="0" err="1"/>
              <a:t>Güvenlik</a:t>
            </a:r>
            <a:r>
              <a:rPr lang="en-US" sz="2700" dirty="0"/>
              <a:t> </a:t>
            </a:r>
            <a:r>
              <a:rPr lang="en-US" sz="2700" dirty="0" err="1"/>
              <a:t>Duvarı</a:t>
            </a:r>
            <a:r>
              <a:rPr lang="en-US" sz="2700" dirty="0"/>
              <a:t>: Bir </a:t>
            </a:r>
            <a:r>
              <a:rPr lang="en-US" sz="2700" dirty="0" err="1"/>
              <a:t>kuruluşun</a:t>
            </a:r>
            <a:r>
              <a:rPr lang="en-US" sz="2700" dirty="0"/>
              <a:t> </a:t>
            </a:r>
            <a:r>
              <a:rPr lang="en-US" sz="2700" dirty="0" err="1"/>
              <a:t>iç</a:t>
            </a:r>
            <a:r>
              <a:rPr lang="en-US" sz="2700" dirty="0"/>
              <a:t> </a:t>
            </a:r>
            <a:r>
              <a:rPr lang="en-US" sz="2700" dirty="0" err="1"/>
              <a:t>ağı</a:t>
            </a:r>
            <a:r>
              <a:rPr lang="en-US" sz="2700" dirty="0"/>
              <a:t> </a:t>
            </a:r>
            <a:r>
              <a:rPr lang="en-US" sz="2700" dirty="0" err="1"/>
              <a:t>ile</a:t>
            </a:r>
            <a:r>
              <a:rPr lang="en-US" sz="2700" dirty="0"/>
              <a:t> İnternet </a:t>
            </a:r>
            <a:r>
              <a:rPr lang="en-US" sz="2700" dirty="0" err="1"/>
              <a:t>arasında</a:t>
            </a:r>
            <a:r>
              <a:rPr lang="en-US" sz="2700" dirty="0"/>
              <a:t> </a:t>
            </a:r>
            <a:r>
              <a:rPr lang="en-US" sz="2700" dirty="0" err="1"/>
              <a:t>koruma</a:t>
            </a:r>
            <a:r>
              <a:rPr lang="en-US" sz="2700" dirty="0"/>
              <a:t> </a:t>
            </a:r>
            <a:r>
              <a:rPr lang="en-US" sz="2700" dirty="0" err="1"/>
              <a:t>sağlayan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yazılım</a:t>
            </a:r>
            <a:r>
              <a:rPr lang="en-US" sz="2700" dirty="0"/>
              <a:t> </a:t>
            </a:r>
            <a:r>
              <a:rPr lang="en-US" sz="2700" dirty="0" err="1"/>
              <a:t>ve</a:t>
            </a:r>
            <a:r>
              <a:rPr lang="en-US" sz="2700" dirty="0"/>
              <a:t>/</a:t>
            </a:r>
            <a:r>
              <a:rPr lang="en-US" sz="2700" dirty="0" err="1"/>
              <a:t>veya</a:t>
            </a:r>
            <a:r>
              <a:rPr lang="en-US" sz="2700" dirty="0"/>
              <a:t> </a:t>
            </a:r>
            <a:r>
              <a:rPr lang="en-US" sz="2700" dirty="0" err="1"/>
              <a:t>donanım</a:t>
            </a:r>
            <a:r>
              <a:rPr lang="en-US" sz="2700" dirty="0"/>
              <a:t> </a:t>
            </a:r>
            <a:r>
              <a:rPr lang="en-US" sz="2700" dirty="0" err="1"/>
              <a:t>sistemi</a:t>
            </a:r>
            <a:endParaRPr lang="en-US" sz="2700" dirty="0"/>
          </a:p>
          <a:p>
            <a:pPr lvl="1"/>
            <a:r>
              <a:rPr lang="en-US" sz="2500" dirty="0"/>
              <a:t>Yeni </a:t>
            </a:r>
            <a:r>
              <a:rPr lang="en-US" sz="2500" dirty="0" err="1"/>
              <a:t>nesil</a:t>
            </a:r>
            <a:r>
              <a:rPr lang="en-US" sz="2500" dirty="0"/>
              <a:t> </a:t>
            </a:r>
            <a:r>
              <a:rPr lang="en-US" sz="2500" dirty="0" err="1"/>
              <a:t>güvenlik</a:t>
            </a:r>
            <a:r>
              <a:rPr lang="en-US" sz="2500" dirty="0"/>
              <a:t> </a:t>
            </a:r>
            <a:r>
              <a:rPr lang="en-US" sz="2500" dirty="0" err="1"/>
              <a:t>duvarı</a:t>
            </a:r>
            <a:r>
              <a:rPr lang="en-US" sz="2500" dirty="0"/>
              <a:t> (NGFW): </a:t>
            </a:r>
            <a:r>
              <a:rPr lang="en-US" sz="2500" dirty="0" err="1"/>
              <a:t>Paket</a:t>
            </a:r>
            <a:r>
              <a:rPr lang="en-US" sz="2500" dirty="0"/>
              <a:t> </a:t>
            </a:r>
            <a:r>
              <a:rPr lang="en-US" sz="2500" dirty="0" err="1"/>
              <a:t>içeriğine</a:t>
            </a:r>
            <a:r>
              <a:rPr lang="en-US" sz="2500" dirty="0"/>
              <a:t> </a:t>
            </a:r>
            <a:r>
              <a:rPr lang="en-US" sz="2500" dirty="0" err="1"/>
              <a:t>göre</a:t>
            </a:r>
            <a:r>
              <a:rPr lang="en-US" sz="2500" dirty="0"/>
              <a:t> </a:t>
            </a:r>
            <a:r>
              <a:rPr lang="en-US" sz="2500" dirty="0" err="1"/>
              <a:t>ağ</a:t>
            </a:r>
            <a:r>
              <a:rPr lang="en-US" sz="2500" dirty="0"/>
              <a:t> </a:t>
            </a:r>
            <a:r>
              <a:rPr lang="en-US" sz="2500" dirty="0" err="1"/>
              <a:t>trafiğini</a:t>
            </a:r>
            <a:r>
              <a:rPr lang="en-US" sz="2500" dirty="0"/>
              <a:t> </a:t>
            </a:r>
            <a:r>
              <a:rPr lang="en-US" sz="2500" dirty="0" err="1"/>
              <a:t>filtreleyerek</a:t>
            </a:r>
            <a:r>
              <a:rPr lang="en-US" sz="2500" dirty="0"/>
              <a:t> </a:t>
            </a:r>
            <a:r>
              <a:rPr lang="en-US" sz="2500" dirty="0" err="1"/>
              <a:t>saldırıları</a:t>
            </a:r>
            <a:r>
              <a:rPr lang="en-US" sz="2500" dirty="0"/>
              <a:t> </a:t>
            </a:r>
            <a:r>
              <a:rPr lang="en-US" sz="2500" dirty="0" err="1"/>
              <a:t>engelleyen</a:t>
            </a:r>
            <a:r>
              <a:rPr lang="en-US" sz="2500" dirty="0"/>
              <a:t> </a:t>
            </a:r>
            <a:r>
              <a:rPr lang="en-US" sz="2500" dirty="0" err="1"/>
              <a:t>donanım</a:t>
            </a:r>
            <a:r>
              <a:rPr lang="en-US" sz="2500" dirty="0"/>
              <a:t> </a:t>
            </a:r>
            <a:r>
              <a:rPr lang="en-US" sz="2500" dirty="0" err="1"/>
              <a:t>veya</a:t>
            </a:r>
            <a:r>
              <a:rPr lang="en-US" sz="2500" dirty="0"/>
              <a:t> </a:t>
            </a:r>
            <a:r>
              <a:rPr lang="en-US" sz="2500" dirty="0" err="1"/>
              <a:t>yazılım</a:t>
            </a:r>
            <a:r>
              <a:rPr lang="en-US" sz="2500" dirty="0"/>
              <a:t> </a:t>
            </a:r>
            <a:r>
              <a:rPr lang="en-US" sz="2500" dirty="0" err="1"/>
              <a:t>tabanlı</a:t>
            </a:r>
            <a:r>
              <a:rPr lang="en-US" sz="2500" dirty="0"/>
              <a:t> </a:t>
            </a:r>
            <a:r>
              <a:rPr lang="en-US" sz="2500" dirty="0" err="1"/>
              <a:t>bir</a:t>
            </a:r>
            <a:r>
              <a:rPr lang="en-US" sz="2500" dirty="0"/>
              <a:t> </a:t>
            </a:r>
            <a:r>
              <a:rPr lang="en-US" sz="2500" dirty="0" err="1"/>
              <a:t>ağ</a:t>
            </a:r>
            <a:r>
              <a:rPr lang="en-US" sz="2500" dirty="0"/>
              <a:t> </a:t>
            </a:r>
            <a:r>
              <a:rPr lang="en-US" sz="2500" dirty="0" err="1"/>
              <a:t>güvenlik</a:t>
            </a:r>
            <a:r>
              <a:rPr lang="en-US" sz="2500" dirty="0"/>
              <a:t> </a:t>
            </a:r>
            <a:r>
              <a:rPr lang="en-US" sz="2500" dirty="0" err="1"/>
              <a:t>sistemi</a:t>
            </a:r>
            <a:endParaRPr lang="en-US" sz="2500" dirty="0"/>
          </a:p>
          <a:p>
            <a:r>
              <a:rPr lang="en-US" sz="2700" dirty="0" err="1"/>
              <a:t>Yönlendirici</a:t>
            </a:r>
            <a:r>
              <a:rPr lang="en-US" sz="2700" dirty="0"/>
              <a:t>: </a:t>
            </a:r>
            <a:r>
              <a:rPr lang="en-US" sz="2700" dirty="0" err="1"/>
              <a:t>Birden</a:t>
            </a:r>
            <a:r>
              <a:rPr lang="en-US" sz="2700" dirty="0"/>
              <a:t> </a:t>
            </a:r>
            <a:r>
              <a:rPr lang="en-US" sz="2700" dirty="0" err="1"/>
              <a:t>fazla</a:t>
            </a:r>
            <a:r>
              <a:rPr lang="en-US" sz="2700" dirty="0"/>
              <a:t> </a:t>
            </a:r>
            <a:r>
              <a:rPr lang="en-US" sz="2700" dirty="0" err="1"/>
              <a:t>ağı</a:t>
            </a:r>
            <a:r>
              <a:rPr lang="en-US" sz="2700" dirty="0"/>
              <a:t> </a:t>
            </a:r>
            <a:r>
              <a:rPr lang="en-US" sz="2700" dirty="0" err="1"/>
              <a:t>birbirine</a:t>
            </a:r>
            <a:r>
              <a:rPr lang="en-US" sz="2700" dirty="0"/>
              <a:t> </a:t>
            </a:r>
            <a:r>
              <a:rPr lang="en-US" sz="2700" dirty="0" err="1"/>
              <a:t>bağlayan</a:t>
            </a:r>
            <a:r>
              <a:rPr lang="en-US" sz="2700" dirty="0"/>
              <a:t> </a:t>
            </a:r>
            <a:r>
              <a:rPr lang="en-US" sz="2700" dirty="0" err="1"/>
              <a:t>ve</a:t>
            </a:r>
            <a:r>
              <a:rPr lang="en-US" sz="2700" dirty="0"/>
              <a:t> </a:t>
            </a:r>
            <a:r>
              <a:rPr lang="en-US" sz="2700" dirty="0" err="1"/>
              <a:t>veri</a:t>
            </a:r>
            <a:r>
              <a:rPr lang="en-US" sz="2700" dirty="0"/>
              <a:t> </a:t>
            </a:r>
            <a:r>
              <a:rPr lang="en-US" sz="2700" dirty="0" err="1"/>
              <a:t>paketlerini</a:t>
            </a:r>
            <a:r>
              <a:rPr lang="en-US" sz="2700" dirty="0"/>
              <a:t> </a:t>
            </a:r>
            <a:r>
              <a:rPr lang="en-US" sz="2700" dirty="0" err="1"/>
              <a:t>ağlar</a:t>
            </a:r>
            <a:r>
              <a:rPr lang="en-US" sz="2700" dirty="0"/>
              <a:t> </a:t>
            </a:r>
            <a:r>
              <a:rPr lang="en-US" sz="2700" dirty="0" err="1"/>
              <a:t>arasında</a:t>
            </a:r>
            <a:r>
              <a:rPr lang="en-US" sz="2700" dirty="0"/>
              <a:t> </a:t>
            </a:r>
            <a:r>
              <a:rPr lang="en-US" sz="2700" dirty="0" err="1"/>
              <a:t>ileten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ağ</a:t>
            </a:r>
            <a:r>
              <a:rPr lang="en-US" sz="2700" dirty="0"/>
              <a:t> </a:t>
            </a:r>
            <a:r>
              <a:rPr lang="en-US" sz="2700" dirty="0" err="1"/>
              <a:t>cihazı</a:t>
            </a:r>
            <a:endParaRPr lang="en-US" sz="2700" dirty="0"/>
          </a:p>
          <a:p>
            <a:pPr lvl="1"/>
            <a:r>
              <a:rPr lang="en-US" sz="2500" dirty="0" err="1"/>
              <a:t>Yapmanıza</a:t>
            </a:r>
            <a:r>
              <a:rPr lang="en-US" sz="2500" dirty="0"/>
              <a:t> </a:t>
            </a:r>
            <a:r>
              <a:rPr lang="en-US" sz="2500" dirty="0" err="1"/>
              <a:t>izin</a:t>
            </a:r>
            <a:r>
              <a:rPr lang="en-US" sz="2500" dirty="0"/>
              <a:t> </a:t>
            </a:r>
            <a:r>
              <a:rPr lang="en-US" sz="2500" dirty="0" err="1"/>
              <a:t>verir</a:t>
            </a:r>
            <a:r>
              <a:rPr lang="en-US" sz="2500" dirty="0"/>
              <a:t>: </a:t>
            </a:r>
          </a:p>
          <a:p>
            <a:pPr lvl="2"/>
            <a:r>
              <a:rPr lang="en-US" sz="2300" dirty="0"/>
              <a:t>Bir </a:t>
            </a:r>
            <a:r>
              <a:rPr lang="en-US" sz="2300" dirty="0" err="1"/>
              <a:t>parola</a:t>
            </a:r>
            <a:r>
              <a:rPr lang="en-US" sz="2300" dirty="0"/>
              <a:t> </a:t>
            </a:r>
            <a:r>
              <a:rPr lang="en-US" sz="2300" dirty="0" err="1"/>
              <a:t>atayarak</a:t>
            </a:r>
            <a:r>
              <a:rPr lang="en-US" sz="2300" dirty="0"/>
              <a:t> </a:t>
            </a:r>
            <a:r>
              <a:rPr lang="en-US" sz="2300" dirty="0" err="1"/>
              <a:t>güvenli</a:t>
            </a:r>
            <a:r>
              <a:rPr lang="en-US" sz="2300" dirty="0"/>
              <a:t> </a:t>
            </a:r>
            <a:r>
              <a:rPr lang="en-US" sz="2300" dirty="0" err="1"/>
              <a:t>bir</a:t>
            </a:r>
            <a:r>
              <a:rPr lang="en-US" sz="2300" dirty="0"/>
              <a:t> </a:t>
            </a:r>
            <a:r>
              <a:rPr lang="en-US" sz="2300" dirty="0" err="1"/>
              <a:t>ağ</a:t>
            </a:r>
            <a:r>
              <a:rPr lang="en-US" sz="2300" dirty="0"/>
              <a:t> </a:t>
            </a:r>
            <a:r>
              <a:rPr lang="en-US" sz="2300" dirty="0" err="1"/>
              <a:t>oluşturmanıza</a:t>
            </a:r>
            <a:endParaRPr lang="en-US" sz="2300" dirty="0"/>
          </a:p>
          <a:p>
            <a:r>
              <a:rPr lang="en-US" sz="2700" dirty="0" err="1"/>
              <a:t>Ağa</a:t>
            </a:r>
            <a:r>
              <a:rPr lang="en-US" sz="2700" dirty="0"/>
              <a:t> </a:t>
            </a:r>
            <a:r>
              <a:rPr lang="en-US" sz="2700" dirty="0" err="1"/>
              <a:t>bağlı</a:t>
            </a:r>
            <a:r>
              <a:rPr lang="en-US" sz="2700" dirty="0"/>
              <a:t> her </a:t>
            </a:r>
            <a:r>
              <a:rPr lang="en-US" sz="2700" dirty="0" err="1"/>
              <a:t>meşru</a:t>
            </a:r>
            <a:r>
              <a:rPr lang="en-US" sz="2700" dirty="0"/>
              <a:t> </a:t>
            </a:r>
            <a:r>
              <a:rPr lang="en-US" sz="2700" dirty="0" err="1"/>
              <a:t>cihaz</a:t>
            </a:r>
            <a:r>
              <a:rPr lang="en-US" sz="2700" dirty="0"/>
              <a:t> için </a:t>
            </a:r>
            <a:r>
              <a:rPr lang="en-US" sz="2700" dirty="0" err="1"/>
              <a:t>benzersiz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ortam</a:t>
            </a:r>
            <a:r>
              <a:rPr lang="en-US" sz="2700" dirty="0"/>
              <a:t> </a:t>
            </a:r>
            <a:r>
              <a:rPr lang="en-US" sz="2700" dirty="0" err="1"/>
              <a:t>erişim</a:t>
            </a:r>
            <a:r>
              <a:rPr lang="en-US" sz="2700" dirty="0"/>
              <a:t> </a:t>
            </a:r>
            <a:r>
              <a:rPr lang="en-US" sz="2700" dirty="0" err="1"/>
              <a:t>kontrolü</a:t>
            </a:r>
            <a:r>
              <a:rPr lang="en-US" sz="2700" dirty="0"/>
              <a:t> (MAC) </a:t>
            </a:r>
            <a:r>
              <a:rPr lang="en-US" sz="2700" dirty="0" err="1"/>
              <a:t>adresi</a:t>
            </a:r>
            <a:r>
              <a:rPr lang="en-US" sz="2700" dirty="0"/>
              <a:t> </a:t>
            </a:r>
            <a:r>
              <a:rPr lang="en-US" sz="2700" dirty="0" err="1"/>
              <a:t>belirleyin</a:t>
            </a:r>
            <a:r>
              <a:rPr lang="en-US" sz="2700" dirty="0"/>
              <a:t> </a:t>
            </a:r>
            <a:r>
              <a:rPr lang="en-US" sz="2700" dirty="0" err="1"/>
              <a:t>ve</a:t>
            </a:r>
            <a:r>
              <a:rPr lang="en-US" sz="2700" dirty="0"/>
              <a:t> </a:t>
            </a:r>
            <a:r>
              <a:rPr lang="en-US" sz="2700" dirty="0" err="1"/>
              <a:t>başka</a:t>
            </a:r>
            <a:r>
              <a:rPr lang="en-US" sz="2700" dirty="0"/>
              <a:t> </a:t>
            </a:r>
            <a:r>
              <a:rPr lang="en-US" sz="2700" dirty="0" err="1"/>
              <a:t>herhangi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cihazın</a:t>
            </a:r>
            <a:r>
              <a:rPr lang="en-US" sz="2700" dirty="0"/>
              <a:t> </a:t>
            </a:r>
            <a:r>
              <a:rPr lang="en-US" sz="2700" dirty="0" err="1"/>
              <a:t>erişimini</a:t>
            </a:r>
            <a:r>
              <a:rPr lang="en-US" sz="2700" dirty="0"/>
              <a:t> </a:t>
            </a:r>
            <a:r>
              <a:rPr lang="en-US" sz="2700" dirty="0" err="1"/>
              <a:t>engelleyin</a:t>
            </a:r>
            <a:endParaRPr lang="en-US" sz="23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8849"/>
            <a:ext cx="8026400" cy="1051057"/>
          </a:xfrm>
        </p:spPr>
        <p:txBody>
          <a:bodyPr/>
          <a:lstStyle/>
          <a:p>
            <a:r>
              <a:rPr lang="en-US" sz="4000" dirty="0"/>
              <a:t>Firewalls &amp; Routers-</a:t>
            </a:r>
            <a:br>
              <a:rPr lang="en-US" sz="4000" dirty="0"/>
            </a:br>
            <a:r>
              <a:rPr lang="en-US" sz="4000" dirty="0" err="1"/>
              <a:t>Güvenlik</a:t>
            </a:r>
            <a:r>
              <a:rPr lang="en-US" sz="4000" dirty="0"/>
              <a:t> </a:t>
            </a:r>
            <a:r>
              <a:rPr lang="en-US" sz="4000" dirty="0" err="1"/>
              <a:t>Duvarları</a:t>
            </a:r>
            <a:r>
              <a:rPr lang="en-US" sz="4000" dirty="0"/>
              <a:t> </a:t>
            </a:r>
            <a:r>
              <a:rPr lang="en-US" sz="4000" dirty="0" err="1"/>
              <a:t>ve</a:t>
            </a:r>
            <a:r>
              <a:rPr lang="en-US" sz="4000" dirty="0"/>
              <a:t> </a:t>
            </a:r>
            <a:r>
              <a:rPr lang="en-US" sz="4000" dirty="0" err="1"/>
              <a:t>Yönlendiriciler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59920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5016758"/>
          </a:xfrm>
        </p:spPr>
        <p:txBody>
          <a:bodyPr/>
          <a:lstStyle/>
          <a:p>
            <a:r>
              <a:rPr lang="en-US" sz="2700" dirty="0" err="1"/>
              <a:t>Şifreleme</a:t>
            </a:r>
            <a:r>
              <a:rPr lang="en-US" sz="2700" dirty="0"/>
              <a:t>: </a:t>
            </a:r>
            <a:r>
              <a:rPr lang="en-US" sz="2700" dirty="0" err="1"/>
              <a:t>Mesajları</a:t>
            </a:r>
            <a:r>
              <a:rPr lang="en-US" sz="2700" dirty="0"/>
              <a:t> </a:t>
            </a:r>
            <a:r>
              <a:rPr lang="en-US" sz="2700" dirty="0" err="1"/>
              <a:t>veya</a:t>
            </a:r>
            <a:r>
              <a:rPr lang="en-US" sz="2700" dirty="0"/>
              <a:t> </a:t>
            </a:r>
            <a:r>
              <a:rPr lang="en-US" sz="2700" dirty="0" err="1"/>
              <a:t>verileri</a:t>
            </a:r>
            <a:r>
              <a:rPr lang="en-US" sz="2700" dirty="0"/>
              <a:t> </a:t>
            </a:r>
            <a:r>
              <a:rPr lang="en-US" sz="2700" dirty="0" err="1"/>
              <a:t>yalnızca</a:t>
            </a:r>
            <a:r>
              <a:rPr lang="en-US" sz="2700" dirty="0"/>
              <a:t> </a:t>
            </a:r>
            <a:r>
              <a:rPr lang="en-US" sz="2700" dirty="0" err="1"/>
              <a:t>yetkili</a:t>
            </a:r>
            <a:r>
              <a:rPr lang="en-US" sz="2700" dirty="0"/>
              <a:t> </a:t>
            </a:r>
            <a:r>
              <a:rPr lang="en-US" sz="2700" dirty="0" err="1"/>
              <a:t>tarafların</a:t>
            </a:r>
            <a:r>
              <a:rPr lang="en-US" sz="2700" dirty="0"/>
              <a:t> </a:t>
            </a:r>
            <a:r>
              <a:rPr lang="en-US" sz="2700" dirty="0" err="1"/>
              <a:t>okuyabileceği</a:t>
            </a:r>
            <a:r>
              <a:rPr lang="en-US" sz="2700" dirty="0"/>
              <a:t> </a:t>
            </a:r>
            <a:r>
              <a:rPr lang="en-US" sz="2700" dirty="0" err="1"/>
              <a:t>şekilde</a:t>
            </a:r>
            <a:r>
              <a:rPr lang="en-US" sz="2700" dirty="0"/>
              <a:t> </a:t>
            </a:r>
            <a:r>
              <a:rPr lang="en-US" sz="2700" dirty="0" err="1"/>
              <a:t>karıştırma</a:t>
            </a:r>
            <a:r>
              <a:rPr lang="en-US" sz="2700" dirty="0"/>
              <a:t> </a:t>
            </a:r>
            <a:r>
              <a:rPr lang="en-US" sz="2700" dirty="0" err="1"/>
              <a:t>işlemi</a:t>
            </a:r>
            <a:endParaRPr lang="en-US" sz="2700" dirty="0"/>
          </a:p>
          <a:p>
            <a:pPr lvl="1"/>
            <a:r>
              <a:rPr lang="en-US" sz="2500" dirty="0" err="1"/>
              <a:t>Şifreleme</a:t>
            </a:r>
            <a:r>
              <a:rPr lang="en-US" sz="2500" dirty="0"/>
              <a:t> </a:t>
            </a:r>
            <a:r>
              <a:rPr lang="en-US" sz="2500" dirty="0" err="1"/>
              <a:t>anahtarı</a:t>
            </a:r>
            <a:r>
              <a:rPr lang="en-US" sz="2500" dirty="0"/>
              <a:t>: </a:t>
            </a:r>
            <a:r>
              <a:rPr lang="en-US" sz="2500" dirty="0" err="1"/>
              <a:t>Şifreleme</a:t>
            </a:r>
            <a:r>
              <a:rPr lang="en-US" sz="2500" dirty="0"/>
              <a:t> </a:t>
            </a:r>
            <a:r>
              <a:rPr lang="en-US" sz="2500" dirty="0" err="1"/>
              <a:t>anahtarı</a:t>
            </a:r>
            <a:r>
              <a:rPr lang="en-US" sz="2500" dirty="0"/>
              <a:t> </a:t>
            </a:r>
            <a:r>
              <a:rPr lang="en-US" sz="2500" dirty="0" err="1"/>
              <a:t>olmayanlar</a:t>
            </a:r>
            <a:r>
              <a:rPr lang="en-US" sz="2500" dirty="0"/>
              <a:t> </a:t>
            </a:r>
            <a:r>
              <a:rPr lang="en-US" sz="2500" dirty="0" err="1"/>
              <a:t>tarafından</a:t>
            </a:r>
            <a:r>
              <a:rPr lang="en-US" sz="2500" dirty="0"/>
              <a:t> </a:t>
            </a:r>
            <a:r>
              <a:rPr lang="en-US" sz="2500" dirty="0" err="1"/>
              <a:t>okunamayan</a:t>
            </a:r>
            <a:r>
              <a:rPr lang="en-US" sz="2500" dirty="0"/>
              <a:t> </a:t>
            </a:r>
            <a:r>
              <a:rPr lang="en-US" sz="2500" dirty="0" err="1"/>
              <a:t>şifreli</a:t>
            </a:r>
            <a:r>
              <a:rPr lang="en-US" sz="2500" dirty="0"/>
              <a:t> </a:t>
            </a:r>
            <a:r>
              <a:rPr lang="en-US" sz="2500" dirty="0" err="1"/>
              <a:t>metin</a:t>
            </a:r>
            <a:r>
              <a:rPr lang="en-US" sz="2500" dirty="0"/>
              <a:t> </a:t>
            </a:r>
            <a:r>
              <a:rPr lang="en-US" sz="2500" dirty="0" err="1"/>
              <a:t>üretmek</a:t>
            </a:r>
            <a:r>
              <a:rPr lang="en-US" sz="2500" dirty="0"/>
              <a:t> için </a:t>
            </a:r>
            <a:r>
              <a:rPr lang="en-US" sz="2500" dirty="0" err="1"/>
              <a:t>şifrelenmemiş</a:t>
            </a:r>
            <a:r>
              <a:rPr lang="en-US" sz="2500" dirty="0"/>
              <a:t> </a:t>
            </a:r>
            <a:r>
              <a:rPr lang="en-US" sz="2500" dirty="0" err="1"/>
              <a:t>metne</a:t>
            </a:r>
            <a:r>
              <a:rPr lang="en-US" sz="2500" dirty="0"/>
              <a:t> </a:t>
            </a:r>
            <a:r>
              <a:rPr lang="en-US" sz="2500" dirty="0" err="1"/>
              <a:t>uygulanan</a:t>
            </a:r>
            <a:r>
              <a:rPr lang="en-US" sz="2500" dirty="0"/>
              <a:t> </a:t>
            </a:r>
            <a:r>
              <a:rPr lang="en-US" sz="2500" dirty="0" err="1"/>
              <a:t>bir</a:t>
            </a:r>
            <a:r>
              <a:rPr lang="en-US" sz="2500" dirty="0"/>
              <a:t> </a:t>
            </a:r>
            <a:r>
              <a:rPr lang="en-US" sz="2500" dirty="0" err="1"/>
              <a:t>değer</a:t>
            </a:r>
            <a:endParaRPr lang="en-US" sz="2500" dirty="0"/>
          </a:p>
          <a:p>
            <a:pPr lvl="1"/>
            <a:r>
              <a:rPr lang="en-US" sz="2500" dirty="0" err="1"/>
              <a:t>İki</a:t>
            </a:r>
            <a:r>
              <a:rPr lang="en-US" sz="2500" dirty="0"/>
              <a:t> </a:t>
            </a:r>
            <a:r>
              <a:rPr lang="en-US" sz="2500" dirty="0" err="1"/>
              <a:t>tür</a:t>
            </a:r>
            <a:r>
              <a:rPr lang="en-US" sz="2500" dirty="0"/>
              <a:t> </a:t>
            </a:r>
            <a:r>
              <a:rPr lang="en-US" sz="2500" dirty="0" err="1"/>
              <a:t>şifreleme</a:t>
            </a:r>
            <a:r>
              <a:rPr lang="en-US" sz="2500" dirty="0"/>
              <a:t> </a:t>
            </a:r>
            <a:r>
              <a:rPr lang="en-US" sz="2500" dirty="0" err="1"/>
              <a:t>algoritması</a:t>
            </a:r>
            <a:r>
              <a:rPr lang="en-US" sz="2500" dirty="0"/>
              <a:t>: </a:t>
            </a:r>
          </a:p>
          <a:p>
            <a:pPr lvl="2"/>
            <a:r>
              <a:rPr lang="en-US" sz="2300" dirty="0" err="1"/>
              <a:t>Simetrik</a:t>
            </a:r>
            <a:r>
              <a:rPr lang="en-US" sz="2300" dirty="0"/>
              <a:t> </a:t>
            </a:r>
            <a:r>
              <a:rPr lang="en-US" sz="2300" dirty="0" err="1"/>
              <a:t>ve</a:t>
            </a:r>
            <a:r>
              <a:rPr lang="en-US" sz="2300" dirty="0"/>
              <a:t> </a:t>
            </a:r>
            <a:r>
              <a:rPr lang="en-US" sz="2300" dirty="0" err="1"/>
              <a:t>asimetrik</a:t>
            </a:r>
            <a:endParaRPr lang="en-US" sz="2300" dirty="0"/>
          </a:p>
          <a:p>
            <a:r>
              <a:rPr lang="en-US" sz="2700" dirty="0" err="1"/>
              <a:t>Aktarım</a:t>
            </a:r>
            <a:r>
              <a:rPr lang="en-US" sz="2700" dirty="0"/>
              <a:t> </a:t>
            </a:r>
            <a:r>
              <a:rPr lang="en-US" sz="2700" dirty="0" err="1"/>
              <a:t>Katmanı</a:t>
            </a:r>
            <a:r>
              <a:rPr lang="en-US" sz="2700" dirty="0"/>
              <a:t> </a:t>
            </a:r>
            <a:r>
              <a:rPr lang="en-US" sz="2700" dirty="0" err="1"/>
              <a:t>Güvenliği</a:t>
            </a:r>
            <a:r>
              <a:rPr lang="en-US" sz="2700" dirty="0"/>
              <a:t> (TLS): İnternet </a:t>
            </a:r>
            <a:r>
              <a:rPr lang="en-US" sz="2700" dirty="0" err="1"/>
              <a:t>üzerinde</a:t>
            </a:r>
            <a:r>
              <a:rPr lang="en-US" sz="2700" dirty="0"/>
              <a:t> </a:t>
            </a:r>
            <a:r>
              <a:rPr lang="en-US" sz="2700" dirty="0" err="1"/>
              <a:t>iletişim</a:t>
            </a:r>
            <a:r>
              <a:rPr lang="en-US" sz="2700" dirty="0"/>
              <a:t> </a:t>
            </a:r>
            <a:r>
              <a:rPr lang="en-US" sz="2700" dirty="0" err="1"/>
              <a:t>kuran</a:t>
            </a:r>
            <a:r>
              <a:rPr lang="en-US" sz="2700" dirty="0"/>
              <a:t> </a:t>
            </a:r>
            <a:r>
              <a:rPr lang="en-US" sz="2700" dirty="0" err="1"/>
              <a:t>uygulamalar</a:t>
            </a:r>
            <a:r>
              <a:rPr lang="en-US" sz="2700" dirty="0"/>
              <a:t> </a:t>
            </a:r>
            <a:r>
              <a:rPr lang="en-US" sz="2700" dirty="0" err="1"/>
              <a:t>ve</a:t>
            </a:r>
            <a:r>
              <a:rPr lang="en-US" sz="2700" dirty="0"/>
              <a:t> </a:t>
            </a:r>
            <a:r>
              <a:rPr lang="en-US" sz="2700" dirty="0" err="1"/>
              <a:t>kullanıcıları</a:t>
            </a:r>
            <a:r>
              <a:rPr lang="en-US" sz="2700" dirty="0"/>
              <a:t> </a:t>
            </a:r>
            <a:r>
              <a:rPr lang="en-US" sz="2700" dirty="0" err="1"/>
              <a:t>arasında</a:t>
            </a:r>
            <a:r>
              <a:rPr lang="en-US" sz="2700" dirty="0"/>
              <a:t> </a:t>
            </a:r>
            <a:r>
              <a:rPr lang="en-US" sz="2700" dirty="0" err="1"/>
              <a:t>gizlilik</a:t>
            </a:r>
            <a:r>
              <a:rPr lang="en-US" sz="2700" dirty="0"/>
              <a:t> </a:t>
            </a:r>
            <a:r>
              <a:rPr lang="en-US" sz="2700" dirty="0" err="1"/>
              <a:t>sağlayan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iletişim</a:t>
            </a:r>
            <a:r>
              <a:rPr lang="en-US" sz="2700" dirty="0"/>
              <a:t> </a:t>
            </a:r>
            <a:r>
              <a:rPr lang="en-US" sz="2700" dirty="0" err="1"/>
              <a:t>protokolü</a:t>
            </a:r>
            <a:endParaRPr lang="en-US" sz="2700" dirty="0"/>
          </a:p>
          <a:p>
            <a:pPr lvl="1"/>
            <a:r>
              <a:rPr lang="en-US" sz="2500" dirty="0"/>
              <a:t>TLS, </a:t>
            </a:r>
            <a:r>
              <a:rPr lang="en-US" sz="2500" dirty="0" err="1"/>
              <a:t>bir</a:t>
            </a:r>
            <a:r>
              <a:rPr lang="en-US" sz="2500" dirty="0"/>
              <a:t> </a:t>
            </a:r>
            <a:r>
              <a:rPr lang="en-US" sz="2500" dirty="0" err="1"/>
              <a:t>istemcinin</a:t>
            </a:r>
            <a:r>
              <a:rPr lang="en-US" sz="2500" dirty="0"/>
              <a:t> (</a:t>
            </a:r>
            <a:r>
              <a:rPr lang="en-US" sz="2500" dirty="0" err="1"/>
              <a:t>örn</a:t>
            </a:r>
            <a:r>
              <a:rPr lang="en-US" sz="2500" dirty="0"/>
              <a:t>. </a:t>
            </a:r>
            <a:r>
              <a:rPr lang="en-US" sz="2500" dirty="0" err="1"/>
              <a:t>bir</a:t>
            </a:r>
            <a:r>
              <a:rPr lang="en-US" sz="2500" dirty="0"/>
              <a:t> web </a:t>
            </a:r>
            <a:r>
              <a:rPr lang="en-US" sz="2500" dirty="0" err="1"/>
              <a:t>tarayıcısı</a:t>
            </a:r>
            <a:r>
              <a:rPr lang="en-US" sz="2500" dirty="0"/>
              <a:t>) </a:t>
            </a:r>
            <a:r>
              <a:rPr lang="en-US" sz="2500" dirty="0" err="1"/>
              <a:t>bir</a:t>
            </a:r>
            <a:r>
              <a:rPr lang="en-US" sz="2500" dirty="0"/>
              <a:t> </a:t>
            </a:r>
            <a:r>
              <a:rPr lang="en-US" sz="2500" dirty="0" err="1"/>
              <a:t>sunucu</a:t>
            </a:r>
            <a:r>
              <a:rPr lang="en-US" sz="2500" dirty="0"/>
              <a:t> </a:t>
            </a:r>
            <a:r>
              <a:rPr lang="en-US" sz="2500" dirty="0" err="1"/>
              <a:t>ile</a:t>
            </a:r>
            <a:r>
              <a:rPr lang="en-US" sz="2500" dirty="0"/>
              <a:t> </a:t>
            </a:r>
            <a:r>
              <a:rPr lang="en-US" sz="2500" dirty="0" err="1"/>
              <a:t>geçici</a:t>
            </a:r>
            <a:r>
              <a:rPr lang="en-US" sz="2500" dirty="0"/>
              <a:t> </a:t>
            </a:r>
            <a:r>
              <a:rPr lang="en-US" sz="2500" dirty="0" err="1"/>
              <a:t>bir</a:t>
            </a:r>
            <a:r>
              <a:rPr lang="en-US" sz="2500" dirty="0"/>
              <a:t> </a:t>
            </a:r>
            <a:r>
              <a:rPr lang="en-US" sz="2500" dirty="0" err="1"/>
              <a:t>özel</a:t>
            </a:r>
            <a:r>
              <a:rPr lang="en-US" sz="2500" dirty="0"/>
              <a:t> </a:t>
            </a:r>
            <a:r>
              <a:rPr lang="en-US" sz="2500" dirty="0" err="1"/>
              <a:t>görüşme</a:t>
            </a:r>
            <a:r>
              <a:rPr lang="en-US" sz="2500" dirty="0"/>
              <a:t> </a:t>
            </a:r>
            <a:r>
              <a:rPr lang="en-US" sz="2500" dirty="0" err="1"/>
              <a:t>başlatmasını</a:t>
            </a:r>
            <a:r>
              <a:rPr lang="en-US" sz="2500" dirty="0"/>
              <a:t> </a:t>
            </a:r>
            <a:r>
              <a:rPr lang="en-US" sz="2500" dirty="0" err="1"/>
              <a:t>sağlar</a:t>
            </a:r>
            <a:endParaRPr lang="en-US" sz="23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Encryption--</a:t>
            </a:r>
            <a:r>
              <a:rPr lang="en-US" sz="4000" dirty="0" err="1"/>
              <a:t>Şifreleme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567864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321675" cy="5417637"/>
          </a:xfrm>
        </p:spPr>
        <p:txBody>
          <a:bodyPr/>
          <a:lstStyle/>
          <a:p>
            <a:r>
              <a:rPr lang="en-US" sz="2700" dirty="0"/>
              <a:t>Proxy </a:t>
            </a:r>
            <a:r>
              <a:rPr lang="en-US" sz="2700" dirty="0" err="1"/>
              <a:t>sunucusu</a:t>
            </a:r>
            <a:r>
              <a:rPr lang="en-US" sz="2700" dirty="0"/>
              <a:t>: Bir web </a:t>
            </a:r>
            <a:r>
              <a:rPr lang="en-US" sz="2700" dirty="0" err="1"/>
              <a:t>tarayıcısı</a:t>
            </a:r>
            <a:r>
              <a:rPr lang="en-US" sz="2700" dirty="0"/>
              <a:t> </a:t>
            </a:r>
            <a:r>
              <a:rPr lang="en-US" sz="2700" dirty="0" err="1"/>
              <a:t>ile</a:t>
            </a:r>
            <a:r>
              <a:rPr lang="en-US" sz="2700" dirty="0"/>
              <a:t> İnternet </a:t>
            </a:r>
            <a:r>
              <a:rPr lang="en-US" sz="2700" dirty="0" err="1"/>
              <a:t>üzerindeki</a:t>
            </a:r>
            <a:r>
              <a:rPr lang="en-US" sz="2700" dirty="0"/>
              <a:t> </a:t>
            </a:r>
            <a:r>
              <a:rPr lang="en-US" sz="2700" dirty="0" err="1"/>
              <a:t>başka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sunucu</a:t>
            </a:r>
            <a:r>
              <a:rPr lang="en-US" sz="2700" dirty="0"/>
              <a:t> </a:t>
            </a:r>
            <a:r>
              <a:rPr lang="en-US" sz="2700" dirty="0" err="1"/>
              <a:t>arasında</a:t>
            </a:r>
            <a:r>
              <a:rPr lang="en-US" sz="2700" dirty="0"/>
              <a:t> </a:t>
            </a:r>
            <a:r>
              <a:rPr lang="en-US" sz="2700" dirty="0" err="1"/>
              <a:t>aracı</a:t>
            </a:r>
            <a:r>
              <a:rPr lang="en-US" sz="2700" dirty="0"/>
              <a:t> </a:t>
            </a:r>
            <a:r>
              <a:rPr lang="en-US" sz="2700" dirty="0" err="1"/>
              <a:t>görevi</a:t>
            </a:r>
            <a:r>
              <a:rPr lang="en-US" sz="2700" dirty="0"/>
              <a:t> </a:t>
            </a:r>
            <a:r>
              <a:rPr lang="en-US" sz="2700" dirty="0" err="1"/>
              <a:t>görür</a:t>
            </a:r>
            <a:endParaRPr lang="en-US" sz="2700" dirty="0"/>
          </a:p>
          <a:p>
            <a:pPr lvl="1"/>
            <a:r>
              <a:rPr lang="en-US" sz="2500" dirty="0"/>
              <a:t>Bir web </a:t>
            </a:r>
            <a:r>
              <a:rPr lang="en-US" sz="2500" dirty="0" err="1"/>
              <a:t>sitesinin</a:t>
            </a:r>
            <a:r>
              <a:rPr lang="en-US" sz="2500" dirty="0"/>
              <a:t> </a:t>
            </a:r>
            <a:r>
              <a:rPr lang="en-US" sz="2500" dirty="0" err="1"/>
              <a:t>URL'sini</a:t>
            </a:r>
            <a:r>
              <a:rPr lang="en-US" sz="2500" dirty="0"/>
              <a:t> </a:t>
            </a:r>
            <a:r>
              <a:rPr lang="en-US" sz="2500" dirty="0" err="1"/>
              <a:t>tarayıcınıza</a:t>
            </a:r>
            <a:r>
              <a:rPr lang="en-US" sz="2500" dirty="0"/>
              <a:t> </a:t>
            </a:r>
            <a:r>
              <a:rPr lang="en-US" sz="2500" dirty="0" err="1"/>
              <a:t>girersiniz</a:t>
            </a:r>
            <a:r>
              <a:rPr lang="en-US" sz="2500" dirty="0"/>
              <a:t>.</a:t>
            </a:r>
          </a:p>
          <a:p>
            <a:pPr lvl="1"/>
            <a:r>
              <a:rPr lang="en-US" sz="2500" dirty="0" err="1"/>
              <a:t>İstek</a:t>
            </a:r>
            <a:r>
              <a:rPr lang="en-US" sz="2500" dirty="0"/>
              <a:t>, </a:t>
            </a:r>
            <a:r>
              <a:rPr lang="en-US" sz="2500" dirty="0" err="1"/>
              <a:t>isteği</a:t>
            </a:r>
            <a:r>
              <a:rPr lang="en-US" sz="2500" dirty="0"/>
              <a:t> web </a:t>
            </a:r>
            <a:r>
              <a:rPr lang="en-US" sz="2500" dirty="0" err="1"/>
              <a:t>sitesinin</a:t>
            </a:r>
            <a:r>
              <a:rPr lang="en-US" sz="2500" dirty="0"/>
              <a:t> </a:t>
            </a:r>
            <a:r>
              <a:rPr lang="en-US" sz="2500" dirty="0" err="1"/>
              <a:t>barındırıldığı</a:t>
            </a:r>
            <a:r>
              <a:rPr lang="en-US" sz="2500" dirty="0"/>
              <a:t> </a:t>
            </a:r>
            <a:r>
              <a:rPr lang="en-US" sz="2500" dirty="0" err="1"/>
              <a:t>sunucuya</a:t>
            </a:r>
            <a:r>
              <a:rPr lang="en-US" sz="2500" dirty="0"/>
              <a:t> </a:t>
            </a:r>
            <a:r>
              <a:rPr lang="en-US" sz="2500" dirty="0" err="1"/>
              <a:t>aktaran</a:t>
            </a:r>
            <a:r>
              <a:rPr lang="en-US" sz="2500" dirty="0"/>
              <a:t> proxy </a:t>
            </a:r>
            <a:r>
              <a:rPr lang="en-US" sz="2500" dirty="0" err="1"/>
              <a:t>sunucusuna</a:t>
            </a:r>
            <a:r>
              <a:rPr lang="en-US" sz="2500" dirty="0"/>
              <a:t> </a:t>
            </a:r>
            <a:r>
              <a:rPr lang="en-US" sz="2500" dirty="0" err="1"/>
              <a:t>iletilir</a:t>
            </a:r>
            <a:r>
              <a:rPr lang="en-US" sz="2500" dirty="0"/>
              <a:t>. </a:t>
            </a:r>
          </a:p>
          <a:p>
            <a:pPr lvl="1"/>
            <a:r>
              <a:rPr lang="en-US" sz="2500" dirty="0"/>
              <a:t>Web </a:t>
            </a:r>
            <a:r>
              <a:rPr lang="en-US" sz="2500" dirty="0" err="1"/>
              <a:t>sayfası</a:t>
            </a:r>
            <a:r>
              <a:rPr lang="en-US" sz="2500" dirty="0"/>
              <a:t> proxy </a:t>
            </a:r>
            <a:r>
              <a:rPr lang="en-US" sz="2500" dirty="0" err="1"/>
              <a:t>sunucusuna</a:t>
            </a:r>
            <a:r>
              <a:rPr lang="en-US" sz="2500" dirty="0"/>
              <a:t> </a:t>
            </a:r>
            <a:r>
              <a:rPr lang="en-US" sz="2500" dirty="0" err="1"/>
              <a:t>geri</a:t>
            </a:r>
            <a:r>
              <a:rPr lang="en-US" sz="2500" dirty="0"/>
              <a:t> </a:t>
            </a:r>
            <a:r>
              <a:rPr lang="en-US" sz="2500" dirty="0" err="1"/>
              <a:t>gönderilir</a:t>
            </a:r>
            <a:r>
              <a:rPr lang="en-US" sz="2500" dirty="0"/>
              <a:t>, o da </a:t>
            </a:r>
            <a:r>
              <a:rPr lang="en-US" sz="2500" dirty="0" err="1"/>
              <a:t>bunu</a:t>
            </a:r>
            <a:r>
              <a:rPr lang="en-US" sz="2500" dirty="0"/>
              <a:t> size </a:t>
            </a:r>
            <a:r>
              <a:rPr lang="en-US" sz="2500" dirty="0" err="1"/>
              <a:t>iletir</a:t>
            </a:r>
            <a:r>
              <a:rPr lang="en-US" sz="2500" dirty="0"/>
              <a:t>.</a:t>
            </a:r>
          </a:p>
          <a:p>
            <a:pPr lvl="1"/>
            <a:r>
              <a:rPr lang="en-US" sz="2500" dirty="0" err="1"/>
              <a:t>Sonuç</a:t>
            </a:r>
            <a:r>
              <a:rPr lang="en-US" sz="2500" dirty="0"/>
              <a:t>: Web </a:t>
            </a:r>
            <a:r>
              <a:rPr lang="en-US" sz="2500" dirty="0" err="1"/>
              <a:t>sitesi</a:t>
            </a:r>
            <a:r>
              <a:rPr lang="en-US" sz="2500" dirty="0"/>
              <a:t> </a:t>
            </a:r>
            <a:r>
              <a:rPr lang="en-US" sz="2500" dirty="0" err="1"/>
              <a:t>gerçek</a:t>
            </a:r>
            <a:r>
              <a:rPr lang="en-US" sz="2500" dirty="0"/>
              <a:t> </a:t>
            </a:r>
            <a:r>
              <a:rPr lang="en-US" sz="2500" dirty="0" err="1"/>
              <a:t>ziyaretçi</a:t>
            </a:r>
            <a:r>
              <a:rPr lang="en-US" sz="2500" dirty="0"/>
              <a:t> </a:t>
            </a:r>
            <a:r>
              <a:rPr lang="en-US" sz="2500" dirty="0" err="1"/>
              <a:t>olarak</a:t>
            </a:r>
            <a:r>
              <a:rPr lang="en-US" sz="2500" dirty="0"/>
              <a:t> </a:t>
            </a:r>
            <a:r>
              <a:rPr lang="en-US" sz="2500" dirty="0" err="1"/>
              <a:t>sizi</a:t>
            </a:r>
            <a:r>
              <a:rPr lang="en-US" sz="2500" dirty="0"/>
              <a:t> </a:t>
            </a:r>
            <a:r>
              <a:rPr lang="en-US" sz="2500" dirty="0" err="1"/>
              <a:t>değil</a:t>
            </a:r>
            <a:r>
              <a:rPr lang="en-US" sz="2500" dirty="0"/>
              <a:t> proxy </a:t>
            </a:r>
            <a:r>
              <a:rPr lang="en-US" sz="2500" dirty="0" err="1"/>
              <a:t>sunucusunu</a:t>
            </a:r>
            <a:r>
              <a:rPr lang="en-US" sz="2500" dirty="0"/>
              <a:t> </a:t>
            </a:r>
            <a:r>
              <a:rPr lang="en-US" sz="2500" dirty="0" err="1"/>
              <a:t>görür</a:t>
            </a:r>
            <a:r>
              <a:rPr lang="en-US" sz="2500" dirty="0"/>
              <a:t>.</a:t>
            </a:r>
          </a:p>
          <a:p>
            <a:r>
              <a:rPr lang="en-US" sz="2700" dirty="0" err="1"/>
              <a:t>Sanal</a:t>
            </a:r>
            <a:r>
              <a:rPr lang="en-US" sz="2700" dirty="0"/>
              <a:t> </a:t>
            </a:r>
            <a:r>
              <a:rPr lang="en-US" sz="2700" dirty="0" err="1"/>
              <a:t>özel</a:t>
            </a:r>
            <a:r>
              <a:rPr lang="en-US" sz="2700" dirty="0"/>
              <a:t> </a:t>
            </a:r>
            <a:r>
              <a:rPr lang="en-US" sz="2700" dirty="0" err="1"/>
              <a:t>ağ</a:t>
            </a:r>
            <a:r>
              <a:rPr lang="en-US" sz="2700" dirty="0"/>
              <a:t> (VPN): </a:t>
            </a:r>
            <a:r>
              <a:rPr lang="en-US" sz="2700" dirty="0" err="1"/>
              <a:t>Uzak</a:t>
            </a:r>
            <a:r>
              <a:rPr lang="en-US" sz="2700" dirty="0"/>
              <a:t> </a:t>
            </a:r>
            <a:r>
              <a:rPr lang="en-US" sz="2700" dirty="0" err="1"/>
              <a:t>kullanıcıların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kuruluşun</a:t>
            </a:r>
            <a:r>
              <a:rPr lang="en-US" sz="2700" dirty="0"/>
              <a:t> </a:t>
            </a:r>
            <a:r>
              <a:rPr lang="en-US" sz="2700" dirty="0" err="1"/>
              <a:t>bilgi</a:t>
            </a:r>
            <a:r>
              <a:rPr lang="en-US" sz="2700" dirty="0"/>
              <a:t> </a:t>
            </a:r>
            <a:r>
              <a:rPr lang="en-US" sz="2700" dirty="0" err="1"/>
              <a:t>işlem</a:t>
            </a:r>
            <a:r>
              <a:rPr lang="en-US" sz="2700" dirty="0"/>
              <a:t> </a:t>
            </a:r>
            <a:r>
              <a:rPr lang="en-US" sz="2700" dirty="0" err="1"/>
              <a:t>kaynaklarına</a:t>
            </a:r>
            <a:r>
              <a:rPr lang="en-US" sz="2700" dirty="0"/>
              <a:t> </a:t>
            </a:r>
            <a:r>
              <a:rPr lang="en-US" sz="2700" dirty="0" err="1"/>
              <a:t>güvenli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şekilde</a:t>
            </a:r>
            <a:r>
              <a:rPr lang="en-US" sz="2700" dirty="0"/>
              <a:t> </a:t>
            </a:r>
            <a:r>
              <a:rPr lang="en-US" sz="2700" dirty="0" err="1"/>
              <a:t>erişmesini</a:t>
            </a:r>
            <a:r>
              <a:rPr lang="en-US" sz="2700" dirty="0"/>
              <a:t> </a:t>
            </a:r>
            <a:r>
              <a:rPr lang="en-US" sz="2700" dirty="0" err="1"/>
              <a:t>ve</a:t>
            </a:r>
            <a:r>
              <a:rPr lang="en-US" sz="2700" dirty="0"/>
              <a:t> İnternet </a:t>
            </a:r>
            <a:r>
              <a:rPr lang="en-US" sz="2700" dirty="0" err="1"/>
              <a:t>gibi</a:t>
            </a:r>
            <a:r>
              <a:rPr lang="en-US" sz="2700" dirty="0"/>
              <a:t> </a:t>
            </a:r>
            <a:r>
              <a:rPr lang="en-US" sz="2700" dirty="0" err="1"/>
              <a:t>genel</a:t>
            </a:r>
            <a:r>
              <a:rPr lang="en-US" sz="2700" dirty="0"/>
              <a:t> </a:t>
            </a:r>
            <a:r>
              <a:rPr lang="en-US" sz="2700" dirty="0" err="1"/>
              <a:t>ağlar</a:t>
            </a:r>
            <a:r>
              <a:rPr lang="en-US" sz="2700" dirty="0"/>
              <a:t> </a:t>
            </a:r>
            <a:r>
              <a:rPr lang="en-US" sz="2700" dirty="0" err="1"/>
              <a:t>üzerinden</a:t>
            </a:r>
            <a:r>
              <a:rPr lang="en-US" sz="2700" dirty="0"/>
              <a:t> </a:t>
            </a:r>
            <a:r>
              <a:rPr lang="en-US" sz="2700" dirty="0" err="1"/>
              <a:t>şifrelenmiş</a:t>
            </a:r>
            <a:r>
              <a:rPr lang="en-US" sz="2700" dirty="0"/>
              <a:t> </a:t>
            </a:r>
            <a:r>
              <a:rPr lang="en-US" sz="2700" dirty="0" err="1"/>
              <a:t>verileri</a:t>
            </a:r>
            <a:r>
              <a:rPr lang="en-US" sz="2700" dirty="0"/>
              <a:t> </a:t>
            </a:r>
            <a:r>
              <a:rPr lang="en-US" sz="2700" dirty="0" err="1"/>
              <a:t>ileterek</a:t>
            </a:r>
            <a:r>
              <a:rPr lang="en-US" sz="2700" dirty="0"/>
              <a:t> </a:t>
            </a:r>
            <a:r>
              <a:rPr lang="en-US" sz="2700" dirty="0" err="1"/>
              <a:t>ve</a:t>
            </a:r>
            <a:r>
              <a:rPr lang="en-US" sz="2700" dirty="0"/>
              <a:t> </a:t>
            </a:r>
            <a:r>
              <a:rPr lang="en-US" sz="2700" dirty="0" err="1"/>
              <a:t>alarak</a:t>
            </a:r>
            <a:r>
              <a:rPr lang="en-US" sz="2700" dirty="0"/>
              <a:t> </a:t>
            </a:r>
            <a:r>
              <a:rPr lang="en-US" sz="2700" dirty="0" err="1"/>
              <a:t>veri</a:t>
            </a:r>
            <a:r>
              <a:rPr lang="en-US" sz="2700" dirty="0"/>
              <a:t> </a:t>
            </a:r>
            <a:r>
              <a:rPr lang="en-US" sz="2700" dirty="0" err="1"/>
              <a:t>paylaşmasını</a:t>
            </a:r>
            <a:r>
              <a:rPr lang="en-US" sz="2700" dirty="0"/>
              <a:t> </a:t>
            </a:r>
            <a:r>
              <a:rPr lang="en-US" sz="2700" dirty="0" err="1"/>
              <a:t>sağlar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81395"/>
            <a:ext cx="8026400" cy="945965"/>
          </a:xfrm>
        </p:spPr>
        <p:txBody>
          <a:bodyPr/>
          <a:lstStyle/>
          <a:p>
            <a:r>
              <a:rPr lang="en-US" sz="3600" dirty="0"/>
              <a:t>Proxy Servers and Virtual Private Networks</a:t>
            </a:r>
            <a:br>
              <a:rPr lang="en-US" sz="3600" dirty="0"/>
            </a:br>
            <a:r>
              <a:rPr lang="en-US" sz="3600" dirty="0"/>
              <a:t>Proxy </a:t>
            </a:r>
            <a:r>
              <a:rPr lang="en-US" sz="3600" dirty="0" err="1"/>
              <a:t>Sunucuları</a:t>
            </a:r>
            <a:r>
              <a:rPr lang="en-US" sz="3600" dirty="0"/>
              <a:t> </a:t>
            </a:r>
            <a:r>
              <a:rPr lang="en-US" sz="3600" dirty="0" err="1"/>
              <a:t>ve</a:t>
            </a:r>
            <a:r>
              <a:rPr lang="en-US" sz="3600" dirty="0"/>
              <a:t> </a:t>
            </a:r>
            <a:r>
              <a:rPr lang="en-US" sz="3600" dirty="0" err="1"/>
              <a:t>Sanal</a:t>
            </a:r>
            <a:r>
              <a:rPr lang="en-US" sz="3600" dirty="0"/>
              <a:t> Özel </a:t>
            </a:r>
            <a:r>
              <a:rPr lang="en-US" sz="3600" dirty="0" err="1"/>
              <a:t>Ağlar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01506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4545860"/>
          </a:xfrm>
        </p:spPr>
        <p:txBody>
          <a:bodyPr/>
          <a:lstStyle/>
          <a:p>
            <a:r>
              <a:rPr lang="en-US" sz="2700" dirty="0" err="1"/>
              <a:t>İzinsiz</a:t>
            </a:r>
            <a:r>
              <a:rPr lang="en-US" sz="2700" dirty="0"/>
              <a:t> </a:t>
            </a:r>
            <a:r>
              <a:rPr lang="en-US" sz="2700" dirty="0" err="1"/>
              <a:t>giriş</a:t>
            </a:r>
            <a:r>
              <a:rPr lang="en-US" sz="2700" dirty="0"/>
              <a:t> </a:t>
            </a:r>
            <a:r>
              <a:rPr lang="en-US" sz="2700" dirty="0" err="1"/>
              <a:t>tespit</a:t>
            </a:r>
            <a:r>
              <a:rPr lang="en-US" sz="2700" dirty="0"/>
              <a:t> </a:t>
            </a:r>
            <a:r>
              <a:rPr lang="en-US" sz="2700" dirty="0" err="1"/>
              <a:t>sistemi</a:t>
            </a:r>
            <a:r>
              <a:rPr lang="en-US" sz="2700" dirty="0"/>
              <a:t> (IDS): </a:t>
            </a:r>
            <a:r>
              <a:rPr lang="en-US" sz="2700" dirty="0" err="1"/>
              <a:t>Sistem</a:t>
            </a:r>
            <a:r>
              <a:rPr lang="en-US" sz="2700" dirty="0"/>
              <a:t> </a:t>
            </a:r>
            <a:r>
              <a:rPr lang="en-US" sz="2700" dirty="0" err="1"/>
              <a:t>kaynaklarını</a:t>
            </a:r>
            <a:r>
              <a:rPr lang="en-US" sz="2700" dirty="0"/>
              <a:t> </a:t>
            </a:r>
            <a:r>
              <a:rPr lang="en-US" sz="2700" dirty="0" err="1"/>
              <a:t>ve</a:t>
            </a:r>
            <a:r>
              <a:rPr lang="en-US" sz="2700" dirty="0"/>
              <a:t> </a:t>
            </a:r>
            <a:r>
              <a:rPr lang="en-US" sz="2700" dirty="0" err="1"/>
              <a:t>faaliyetlerini</a:t>
            </a:r>
            <a:r>
              <a:rPr lang="en-US" sz="2700" dirty="0"/>
              <a:t> </a:t>
            </a:r>
            <a:r>
              <a:rPr lang="en-US" sz="2700" dirty="0" err="1"/>
              <a:t>izleyen</a:t>
            </a:r>
            <a:r>
              <a:rPr lang="en-US" sz="2700" dirty="0"/>
              <a:t> </a:t>
            </a:r>
            <a:r>
              <a:rPr lang="en-US" sz="2700" dirty="0" err="1"/>
              <a:t>ve</a:t>
            </a:r>
            <a:r>
              <a:rPr lang="en-US" sz="2700" dirty="0"/>
              <a:t> </a:t>
            </a:r>
            <a:r>
              <a:rPr lang="en-US" sz="2700" dirty="0" err="1"/>
              <a:t>güvenlik</a:t>
            </a:r>
            <a:r>
              <a:rPr lang="en-US" sz="2700" dirty="0"/>
              <a:t> </a:t>
            </a:r>
            <a:r>
              <a:rPr lang="en-US" sz="2700" dirty="0" err="1"/>
              <a:t>önlemlerini</a:t>
            </a:r>
            <a:r>
              <a:rPr lang="en-US" sz="2700" dirty="0"/>
              <a:t> </a:t>
            </a:r>
            <a:r>
              <a:rPr lang="en-US" sz="2700" dirty="0" err="1"/>
              <a:t>aşmaya</a:t>
            </a:r>
            <a:r>
              <a:rPr lang="en-US" sz="2700" dirty="0"/>
              <a:t> </a:t>
            </a:r>
            <a:r>
              <a:rPr lang="en-US" sz="2700" dirty="0" err="1"/>
              <a:t>çalışan</a:t>
            </a:r>
            <a:r>
              <a:rPr lang="en-US" sz="2700" dirty="0"/>
              <a:t> </a:t>
            </a:r>
            <a:r>
              <a:rPr lang="en-US" sz="2700" dirty="0" err="1"/>
              <a:t>ağ</a:t>
            </a:r>
            <a:r>
              <a:rPr lang="en-US" sz="2700" dirty="0"/>
              <a:t> </a:t>
            </a:r>
            <a:r>
              <a:rPr lang="en-US" sz="2700" dirty="0" err="1"/>
              <a:t>trafiğini</a:t>
            </a:r>
            <a:r>
              <a:rPr lang="en-US" sz="2700" dirty="0"/>
              <a:t> </a:t>
            </a:r>
            <a:r>
              <a:rPr lang="en-US" sz="2700" dirty="0" err="1"/>
              <a:t>tespit</a:t>
            </a:r>
            <a:r>
              <a:rPr lang="en-US" sz="2700" dirty="0"/>
              <a:t> </a:t>
            </a:r>
            <a:r>
              <a:rPr lang="en-US" sz="2700" dirty="0" err="1"/>
              <a:t>ettiğinde</a:t>
            </a:r>
            <a:r>
              <a:rPr lang="en-US" sz="2700" dirty="0"/>
              <a:t> </a:t>
            </a:r>
            <a:r>
              <a:rPr lang="en-US" sz="2700" dirty="0" err="1"/>
              <a:t>uyarı</a:t>
            </a:r>
            <a:r>
              <a:rPr lang="en-US" sz="2700" dirty="0"/>
              <a:t> </a:t>
            </a:r>
            <a:r>
              <a:rPr lang="en-US" sz="2700" dirty="0" err="1"/>
              <a:t>veren</a:t>
            </a:r>
            <a:r>
              <a:rPr lang="en-US" sz="2700" dirty="0"/>
              <a:t> </a:t>
            </a:r>
            <a:r>
              <a:rPr lang="en-US" sz="2700" dirty="0" err="1"/>
              <a:t>yazılım</a:t>
            </a:r>
            <a:r>
              <a:rPr lang="en-US" sz="2700" dirty="0"/>
              <a:t> </a:t>
            </a:r>
            <a:r>
              <a:rPr lang="en-US" sz="2700" dirty="0" err="1"/>
              <a:t>ve</a:t>
            </a:r>
            <a:r>
              <a:rPr lang="en-US" sz="2700" dirty="0"/>
              <a:t>/</a:t>
            </a:r>
            <a:r>
              <a:rPr lang="en-US" sz="2700" dirty="0" err="1"/>
              <a:t>veya</a:t>
            </a:r>
            <a:r>
              <a:rPr lang="en-US" sz="2700" dirty="0"/>
              <a:t> </a:t>
            </a:r>
            <a:r>
              <a:rPr lang="en-US" sz="2700" dirty="0" err="1"/>
              <a:t>donanım</a:t>
            </a:r>
            <a:endParaRPr lang="en-US" sz="2700" dirty="0"/>
          </a:p>
          <a:p>
            <a:pPr lvl="1"/>
            <a:r>
              <a:rPr lang="en-US" sz="2500" dirty="0" err="1"/>
              <a:t>Saldırı</a:t>
            </a:r>
            <a:r>
              <a:rPr lang="en-US" sz="2500" dirty="0"/>
              <a:t> </a:t>
            </a:r>
            <a:r>
              <a:rPr lang="en-US" sz="2500" dirty="0" err="1"/>
              <a:t>tespitine</a:t>
            </a:r>
            <a:r>
              <a:rPr lang="en-US" sz="2500" dirty="0"/>
              <a:t> </a:t>
            </a:r>
            <a:r>
              <a:rPr lang="en-US" sz="2500" dirty="0" err="1"/>
              <a:t>iki</a:t>
            </a:r>
            <a:r>
              <a:rPr lang="en-US" sz="2500" dirty="0"/>
              <a:t> </a:t>
            </a:r>
            <a:r>
              <a:rPr lang="en-US" sz="2500" dirty="0" err="1"/>
              <a:t>yaklaşım</a:t>
            </a:r>
            <a:r>
              <a:rPr lang="en-US" sz="2500" dirty="0"/>
              <a:t>:</a:t>
            </a:r>
          </a:p>
          <a:p>
            <a:pPr lvl="2"/>
            <a:r>
              <a:rPr lang="en-US" sz="2300" dirty="0"/>
              <a:t>Bilgi </a:t>
            </a:r>
            <a:r>
              <a:rPr lang="en-US" sz="2300" dirty="0" err="1"/>
              <a:t>tabanlı</a:t>
            </a:r>
            <a:r>
              <a:rPr lang="en-US" sz="2300" dirty="0"/>
              <a:t>: </a:t>
            </a:r>
            <a:r>
              <a:rPr lang="en-US" sz="2300" dirty="0" err="1"/>
              <a:t>Belirli</a:t>
            </a:r>
            <a:r>
              <a:rPr lang="en-US" sz="2300" dirty="0"/>
              <a:t> </a:t>
            </a:r>
            <a:r>
              <a:rPr lang="en-US" sz="2300" dirty="0" err="1"/>
              <a:t>saldırılar</a:t>
            </a:r>
            <a:r>
              <a:rPr lang="en-US" sz="2300" dirty="0"/>
              <a:t> </a:t>
            </a:r>
            <a:r>
              <a:rPr lang="en-US" sz="2300" dirty="0" err="1"/>
              <a:t>ve</a:t>
            </a:r>
            <a:r>
              <a:rPr lang="en-US" sz="2300" dirty="0"/>
              <a:t> </a:t>
            </a:r>
            <a:r>
              <a:rPr lang="en-US" sz="2300" dirty="0" err="1"/>
              <a:t>sistem</a:t>
            </a:r>
            <a:r>
              <a:rPr lang="en-US" sz="2300" dirty="0"/>
              <a:t> </a:t>
            </a:r>
            <a:r>
              <a:rPr lang="en-US" sz="2300" dirty="0" err="1"/>
              <a:t>açıkları</a:t>
            </a:r>
            <a:r>
              <a:rPr lang="en-US" sz="2300" dirty="0"/>
              <a:t> </a:t>
            </a:r>
            <a:r>
              <a:rPr lang="en-US" sz="2300" dirty="0" err="1"/>
              <a:t>hakkında</a:t>
            </a:r>
            <a:r>
              <a:rPr lang="en-US" sz="2300" dirty="0"/>
              <a:t> </a:t>
            </a:r>
            <a:r>
              <a:rPr lang="en-US" sz="2300" dirty="0" err="1"/>
              <a:t>bilgi</a:t>
            </a:r>
            <a:r>
              <a:rPr lang="en-US" sz="2300" dirty="0"/>
              <a:t> </a:t>
            </a:r>
            <a:r>
              <a:rPr lang="en-US" sz="2300" dirty="0" err="1"/>
              <a:t>içerir</a:t>
            </a:r>
            <a:r>
              <a:rPr lang="en-US" sz="2300" dirty="0"/>
              <a:t> </a:t>
            </a:r>
            <a:r>
              <a:rPr lang="en-US" sz="2300" dirty="0" err="1"/>
              <a:t>ve</a:t>
            </a:r>
            <a:r>
              <a:rPr lang="en-US" sz="2300" dirty="0"/>
              <a:t> </a:t>
            </a:r>
            <a:r>
              <a:rPr lang="en-US" sz="2300" dirty="0" err="1"/>
              <a:t>bu</a:t>
            </a:r>
            <a:r>
              <a:rPr lang="en-US" sz="2300" dirty="0"/>
              <a:t> </a:t>
            </a:r>
            <a:r>
              <a:rPr lang="en-US" sz="2300" dirty="0" err="1"/>
              <a:t>açıklardan</a:t>
            </a:r>
            <a:r>
              <a:rPr lang="en-US" sz="2300" dirty="0"/>
              <a:t> </a:t>
            </a:r>
            <a:r>
              <a:rPr lang="en-US" sz="2300" dirty="0" err="1"/>
              <a:t>yararlanma</a:t>
            </a:r>
            <a:r>
              <a:rPr lang="en-US" sz="2300" dirty="0"/>
              <a:t> </a:t>
            </a:r>
            <a:r>
              <a:rPr lang="en-US" sz="2300" dirty="0" err="1"/>
              <a:t>girişimlerini</a:t>
            </a:r>
            <a:r>
              <a:rPr lang="en-US" sz="2300" dirty="0"/>
              <a:t> </a:t>
            </a:r>
            <a:r>
              <a:rPr lang="en-US" sz="2300" dirty="0" err="1"/>
              <a:t>izler</a:t>
            </a:r>
            <a:r>
              <a:rPr lang="en-US" sz="2300" dirty="0"/>
              <a:t> (</a:t>
            </a:r>
            <a:r>
              <a:rPr lang="en-US" sz="2300" dirty="0" err="1"/>
              <a:t>örneğin</a:t>
            </a:r>
            <a:r>
              <a:rPr lang="en-US" sz="2300" dirty="0"/>
              <a:t>, </a:t>
            </a:r>
            <a:r>
              <a:rPr lang="en-US" sz="2300" dirty="0" err="1"/>
              <a:t>tekrarlanan</a:t>
            </a:r>
            <a:r>
              <a:rPr lang="en-US" sz="2300" dirty="0"/>
              <a:t> </a:t>
            </a:r>
            <a:r>
              <a:rPr lang="en-US" sz="2300" dirty="0" err="1"/>
              <a:t>başarısız</a:t>
            </a:r>
            <a:r>
              <a:rPr lang="en-US" sz="2300" dirty="0"/>
              <a:t> </a:t>
            </a:r>
            <a:r>
              <a:rPr lang="en-US" sz="2300" dirty="0" err="1"/>
              <a:t>oturum</a:t>
            </a:r>
            <a:r>
              <a:rPr lang="en-US" sz="2300" dirty="0"/>
              <a:t> </a:t>
            </a:r>
            <a:r>
              <a:rPr lang="en-US" sz="2300" dirty="0" err="1"/>
              <a:t>açma</a:t>
            </a:r>
            <a:r>
              <a:rPr lang="en-US" sz="2300" dirty="0"/>
              <a:t> </a:t>
            </a:r>
            <a:r>
              <a:rPr lang="en-US" sz="2300" dirty="0" err="1"/>
              <a:t>girişimleri</a:t>
            </a:r>
            <a:r>
              <a:rPr lang="en-US" sz="2300" dirty="0"/>
              <a:t>).</a:t>
            </a:r>
          </a:p>
          <a:p>
            <a:pPr lvl="2"/>
            <a:r>
              <a:rPr lang="en-US" sz="2300" dirty="0" err="1"/>
              <a:t>Davranış</a:t>
            </a:r>
            <a:r>
              <a:rPr lang="en-US" sz="2300" dirty="0"/>
              <a:t> </a:t>
            </a:r>
            <a:r>
              <a:rPr lang="en-US" sz="2300" dirty="0" err="1"/>
              <a:t>tabanlı</a:t>
            </a:r>
            <a:r>
              <a:rPr lang="en-US" sz="2300" dirty="0"/>
              <a:t>: </a:t>
            </a:r>
            <a:r>
              <a:rPr lang="en-US" sz="2300" dirty="0" err="1"/>
              <a:t>Referans</a:t>
            </a:r>
            <a:r>
              <a:rPr lang="en-US" sz="2300" dirty="0"/>
              <a:t> </a:t>
            </a:r>
            <a:r>
              <a:rPr lang="en-US" sz="2300" dirty="0" err="1"/>
              <a:t>bilgilere</a:t>
            </a:r>
            <a:r>
              <a:rPr lang="en-US" sz="2300" dirty="0"/>
              <a:t> </a:t>
            </a:r>
            <a:r>
              <a:rPr lang="en-US" sz="2300" dirty="0" err="1"/>
              <a:t>dayalı</a:t>
            </a:r>
            <a:r>
              <a:rPr lang="en-US" sz="2300" dirty="0"/>
              <a:t> </a:t>
            </a:r>
            <a:r>
              <a:rPr lang="en-US" sz="2300" dirty="0" err="1"/>
              <a:t>olarak</a:t>
            </a:r>
            <a:r>
              <a:rPr lang="en-US" sz="2300" dirty="0"/>
              <a:t> </a:t>
            </a:r>
            <a:r>
              <a:rPr lang="en-US" sz="2300" dirty="0" err="1"/>
              <a:t>bir</a:t>
            </a:r>
            <a:r>
              <a:rPr lang="en-US" sz="2300" dirty="0"/>
              <a:t> </a:t>
            </a:r>
            <a:r>
              <a:rPr lang="en-US" sz="2300" dirty="0" err="1"/>
              <a:t>sistemin</a:t>
            </a:r>
            <a:r>
              <a:rPr lang="en-US" sz="2300" dirty="0"/>
              <a:t> </a:t>
            </a:r>
            <a:r>
              <a:rPr lang="en-US" sz="2300" dirty="0" err="1"/>
              <a:t>ve</a:t>
            </a:r>
            <a:r>
              <a:rPr lang="en-US" sz="2300" dirty="0"/>
              <a:t> </a:t>
            </a:r>
            <a:r>
              <a:rPr lang="en-US" sz="2300" dirty="0" err="1"/>
              <a:t>kullanıcılarının</a:t>
            </a:r>
            <a:r>
              <a:rPr lang="en-US" sz="2300" dirty="0"/>
              <a:t> normal </a:t>
            </a:r>
            <a:r>
              <a:rPr lang="en-US" sz="2300" dirty="0" err="1"/>
              <a:t>davranışını</a:t>
            </a:r>
            <a:r>
              <a:rPr lang="en-US" sz="2300" dirty="0"/>
              <a:t> </a:t>
            </a:r>
            <a:r>
              <a:rPr lang="en-US" sz="2300" dirty="0" err="1"/>
              <a:t>modeller</a:t>
            </a:r>
            <a:r>
              <a:rPr lang="en-US" sz="2300" dirty="0"/>
              <a:t>; </a:t>
            </a:r>
            <a:r>
              <a:rPr lang="en-US" sz="2300" dirty="0" err="1"/>
              <a:t>mevcut</a:t>
            </a:r>
            <a:r>
              <a:rPr lang="en-US" sz="2300" dirty="0"/>
              <a:t> </a:t>
            </a:r>
            <a:r>
              <a:rPr lang="en-US" sz="2300" dirty="0" err="1"/>
              <a:t>etkinliği</a:t>
            </a:r>
            <a:r>
              <a:rPr lang="en-US" sz="2300" dirty="0"/>
              <a:t> </a:t>
            </a:r>
            <a:r>
              <a:rPr lang="en-US" sz="2300" dirty="0" err="1"/>
              <a:t>bu</a:t>
            </a:r>
            <a:r>
              <a:rPr lang="en-US" sz="2300" dirty="0"/>
              <a:t> </a:t>
            </a:r>
            <a:r>
              <a:rPr lang="en-US" sz="2300" dirty="0" err="1"/>
              <a:t>modelle</a:t>
            </a:r>
            <a:r>
              <a:rPr lang="en-US" sz="2300" dirty="0"/>
              <a:t> </a:t>
            </a:r>
            <a:r>
              <a:rPr lang="en-US" sz="2300" dirty="0" err="1"/>
              <a:t>karşılaştırır</a:t>
            </a:r>
            <a:r>
              <a:rPr lang="en-US" sz="2300" dirty="0"/>
              <a:t> </a:t>
            </a:r>
            <a:r>
              <a:rPr lang="en-US" sz="2300" dirty="0" err="1"/>
              <a:t>ve</a:t>
            </a:r>
            <a:r>
              <a:rPr lang="en-US" sz="2300" dirty="0"/>
              <a:t> </a:t>
            </a:r>
            <a:r>
              <a:rPr lang="en-US" sz="2300" dirty="0" err="1"/>
              <a:t>sapmaları</a:t>
            </a:r>
            <a:r>
              <a:rPr lang="en-US" sz="2300" dirty="0"/>
              <a:t> arar (</a:t>
            </a:r>
            <a:r>
              <a:rPr lang="en-US" sz="2300" dirty="0" err="1"/>
              <a:t>örneğin</a:t>
            </a:r>
            <a:r>
              <a:rPr lang="en-US" sz="2300" dirty="0"/>
              <a:t>, </a:t>
            </a:r>
            <a:r>
              <a:rPr lang="en-US" sz="2300" dirty="0" err="1"/>
              <a:t>garip</a:t>
            </a:r>
            <a:r>
              <a:rPr lang="en-US" sz="2300" dirty="0"/>
              <a:t> </a:t>
            </a:r>
            <a:r>
              <a:rPr lang="en-US" sz="2300" dirty="0" err="1"/>
              <a:t>saatlerde</a:t>
            </a:r>
            <a:r>
              <a:rPr lang="en-US" sz="2300" dirty="0"/>
              <a:t> </a:t>
            </a:r>
            <a:r>
              <a:rPr lang="en-US" sz="2300" dirty="0" err="1"/>
              <a:t>olağandışı</a:t>
            </a:r>
            <a:r>
              <a:rPr lang="en-US" sz="2300" dirty="0"/>
              <a:t> </a:t>
            </a:r>
            <a:r>
              <a:rPr lang="en-US" sz="2300" dirty="0" err="1"/>
              <a:t>trafik</a:t>
            </a:r>
            <a:r>
              <a:rPr lang="en-US" sz="2300" dirty="0"/>
              <a:t>)</a:t>
            </a:r>
            <a:endParaRPr lang="en-US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8849"/>
            <a:ext cx="8026400" cy="1051057"/>
          </a:xfrm>
        </p:spPr>
        <p:txBody>
          <a:bodyPr/>
          <a:lstStyle/>
          <a:p>
            <a:r>
              <a:rPr lang="en-US" sz="4000" dirty="0"/>
              <a:t>Intrusion Detection System</a:t>
            </a:r>
            <a:br>
              <a:rPr lang="en-US" sz="4000" dirty="0"/>
            </a:br>
            <a:r>
              <a:rPr lang="en-US" sz="4000" dirty="0" err="1"/>
              <a:t>İzinsiz</a:t>
            </a:r>
            <a:r>
              <a:rPr lang="en-US" sz="4000" dirty="0"/>
              <a:t> </a:t>
            </a:r>
            <a:r>
              <a:rPr lang="en-US" sz="4000" dirty="0" err="1"/>
              <a:t>giriş</a:t>
            </a:r>
            <a:r>
              <a:rPr lang="en-US" sz="4000" dirty="0"/>
              <a:t> </a:t>
            </a:r>
            <a:r>
              <a:rPr lang="en-US" sz="4000" dirty="0" err="1"/>
              <a:t>tespit</a:t>
            </a:r>
            <a:r>
              <a:rPr lang="en-US" sz="4000" dirty="0"/>
              <a:t> </a:t>
            </a:r>
            <a:r>
              <a:rPr lang="en-US" sz="4000" dirty="0" err="1"/>
              <a:t>sistemleri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015938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95400"/>
            <a:ext cx="8245475" cy="5330690"/>
          </a:xfrm>
        </p:spPr>
        <p:txBody>
          <a:bodyPr/>
          <a:lstStyle/>
          <a:p>
            <a:r>
              <a:rPr lang="en-US" sz="2800" dirty="0"/>
              <a:t>Authentication methods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Single-factor: Requires only one credential </a:t>
            </a:r>
            <a:br>
              <a:rPr lang="en-US" sz="2600" dirty="0"/>
            </a:br>
            <a:r>
              <a:rPr lang="en-US" sz="2600" dirty="0"/>
              <a:t>(e.g., a password)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Two-factor: Requires two types of credentials</a:t>
            </a:r>
            <a:br>
              <a:rPr lang="en-US" sz="2600" dirty="0"/>
            </a:br>
            <a:r>
              <a:rPr lang="en-US" sz="2600" dirty="0"/>
              <a:t>(e.g., a bank card and a PIN)</a:t>
            </a:r>
          </a:p>
          <a:p>
            <a:r>
              <a:rPr lang="en-US" sz="2800" dirty="0"/>
              <a:t>User roles and accounts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Used to give users authority to perform their responsibilities within an application and nothing more</a:t>
            </a:r>
          </a:p>
          <a:p>
            <a:r>
              <a:rPr lang="en-US" sz="2800" dirty="0"/>
              <a:t>Data encryption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Protects data being used within an application from unauthorized access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81394"/>
            <a:ext cx="8026400" cy="945965"/>
          </a:xfrm>
        </p:spPr>
        <p:txBody>
          <a:bodyPr/>
          <a:lstStyle/>
          <a:p>
            <a:r>
              <a:rPr lang="en-US" sz="3600" dirty="0"/>
              <a:t>Implementing CIA at the Application Level</a:t>
            </a:r>
            <a:br>
              <a:rPr lang="en-US" sz="3600" dirty="0"/>
            </a:br>
            <a:r>
              <a:rPr lang="en-US" sz="3600" dirty="0" err="1"/>
              <a:t>CIA'in</a:t>
            </a:r>
            <a:r>
              <a:rPr lang="en-US" sz="3600" dirty="0"/>
              <a:t> </a:t>
            </a:r>
            <a:r>
              <a:rPr lang="en-US" sz="3600" dirty="0" err="1"/>
              <a:t>Uygulama</a:t>
            </a:r>
            <a:r>
              <a:rPr lang="en-US" sz="3600" dirty="0"/>
              <a:t> </a:t>
            </a:r>
            <a:r>
              <a:rPr lang="en-US" sz="3600" dirty="0" err="1"/>
              <a:t>Düzeyinde</a:t>
            </a:r>
            <a:r>
              <a:rPr lang="en-US" sz="3600" dirty="0"/>
              <a:t> </a:t>
            </a:r>
            <a:r>
              <a:rPr lang="en-US" sz="3600" dirty="0" err="1"/>
              <a:t>Uygulanması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295841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066800"/>
            <a:ext cx="8415338" cy="5830827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700" dirty="0"/>
              <a:t>Security education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sz="2600" dirty="0"/>
              <a:t>Educate end users about the importance of security so they are motivated to understand and follow security policies.</a:t>
            </a:r>
          </a:p>
          <a:p>
            <a:pPr>
              <a:spcBef>
                <a:spcPts val="600"/>
              </a:spcBef>
            </a:pPr>
            <a:r>
              <a:rPr lang="en-US" sz="2700" dirty="0"/>
              <a:t>Authentication methods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sz="2600" dirty="0"/>
              <a:t>Require end users to implement a security  passcode that must be entered before their device accepts further input.</a:t>
            </a:r>
          </a:p>
          <a:p>
            <a:pPr>
              <a:spcBef>
                <a:spcPts val="600"/>
              </a:spcBef>
            </a:pPr>
            <a:r>
              <a:rPr lang="en-US" sz="2700" dirty="0"/>
              <a:t>Antivirus software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sz="2600" b="1" dirty="0"/>
              <a:t>Virus signature</a:t>
            </a:r>
            <a:r>
              <a:rPr lang="en-US" sz="2600" dirty="0"/>
              <a:t>: A specific sequence of bytes  that indicates the presence of a previously identified virus</a:t>
            </a:r>
          </a:p>
          <a:p>
            <a:pPr>
              <a:spcBef>
                <a:spcPts val="600"/>
              </a:spcBef>
            </a:pPr>
            <a:r>
              <a:rPr lang="en-US" sz="2700" dirty="0"/>
              <a:t>Data encryption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sz="2600" dirty="0"/>
              <a:t>Full-disk encryption protects storage devices and/or hard drives so they cannot be removed from a computer and plugged into another computing device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03668"/>
            <a:ext cx="8026400" cy="501419"/>
          </a:xfrm>
        </p:spPr>
        <p:txBody>
          <a:bodyPr/>
          <a:lstStyle/>
          <a:p>
            <a:r>
              <a:rPr lang="en-US" sz="3800" dirty="0"/>
              <a:t>Implementing CIA at the End-User-Level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2157663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582519"/>
          </a:xfrm>
        </p:spPr>
        <p:txBody>
          <a:bodyPr/>
          <a:lstStyle/>
          <a:p>
            <a:r>
              <a:rPr lang="en-US" sz="2800" dirty="0"/>
              <a:t>An organization should be prepared for the worst—a successful attack that defeats all or some of a system’s defenses and damages data and information systems.</a:t>
            </a:r>
          </a:p>
          <a:p>
            <a:r>
              <a:rPr lang="en-US" sz="2800" dirty="0"/>
              <a:t>In a security incident, the primary goal must be to regain control and limit damage, not to attempt to monitor or catch an intruder.</a:t>
            </a:r>
          </a:p>
          <a:p>
            <a:r>
              <a:rPr lang="en-US" sz="2800" dirty="0"/>
              <a:t>A well-developed response plan helps keep an incident under technical and emotional control.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Response to Cyberattack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7112051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295400"/>
            <a:ext cx="8237538" cy="4507388"/>
          </a:xfrm>
        </p:spPr>
        <p:txBody>
          <a:bodyPr/>
          <a:lstStyle/>
          <a:p>
            <a:r>
              <a:rPr lang="en-US" sz="2700" dirty="0"/>
              <a:t>A key element of any response plan is to define who to notify and who not to notify in the event of a computer security incident.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Questions to cover include: </a:t>
            </a:r>
          </a:p>
          <a:p>
            <a:pPr lvl="2"/>
            <a:r>
              <a:rPr lang="en-US" sz="2500" dirty="0"/>
              <a:t>Within the company, who needs to be notified, and what information does each person need to have?</a:t>
            </a:r>
          </a:p>
          <a:p>
            <a:pPr lvl="2"/>
            <a:r>
              <a:rPr lang="en-US" sz="2500" dirty="0"/>
              <a:t>Under what conditions should the company contact major customers and suppliers? </a:t>
            </a:r>
          </a:p>
          <a:p>
            <a:pPr lvl="2"/>
            <a:r>
              <a:rPr lang="en-US" sz="2500" dirty="0"/>
              <a:t>How does the company inform them of a disruption in business without unnecessarily alarming them? </a:t>
            </a:r>
          </a:p>
          <a:p>
            <a:pPr lvl="2"/>
            <a:r>
              <a:rPr lang="en-US" sz="2500" dirty="0"/>
              <a:t>When should local authorities or the FBI be contacted?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Incident Notification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2983369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259080"/>
          </a:xfrm>
        </p:spPr>
        <p:txBody>
          <a:bodyPr/>
          <a:lstStyle/>
          <a:p>
            <a:r>
              <a:rPr lang="en-US" sz="2800" dirty="0"/>
              <a:t>An organization should document all details of a security incident as it works to resolve a security incident.</a:t>
            </a:r>
          </a:p>
          <a:p>
            <a:r>
              <a:rPr lang="en-US" sz="2800" dirty="0"/>
              <a:t>Capture all system events, the specific actions taken (what, when, and who), and all external conversations (what, when, and who) in a logbook</a:t>
            </a:r>
            <a:r>
              <a:rPr lang="en-US" sz="3200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6843"/>
            <a:ext cx="8026400" cy="475066"/>
          </a:xfrm>
        </p:spPr>
        <p:txBody>
          <a:bodyPr/>
          <a:lstStyle/>
          <a:p>
            <a:r>
              <a:rPr lang="en-US" sz="3600" dirty="0"/>
              <a:t>Protection of Evidence and Activity Logs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5850229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95400"/>
            <a:ext cx="8415338" cy="4624343"/>
          </a:xfrm>
        </p:spPr>
        <p:txBody>
          <a:bodyPr/>
          <a:lstStyle/>
          <a:p>
            <a:r>
              <a:rPr lang="en-US" sz="2800" dirty="0"/>
              <a:t>Eradication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Before the IT security group begins eradication efforts, it must collect and log all possible criminal evidence and then verify all backups are current, complete, and free of malware.</a:t>
            </a:r>
          </a:p>
          <a:p>
            <a:r>
              <a:rPr lang="en-US" sz="2800" dirty="0"/>
              <a:t>Incident Follow-Up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An essential part of follow-up is to determine how the organization’s security was compromised so that it does not happen again.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A formal incident report includes a detailed chronology of events and the impact of the incident.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2766"/>
            <a:ext cx="8026400" cy="523220"/>
          </a:xfrm>
        </p:spPr>
        <p:txBody>
          <a:bodyPr/>
          <a:lstStyle/>
          <a:p>
            <a:r>
              <a:rPr lang="en-US" sz="4000" dirty="0"/>
              <a:t>Eradication and Incident Follow-Up</a:t>
            </a:r>
            <a:r>
              <a:rPr lang="en-US" dirty="0"/>
              <a:t>	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049480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019288"/>
          </a:xfrm>
        </p:spPr>
        <p:txBody>
          <a:bodyPr/>
          <a:lstStyle/>
          <a:p>
            <a:r>
              <a:rPr lang="en-US" sz="2800" b="1" dirty="0"/>
              <a:t>Managed security service provider (MSSP): </a:t>
            </a:r>
            <a:r>
              <a:rPr lang="en-US" sz="2800" dirty="0"/>
              <a:t>A company that monitors, manages, and maintains computer and network security for other organizations.</a:t>
            </a:r>
          </a:p>
          <a:p>
            <a:r>
              <a:rPr lang="en-US" sz="2800" dirty="0"/>
              <a:t>Many small and midsized organizations use an MSSP because the level of in-house network security expertise needed to protect their business operations is too costly to acquire and maintain.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Using an MSSP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168350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019288"/>
          </a:xfrm>
        </p:spPr>
        <p:txBody>
          <a:bodyPr/>
          <a:lstStyle/>
          <a:p>
            <a:r>
              <a:rPr lang="en-US" sz="2800" b="1" dirty="0"/>
              <a:t>Computer forensics: </a:t>
            </a:r>
            <a:r>
              <a:rPr lang="en-US" sz="2800" dirty="0"/>
              <a:t>Combines elements of law and computer science to collect, examine, and preserve data from computer devices and networks in a manner that preserves the integrity of the data gathered so it is admissible as evidence in court.</a:t>
            </a:r>
          </a:p>
          <a:p>
            <a:r>
              <a:rPr lang="en-US" sz="2800" dirty="0"/>
              <a:t>Proper handling of a computer forensics investigation is the key to fighting computer crime successfully in court.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Computer Forensics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5179359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4713598"/>
          </a:xfrm>
        </p:spPr>
        <p:txBody>
          <a:bodyPr/>
          <a:lstStyle/>
          <a:p>
            <a:r>
              <a:rPr lang="en-US" sz="2800" b="1" dirty="0"/>
              <a:t>Why are computer incidents so prevalent, and what are their effects?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Reasons include: </a:t>
            </a:r>
          </a:p>
          <a:p>
            <a:pPr lvl="2"/>
            <a:r>
              <a:rPr lang="en-US" sz="2400" dirty="0"/>
              <a:t>Increasing computing complexity</a:t>
            </a:r>
          </a:p>
          <a:p>
            <a:pPr lvl="2"/>
            <a:r>
              <a:rPr lang="en-US" sz="2400" dirty="0"/>
              <a:t>Expanding and changing systems</a:t>
            </a:r>
          </a:p>
          <a:p>
            <a:pPr lvl="2"/>
            <a:r>
              <a:rPr lang="en-US" sz="2400" dirty="0"/>
              <a:t>An increase in the prevalence of BYOD policies</a:t>
            </a:r>
          </a:p>
          <a:p>
            <a:pPr lvl="2"/>
            <a:r>
              <a:rPr lang="en-US" sz="2400" dirty="0"/>
              <a:t>A growing reliance on software with known vulnerabilities</a:t>
            </a:r>
          </a:p>
          <a:p>
            <a:pPr lvl="2"/>
            <a:r>
              <a:rPr lang="en-US" sz="2400" dirty="0"/>
              <a:t>Increasing sophistication of those who would do harm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Exploit: An attack on an information system that takes advantage of a particular system vulnerability (often a result of poor system design or implementation)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8"/>
            <a:ext cx="8026400" cy="527837"/>
          </a:xfrm>
        </p:spPr>
        <p:txBody>
          <a:bodyPr/>
          <a:lstStyle/>
          <a:p>
            <a:r>
              <a:rPr lang="en-US" sz="4000" dirty="0"/>
              <a:t>Summary, Part 1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471413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5218352"/>
          </a:xfrm>
        </p:spPr>
        <p:txBody>
          <a:bodyPr/>
          <a:lstStyle/>
          <a:p>
            <a:r>
              <a:rPr lang="en-US" sz="2800" b="1" dirty="0"/>
              <a:t>Why are computer incidents so prevalent, and what are their effects?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Perpetrators of computer crime: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Black hat hacker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Cracker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Malicious insider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Industrial spy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Cybercriminal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Hacktivist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Cyberterrorist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White hat hacker: Hired by an organization to test the security of its information systems allowing the organization to improve its defenses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6447646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5820824"/>
          </a:xfrm>
        </p:spPr>
        <p:txBody>
          <a:bodyPr/>
          <a:lstStyle/>
          <a:p>
            <a:r>
              <a:rPr lang="en-US" sz="2800" b="1" dirty="0"/>
              <a:t>Why are computer incidents so prevalent, and what are their effects?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Common computer exploits:</a:t>
            </a:r>
          </a:p>
          <a:p>
            <a:pPr lvl="2"/>
            <a:r>
              <a:rPr lang="en-US" sz="2500" dirty="0"/>
              <a:t>Ransomware, viruses, and worms</a:t>
            </a:r>
          </a:p>
          <a:p>
            <a:pPr lvl="2"/>
            <a:r>
              <a:rPr lang="en-US" sz="2500" dirty="0"/>
              <a:t>Trojan horses</a:t>
            </a:r>
          </a:p>
          <a:p>
            <a:pPr lvl="2"/>
            <a:r>
              <a:rPr lang="en-US" sz="2500" dirty="0"/>
              <a:t>Logic bombs</a:t>
            </a:r>
          </a:p>
          <a:p>
            <a:pPr lvl="2"/>
            <a:r>
              <a:rPr lang="en-US" sz="2500" dirty="0"/>
              <a:t>Blended threats</a:t>
            </a:r>
          </a:p>
          <a:p>
            <a:pPr lvl="2"/>
            <a:r>
              <a:rPr lang="en-US" sz="2500" dirty="0"/>
              <a:t>Spam</a:t>
            </a:r>
          </a:p>
          <a:p>
            <a:pPr lvl="2"/>
            <a:r>
              <a:rPr lang="en-US" sz="2500" dirty="0"/>
              <a:t>DDoS attacks and rootkits</a:t>
            </a:r>
          </a:p>
          <a:p>
            <a:pPr lvl="2"/>
            <a:r>
              <a:rPr lang="en-US" sz="2500" dirty="0"/>
              <a:t>Advanced persistent threats</a:t>
            </a:r>
          </a:p>
          <a:p>
            <a:pPr lvl="2"/>
            <a:r>
              <a:rPr lang="en-US" sz="2500" dirty="0"/>
              <a:t>Phishing, spear phishing, smishing, and vishing</a:t>
            </a:r>
          </a:p>
          <a:p>
            <a:pPr lvl="2"/>
            <a:r>
              <a:rPr lang="en-US" sz="2500" dirty="0"/>
              <a:t>Cyberespionage and cyberterrorism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6395801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4" y="1143000"/>
            <a:ext cx="8550275" cy="4759765"/>
          </a:xfrm>
        </p:spPr>
        <p:txBody>
          <a:bodyPr/>
          <a:lstStyle/>
          <a:p>
            <a:r>
              <a:rPr lang="en-US" sz="2800" b="1" dirty="0"/>
              <a:t>Why are computer incidents so prevalent, and what are their effects?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Department of Homeland Security (DHS): Federal agency with the responsibility to provide for a “safer, more secure America, which is resilient against terrorism and other potential threats.”</a:t>
            </a:r>
          </a:p>
          <a:p>
            <a:pPr lvl="2"/>
            <a:r>
              <a:rPr lang="en-US" sz="2400" dirty="0"/>
              <a:t>Office of Cybersecurity and Communications is responsible for enhancing the security, resilience, and reliability of U.S. cyber- and communications infrastructure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US-CERT: A partnership between DHS and the public and private sectors established to protect the nation’s Internet infrastructure against cyberattacks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0660684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4" y="1143000"/>
            <a:ext cx="8550275" cy="3776418"/>
          </a:xfrm>
        </p:spPr>
        <p:txBody>
          <a:bodyPr/>
          <a:lstStyle/>
          <a:p>
            <a:r>
              <a:rPr lang="en-US" sz="2800" b="1" dirty="0"/>
              <a:t>Why are computer incidents so prevalent, and what are their effects?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Laws enacted to combat computer-related crime:</a:t>
            </a:r>
          </a:p>
          <a:p>
            <a:pPr lvl="2"/>
            <a:r>
              <a:rPr lang="en-US" sz="2500" dirty="0"/>
              <a:t>Computer Fraud and Abuse Act</a:t>
            </a:r>
          </a:p>
          <a:p>
            <a:pPr lvl="2"/>
            <a:r>
              <a:rPr lang="en-US" sz="2500" dirty="0"/>
              <a:t>Fraud and Related Activity in Connection with Access </a:t>
            </a:r>
            <a:br>
              <a:rPr lang="en-US" sz="2500" dirty="0"/>
            </a:br>
            <a:r>
              <a:rPr lang="en-US" sz="2500" dirty="0"/>
              <a:t>Devices Statute</a:t>
            </a:r>
          </a:p>
          <a:p>
            <a:pPr lvl="2"/>
            <a:r>
              <a:rPr lang="en-US" sz="2500" dirty="0"/>
              <a:t>Stored Wire and Electronic Communications and</a:t>
            </a:r>
            <a:br>
              <a:rPr lang="en-US" sz="2500" dirty="0"/>
            </a:br>
            <a:r>
              <a:rPr lang="en-US" sz="2500" dirty="0"/>
              <a:t>Transactional Records Access Statutes</a:t>
            </a:r>
          </a:p>
          <a:p>
            <a:pPr lvl="2"/>
            <a:r>
              <a:rPr lang="en-US" sz="2500" dirty="0"/>
              <a:t>USA Patriot Act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8875896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0062" y="1143000"/>
            <a:ext cx="8550275" cy="3736407"/>
          </a:xfrm>
        </p:spPr>
        <p:txBody>
          <a:bodyPr/>
          <a:lstStyle/>
          <a:p>
            <a:r>
              <a:rPr lang="en-US" sz="2800" b="1" dirty="0"/>
              <a:t>What can be done to implement a strong security program to prevent cyberattacks?</a:t>
            </a:r>
          </a:p>
          <a:p>
            <a:r>
              <a:rPr lang="en-US" sz="2800" dirty="0"/>
              <a:t>CIA security triad: Confidentiality, integrity, and availability of IT resources and data</a:t>
            </a:r>
          </a:p>
          <a:p>
            <a:r>
              <a:rPr lang="en-US" sz="2800" dirty="0"/>
              <a:t>An organization’s security strategy must include security measures at the organization, network, application, and end-user levels</a:t>
            </a:r>
          </a:p>
          <a:p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8028188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0062" y="1143000"/>
            <a:ext cx="8550275" cy="4876720"/>
          </a:xfrm>
        </p:spPr>
        <p:txBody>
          <a:bodyPr/>
          <a:lstStyle/>
          <a:p>
            <a:r>
              <a:rPr lang="en-US" sz="2800" b="1" dirty="0"/>
              <a:t>What can be done to implement a strong security program to prevent cyberattacks?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Key elements of a risk-based security strategy:</a:t>
            </a:r>
          </a:p>
          <a:p>
            <a:pPr lvl="2"/>
            <a:r>
              <a:rPr lang="en-US" sz="2400" dirty="0"/>
              <a:t>A risk assessment to identify and prioritize threats</a:t>
            </a:r>
          </a:p>
          <a:p>
            <a:pPr lvl="2"/>
            <a:r>
              <a:rPr lang="en-US" sz="2400" dirty="0"/>
              <a:t>A well-defined disaster recovery plan that ensures the availability of key data and information technology assets</a:t>
            </a:r>
          </a:p>
          <a:p>
            <a:pPr lvl="2"/>
            <a:r>
              <a:rPr lang="en-US" sz="2400" dirty="0"/>
              <a:t>Definition of security policies to guide employees to follow recommended processes and practices</a:t>
            </a:r>
          </a:p>
          <a:p>
            <a:pPr lvl="2"/>
            <a:r>
              <a:rPr lang="en-US" sz="2400" dirty="0"/>
              <a:t>Periodic security audits to ensure end users are following established policies and to assess adequacy of security policies</a:t>
            </a:r>
          </a:p>
          <a:p>
            <a:pPr lvl="2"/>
            <a:r>
              <a:rPr lang="en-US" sz="2400" dirty="0"/>
              <a:t>Compliance standards defined by external parties</a:t>
            </a:r>
          </a:p>
          <a:p>
            <a:pPr lvl="2"/>
            <a:r>
              <a:rPr lang="en-US" sz="2400" dirty="0"/>
              <a:t>Use of a security dashboard to track key performance indicators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1606525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0062" y="1143000"/>
            <a:ext cx="8550275" cy="5307607"/>
          </a:xfrm>
        </p:spPr>
        <p:txBody>
          <a:bodyPr/>
          <a:lstStyle/>
          <a:p>
            <a:r>
              <a:rPr lang="en-US" sz="2800" b="1" dirty="0"/>
              <a:t>What can be done to implement a strong security program to prevent cyberattacks?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Reasonable assurance: Manager’s must use their judgment to ensure that the cost of control does not exceed the system’s benefits or the risks involved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Network security layer—key elements: Authentication methods, a firewall, routers, encryption, proxy servers, </a:t>
            </a:r>
            <a:br>
              <a:rPr lang="en-US" sz="2600" dirty="0"/>
            </a:br>
            <a:r>
              <a:rPr lang="en-US" sz="2600" dirty="0"/>
              <a:t>VPN, and an IDS 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Application security layer—key elements: Authentication methods, user roles and accounts, and data encryption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End-user security layer—key elements: Security </a:t>
            </a:r>
            <a:br>
              <a:rPr lang="en-US" sz="2600" dirty="0"/>
            </a:br>
            <a:r>
              <a:rPr lang="en-US" sz="2600" dirty="0"/>
              <a:t>education, authentication methods, antivirus software, </a:t>
            </a:r>
            <a:br>
              <a:rPr lang="en-US" sz="2600" dirty="0"/>
            </a:br>
            <a:r>
              <a:rPr lang="en-US" sz="2600" dirty="0"/>
              <a:t>and data encryption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8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4463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0062" y="1143000"/>
            <a:ext cx="8550275" cy="4693593"/>
          </a:xfrm>
        </p:spPr>
        <p:txBody>
          <a:bodyPr/>
          <a:lstStyle/>
          <a:p>
            <a:r>
              <a:rPr lang="en-US" sz="2800" b="1" dirty="0"/>
              <a:t>What actions must be taken in the event of a successful security intrusion?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A response plan must be developed well in advance of any incident, and should address:</a:t>
            </a:r>
          </a:p>
          <a:p>
            <a:pPr lvl="2"/>
            <a:r>
              <a:rPr lang="en-US" sz="2400" dirty="0"/>
              <a:t>Notification</a:t>
            </a:r>
          </a:p>
          <a:p>
            <a:pPr lvl="2"/>
            <a:r>
              <a:rPr lang="en-US" sz="2400" dirty="0"/>
              <a:t>Protection of evidence and activity logs</a:t>
            </a:r>
          </a:p>
          <a:p>
            <a:pPr lvl="2"/>
            <a:r>
              <a:rPr lang="en-US" sz="2400" dirty="0"/>
              <a:t>Containment</a:t>
            </a:r>
          </a:p>
          <a:p>
            <a:pPr lvl="2"/>
            <a:r>
              <a:rPr lang="en-US" sz="2400" dirty="0"/>
              <a:t>Eradication</a:t>
            </a:r>
          </a:p>
          <a:p>
            <a:pPr lvl="2"/>
            <a:r>
              <a:rPr lang="en-US" sz="2400" dirty="0"/>
              <a:t>Follow-up</a:t>
            </a:r>
          </a:p>
          <a:p>
            <a:r>
              <a:rPr lang="en-US" sz="2600" dirty="0"/>
              <a:t>Organizations must implement fixes against well-known vulnerabilities and conduct periodic IT security audits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1209901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0062" y="1143000"/>
            <a:ext cx="8550275" cy="3991862"/>
          </a:xfrm>
        </p:spPr>
        <p:txBody>
          <a:bodyPr/>
          <a:lstStyle/>
          <a:p>
            <a:r>
              <a:rPr lang="en-US" sz="2800" b="1" dirty="0"/>
              <a:t>What actions must be taken in the event of a successful security intrusion?</a:t>
            </a:r>
          </a:p>
          <a:p>
            <a:r>
              <a:rPr lang="en-US" sz="2800" dirty="0"/>
              <a:t>Many organizations use a managed security service provider (MSSP) to monitor, manage, and maintain their computer and network security</a:t>
            </a:r>
          </a:p>
          <a:p>
            <a:r>
              <a:rPr lang="en-US" sz="2800" dirty="0"/>
              <a:t>Experts trained in computer forensics collect, examine, and preserve data from computer devices and networks, in a manner that preserves the integrity of the data so it is admissible as evidence in a court of law.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10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8400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8248</TotalTime>
  <Words>5412</Words>
  <Application>Microsoft Office PowerPoint</Application>
  <PresentationFormat>Ekran Gösterisi (4:3)</PresentationFormat>
  <Paragraphs>344</Paragraphs>
  <Slides>44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44</vt:i4>
      </vt:variant>
    </vt:vector>
  </HeadingPairs>
  <TitlesOfParts>
    <vt:vector size="48" baseType="lpstr">
      <vt:lpstr>Arial</vt:lpstr>
      <vt:lpstr>Calibri</vt:lpstr>
      <vt:lpstr>Calibri Light</vt:lpstr>
      <vt:lpstr>Office Theme</vt:lpstr>
      <vt:lpstr>Ethics in Information Technology Bilgi Teknolojilerinde Etik</vt:lpstr>
      <vt:lpstr>Learning Objectives Öğrenme hedefleri</vt:lpstr>
      <vt:lpstr>Tehdit Ortamı</vt:lpstr>
      <vt:lpstr>Bilgisayar Olayları Neden Bu Kadar Yaygın, Bölüm 1</vt:lpstr>
      <vt:lpstr>Bilgisayar Olayları Neden Bu Kadar Yaygın, Bölüm 2</vt:lpstr>
      <vt:lpstr>Classifying Perpetrators of Computer Crime Bilgisayar Suçu Faillerinin Sınıflandırılması</vt:lpstr>
      <vt:lpstr>Types of Exploits, Part 1 Suistimal Türleri, Bölüm 1</vt:lpstr>
      <vt:lpstr>Types of Exploits, Part 2 Suistimal Türleri, Bölüm 2</vt:lpstr>
      <vt:lpstr>Types of Exploits, Part 3 Suistimal Türleri, Bölüm 3</vt:lpstr>
      <vt:lpstr>Types of Exploits, Part 4 Suistimal Türleri, Bölüm 4</vt:lpstr>
      <vt:lpstr>Types of Exploits, Part 5 Suistimal Türleri, Bölüm 5</vt:lpstr>
      <vt:lpstr>Federal Laws for Prosecuting Computer Attacks, Part 1 Bilgisayar Saldırılarının Kovuşturulması için Federal Yasalar, Bölüm 1</vt:lpstr>
      <vt:lpstr>Federal Laws for Prosecuting Computer Attacks, Part 2 Bilgisayar Saldırılarının Kovuşturulması için Federal Yasalar, Bölüm 2</vt:lpstr>
      <vt:lpstr>CIA Security Triad-CIA Güvenlik Üçlüsü</vt:lpstr>
      <vt:lpstr>Implementing CIA security- CIA güvenliğinin uygulanması</vt:lpstr>
      <vt:lpstr>Implementing CIA at the Organization Level CIA'in Organizasyon Düzeyinde Uygulanması</vt:lpstr>
      <vt:lpstr>General Risk Assessment Process Genel Risk Değerlendirme Süreci</vt:lpstr>
      <vt:lpstr>Disaster Recovery Felaketten Kurtarma</vt:lpstr>
      <vt:lpstr>Security Policies and Security Audits Güvenlik Politikaları ve Güvenlik Denetimleri</vt:lpstr>
      <vt:lpstr>Regulatory Standards Compliance Düzenleyici Standartlara Uyum</vt:lpstr>
      <vt:lpstr>Security Dashboards Güvenlik Gösterge Tabloları</vt:lpstr>
      <vt:lpstr>Implementing CIA at the Network Level CIA'in Ağ Düzeyinde Uygulanması</vt:lpstr>
      <vt:lpstr>Firewalls &amp; Routers- Güvenlik Duvarları ve Yönlendiriciler</vt:lpstr>
      <vt:lpstr>Encryption--Şifreleme</vt:lpstr>
      <vt:lpstr>Proxy Servers and Virtual Private Networks Proxy Sunucuları ve Sanal Özel Ağlar</vt:lpstr>
      <vt:lpstr>Intrusion Detection System İzinsiz giriş tespit sistemleri</vt:lpstr>
      <vt:lpstr>Implementing CIA at the Application Level CIA'in Uygulama Düzeyinde Uygulanması</vt:lpstr>
      <vt:lpstr>Implementing CIA at the End-User-Level</vt:lpstr>
      <vt:lpstr>Response to Cyberattack</vt:lpstr>
      <vt:lpstr>Incident Notification</vt:lpstr>
      <vt:lpstr>Protection of Evidence and Activity Logs</vt:lpstr>
      <vt:lpstr>Eradication and Incident Follow-Up </vt:lpstr>
      <vt:lpstr>Using an MSSP</vt:lpstr>
      <vt:lpstr>Computer Forensics</vt:lpstr>
      <vt:lpstr>Summary, Part 1</vt:lpstr>
      <vt:lpstr>Summary, Part 2</vt:lpstr>
      <vt:lpstr>Summary, Part 3</vt:lpstr>
      <vt:lpstr>Summary, Part 4</vt:lpstr>
      <vt:lpstr>Summary, Part 5</vt:lpstr>
      <vt:lpstr>Summary, Part 6</vt:lpstr>
      <vt:lpstr>Summary, Part 7</vt:lpstr>
      <vt:lpstr>Summary, Part 8</vt:lpstr>
      <vt:lpstr>Summary, Part 9</vt:lpstr>
      <vt:lpstr>Summary, Part 10</vt:lpstr>
    </vt:vector>
  </TitlesOfParts>
  <Company>Course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Author</dc:creator>
  <cp:lastModifiedBy>karahocaa</cp:lastModifiedBy>
  <cp:revision>403</cp:revision>
  <cp:lastPrinted>2010-11-12T17:54:40Z</cp:lastPrinted>
  <dcterms:created xsi:type="dcterms:W3CDTF">2007-02-15T20:50:52Z</dcterms:created>
  <dcterms:modified xsi:type="dcterms:W3CDTF">2023-10-16T19:43:38Z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1933890983</vt:i4>
  </property>
  <property fmtid="{D5CDD505-2E9C-101B-9397-08002B2CF9AE}" pid="3" name="_NewReviewCycle">
    <vt:lpwstr/>
  </property>
  <property fmtid="{D5CDD505-2E9C-101B-9397-08002B2CF9AE}" pid="4" name="_EmailSubject">
    <vt:lpwstr>Cengage Branding/Accessibility </vt:lpwstr>
  </property>
  <property fmtid="{D5CDD505-2E9C-101B-9397-08002B2CF9AE}" pid="5" name="_AuthorEmail">
    <vt:lpwstr>Alyssa.Pratt@cengage.com</vt:lpwstr>
  </property>
  <property fmtid="{D5CDD505-2E9C-101B-9397-08002B2CF9AE}" pid="6" name="_AuthorEmailDisplayName">
    <vt:lpwstr>Pratt, Alyssa</vt:lpwstr>
  </property>
  <property fmtid="{D5CDD505-2E9C-101B-9397-08002B2CF9AE}" pid="7" name="_PreviousAdHocReviewCycleID">
    <vt:i4>-685122576</vt:i4>
  </property>
</Properties>
</file>