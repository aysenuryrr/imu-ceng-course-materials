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36"/>
  </p:notesMasterIdLst>
  <p:handoutMasterIdLst>
    <p:handoutMasterId r:id="rId37"/>
  </p:handoutMasterIdLst>
  <p:sldIdLst>
    <p:sldId id="264" r:id="rId2"/>
    <p:sldId id="261" r:id="rId3"/>
    <p:sldId id="266" r:id="rId4"/>
    <p:sldId id="267" r:id="rId5"/>
    <p:sldId id="298" r:id="rId6"/>
    <p:sldId id="268" r:id="rId7"/>
    <p:sldId id="269" r:id="rId8"/>
    <p:sldId id="270" r:id="rId9"/>
    <p:sldId id="271" r:id="rId10"/>
    <p:sldId id="286" r:id="rId11"/>
    <p:sldId id="299" r:id="rId12"/>
    <p:sldId id="287" r:id="rId13"/>
    <p:sldId id="288" r:id="rId14"/>
    <p:sldId id="289" r:id="rId15"/>
    <p:sldId id="290" r:id="rId16"/>
    <p:sldId id="291" r:id="rId17"/>
    <p:sldId id="292" r:id="rId18"/>
    <p:sldId id="293" r:id="rId19"/>
    <p:sldId id="294" r:id="rId20"/>
    <p:sldId id="295" r:id="rId21"/>
    <p:sldId id="296" r:id="rId22"/>
    <p:sldId id="272" r:id="rId23"/>
    <p:sldId id="273" r:id="rId24"/>
    <p:sldId id="274" r:id="rId25"/>
    <p:sldId id="275" r:id="rId26"/>
    <p:sldId id="277" r:id="rId27"/>
    <p:sldId id="278" r:id="rId28"/>
    <p:sldId id="279" r:id="rId29"/>
    <p:sldId id="280" r:id="rId30"/>
    <p:sldId id="281" r:id="rId31"/>
    <p:sldId id="282" r:id="rId32"/>
    <p:sldId id="283" r:id="rId33"/>
    <p:sldId id="284" r:id="rId34"/>
    <p:sldId id="285" r:id="rId35"/>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86" autoAdjust="0"/>
    <p:restoredTop sz="99857" autoAdjust="0"/>
  </p:normalViewPr>
  <p:slideViewPr>
    <p:cSldViewPr>
      <p:cViewPr>
        <p:scale>
          <a:sx n="75" d="100"/>
          <a:sy n="75" d="100"/>
        </p:scale>
        <p:origin x="300" y="3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11/9/2023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11/9/2023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Bilgi </a:t>
            </a:r>
            <a:r>
              <a:rPr lang="en-US" sz="4700" b="1" dirty="0" err="1"/>
              <a:t>Teknolojilerinde</a:t>
            </a:r>
            <a:r>
              <a:rPr lang="en-US" sz="4700" b="1" dirty="0"/>
              <a:t> </a:t>
            </a:r>
            <a:r>
              <a:rPr lang="en-US" sz="4700" b="1" dirty="0" err="1"/>
              <a:t>Etik</a:t>
            </a:r>
            <a:endParaRPr lang="en-US" sz="4700" dirty="0"/>
          </a:p>
        </p:txBody>
      </p:sp>
      <p:sp>
        <p:nvSpPr>
          <p:cNvPr id="3" name="Subtitle 2"/>
          <p:cNvSpPr>
            <a:spLocks noGrp="1"/>
          </p:cNvSpPr>
          <p:nvPr>
            <p:ph type="subTitle" idx="1"/>
          </p:nvPr>
        </p:nvSpPr>
        <p:spPr>
          <a:xfrm>
            <a:off x="609600" y="3124200"/>
            <a:ext cx="7747000" cy="1960152"/>
          </a:xfrm>
        </p:spPr>
        <p:txBody>
          <a:bodyPr/>
          <a:lstStyle/>
          <a:p>
            <a:r>
              <a:rPr lang="en-US" sz="3400" dirty="0" err="1"/>
              <a:t>Bölüm</a:t>
            </a:r>
            <a:r>
              <a:rPr lang="en-US" sz="3400" dirty="0"/>
              <a:t> 10
BT </a:t>
            </a:r>
            <a:r>
              <a:rPr lang="en-US" sz="3400" dirty="0" err="1"/>
              <a:t>Organizasyonlarının</a:t>
            </a:r>
            <a:r>
              <a:rPr lang="en-US" sz="3400" dirty="0"/>
              <a:t> </a:t>
            </a:r>
            <a:r>
              <a:rPr lang="en-US" sz="3400" dirty="0" err="1"/>
              <a:t>Etiği</a:t>
            </a:r>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err="1"/>
              <a:t>Öğrenme</a:t>
            </a:r>
            <a:r>
              <a:rPr lang="en-US" sz="4000" dirty="0"/>
              <a:t> </a:t>
            </a:r>
            <a:r>
              <a:rPr lang="en-US" sz="4000" dirty="0" err="1"/>
              <a:t>hedefleri</a:t>
            </a:r>
            <a:endParaRPr lang="en-US" sz="4000" dirty="0"/>
          </a:p>
        </p:txBody>
      </p:sp>
      <p:sp>
        <p:nvSpPr>
          <p:cNvPr id="4" name="Content Placeholder 3"/>
          <p:cNvSpPr>
            <a:spLocks noGrp="1"/>
          </p:cNvSpPr>
          <p:nvPr>
            <p:ph type="body" idx="1"/>
          </p:nvPr>
        </p:nvSpPr>
        <p:spPr>
          <a:xfrm>
            <a:off x="2425131" y="1143000"/>
            <a:ext cx="6337869" cy="3754874"/>
          </a:xfrm>
        </p:spPr>
        <p:txBody>
          <a:bodyPr/>
          <a:lstStyle/>
          <a:p>
            <a:pPr marL="457200" indent="-457200">
              <a:lnSpc>
                <a:spcPct val="100000"/>
              </a:lnSpc>
              <a:buFont typeface="Arial" panose="020B0604020202020204" pitchFamily="34" charset="0"/>
              <a:buChar char="•"/>
            </a:pPr>
            <a:r>
              <a:rPr lang="en-US" sz="2800" dirty="0" err="1">
                <a:solidFill>
                  <a:schemeClr val="tx1"/>
                </a:solidFill>
              </a:rPr>
              <a:t>Koşullu</a:t>
            </a:r>
            <a:r>
              <a:rPr lang="en-US" sz="2800" dirty="0">
                <a:solidFill>
                  <a:schemeClr val="tx1"/>
                </a:solidFill>
              </a:rPr>
              <a:t> </a:t>
            </a:r>
            <a:r>
              <a:rPr lang="en-US" sz="2800" dirty="0" err="1">
                <a:solidFill>
                  <a:schemeClr val="tx1"/>
                </a:solidFill>
              </a:rPr>
              <a:t>işçilerin</a:t>
            </a:r>
            <a:r>
              <a:rPr lang="en-US" sz="2800" dirty="0">
                <a:solidFill>
                  <a:schemeClr val="tx1"/>
                </a:solidFill>
              </a:rPr>
              <a:t>, H-1B </a:t>
            </a:r>
            <a:r>
              <a:rPr lang="en-US" sz="2800" dirty="0" err="1">
                <a:solidFill>
                  <a:schemeClr val="tx1"/>
                </a:solidFill>
              </a:rPr>
              <a:t>vizesi</a:t>
            </a:r>
            <a:r>
              <a:rPr lang="en-US" sz="2800" dirty="0">
                <a:solidFill>
                  <a:schemeClr val="tx1"/>
                </a:solidFill>
              </a:rPr>
              <a:t> </a:t>
            </a:r>
            <a:r>
              <a:rPr lang="en-US" sz="2800" dirty="0" err="1">
                <a:solidFill>
                  <a:schemeClr val="tx1"/>
                </a:solidFill>
              </a:rPr>
              <a:t>sahiplerinin</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denizaşırı</a:t>
            </a:r>
            <a:r>
              <a:rPr lang="en-US" sz="2800" dirty="0">
                <a:solidFill>
                  <a:schemeClr val="tx1"/>
                </a:solidFill>
              </a:rPr>
              <a:t> </a:t>
            </a:r>
            <a:r>
              <a:rPr lang="en-US" sz="2800" dirty="0" err="1">
                <a:solidFill>
                  <a:schemeClr val="tx1"/>
                </a:solidFill>
              </a:rPr>
              <a:t>dış</a:t>
            </a:r>
            <a:r>
              <a:rPr lang="en-US" sz="2800" dirty="0">
                <a:solidFill>
                  <a:schemeClr val="tx1"/>
                </a:solidFill>
              </a:rPr>
              <a:t> </a:t>
            </a:r>
            <a:r>
              <a:rPr lang="en-US" sz="2800" dirty="0" err="1">
                <a:solidFill>
                  <a:schemeClr val="tx1"/>
                </a:solidFill>
              </a:rPr>
              <a:t>kaynak</a:t>
            </a:r>
            <a:r>
              <a:rPr lang="en-US" sz="2800" dirty="0">
                <a:solidFill>
                  <a:schemeClr val="tx1"/>
                </a:solidFill>
              </a:rPr>
              <a:t> </a:t>
            </a:r>
            <a:r>
              <a:rPr lang="en-US" sz="2800" dirty="0" err="1">
                <a:solidFill>
                  <a:schemeClr val="tx1"/>
                </a:solidFill>
              </a:rPr>
              <a:t>şirketlerinin</a:t>
            </a:r>
            <a:r>
              <a:rPr lang="en-US" sz="2800" dirty="0">
                <a:solidFill>
                  <a:schemeClr val="tx1"/>
                </a:solidFill>
              </a:rPr>
              <a:t> </a:t>
            </a:r>
            <a:r>
              <a:rPr lang="en-US" sz="2800" dirty="0" err="1">
                <a:solidFill>
                  <a:schemeClr val="tx1"/>
                </a:solidFill>
              </a:rPr>
              <a:t>kullanımıyla</a:t>
            </a:r>
            <a:r>
              <a:rPr lang="en-US" sz="2800" dirty="0">
                <a:solidFill>
                  <a:schemeClr val="tx1"/>
                </a:solidFill>
              </a:rPr>
              <a:t> </a:t>
            </a:r>
            <a:r>
              <a:rPr lang="en-US" sz="2800" dirty="0" err="1">
                <a:solidFill>
                  <a:schemeClr val="tx1"/>
                </a:solidFill>
              </a:rPr>
              <a:t>ilgili</a:t>
            </a:r>
            <a:r>
              <a:rPr lang="en-US" sz="2800" dirty="0">
                <a:solidFill>
                  <a:schemeClr val="tx1"/>
                </a:solidFill>
              </a:rPr>
              <a:t> hangi </a:t>
            </a:r>
            <a:r>
              <a:rPr lang="en-US" sz="2800" dirty="0" err="1">
                <a:solidFill>
                  <a:schemeClr val="tx1"/>
                </a:solidFill>
              </a:rPr>
              <a:t>temel</a:t>
            </a:r>
            <a:r>
              <a:rPr lang="en-US" sz="2800" dirty="0">
                <a:solidFill>
                  <a:schemeClr val="tx1"/>
                </a:solidFill>
              </a:rPr>
              <a:t> </a:t>
            </a:r>
            <a:r>
              <a:rPr lang="en-US" sz="2800" dirty="0" err="1">
                <a:solidFill>
                  <a:schemeClr val="tx1"/>
                </a:solidFill>
              </a:rPr>
              <a:t>yasal</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etik</a:t>
            </a:r>
            <a:r>
              <a:rPr lang="en-US" sz="2800" dirty="0">
                <a:solidFill>
                  <a:schemeClr val="tx1"/>
                </a:solidFill>
              </a:rPr>
              <a:t> </a:t>
            </a:r>
            <a:r>
              <a:rPr lang="en-US" sz="2800" dirty="0" err="1">
                <a:solidFill>
                  <a:schemeClr val="tx1"/>
                </a:solidFill>
              </a:rPr>
              <a:t>konular</a:t>
            </a:r>
            <a:r>
              <a:rPr lang="en-US" sz="2800" dirty="0">
                <a:solidFill>
                  <a:schemeClr val="tx1"/>
                </a:solidFill>
              </a:rPr>
              <a:t> </a:t>
            </a:r>
            <a:r>
              <a:rPr lang="en-US" sz="2800" dirty="0" err="1">
                <a:solidFill>
                  <a:schemeClr val="tx1"/>
                </a:solidFill>
              </a:rPr>
              <a:t>nelerdir</a:t>
            </a:r>
            <a:r>
              <a:rPr lang="en-US" sz="2800" dirty="0">
                <a:solidFill>
                  <a:schemeClr val="tx1"/>
                </a:solidFill>
              </a:rPr>
              <a:t>?
Bilgi </a:t>
            </a:r>
            <a:r>
              <a:rPr lang="en-US" sz="2800" dirty="0" err="1">
                <a:solidFill>
                  <a:schemeClr val="tx1"/>
                </a:solidFill>
              </a:rPr>
              <a:t>uçurma</a:t>
            </a:r>
            <a:r>
              <a:rPr lang="en-US" sz="2800" dirty="0">
                <a:solidFill>
                  <a:schemeClr val="tx1"/>
                </a:solidFill>
              </a:rPr>
              <a:t> </a:t>
            </a:r>
            <a:r>
              <a:rPr lang="en-US" sz="2800" dirty="0" err="1">
                <a:solidFill>
                  <a:schemeClr val="tx1"/>
                </a:solidFill>
              </a:rPr>
              <a:t>nedir</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bununla</a:t>
            </a:r>
            <a:r>
              <a:rPr lang="en-US" sz="2800" dirty="0">
                <a:solidFill>
                  <a:schemeClr val="tx1"/>
                </a:solidFill>
              </a:rPr>
              <a:t> hangi </a:t>
            </a:r>
            <a:r>
              <a:rPr lang="en-US" sz="2800" dirty="0" err="1">
                <a:solidFill>
                  <a:schemeClr val="tx1"/>
                </a:solidFill>
              </a:rPr>
              <a:t>etik</a:t>
            </a:r>
            <a:r>
              <a:rPr lang="en-US" sz="2800" dirty="0">
                <a:solidFill>
                  <a:schemeClr val="tx1"/>
                </a:solidFill>
              </a:rPr>
              <a:t> </a:t>
            </a:r>
            <a:r>
              <a:rPr lang="en-US" sz="2800" dirty="0" err="1">
                <a:solidFill>
                  <a:schemeClr val="tx1"/>
                </a:solidFill>
              </a:rPr>
              <a:t>sorunlar</a:t>
            </a:r>
            <a:r>
              <a:rPr lang="en-US" sz="2800" dirty="0">
                <a:solidFill>
                  <a:schemeClr val="tx1"/>
                </a:solidFill>
              </a:rPr>
              <a:t> </a:t>
            </a:r>
            <a:r>
              <a:rPr lang="en-US" sz="2800" dirty="0" err="1">
                <a:solidFill>
                  <a:schemeClr val="tx1"/>
                </a:solidFill>
              </a:rPr>
              <a:t>ilişkilidir</a:t>
            </a:r>
            <a:r>
              <a:rPr lang="en-US" sz="2800" dirty="0">
                <a:solidFill>
                  <a:schemeClr val="tx1"/>
                </a:solidFill>
              </a:rPr>
              <a:t>?
</a:t>
            </a:r>
            <a:r>
              <a:rPr lang="en-US" sz="2800" dirty="0" err="1">
                <a:solidFill>
                  <a:schemeClr val="tx1"/>
                </a:solidFill>
              </a:rPr>
              <a:t>Yeşil</a:t>
            </a:r>
            <a:r>
              <a:rPr lang="en-US" sz="2800" dirty="0">
                <a:solidFill>
                  <a:schemeClr val="tx1"/>
                </a:solidFill>
              </a:rPr>
              <a:t> </a:t>
            </a:r>
            <a:r>
              <a:rPr lang="en-US" sz="2800" dirty="0" err="1">
                <a:solidFill>
                  <a:schemeClr val="tx1"/>
                </a:solidFill>
              </a:rPr>
              <a:t>bilgi</a:t>
            </a:r>
            <a:r>
              <a:rPr lang="en-US" sz="2800" dirty="0">
                <a:solidFill>
                  <a:schemeClr val="tx1"/>
                </a:solidFill>
              </a:rPr>
              <a:t> </a:t>
            </a:r>
            <a:r>
              <a:rPr lang="en-US" sz="2800" dirty="0" err="1">
                <a:solidFill>
                  <a:schemeClr val="tx1"/>
                </a:solidFill>
              </a:rPr>
              <a:t>işlem</a:t>
            </a:r>
            <a:r>
              <a:rPr lang="en-US" sz="2800" dirty="0">
                <a:solidFill>
                  <a:schemeClr val="tx1"/>
                </a:solidFill>
              </a:rPr>
              <a:t> </a:t>
            </a:r>
            <a:r>
              <a:rPr lang="en-US" sz="2800" dirty="0" err="1">
                <a:solidFill>
                  <a:schemeClr val="tx1"/>
                </a:solidFill>
              </a:rPr>
              <a:t>nedir</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kuruluşlar</a:t>
            </a:r>
            <a:r>
              <a:rPr lang="en-US" sz="2800" dirty="0">
                <a:solidFill>
                  <a:schemeClr val="tx1"/>
                </a:solidFill>
              </a:rPr>
              <a:t> </a:t>
            </a:r>
            <a:r>
              <a:rPr lang="en-US" sz="2800" dirty="0" err="1">
                <a:solidFill>
                  <a:schemeClr val="tx1"/>
                </a:solidFill>
              </a:rPr>
              <a:t>bu</a:t>
            </a:r>
            <a:r>
              <a:rPr lang="en-US" sz="2800" dirty="0">
                <a:solidFill>
                  <a:schemeClr val="tx1"/>
                </a:solidFill>
              </a:rPr>
              <a:t> </a:t>
            </a:r>
            <a:r>
              <a:rPr lang="en-US" sz="2800" dirty="0" err="1">
                <a:solidFill>
                  <a:schemeClr val="tx1"/>
                </a:solidFill>
              </a:rPr>
              <a:t>girişimi</a:t>
            </a:r>
            <a:r>
              <a:rPr lang="en-US" sz="2800" dirty="0">
                <a:solidFill>
                  <a:schemeClr val="tx1"/>
                </a:solidFill>
              </a:rPr>
              <a:t> </a:t>
            </a:r>
            <a:r>
              <a:rPr lang="en-US" sz="2800" dirty="0" err="1">
                <a:solidFill>
                  <a:schemeClr val="tx1"/>
                </a:solidFill>
              </a:rPr>
              <a:t>desteklemek</a:t>
            </a:r>
            <a:r>
              <a:rPr lang="en-US" sz="2800" dirty="0">
                <a:solidFill>
                  <a:schemeClr val="tx1"/>
                </a:solidFill>
              </a:rPr>
              <a:t> için ne </a:t>
            </a:r>
            <a:r>
              <a:rPr lang="en-US" sz="2800" dirty="0" err="1">
                <a:solidFill>
                  <a:schemeClr val="tx1"/>
                </a:solidFill>
              </a:rPr>
              <a:t>yapıyor</a:t>
            </a:r>
            <a:r>
              <a:rPr lang="en-US" sz="2800" dirty="0">
                <a:solidFill>
                  <a:schemeClr val="tx1"/>
                </a:solidFill>
              </a:rPr>
              <a:t>?</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219200"/>
            <a:ext cx="8415338" cy="4431983"/>
          </a:xfrm>
        </p:spPr>
        <p:txBody>
          <a:bodyPr/>
          <a:lstStyle/>
          <a:p>
            <a:r>
              <a:rPr lang="en-US" sz="2400" dirty="0" err="1"/>
              <a:t>Koşullu</a:t>
            </a:r>
            <a:r>
              <a:rPr lang="en-US" sz="2400" dirty="0"/>
              <a:t> </a:t>
            </a:r>
            <a:r>
              <a:rPr lang="en-US" sz="2400" dirty="0" err="1"/>
              <a:t>çalışma</a:t>
            </a:r>
            <a:r>
              <a:rPr lang="en-US" sz="2400" dirty="0"/>
              <a:t>: Bir </a:t>
            </a:r>
            <a:r>
              <a:rPr lang="en-US" sz="2400" dirty="0" err="1"/>
              <a:t>işçinin</a:t>
            </a:r>
            <a:r>
              <a:rPr lang="en-US" sz="2400" dirty="0"/>
              <a:t> </a:t>
            </a:r>
            <a:r>
              <a:rPr lang="en-US" sz="2400" dirty="0" err="1"/>
              <a:t>içinde</a:t>
            </a:r>
            <a:r>
              <a:rPr lang="en-US" sz="2400" dirty="0"/>
              <a:t> </a:t>
            </a:r>
            <a:r>
              <a:rPr lang="en-US" sz="2400" dirty="0" err="1"/>
              <a:t>bulunduğu</a:t>
            </a:r>
            <a:r>
              <a:rPr lang="en-US" sz="2400" dirty="0"/>
              <a:t> </a:t>
            </a:r>
            <a:r>
              <a:rPr lang="en-US" sz="2400" dirty="0" err="1"/>
              <a:t>bir</a:t>
            </a:r>
            <a:r>
              <a:rPr lang="en-US" sz="2400" dirty="0"/>
              <a:t> </a:t>
            </a:r>
            <a:r>
              <a:rPr lang="en-US" sz="2400" dirty="0" err="1"/>
              <a:t>iş</a:t>
            </a:r>
            <a:r>
              <a:rPr lang="en-US" sz="2400" dirty="0"/>
              <a:t> </a:t>
            </a:r>
            <a:r>
              <a:rPr lang="en-US" sz="2400" dirty="0" err="1"/>
              <a:t>durumu</a:t>
            </a:r>
            <a:br>
              <a:rPr lang="en-US" sz="2400" dirty="0"/>
            </a:br>
            <a:r>
              <a:rPr lang="en-US" sz="2400" dirty="0" err="1"/>
              <a:t>uzun</a:t>
            </a:r>
            <a:r>
              <a:rPr lang="en-US" sz="2400" dirty="0"/>
              <a:t> </a:t>
            </a:r>
            <a:r>
              <a:rPr lang="en-US" sz="2400" dirty="0" err="1"/>
              <a:t>süreli</a:t>
            </a:r>
            <a:r>
              <a:rPr lang="en-US" sz="2400" dirty="0"/>
              <a:t> </a:t>
            </a:r>
            <a:r>
              <a:rPr lang="en-US" sz="2400" dirty="0" err="1"/>
              <a:t>istihdam</a:t>
            </a:r>
            <a:r>
              <a:rPr lang="en-US" sz="2400" dirty="0"/>
              <a:t> için </a:t>
            </a:r>
            <a:r>
              <a:rPr lang="en-US" sz="2400" dirty="0" err="1"/>
              <a:t>açık</a:t>
            </a:r>
            <a:r>
              <a:rPr lang="en-US" sz="2400" dirty="0"/>
              <a:t> </a:t>
            </a:r>
            <a:r>
              <a:rPr lang="en-US" sz="2400" dirty="0" err="1"/>
              <a:t>veya</a:t>
            </a:r>
            <a:r>
              <a:rPr lang="en-US" sz="2400" dirty="0"/>
              <a:t> </a:t>
            </a:r>
            <a:r>
              <a:rPr lang="en-US" sz="2400" dirty="0" err="1"/>
              <a:t>zımni</a:t>
            </a:r>
            <a:r>
              <a:rPr lang="en-US" sz="2400" dirty="0"/>
              <a:t> </a:t>
            </a:r>
            <a:r>
              <a:rPr lang="en-US" sz="2400" dirty="0" err="1"/>
              <a:t>bir</a:t>
            </a:r>
            <a:r>
              <a:rPr lang="en-US" sz="2400" dirty="0"/>
              <a:t> </a:t>
            </a:r>
            <a:r>
              <a:rPr lang="en-US" sz="2400" dirty="0" err="1"/>
              <a:t>sözleşmesi</a:t>
            </a:r>
            <a:r>
              <a:rPr lang="en-US" sz="2400" dirty="0"/>
              <a:t> </a:t>
            </a:r>
            <a:r>
              <a:rPr lang="en-US" sz="2400" dirty="0" err="1"/>
              <a:t>yoktur</a:t>
            </a:r>
            <a:r>
              <a:rPr lang="en-US" sz="2400" dirty="0"/>
              <a:t>
</a:t>
            </a:r>
            <a:r>
              <a:rPr lang="en-US" sz="2400" dirty="0" err="1"/>
              <a:t>Firmalar</a:t>
            </a:r>
            <a:r>
              <a:rPr lang="en-US" sz="2400" dirty="0"/>
              <a:t>, </a:t>
            </a:r>
            <a:r>
              <a:rPr lang="en-US" sz="2400" dirty="0" err="1"/>
              <a:t>teknik</a:t>
            </a:r>
            <a:r>
              <a:rPr lang="en-US" sz="2400" dirty="0"/>
              <a:t> </a:t>
            </a:r>
            <a:r>
              <a:rPr lang="en-US" sz="2400" dirty="0" err="1"/>
              <a:t>personel</a:t>
            </a:r>
            <a:r>
              <a:rPr lang="en-US" sz="2400" dirty="0"/>
              <a:t> </a:t>
            </a:r>
            <a:r>
              <a:rPr lang="en-US" sz="2400" dirty="0" err="1"/>
              <a:t>ihtiyaçlarında</a:t>
            </a:r>
            <a:r>
              <a:rPr lang="en-US" sz="2400" dirty="0"/>
              <a:t> </a:t>
            </a:r>
            <a:r>
              <a:rPr lang="en-US" sz="2400" dirty="0" err="1"/>
              <a:t>büyük</a:t>
            </a:r>
            <a:r>
              <a:rPr lang="en-US" sz="2400" dirty="0"/>
              <a:t> </a:t>
            </a:r>
            <a:r>
              <a:rPr lang="en-US" sz="2400" dirty="0" err="1"/>
              <a:t>dalgalanmalar</a:t>
            </a:r>
            <a:r>
              <a:rPr lang="en-US" sz="2400" dirty="0"/>
              <a:t> </a:t>
            </a:r>
            <a:r>
              <a:rPr lang="en-US" sz="2400" dirty="0" err="1"/>
              <a:t>yaşarlarsa</a:t>
            </a:r>
            <a:r>
              <a:rPr lang="en-US" sz="2400" dirty="0"/>
              <a:t> </a:t>
            </a:r>
            <a:r>
              <a:rPr lang="en-US" sz="2400" dirty="0" err="1"/>
              <a:t>koşullu</a:t>
            </a:r>
            <a:r>
              <a:rPr lang="en-US" sz="2400" dirty="0"/>
              <a:t> BT </a:t>
            </a:r>
            <a:r>
              <a:rPr lang="en-US" sz="2400" dirty="0" err="1"/>
              <a:t>çalışanlarını</a:t>
            </a:r>
            <a:r>
              <a:rPr lang="en-US" sz="2400" dirty="0"/>
              <a:t> </a:t>
            </a:r>
            <a:r>
              <a:rPr lang="en-US" sz="2400" dirty="0" err="1"/>
              <a:t>kullanır</a:t>
            </a:r>
            <a:r>
              <a:rPr lang="en-US" sz="2400" dirty="0"/>
              <a:t>.
</a:t>
            </a:r>
            <a:r>
              <a:rPr lang="en-US" sz="2400" dirty="0" err="1"/>
              <a:t>Çalışıp</a:t>
            </a:r>
            <a:r>
              <a:rPr lang="en-US" sz="2400" dirty="0"/>
              <a:t> </a:t>
            </a:r>
            <a:r>
              <a:rPr lang="en-US" sz="2400" dirty="0" err="1"/>
              <a:t>çalışmadıkları</a:t>
            </a:r>
            <a:r>
              <a:rPr lang="en-US" sz="2400" dirty="0"/>
              <a:t>, ne zaman </a:t>
            </a:r>
            <a:r>
              <a:rPr lang="en-US" sz="2400" dirty="0" err="1"/>
              <a:t>çalıştıkları</a:t>
            </a:r>
            <a:r>
              <a:rPr lang="en-US" sz="2400" dirty="0"/>
              <a:t> </a:t>
            </a:r>
            <a:r>
              <a:rPr lang="en-US" sz="2400" dirty="0" err="1"/>
              <a:t>ve</a:t>
            </a:r>
            <a:r>
              <a:rPr lang="en-US" sz="2400" dirty="0"/>
              <a:t> ne </a:t>
            </a:r>
            <a:r>
              <a:rPr lang="en-US" sz="2400" dirty="0" err="1"/>
              <a:t>kadar</a:t>
            </a:r>
            <a:r>
              <a:rPr lang="en-US" sz="2400" dirty="0"/>
              <a:t> </a:t>
            </a:r>
            <a:r>
              <a:rPr lang="en-US" sz="2400" dirty="0" err="1"/>
              <a:t>çalıştıkları</a:t>
            </a:r>
            <a:r>
              <a:rPr lang="en-US" sz="2400" dirty="0"/>
              <a:t> </a:t>
            </a:r>
            <a:r>
              <a:rPr lang="en-US" sz="2400" dirty="0" err="1"/>
              <a:t>şirketin</a:t>
            </a:r>
            <a:r>
              <a:rPr lang="en-US" sz="2400" dirty="0"/>
              <a:t> </a:t>
            </a:r>
            <a:r>
              <a:rPr lang="en-US" sz="2400" dirty="0" err="1"/>
              <a:t>onlara</a:t>
            </a:r>
            <a:r>
              <a:rPr lang="en-US" sz="2400" dirty="0"/>
              <a:t> </a:t>
            </a:r>
            <a:r>
              <a:rPr lang="en-US" sz="2400" dirty="0" err="1"/>
              <a:t>olan</a:t>
            </a:r>
            <a:r>
              <a:rPr lang="en-US" sz="2400" dirty="0"/>
              <a:t> </a:t>
            </a:r>
            <a:r>
              <a:rPr lang="en-US" sz="2400" dirty="0" err="1"/>
              <a:t>ihtiyacına</a:t>
            </a:r>
            <a:r>
              <a:rPr lang="en-US" sz="2400" dirty="0"/>
              <a:t> </a:t>
            </a:r>
            <a:r>
              <a:rPr lang="en-US" sz="2400" dirty="0" err="1"/>
              <a:t>bağlıdır</a:t>
            </a:r>
            <a:r>
              <a:rPr lang="en-US" sz="2400" dirty="0"/>
              <a:t>.
</a:t>
            </a:r>
            <a:r>
              <a:rPr lang="en-US" sz="2400" dirty="0" err="1"/>
              <a:t>Kuruluşlar</a:t>
            </a:r>
            <a:r>
              <a:rPr lang="en-US" sz="2400" dirty="0"/>
              <a:t>, </a:t>
            </a:r>
            <a:r>
              <a:rPr lang="en-US" sz="2400" dirty="0" err="1"/>
              <a:t>sözleşmeli</a:t>
            </a:r>
            <a:r>
              <a:rPr lang="en-US" sz="2400" dirty="0"/>
              <a:t> </a:t>
            </a:r>
            <a:r>
              <a:rPr lang="en-US" sz="2400" dirty="0" err="1"/>
              <a:t>çalışanları</a:t>
            </a:r>
            <a:r>
              <a:rPr lang="en-US" sz="2400" dirty="0"/>
              <a:t> </a:t>
            </a:r>
            <a:r>
              <a:rPr lang="en-US" sz="2400" dirty="0" err="1"/>
              <a:t>şu</a:t>
            </a:r>
            <a:r>
              <a:rPr lang="en-US" sz="2400" dirty="0"/>
              <a:t> </a:t>
            </a:r>
            <a:r>
              <a:rPr lang="en-US" sz="2400" dirty="0" err="1"/>
              <a:t>yollarla</a:t>
            </a:r>
            <a:r>
              <a:rPr lang="en-US" sz="2400" dirty="0"/>
              <a:t> </a:t>
            </a:r>
            <a:r>
              <a:rPr lang="en-US" sz="2400" dirty="0" err="1"/>
              <a:t>elde</a:t>
            </a:r>
            <a:r>
              <a:rPr lang="en-US" sz="2400" dirty="0"/>
              <a:t> </a:t>
            </a:r>
            <a:r>
              <a:rPr lang="en-US" sz="2400" dirty="0" err="1"/>
              <a:t>edebilir</a:t>
            </a:r>
            <a:r>
              <a:rPr lang="en-US" sz="2400" dirty="0"/>
              <a:t>: 
</a:t>
            </a:r>
            <a:r>
              <a:rPr lang="en-US" sz="2400" dirty="0" err="1"/>
              <a:t>Geçici</a:t>
            </a:r>
            <a:r>
              <a:rPr lang="en-US" sz="2400" dirty="0"/>
              <a:t> </a:t>
            </a:r>
            <a:r>
              <a:rPr lang="en-US" sz="2400" dirty="0" err="1"/>
              <a:t>personel</a:t>
            </a:r>
            <a:r>
              <a:rPr lang="en-US" sz="2400" dirty="0"/>
              <a:t> </a:t>
            </a:r>
            <a:r>
              <a:rPr lang="en-US" sz="2400" dirty="0" err="1"/>
              <a:t>firmaları</a:t>
            </a:r>
            <a:r>
              <a:rPr lang="en-US" sz="2400" dirty="0"/>
              <a:t>
</a:t>
            </a:r>
            <a:r>
              <a:rPr lang="en-US" sz="2400" dirty="0" err="1"/>
              <a:t>Çalışan</a:t>
            </a:r>
            <a:r>
              <a:rPr lang="en-US" sz="2400" dirty="0"/>
              <a:t> </a:t>
            </a:r>
            <a:r>
              <a:rPr lang="en-US" sz="2400" dirty="0" err="1"/>
              <a:t>kiralama</a:t>
            </a:r>
            <a:r>
              <a:rPr lang="en-US" sz="2400" dirty="0"/>
              <a:t> </a:t>
            </a:r>
            <a:r>
              <a:rPr lang="en-US" sz="2400" dirty="0" err="1"/>
              <a:t>organizasyonları</a:t>
            </a:r>
            <a:r>
              <a:rPr lang="en-US" sz="2400" dirty="0"/>
              <a:t>
</a:t>
            </a:r>
            <a:r>
              <a:rPr lang="en-US" sz="2400" dirty="0" err="1"/>
              <a:t>Profesyonel</a:t>
            </a:r>
            <a:r>
              <a:rPr lang="en-US" sz="2400" dirty="0"/>
              <a:t> </a:t>
            </a:r>
            <a:r>
              <a:rPr lang="en-US" sz="2400" dirty="0" err="1"/>
              <a:t>işveren</a:t>
            </a:r>
            <a:r>
              <a:rPr lang="en-US" sz="2400" dirty="0"/>
              <a:t> </a:t>
            </a:r>
            <a:r>
              <a:rPr lang="en-US" sz="2400" dirty="0" err="1"/>
              <a:t>örgütleri</a:t>
            </a:r>
            <a:r>
              <a:rPr lang="en-US" sz="2400" dirty="0"/>
              <a:t> (</a:t>
            </a:r>
            <a:r>
              <a:rPr lang="en-US" sz="2400" dirty="0" err="1"/>
              <a:t>PEO'lar</a:t>
            </a:r>
            <a:r>
              <a:rPr lang="en-US" sz="2400" dirty="0"/>
              <a:t>)</a:t>
            </a:r>
            <a:endParaRPr lang="en-US" sz="2600" dirty="0"/>
          </a:p>
        </p:txBody>
      </p:sp>
      <p:sp>
        <p:nvSpPr>
          <p:cNvPr id="3" name="Title 2"/>
          <p:cNvSpPr>
            <a:spLocks noGrp="1"/>
          </p:cNvSpPr>
          <p:nvPr>
            <p:ph type="title"/>
          </p:nvPr>
        </p:nvSpPr>
        <p:spPr>
          <a:xfrm>
            <a:off x="812800" y="290459"/>
            <a:ext cx="8026400" cy="527837"/>
          </a:xfrm>
        </p:spPr>
        <p:txBody>
          <a:bodyPr/>
          <a:lstStyle/>
          <a:p>
            <a:r>
              <a:rPr lang="en-US" sz="4000" dirty="0" err="1"/>
              <a:t>Taşeron</a:t>
            </a:r>
            <a:r>
              <a:rPr lang="en-US" sz="4000" dirty="0"/>
              <a:t> </a:t>
            </a:r>
            <a:r>
              <a:rPr lang="en-US" sz="4000" dirty="0" err="1"/>
              <a:t>İşçilerin</a:t>
            </a:r>
            <a:r>
              <a:rPr lang="en-US" sz="4000" dirty="0"/>
              <a:t> </a:t>
            </a:r>
            <a:r>
              <a:rPr lang="en-US" sz="4000" dirty="0" err="1"/>
              <a:t>Kullanımı</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219200"/>
            <a:ext cx="8415338" cy="4108817"/>
          </a:xfrm>
        </p:spPr>
        <p:txBody>
          <a:bodyPr/>
          <a:lstStyle/>
          <a:p>
            <a:pPr>
              <a:spcBef>
                <a:spcPts val="800"/>
              </a:spcBef>
            </a:pPr>
            <a:r>
              <a:rPr lang="en-US" sz="2600" dirty="0" err="1"/>
              <a:t>Geçici</a:t>
            </a:r>
            <a:r>
              <a:rPr lang="en-US" sz="2600" dirty="0"/>
              <a:t> </a:t>
            </a:r>
            <a:r>
              <a:rPr lang="en-US" sz="2600" dirty="0" err="1"/>
              <a:t>personel</a:t>
            </a:r>
            <a:r>
              <a:rPr lang="en-US" sz="2600" dirty="0"/>
              <a:t> </a:t>
            </a:r>
            <a:r>
              <a:rPr lang="en-US" sz="2600" dirty="0" err="1"/>
              <a:t>firmaları</a:t>
            </a:r>
            <a:r>
              <a:rPr lang="en-US" sz="2600" dirty="0"/>
              <a:t>, </a:t>
            </a:r>
            <a:r>
              <a:rPr lang="en-US" sz="2600" dirty="0" err="1"/>
              <a:t>iş</a:t>
            </a:r>
            <a:r>
              <a:rPr lang="en-US" sz="2600" dirty="0"/>
              <a:t> </a:t>
            </a:r>
            <a:r>
              <a:rPr lang="en-US" sz="2600" dirty="0" err="1"/>
              <a:t>arayanları</a:t>
            </a:r>
            <a:r>
              <a:rPr lang="en-US" sz="2600" dirty="0"/>
              <a:t> </a:t>
            </a:r>
            <a:r>
              <a:rPr lang="en-US" sz="2600" dirty="0" err="1"/>
              <a:t>işe</a:t>
            </a:r>
            <a:r>
              <a:rPr lang="en-US" sz="2600" dirty="0"/>
              <a:t> </a:t>
            </a:r>
            <a:r>
              <a:rPr lang="en-US" sz="2600" dirty="0" err="1"/>
              <a:t>alır</a:t>
            </a:r>
            <a:r>
              <a:rPr lang="en-US" sz="2600" dirty="0"/>
              <a:t>, </a:t>
            </a:r>
            <a:r>
              <a:rPr lang="en-US" sz="2600" dirty="0" err="1"/>
              <a:t>eğitir</a:t>
            </a:r>
            <a:r>
              <a:rPr lang="en-US" sz="2600" dirty="0"/>
              <a:t> </a:t>
            </a:r>
            <a:r>
              <a:rPr lang="en-US" sz="2600" dirty="0" err="1"/>
              <a:t>ve</a:t>
            </a:r>
            <a:r>
              <a:rPr lang="en-US" sz="2600" dirty="0"/>
              <a:t> test </a:t>
            </a:r>
            <a:r>
              <a:rPr lang="en-US" sz="2600" dirty="0" err="1"/>
              <a:t>eder</a:t>
            </a:r>
            <a:r>
              <a:rPr lang="en-US" sz="2600" dirty="0"/>
              <a:t> </a:t>
            </a:r>
            <a:r>
              <a:rPr lang="en-US" sz="2600" dirty="0" err="1"/>
              <a:t>ve</a:t>
            </a:r>
            <a:r>
              <a:rPr lang="en-US" sz="2600" dirty="0"/>
              <a:t> </a:t>
            </a:r>
            <a:r>
              <a:rPr lang="en-US" sz="2600" dirty="0" err="1"/>
              <a:t>ardından</a:t>
            </a:r>
            <a:r>
              <a:rPr lang="en-US" sz="2600" dirty="0"/>
              <a:t> </a:t>
            </a:r>
            <a:r>
              <a:rPr lang="en-US" sz="2600" dirty="0" err="1"/>
              <a:t>bunları</a:t>
            </a:r>
            <a:r>
              <a:rPr lang="en-US" sz="2600" dirty="0"/>
              <a:t> </a:t>
            </a:r>
            <a:r>
              <a:rPr lang="en-US" sz="2600" dirty="0" err="1"/>
              <a:t>gerektiğinde</a:t>
            </a:r>
            <a:r>
              <a:rPr lang="en-US" sz="2600" dirty="0"/>
              <a:t> </a:t>
            </a:r>
            <a:r>
              <a:rPr lang="en-US" sz="2600" dirty="0" err="1"/>
              <a:t>müşterilere</a:t>
            </a:r>
            <a:r>
              <a:rPr lang="en-US" sz="2600" dirty="0"/>
              <a:t> </a:t>
            </a:r>
            <a:r>
              <a:rPr lang="en-US" sz="2600" dirty="0" err="1"/>
              <a:t>atar</a:t>
            </a:r>
            <a:r>
              <a:rPr lang="en-US" sz="2600" dirty="0"/>
              <a:t>.
</a:t>
            </a:r>
            <a:r>
              <a:rPr lang="en-US" sz="2600" dirty="0" err="1"/>
              <a:t>Çalışan</a:t>
            </a:r>
            <a:r>
              <a:rPr lang="en-US" sz="2600" dirty="0"/>
              <a:t> </a:t>
            </a:r>
            <a:r>
              <a:rPr lang="en-US" sz="2600" dirty="0" err="1"/>
              <a:t>kiralama</a:t>
            </a:r>
            <a:r>
              <a:rPr lang="en-US" sz="2600" dirty="0"/>
              <a:t>: </a:t>
            </a:r>
            <a:r>
              <a:rPr lang="en-US" sz="2600" dirty="0" err="1"/>
              <a:t>Abone</a:t>
            </a:r>
            <a:r>
              <a:rPr lang="en-US" sz="2600" dirty="0"/>
              <a:t> </a:t>
            </a:r>
            <a:r>
              <a:rPr lang="en-US" sz="2600" dirty="0" err="1"/>
              <a:t>olan</a:t>
            </a:r>
            <a:r>
              <a:rPr lang="en-US" sz="2600" dirty="0"/>
              <a:t> </a:t>
            </a:r>
            <a:r>
              <a:rPr lang="en-US" sz="2600" dirty="0" err="1"/>
              <a:t>bir</a:t>
            </a:r>
            <a:r>
              <a:rPr lang="en-US" sz="2600" dirty="0"/>
              <a:t> </a:t>
            </a:r>
            <a:r>
              <a:rPr lang="en-US" sz="2600" dirty="0" err="1"/>
              <a:t>firma</a:t>
            </a:r>
            <a:r>
              <a:rPr lang="en-US" sz="2600" dirty="0"/>
              <a:t>, </a:t>
            </a:r>
            <a:r>
              <a:rPr lang="en-US" sz="2600" dirty="0" err="1"/>
              <a:t>işgücünü</a:t>
            </a:r>
            <a:r>
              <a:rPr lang="en-US" sz="2600" dirty="0"/>
              <a:t>, </a:t>
            </a:r>
            <a:r>
              <a:rPr lang="en-US" sz="2600" dirty="0" err="1"/>
              <a:t>insan</a:t>
            </a:r>
            <a:r>
              <a:rPr lang="en-US" sz="2600" dirty="0"/>
              <a:t> </a:t>
            </a:r>
            <a:r>
              <a:rPr lang="en-US" sz="2600" dirty="0" err="1"/>
              <a:t>kaynaklarıyla</a:t>
            </a:r>
            <a:r>
              <a:rPr lang="en-US" sz="2600" dirty="0"/>
              <a:t> </a:t>
            </a:r>
            <a:r>
              <a:rPr lang="en-US" sz="2600" dirty="0" err="1"/>
              <a:t>ilgili</a:t>
            </a:r>
            <a:r>
              <a:rPr lang="en-US" sz="2600" dirty="0"/>
              <a:t> </a:t>
            </a:r>
            <a:r>
              <a:rPr lang="en-US" sz="2600" dirty="0" err="1"/>
              <a:t>tüm</a:t>
            </a:r>
            <a:r>
              <a:rPr lang="en-US" sz="2600" dirty="0"/>
              <a:t> </a:t>
            </a:r>
            <a:r>
              <a:rPr lang="en-US" sz="2600" dirty="0" err="1"/>
              <a:t>faaliyetleri</a:t>
            </a:r>
            <a:r>
              <a:rPr lang="en-US" sz="2600" dirty="0"/>
              <a:t> </a:t>
            </a:r>
            <a:r>
              <a:rPr lang="en-US" sz="2600" dirty="0" err="1"/>
              <a:t>ve</a:t>
            </a:r>
            <a:r>
              <a:rPr lang="en-US" sz="2600" dirty="0"/>
              <a:t> </a:t>
            </a:r>
            <a:r>
              <a:rPr lang="en-US" sz="2600" dirty="0" err="1"/>
              <a:t>maliyetleri</a:t>
            </a:r>
            <a:r>
              <a:rPr lang="en-US" sz="2600" dirty="0"/>
              <a:t> </a:t>
            </a:r>
            <a:r>
              <a:rPr lang="en-US" sz="2600" dirty="0" err="1"/>
              <a:t>üstlenen</a:t>
            </a:r>
            <a:r>
              <a:rPr lang="en-US" sz="2600" dirty="0"/>
              <a:t> </a:t>
            </a:r>
            <a:r>
              <a:rPr lang="en-US" sz="2600" dirty="0" err="1"/>
              <a:t>bir</a:t>
            </a:r>
            <a:r>
              <a:rPr lang="en-US" sz="2600" dirty="0"/>
              <a:t> leasing </a:t>
            </a:r>
            <a:r>
              <a:rPr lang="en-US" sz="2600" dirty="0" err="1"/>
              <a:t>firmasına</a:t>
            </a:r>
            <a:r>
              <a:rPr lang="en-US" sz="2600" dirty="0"/>
              <a:t> </a:t>
            </a:r>
            <a:r>
              <a:rPr lang="en-US" sz="2600" dirty="0" err="1"/>
              <a:t>aktarır</a:t>
            </a:r>
            <a:r>
              <a:rPr lang="en-US" sz="2600" dirty="0"/>
              <a:t>; </a:t>
            </a:r>
            <a:r>
              <a:rPr lang="en-US" sz="2600" dirty="0" err="1"/>
              <a:t>İşçiler</a:t>
            </a:r>
            <a:r>
              <a:rPr lang="en-US" sz="2600" dirty="0"/>
              <a:t> leasing </a:t>
            </a:r>
            <a:r>
              <a:rPr lang="en-US" sz="2600" dirty="0" err="1"/>
              <a:t>firmasının</a:t>
            </a:r>
            <a:r>
              <a:rPr lang="en-US" sz="2600" dirty="0"/>
              <a:t> </a:t>
            </a:r>
            <a:r>
              <a:rPr lang="en-US" sz="2600" dirty="0" err="1"/>
              <a:t>çalışanları</a:t>
            </a:r>
            <a:r>
              <a:rPr lang="en-US" sz="2600" dirty="0"/>
              <a:t> </a:t>
            </a:r>
            <a:r>
              <a:rPr lang="en-US" sz="2600" dirty="0" err="1"/>
              <a:t>haline</a:t>
            </a:r>
            <a:r>
              <a:rPr lang="en-US" sz="2600" dirty="0"/>
              <a:t> </a:t>
            </a:r>
            <a:r>
              <a:rPr lang="en-US" sz="2600" dirty="0" err="1"/>
              <a:t>gelir</a:t>
            </a:r>
            <a:r>
              <a:rPr lang="en-US" sz="2600" dirty="0"/>
              <a:t>
</a:t>
            </a:r>
            <a:r>
              <a:rPr lang="en-US" sz="2600" dirty="0" err="1"/>
              <a:t>Ortak</a:t>
            </a:r>
            <a:r>
              <a:rPr lang="en-US" sz="2600" dirty="0"/>
              <a:t> </a:t>
            </a:r>
            <a:r>
              <a:rPr lang="en-US" sz="2600" dirty="0" err="1"/>
              <a:t>istihdam</a:t>
            </a:r>
            <a:r>
              <a:rPr lang="en-US" sz="2600" dirty="0"/>
              <a:t> </a:t>
            </a:r>
            <a:r>
              <a:rPr lang="en-US" sz="2600" dirty="0" err="1"/>
              <a:t>ilişkisi</a:t>
            </a:r>
            <a:r>
              <a:rPr lang="en-US" sz="2600" dirty="0"/>
              <a:t>: </a:t>
            </a:r>
            <a:r>
              <a:rPr lang="en-US" sz="2600" dirty="0" err="1"/>
              <a:t>İki</a:t>
            </a:r>
            <a:r>
              <a:rPr lang="en-US" sz="2600" dirty="0"/>
              <a:t> </a:t>
            </a:r>
            <a:r>
              <a:rPr lang="en-US" sz="2600" dirty="0" err="1"/>
              <a:t>işverenin</a:t>
            </a:r>
            <a:r>
              <a:rPr lang="en-US" sz="2600" dirty="0"/>
              <a:t> </a:t>
            </a:r>
            <a:r>
              <a:rPr lang="en-US" sz="2600" dirty="0" err="1"/>
              <a:t>aynı</a:t>
            </a:r>
            <a:r>
              <a:rPr lang="en-US" sz="2600" dirty="0"/>
              <a:t> </a:t>
            </a:r>
            <a:r>
              <a:rPr lang="en-US" sz="2600" dirty="0" err="1"/>
              <a:t>çalışan</a:t>
            </a:r>
            <a:r>
              <a:rPr lang="en-US" sz="2600" dirty="0"/>
              <a:t> </a:t>
            </a:r>
            <a:r>
              <a:rPr lang="en-US" sz="2600" dirty="0" err="1"/>
              <a:t>veya</a:t>
            </a:r>
            <a:r>
              <a:rPr lang="en-US" sz="2600" dirty="0"/>
              <a:t> </a:t>
            </a:r>
            <a:r>
              <a:rPr lang="en-US" sz="2600" dirty="0" err="1"/>
              <a:t>çalışan</a:t>
            </a:r>
            <a:r>
              <a:rPr lang="en-US" sz="2600" dirty="0"/>
              <a:t> </a:t>
            </a:r>
            <a:r>
              <a:rPr lang="en-US" sz="2600" dirty="0" err="1"/>
              <a:t>grubu</a:t>
            </a:r>
            <a:r>
              <a:rPr lang="en-US" sz="2600" dirty="0"/>
              <a:t> </a:t>
            </a:r>
            <a:r>
              <a:rPr lang="en-US" sz="2600" dirty="0" err="1"/>
              <a:t>ile</a:t>
            </a:r>
            <a:r>
              <a:rPr lang="en-US" sz="2600" dirty="0"/>
              <a:t> </a:t>
            </a:r>
            <a:r>
              <a:rPr lang="en-US" sz="2600" dirty="0" err="1"/>
              <a:t>ilgili</a:t>
            </a:r>
            <a:r>
              <a:rPr lang="en-US" sz="2600" dirty="0"/>
              <a:t> </a:t>
            </a:r>
            <a:r>
              <a:rPr lang="en-US" sz="2600" dirty="0" err="1"/>
              <a:t>yasal</a:t>
            </a:r>
            <a:r>
              <a:rPr lang="en-US" sz="2600" dirty="0"/>
              <a:t> </a:t>
            </a:r>
            <a:r>
              <a:rPr lang="en-US" sz="2600" dirty="0" err="1"/>
              <a:t>hak</a:t>
            </a:r>
            <a:r>
              <a:rPr lang="en-US" sz="2600" dirty="0"/>
              <a:t> </a:t>
            </a:r>
            <a:r>
              <a:rPr lang="en-US" sz="2600" dirty="0" err="1"/>
              <a:t>ve</a:t>
            </a:r>
            <a:r>
              <a:rPr lang="en-US" sz="2600" dirty="0"/>
              <a:t> </a:t>
            </a:r>
            <a:r>
              <a:rPr lang="en-US" sz="2600" dirty="0" err="1"/>
              <a:t>görevlere</a:t>
            </a:r>
            <a:r>
              <a:rPr lang="en-US" sz="2600" dirty="0"/>
              <a:t> </a:t>
            </a:r>
            <a:r>
              <a:rPr lang="en-US" sz="2600" dirty="0" err="1"/>
              <a:t>sahip</a:t>
            </a:r>
            <a:r>
              <a:rPr lang="en-US" sz="2600" dirty="0"/>
              <a:t> </a:t>
            </a:r>
            <a:r>
              <a:rPr lang="en-US" sz="2600" dirty="0" err="1"/>
              <a:t>olduğu</a:t>
            </a:r>
            <a:r>
              <a:rPr lang="en-US" sz="2600" dirty="0"/>
              <a:t> </a:t>
            </a:r>
            <a:r>
              <a:rPr lang="en-US" sz="2600" dirty="0" err="1"/>
              <a:t>ilişki</a:t>
            </a:r>
            <a:r>
              <a:rPr lang="en-US" sz="2600" dirty="0"/>
              <a:t>
PEO: </a:t>
            </a:r>
            <a:r>
              <a:rPr lang="en-US" sz="2600" dirty="0" err="1"/>
              <a:t>Müşterilerinin</a:t>
            </a:r>
            <a:r>
              <a:rPr lang="en-US" sz="2600" dirty="0"/>
              <a:t> </a:t>
            </a:r>
            <a:r>
              <a:rPr lang="en-US" sz="2600" dirty="0" err="1"/>
              <a:t>çalışanlarını</a:t>
            </a:r>
            <a:r>
              <a:rPr lang="en-US" sz="2600" dirty="0"/>
              <a:t> </a:t>
            </a:r>
            <a:r>
              <a:rPr lang="en-US" sz="2600" dirty="0" err="1"/>
              <a:t>işe</a:t>
            </a:r>
            <a:r>
              <a:rPr lang="en-US" sz="2600" dirty="0"/>
              <a:t> </a:t>
            </a:r>
            <a:r>
              <a:rPr lang="en-US" sz="2600" dirty="0" err="1"/>
              <a:t>alan</a:t>
            </a:r>
            <a:r>
              <a:rPr lang="en-US" sz="2600" dirty="0"/>
              <a:t> </a:t>
            </a:r>
            <a:r>
              <a:rPr lang="en-US" sz="2600" dirty="0" err="1"/>
              <a:t>ve</a:t>
            </a:r>
            <a:r>
              <a:rPr lang="en-US" sz="2600" dirty="0"/>
              <a:t> </a:t>
            </a:r>
            <a:r>
              <a:rPr lang="en-US" sz="2600" dirty="0" err="1"/>
              <a:t>tüm</a:t>
            </a:r>
            <a:r>
              <a:rPr lang="en-US" sz="2600" dirty="0"/>
              <a:t> İK </a:t>
            </a:r>
            <a:r>
              <a:rPr lang="en-US" sz="2600" dirty="0" err="1"/>
              <a:t>fonksiyonlarının</a:t>
            </a:r>
            <a:r>
              <a:rPr lang="en-US" sz="2600" dirty="0"/>
              <a:t> </a:t>
            </a:r>
            <a:r>
              <a:rPr lang="en-US" sz="2600" dirty="0" err="1"/>
              <a:t>sorumluluğunu</a:t>
            </a:r>
            <a:r>
              <a:rPr lang="en-US" sz="2600" dirty="0"/>
              <a:t> </a:t>
            </a:r>
            <a:r>
              <a:rPr lang="en-US" sz="2600" dirty="0" err="1"/>
              <a:t>üstlenen</a:t>
            </a:r>
            <a:r>
              <a:rPr lang="en-US" sz="2600" dirty="0"/>
              <a:t> </a:t>
            </a:r>
            <a:r>
              <a:rPr lang="en-US" sz="2600" dirty="0" err="1"/>
              <a:t>bir</a:t>
            </a:r>
            <a:r>
              <a:rPr lang="en-US" sz="2600" dirty="0"/>
              <a:t> </a:t>
            </a:r>
            <a:r>
              <a:rPr lang="en-US" sz="2600" dirty="0" err="1"/>
              <a:t>ticari</a:t>
            </a:r>
            <a:r>
              <a:rPr lang="en-US" sz="2600" dirty="0"/>
              <a:t> </a:t>
            </a:r>
            <a:r>
              <a:rPr lang="en-US" sz="2600" dirty="0" err="1"/>
              <a:t>kuruluş</a:t>
            </a:r>
            <a:endParaRPr lang="en-US" sz="2600" dirty="0"/>
          </a:p>
        </p:txBody>
      </p:sp>
      <p:sp>
        <p:nvSpPr>
          <p:cNvPr id="3" name="Title 2"/>
          <p:cNvSpPr>
            <a:spLocks noGrp="1"/>
          </p:cNvSpPr>
          <p:nvPr>
            <p:ph type="title"/>
          </p:nvPr>
        </p:nvSpPr>
        <p:spPr>
          <a:xfrm>
            <a:off x="812800" y="290459"/>
            <a:ext cx="8026400" cy="527837"/>
          </a:xfrm>
        </p:spPr>
        <p:txBody>
          <a:bodyPr/>
          <a:lstStyle/>
          <a:p>
            <a:r>
              <a:rPr lang="en-US" sz="4000" dirty="0" err="1"/>
              <a:t>Taşeron</a:t>
            </a:r>
            <a:r>
              <a:rPr lang="en-US" sz="4000" dirty="0"/>
              <a:t> </a:t>
            </a:r>
            <a:r>
              <a:rPr lang="en-US" sz="4000" dirty="0" err="1"/>
              <a:t>İşçilerin</a:t>
            </a:r>
            <a:r>
              <a:rPr lang="en-US" sz="4000" dirty="0"/>
              <a:t> </a:t>
            </a:r>
            <a:r>
              <a:rPr lang="en-US" sz="4000" dirty="0" err="1"/>
              <a:t>Kullanımı</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19833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448321"/>
            <a:ext cx="8415338" cy="2609945"/>
          </a:xfrm>
        </p:spPr>
        <p:txBody>
          <a:bodyPr/>
          <a:lstStyle/>
          <a:p>
            <a:r>
              <a:rPr lang="en-US" sz="2800" dirty="0" err="1"/>
              <a:t>Esnek</a:t>
            </a:r>
            <a:r>
              <a:rPr lang="en-US" sz="2800" dirty="0"/>
              <a:t> </a:t>
            </a:r>
            <a:r>
              <a:rPr lang="en-US" sz="2800" dirty="0" err="1"/>
              <a:t>ekonomi</a:t>
            </a:r>
            <a:r>
              <a:rPr lang="en-US" sz="2800" dirty="0"/>
              <a:t>: </a:t>
            </a:r>
            <a:r>
              <a:rPr lang="en-US" sz="2800" dirty="0" err="1"/>
              <a:t>Geçici</a:t>
            </a:r>
            <a:r>
              <a:rPr lang="en-US" sz="2800" dirty="0"/>
              <a:t> </a:t>
            </a:r>
            <a:r>
              <a:rPr lang="en-US" sz="2800" dirty="0" err="1"/>
              <a:t>pozisyonların</a:t>
            </a:r>
            <a:r>
              <a:rPr lang="en-US" sz="2800" dirty="0"/>
              <a:t> </a:t>
            </a:r>
            <a:r>
              <a:rPr lang="en-US" sz="2800" dirty="0" err="1"/>
              <a:t>yaygın</a:t>
            </a:r>
            <a:r>
              <a:rPr lang="en-US" sz="2800" dirty="0"/>
              <a:t> </a:t>
            </a:r>
            <a:r>
              <a:rPr lang="en-US" sz="2800" dirty="0" err="1"/>
              <a:t>olduğu</a:t>
            </a:r>
            <a:r>
              <a:rPr lang="en-US" sz="2800" dirty="0"/>
              <a:t> </a:t>
            </a:r>
            <a:r>
              <a:rPr lang="en-US" sz="2800" dirty="0" err="1"/>
              <a:t>ve</a:t>
            </a:r>
            <a:r>
              <a:rPr lang="en-US" sz="2800" dirty="0"/>
              <a:t> </a:t>
            </a:r>
            <a:r>
              <a:rPr lang="en-US" sz="2800" dirty="0" err="1"/>
              <a:t>kuruluşların</a:t>
            </a:r>
            <a:r>
              <a:rPr lang="en-US" sz="2800" dirty="0"/>
              <a:t> </a:t>
            </a:r>
            <a:r>
              <a:rPr lang="en-US" sz="2800" dirty="0" err="1"/>
              <a:t>kısa</a:t>
            </a:r>
            <a:r>
              <a:rPr lang="en-US" sz="2800" dirty="0"/>
              <a:t> </a:t>
            </a:r>
            <a:r>
              <a:rPr lang="en-US" sz="2800" dirty="0" err="1"/>
              <a:t>vadeli</a:t>
            </a:r>
            <a:r>
              <a:rPr lang="en-US" sz="2800" dirty="0"/>
              <a:t> </a:t>
            </a:r>
            <a:r>
              <a:rPr lang="en-US" sz="2800" dirty="0" err="1"/>
              <a:t>görevler</a:t>
            </a:r>
            <a:r>
              <a:rPr lang="en-US" sz="2800" dirty="0"/>
              <a:t> için </a:t>
            </a:r>
            <a:r>
              <a:rPr lang="en-US" sz="2800" dirty="0" err="1"/>
              <a:t>bağımsız</a:t>
            </a:r>
            <a:r>
              <a:rPr lang="en-US" sz="2800" dirty="0"/>
              <a:t> </a:t>
            </a:r>
            <a:r>
              <a:rPr lang="en-US" sz="2800" dirty="0" err="1"/>
              <a:t>çalışanlarla</a:t>
            </a:r>
            <a:r>
              <a:rPr lang="en-US" sz="2800" dirty="0"/>
              <a:t> </a:t>
            </a:r>
            <a:r>
              <a:rPr lang="en-US" sz="2800" dirty="0" err="1"/>
              <a:t>sözleşme</a:t>
            </a:r>
            <a:r>
              <a:rPr lang="en-US" sz="2800" dirty="0"/>
              <a:t> </a:t>
            </a:r>
            <a:r>
              <a:rPr lang="en-US" sz="2800" dirty="0" err="1"/>
              <a:t>yaptığı</a:t>
            </a:r>
            <a:r>
              <a:rPr lang="en-US" sz="2800" dirty="0"/>
              <a:t> </a:t>
            </a:r>
            <a:r>
              <a:rPr lang="en-US" sz="2800" dirty="0" err="1"/>
              <a:t>bir</a:t>
            </a:r>
            <a:r>
              <a:rPr lang="en-US" sz="2800" dirty="0"/>
              <a:t> </a:t>
            </a:r>
            <a:r>
              <a:rPr lang="en-US" sz="2800" dirty="0" err="1"/>
              <a:t>çalışma</a:t>
            </a:r>
            <a:r>
              <a:rPr lang="en-US" sz="2800" dirty="0"/>
              <a:t> </a:t>
            </a:r>
            <a:r>
              <a:rPr lang="en-US" sz="2800" dirty="0" err="1"/>
              <a:t>ortamını</a:t>
            </a:r>
            <a:r>
              <a:rPr lang="en-US" sz="2800" dirty="0"/>
              <a:t> </a:t>
            </a:r>
            <a:r>
              <a:rPr lang="en-US" sz="2800" dirty="0" err="1"/>
              <a:t>ifade</a:t>
            </a:r>
            <a:r>
              <a:rPr lang="en-US" sz="2800" dirty="0"/>
              <a:t> </a:t>
            </a:r>
            <a:r>
              <a:rPr lang="en-US" sz="2800" dirty="0" err="1"/>
              <a:t>eder</a:t>
            </a:r>
            <a:r>
              <a:rPr lang="en-US" sz="2800" dirty="0"/>
              <a:t>
</a:t>
            </a:r>
            <a:r>
              <a:rPr lang="en-US" sz="2800" dirty="0" err="1"/>
              <a:t>Bağımsız</a:t>
            </a:r>
            <a:r>
              <a:rPr lang="en-US" sz="2800" dirty="0"/>
              <a:t> </a:t>
            </a:r>
            <a:r>
              <a:rPr lang="en-US" sz="2800" dirty="0" err="1"/>
              <a:t>yüklenici</a:t>
            </a:r>
            <a:r>
              <a:rPr lang="en-US" sz="2800" dirty="0"/>
              <a:t>: </a:t>
            </a:r>
            <a:r>
              <a:rPr lang="en-US" sz="2800" dirty="0" err="1"/>
              <a:t>Yazılı</a:t>
            </a:r>
            <a:r>
              <a:rPr lang="en-US" sz="2800" dirty="0"/>
              <a:t> </a:t>
            </a:r>
            <a:r>
              <a:rPr lang="en-US" sz="2800" dirty="0" err="1"/>
              <a:t>bir</a:t>
            </a:r>
            <a:r>
              <a:rPr lang="en-US" sz="2800" dirty="0"/>
              <a:t> </a:t>
            </a:r>
            <a:r>
              <a:rPr lang="en-US" sz="2800" dirty="0" err="1"/>
              <a:t>sözleşmede</a:t>
            </a:r>
            <a:r>
              <a:rPr lang="en-US" sz="2800" dirty="0"/>
              <a:t> </a:t>
            </a:r>
            <a:r>
              <a:rPr lang="en-US" sz="2800" dirty="0" err="1"/>
              <a:t>veya</a:t>
            </a:r>
            <a:r>
              <a:rPr lang="en-US" sz="2800" dirty="0"/>
              <a:t> </a:t>
            </a:r>
            <a:r>
              <a:rPr lang="en-US" sz="2800" dirty="0" err="1"/>
              <a:t>sözlü</a:t>
            </a:r>
            <a:r>
              <a:rPr lang="en-US" sz="2800" dirty="0"/>
              <a:t> </a:t>
            </a:r>
            <a:r>
              <a:rPr lang="en-US" sz="2800" dirty="0" err="1"/>
              <a:t>bir</a:t>
            </a:r>
            <a:r>
              <a:rPr lang="en-US" sz="2800" dirty="0"/>
              <a:t> </a:t>
            </a:r>
            <a:r>
              <a:rPr lang="en-US" sz="2800" dirty="0" err="1"/>
              <a:t>anlaşmada</a:t>
            </a:r>
            <a:r>
              <a:rPr lang="en-US" sz="2800" dirty="0"/>
              <a:t> </a:t>
            </a:r>
            <a:r>
              <a:rPr lang="en-US" sz="2800" dirty="0" err="1"/>
              <a:t>tanımlanan</a:t>
            </a:r>
            <a:r>
              <a:rPr lang="en-US" sz="2800" dirty="0"/>
              <a:t> </a:t>
            </a:r>
            <a:r>
              <a:rPr lang="en-US" sz="2800" dirty="0" err="1"/>
              <a:t>şartlara</a:t>
            </a:r>
            <a:r>
              <a:rPr lang="en-US" sz="2800" dirty="0"/>
              <a:t> </a:t>
            </a:r>
            <a:r>
              <a:rPr lang="en-US" sz="2800" dirty="0" err="1"/>
              <a:t>göre</a:t>
            </a:r>
            <a:r>
              <a:rPr lang="en-US" sz="2800" dirty="0"/>
              <a:t> </a:t>
            </a:r>
            <a:r>
              <a:rPr lang="en-US" sz="2800" dirty="0" err="1"/>
              <a:t>başka</a:t>
            </a:r>
            <a:r>
              <a:rPr lang="en-US" sz="2800" dirty="0"/>
              <a:t> </a:t>
            </a:r>
            <a:r>
              <a:rPr lang="en-US" sz="2800" dirty="0" err="1"/>
              <a:t>bir</a:t>
            </a:r>
            <a:r>
              <a:rPr lang="en-US" sz="2800" dirty="0"/>
              <a:t> </a:t>
            </a:r>
            <a:r>
              <a:rPr lang="en-US" sz="2800" dirty="0" err="1"/>
              <a:t>kişi</a:t>
            </a:r>
            <a:r>
              <a:rPr lang="en-US" sz="2800" dirty="0"/>
              <a:t> </a:t>
            </a:r>
            <a:r>
              <a:rPr lang="en-US" sz="2800" dirty="0" err="1"/>
              <a:t>veya</a:t>
            </a:r>
            <a:r>
              <a:rPr lang="en-US" sz="2800" dirty="0"/>
              <a:t> </a:t>
            </a:r>
            <a:r>
              <a:rPr lang="en-US" sz="2800" dirty="0" err="1"/>
              <a:t>kuruluşa</a:t>
            </a:r>
            <a:r>
              <a:rPr lang="en-US" sz="2800" dirty="0"/>
              <a:t> </a:t>
            </a:r>
            <a:r>
              <a:rPr lang="en-US" sz="2800" dirty="0" err="1"/>
              <a:t>hizmet</a:t>
            </a:r>
            <a:r>
              <a:rPr lang="en-US" sz="2800" dirty="0"/>
              <a:t> </a:t>
            </a:r>
            <a:r>
              <a:rPr lang="en-US" sz="2800" dirty="0" err="1"/>
              <a:t>sağlayan</a:t>
            </a:r>
            <a:r>
              <a:rPr lang="en-US" sz="2800" dirty="0"/>
              <a:t> </a:t>
            </a:r>
            <a:r>
              <a:rPr lang="en-US" sz="2800" dirty="0" err="1"/>
              <a:t>bir</a:t>
            </a:r>
            <a:r>
              <a:rPr lang="en-US" sz="2800" dirty="0"/>
              <a:t> </a:t>
            </a:r>
            <a:r>
              <a:rPr lang="en-US" sz="2800" dirty="0" err="1"/>
              <a:t>kişi</a:t>
            </a:r>
            <a:endParaRPr lang="en-US" sz="2600" dirty="0"/>
          </a:p>
        </p:txBody>
      </p:sp>
      <p:sp>
        <p:nvSpPr>
          <p:cNvPr id="3" name="Title 2"/>
          <p:cNvSpPr>
            <a:spLocks noGrp="1"/>
          </p:cNvSpPr>
          <p:nvPr>
            <p:ph type="title"/>
          </p:nvPr>
        </p:nvSpPr>
        <p:spPr>
          <a:xfrm>
            <a:off x="812800" y="290459"/>
            <a:ext cx="8026400" cy="527837"/>
          </a:xfrm>
        </p:spPr>
        <p:txBody>
          <a:bodyPr/>
          <a:lstStyle/>
          <a:p>
            <a:r>
              <a:rPr lang="en-US" sz="4000"/>
              <a:t>Taşeron İşçilerin Kullanımı, Bölüm 3</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66929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3862" y="1295400"/>
            <a:ext cx="8415338" cy="5579989"/>
          </a:xfrm>
        </p:spPr>
        <p:txBody>
          <a:bodyPr/>
          <a:lstStyle/>
          <a:p>
            <a:r>
              <a:rPr lang="en-US" sz="2800" dirty="0" err="1"/>
              <a:t>Çalışanın</a:t>
            </a:r>
            <a:r>
              <a:rPr lang="en-US" sz="2800" dirty="0"/>
              <a:t> </a:t>
            </a:r>
            <a:r>
              <a:rPr lang="en-US" sz="2800" dirty="0" err="1"/>
              <a:t>bakış</a:t>
            </a:r>
            <a:r>
              <a:rPr lang="en-US" sz="2800" dirty="0"/>
              <a:t> </a:t>
            </a:r>
            <a:r>
              <a:rPr lang="en-US" sz="2800" dirty="0" err="1"/>
              <a:t>açısından</a:t>
            </a:r>
            <a:r>
              <a:rPr lang="en-US" sz="2800" dirty="0"/>
              <a:t>
</a:t>
            </a:r>
            <a:r>
              <a:rPr lang="en-US" sz="2800" dirty="0" err="1"/>
              <a:t>Dünyanın</a:t>
            </a:r>
            <a:r>
              <a:rPr lang="en-US" sz="2800" dirty="0"/>
              <a:t> </a:t>
            </a:r>
            <a:r>
              <a:rPr lang="en-US" sz="2800" dirty="0" err="1"/>
              <a:t>dört</a:t>
            </a:r>
            <a:r>
              <a:rPr lang="en-US" sz="2800" dirty="0"/>
              <a:t> </a:t>
            </a:r>
            <a:r>
              <a:rPr lang="en-US" sz="2800" dirty="0" err="1"/>
              <a:t>bir</a:t>
            </a:r>
            <a:r>
              <a:rPr lang="en-US" sz="2800" dirty="0"/>
              <a:t> </a:t>
            </a:r>
            <a:r>
              <a:rPr lang="en-US" sz="2800" dirty="0" err="1"/>
              <a:t>yanındaki</a:t>
            </a:r>
            <a:r>
              <a:rPr lang="en-US" sz="2800" dirty="0"/>
              <a:t> </a:t>
            </a:r>
            <a:r>
              <a:rPr lang="en-US" sz="2800" dirty="0" err="1"/>
              <a:t>geçici</a:t>
            </a:r>
            <a:r>
              <a:rPr lang="en-US" sz="2800" dirty="0"/>
              <a:t> </a:t>
            </a:r>
            <a:r>
              <a:rPr lang="en-US" sz="2800" dirty="0" err="1"/>
              <a:t>işler</a:t>
            </a:r>
            <a:r>
              <a:rPr lang="en-US" sz="2800" dirty="0"/>
              <a:t> </a:t>
            </a:r>
            <a:r>
              <a:rPr lang="en-US" sz="2800" dirty="0" err="1"/>
              <a:t>ve</a:t>
            </a:r>
            <a:r>
              <a:rPr lang="en-US" sz="2800" dirty="0"/>
              <a:t> </a:t>
            </a:r>
            <a:r>
              <a:rPr lang="en-US" sz="2800" dirty="0" err="1"/>
              <a:t>projeler</a:t>
            </a:r>
            <a:r>
              <a:rPr lang="en-US" sz="2800" dirty="0"/>
              <a:t> </a:t>
            </a:r>
            <a:r>
              <a:rPr lang="en-US" sz="2800" dirty="0" err="1"/>
              <a:t>arasından</a:t>
            </a:r>
            <a:r>
              <a:rPr lang="en-US" sz="2800" dirty="0"/>
              <a:t> </a:t>
            </a:r>
            <a:r>
              <a:rPr lang="en-US" sz="2800" dirty="0" err="1"/>
              <a:t>seçim</a:t>
            </a:r>
            <a:r>
              <a:rPr lang="en-US" sz="2800" dirty="0"/>
              <a:t> </a:t>
            </a:r>
            <a:r>
              <a:rPr lang="en-US" sz="2800" dirty="0" err="1"/>
              <a:t>yapma</a:t>
            </a:r>
            <a:r>
              <a:rPr lang="en-US" sz="2800" dirty="0"/>
              <a:t> </a:t>
            </a:r>
            <a:r>
              <a:rPr lang="en-US" sz="2800" dirty="0" err="1"/>
              <a:t>özgürlüğü</a:t>
            </a:r>
            <a:r>
              <a:rPr lang="en-US" sz="2800" dirty="0"/>
              <a:t>
</a:t>
            </a:r>
            <a:r>
              <a:rPr lang="en-US" sz="2800" dirty="0" err="1"/>
              <a:t>Sık</a:t>
            </a:r>
            <a:r>
              <a:rPr lang="en-US" sz="2800" dirty="0"/>
              <a:t> </a:t>
            </a:r>
            <a:r>
              <a:rPr lang="en-US" sz="2800" dirty="0" err="1"/>
              <a:t>sık</a:t>
            </a:r>
            <a:r>
              <a:rPr lang="en-US" sz="2800" dirty="0"/>
              <a:t> "</a:t>
            </a:r>
            <a:r>
              <a:rPr lang="en-US" sz="2800" dirty="0" err="1"/>
              <a:t>iş</a:t>
            </a:r>
            <a:r>
              <a:rPr lang="en-US" sz="2800" dirty="0"/>
              <a:t>" </a:t>
            </a:r>
            <a:r>
              <a:rPr lang="en-US" sz="2800" dirty="0" err="1"/>
              <a:t>değiştirme</a:t>
            </a:r>
            <a:r>
              <a:rPr lang="en-US" sz="2800" dirty="0"/>
              <a:t> </a:t>
            </a:r>
            <a:r>
              <a:rPr lang="en-US" sz="2800" dirty="0" err="1"/>
              <a:t>fırsatı</a:t>
            </a:r>
            <a:r>
              <a:rPr lang="en-US" sz="2800" dirty="0"/>
              <a:t>
</a:t>
            </a:r>
            <a:r>
              <a:rPr lang="en-US" sz="2800" dirty="0" err="1"/>
              <a:t>Çalışma</a:t>
            </a:r>
            <a:r>
              <a:rPr lang="en-US" sz="2800" dirty="0"/>
              <a:t> </a:t>
            </a:r>
            <a:r>
              <a:rPr lang="en-US" sz="2800" dirty="0" err="1"/>
              <a:t>saatleri</a:t>
            </a:r>
            <a:r>
              <a:rPr lang="en-US" sz="2800" dirty="0"/>
              <a:t> </a:t>
            </a:r>
            <a:r>
              <a:rPr lang="en-US" sz="2800" dirty="0" err="1"/>
              <a:t>ve</a:t>
            </a:r>
            <a:r>
              <a:rPr lang="en-US" sz="2800" dirty="0"/>
              <a:t> </a:t>
            </a:r>
            <a:r>
              <a:rPr lang="en-US" sz="2800" dirty="0" err="1"/>
              <a:t>konum</a:t>
            </a:r>
            <a:r>
              <a:rPr lang="en-US" sz="2800" dirty="0"/>
              <a:t> </a:t>
            </a:r>
            <a:r>
              <a:rPr lang="en-US" sz="2800" dirty="0" err="1"/>
              <a:t>açısından</a:t>
            </a:r>
            <a:r>
              <a:rPr lang="en-US" sz="2800" dirty="0"/>
              <a:t> </a:t>
            </a:r>
            <a:r>
              <a:rPr lang="en-US" sz="2800" dirty="0" err="1"/>
              <a:t>daha</a:t>
            </a:r>
            <a:r>
              <a:rPr lang="en-US" sz="2800" dirty="0"/>
              <a:t> </a:t>
            </a:r>
            <a:r>
              <a:rPr lang="en-US" sz="2800" dirty="0" err="1"/>
              <a:t>fazla</a:t>
            </a:r>
            <a:r>
              <a:rPr lang="en-US" sz="2800" dirty="0"/>
              <a:t> </a:t>
            </a:r>
            <a:r>
              <a:rPr lang="en-US" sz="2800" dirty="0" err="1"/>
              <a:t>esneklik</a:t>
            </a:r>
            <a:r>
              <a:rPr lang="en-US" sz="2800" dirty="0"/>
              <a:t>
</a:t>
            </a:r>
            <a:r>
              <a:rPr lang="en-US" sz="2800" dirty="0" err="1"/>
              <a:t>İşveren</a:t>
            </a:r>
            <a:r>
              <a:rPr lang="en-US" sz="2800" dirty="0"/>
              <a:t> </a:t>
            </a:r>
            <a:r>
              <a:rPr lang="en-US" sz="2800" dirty="0" err="1"/>
              <a:t>açısından</a:t>
            </a:r>
            <a:r>
              <a:rPr lang="en-US" sz="2800" dirty="0"/>
              <a:t>:
</a:t>
            </a:r>
            <a:r>
              <a:rPr lang="en-US" sz="2800" dirty="0" err="1"/>
              <a:t>Daha</a:t>
            </a:r>
            <a:r>
              <a:rPr lang="en-US" sz="2800" dirty="0"/>
              <a:t> </a:t>
            </a:r>
            <a:r>
              <a:rPr lang="en-US" sz="2800" dirty="0" err="1"/>
              <a:t>geniş</a:t>
            </a:r>
            <a:r>
              <a:rPr lang="en-US" sz="2800" dirty="0"/>
              <a:t> </a:t>
            </a:r>
            <a:r>
              <a:rPr lang="en-US" sz="2800" dirty="0" err="1"/>
              <a:t>bir</a:t>
            </a:r>
            <a:r>
              <a:rPr lang="en-US" sz="2800" dirty="0"/>
              <a:t> </a:t>
            </a:r>
            <a:r>
              <a:rPr lang="en-US" sz="2800" dirty="0" err="1"/>
              <a:t>aday</a:t>
            </a:r>
            <a:r>
              <a:rPr lang="en-US" sz="2800" dirty="0"/>
              <a:t> </a:t>
            </a:r>
            <a:r>
              <a:rPr lang="en-US" sz="2800" dirty="0" err="1"/>
              <a:t>havuzundan</a:t>
            </a:r>
            <a:r>
              <a:rPr lang="en-US" sz="2800" dirty="0"/>
              <a:t> </a:t>
            </a:r>
            <a:r>
              <a:rPr lang="en-US" sz="2800" dirty="0" err="1"/>
              <a:t>belirli</a:t>
            </a:r>
            <a:r>
              <a:rPr lang="en-US" sz="2800" dirty="0"/>
              <a:t> </a:t>
            </a:r>
            <a:r>
              <a:rPr lang="en-US" sz="2800" dirty="0" err="1"/>
              <a:t>bir</a:t>
            </a:r>
            <a:r>
              <a:rPr lang="en-US" sz="2800" dirty="0"/>
              <a:t> </a:t>
            </a:r>
            <a:r>
              <a:rPr lang="en-US" sz="2800" dirty="0" err="1"/>
              <a:t>proje</a:t>
            </a:r>
            <a:r>
              <a:rPr lang="en-US" sz="2800" dirty="0"/>
              <a:t> için </a:t>
            </a:r>
            <a:r>
              <a:rPr lang="en-US" sz="2800" dirty="0" err="1"/>
              <a:t>en</a:t>
            </a:r>
            <a:r>
              <a:rPr lang="en-US" sz="2800" dirty="0"/>
              <a:t> iyi </a:t>
            </a:r>
            <a:r>
              <a:rPr lang="en-US" sz="2800" dirty="0" err="1"/>
              <a:t>bireyleri</a:t>
            </a:r>
            <a:r>
              <a:rPr lang="en-US" sz="2800" dirty="0"/>
              <a:t> </a:t>
            </a:r>
            <a:r>
              <a:rPr lang="en-US" sz="2800" dirty="0" err="1"/>
              <a:t>seçme</a:t>
            </a:r>
            <a:r>
              <a:rPr lang="en-US" sz="2800" dirty="0"/>
              <a:t> </a:t>
            </a:r>
            <a:r>
              <a:rPr lang="en-US" sz="2800" dirty="0" err="1"/>
              <a:t>yeteneği</a:t>
            </a:r>
            <a:r>
              <a:rPr lang="en-US" sz="2800" dirty="0"/>
              <a:t>
</a:t>
            </a:r>
            <a:r>
              <a:rPr lang="en-US" sz="2800" dirty="0" err="1"/>
              <a:t>Personeli</a:t>
            </a:r>
            <a:r>
              <a:rPr lang="en-US" sz="2800" dirty="0"/>
              <a:t> </a:t>
            </a:r>
            <a:r>
              <a:rPr lang="en-US" sz="2800" dirty="0" err="1"/>
              <a:t>ve</a:t>
            </a:r>
            <a:r>
              <a:rPr lang="en-US" sz="2800" dirty="0"/>
              <a:t> </a:t>
            </a:r>
            <a:r>
              <a:rPr lang="en-US" sz="2800" dirty="0" err="1"/>
              <a:t>bordro</a:t>
            </a:r>
            <a:r>
              <a:rPr lang="en-US" sz="2800" dirty="0"/>
              <a:t>, </a:t>
            </a:r>
            <a:r>
              <a:rPr lang="en-US" sz="2800" dirty="0" err="1"/>
              <a:t>yan</a:t>
            </a:r>
            <a:r>
              <a:rPr lang="en-US" sz="2800" dirty="0"/>
              <a:t> </a:t>
            </a:r>
            <a:r>
              <a:rPr lang="en-US" sz="2800" dirty="0" err="1"/>
              <a:t>haklar</a:t>
            </a:r>
            <a:r>
              <a:rPr lang="en-US" sz="2800" dirty="0"/>
              <a:t>, </a:t>
            </a:r>
            <a:r>
              <a:rPr lang="en-US" sz="2800" dirty="0" err="1"/>
              <a:t>ofis</a:t>
            </a:r>
            <a:r>
              <a:rPr lang="en-US" sz="2800" dirty="0"/>
              <a:t> </a:t>
            </a:r>
            <a:r>
              <a:rPr lang="en-US" sz="2800" dirty="0" err="1"/>
              <a:t>alanı</a:t>
            </a:r>
            <a:r>
              <a:rPr lang="en-US" sz="2800" dirty="0"/>
              <a:t> </a:t>
            </a:r>
            <a:r>
              <a:rPr lang="en-US" sz="2800" dirty="0" err="1"/>
              <a:t>ve</a:t>
            </a:r>
            <a:r>
              <a:rPr lang="en-US" sz="2800" dirty="0"/>
              <a:t> </a:t>
            </a:r>
            <a:r>
              <a:rPr lang="en-US" sz="2800" dirty="0" err="1"/>
              <a:t>eğitim</a:t>
            </a:r>
            <a:r>
              <a:rPr lang="en-US" sz="2800" dirty="0"/>
              <a:t> </a:t>
            </a:r>
            <a:r>
              <a:rPr lang="en-US" sz="2800" dirty="0" err="1"/>
              <a:t>gibi</a:t>
            </a:r>
            <a:r>
              <a:rPr lang="en-US" sz="2800" dirty="0"/>
              <a:t> </a:t>
            </a:r>
            <a:r>
              <a:rPr lang="en-US" sz="2800" dirty="0" err="1"/>
              <a:t>ilgili</a:t>
            </a:r>
            <a:r>
              <a:rPr lang="en-US" sz="2800" dirty="0"/>
              <a:t> </a:t>
            </a:r>
            <a:r>
              <a:rPr lang="en-US" sz="2800" dirty="0" err="1"/>
              <a:t>maliyetleri</a:t>
            </a:r>
            <a:r>
              <a:rPr lang="en-US" sz="2800" dirty="0"/>
              <a:t> </a:t>
            </a:r>
            <a:r>
              <a:rPr lang="en-US" sz="2800" dirty="0" err="1"/>
              <a:t>azaltmak</a:t>
            </a:r>
            <a:r>
              <a:rPr lang="en-US" sz="2800" dirty="0"/>
              <a:t> için </a:t>
            </a:r>
            <a:r>
              <a:rPr lang="en-US" sz="2800" dirty="0" err="1"/>
              <a:t>finansal</a:t>
            </a:r>
            <a:r>
              <a:rPr lang="en-US" sz="2800" dirty="0"/>
              <a:t> </a:t>
            </a:r>
            <a:r>
              <a:rPr lang="en-US" sz="2800" dirty="0" err="1"/>
              <a:t>baskı</a:t>
            </a:r>
            <a:r>
              <a:rPr lang="en-US" sz="2800" dirty="0"/>
              <a:t>
</a:t>
            </a:r>
            <a:r>
              <a:rPr lang="en-US" sz="2800" dirty="0" err="1"/>
              <a:t>Kuruluşun</a:t>
            </a:r>
            <a:r>
              <a:rPr lang="en-US" sz="2800" dirty="0"/>
              <a:t> </a:t>
            </a:r>
            <a:r>
              <a:rPr lang="en-US" sz="2800" dirty="0" err="1"/>
              <a:t>temel</a:t>
            </a:r>
            <a:r>
              <a:rPr lang="en-US" sz="2800" dirty="0"/>
              <a:t> </a:t>
            </a:r>
            <a:r>
              <a:rPr lang="en-US" sz="2800" dirty="0" err="1"/>
              <a:t>işlevlere</a:t>
            </a:r>
            <a:r>
              <a:rPr lang="en-US" sz="2800" dirty="0"/>
              <a:t> </a:t>
            </a:r>
            <a:r>
              <a:rPr lang="en-US" sz="2800" dirty="0" err="1"/>
              <a:t>odaklanmasını</a:t>
            </a:r>
            <a:r>
              <a:rPr lang="en-US" sz="2800" dirty="0"/>
              <a:t> </a:t>
            </a:r>
            <a:r>
              <a:rPr lang="en-US" sz="2800" dirty="0" err="1"/>
              <a:t>sağlar</a:t>
            </a:r>
            <a:endParaRPr lang="en-US" sz="2600" dirty="0"/>
          </a:p>
        </p:txBody>
      </p:sp>
      <p:sp>
        <p:nvSpPr>
          <p:cNvPr id="3" name="Title 2"/>
          <p:cNvSpPr>
            <a:spLocks noGrp="1"/>
          </p:cNvSpPr>
          <p:nvPr>
            <p:ph type="title"/>
          </p:nvPr>
        </p:nvSpPr>
        <p:spPr>
          <a:xfrm>
            <a:off x="762000" y="81395"/>
            <a:ext cx="8026400" cy="945965"/>
          </a:xfrm>
        </p:spPr>
        <p:txBody>
          <a:bodyPr/>
          <a:lstStyle/>
          <a:p>
            <a:r>
              <a:rPr lang="en-US" sz="3600"/>
              <a:t>Bağımsız Müteahhitlere Yönelik Eğilimin Arkasındaki Faktörler</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872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10-3 (part 1): This table presents a checklist of questions a manager should ask when using contingent workers:&#10;&#10;Have you reviewed the definition of an employee in your company’s policies and pension plan documents to ensure it is not so broad that it encompasses contingent workers, thus entitling them to benefits?&#10;Are you careful not to use the same contingent workers on an extended basis? Do you make sure the assignments are finite, with break periods in between?&#10;Do you use contracts that specifically designate workers as contingent workers?&#10;Are you aware that the actual circumstances of the working relationship determine whether a worker is considered an employee in various contexts, and that a company’s definition of a contingent worker may not be accepted as accurate by a government agency or court?&#10;"/>
          <p:cNvGraphicFramePr>
            <a:graphicFrameLocks noGrp="1"/>
          </p:cNvGraphicFramePr>
          <p:nvPr>
            <p:ph idx="1"/>
            <p:extLst>
              <p:ext uri="{D42A27DB-BD31-4B8C-83A1-F6EECF244321}">
                <p14:modId xmlns:p14="http://schemas.microsoft.com/office/powerpoint/2010/main" val="1774031635"/>
              </p:ext>
            </p:extLst>
          </p:nvPr>
        </p:nvGraphicFramePr>
        <p:xfrm>
          <a:off x="304799" y="1143000"/>
          <a:ext cx="8483601" cy="5311140"/>
        </p:xfrm>
        <a:graphic>
          <a:graphicData uri="http://schemas.openxmlformats.org/drawingml/2006/table">
            <a:tbl>
              <a:tblPr firstRow="1" bandRow="1">
                <a:tableStyleId>{5C22544A-7EE6-4342-B048-85BDC9FD1C3A}</a:tableStyleId>
              </a:tblPr>
              <a:tblGrid>
                <a:gridCol w="7239001">
                  <a:extLst>
                    <a:ext uri="{9D8B030D-6E8A-4147-A177-3AD203B41FA5}">
                      <a16:colId xmlns:a16="http://schemas.microsoft.com/office/drawing/2014/main" val="627808164"/>
                    </a:ext>
                  </a:extLst>
                </a:gridCol>
                <a:gridCol w="600790">
                  <a:extLst>
                    <a:ext uri="{9D8B030D-6E8A-4147-A177-3AD203B41FA5}">
                      <a16:colId xmlns:a16="http://schemas.microsoft.com/office/drawing/2014/main" val="639025638"/>
                    </a:ext>
                  </a:extLst>
                </a:gridCol>
                <a:gridCol w="643810">
                  <a:extLst>
                    <a:ext uri="{9D8B030D-6E8A-4147-A177-3AD203B41FA5}">
                      <a16:colId xmlns:a16="http://schemas.microsoft.com/office/drawing/2014/main" val="4175181965"/>
                    </a:ext>
                  </a:extLst>
                </a:gridCol>
              </a:tblGrid>
              <a:tr h="370840">
                <a:tc>
                  <a:txBody>
                    <a:bodyPr/>
                    <a:lstStyle/>
                    <a:p>
                      <a:r>
                        <a:rPr lang="en-US" sz="2100" dirty="0"/>
                        <a:t>SORU</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4084354752"/>
                  </a:ext>
                </a:extLst>
              </a:tr>
              <a:tr h="370840">
                <a:tc>
                  <a:txBody>
                    <a:bodyPr/>
                    <a:lstStyle/>
                    <a:p>
                      <a:pPr marL="342900" indent="-342900">
                        <a:spcBef>
                          <a:spcPts val="300"/>
                        </a:spcBef>
                        <a:buClr>
                          <a:schemeClr val="accent2"/>
                        </a:buClr>
                        <a:buFont typeface="Arial" panose="020B0604020202020204" pitchFamily="34" charset="0"/>
                        <a:buChar char="•"/>
                      </a:pPr>
                      <a:r>
                        <a:rPr lang="en-US" sz="2200" dirty="0" err="1"/>
                        <a:t>Şirketinizin</a:t>
                      </a:r>
                      <a:r>
                        <a:rPr lang="en-US" sz="2200" dirty="0"/>
                        <a:t> </a:t>
                      </a:r>
                      <a:r>
                        <a:rPr lang="en-US" sz="2200" dirty="0" err="1"/>
                        <a:t>politikalarında</a:t>
                      </a:r>
                      <a:r>
                        <a:rPr lang="en-US" sz="2200" dirty="0"/>
                        <a:t> </a:t>
                      </a:r>
                      <a:r>
                        <a:rPr lang="en-US" sz="2200" dirty="0" err="1"/>
                        <a:t>ve</a:t>
                      </a:r>
                      <a:r>
                        <a:rPr lang="en-US" sz="2200" dirty="0"/>
                        <a:t> </a:t>
                      </a:r>
                      <a:r>
                        <a:rPr lang="en-US" sz="2200" dirty="0" err="1"/>
                        <a:t>emeklilik</a:t>
                      </a:r>
                      <a:r>
                        <a:rPr lang="en-US" sz="2200" dirty="0"/>
                        <a:t> </a:t>
                      </a:r>
                      <a:r>
                        <a:rPr lang="en-US" sz="2200" dirty="0" err="1"/>
                        <a:t>planı</a:t>
                      </a:r>
                      <a:r>
                        <a:rPr lang="en-US" sz="2200" dirty="0"/>
                        <a:t> </a:t>
                      </a:r>
                      <a:r>
                        <a:rPr lang="en-US" sz="2200" dirty="0" err="1"/>
                        <a:t>belgelerinde</a:t>
                      </a:r>
                      <a:r>
                        <a:rPr lang="en-US" sz="2200" dirty="0"/>
                        <a:t> </a:t>
                      </a:r>
                      <a:r>
                        <a:rPr lang="en-US" sz="2200" dirty="0" err="1"/>
                        <a:t>çalışan</a:t>
                      </a:r>
                      <a:r>
                        <a:rPr lang="en-US" sz="2200" dirty="0"/>
                        <a:t> </a:t>
                      </a:r>
                      <a:r>
                        <a:rPr lang="en-US" sz="2200" dirty="0" err="1"/>
                        <a:t>tanımını</a:t>
                      </a:r>
                      <a:r>
                        <a:rPr lang="en-US" sz="2200" dirty="0"/>
                        <a:t>, </a:t>
                      </a:r>
                      <a:r>
                        <a:rPr lang="en-US" sz="2200" dirty="0" err="1"/>
                        <a:t>koşullu</a:t>
                      </a:r>
                      <a:r>
                        <a:rPr lang="en-US" sz="2200" dirty="0"/>
                        <a:t> </a:t>
                      </a:r>
                      <a:r>
                        <a:rPr lang="en-US" sz="2200" dirty="0" err="1"/>
                        <a:t>çalışanları</a:t>
                      </a:r>
                      <a:r>
                        <a:rPr lang="en-US" sz="2200" dirty="0"/>
                        <a:t> </a:t>
                      </a:r>
                      <a:r>
                        <a:rPr lang="en-US" sz="2200" dirty="0" err="1"/>
                        <a:t>kapsayacak</a:t>
                      </a:r>
                      <a:r>
                        <a:rPr lang="en-US" sz="2200" dirty="0"/>
                        <a:t> </a:t>
                      </a:r>
                      <a:r>
                        <a:rPr lang="en-US" sz="2200" dirty="0" err="1"/>
                        <a:t>kadar</a:t>
                      </a:r>
                      <a:r>
                        <a:rPr lang="en-US" sz="2200" dirty="0"/>
                        <a:t> </a:t>
                      </a:r>
                      <a:r>
                        <a:rPr lang="en-US" sz="2200" dirty="0" err="1"/>
                        <a:t>geniş</a:t>
                      </a:r>
                      <a:r>
                        <a:rPr lang="en-US" sz="2200" dirty="0"/>
                        <a:t> </a:t>
                      </a:r>
                      <a:r>
                        <a:rPr lang="en-US" sz="2200" dirty="0" err="1"/>
                        <a:t>olmadığından</a:t>
                      </a:r>
                      <a:r>
                        <a:rPr lang="en-US" sz="2200" dirty="0"/>
                        <a:t> </a:t>
                      </a:r>
                      <a:r>
                        <a:rPr lang="en-US" sz="2200" dirty="0" err="1"/>
                        <a:t>ve</a:t>
                      </a:r>
                      <a:r>
                        <a:rPr lang="en-US" sz="2200" dirty="0"/>
                        <a:t> </a:t>
                      </a:r>
                      <a:r>
                        <a:rPr lang="en-US" sz="2200" dirty="0" err="1"/>
                        <a:t>böylece</a:t>
                      </a:r>
                      <a:r>
                        <a:rPr lang="en-US" sz="2200" dirty="0"/>
                        <a:t> </a:t>
                      </a:r>
                      <a:r>
                        <a:rPr lang="en-US" sz="2200" dirty="0" err="1"/>
                        <a:t>onlara</a:t>
                      </a:r>
                      <a:r>
                        <a:rPr lang="en-US" sz="2200" dirty="0"/>
                        <a:t> </a:t>
                      </a:r>
                      <a:r>
                        <a:rPr lang="en-US" sz="2200" dirty="0" err="1"/>
                        <a:t>fayda</a:t>
                      </a:r>
                      <a:r>
                        <a:rPr lang="en-US" sz="2200" dirty="0"/>
                        <a:t> </a:t>
                      </a:r>
                      <a:r>
                        <a:rPr lang="en-US" sz="2200" dirty="0" err="1"/>
                        <a:t>sağladığından</a:t>
                      </a:r>
                      <a:r>
                        <a:rPr lang="en-US" sz="2200" dirty="0"/>
                        <a:t> </a:t>
                      </a:r>
                      <a:r>
                        <a:rPr lang="en-US" sz="2200" dirty="0" err="1"/>
                        <a:t>emin</a:t>
                      </a:r>
                      <a:r>
                        <a:rPr lang="en-US" sz="2200" dirty="0"/>
                        <a:t> </a:t>
                      </a:r>
                      <a:r>
                        <a:rPr lang="en-US" sz="2200" dirty="0" err="1"/>
                        <a:t>olmak</a:t>
                      </a:r>
                      <a:r>
                        <a:rPr lang="en-US" sz="2200" dirty="0"/>
                        <a:t> için </a:t>
                      </a:r>
                      <a:r>
                        <a:rPr lang="en-US" sz="2200" dirty="0" err="1"/>
                        <a:t>gözden</a:t>
                      </a:r>
                      <a:r>
                        <a:rPr lang="en-US" sz="2200" dirty="0"/>
                        <a:t> </a:t>
                      </a:r>
                      <a:r>
                        <a:rPr lang="en-US" sz="2200" dirty="0" err="1"/>
                        <a:t>geçirdiniz</a:t>
                      </a:r>
                      <a:r>
                        <a:rPr lang="en-US" sz="2200" dirty="0"/>
                        <a:t> mi?</a:t>
                      </a:r>
                    </a:p>
                    <a:p>
                      <a:pPr marL="342900" indent="-342900">
                        <a:spcBef>
                          <a:spcPts val="300"/>
                        </a:spcBef>
                        <a:buClr>
                          <a:schemeClr val="accent2"/>
                        </a:buClr>
                        <a:buFont typeface="Arial" panose="020B0604020202020204" pitchFamily="34" charset="0"/>
                        <a:buChar char="•"/>
                      </a:pPr>
                      <a:r>
                        <a:rPr lang="en-US" sz="2200" dirty="0" err="1"/>
                        <a:t>Aynı</a:t>
                      </a:r>
                      <a:r>
                        <a:rPr lang="en-US" sz="2200" dirty="0"/>
                        <a:t> </a:t>
                      </a:r>
                      <a:r>
                        <a:rPr lang="en-US" sz="2200" dirty="0" err="1"/>
                        <a:t>koşullu</a:t>
                      </a:r>
                      <a:r>
                        <a:rPr lang="en-US" sz="2200" dirty="0"/>
                        <a:t> </a:t>
                      </a:r>
                      <a:r>
                        <a:rPr lang="en-US" sz="2200" dirty="0" err="1"/>
                        <a:t>işçileri</a:t>
                      </a:r>
                      <a:r>
                        <a:rPr lang="en-US" sz="2200" dirty="0"/>
                        <a:t> </a:t>
                      </a:r>
                      <a:r>
                        <a:rPr lang="en-US" sz="2200" dirty="0" err="1"/>
                        <a:t>uzun</a:t>
                      </a:r>
                      <a:r>
                        <a:rPr lang="en-US" sz="2200" dirty="0"/>
                        <a:t> </a:t>
                      </a:r>
                      <a:r>
                        <a:rPr lang="en-US" sz="2200" dirty="0" err="1"/>
                        <a:t>süre</a:t>
                      </a:r>
                      <a:r>
                        <a:rPr lang="en-US" sz="2200" dirty="0"/>
                        <a:t> </a:t>
                      </a:r>
                      <a:r>
                        <a:rPr lang="en-US" sz="2200" dirty="0" err="1"/>
                        <a:t>kullanmamaya</a:t>
                      </a:r>
                      <a:r>
                        <a:rPr lang="en-US" sz="2200" dirty="0"/>
                        <a:t> </a:t>
                      </a:r>
                      <a:r>
                        <a:rPr lang="en-US" sz="2200" dirty="0" err="1"/>
                        <a:t>dikkat</a:t>
                      </a:r>
                      <a:r>
                        <a:rPr lang="en-US" sz="2200" dirty="0"/>
                        <a:t> </a:t>
                      </a:r>
                      <a:r>
                        <a:rPr lang="en-US" sz="2200" dirty="0" err="1"/>
                        <a:t>ediyor</a:t>
                      </a:r>
                      <a:r>
                        <a:rPr lang="en-US" sz="2200" dirty="0"/>
                        <a:t> </a:t>
                      </a:r>
                      <a:r>
                        <a:rPr lang="en-US" sz="2200" dirty="0" err="1"/>
                        <a:t>musunuz</a:t>
                      </a:r>
                      <a:r>
                        <a:rPr lang="en-US" sz="2200" dirty="0"/>
                        <a:t>? </a:t>
                      </a:r>
                      <a:r>
                        <a:rPr lang="en-US" sz="2200" dirty="0" err="1"/>
                        <a:t>Ödevlerin</a:t>
                      </a:r>
                      <a:r>
                        <a:rPr lang="en-US" sz="2200" dirty="0"/>
                        <a:t> </a:t>
                      </a:r>
                      <a:r>
                        <a:rPr lang="en-US" sz="2200" dirty="0" err="1"/>
                        <a:t>sonlu</a:t>
                      </a:r>
                      <a:r>
                        <a:rPr lang="en-US" sz="2200" dirty="0"/>
                        <a:t> </a:t>
                      </a:r>
                      <a:r>
                        <a:rPr lang="en-US" sz="2200" dirty="0" err="1"/>
                        <a:t>olduğundan</a:t>
                      </a:r>
                      <a:r>
                        <a:rPr lang="en-US" sz="2200" dirty="0"/>
                        <a:t> </a:t>
                      </a:r>
                      <a:r>
                        <a:rPr lang="en-US" sz="2200" dirty="0" err="1"/>
                        <a:t>ve</a:t>
                      </a:r>
                      <a:r>
                        <a:rPr lang="en-US" sz="2200" dirty="0"/>
                        <a:t> </a:t>
                      </a:r>
                      <a:r>
                        <a:rPr lang="en-US" sz="2200" dirty="0" err="1"/>
                        <a:t>aralarında</a:t>
                      </a:r>
                      <a:r>
                        <a:rPr lang="en-US" sz="2200" dirty="0"/>
                        <a:t> mola </a:t>
                      </a:r>
                      <a:r>
                        <a:rPr lang="en-US" sz="2200" dirty="0" err="1"/>
                        <a:t>süreleri</a:t>
                      </a:r>
                      <a:r>
                        <a:rPr lang="en-US" sz="2200" dirty="0"/>
                        <a:t> </a:t>
                      </a:r>
                      <a:r>
                        <a:rPr lang="en-US" sz="2200" dirty="0" err="1"/>
                        <a:t>olduğundan</a:t>
                      </a:r>
                      <a:r>
                        <a:rPr lang="en-US" sz="2200" dirty="0"/>
                        <a:t> </a:t>
                      </a:r>
                      <a:r>
                        <a:rPr lang="en-US" sz="2200" dirty="0" err="1"/>
                        <a:t>emin</a:t>
                      </a:r>
                      <a:r>
                        <a:rPr lang="en-US" sz="2200" dirty="0"/>
                        <a:t> </a:t>
                      </a:r>
                      <a:r>
                        <a:rPr lang="en-US" sz="2200" dirty="0" err="1"/>
                        <a:t>misiniz</a:t>
                      </a:r>
                      <a:r>
                        <a:rPr lang="en-US" sz="2200" dirty="0"/>
                        <a:t>?</a:t>
                      </a:r>
                    </a:p>
                    <a:p>
                      <a:pPr marL="342900" indent="-342900">
                        <a:spcBef>
                          <a:spcPts val="300"/>
                        </a:spcBef>
                        <a:buClr>
                          <a:schemeClr val="accent2"/>
                        </a:buClr>
                        <a:buFont typeface="Arial" panose="020B0604020202020204" pitchFamily="34" charset="0"/>
                        <a:buChar char="•"/>
                      </a:pPr>
                      <a:r>
                        <a:rPr lang="en-US" sz="2200" dirty="0" err="1"/>
                        <a:t>İşçileri</a:t>
                      </a:r>
                      <a:r>
                        <a:rPr lang="en-US" sz="2200" dirty="0"/>
                        <a:t> </a:t>
                      </a:r>
                      <a:r>
                        <a:rPr lang="en-US" sz="2200" dirty="0" err="1"/>
                        <a:t>özel</a:t>
                      </a:r>
                      <a:r>
                        <a:rPr lang="en-US" sz="2200" dirty="0"/>
                        <a:t> </a:t>
                      </a:r>
                      <a:r>
                        <a:rPr lang="en-US" sz="2200" dirty="0" err="1"/>
                        <a:t>olarak</a:t>
                      </a:r>
                      <a:r>
                        <a:rPr lang="en-US" sz="2200" dirty="0"/>
                        <a:t> </a:t>
                      </a:r>
                      <a:r>
                        <a:rPr lang="en-US" sz="2200" dirty="0" err="1"/>
                        <a:t>sözleşmeli</a:t>
                      </a:r>
                      <a:r>
                        <a:rPr lang="en-US" sz="2200" dirty="0"/>
                        <a:t> </a:t>
                      </a:r>
                      <a:r>
                        <a:rPr lang="en-US" sz="2200" dirty="0" err="1"/>
                        <a:t>işçi</a:t>
                      </a:r>
                      <a:r>
                        <a:rPr lang="en-US" sz="2200" dirty="0"/>
                        <a:t> </a:t>
                      </a:r>
                      <a:r>
                        <a:rPr lang="en-US" sz="2200" dirty="0" err="1"/>
                        <a:t>olarak</a:t>
                      </a:r>
                      <a:r>
                        <a:rPr lang="en-US" sz="2200" dirty="0"/>
                        <a:t> </a:t>
                      </a:r>
                      <a:r>
                        <a:rPr lang="en-US" sz="2200" dirty="0" err="1"/>
                        <a:t>belirleyen</a:t>
                      </a:r>
                      <a:r>
                        <a:rPr lang="en-US" sz="2200" dirty="0"/>
                        <a:t> </a:t>
                      </a:r>
                      <a:r>
                        <a:rPr lang="en-US" sz="2200" dirty="0" err="1"/>
                        <a:t>sözleşmeler</a:t>
                      </a:r>
                      <a:r>
                        <a:rPr lang="en-US" sz="2200" dirty="0"/>
                        <a:t> </a:t>
                      </a:r>
                      <a:r>
                        <a:rPr lang="en-US" sz="2200" dirty="0" err="1"/>
                        <a:t>kullanıyor</a:t>
                      </a:r>
                      <a:r>
                        <a:rPr lang="en-US" sz="2200" dirty="0"/>
                        <a:t> </a:t>
                      </a:r>
                      <a:r>
                        <a:rPr lang="en-US" sz="2200" dirty="0" err="1"/>
                        <a:t>musunuz</a:t>
                      </a:r>
                      <a:r>
                        <a:rPr lang="en-US" sz="2200" dirty="0"/>
                        <a:t>?
</a:t>
                      </a:r>
                      <a:r>
                        <a:rPr lang="en-US" sz="2200" dirty="0" err="1"/>
                        <a:t>İş</a:t>
                      </a:r>
                      <a:r>
                        <a:rPr lang="en-US" sz="2200" dirty="0"/>
                        <a:t> </a:t>
                      </a:r>
                      <a:r>
                        <a:rPr lang="en-US" sz="2200" dirty="0" err="1"/>
                        <a:t>ilişkisinin</a:t>
                      </a:r>
                      <a:r>
                        <a:rPr lang="en-US" sz="2200" dirty="0"/>
                        <a:t> </a:t>
                      </a:r>
                      <a:r>
                        <a:rPr lang="en-US" sz="2200" dirty="0" err="1"/>
                        <a:t>gerçek</a:t>
                      </a:r>
                      <a:r>
                        <a:rPr lang="en-US" sz="2200" dirty="0"/>
                        <a:t> </a:t>
                      </a:r>
                      <a:r>
                        <a:rPr lang="en-US" sz="2200" dirty="0" err="1"/>
                        <a:t>koşullarının</a:t>
                      </a:r>
                      <a:r>
                        <a:rPr lang="en-US" sz="2200" dirty="0"/>
                        <a:t>, </a:t>
                      </a:r>
                      <a:r>
                        <a:rPr lang="en-US" sz="2200" dirty="0" err="1"/>
                        <a:t>bir</a:t>
                      </a:r>
                      <a:r>
                        <a:rPr lang="en-US" sz="2200" dirty="0"/>
                        <a:t> </a:t>
                      </a:r>
                      <a:r>
                        <a:rPr lang="en-US" sz="2200" dirty="0" err="1"/>
                        <a:t>işçinin</a:t>
                      </a:r>
                      <a:r>
                        <a:rPr lang="en-US" sz="2200" dirty="0"/>
                        <a:t> </a:t>
                      </a:r>
                      <a:r>
                        <a:rPr lang="en-US" sz="2200" dirty="0" err="1"/>
                        <a:t>çeşitli</a:t>
                      </a:r>
                      <a:r>
                        <a:rPr lang="en-US" sz="2200" dirty="0"/>
                        <a:t> </a:t>
                      </a:r>
                      <a:r>
                        <a:rPr lang="en-US" sz="2200" dirty="0" err="1"/>
                        <a:t>bağlamlarda</a:t>
                      </a:r>
                      <a:r>
                        <a:rPr lang="en-US" sz="2200" dirty="0"/>
                        <a:t> </a:t>
                      </a:r>
                      <a:r>
                        <a:rPr lang="en-US" sz="2200" dirty="0" err="1"/>
                        <a:t>çalışan</a:t>
                      </a:r>
                      <a:r>
                        <a:rPr lang="en-US" sz="2200" dirty="0"/>
                        <a:t> </a:t>
                      </a:r>
                      <a:r>
                        <a:rPr lang="en-US" sz="2200" dirty="0" err="1"/>
                        <a:t>olarak</a:t>
                      </a:r>
                      <a:r>
                        <a:rPr lang="en-US" sz="2200" dirty="0"/>
                        <a:t> </a:t>
                      </a:r>
                      <a:r>
                        <a:rPr lang="en-US" sz="2200" dirty="0" err="1"/>
                        <a:t>kabul</a:t>
                      </a:r>
                      <a:r>
                        <a:rPr lang="en-US" sz="2200" dirty="0"/>
                        <a:t> </a:t>
                      </a:r>
                      <a:r>
                        <a:rPr lang="en-US" sz="2200" dirty="0" err="1"/>
                        <a:t>edilip</a:t>
                      </a:r>
                      <a:r>
                        <a:rPr lang="en-US" sz="2200" dirty="0"/>
                        <a:t> </a:t>
                      </a:r>
                      <a:r>
                        <a:rPr lang="en-US" sz="2200" dirty="0" err="1"/>
                        <a:t>edilmediğini</a:t>
                      </a:r>
                      <a:r>
                        <a:rPr lang="en-US" sz="2200" dirty="0"/>
                        <a:t> </a:t>
                      </a:r>
                      <a:r>
                        <a:rPr lang="en-US" sz="2200" dirty="0" err="1"/>
                        <a:t>belirlediğinin</a:t>
                      </a:r>
                      <a:r>
                        <a:rPr lang="en-US" sz="2200" dirty="0"/>
                        <a:t> </a:t>
                      </a:r>
                      <a:r>
                        <a:rPr lang="en-US" sz="2200" dirty="0" err="1"/>
                        <a:t>ve</a:t>
                      </a:r>
                      <a:r>
                        <a:rPr lang="en-US" sz="2200" dirty="0"/>
                        <a:t> </a:t>
                      </a:r>
                      <a:r>
                        <a:rPr lang="en-US" sz="2200" dirty="0" err="1"/>
                        <a:t>bir</a:t>
                      </a:r>
                      <a:r>
                        <a:rPr lang="en-US" sz="2200" dirty="0"/>
                        <a:t> </a:t>
                      </a:r>
                      <a:r>
                        <a:rPr lang="en-US" sz="2200" dirty="0" err="1"/>
                        <a:t>şirketin</a:t>
                      </a:r>
                      <a:r>
                        <a:rPr lang="en-US" sz="2200" dirty="0"/>
                        <a:t> </a:t>
                      </a:r>
                      <a:r>
                        <a:rPr lang="en-US" sz="2200" dirty="0" err="1"/>
                        <a:t>koşullu</a:t>
                      </a:r>
                      <a:r>
                        <a:rPr lang="en-US" sz="2200" dirty="0"/>
                        <a:t> </a:t>
                      </a:r>
                      <a:r>
                        <a:rPr lang="en-US" sz="2200" dirty="0" err="1"/>
                        <a:t>işçi</a:t>
                      </a:r>
                      <a:r>
                        <a:rPr lang="en-US" sz="2200" dirty="0"/>
                        <a:t> </a:t>
                      </a:r>
                      <a:r>
                        <a:rPr lang="en-US" sz="2200" dirty="0" err="1"/>
                        <a:t>tanımının</a:t>
                      </a:r>
                      <a:r>
                        <a:rPr lang="en-US" sz="2200" dirty="0"/>
                        <a:t> </a:t>
                      </a:r>
                      <a:r>
                        <a:rPr lang="en-US" sz="2200" dirty="0" err="1"/>
                        <a:t>bir</a:t>
                      </a:r>
                      <a:r>
                        <a:rPr lang="en-US" sz="2200" dirty="0"/>
                        <a:t> </a:t>
                      </a:r>
                      <a:r>
                        <a:rPr lang="en-US" sz="2200" dirty="0" err="1"/>
                        <a:t>devlet</a:t>
                      </a:r>
                      <a:r>
                        <a:rPr lang="en-US" sz="2200" dirty="0"/>
                        <a:t> </a:t>
                      </a:r>
                      <a:r>
                        <a:rPr lang="en-US" sz="2200" dirty="0" err="1"/>
                        <a:t>kurumu</a:t>
                      </a:r>
                      <a:r>
                        <a:rPr lang="en-US" sz="2200" dirty="0"/>
                        <a:t> </a:t>
                      </a:r>
                      <a:r>
                        <a:rPr lang="en-US" sz="2200" dirty="0" err="1"/>
                        <a:t>veya</a:t>
                      </a:r>
                      <a:r>
                        <a:rPr lang="en-US" sz="2200" dirty="0"/>
                        <a:t> </a:t>
                      </a:r>
                      <a:r>
                        <a:rPr lang="en-US" sz="2200" dirty="0" err="1"/>
                        <a:t>mahkeme</a:t>
                      </a:r>
                      <a:r>
                        <a:rPr lang="en-US" sz="2200" dirty="0"/>
                        <a:t> </a:t>
                      </a:r>
                      <a:r>
                        <a:rPr lang="en-US" sz="2200" dirty="0" err="1"/>
                        <a:t>tarafından</a:t>
                      </a:r>
                      <a:r>
                        <a:rPr lang="en-US" sz="2200" dirty="0"/>
                        <a:t> </a:t>
                      </a:r>
                      <a:r>
                        <a:rPr lang="en-US" sz="2200" dirty="0" err="1"/>
                        <a:t>kabul</a:t>
                      </a:r>
                      <a:r>
                        <a:rPr lang="en-US" sz="2200" dirty="0"/>
                        <a:t> </a:t>
                      </a:r>
                      <a:r>
                        <a:rPr lang="en-US" sz="2200" dirty="0" err="1"/>
                        <a:t>edilmeyebileceğinin</a:t>
                      </a:r>
                      <a:r>
                        <a:rPr lang="en-US" sz="2200" dirty="0"/>
                        <a:t> </a:t>
                      </a:r>
                      <a:r>
                        <a:rPr lang="en-US" sz="2200" dirty="0" err="1"/>
                        <a:t>farkında</a:t>
                      </a:r>
                      <a:r>
                        <a:rPr lang="en-US" sz="2200" dirty="0"/>
                        <a:t> </a:t>
                      </a:r>
                      <a:r>
                        <a:rPr lang="en-US" sz="2200" dirty="0" err="1"/>
                        <a:t>mısınız</a:t>
                      </a:r>
                      <a:r>
                        <a:rPr lang="en-US" sz="2200"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78572352"/>
                  </a:ext>
                </a:extLst>
              </a:tr>
            </a:tbl>
          </a:graphicData>
        </a:graphic>
      </p:graphicFrame>
      <p:sp>
        <p:nvSpPr>
          <p:cNvPr id="3" name="Title 2"/>
          <p:cNvSpPr>
            <a:spLocks noGrp="1"/>
          </p:cNvSpPr>
          <p:nvPr>
            <p:ph type="title"/>
          </p:nvPr>
        </p:nvSpPr>
        <p:spPr>
          <a:xfrm>
            <a:off x="762000" y="107684"/>
            <a:ext cx="8026400" cy="893386"/>
          </a:xfrm>
        </p:spPr>
        <p:txBody>
          <a:bodyPr/>
          <a:lstStyle/>
          <a:p>
            <a:r>
              <a:rPr lang="en-US" sz="3400" dirty="0" err="1"/>
              <a:t>Yöneticinin</a:t>
            </a:r>
            <a:r>
              <a:rPr lang="en-US" sz="3400" dirty="0"/>
              <a:t> </a:t>
            </a:r>
            <a:r>
              <a:rPr lang="en-US" sz="3400" dirty="0" err="1"/>
              <a:t>Şartlı</a:t>
            </a:r>
            <a:r>
              <a:rPr lang="en-US" sz="3400" dirty="0"/>
              <a:t> </a:t>
            </a:r>
            <a:r>
              <a:rPr lang="en-US" sz="3400" dirty="0" err="1"/>
              <a:t>İşçilerin</a:t>
            </a:r>
            <a:r>
              <a:rPr lang="en-US" sz="3400" dirty="0"/>
              <a:t> </a:t>
            </a:r>
            <a:r>
              <a:rPr lang="en-US" sz="3400" dirty="0" err="1"/>
              <a:t>Kullanımına</a:t>
            </a:r>
            <a:r>
              <a:rPr lang="en-US" sz="3400" dirty="0"/>
              <a:t> </a:t>
            </a:r>
            <a:r>
              <a:rPr lang="en-US" sz="3400" dirty="0" err="1"/>
              <a:t>İlişkin</a:t>
            </a:r>
            <a:r>
              <a:rPr lang="en-US" sz="3400" dirty="0"/>
              <a:t> </a:t>
            </a:r>
            <a:r>
              <a:rPr lang="en-US" sz="3400" dirty="0" err="1"/>
              <a:t>Kontrol</a:t>
            </a:r>
            <a:r>
              <a:rPr lang="en-US" sz="3400" dirty="0"/>
              <a:t> </a:t>
            </a:r>
            <a:r>
              <a:rPr lang="en-US" sz="3400" dirty="0" err="1"/>
              <a:t>Listesi</a:t>
            </a:r>
            <a:r>
              <a:rPr lang="en-US" sz="3400" dirty="0"/>
              <a:t>, </a:t>
            </a:r>
            <a:r>
              <a:rPr lang="en-US" sz="3400" dirty="0" err="1"/>
              <a:t>Bölüm</a:t>
            </a:r>
            <a:r>
              <a:rPr lang="en-US" sz="34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7039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10-3 (part 2): This table presents a checklist of questions a manager should ask when using contingent workers:&#10;&#10;Are you and other managers and workers aware that staffing firm employees are covered by antidiscrimination laws and therefore you cannot discriminate against them on the basis of race, color, religion, sex, national origin, or disability?&#10;Do you avoid telling contingent workers where, when, and how to do their jobs and instead work through the contingent worker’s manager to communicate job requirements?&#10;Do you request that contingent workers use their own equipment and resources, such as computers and email accounts?&#10;Do you avoid training your contingent workers?&#10;When leasing employees from an agency, do you let the agency do its job? Do you avoid asking to see résumés and getting involved with compensation, performance feedback, counseling, or day-to-day supervision?&#10;"/>
          <p:cNvGraphicFramePr>
            <a:graphicFrameLocks noGrp="1"/>
          </p:cNvGraphicFramePr>
          <p:nvPr>
            <p:ph idx="1"/>
            <p:extLst>
              <p:ext uri="{D42A27DB-BD31-4B8C-83A1-F6EECF244321}">
                <p14:modId xmlns:p14="http://schemas.microsoft.com/office/powerpoint/2010/main" val="3286800960"/>
              </p:ext>
            </p:extLst>
          </p:nvPr>
        </p:nvGraphicFramePr>
        <p:xfrm>
          <a:off x="304799" y="1066800"/>
          <a:ext cx="8483600" cy="4922520"/>
        </p:xfrm>
        <a:graphic>
          <a:graphicData uri="http://schemas.openxmlformats.org/drawingml/2006/table">
            <a:tbl>
              <a:tblPr firstRow="1" bandRow="1">
                <a:tableStyleId>{5C22544A-7EE6-4342-B048-85BDC9FD1C3A}</a:tableStyleId>
              </a:tblPr>
              <a:tblGrid>
                <a:gridCol w="7318521">
                  <a:extLst>
                    <a:ext uri="{9D8B030D-6E8A-4147-A177-3AD203B41FA5}">
                      <a16:colId xmlns:a16="http://schemas.microsoft.com/office/drawing/2014/main" val="627808164"/>
                    </a:ext>
                  </a:extLst>
                </a:gridCol>
                <a:gridCol w="587354">
                  <a:extLst>
                    <a:ext uri="{9D8B030D-6E8A-4147-A177-3AD203B41FA5}">
                      <a16:colId xmlns:a16="http://schemas.microsoft.com/office/drawing/2014/main" val="639025638"/>
                    </a:ext>
                  </a:extLst>
                </a:gridCol>
                <a:gridCol w="577725">
                  <a:extLst>
                    <a:ext uri="{9D8B030D-6E8A-4147-A177-3AD203B41FA5}">
                      <a16:colId xmlns:a16="http://schemas.microsoft.com/office/drawing/2014/main" val="4175181965"/>
                    </a:ext>
                  </a:extLst>
                </a:gridCol>
              </a:tblGrid>
              <a:tr h="370840">
                <a:tc>
                  <a:txBody>
                    <a:bodyPr/>
                    <a:lstStyle/>
                    <a:p>
                      <a:r>
                        <a:rPr lang="en-US" sz="2100" dirty="0"/>
                        <a:t>QUESTION</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4084354752"/>
                  </a:ext>
                </a:extLst>
              </a:tr>
              <a:tr h="370840">
                <a:tc>
                  <a:txBody>
                    <a:bodyPr/>
                    <a:lstStyle/>
                    <a:p>
                      <a:pPr marL="342900" indent="-342900">
                        <a:spcBef>
                          <a:spcPts val="300"/>
                        </a:spcBef>
                        <a:buClr>
                          <a:schemeClr val="accent2"/>
                        </a:buClr>
                        <a:buFont typeface="Arial" panose="020B0604020202020204" pitchFamily="34" charset="0"/>
                        <a:buChar char="•"/>
                      </a:pPr>
                      <a:r>
                        <a:rPr lang="en-US" sz="2000" dirty="0" err="1"/>
                        <a:t>Siz</a:t>
                      </a:r>
                      <a:r>
                        <a:rPr lang="en-US" sz="2000" dirty="0"/>
                        <a:t>, </a:t>
                      </a:r>
                      <a:r>
                        <a:rPr lang="en-US" sz="2000" dirty="0" err="1"/>
                        <a:t>diğer</a:t>
                      </a:r>
                      <a:r>
                        <a:rPr lang="en-US" sz="2000" dirty="0"/>
                        <a:t> </a:t>
                      </a:r>
                      <a:r>
                        <a:rPr lang="en-US" sz="2000" dirty="0" err="1"/>
                        <a:t>yöneticiler</a:t>
                      </a:r>
                      <a:r>
                        <a:rPr lang="en-US" sz="2000" dirty="0"/>
                        <a:t> </a:t>
                      </a:r>
                      <a:r>
                        <a:rPr lang="en-US" sz="2000" dirty="0" err="1"/>
                        <a:t>ve</a:t>
                      </a:r>
                      <a:r>
                        <a:rPr lang="en-US" sz="2000" dirty="0"/>
                        <a:t> </a:t>
                      </a:r>
                      <a:r>
                        <a:rPr lang="en-US" sz="2000" dirty="0" err="1"/>
                        <a:t>çalışanlar</a:t>
                      </a:r>
                      <a:r>
                        <a:rPr lang="en-US" sz="2000" dirty="0"/>
                        <a:t>, </a:t>
                      </a:r>
                      <a:r>
                        <a:rPr lang="en-US" sz="2000" dirty="0" err="1"/>
                        <a:t>personel</a:t>
                      </a:r>
                      <a:r>
                        <a:rPr lang="en-US" sz="2000" dirty="0"/>
                        <a:t> </a:t>
                      </a:r>
                      <a:r>
                        <a:rPr lang="en-US" sz="2000" dirty="0" err="1"/>
                        <a:t>firma</a:t>
                      </a:r>
                      <a:r>
                        <a:rPr lang="en-US" sz="2000" dirty="0"/>
                        <a:t> </a:t>
                      </a:r>
                      <a:r>
                        <a:rPr lang="en-US" sz="2000" dirty="0" err="1"/>
                        <a:t>çalışanlarının</a:t>
                      </a:r>
                      <a:r>
                        <a:rPr lang="en-US" sz="2000" dirty="0"/>
                        <a:t> </a:t>
                      </a:r>
                      <a:r>
                        <a:rPr lang="en-US" sz="2000" dirty="0" err="1"/>
                        <a:t>ayrımcılıkla</a:t>
                      </a:r>
                      <a:r>
                        <a:rPr lang="en-US" sz="2000" dirty="0"/>
                        <a:t> </a:t>
                      </a:r>
                      <a:r>
                        <a:rPr lang="en-US" sz="2000" dirty="0" err="1"/>
                        <a:t>mücadele</a:t>
                      </a:r>
                      <a:r>
                        <a:rPr lang="en-US" sz="2000" dirty="0"/>
                        <a:t> </a:t>
                      </a:r>
                      <a:r>
                        <a:rPr lang="en-US" sz="2000" dirty="0" err="1"/>
                        <a:t>yasaları</a:t>
                      </a:r>
                      <a:r>
                        <a:rPr lang="en-US" sz="2000" dirty="0"/>
                        <a:t> </a:t>
                      </a:r>
                      <a:r>
                        <a:rPr lang="en-US" sz="2000" dirty="0" err="1"/>
                        <a:t>kapsamında</a:t>
                      </a:r>
                      <a:r>
                        <a:rPr lang="en-US" sz="2000" dirty="0"/>
                        <a:t> </a:t>
                      </a:r>
                      <a:r>
                        <a:rPr lang="en-US" sz="2000" dirty="0" err="1"/>
                        <a:t>olduğunun</a:t>
                      </a:r>
                      <a:r>
                        <a:rPr lang="en-US" sz="2000" dirty="0"/>
                        <a:t> </a:t>
                      </a:r>
                      <a:r>
                        <a:rPr lang="en-US" sz="2000" dirty="0" err="1"/>
                        <a:t>ve</a:t>
                      </a:r>
                      <a:r>
                        <a:rPr lang="en-US" sz="2000" dirty="0"/>
                        <a:t> </a:t>
                      </a:r>
                      <a:r>
                        <a:rPr lang="en-US" sz="2000" dirty="0" err="1"/>
                        <a:t>onlara</a:t>
                      </a:r>
                      <a:r>
                        <a:rPr lang="en-US" sz="2000" dirty="0"/>
                        <a:t> </a:t>
                      </a:r>
                      <a:r>
                        <a:rPr lang="en-US" sz="2000" dirty="0" err="1"/>
                        <a:t>ırk</a:t>
                      </a:r>
                      <a:r>
                        <a:rPr lang="en-US" sz="2000" dirty="0"/>
                        <a:t>, </a:t>
                      </a:r>
                      <a:r>
                        <a:rPr lang="en-US" sz="2000" dirty="0" err="1"/>
                        <a:t>renk</a:t>
                      </a:r>
                      <a:r>
                        <a:rPr lang="en-US" sz="2000" dirty="0"/>
                        <a:t>, din, </a:t>
                      </a:r>
                      <a:r>
                        <a:rPr lang="en-US" sz="2000" dirty="0" err="1"/>
                        <a:t>cinsiyet</a:t>
                      </a:r>
                      <a:r>
                        <a:rPr lang="en-US" sz="2000" dirty="0"/>
                        <a:t>, </a:t>
                      </a:r>
                      <a:r>
                        <a:rPr lang="en-US" sz="2000" dirty="0" err="1"/>
                        <a:t>ulusal</a:t>
                      </a:r>
                      <a:r>
                        <a:rPr lang="en-US" sz="2000" dirty="0"/>
                        <a:t> </a:t>
                      </a:r>
                      <a:r>
                        <a:rPr lang="en-US" sz="2000" dirty="0" err="1"/>
                        <a:t>köken</a:t>
                      </a:r>
                      <a:r>
                        <a:rPr lang="en-US" sz="2000" dirty="0"/>
                        <a:t> </a:t>
                      </a:r>
                      <a:r>
                        <a:rPr lang="en-US" sz="2000" dirty="0" err="1"/>
                        <a:t>veya</a:t>
                      </a:r>
                      <a:r>
                        <a:rPr lang="en-US" sz="2000" dirty="0"/>
                        <a:t> </a:t>
                      </a:r>
                      <a:r>
                        <a:rPr lang="en-US" sz="2000" dirty="0" err="1"/>
                        <a:t>engellilik</a:t>
                      </a:r>
                      <a:r>
                        <a:rPr lang="en-US" sz="2000" dirty="0"/>
                        <a:t> </a:t>
                      </a:r>
                      <a:r>
                        <a:rPr lang="en-US" sz="2000" dirty="0" err="1"/>
                        <a:t>temelinde</a:t>
                      </a:r>
                      <a:r>
                        <a:rPr lang="en-US" sz="2000" dirty="0"/>
                        <a:t> </a:t>
                      </a:r>
                      <a:r>
                        <a:rPr lang="en-US" sz="2000" dirty="0" err="1"/>
                        <a:t>ayrımcılık</a:t>
                      </a:r>
                      <a:r>
                        <a:rPr lang="en-US" sz="2000" dirty="0"/>
                        <a:t> </a:t>
                      </a:r>
                      <a:r>
                        <a:rPr lang="en-US" sz="2000" dirty="0" err="1"/>
                        <a:t>yapamayacağının</a:t>
                      </a:r>
                      <a:r>
                        <a:rPr lang="en-US" sz="2000" dirty="0"/>
                        <a:t> </a:t>
                      </a:r>
                      <a:r>
                        <a:rPr lang="en-US" sz="2000" dirty="0" err="1"/>
                        <a:t>farkında</a:t>
                      </a:r>
                      <a:r>
                        <a:rPr lang="en-US" sz="2000" dirty="0"/>
                        <a:t> </a:t>
                      </a:r>
                      <a:r>
                        <a:rPr lang="en-US" sz="2000" dirty="0" err="1"/>
                        <a:t>mısınız</a:t>
                      </a:r>
                      <a:r>
                        <a:rPr lang="en-US" sz="2000" dirty="0"/>
                        <a:t>?
</a:t>
                      </a:r>
                      <a:r>
                        <a:rPr lang="en-US" sz="2000" dirty="0" err="1"/>
                        <a:t>Koşullu</a:t>
                      </a:r>
                      <a:r>
                        <a:rPr lang="en-US" sz="2000" dirty="0"/>
                        <a:t> </a:t>
                      </a:r>
                      <a:r>
                        <a:rPr lang="en-US" sz="2000" dirty="0" err="1"/>
                        <a:t>çalışanlara</a:t>
                      </a:r>
                      <a:r>
                        <a:rPr lang="en-US" sz="2000" dirty="0"/>
                        <a:t> </a:t>
                      </a:r>
                      <a:r>
                        <a:rPr lang="en-US" sz="2000" dirty="0" err="1"/>
                        <a:t>işlerini</a:t>
                      </a:r>
                      <a:r>
                        <a:rPr lang="en-US" sz="2000" dirty="0"/>
                        <a:t> </a:t>
                      </a:r>
                      <a:r>
                        <a:rPr lang="en-US" sz="2000" dirty="0" err="1"/>
                        <a:t>nerede</a:t>
                      </a:r>
                      <a:r>
                        <a:rPr lang="en-US" sz="2000" dirty="0"/>
                        <a:t>, ne zaman </a:t>
                      </a:r>
                      <a:r>
                        <a:rPr lang="en-US" sz="2000" dirty="0" err="1"/>
                        <a:t>ve</a:t>
                      </a:r>
                      <a:r>
                        <a:rPr lang="en-US" sz="2000" dirty="0"/>
                        <a:t> </a:t>
                      </a:r>
                      <a:r>
                        <a:rPr lang="en-US" sz="2000" dirty="0" err="1"/>
                        <a:t>nasıl</a:t>
                      </a:r>
                      <a:r>
                        <a:rPr lang="en-US" sz="2000" dirty="0"/>
                        <a:t> </a:t>
                      </a:r>
                      <a:r>
                        <a:rPr lang="en-US" sz="2000" dirty="0" err="1"/>
                        <a:t>yapacaklarını</a:t>
                      </a:r>
                      <a:r>
                        <a:rPr lang="en-US" sz="2000" dirty="0"/>
                        <a:t> </a:t>
                      </a:r>
                      <a:r>
                        <a:rPr lang="en-US" sz="2000" dirty="0" err="1"/>
                        <a:t>söylemekten</a:t>
                      </a:r>
                      <a:r>
                        <a:rPr lang="en-US" sz="2000" dirty="0"/>
                        <a:t> </a:t>
                      </a:r>
                      <a:r>
                        <a:rPr lang="en-US" sz="2000" dirty="0" err="1"/>
                        <a:t>kaçınıyor</a:t>
                      </a:r>
                      <a:r>
                        <a:rPr lang="en-US" sz="2000" dirty="0"/>
                        <a:t> </a:t>
                      </a:r>
                      <a:r>
                        <a:rPr lang="en-US" sz="2000" dirty="0" err="1"/>
                        <a:t>musunuz</a:t>
                      </a:r>
                      <a:r>
                        <a:rPr lang="en-US" sz="2000" dirty="0"/>
                        <a:t> </a:t>
                      </a:r>
                      <a:r>
                        <a:rPr lang="en-US" sz="2000" dirty="0" err="1"/>
                        <a:t>ve</a:t>
                      </a:r>
                      <a:r>
                        <a:rPr lang="en-US" sz="2000" dirty="0"/>
                        <a:t> </a:t>
                      </a:r>
                      <a:r>
                        <a:rPr lang="en-US" sz="2000" dirty="0" err="1"/>
                        <a:t>iş</a:t>
                      </a:r>
                      <a:r>
                        <a:rPr lang="en-US" sz="2000" dirty="0"/>
                        <a:t> </a:t>
                      </a:r>
                      <a:r>
                        <a:rPr lang="en-US" sz="2000" dirty="0" err="1"/>
                        <a:t>gereksinimlerini</a:t>
                      </a:r>
                      <a:r>
                        <a:rPr lang="en-US" sz="2000" dirty="0"/>
                        <a:t> </a:t>
                      </a:r>
                      <a:r>
                        <a:rPr lang="en-US" sz="2000" dirty="0" err="1"/>
                        <a:t>iletmek</a:t>
                      </a:r>
                      <a:r>
                        <a:rPr lang="en-US" sz="2000" dirty="0"/>
                        <a:t> için </a:t>
                      </a:r>
                      <a:r>
                        <a:rPr lang="en-US" sz="2000" dirty="0" err="1"/>
                        <a:t>koşullu</a:t>
                      </a:r>
                      <a:r>
                        <a:rPr lang="en-US" sz="2000" dirty="0"/>
                        <a:t> </a:t>
                      </a:r>
                      <a:r>
                        <a:rPr lang="en-US" sz="2000" dirty="0" err="1"/>
                        <a:t>işçinin</a:t>
                      </a:r>
                      <a:r>
                        <a:rPr lang="en-US" sz="2000" dirty="0"/>
                        <a:t> </a:t>
                      </a:r>
                      <a:r>
                        <a:rPr lang="en-US" sz="2000" dirty="0" err="1"/>
                        <a:t>yöneticisi</a:t>
                      </a:r>
                      <a:r>
                        <a:rPr lang="en-US" sz="2000" dirty="0"/>
                        <a:t> </a:t>
                      </a:r>
                      <a:r>
                        <a:rPr lang="en-US" sz="2000" dirty="0" err="1"/>
                        <a:t>aracılığıyla</a:t>
                      </a:r>
                      <a:r>
                        <a:rPr lang="en-US" sz="2000" dirty="0"/>
                        <a:t> </a:t>
                      </a:r>
                      <a:r>
                        <a:rPr lang="en-US" sz="2000" dirty="0" err="1"/>
                        <a:t>çalışıyor</a:t>
                      </a:r>
                      <a:r>
                        <a:rPr lang="en-US" sz="2000" dirty="0"/>
                        <a:t> </a:t>
                      </a:r>
                      <a:r>
                        <a:rPr lang="en-US" sz="2000" dirty="0" err="1"/>
                        <a:t>musunuz</a:t>
                      </a:r>
                      <a:r>
                        <a:rPr lang="en-US" sz="2000" dirty="0"/>
                        <a:t>?
</a:t>
                      </a:r>
                      <a:r>
                        <a:rPr lang="en-US" sz="2000" dirty="0" err="1"/>
                        <a:t>Taşeron</a:t>
                      </a:r>
                      <a:r>
                        <a:rPr lang="en-US" sz="2000" dirty="0"/>
                        <a:t> </a:t>
                      </a:r>
                      <a:r>
                        <a:rPr lang="en-US" sz="2000" dirty="0" err="1"/>
                        <a:t>işçilerin</a:t>
                      </a:r>
                      <a:r>
                        <a:rPr lang="en-US" sz="2000" dirty="0"/>
                        <a:t> </a:t>
                      </a:r>
                      <a:r>
                        <a:rPr lang="en-US" sz="2000" dirty="0" err="1"/>
                        <a:t>bilgisayar</a:t>
                      </a:r>
                      <a:r>
                        <a:rPr lang="en-US" sz="2000" dirty="0"/>
                        <a:t>/e-</a:t>
                      </a:r>
                      <a:r>
                        <a:rPr lang="en-US" sz="2000" dirty="0" err="1"/>
                        <a:t>posta</a:t>
                      </a:r>
                      <a:r>
                        <a:rPr lang="en-US" sz="2000" dirty="0"/>
                        <a:t> </a:t>
                      </a:r>
                      <a:r>
                        <a:rPr lang="en-US" sz="2000" dirty="0" err="1"/>
                        <a:t>hesapları</a:t>
                      </a:r>
                      <a:r>
                        <a:rPr lang="en-US" sz="2000" dirty="0"/>
                        <a:t> </a:t>
                      </a:r>
                      <a:r>
                        <a:rPr lang="en-US" sz="2000" dirty="0" err="1"/>
                        <a:t>gibi</a:t>
                      </a:r>
                      <a:r>
                        <a:rPr lang="en-US" sz="2000" dirty="0"/>
                        <a:t> </a:t>
                      </a:r>
                      <a:r>
                        <a:rPr lang="en-US" sz="2000" dirty="0" err="1"/>
                        <a:t>kendi</a:t>
                      </a:r>
                      <a:r>
                        <a:rPr lang="en-US" sz="2000" dirty="0"/>
                        <a:t> </a:t>
                      </a:r>
                      <a:r>
                        <a:rPr lang="en-US" sz="2000" dirty="0" err="1"/>
                        <a:t>ekipmanlarını</a:t>
                      </a:r>
                      <a:r>
                        <a:rPr lang="en-US" sz="2000" dirty="0"/>
                        <a:t>/</a:t>
                      </a:r>
                      <a:r>
                        <a:rPr lang="en-US" sz="2000" dirty="0" err="1"/>
                        <a:t>kaynaklarını</a:t>
                      </a:r>
                      <a:r>
                        <a:rPr lang="en-US" sz="2000" dirty="0"/>
                        <a:t> </a:t>
                      </a:r>
                      <a:r>
                        <a:rPr lang="en-US" sz="2000" dirty="0" err="1"/>
                        <a:t>kullanmalarını</a:t>
                      </a:r>
                      <a:r>
                        <a:rPr lang="en-US" sz="2000" dirty="0"/>
                        <a:t> </a:t>
                      </a:r>
                      <a:r>
                        <a:rPr lang="en-US" sz="2000" dirty="0" err="1"/>
                        <a:t>talep</a:t>
                      </a:r>
                      <a:r>
                        <a:rPr lang="en-US" sz="2000" dirty="0"/>
                        <a:t> </a:t>
                      </a:r>
                      <a:r>
                        <a:rPr lang="en-US" sz="2000" dirty="0" err="1"/>
                        <a:t>ediyor</a:t>
                      </a:r>
                      <a:r>
                        <a:rPr lang="en-US" sz="2000" dirty="0"/>
                        <a:t> </a:t>
                      </a:r>
                      <a:r>
                        <a:rPr lang="en-US" sz="2000" dirty="0" err="1"/>
                        <a:t>musunuz</a:t>
                      </a:r>
                      <a:r>
                        <a:rPr lang="en-US" sz="2000" dirty="0"/>
                        <a:t>?
</a:t>
                      </a:r>
                      <a:r>
                        <a:rPr lang="en-US" sz="2000" dirty="0" err="1"/>
                        <a:t>Taşeron</a:t>
                      </a:r>
                      <a:r>
                        <a:rPr lang="en-US" sz="2000" dirty="0"/>
                        <a:t> </a:t>
                      </a:r>
                      <a:r>
                        <a:rPr lang="en-US" sz="2000" dirty="0" err="1"/>
                        <a:t>işçilerinizi</a:t>
                      </a:r>
                      <a:r>
                        <a:rPr lang="en-US" sz="2000" dirty="0"/>
                        <a:t> </a:t>
                      </a:r>
                      <a:r>
                        <a:rPr lang="en-US" sz="2000" dirty="0" err="1"/>
                        <a:t>eğitmekten</a:t>
                      </a:r>
                      <a:r>
                        <a:rPr lang="en-US" sz="2000" dirty="0"/>
                        <a:t> </a:t>
                      </a:r>
                      <a:r>
                        <a:rPr lang="en-US" sz="2000" dirty="0" err="1"/>
                        <a:t>kaçınıyor</a:t>
                      </a:r>
                      <a:r>
                        <a:rPr lang="en-US" sz="2000" dirty="0"/>
                        <a:t> </a:t>
                      </a:r>
                      <a:r>
                        <a:rPr lang="en-US" sz="2000" dirty="0" err="1"/>
                        <a:t>musunuz</a:t>
                      </a:r>
                      <a:r>
                        <a:rPr lang="en-US" sz="2000" dirty="0"/>
                        <a:t>?
Bir </a:t>
                      </a:r>
                      <a:r>
                        <a:rPr lang="en-US" sz="2000" dirty="0" err="1"/>
                        <a:t>ajanstan</a:t>
                      </a:r>
                      <a:r>
                        <a:rPr lang="en-US" sz="2000" dirty="0"/>
                        <a:t> </a:t>
                      </a:r>
                      <a:r>
                        <a:rPr lang="en-US" sz="2000" dirty="0" err="1"/>
                        <a:t>çalışan</a:t>
                      </a:r>
                      <a:r>
                        <a:rPr lang="en-US" sz="2000" dirty="0"/>
                        <a:t> </a:t>
                      </a:r>
                      <a:r>
                        <a:rPr lang="en-US" sz="2000" dirty="0" err="1"/>
                        <a:t>kiralarken</a:t>
                      </a:r>
                      <a:r>
                        <a:rPr lang="en-US" sz="2000" dirty="0"/>
                        <a:t>, </a:t>
                      </a:r>
                      <a:r>
                        <a:rPr lang="en-US" sz="2000" dirty="0" err="1"/>
                        <a:t>ajansın</a:t>
                      </a:r>
                      <a:r>
                        <a:rPr lang="en-US" sz="2000" dirty="0"/>
                        <a:t> </a:t>
                      </a:r>
                      <a:r>
                        <a:rPr lang="en-US" sz="2000" dirty="0" err="1"/>
                        <a:t>işini</a:t>
                      </a:r>
                      <a:r>
                        <a:rPr lang="en-US" sz="2000" dirty="0"/>
                        <a:t> </a:t>
                      </a:r>
                      <a:r>
                        <a:rPr lang="en-US" sz="2000" dirty="0" err="1"/>
                        <a:t>yapmasına</a:t>
                      </a:r>
                      <a:r>
                        <a:rPr lang="en-US" sz="2000" dirty="0"/>
                        <a:t> </a:t>
                      </a:r>
                      <a:r>
                        <a:rPr lang="en-US" sz="2000" dirty="0" err="1"/>
                        <a:t>izin</a:t>
                      </a:r>
                      <a:r>
                        <a:rPr lang="en-US" sz="2000" dirty="0"/>
                        <a:t> </a:t>
                      </a:r>
                      <a:r>
                        <a:rPr lang="en-US" sz="2000" dirty="0" err="1"/>
                        <a:t>veriyor</a:t>
                      </a:r>
                      <a:r>
                        <a:rPr lang="en-US" sz="2000" dirty="0"/>
                        <a:t> </a:t>
                      </a:r>
                      <a:r>
                        <a:rPr lang="en-US" sz="2000" dirty="0" err="1"/>
                        <a:t>musunuz</a:t>
                      </a:r>
                      <a:r>
                        <a:rPr lang="en-US" sz="2000" dirty="0"/>
                        <a:t>? </a:t>
                      </a:r>
                      <a:r>
                        <a:rPr lang="en-US" sz="2000" dirty="0" err="1"/>
                        <a:t>Özgeçmişleri</a:t>
                      </a:r>
                      <a:r>
                        <a:rPr lang="en-US" sz="2000" dirty="0"/>
                        <a:t> </a:t>
                      </a:r>
                      <a:r>
                        <a:rPr lang="en-US" sz="2000" dirty="0" err="1"/>
                        <a:t>görmek</a:t>
                      </a:r>
                      <a:r>
                        <a:rPr lang="en-US" sz="2000" dirty="0"/>
                        <a:t> </a:t>
                      </a:r>
                      <a:r>
                        <a:rPr lang="en-US" sz="2000" dirty="0" err="1"/>
                        <a:t>istemekten</a:t>
                      </a:r>
                      <a:r>
                        <a:rPr lang="en-US" sz="2000" dirty="0"/>
                        <a:t> </a:t>
                      </a:r>
                      <a:r>
                        <a:rPr lang="en-US" sz="2000" dirty="0" err="1"/>
                        <a:t>ve</a:t>
                      </a:r>
                      <a:r>
                        <a:rPr lang="en-US" sz="2000" dirty="0"/>
                        <a:t> </a:t>
                      </a:r>
                      <a:r>
                        <a:rPr lang="en-US" sz="2000" dirty="0" err="1"/>
                        <a:t>ücretlendirme</a:t>
                      </a:r>
                      <a:r>
                        <a:rPr lang="en-US" sz="2000" dirty="0"/>
                        <a:t>, </a:t>
                      </a:r>
                      <a:r>
                        <a:rPr lang="en-US" sz="2000" dirty="0" err="1"/>
                        <a:t>performans</a:t>
                      </a:r>
                      <a:r>
                        <a:rPr lang="en-US" sz="2000" dirty="0"/>
                        <a:t> </a:t>
                      </a:r>
                      <a:r>
                        <a:rPr lang="en-US" sz="2000" dirty="0" err="1"/>
                        <a:t>geri</a:t>
                      </a:r>
                      <a:r>
                        <a:rPr lang="en-US" sz="2000" dirty="0"/>
                        <a:t> </a:t>
                      </a:r>
                      <a:r>
                        <a:rPr lang="en-US" sz="2000" dirty="0" err="1"/>
                        <a:t>bildirimi</a:t>
                      </a:r>
                      <a:r>
                        <a:rPr lang="en-US" sz="2000" dirty="0"/>
                        <a:t>, </a:t>
                      </a:r>
                      <a:r>
                        <a:rPr lang="en-US" sz="2000" dirty="0" err="1"/>
                        <a:t>danışmanlık</a:t>
                      </a:r>
                      <a:r>
                        <a:rPr lang="en-US" sz="2000" dirty="0"/>
                        <a:t> </a:t>
                      </a:r>
                      <a:r>
                        <a:rPr lang="en-US" sz="2000" dirty="0" err="1"/>
                        <a:t>veya</a:t>
                      </a:r>
                      <a:r>
                        <a:rPr lang="en-US" sz="2000" dirty="0"/>
                        <a:t> </a:t>
                      </a:r>
                      <a:r>
                        <a:rPr lang="en-US" sz="2000" dirty="0" err="1"/>
                        <a:t>günlük</a:t>
                      </a:r>
                      <a:r>
                        <a:rPr lang="en-US" sz="2000" dirty="0"/>
                        <a:t> </a:t>
                      </a:r>
                      <a:r>
                        <a:rPr lang="en-US" sz="2000" dirty="0" err="1"/>
                        <a:t>denetimle</a:t>
                      </a:r>
                      <a:r>
                        <a:rPr lang="en-US" sz="2000" dirty="0"/>
                        <a:t> </a:t>
                      </a:r>
                      <a:r>
                        <a:rPr lang="en-US" sz="2000" dirty="0" err="1"/>
                        <a:t>ilgilenmekten</a:t>
                      </a:r>
                      <a:r>
                        <a:rPr lang="en-US" sz="2000" dirty="0"/>
                        <a:t> </a:t>
                      </a:r>
                      <a:r>
                        <a:rPr lang="en-US" sz="2000" dirty="0" err="1"/>
                        <a:t>kaçınıyor</a:t>
                      </a:r>
                      <a:r>
                        <a:rPr lang="en-US" sz="2000" dirty="0"/>
                        <a:t> </a:t>
                      </a:r>
                      <a:r>
                        <a:rPr lang="en-US" sz="2000" dirty="0" err="1"/>
                        <a:t>musunuz</a:t>
                      </a:r>
                      <a:r>
                        <a:rPr lang="en-US" sz="2000" dirty="0"/>
                        <a:t>?</a:t>
                      </a:r>
                      <a:endParaRPr lang="en-US" sz="22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78572352"/>
                  </a:ext>
                </a:extLst>
              </a:tr>
            </a:tbl>
          </a:graphicData>
        </a:graphic>
      </p:graphicFrame>
      <p:sp>
        <p:nvSpPr>
          <p:cNvPr id="3" name="Title 2"/>
          <p:cNvSpPr>
            <a:spLocks noGrp="1"/>
          </p:cNvSpPr>
          <p:nvPr>
            <p:ph type="title"/>
          </p:nvPr>
        </p:nvSpPr>
        <p:spPr>
          <a:xfrm>
            <a:off x="762000" y="107684"/>
            <a:ext cx="8026400" cy="893386"/>
          </a:xfrm>
        </p:spPr>
        <p:txBody>
          <a:bodyPr/>
          <a:lstStyle/>
          <a:p>
            <a:r>
              <a:rPr lang="en-US" sz="3400" dirty="0" err="1"/>
              <a:t>Yöneticinin</a:t>
            </a:r>
            <a:r>
              <a:rPr lang="en-US" sz="3400" dirty="0"/>
              <a:t> </a:t>
            </a:r>
            <a:r>
              <a:rPr lang="en-US" sz="3400" dirty="0" err="1"/>
              <a:t>Koşullu</a:t>
            </a:r>
            <a:r>
              <a:rPr lang="en-US" sz="3400" dirty="0"/>
              <a:t> </a:t>
            </a:r>
            <a:r>
              <a:rPr lang="en-US" sz="3400" dirty="0" err="1"/>
              <a:t>İşçilerin</a:t>
            </a:r>
            <a:r>
              <a:rPr lang="en-US" sz="3400" dirty="0"/>
              <a:t> </a:t>
            </a:r>
            <a:r>
              <a:rPr lang="en-US" sz="3400" dirty="0" err="1"/>
              <a:t>Kullanımına</a:t>
            </a:r>
            <a:r>
              <a:rPr lang="en-US" sz="3400" dirty="0"/>
              <a:t> </a:t>
            </a:r>
            <a:r>
              <a:rPr lang="en-US" sz="3400" dirty="0" err="1"/>
              <a:t>İlişkin</a:t>
            </a:r>
            <a:r>
              <a:rPr lang="en-US" sz="3400" dirty="0"/>
              <a:t> </a:t>
            </a:r>
            <a:r>
              <a:rPr lang="en-US" sz="3400" dirty="0" err="1"/>
              <a:t>Kontrol</a:t>
            </a:r>
            <a:r>
              <a:rPr lang="en-US" sz="3400" dirty="0"/>
              <a:t> </a:t>
            </a:r>
            <a:r>
              <a:rPr lang="en-US" sz="3400" dirty="0" err="1"/>
              <a:t>Listesi</a:t>
            </a:r>
            <a:r>
              <a:rPr lang="en-US" sz="3400" dirty="0"/>
              <a:t>, </a:t>
            </a:r>
            <a:r>
              <a:rPr lang="en-US" sz="3400" dirty="0" err="1"/>
              <a:t>Bölüm</a:t>
            </a:r>
            <a:r>
              <a:rPr lang="en-US" sz="34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9781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4" y="1219200"/>
            <a:ext cx="8778875" cy="5681555"/>
          </a:xfrm>
        </p:spPr>
        <p:txBody>
          <a:bodyPr/>
          <a:lstStyle/>
          <a:p>
            <a:r>
              <a:rPr lang="en-US" sz="2800" dirty="0"/>
              <a:t>H-1B </a:t>
            </a:r>
            <a:r>
              <a:rPr lang="en-US" sz="2800" dirty="0" err="1"/>
              <a:t>vizesi</a:t>
            </a:r>
            <a:r>
              <a:rPr lang="en-US" sz="2800" dirty="0"/>
              <a:t>: ABD </a:t>
            </a:r>
            <a:r>
              <a:rPr lang="en-US" sz="2800" dirty="0" err="1"/>
              <a:t>Vatandaşlık</a:t>
            </a:r>
            <a:r>
              <a:rPr lang="en-US" sz="2800" dirty="0"/>
              <a:t> </a:t>
            </a:r>
            <a:r>
              <a:rPr lang="en-US" sz="2800" dirty="0" err="1"/>
              <a:t>ve</a:t>
            </a:r>
            <a:r>
              <a:rPr lang="en-US" sz="2800" dirty="0"/>
              <a:t> </a:t>
            </a:r>
            <a:r>
              <a:rPr lang="en-US" sz="2800" dirty="0" err="1"/>
              <a:t>Göçmenlik</a:t>
            </a:r>
            <a:r>
              <a:rPr lang="en-US" sz="2800" dirty="0"/>
              <a:t> </a:t>
            </a:r>
            <a:r>
              <a:rPr lang="en-US" sz="2800" dirty="0" err="1"/>
              <a:t>Hizmetleri</a:t>
            </a:r>
            <a:r>
              <a:rPr lang="en-US" sz="2800" dirty="0"/>
              <a:t> (USCIS) </a:t>
            </a:r>
            <a:r>
              <a:rPr lang="en-US" sz="2800" dirty="0" err="1"/>
              <a:t>tarafından</a:t>
            </a:r>
            <a:r>
              <a:rPr lang="en-US" sz="2800" dirty="0"/>
              <a:t> </a:t>
            </a:r>
            <a:r>
              <a:rPr lang="en-US" sz="2800" dirty="0" err="1"/>
              <a:t>özel</a:t>
            </a:r>
            <a:r>
              <a:rPr lang="en-US" sz="2800" dirty="0"/>
              <a:t> </a:t>
            </a:r>
            <a:r>
              <a:rPr lang="en-US" sz="2800" dirty="0" err="1"/>
              <a:t>mesleklerde</a:t>
            </a:r>
            <a:r>
              <a:rPr lang="en-US" sz="2800" dirty="0"/>
              <a:t> </a:t>
            </a:r>
            <a:r>
              <a:rPr lang="en-US" sz="2800" dirty="0" err="1"/>
              <a:t>çalışan</a:t>
            </a:r>
            <a:r>
              <a:rPr lang="en-US" sz="2800" dirty="0"/>
              <a:t> </a:t>
            </a:r>
            <a:r>
              <a:rPr lang="en-US" sz="2800" dirty="0" err="1"/>
              <a:t>kişiler</a:t>
            </a:r>
            <a:r>
              <a:rPr lang="en-US" sz="2800" dirty="0"/>
              <a:t> için </a:t>
            </a:r>
            <a:r>
              <a:rPr lang="en-US" sz="2800" dirty="0" err="1"/>
              <a:t>verilen</a:t>
            </a:r>
            <a:r>
              <a:rPr lang="en-US" sz="2800" dirty="0"/>
              <a:t> </a:t>
            </a:r>
            <a:r>
              <a:rPr lang="en-US" sz="2800" dirty="0" err="1"/>
              <a:t>geçici</a:t>
            </a:r>
            <a:r>
              <a:rPr lang="en-US" sz="2800" dirty="0"/>
              <a:t> </a:t>
            </a:r>
            <a:r>
              <a:rPr lang="en-US" sz="2800" dirty="0" err="1"/>
              <a:t>çalışma</a:t>
            </a:r>
            <a:r>
              <a:rPr lang="en-US" sz="2800" dirty="0"/>
              <a:t> </a:t>
            </a:r>
            <a:r>
              <a:rPr lang="en-US" sz="2800" dirty="0" err="1"/>
              <a:t>vizesi</a:t>
            </a:r>
            <a:r>
              <a:rPr lang="en-US" sz="2800" dirty="0"/>
              <a:t>
Bir </a:t>
            </a:r>
            <a:r>
              <a:rPr lang="en-US" sz="2800" dirty="0" err="1"/>
              <a:t>kişi</a:t>
            </a:r>
            <a:r>
              <a:rPr lang="en-US" sz="2800" dirty="0"/>
              <a:t>, </a:t>
            </a:r>
            <a:r>
              <a:rPr lang="en-US" sz="2800" dirty="0" err="1"/>
              <a:t>en</a:t>
            </a:r>
            <a:r>
              <a:rPr lang="en-US" sz="2800" dirty="0"/>
              <a:t> </a:t>
            </a:r>
            <a:r>
              <a:rPr lang="en-US" sz="2800" dirty="0" err="1"/>
              <a:t>fazla</a:t>
            </a:r>
            <a:r>
              <a:rPr lang="en-US" sz="2800" dirty="0"/>
              <a:t> </a:t>
            </a:r>
            <a:r>
              <a:rPr lang="en-US" sz="2800" dirty="0" err="1"/>
              <a:t>altı</a:t>
            </a:r>
            <a:r>
              <a:rPr lang="en-US" sz="2800" dirty="0"/>
              <a:t> </a:t>
            </a:r>
            <a:r>
              <a:rPr lang="en-US" sz="2800" dirty="0" err="1"/>
              <a:t>yıl</a:t>
            </a:r>
            <a:r>
              <a:rPr lang="en-US" sz="2800" dirty="0"/>
              <a:t> </a:t>
            </a:r>
            <a:r>
              <a:rPr lang="en-US" sz="2800" dirty="0" err="1"/>
              <a:t>boyunca</a:t>
            </a:r>
            <a:r>
              <a:rPr lang="en-US" sz="2800" dirty="0"/>
              <a:t> H-1B </a:t>
            </a:r>
            <a:r>
              <a:rPr lang="en-US" sz="2800" dirty="0" err="1"/>
              <a:t>çalışanı</a:t>
            </a:r>
            <a:r>
              <a:rPr lang="en-US" sz="2800" dirty="0"/>
              <a:t> </a:t>
            </a:r>
            <a:r>
              <a:rPr lang="en-US" sz="2800" dirty="0" err="1"/>
              <a:t>olarak</a:t>
            </a:r>
            <a:r>
              <a:rPr lang="en-US" sz="2800" dirty="0"/>
              <a:t> </a:t>
            </a:r>
            <a:r>
              <a:rPr lang="en-US" sz="2800" dirty="0" err="1"/>
              <a:t>çalışabilir</a:t>
            </a:r>
            <a:r>
              <a:rPr lang="en-US" sz="2800" dirty="0"/>
              <a:t>
2015 </a:t>
            </a:r>
            <a:r>
              <a:rPr lang="en-US" sz="2800" dirty="0" err="1"/>
              <a:t>yılında</a:t>
            </a:r>
            <a:r>
              <a:rPr lang="en-US" sz="2800" dirty="0"/>
              <a:t> H1-B </a:t>
            </a:r>
            <a:r>
              <a:rPr lang="en-US" sz="2800" dirty="0" err="1"/>
              <a:t>çalışanlarının</a:t>
            </a:r>
            <a:r>
              <a:rPr lang="en-US" sz="2800" dirty="0"/>
              <a:t> </a:t>
            </a:r>
            <a:r>
              <a:rPr lang="en-US" sz="2800" dirty="0" err="1"/>
              <a:t>en</a:t>
            </a:r>
            <a:r>
              <a:rPr lang="en-US" sz="2800" dirty="0"/>
              <a:t> </a:t>
            </a:r>
            <a:r>
              <a:rPr lang="en-US" sz="2800" dirty="0" err="1"/>
              <a:t>çok</a:t>
            </a:r>
            <a:r>
              <a:rPr lang="en-US" sz="2800" dirty="0"/>
              <a:t> </a:t>
            </a:r>
            <a:r>
              <a:rPr lang="en-US" sz="2800" dirty="0" err="1"/>
              <a:t>doğum</a:t>
            </a:r>
            <a:r>
              <a:rPr lang="en-US" sz="2800" dirty="0"/>
              <a:t> </a:t>
            </a:r>
            <a:r>
              <a:rPr lang="en-US" sz="2800" dirty="0" err="1"/>
              <a:t>yaptığı</a:t>
            </a:r>
            <a:r>
              <a:rPr lang="en-US" sz="2800" dirty="0"/>
              <a:t> </a:t>
            </a:r>
            <a:r>
              <a:rPr lang="en-US" sz="2800" dirty="0" err="1"/>
              <a:t>ülkeler</a:t>
            </a:r>
            <a:r>
              <a:rPr lang="en-US" sz="2800" dirty="0"/>
              <a:t>: 
</a:t>
            </a:r>
            <a:r>
              <a:rPr lang="en-US" sz="2800" dirty="0" err="1"/>
              <a:t>Hindistan</a:t>
            </a:r>
            <a:r>
              <a:rPr lang="en-US" sz="2800" dirty="0"/>
              <a:t> </a:t>
            </a:r>
            <a:r>
              <a:rPr lang="en-US" sz="2800" dirty="0" err="1"/>
              <a:t>ve</a:t>
            </a:r>
            <a:r>
              <a:rPr lang="en-US" sz="2800" dirty="0"/>
              <a:t> </a:t>
            </a:r>
            <a:r>
              <a:rPr lang="en-US" sz="2800" dirty="0" err="1"/>
              <a:t>Çin</a:t>
            </a:r>
            <a:r>
              <a:rPr lang="en-US" sz="2800" dirty="0"/>
              <a:t>
</a:t>
            </a:r>
            <a:r>
              <a:rPr lang="en-US" sz="2800" dirty="0" err="1"/>
              <a:t>Kongre</a:t>
            </a:r>
            <a:r>
              <a:rPr lang="en-US" sz="2800" dirty="0"/>
              <a:t>, </a:t>
            </a:r>
            <a:r>
              <a:rPr lang="en-US" sz="2800" dirty="0" err="1"/>
              <a:t>vize</a:t>
            </a:r>
            <a:r>
              <a:rPr lang="en-US" sz="2800" dirty="0"/>
              <a:t> </a:t>
            </a:r>
            <a:r>
              <a:rPr lang="en-US" sz="2800" dirty="0" err="1"/>
              <a:t>sayısına</a:t>
            </a:r>
            <a:r>
              <a:rPr lang="en-US" sz="2800" dirty="0"/>
              <a:t> </a:t>
            </a:r>
            <a:r>
              <a:rPr lang="en-US" sz="2800" dirty="0" err="1"/>
              <a:t>yıllık</a:t>
            </a:r>
            <a:r>
              <a:rPr lang="en-US" sz="2800" dirty="0"/>
              <a:t> </a:t>
            </a:r>
            <a:r>
              <a:rPr lang="en-US" sz="2800" dirty="0" err="1"/>
              <a:t>bir</a:t>
            </a:r>
            <a:r>
              <a:rPr lang="en-US" sz="2800" dirty="0"/>
              <a:t> </a:t>
            </a:r>
            <a:r>
              <a:rPr lang="en-US" sz="2800" dirty="0" err="1"/>
              <a:t>sınır</a:t>
            </a:r>
            <a:r>
              <a:rPr lang="en-US" sz="2800" dirty="0"/>
              <a:t> </a:t>
            </a:r>
            <a:r>
              <a:rPr lang="en-US" sz="2800" dirty="0" err="1"/>
              <a:t>koyar</a:t>
            </a:r>
            <a:r>
              <a:rPr lang="en-US" sz="2800" dirty="0"/>
              <a:t>, </a:t>
            </a:r>
            <a:r>
              <a:rPr lang="en-US" sz="2800" dirty="0" err="1"/>
              <a:t>ancak</a:t>
            </a:r>
            <a:r>
              <a:rPr lang="en-US" sz="2800" dirty="0"/>
              <a:t> </a:t>
            </a:r>
            <a:r>
              <a:rPr lang="en-US" sz="2800" dirty="0" err="1"/>
              <a:t>birçok</a:t>
            </a:r>
            <a:r>
              <a:rPr lang="en-US" sz="2800" dirty="0"/>
              <a:t> </a:t>
            </a:r>
            <a:r>
              <a:rPr lang="en-US" sz="2800" dirty="0" err="1"/>
              <a:t>istisnaya</a:t>
            </a:r>
            <a:r>
              <a:rPr lang="en-US" sz="2800" dirty="0"/>
              <a:t> </a:t>
            </a:r>
            <a:r>
              <a:rPr lang="en-US" sz="2800" dirty="0" err="1"/>
              <a:t>izin</a:t>
            </a:r>
            <a:r>
              <a:rPr lang="en-US" sz="2800" dirty="0"/>
              <a:t> </a:t>
            </a:r>
            <a:r>
              <a:rPr lang="en-US" sz="2800" dirty="0" err="1"/>
              <a:t>verir</a:t>
            </a:r>
            <a:r>
              <a:rPr lang="en-US" sz="2800" dirty="0"/>
              <a:t>:
</a:t>
            </a:r>
            <a:r>
              <a:rPr lang="en-US" sz="2800" dirty="0" err="1"/>
              <a:t>Yabancı</a:t>
            </a:r>
            <a:r>
              <a:rPr lang="en-US" sz="2800" dirty="0"/>
              <a:t> </a:t>
            </a:r>
            <a:r>
              <a:rPr lang="en-US" sz="2800" dirty="0" err="1"/>
              <a:t>mezunlar</a:t>
            </a:r>
            <a:r>
              <a:rPr lang="en-US" sz="2800" dirty="0"/>
              <a:t> için ek 20.000 </a:t>
            </a:r>
            <a:r>
              <a:rPr lang="en-US" sz="2800" dirty="0" err="1"/>
              <a:t>ile</a:t>
            </a:r>
            <a:r>
              <a:rPr lang="en-US" sz="2800" dirty="0"/>
              <a:t> 60.000</a:t>
            </a:r>
            <a:br>
              <a:rPr lang="en-US" sz="2800" dirty="0"/>
            </a:br>
            <a:r>
              <a:rPr lang="en-US" sz="2800" dirty="0"/>
              <a:t> </a:t>
            </a:r>
            <a:r>
              <a:rPr lang="en-US" sz="2800" dirty="0" err="1"/>
              <a:t>ileri</a:t>
            </a:r>
            <a:r>
              <a:rPr lang="en-US" sz="2800" dirty="0"/>
              <a:t> </a:t>
            </a:r>
            <a:r>
              <a:rPr lang="en-US" sz="2800" dirty="0" err="1"/>
              <a:t>derecelere</a:t>
            </a:r>
            <a:r>
              <a:rPr lang="en-US" sz="2800" dirty="0"/>
              <a:t> </a:t>
            </a:r>
            <a:r>
              <a:rPr lang="en-US" sz="2800" dirty="0" err="1"/>
              <a:t>sahip</a:t>
            </a:r>
            <a:r>
              <a:rPr lang="en-US" sz="2800" dirty="0"/>
              <a:t> ABD </a:t>
            </a:r>
            <a:r>
              <a:rPr lang="en-US" sz="2800" dirty="0" err="1"/>
              <a:t>üniversitelerinin</a:t>
            </a:r>
            <a:r>
              <a:rPr lang="en-US" sz="2800" dirty="0"/>
              <a:t> </a:t>
            </a:r>
            <a:r>
              <a:rPr lang="en-US" sz="2800" dirty="0" err="1"/>
              <a:t>oranı</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H1-B </a:t>
            </a:r>
            <a:r>
              <a:rPr lang="en-US" sz="4000" dirty="0" err="1"/>
              <a:t>İşçileri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37237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361323"/>
            <a:ext cx="8415338" cy="4014176"/>
          </a:xfrm>
        </p:spPr>
        <p:txBody>
          <a:bodyPr/>
          <a:lstStyle/>
          <a:p>
            <a:r>
              <a:rPr lang="en-US" sz="2700" dirty="0"/>
              <a:t>H-1B </a:t>
            </a:r>
            <a:r>
              <a:rPr lang="en-US" sz="2700" dirty="0" err="1"/>
              <a:t>vizesi</a:t>
            </a:r>
            <a:r>
              <a:rPr lang="en-US" sz="2700" dirty="0"/>
              <a:t> </a:t>
            </a:r>
            <a:r>
              <a:rPr lang="en-US" sz="2700" dirty="0" err="1"/>
              <a:t>kullanan</a:t>
            </a:r>
            <a:r>
              <a:rPr lang="en-US" sz="2700" dirty="0"/>
              <a:t> </a:t>
            </a:r>
            <a:r>
              <a:rPr lang="en-US" sz="2700" dirty="0" err="1"/>
              <a:t>şirketler</a:t>
            </a:r>
            <a:r>
              <a:rPr lang="en-US" sz="2700" dirty="0"/>
              <a:t>, </a:t>
            </a:r>
            <a:r>
              <a:rPr lang="en-US" sz="2700" dirty="0" err="1"/>
              <a:t>meslek</a:t>
            </a:r>
            <a:r>
              <a:rPr lang="en-US" sz="2700" dirty="0"/>
              <a:t> için </a:t>
            </a:r>
            <a:r>
              <a:rPr lang="en-US" sz="2700" dirty="0" err="1"/>
              <a:t>ortalama</a:t>
            </a:r>
            <a:r>
              <a:rPr lang="en-US" sz="2700" dirty="0"/>
              <a:t> </a:t>
            </a:r>
            <a:r>
              <a:rPr lang="en-US" sz="2700" dirty="0" err="1"/>
              <a:t>maaşın</a:t>
            </a:r>
            <a:r>
              <a:rPr lang="en-US" sz="2700" dirty="0"/>
              <a:t> </a:t>
            </a:r>
            <a:r>
              <a:rPr lang="en-US" sz="2700" dirty="0" err="1"/>
              <a:t>en</a:t>
            </a:r>
            <a:r>
              <a:rPr lang="en-US" sz="2700" dirty="0"/>
              <a:t> </a:t>
            </a:r>
            <a:r>
              <a:rPr lang="en-US" sz="2700" dirty="0" err="1"/>
              <a:t>az</a:t>
            </a:r>
            <a:r>
              <a:rPr lang="en-US" sz="2700" dirty="0"/>
              <a:t> </a:t>
            </a:r>
            <a:r>
              <a:rPr lang="en-US" sz="2700" dirty="0" err="1"/>
              <a:t>yüzde</a:t>
            </a:r>
            <a:r>
              <a:rPr lang="en-US" sz="2700" dirty="0"/>
              <a:t> 95'i </a:t>
            </a:r>
            <a:r>
              <a:rPr lang="en-US" sz="2700" dirty="0" err="1"/>
              <a:t>kadar</a:t>
            </a:r>
            <a:r>
              <a:rPr lang="en-US" sz="2700" dirty="0"/>
              <a:t> </a:t>
            </a:r>
            <a:r>
              <a:rPr lang="en-US" sz="2700" dirty="0" err="1"/>
              <a:t>bir</a:t>
            </a:r>
            <a:r>
              <a:rPr lang="en-US" sz="2700" dirty="0"/>
              <a:t> </a:t>
            </a:r>
            <a:r>
              <a:rPr lang="en-US" sz="2700" dirty="0" err="1"/>
              <a:t>ücret</a:t>
            </a:r>
            <a:r>
              <a:rPr lang="en-US" sz="2700" dirty="0"/>
              <a:t> </a:t>
            </a:r>
            <a:r>
              <a:rPr lang="en-US" sz="2700" dirty="0" err="1"/>
              <a:t>teklif</a:t>
            </a:r>
            <a:r>
              <a:rPr lang="en-US" sz="2700" dirty="0"/>
              <a:t> </a:t>
            </a:r>
            <a:r>
              <a:rPr lang="en-US" sz="2700" dirty="0" err="1"/>
              <a:t>etmelidir</a:t>
            </a:r>
            <a:r>
              <a:rPr lang="en-US" sz="2700" dirty="0"/>
              <a:t>.
</a:t>
            </a:r>
            <a:r>
              <a:rPr lang="en-US" sz="2700" dirty="0" err="1"/>
              <a:t>BT'deki</a:t>
            </a:r>
            <a:r>
              <a:rPr lang="en-US" sz="2700" dirty="0"/>
              <a:t> </a:t>
            </a:r>
            <a:r>
              <a:rPr lang="en-US" sz="2700" dirty="0" err="1"/>
              <a:t>ücretler</a:t>
            </a:r>
            <a:r>
              <a:rPr lang="en-US" sz="2700" dirty="0"/>
              <a:t> </a:t>
            </a:r>
            <a:r>
              <a:rPr lang="en-US" sz="2700" dirty="0" err="1"/>
              <a:t>önemli</a:t>
            </a:r>
            <a:r>
              <a:rPr lang="en-US" sz="2700" dirty="0"/>
              <a:t> </a:t>
            </a:r>
            <a:r>
              <a:rPr lang="en-US" sz="2700" dirty="0" err="1"/>
              <a:t>ölçüde</a:t>
            </a:r>
            <a:r>
              <a:rPr lang="en-US" sz="2700" dirty="0"/>
              <a:t> </a:t>
            </a:r>
            <a:r>
              <a:rPr lang="en-US" sz="2700" dirty="0" err="1"/>
              <a:t>değişir</a:t>
            </a:r>
            <a:r>
              <a:rPr lang="en-US" sz="2700" dirty="0"/>
              <a:t>, </a:t>
            </a:r>
            <a:r>
              <a:rPr lang="en-US" sz="2700" dirty="0" err="1"/>
              <a:t>bu</a:t>
            </a:r>
            <a:r>
              <a:rPr lang="en-US" sz="2700" dirty="0"/>
              <a:t> </a:t>
            </a:r>
            <a:r>
              <a:rPr lang="en-US" sz="2700" dirty="0" err="1"/>
              <a:t>nedenle</a:t>
            </a:r>
            <a:r>
              <a:rPr lang="en-US" sz="2700" dirty="0"/>
              <a:t> </a:t>
            </a:r>
            <a:r>
              <a:rPr lang="en-US" sz="2700" dirty="0" err="1"/>
              <a:t>etik</a:t>
            </a:r>
            <a:r>
              <a:rPr lang="en-US" sz="2700" dirty="0"/>
              <a:t> </a:t>
            </a:r>
            <a:r>
              <a:rPr lang="en-US" sz="2700" dirty="0" err="1"/>
              <a:t>olmayan</a:t>
            </a:r>
            <a:r>
              <a:rPr lang="en-US" sz="2700" dirty="0"/>
              <a:t> </a:t>
            </a:r>
            <a:r>
              <a:rPr lang="en-US" sz="2700" dirty="0" err="1"/>
              <a:t>şirketler</a:t>
            </a:r>
            <a:r>
              <a:rPr lang="en-US" sz="2700" dirty="0"/>
              <a:t> </a:t>
            </a:r>
            <a:r>
              <a:rPr lang="en-US" sz="2700" dirty="0" err="1"/>
              <a:t>ortalama</a:t>
            </a:r>
            <a:r>
              <a:rPr lang="en-US" sz="2700" dirty="0"/>
              <a:t> </a:t>
            </a:r>
            <a:r>
              <a:rPr lang="en-US" sz="2700" dirty="0" err="1"/>
              <a:t>maaş</a:t>
            </a:r>
            <a:r>
              <a:rPr lang="en-US" sz="2700" dirty="0"/>
              <a:t> </a:t>
            </a:r>
            <a:r>
              <a:rPr lang="en-US" sz="2700" dirty="0" err="1"/>
              <a:t>gereksinimini</a:t>
            </a:r>
            <a:r>
              <a:rPr lang="en-US" sz="2700" dirty="0"/>
              <a:t> </a:t>
            </a:r>
            <a:r>
              <a:rPr lang="en-US" sz="2700" dirty="0" err="1"/>
              <a:t>aşabilir</a:t>
            </a:r>
            <a:r>
              <a:rPr lang="en-US" sz="2700" dirty="0"/>
              <a:t>.
H-1B </a:t>
            </a:r>
            <a:r>
              <a:rPr lang="en-US" sz="2700" dirty="0" err="1"/>
              <a:t>vizesi</a:t>
            </a:r>
            <a:r>
              <a:rPr lang="en-US" sz="2700" dirty="0"/>
              <a:t> </a:t>
            </a:r>
            <a:r>
              <a:rPr lang="en-US" sz="2700" dirty="0" err="1"/>
              <a:t>kullanan</a:t>
            </a:r>
            <a:r>
              <a:rPr lang="en-US" sz="2700" dirty="0"/>
              <a:t> </a:t>
            </a:r>
            <a:r>
              <a:rPr lang="en-US" sz="2700" dirty="0" err="1"/>
              <a:t>şirketler</a:t>
            </a:r>
            <a:r>
              <a:rPr lang="en-US" sz="2700" dirty="0"/>
              <a:t>, </a:t>
            </a:r>
            <a:r>
              <a:rPr lang="en-US" sz="2700" dirty="0" err="1"/>
              <a:t>Amerikalı</a:t>
            </a:r>
            <a:r>
              <a:rPr lang="en-US" sz="2700" dirty="0"/>
              <a:t> </a:t>
            </a:r>
            <a:r>
              <a:rPr lang="en-US" sz="2700" dirty="0" err="1"/>
              <a:t>işçileri</a:t>
            </a:r>
            <a:r>
              <a:rPr lang="en-US" sz="2700" dirty="0"/>
              <a:t> </a:t>
            </a:r>
            <a:r>
              <a:rPr lang="en-US" sz="2700" dirty="0" err="1"/>
              <a:t>yerinden</a:t>
            </a:r>
            <a:r>
              <a:rPr lang="en-US" sz="2700" dirty="0"/>
              <a:t> </a:t>
            </a:r>
            <a:r>
              <a:rPr lang="en-US" sz="2700" dirty="0" err="1"/>
              <a:t>etmeyeceklerini</a:t>
            </a:r>
            <a:r>
              <a:rPr lang="en-US" sz="2700" dirty="0"/>
              <a:t> </a:t>
            </a:r>
            <a:r>
              <a:rPr lang="en-US" sz="2700" dirty="0" err="1"/>
              <a:t>beyan</a:t>
            </a:r>
            <a:r>
              <a:rPr lang="en-US" sz="2700" dirty="0"/>
              <a:t> </a:t>
            </a:r>
            <a:r>
              <a:rPr lang="en-US" sz="2700" dirty="0" err="1"/>
              <a:t>etmelidir</a:t>
            </a:r>
            <a:r>
              <a:rPr lang="en-US" sz="2700" dirty="0"/>
              <a:t>.
</a:t>
            </a:r>
            <a:r>
              <a:rPr lang="en-US" sz="2700" dirty="0" err="1"/>
              <a:t>Şirketler</a:t>
            </a:r>
            <a:r>
              <a:rPr lang="en-US" sz="2700" dirty="0"/>
              <a:t>, </a:t>
            </a:r>
            <a:r>
              <a:rPr lang="en-US" sz="2700" dirty="0" err="1"/>
              <a:t>çalışanlarının</a:t>
            </a:r>
            <a:r>
              <a:rPr lang="en-US" sz="2700" dirty="0"/>
              <a:t> </a:t>
            </a:r>
            <a:r>
              <a:rPr lang="en-US" sz="2700" dirty="0" err="1"/>
              <a:t>yüzde</a:t>
            </a:r>
            <a:r>
              <a:rPr lang="en-US" sz="2700" dirty="0"/>
              <a:t> 15'i </a:t>
            </a:r>
            <a:r>
              <a:rPr lang="en-US" sz="2700" dirty="0" err="1"/>
              <a:t>veya</a:t>
            </a:r>
            <a:r>
              <a:rPr lang="en-US" sz="2700" dirty="0"/>
              <a:t> </a:t>
            </a:r>
            <a:r>
              <a:rPr lang="en-US" sz="2700" dirty="0" err="1"/>
              <a:t>daha</a:t>
            </a:r>
            <a:r>
              <a:rPr lang="en-US" sz="2700" dirty="0"/>
              <a:t> </a:t>
            </a:r>
            <a:r>
              <a:rPr lang="en-US" sz="2700" dirty="0" err="1"/>
              <a:t>fazlası</a:t>
            </a:r>
            <a:r>
              <a:rPr lang="en-US" sz="2700" dirty="0"/>
              <a:t> H-1B </a:t>
            </a:r>
            <a:r>
              <a:rPr lang="en-US" sz="2700" dirty="0" err="1"/>
              <a:t>vizesine</a:t>
            </a:r>
            <a:r>
              <a:rPr lang="en-US" sz="2700" dirty="0"/>
              <a:t> </a:t>
            </a:r>
            <a:r>
              <a:rPr lang="en-US" sz="2700" dirty="0" err="1"/>
              <a:t>sahipse</a:t>
            </a:r>
            <a:r>
              <a:rPr lang="en-US" sz="2700" dirty="0"/>
              <a:t> </a:t>
            </a:r>
            <a:r>
              <a:rPr lang="en-US" sz="2700" dirty="0" err="1"/>
              <a:t>ve</a:t>
            </a:r>
            <a:r>
              <a:rPr lang="en-US" sz="2700" dirty="0"/>
              <a:t> H-1B </a:t>
            </a:r>
            <a:r>
              <a:rPr lang="en-US" sz="2700" dirty="0" err="1"/>
              <a:t>çalışanlarına</a:t>
            </a:r>
            <a:r>
              <a:rPr lang="en-US" sz="2700" dirty="0"/>
              <a:t> </a:t>
            </a:r>
            <a:r>
              <a:rPr lang="en-US" sz="2700" dirty="0" err="1"/>
              <a:t>yılda</a:t>
            </a:r>
            <a:r>
              <a:rPr lang="en-US" sz="2700" dirty="0"/>
              <a:t> 60.000 &gt; </a:t>
            </a:r>
            <a:r>
              <a:rPr lang="en-US" sz="2700" dirty="0" err="1"/>
              <a:t>ödeme</a:t>
            </a:r>
            <a:r>
              <a:rPr lang="en-US" sz="2700" dirty="0"/>
              <a:t> </a:t>
            </a:r>
            <a:r>
              <a:rPr lang="en-US" sz="2700" dirty="0" err="1"/>
              <a:t>yapılıyorsa</a:t>
            </a:r>
            <a:r>
              <a:rPr lang="en-US" sz="2700" dirty="0"/>
              <a:t> </a:t>
            </a:r>
            <a:r>
              <a:rPr lang="en-US" sz="2700" dirty="0" err="1"/>
              <a:t>muafiyet</a:t>
            </a:r>
            <a:r>
              <a:rPr lang="en-US" sz="2700" dirty="0"/>
              <a:t> </a:t>
            </a:r>
            <a:r>
              <a:rPr lang="en-US" sz="2700" dirty="0" err="1"/>
              <a:t>alabilirler</a:t>
            </a:r>
            <a:r>
              <a:rPr lang="en-US" sz="2700" dirty="0"/>
              <a:t>.</a:t>
            </a:r>
          </a:p>
        </p:txBody>
      </p:sp>
      <p:sp>
        <p:nvSpPr>
          <p:cNvPr id="3" name="Title 2"/>
          <p:cNvSpPr>
            <a:spLocks noGrp="1"/>
          </p:cNvSpPr>
          <p:nvPr>
            <p:ph type="title"/>
          </p:nvPr>
        </p:nvSpPr>
        <p:spPr>
          <a:xfrm>
            <a:off x="762000" y="28849"/>
            <a:ext cx="8415338" cy="1051057"/>
          </a:xfrm>
        </p:spPr>
        <p:txBody>
          <a:bodyPr/>
          <a:lstStyle/>
          <a:p>
            <a:r>
              <a:rPr lang="de-DE" sz="4000" dirty="0"/>
              <a:t>H1-B Vize </a:t>
            </a:r>
            <a:r>
              <a:rPr lang="de-DE" sz="4000" dirty="0" err="1"/>
              <a:t>Programını</a:t>
            </a:r>
            <a:r>
              <a:rPr lang="de-DE" sz="4000" dirty="0"/>
              <a:t> </a:t>
            </a:r>
            <a:r>
              <a:rPr lang="de-DE" sz="4000" dirty="0" err="1"/>
              <a:t>Oynamak</a:t>
            </a:r>
            <a:r>
              <a:rPr lang="de-DE" sz="4000" dirty="0"/>
              <a:t>, </a:t>
            </a:r>
            <a:r>
              <a:rPr lang="de-DE" sz="4000" dirty="0" err="1"/>
              <a:t>Bölüm</a:t>
            </a:r>
            <a:r>
              <a:rPr lang="de-DE" sz="4000" dirty="0"/>
              <a:t>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0445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10340"/>
            <a:ext cx="8415338" cy="3327065"/>
          </a:xfrm>
        </p:spPr>
        <p:txBody>
          <a:bodyPr/>
          <a:lstStyle/>
          <a:p>
            <a:r>
              <a:rPr lang="en-US" sz="2800" dirty="0"/>
              <a:t>2015 </a:t>
            </a:r>
            <a:r>
              <a:rPr lang="en-US" sz="2800" dirty="0" err="1"/>
              <a:t>yılında</a:t>
            </a:r>
            <a:r>
              <a:rPr lang="en-US" sz="2800" dirty="0"/>
              <a:t>, H-1B </a:t>
            </a:r>
            <a:r>
              <a:rPr lang="en-US" sz="2800" dirty="0" err="1"/>
              <a:t>çalışanlarının</a:t>
            </a:r>
            <a:r>
              <a:rPr lang="en-US" sz="2800" dirty="0"/>
              <a:t> </a:t>
            </a:r>
            <a:r>
              <a:rPr lang="en-US" sz="2800" dirty="0" err="1"/>
              <a:t>çoğunluğu</a:t>
            </a:r>
            <a:r>
              <a:rPr lang="en-US" sz="2800" dirty="0"/>
              <a:t> </a:t>
            </a:r>
            <a:r>
              <a:rPr lang="en-US" sz="2800" dirty="0" err="1"/>
              <a:t>bilgisayar</a:t>
            </a:r>
            <a:r>
              <a:rPr lang="en-US" sz="2800" dirty="0"/>
              <a:t> </a:t>
            </a:r>
            <a:r>
              <a:rPr lang="en-US" sz="2800" dirty="0" err="1"/>
              <a:t>programcıları</a:t>
            </a:r>
            <a:r>
              <a:rPr lang="en-US" sz="2800" dirty="0"/>
              <a:t> </a:t>
            </a:r>
            <a:r>
              <a:rPr lang="en-US" sz="2800" dirty="0" err="1"/>
              <a:t>ve</a:t>
            </a:r>
            <a:r>
              <a:rPr lang="en-US" sz="2800" dirty="0"/>
              <a:t> </a:t>
            </a:r>
            <a:r>
              <a:rPr lang="en-US" sz="2800" dirty="0" err="1"/>
              <a:t>sistem</a:t>
            </a:r>
            <a:r>
              <a:rPr lang="en-US" sz="2800" dirty="0"/>
              <a:t> </a:t>
            </a:r>
            <a:r>
              <a:rPr lang="en-US" sz="2800" dirty="0" err="1"/>
              <a:t>analistleriydi</a:t>
            </a:r>
            <a:r>
              <a:rPr lang="en-US" sz="2800" dirty="0"/>
              <a:t> </a:t>
            </a:r>
            <a:r>
              <a:rPr lang="en-US" sz="2800" dirty="0" err="1"/>
              <a:t>ve</a:t>
            </a:r>
            <a:r>
              <a:rPr lang="en-US" sz="2800" dirty="0"/>
              <a:t> </a:t>
            </a:r>
            <a:r>
              <a:rPr lang="en-US" sz="2800" dirty="0" err="1"/>
              <a:t>ortalama</a:t>
            </a:r>
            <a:r>
              <a:rPr lang="en-US" sz="2800" dirty="0"/>
              <a:t> </a:t>
            </a:r>
            <a:r>
              <a:rPr lang="en-US" sz="2800" dirty="0" err="1"/>
              <a:t>maaşları</a:t>
            </a:r>
            <a:r>
              <a:rPr lang="en-US" sz="2800" dirty="0"/>
              <a:t> 61.131-71.150 </a:t>
            </a:r>
            <a:r>
              <a:rPr lang="en-US" sz="2800" dirty="0" err="1"/>
              <a:t>dolar</a:t>
            </a:r>
            <a:r>
              <a:rPr lang="en-US" sz="2800" dirty="0"/>
              <a:t> </a:t>
            </a:r>
            <a:r>
              <a:rPr lang="en-US" sz="2800" dirty="0" err="1"/>
              <a:t>arasındaydı</a:t>
            </a:r>
            <a:r>
              <a:rPr lang="en-US" sz="2800" dirty="0"/>
              <a:t>.
</a:t>
            </a:r>
            <a:r>
              <a:rPr lang="en-US" sz="2800" dirty="0" err="1"/>
              <a:t>Aynı</a:t>
            </a:r>
            <a:r>
              <a:rPr lang="en-US" sz="2800" dirty="0"/>
              <a:t> </a:t>
            </a:r>
            <a:r>
              <a:rPr lang="en-US" sz="2800" dirty="0" err="1"/>
              <a:t>pozisyonlardaki</a:t>
            </a:r>
            <a:r>
              <a:rPr lang="en-US" sz="2800" dirty="0"/>
              <a:t> </a:t>
            </a:r>
            <a:r>
              <a:rPr lang="en-US" sz="2800" dirty="0" err="1"/>
              <a:t>ABD'li</a:t>
            </a:r>
            <a:r>
              <a:rPr lang="en-US" sz="2800" dirty="0"/>
              <a:t> </a:t>
            </a:r>
            <a:r>
              <a:rPr lang="en-US" sz="2800" dirty="0" err="1"/>
              <a:t>işçiler</a:t>
            </a:r>
            <a:r>
              <a:rPr lang="en-US" sz="2800" dirty="0"/>
              <a:t> için </a:t>
            </a:r>
            <a:r>
              <a:rPr lang="en-US" sz="2800" dirty="0" err="1"/>
              <a:t>ortalama</a:t>
            </a:r>
            <a:r>
              <a:rPr lang="en-US" sz="2800" dirty="0"/>
              <a:t> </a:t>
            </a:r>
            <a:r>
              <a:rPr lang="en-US" sz="2800" dirty="0" err="1"/>
              <a:t>maaş</a:t>
            </a:r>
            <a:r>
              <a:rPr lang="en-US" sz="2800" dirty="0"/>
              <a:t> </a:t>
            </a:r>
            <a:r>
              <a:rPr lang="en-US" sz="2800" dirty="0" err="1"/>
              <a:t>daha</a:t>
            </a:r>
            <a:r>
              <a:rPr lang="en-US" sz="2800" dirty="0"/>
              <a:t> </a:t>
            </a:r>
            <a:r>
              <a:rPr lang="en-US" sz="2800" dirty="0" err="1"/>
              <a:t>yüksektir</a:t>
            </a:r>
            <a:r>
              <a:rPr lang="en-US" sz="2800" dirty="0"/>
              <a:t>:
</a:t>
            </a:r>
            <a:r>
              <a:rPr lang="en-US" sz="2800" dirty="0" err="1"/>
              <a:t>ABD'li</a:t>
            </a:r>
            <a:r>
              <a:rPr lang="en-US" sz="2800" dirty="0"/>
              <a:t> </a:t>
            </a:r>
            <a:r>
              <a:rPr lang="en-US" sz="2800" dirty="0" err="1"/>
              <a:t>bilgisayar</a:t>
            </a:r>
            <a:r>
              <a:rPr lang="en-US" sz="2800" dirty="0"/>
              <a:t> </a:t>
            </a:r>
            <a:r>
              <a:rPr lang="en-US" sz="2800" dirty="0" err="1"/>
              <a:t>programcıları</a:t>
            </a:r>
            <a:r>
              <a:rPr lang="en-US" sz="2800" dirty="0"/>
              <a:t> = 79.840 </a:t>
            </a:r>
            <a:r>
              <a:rPr lang="en-US" sz="2800" dirty="0" err="1"/>
              <a:t>dolar</a:t>
            </a:r>
            <a:r>
              <a:rPr lang="en-US" sz="2800" dirty="0"/>
              <a:t> 
</a:t>
            </a:r>
            <a:r>
              <a:rPr lang="en-US" sz="2800" dirty="0" err="1"/>
              <a:t>ABD'li</a:t>
            </a:r>
            <a:r>
              <a:rPr lang="en-US" sz="2800" dirty="0"/>
              <a:t> </a:t>
            </a:r>
            <a:r>
              <a:rPr lang="en-US" sz="2800" dirty="0" err="1"/>
              <a:t>sistem</a:t>
            </a:r>
            <a:r>
              <a:rPr lang="en-US" sz="2800" dirty="0"/>
              <a:t> </a:t>
            </a:r>
            <a:r>
              <a:rPr lang="en-US" sz="2800" dirty="0" err="1"/>
              <a:t>analistleri</a:t>
            </a:r>
            <a:r>
              <a:rPr lang="en-US" sz="2800" dirty="0"/>
              <a:t> = 87.220 </a:t>
            </a:r>
            <a:r>
              <a:rPr lang="en-US" sz="2800" dirty="0" err="1"/>
              <a:t>dolar</a:t>
            </a:r>
            <a:endParaRPr lang="en-US" sz="2600" dirty="0"/>
          </a:p>
        </p:txBody>
      </p:sp>
      <p:sp>
        <p:nvSpPr>
          <p:cNvPr id="3" name="Title 2"/>
          <p:cNvSpPr>
            <a:spLocks noGrp="1"/>
          </p:cNvSpPr>
          <p:nvPr>
            <p:ph type="title"/>
          </p:nvPr>
        </p:nvSpPr>
        <p:spPr>
          <a:xfrm>
            <a:off x="762000" y="28849"/>
            <a:ext cx="8305800" cy="1051057"/>
          </a:xfrm>
        </p:spPr>
        <p:txBody>
          <a:bodyPr/>
          <a:lstStyle/>
          <a:p>
            <a:r>
              <a:rPr lang="de-DE" sz="4000" dirty="0"/>
              <a:t>H1-B Vize </a:t>
            </a:r>
            <a:r>
              <a:rPr lang="de-DE" sz="4000" dirty="0" err="1"/>
              <a:t>Programını</a:t>
            </a:r>
            <a:r>
              <a:rPr lang="de-DE" sz="4000" dirty="0"/>
              <a:t> </a:t>
            </a:r>
            <a:r>
              <a:rPr lang="de-DE" sz="4000" dirty="0" err="1"/>
              <a:t>Oynamak</a:t>
            </a:r>
            <a:r>
              <a:rPr lang="de-DE" sz="4000" dirty="0"/>
              <a:t>, </a:t>
            </a:r>
            <a:r>
              <a:rPr lang="de-DE" sz="4000" dirty="0" err="1"/>
              <a:t>Bölüm</a:t>
            </a:r>
            <a:r>
              <a:rPr lang="de-DE" sz="4000" dirty="0"/>
              <a:t>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0731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4" y="1143000"/>
            <a:ext cx="8702676" cy="5265288"/>
          </a:xfrm>
        </p:spPr>
        <p:txBody>
          <a:bodyPr/>
          <a:lstStyle/>
          <a:p>
            <a:r>
              <a:rPr lang="en-US" sz="2700" dirty="0" err="1"/>
              <a:t>Birçok</a:t>
            </a:r>
            <a:r>
              <a:rPr lang="en-US" sz="2700" dirty="0"/>
              <a:t> ABD </a:t>
            </a:r>
            <a:r>
              <a:rPr lang="en-US" sz="2700" dirty="0" err="1"/>
              <a:t>şirketi</a:t>
            </a:r>
            <a:r>
              <a:rPr lang="en-US" sz="2700" dirty="0"/>
              <a:t>, </a:t>
            </a:r>
            <a:r>
              <a:rPr lang="en-US" sz="2700" dirty="0" err="1"/>
              <a:t>yeterli</a:t>
            </a:r>
            <a:r>
              <a:rPr lang="en-US" sz="2700" dirty="0"/>
              <a:t> </a:t>
            </a:r>
            <a:r>
              <a:rPr lang="en-US" sz="2700" dirty="0" err="1"/>
              <a:t>sayıda</a:t>
            </a:r>
            <a:r>
              <a:rPr lang="en-US" sz="2700" dirty="0"/>
              <a:t> </a:t>
            </a:r>
            <a:r>
              <a:rPr lang="en-US" sz="2700" dirty="0" err="1"/>
              <a:t>kalifiye</a:t>
            </a:r>
            <a:r>
              <a:rPr lang="en-US" sz="2700" dirty="0"/>
              <a:t> ABD BT </a:t>
            </a:r>
            <a:r>
              <a:rPr lang="en-US" sz="2700" dirty="0" err="1"/>
              <a:t>çalışanı</a:t>
            </a:r>
            <a:r>
              <a:rPr lang="en-US" sz="2700" dirty="0"/>
              <a:t> </a:t>
            </a:r>
            <a:r>
              <a:rPr lang="en-US" sz="2700" dirty="0" err="1"/>
              <a:t>bulmakta</a:t>
            </a:r>
            <a:r>
              <a:rPr lang="en-US" sz="2700" dirty="0"/>
              <a:t> </a:t>
            </a:r>
            <a:r>
              <a:rPr lang="en-US" sz="2700" dirty="0" err="1"/>
              <a:t>zorlandıklarından</a:t>
            </a:r>
            <a:r>
              <a:rPr lang="en-US" sz="2700" dirty="0"/>
              <a:t> </a:t>
            </a:r>
            <a:r>
              <a:rPr lang="en-US" sz="2700" dirty="0" err="1"/>
              <a:t>şikayet</a:t>
            </a:r>
            <a:r>
              <a:rPr lang="en-US" sz="2700" dirty="0"/>
              <a:t> </a:t>
            </a:r>
            <a:r>
              <a:rPr lang="en-US" sz="2700" dirty="0" err="1"/>
              <a:t>ediyor</a:t>
            </a:r>
            <a:r>
              <a:rPr lang="en-US" sz="2700" dirty="0"/>
              <a:t>
</a:t>
            </a:r>
            <a:r>
              <a:rPr lang="en-US" sz="2700" dirty="0" err="1"/>
              <a:t>Eleştirmenler</a:t>
            </a:r>
            <a:r>
              <a:rPr lang="en-US" sz="2700" dirty="0"/>
              <a:t>, </a:t>
            </a:r>
            <a:r>
              <a:rPr lang="en-US" sz="2700" dirty="0" err="1"/>
              <a:t>ABD'nin</a:t>
            </a:r>
            <a:r>
              <a:rPr lang="en-US" sz="2700" dirty="0"/>
              <a:t> her </a:t>
            </a:r>
            <a:r>
              <a:rPr lang="en-US" sz="2700" dirty="0" err="1"/>
              <a:t>yıl</a:t>
            </a:r>
            <a:r>
              <a:rPr lang="en-US" sz="2700" dirty="0"/>
              <a:t> on </a:t>
            </a:r>
            <a:r>
              <a:rPr lang="en-US" sz="2700" dirty="0" err="1"/>
              <a:t>binlerce</a:t>
            </a:r>
            <a:r>
              <a:rPr lang="en-US" sz="2700" dirty="0"/>
              <a:t> H-1B </a:t>
            </a:r>
            <a:r>
              <a:rPr lang="en-US" sz="2700" dirty="0" err="1"/>
              <a:t>işçisini</a:t>
            </a:r>
            <a:r>
              <a:rPr lang="en-US" sz="2700" dirty="0"/>
              <a:t> </a:t>
            </a:r>
            <a:r>
              <a:rPr lang="en-US" sz="2700" dirty="0" err="1"/>
              <a:t>ithal</a:t>
            </a:r>
            <a:r>
              <a:rPr lang="en-US" sz="2700" dirty="0"/>
              <a:t> </a:t>
            </a:r>
            <a:r>
              <a:rPr lang="en-US" sz="2700" dirty="0" err="1"/>
              <a:t>etmeye</a:t>
            </a:r>
            <a:r>
              <a:rPr lang="en-US" sz="2700" dirty="0"/>
              <a:t> </a:t>
            </a:r>
            <a:r>
              <a:rPr lang="en-US" sz="2700" dirty="0" err="1"/>
              <a:t>devam</a:t>
            </a:r>
            <a:r>
              <a:rPr lang="en-US" sz="2700" dirty="0"/>
              <a:t> </a:t>
            </a:r>
            <a:r>
              <a:rPr lang="en-US" sz="2700" dirty="0" err="1"/>
              <a:t>etmesi</a:t>
            </a:r>
            <a:r>
              <a:rPr lang="en-US" sz="2700" dirty="0"/>
              <a:t> </a:t>
            </a:r>
            <a:r>
              <a:rPr lang="en-US" sz="2700" dirty="0" err="1"/>
              <a:t>gerekip</a:t>
            </a:r>
            <a:r>
              <a:rPr lang="en-US" sz="2700" dirty="0"/>
              <a:t> </a:t>
            </a:r>
            <a:r>
              <a:rPr lang="en-US" sz="2700" dirty="0" err="1"/>
              <a:t>gerekmediğini</a:t>
            </a:r>
            <a:r>
              <a:rPr lang="en-US" sz="2700" dirty="0"/>
              <a:t> </a:t>
            </a:r>
            <a:r>
              <a:rPr lang="en-US" sz="2700" dirty="0" err="1"/>
              <a:t>sorguluyor</a:t>
            </a:r>
            <a:r>
              <a:rPr lang="en-US" sz="2700" dirty="0"/>
              <a:t>
</a:t>
            </a:r>
            <a:r>
              <a:rPr lang="en-US" sz="2700" dirty="0" err="1"/>
              <a:t>Ulusal</a:t>
            </a:r>
            <a:r>
              <a:rPr lang="en-US" sz="2700" dirty="0"/>
              <a:t> </a:t>
            </a:r>
            <a:r>
              <a:rPr lang="en-US" sz="2700" dirty="0" err="1"/>
              <a:t>Eğitim</a:t>
            </a:r>
            <a:r>
              <a:rPr lang="en-US" sz="2700" dirty="0"/>
              <a:t> </a:t>
            </a:r>
            <a:r>
              <a:rPr lang="en-US" sz="2700" dirty="0" err="1"/>
              <a:t>İstatistikleri</a:t>
            </a:r>
            <a:r>
              <a:rPr lang="en-US" sz="2700" dirty="0"/>
              <a:t> </a:t>
            </a:r>
            <a:r>
              <a:rPr lang="en-US" sz="2700" dirty="0" err="1"/>
              <a:t>Merkezi'nin</a:t>
            </a:r>
            <a:r>
              <a:rPr lang="en-US" sz="2700" dirty="0"/>
              <a:t> </a:t>
            </a:r>
            <a:r>
              <a:rPr lang="en-US" sz="2700" dirty="0" err="1"/>
              <a:t>tahmini</a:t>
            </a:r>
            <a:r>
              <a:rPr lang="en-US" sz="2700" dirty="0"/>
              <a:t>:
Her </a:t>
            </a:r>
            <a:r>
              <a:rPr lang="en-US" sz="2700" dirty="0" err="1"/>
              <a:t>yıl</a:t>
            </a:r>
            <a:r>
              <a:rPr lang="en-US" sz="2700" dirty="0"/>
              <a:t> 130.000 ABD </a:t>
            </a:r>
            <a:r>
              <a:rPr lang="en-US" sz="2700" dirty="0" err="1"/>
              <a:t>bilgisayar</a:t>
            </a:r>
            <a:r>
              <a:rPr lang="en-US" sz="2700" dirty="0"/>
              <a:t> </a:t>
            </a:r>
            <a:r>
              <a:rPr lang="en-US" sz="2700" dirty="0" err="1"/>
              <a:t>ve</a:t>
            </a:r>
            <a:r>
              <a:rPr lang="en-US" sz="2700" dirty="0"/>
              <a:t> </a:t>
            </a:r>
            <a:r>
              <a:rPr lang="en-US" sz="2700" dirty="0" err="1"/>
              <a:t>bilgi</a:t>
            </a:r>
            <a:r>
              <a:rPr lang="en-US" sz="2700" dirty="0"/>
              <a:t> </a:t>
            </a:r>
            <a:r>
              <a:rPr lang="en-US" sz="2700" dirty="0" err="1"/>
              <a:t>bilimi</a:t>
            </a:r>
            <a:r>
              <a:rPr lang="en-US" sz="2700" dirty="0"/>
              <a:t> </a:t>
            </a:r>
            <a:r>
              <a:rPr lang="en-US" sz="2700" dirty="0" err="1"/>
              <a:t>mezunu</a:t>
            </a:r>
            <a:r>
              <a:rPr lang="en-US" sz="2700" dirty="0"/>
              <a:t>
 BLS </a:t>
            </a:r>
            <a:r>
              <a:rPr lang="en-US" sz="2700" dirty="0" err="1"/>
              <a:t>projeksiyonu</a:t>
            </a:r>
            <a:r>
              <a:rPr lang="en-US" sz="2700" dirty="0"/>
              <a:t>:
2014'ten 2024'e </a:t>
            </a:r>
            <a:r>
              <a:rPr lang="en-US" sz="2700" dirty="0" err="1"/>
              <a:t>kadar</a:t>
            </a:r>
            <a:r>
              <a:rPr lang="en-US" sz="2700" dirty="0"/>
              <a:t> </a:t>
            </a:r>
            <a:r>
              <a:rPr lang="en-US" sz="2700" dirty="0" err="1"/>
              <a:t>yılda</a:t>
            </a:r>
            <a:r>
              <a:rPr lang="en-US" sz="2700" dirty="0"/>
              <a:t> 53.000 yeni ABD </a:t>
            </a:r>
            <a:r>
              <a:rPr lang="en-US" sz="2700" dirty="0" err="1"/>
              <a:t>teknoloji</a:t>
            </a:r>
            <a:r>
              <a:rPr lang="en-US" sz="2700" dirty="0"/>
              <a:t> </a:t>
            </a:r>
            <a:r>
              <a:rPr lang="en-US" sz="2700" dirty="0" err="1"/>
              <a:t>işi</a:t>
            </a:r>
            <a:r>
              <a:rPr lang="en-US" sz="2700" dirty="0"/>
              <a:t> </a:t>
            </a:r>
            <a:r>
              <a:rPr lang="en-US" sz="2700" dirty="0" err="1"/>
              <a:t>artışı</a:t>
            </a:r>
            <a:r>
              <a:rPr lang="en-US" sz="2700" dirty="0"/>
              <a:t>
ABD </a:t>
            </a:r>
            <a:r>
              <a:rPr lang="en-US" sz="2700" dirty="0" err="1"/>
              <a:t>bilgisayar</a:t>
            </a:r>
            <a:r>
              <a:rPr lang="en-US" sz="2700" dirty="0"/>
              <a:t> / </a:t>
            </a:r>
            <a:r>
              <a:rPr lang="en-US" sz="2700" dirty="0" err="1"/>
              <a:t>bilgi</a:t>
            </a:r>
            <a:r>
              <a:rPr lang="en-US" sz="2700" dirty="0"/>
              <a:t> </a:t>
            </a:r>
            <a:r>
              <a:rPr lang="en-US" sz="2700" dirty="0" err="1"/>
              <a:t>bilimi</a:t>
            </a:r>
            <a:r>
              <a:rPr lang="en-US" sz="2700" dirty="0"/>
              <a:t> </a:t>
            </a:r>
            <a:r>
              <a:rPr lang="en-US" sz="2700" dirty="0" err="1"/>
              <a:t>mezunlarının</a:t>
            </a:r>
            <a:r>
              <a:rPr lang="en-US" sz="2700" dirty="0"/>
              <a:t> </a:t>
            </a:r>
            <a:r>
              <a:rPr lang="en-US" sz="2700" dirty="0" err="1"/>
              <a:t>arzı</a:t>
            </a:r>
            <a:r>
              <a:rPr lang="en-US" sz="2700" dirty="0"/>
              <a:t>, </a:t>
            </a:r>
            <a:r>
              <a:rPr lang="en-US" sz="2700" dirty="0" err="1"/>
              <a:t>talepten</a:t>
            </a:r>
            <a:r>
              <a:rPr lang="en-US" sz="2700" dirty="0"/>
              <a:t> </a:t>
            </a:r>
            <a:r>
              <a:rPr lang="en-US" sz="2700" dirty="0" err="1"/>
              <a:t>önemli</a:t>
            </a:r>
            <a:r>
              <a:rPr lang="en-US" sz="2700" dirty="0"/>
              <a:t> </a:t>
            </a:r>
            <a:r>
              <a:rPr lang="en-US" sz="2700" dirty="0" err="1"/>
              <a:t>ölçüde</a:t>
            </a:r>
            <a:r>
              <a:rPr lang="en-US" sz="2700" dirty="0"/>
              <a:t> </a:t>
            </a:r>
            <a:r>
              <a:rPr lang="en-US" sz="2700" dirty="0" err="1"/>
              <a:t>daha</a:t>
            </a:r>
            <a:r>
              <a:rPr lang="en-US" sz="2700" dirty="0"/>
              <a:t> </a:t>
            </a:r>
            <a:r>
              <a:rPr lang="en-US" sz="2700" dirty="0" err="1"/>
              <a:t>fazladır</a:t>
            </a:r>
            <a:endParaRPr lang="en-US" sz="2700" dirty="0"/>
          </a:p>
        </p:txBody>
      </p:sp>
      <p:sp>
        <p:nvSpPr>
          <p:cNvPr id="3" name="Title 2"/>
          <p:cNvSpPr>
            <a:spLocks noGrp="1"/>
          </p:cNvSpPr>
          <p:nvPr>
            <p:ph type="title"/>
          </p:nvPr>
        </p:nvSpPr>
        <p:spPr>
          <a:xfrm>
            <a:off x="762000" y="290459"/>
            <a:ext cx="8026400" cy="527837"/>
          </a:xfrm>
        </p:spPr>
        <p:txBody>
          <a:bodyPr/>
          <a:lstStyle/>
          <a:p>
            <a:r>
              <a:rPr lang="en-US" sz="4000" dirty="0"/>
              <a:t>H1-B </a:t>
            </a:r>
            <a:r>
              <a:rPr lang="en-US" sz="4000" dirty="0" err="1"/>
              <a:t>İşçilerine</a:t>
            </a:r>
            <a:r>
              <a:rPr lang="en-US" sz="4000" dirty="0"/>
              <a:t> </a:t>
            </a:r>
            <a:r>
              <a:rPr lang="en-US" sz="4000" dirty="0" err="1"/>
              <a:t>İhtiyaç</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8282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4" y="1219200"/>
            <a:ext cx="8626475" cy="4884414"/>
          </a:xfrm>
        </p:spPr>
        <p:txBody>
          <a:bodyPr/>
          <a:lstStyle/>
          <a:p>
            <a:r>
              <a:rPr lang="en-US" sz="2700" dirty="0"/>
              <a:t>Opinions vary about whether hiring H-1B workers </a:t>
            </a:r>
            <a:br>
              <a:rPr lang="en-US" sz="2700" dirty="0"/>
            </a:br>
            <a:r>
              <a:rPr lang="en-US" sz="2700" dirty="0"/>
              <a:t>affects job opportunities and wages for U.S. workers</a:t>
            </a:r>
          </a:p>
          <a:p>
            <a:r>
              <a:rPr lang="en-US" sz="2700" dirty="0"/>
              <a:t>Many factors affect an individual’s salary, including</a:t>
            </a:r>
            <a:r>
              <a:rPr lang="en-US" sz="2800" dirty="0"/>
              <a:t>:</a:t>
            </a:r>
          </a:p>
          <a:p>
            <a:pPr lvl="1">
              <a:buClr>
                <a:schemeClr val="accent2"/>
              </a:buClr>
            </a:pPr>
            <a:r>
              <a:rPr lang="en-US" sz="2600" dirty="0"/>
              <a:t>Age, education, experience, citizenship status, race, </a:t>
            </a:r>
            <a:br>
              <a:rPr lang="en-US" sz="2600" dirty="0"/>
            </a:br>
            <a:r>
              <a:rPr lang="en-US" sz="2600" dirty="0"/>
              <a:t>sex, and employment location </a:t>
            </a:r>
          </a:p>
          <a:p>
            <a:r>
              <a:rPr lang="en-US" sz="2700" dirty="0"/>
              <a:t>Determining the impact of H-1B visas would require </a:t>
            </a:r>
            <a:br>
              <a:rPr lang="en-US" sz="2700" dirty="0"/>
            </a:br>
            <a:r>
              <a:rPr lang="en-US" sz="2700" dirty="0"/>
              <a:t>taking all these factors into account.</a:t>
            </a:r>
          </a:p>
          <a:p>
            <a:r>
              <a:rPr lang="en-US" sz="2700" dirty="0"/>
              <a:t>However, the law of supply and demand makes clear:</a:t>
            </a:r>
          </a:p>
          <a:p>
            <a:pPr lvl="1">
              <a:buClr>
                <a:schemeClr val="accent2"/>
              </a:buClr>
            </a:pPr>
            <a:r>
              <a:rPr lang="en-US" sz="2500" dirty="0"/>
              <a:t>When the supply of workers exceeds the demand for a specific job classification in a specific geographic area, an increase in unemployment and a decrease in salaries are likely.</a:t>
            </a:r>
          </a:p>
        </p:txBody>
      </p:sp>
      <p:sp>
        <p:nvSpPr>
          <p:cNvPr id="3" name="Title 2"/>
          <p:cNvSpPr>
            <a:spLocks noGrp="1"/>
          </p:cNvSpPr>
          <p:nvPr>
            <p:ph type="title"/>
          </p:nvPr>
        </p:nvSpPr>
        <p:spPr>
          <a:xfrm>
            <a:off x="762000" y="292766"/>
            <a:ext cx="8026400" cy="523220"/>
          </a:xfrm>
        </p:spPr>
        <p:txBody>
          <a:bodyPr/>
          <a:lstStyle/>
          <a:p>
            <a:r>
              <a:rPr lang="en-US" sz="4000" dirty="0"/>
              <a:t>Effects of H1-B Visa Program</a:t>
            </a:r>
            <a:r>
              <a:rPr lang="en-US" dirty="0"/>
              <a:t>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53628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272213"/>
          </a:xfrm>
        </p:spPr>
        <p:txBody>
          <a:bodyPr/>
          <a:lstStyle/>
          <a:p>
            <a:r>
              <a:rPr lang="en-US" sz="2800" dirty="0" err="1"/>
              <a:t>Dış</a:t>
            </a:r>
            <a:r>
              <a:rPr lang="en-US" sz="2800" dirty="0"/>
              <a:t> Kaynak </a:t>
            </a:r>
            <a:r>
              <a:rPr lang="en-US" sz="2800" dirty="0" err="1"/>
              <a:t>Kullanımı</a:t>
            </a:r>
            <a:r>
              <a:rPr lang="en-US" sz="2800" dirty="0"/>
              <a:t>: Bir </a:t>
            </a:r>
            <a:r>
              <a:rPr lang="en-US" sz="2800" dirty="0" err="1"/>
              <a:t>şirketin</a:t>
            </a:r>
            <a:r>
              <a:rPr lang="en-US" sz="2800" dirty="0"/>
              <a:t> </a:t>
            </a:r>
            <a:r>
              <a:rPr lang="en-US" sz="2800" dirty="0" err="1"/>
              <a:t>belirli</a:t>
            </a:r>
            <a:r>
              <a:rPr lang="en-US" sz="2800" dirty="0"/>
              <a:t> </a:t>
            </a:r>
            <a:r>
              <a:rPr lang="en-US" sz="2800" dirty="0" err="1"/>
              <a:t>bir</a:t>
            </a:r>
            <a:r>
              <a:rPr lang="en-US" sz="2800" dirty="0"/>
              <a:t> </a:t>
            </a:r>
            <a:r>
              <a:rPr lang="en-US" sz="2800" dirty="0" err="1"/>
              <a:t>işlevde</a:t>
            </a:r>
            <a:r>
              <a:rPr lang="en-US" sz="2800" dirty="0"/>
              <a:t> </a:t>
            </a:r>
            <a:r>
              <a:rPr lang="en-US" sz="2800" dirty="0" err="1"/>
              <a:t>uzmanlığa</a:t>
            </a:r>
            <a:r>
              <a:rPr lang="en-US" sz="2800" dirty="0"/>
              <a:t> </a:t>
            </a:r>
            <a:r>
              <a:rPr lang="en-US" sz="2800" dirty="0" err="1"/>
              <a:t>sahip</a:t>
            </a:r>
            <a:r>
              <a:rPr lang="en-US" sz="2800" dirty="0"/>
              <a:t> </a:t>
            </a:r>
            <a:r>
              <a:rPr lang="en-US" sz="2800" dirty="0" err="1"/>
              <a:t>bir</a:t>
            </a:r>
            <a:r>
              <a:rPr lang="en-US" sz="2800" dirty="0"/>
              <a:t> </a:t>
            </a:r>
            <a:r>
              <a:rPr lang="en-US" sz="2800" dirty="0" err="1"/>
              <a:t>dış</a:t>
            </a:r>
            <a:r>
              <a:rPr lang="en-US" sz="2800" dirty="0"/>
              <a:t> </a:t>
            </a:r>
            <a:r>
              <a:rPr lang="en-US" sz="2800" dirty="0" err="1"/>
              <a:t>kuruluşla</a:t>
            </a:r>
            <a:r>
              <a:rPr lang="en-US" sz="2800" dirty="0"/>
              <a:t> </a:t>
            </a:r>
            <a:r>
              <a:rPr lang="en-US" sz="2800" dirty="0" err="1"/>
              <a:t>hizmetler</a:t>
            </a:r>
            <a:r>
              <a:rPr lang="en-US" sz="2800" dirty="0"/>
              <a:t> için </a:t>
            </a:r>
            <a:r>
              <a:rPr lang="en-US" sz="2800" dirty="0" err="1"/>
              <a:t>sözleşme</a:t>
            </a:r>
            <a:r>
              <a:rPr lang="en-US" sz="2800" dirty="0"/>
              <a:t> </a:t>
            </a:r>
            <a:r>
              <a:rPr lang="en-US" sz="2800" dirty="0" err="1"/>
              <a:t>yaptığı</a:t>
            </a:r>
            <a:r>
              <a:rPr lang="en-US" sz="2800" dirty="0"/>
              <a:t> </a:t>
            </a:r>
            <a:r>
              <a:rPr lang="en-US" sz="2800" dirty="0" err="1"/>
              <a:t>uzun</a:t>
            </a:r>
            <a:r>
              <a:rPr lang="en-US" sz="2800" dirty="0"/>
              <a:t> </a:t>
            </a:r>
            <a:r>
              <a:rPr lang="en-US" sz="2800" dirty="0" err="1"/>
              <a:t>vadeli</a:t>
            </a:r>
            <a:r>
              <a:rPr lang="en-US" sz="2800" dirty="0"/>
              <a:t> </a:t>
            </a:r>
            <a:r>
              <a:rPr lang="en-US" sz="2800" dirty="0" err="1"/>
              <a:t>bir</a:t>
            </a:r>
            <a:r>
              <a:rPr lang="en-US" sz="2800" dirty="0"/>
              <a:t> </a:t>
            </a:r>
            <a:r>
              <a:rPr lang="en-US" sz="2800" dirty="0" err="1"/>
              <a:t>iş</a:t>
            </a:r>
            <a:r>
              <a:rPr lang="en-US" sz="2800" dirty="0"/>
              <a:t> </a:t>
            </a:r>
            <a:r>
              <a:rPr lang="en-US" sz="2800" dirty="0" err="1"/>
              <a:t>düzenlemesi</a:t>
            </a:r>
            <a:r>
              <a:rPr lang="en-US" sz="2800" dirty="0"/>
              <a:t>
</a:t>
            </a:r>
            <a:r>
              <a:rPr lang="en-US" sz="2800" dirty="0" err="1"/>
              <a:t>Maliyetleri</a:t>
            </a:r>
            <a:r>
              <a:rPr lang="en-US" sz="2800" dirty="0"/>
              <a:t> </a:t>
            </a:r>
            <a:r>
              <a:rPr lang="en-US" sz="2800" dirty="0" err="1"/>
              <a:t>düşürmek</a:t>
            </a:r>
            <a:r>
              <a:rPr lang="en-US" sz="2800" dirty="0"/>
              <a:t> için 
</a:t>
            </a:r>
            <a:r>
              <a:rPr lang="en-US" sz="2800" dirty="0" err="1"/>
              <a:t>Stratejik</a:t>
            </a:r>
            <a:r>
              <a:rPr lang="en-US" sz="2800" dirty="0"/>
              <a:t> </a:t>
            </a:r>
            <a:r>
              <a:rPr lang="en-US" sz="2800" dirty="0" err="1"/>
              <a:t>esneklik</a:t>
            </a:r>
            <a:r>
              <a:rPr lang="en-US" sz="2800" dirty="0"/>
              <a:t> </a:t>
            </a:r>
            <a:r>
              <a:rPr lang="en-US" sz="2800" dirty="0" err="1"/>
              <a:t>elde</a:t>
            </a:r>
            <a:r>
              <a:rPr lang="en-US" sz="2800" dirty="0"/>
              <a:t> </a:t>
            </a:r>
            <a:r>
              <a:rPr lang="en-US" sz="2800" dirty="0" err="1"/>
              <a:t>etmek</a:t>
            </a:r>
            <a:r>
              <a:rPr lang="en-US" sz="2800" dirty="0"/>
              <a:t>
</a:t>
            </a:r>
            <a:r>
              <a:rPr lang="en-US" sz="2800" dirty="0" err="1"/>
              <a:t>Firma</a:t>
            </a:r>
            <a:r>
              <a:rPr lang="en-US" sz="2800" dirty="0"/>
              <a:t> </a:t>
            </a:r>
            <a:r>
              <a:rPr lang="en-US" sz="2800" dirty="0" err="1"/>
              <a:t>personelinin</a:t>
            </a:r>
            <a:r>
              <a:rPr lang="en-US" sz="2800" dirty="0"/>
              <a:t> </a:t>
            </a:r>
            <a:r>
              <a:rPr lang="en-US" sz="2800" dirty="0" err="1"/>
              <a:t>temel</a:t>
            </a:r>
            <a:r>
              <a:rPr lang="en-US" sz="2800" dirty="0"/>
              <a:t> </a:t>
            </a:r>
            <a:r>
              <a:rPr lang="en-US" sz="2800" dirty="0" err="1"/>
              <a:t>yetkinliklere</a:t>
            </a:r>
            <a:r>
              <a:rPr lang="en-US" sz="2800" dirty="0"/>
              <a:t> </a:t>
            </a:r>
            <a:r>
              <a:rPr lang="en-US" sz="2800" dirty="0" err="1"/>
              <a:t>odaklanmasını</a:t>
            </a:r>
            <a:r>
              <a:rPr lang="en-US" sz="2800" dirty="0"/>
              <a:t> </a:t>
            </a:r>
            <a:r>
              <a:rPr lang="en-US" sz="2800" dirty="0" err="1"/>
              <a:t>sağlamak</a:t>
            </a:r>
            <a:r>
              <a:rPr lang="en-US" sz="2800" dirty="0"/>
              <a:t>
Offshore </a:t>
            </a:r>
            <a:r>
              <a:rPr lang="en-US" sz="2800" dirty="0" err="1"/>
              <a:t>dış</a:t>
            </a:r>
            <a:r>
              <a:rPr lang="en-US" sz="2800" dirty="0"/>
              <a:t> </a:t>
            </a:r>
            <a:r>
              <a:rPr lang="en-US" sz="2800" dirty="0" err="1"/>
              <a:t>kaynak</a:t>
            </a:r>
            <a:r>
              <a:rPr lang="en-US" sz="2800" dirty="0"/>
              <a:t> </a:t>
            </a:r>
            <a:r>
              <a:rPr lang="en-US" sz="2800" dirty="0" err="1"/>
              <a:t>kullanımı</a:t>
            </a:r>
            <a:r>
              <a:rPr lang="en-US" sz="2800" dirty="0"/>
              <a:t>: </a:t>
            </a:r>
            <a:r>
              <a:rPr lang="en-US" sz="2800" dirty="0" err="1"/>
              <a:t>Çalışanları</a:t>
            </a:r>
            <a:r>
              <a:rPr lang="en-US" sz="2800" dirty="0"/>
              <a:t> </a:t>
            </a:r>
            <a:r>
              <a:rPr lang="en-US" sz="2800" dirty="0" err="1"/>
              <a:t>yabancı</a:t>
            </a:r>
            <a:r>
              <a:rPr lang="en-US" sz="2800" dirty="0"/>
              <a:t> </a:t>
            </a:r>
            <a:r>
              <a:rPr lang="en-US" sz="2800" dirty="0" err="1"/>
              <a:t>bir</a:t>
            </a:r>
            <a:r>
              <a:rPr lang="en-US" sz="2800" dirty="0"/>
              <a:t> </a:t>
            </a:r>
            <a:r>
              <a:rPr lang="en-US" sz="2800" dirty="0" err="1"/>
              <a:t>ülkede</a:t>
            </a:r>
            <a:r>
              <a:rPr lang="en-US" sz="2800" dirty="0"/>
              <a:t> </a:t>
            </a:r>
            <a:r>
              <a:rPr lang="en-US" sz="2800" dirty="0" err="1"/>
              <a:t>bulunan</a:t>
            </a:r>
            <a:r>
              <a:rPr lang="en-US" sz="2800" dirty="0"/>
              <a:t> </a:t>
            </a:r>
            <a:r>
              <a:rPr lang="en-US" sz="2800" dirty="0" err="1"/>
              <a:t>bir</a:t>
            </a:r>
            <a:r>
              <a:rPr lang="en-US" sz="2800" dirty="0"/>
              <a:t> </a:t>
            </a:r>
            <a:r>
              <a:rPr lang="en-US" sz="2800" dirty="0" err="1"/>
              <a:t>kuruluş</a:t>
            </a:r>
            <a:r>
              <a:rPr lang="en-US" sz="2800" dirty="0"/>
              <a:t> </a:t>
            </a:r>
            <a:r>
              <a:rPr lang="en-US" sz="2800" dirty="0" err="1"/>
              <a:t>tarafından</a:t>
            </a:r>
            <a:r>
              <a:rPr lang="en-US" sz="2800" dirty="0"/>
              <a:t> </a:t>
            </a:r>
            <a:r>
              <a:rPr lang="en-US" sz="2800" dirty="0" err="1"/>
              <a:t>hizmetlerin</a:t>
            </a:r>
            <a:r>
              <a:rPr lang="en-US" sz="2800" dirty="0"/>
              <a:t> </a:t>
            </a:r>
            <a:r>
              <a:rPr lang="en-US" sz="2800" dirty="0" err="1"/>
              <a:t>sağlandığı</a:t>
            </a:r>
            <a:r>
              <a:rPr lang="en-US" sz="2800" dirty="0"/>
              <a:t> </a:t>
            </a:r>
            <a:r>
              <a:rPr lang="en-US" sz="2800" dirty="0" err="1"/>
              <a:t>bir</a:t>
            </a:r>
            <a:r>
              <a:rPr lang="en-US" sz="2800" dirty="0"/>
              <a:t> </a:t>
            </a:r>
            <a:r>
              <a:rPr lang="en-US" sz="2800" dirty="0" err="1"/>
              <a:t>dış</a:t>
            </a:r>
            <a:r>
              <a:rPr lang="en-US" sz="2800" dirty="0"/>
              <a:t> </a:t>
            </a:r>
            <a:r>
              <a:rPr lang="en-US" sz="2800" dirty="0" err="1"/>
              <a:t>kaynak</a:t>
            </a:r>
            <a:r>
              <a:rPr lang="en-US" sz="2800" dirty="0"/>
              <a:t> </a:t>
            </a:r>
            <a:r>
              <a:rPr lang="en-US" sz="2800" dirty="0" err="1"/>
              <a:t>kullanımı</a:t>
            </a:r>
            <a:r>
              <a:rPr lang="en-US" sz="2800" dirty="0"/>
              <a:t> </a:t>
            </a:r>
            <a:r>
              <a:rPr lang="en-US" sz="2800" dirty="0" err="1"/>
              <a:t>şekli</a:t>
            </a:r>
            <a:r>
              <a:rPr lang="en-US" sz="2800" dirty="0"/>
              <a:t>
BT </a:t>
            </a:r>
            <a:r>
              <a:rPr lang="en-US" sz="2800" dirty="0" err="1"/>
              <a:t>alanında</a:t>
            </a:r>
            <a:r>
              <a:rPr lang="en-US" sz="2800" dirty="0"/>
              <a:t> offshore </a:t>
            </a:r>
            <a:r>
              <a:rPr lang="en-US" sz="2800" dirty="0" err="1"/>
              <a:t>dış</a:t>
            </a:r>
            <a:r>
              <a:rPr lang="en-US" sz="2800" dirty="0"/>
              <a:t> </a:t>
            </a:r>
            <a:r>
              <a:rPr lang="en-US" sz="2800" dirty="0" err="1"/>
              <a:t>kaynak</a:t>
            </a:r>
            <a:r>
              <a:rPr lang="en-US" sz="2800" dirty="0"/>
              <a:t> </a:t>
            </a:r>
            <a:r>
              <a:rPr lang="en-US" sz="2800" dirty="0" err="1"/>
              <a:t>kullanımı</a:t>
            </a:r>
            <a:r>
              <a:rPr lang="en-US" sz="2800" dirty="0"/>
              <a:t> </a:t>
            </a:r>
            <a:r>
              <a:rPr lang="en-US" sz="2800" dirty="0" err="1"/>
              <a:t>yaygındır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Dış</a:t>
            </a:r>
            <a:r>
              <a:rPr lang="en-US" sz="4000" dirty="0"/>
              <a:t> Kaynak </a:t>
            </a:r>
            <a:r>
              <a:rPr lang="en-US" sz="4000" dirty="0" err="1"/>
              <a:t>Kullanımı</a:t>
            </a:r>
            <a:r>
              <a:rPr lang="en-US" sz="4000" dirty="0"/>
              <a:t>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3218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his table lists some pros and cons of using offshore outsourcing:&#10;&#10;Pros:&#10;Cost savings gained by employing foreign workers&#10;Teams working in different time zones: Can speed up software development efforts and provide continuous support for key software applications&#10;&#10;Cons:&#10;Lay-offs of domestic staff&#10;Difficulty in finding a reputable vendor&#10;New time/resource costs: Select an offshore vendor, travel and communication, develop a good working relationship with the vendor&#10;Misunderstanding due to cultural and language differences&#10;Potential risks to customer data&#10;Does not advance the development of U.S. IT workers&#10;"/>
          <p:cNvGraphicFramePr>
            <a:graphicFrameLocks noGrp="1"/>
          </p:cNvGraphicFramePr>
          <p:nvPr>
            <p:ph idx="1"/>
            <p:extLst>
              <p:ext uri="{D42A27DB-BD31-4B8C-83A1-F6EECF244321}">
                <p14:modId xmlns:p14="http://schemas.microsoft.com/office/powerpoint/2010/main" val="1898209814"/>
              </p:ext>
            </p:extLst>
          </p:nvPr>
        </p:nvGraphicFramePr>
        <p:xfrm>
          <a:off x="457200" y="1143000"/>
          <a:ext cx="8153400" cy="531368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3417662741"/>
                    </a:ext>
                  </a:extLst>
                </a:gridCol>
                <a:gridCol w="4419600">
                  <a:extLst>
                    <a:ext uri="{9D8B030D-6E8A-4147-A177-3AD203B41FA5}">
                      <a16:colId xmlns:a16="http://schemas.microsoft.com/office/drawing/2014/main" val="932724666"/>
                    </a:ext>
                  </a:extLst>
                </a:gridCol>
              </a:tblGrid>
              <a:tr h="370840">
                <a:tc>
                  <a:txBody>
                    <a:bodyPr/>
                    <a:lstStyle/>
                    <a:p>
                      <a:r>
                        <a:rPr lang="en-US" sz="2400" dirty="0"/>
                        <a:t>Pros</a:t>
                      </a:r>
                    </a:p>
                  </a:txBody>
                  <a:tcPr/>
                </a:tc>
                <a:tc>
                  <a:txBody>
                    <a:bodyPr/>
                    <a:lstStyle/>
                    <a:p>
                      <a:r>
                        <a:rPr lang="en-US" sz="2400" dirty="0"/>
                        <a:t>Cons</a:t>
                      </a:r>
                    </a:p>
                  </a:txBody>
                  <a:tcPr/>
                </a:tc>
                <a:extLst>
                  <a:ext uri="{0D108BD9-81ED-4DB2-BD59-A6C34878D82A}">
                    <a16:rowId xmlns:a16="http://schemas.microsoft.com/office/drawing/2014/main" val="4035617924"/>
                  </a:ext>
                </a:extLst>
              </a:tr>
              <a:tr h="370840">
                <a:tc>
                  <a:txBody>
                    <a:bodyPr/>
                    <a:lstStyle/>
                    <a:p>
                      <a:pPr marL="342900" indent="-342900">
                        <a:spcBef>
                          <a:spcPts val="400"/>
                        </a:spcBef>
                        <a:buClr>
                          <a:schemeClr val="accent2"/>
                        </a:buClr>
                        <a:buFont typeface="Arial" panose="020B0604020202020204" pitchFamily="34" charset="0"/>
                        <a:buChar char="•"/>
                      </a:pPr>
                      <a:r>
                        <a:rPr lang="en-US" sz="2200" kern="1200" dirty="0" err="1">
                          <a:solidFill>
                            <a:schemeClr val="dk1"/>
                          </a:solidFill>
                          <a:effectLst/>
                          <a:latin typeface="+mn-lt"/>
                          <a:ea typeface="+mn-ea"/>
                          <a:cs typeface="+mn-cs"/>
                        </a:rPr>
                        <a:t>Yabancı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işçi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çalıştırarak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elde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edilen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maliyet</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tasarrufu</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Farklı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saat</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dilimlerinde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çalışan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ekipler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Yazılım</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geliştirme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çabalarını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hızlandırabilir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Önemli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yazılım</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uygulamaları</a:t>
                      </a:r>
                      <a:r>
                        <a:rPr lang="en-US" sz="2200" kern="1200" dirty="0">
                          <a:solidFill>
                            <a:schemeClr val="dk1"/>
                          </a:solidFill>
                          <a:effectLst/>
                          <a:latin typeface="+mn-lt"/>
                          <a:ea typeface="+mn-ea"/>
                          <a:cs typeface="+mn-cs"/>
                        </a:rPr>
                        <a:t> için </a:t>
                      </a:r>
                      <a:r>
                        <a:rPr lang="en-US" sz="2200" kern="1200" dirty="0" err="1">
                          <a:solidFill>
                            <a:schemeClr val="dk1"/>
                          </a:solidFill>
                          <a:effectLst/>
                          <a:latin typeface="+mn-lt"/>
                          <a:ea typeface="+mn-ea"/>
                          <a:cs typeface="+mn-cs"/>
                        </a:rPr>
                        <a:t>sürekli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destek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sağlayın</a:t>
                      </a:r>
                      <a:endParaRPr lang="en-US" dirty="0"/>
                    </a:p>
                  </a:txBody>
                  <a:tcPr/>
                </a:tc>
                <a:tc>
                  <a:txBody>
                    <a:bodyPr/>
                    <a:lstStyle/>
                    <a:p>
                      <a:pPr marL="342900" marR="0" lvl="0" indent="-34290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Char char="•"/>
                        <a:tabLst/>
                        <a:defRPr/>
                      </a:pPr>
                      <a:r>
                        <a:rPr lang="en-US" sz="2200" kern="1200" dirty="0" err="1">
                          <a:solidFill>
                            <a:schemeClr val="dk1"/>
                          </a:solidFill>
                          <a:effectLst/>
                          <a:latin typeface="+mn-lt"/>
                          <a:ea typeface="+mn-ea"/>
                          <a:cs typeface="+mn-cs"/>
                        </a:rPr>
                        <a:t>Yerli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personelin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işten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çıkarılması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Saygın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satıcı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bulmanın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zorluğu</a:t>
                      </a:r>
                      <a:r>
                        <a:rPr lang="en-US" sz="2200" kern="1200" dirty="0">
                          <a:solidFill>
                            <a:schemeClr val="dk1"/>
                          </a:solidFill>
                          <a:effectLst/>
                          <a:latin typeface="+mn-lt"/>
                          <a:ea typeface="+mn-ea"/>
                          <a:cs typeface="+mn-cs"/>
                        </a:rPr>
                        <a:t>
Yeni zaman/</a:t>
                      </a:r>
                      <a:r>
                        <a:rPr lang="en-US" sz="2200" kern="1200" dirty="0" err="1">
                          <a:solidFill>
                            <a:schemeClr val="dk1"/>
                          </a:solidFill>
                          <a:effectLst/>
                          <a:latin typeface="+mn-lt"/>
                          <a:ea typeface="+mn-ea"/>
                          <a:cs typeface="+mn-cs"/>
                        </a:rPr>
                        <a:t>kaynak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maliyetleri</a:t>
                      </a:r>
                      <a:r>
                        <a:rPr lang="en-US" sz="2200" kern="1200" dirty="0">
                          <a:solidFill>
                            <a:schemeClr val="dk1"/>
                          </a:solidFill>
                          <a:effectLst/>
                          <a:latin typeface="+mn-lt"/>
                          <a:ea typeface="+mn-ea"/>
                          <a:cs typeface="+mn-cs"/>
                        </a:rPr>
                        <a:t>:
Bir offshore </a:t>
                      </a:r>
                      <a:r>
                        <a:rPr lang="en-US" sz="2200" kern="1200" dirty="0" err="1">
                          <a:solidFill>
                            <a:schemeClr val="dk1"/>
                          </a:solidFill>
                          <a:effectLst/>
                          <a:latin typeface="+mn-lt"/>
                          <a:ea typeface="+mn-ea"/>
                          <a:cs typeface="+mn-cs"/>
                        </a:rPr>
                        <a:t>satıcı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seçmek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Seyahat</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ve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iletişim</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Satıcı</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ile</a:t>
                      </a:r>
                      <a:r>
                        <a:rPr lang="en-US" sz="2200" kern="1200" dirty="0">
                          <a:solidFill>
                            <a:schemeClr val="dk1"/>
                          </a:solidFill>
                          <a:effectLst/>
                          <a:latin typeface="+mn-lt"/>
                          <a:ea typeface="+mn-ea"/>
                          <a:cs typeface="+mn-cs"/>
                        </a:rPr>
                        <a:t> iyi </a:t>
                      </a:r>
                      <a:r>
                        <a:rPr lang="en-US" sz="2200" kern="1200" dirty="0" err="1">
                          <a:solidFill>
                            <a:schemeClr val="dk1"/>
                          </a:solidFill>
                          <a:effectLst/>
                          <a:latin typeface="+mn-lt"/>
                          <a:ea typeface="+mn-ea"/>
                          <a:cs typeface="+mn-cs"/>
                        </a:rPr>
                        <a:t>bir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çalışma</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ilişkisi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geliştirmek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Kültür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ve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dil</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farklılıklarından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kaynaklanan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yanlış</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anlamalar</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Müşteri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verilerine</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yönelik</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potansiyel</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riskler</a:t>
                      </a:r>
                      <a:r>
                        <a:rPr lang="en-US" sz="2200" kern="1200" dirty="0">
                          <a:solidFill>
                            <a:schemeClr val="dk1"/>
                          </a:solidFill>
                          <a:effectLst/>
                          <a:latin typeface="+mn-lt"/>
                          <a:ea typeface="+mn-ea"/>
                          <a:cs typeface="+mn-cs"/>
                        </a:rPr>
                        <a:t>
ABD BT </a:t>
                      </a:r>
                      <a:r>
                        <a:rPr lang="en-US" sz="2200" kern="1200" dirty="0" err="1">
                          <a:solidFill>
                            <a:schemeClr val="dk1"/>
                          </a:solidFill>
                          <a:effectLst/>
                          <a:latin typeface="+mn-lt"/>
                          <a:ea typeface="+mn-ea"/>
                          <a:cs typeface="+mn-cs"/>
                        </a:rPr>
                        <a:t>çalışanlarının</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gelişimini</a:t>
                      </a:r>
                      <a:r>
                        <a:rPr lang="en-US" sz="2200" kern="1200" dirty="0">
                          <a:solidFill>
                            <a:schemeClr val="dk1"/>
                          </a:solidFill>
                          <a:effectLst/>
                          <a:latin typeface="+mn-lt"/>
                          <a:ea typeface="+mn-ea"/>
                          <a:cs typeface="+mn-cs"/>
                        </a:rPr>
                        <a:t> </a:t>
                      </a:r>
                      <a:r>
                        <a:rPr lang="en-US" sz="2200" kern="1200" dirty="0" err="1">
                          <a:solidFill>
                            <a:schemeClr val="dk1"/>
                          </a:solidFill>
                          <a:effectLst/>
                          <a:latin typeface="+mn-lt"/>
                          <a:ea typeface="+mn-ea"/>
                          <a:cs typeface="+mn-cs"/>
                        </a:rPr>
                        <a:t>ilerletmez</a:t>
                      </a:r>
                      <a:endParaRPr lang="en-US" sz="2200" kern="1200" dirty="0">
                        <a:solidFill>
                          <a:schemeClr val="dk1"/>
                        </a:solidFill>
                        <a:effectLst/>
                        <a:latin typeface="+mn-lt"/>
                        <a:ea typeface="+mn-ea"/>
                        <a:cs typeface="+mn-cs"/>
                      </a:endParaRPr>
                    </a:p>
                  </a:txBody>
                  <a:tcPr/>
                </a:tc>
                <a:extLst>
                  <a:ext uri="{0D108BD9-81ED-4DB2-BD59-A6C34878D82A}">
                    <a16:rowId xmlns:a16="http://schemas.microsoft.com/office/drawing/2014/main" val="4095359839"/>
                  </a:ext>
                </a:extLst>
              </a:tr>
            </a:tbl>
          </a:graphicData>
        </a:graphic>
      </p:graphicFrame>
      <p:sp>
        <p:nvSpPr>
          <p:cNvPr id="3" name="Title 2"/>
          <p:cNvSpPr>
            <a:spLocks noGrp="1"/>
          </p:cNvSpPr>
          <p:nvPr>
            <p:ph type="title"/>
          </p:nvPr>
        </p:nvSpPr>
        <p:spPr>
          <a:xfrm>
            <a:off x="762000" y="28849"/>
            <a:ext cx="8026400" cy="1051057"/>
          </a:xfrm>
        </p:spPr>
        <p:txBody>
          <a:bodyPr/>
          <a:lstStyle/>
          <a:p>
            <a:r>
              <a:rPr lang="en-US" sz="4000" dirty="0"/>
              <a:t>Offshore </a:t>
            </a:r>
            <a:r>
              <a:rPr lang="en-US" sz="4000" dirty="0" err="1"/>
              <a:t>Dış</a:t>
            </a:r>
            <a:r>
              <a:rPr lang="en-US" sz="4000" dirty="0"/>
              <a:t> Kaynak </a:t>
            </a:r>
            <a:r>
              <a:rPr lang="en-US" sz="4000" dirty="0" err="1"/>
              <a:t>Kullanımının</a:t>
            </a:r>
            <a:r>
              <a:rPr lang="en-US" sz="4000" dirty="0"/>
              <a:t> </a:t>
            </a:r>
            <a:r>
              <a:rPr lang="en-US" sz="4000" dirty="0" err="1"/>
              <a:t>Artıları</a:t>
            </a:r>
            <a:r>
              <a:rPr lang="en-US" sz="4000" dirty="0"/>
              <a:t> </a:t>
            </a:r>
            <a:r>
              <a:rPr lang="en-US" sz="4000" dirty="0" err="1"/>
              <a:t>ve</a:t>
            </a:r>
            <a:r>
              <a:rPr lang="en-US" sz="4000" dirty="0"/>
              <a:t> </a:t>
            </a:r>
            <a:r>
              <a:rPr lang="en-US" sz="4000" dirty="0" err="1"/>
              <a:t>Eksileri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19062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044184"/>
          </a:xfrm>
        </p:spPr>
        <p:txBody>
          <a:bodyPr/>
          <a:lstStyle/>
          <a:p>
            <a:r>
              <a:rPr lang="en-US" sz="2800" dirty="0" err="1"/>
              <a:t>Dış</a:t>
            </a:r>
            <a:r>
              <a:rPr lang="en-US" sz="2800" dirty="0"/>
              <a:t> </a:t>
            </a:r>
            <a:r>
              <a:rPr lang="en-US" sz="2800" dirty="0" err="1"/>
              <a:t>kaynak</a:t>
            </a:r>
            <a:r>
              <a:rPr lang="en-US" sz="2800" dirty="0"/>
              <a:t> </a:t>
            </a:r>
            <a:r>
              <a:rPr lang="en-US" sz="2800" dirty="0" err="1"/>
              <a:t>firmasının</a:t>
            </a:r>
            <a:r>
              <a:rPr lang="en-US" sz="2800" dirty="0"/>
              <a:t> </a:t>
            </a:r>
            <a:r>
              <a:rPr lang="en-US" sz="2800" dirty="0" err="1"/>
              <a:t>şunları</a:t>
            </a:r>
            <a:r>
              <a:rPr lang="en-US" sz="2800" dirty="0"/>
              <a:t> </a:t>
            </a:r>
            <a:r>
              <a:rPr lang="en-US" sz="2800" dirty="0" err="1"/>
              <a:t>sağlayabileceğinden</a:t>
            </a:r>
            <a:r>
              <a:rPr lang="en-US" sz="2800" dirty="0"/>
              <a:t> </a:t>
            </a:r>
            <a:r>
              <a:rPr lang="en-US" sz="2800" dirty="0" err="1"/>
              <a:t>emin</a:t>
            </a:r>
            <a:r>
              <a:rPr lang="en-US" sz="2800" dirty="0"/>
              <a:t> </a:t>
            </a:r>
            <a:r>
              <a:rPr lang="en-US" sz="2800" dirty="0" err="1"/>
              <a:t>olun</a:t>
            </a:r>
            <a:r>
              <a:rPr lang="en-US" sz="2800" dirty="0"/>
              <a:t>:
</a:t>
            </a:r>
            <a:r>
              <a:rPr lang="en-US" sz="2800" dirty="0" err="1"/>
              <a:t>Gerekli</a:t>
            </a:r>
            <a:r>
              <a:rPr lang="en-US" sz="2800" dirty="0"/>
              <a:t> </a:t>
            </a:r>
            <a:r>
              <a:rPr lang="en-US" sz="2800" dirty="0" err="1"/>
              <a:t>teknolojilerde</a:t>
            </a:r>
            <a:r>
              <a:rPr lang="en-US" sz="2800" dirty="0"/>
              <a:t> </a:t>
            </a:r>
            <a:r>
              <a:rPr lang="en-US" sz="2800" dirty="0" err="1"/>
              <a:t>gerekli</a:t>
            </a:r>
            <a:r>
              <a:rPr lang="en-US" sz="2800" dirty="0"/>
              <a:t> </a:t>
            </a:r>
            <a:r>
              <a:rPr lang="en-US" sz="2800" dirty="0" err="1"/>
              <a:t>uzmanlığa</a:t>
            </a:r>
            <a:r>
              <a:rPr lang="en-US" sz="2800" dirty="0"/>
              <a:t> </a:t>
            </a:r>
            <a:r>
              <a:rPr lang="en-US" sz="2800" dirty="0" err="1"/>
              <a:t>sahip</a:t>
            </a:r>
            <a:r>
              <a:rPr lang="en-US" sz="2800" dirty="0"/>
              <a:t> </a:t>
            </a:r>
            <a:r>
              <a:rPr lang="en-US" sz="2800" dirty="0" err="1"/>
              <a:t>çalışanlar</a:t>
            </a:r>
            <a:r>
              <a:rPr lang="en-US" sz="2800" dirty="0"/>
              <a:t>
</a:t>
            </a:r>
            <a:r>
              <a:rPr lang="en-US" sz="2800" dirty="0" err="1"/>
              <a:t>İşverenin</a:t>
            </a:r>
            <a:r>
              <a:rPr lang="en-US" sz="2800" dirty="0"/>
              <a:t> ana </a:t>
            </a:r>
            <a:r>
              <a:rPr lang="en-US" sz="2800" dirty="0" err="1"/>
              <a:t>dilini</a:t>
            </a:r>
            <a:r>
              <a:rPr lang="en-US" sz="2800" dirty="0"/>
              <a:t> </a:t>
            </a:r>
            <a:r>
              <a:rPr lang="en-US" sz="2800" dirty="0" err="1"/>
              <a:t>konuşan</a:t>
            </a:r>
            <a:r>
              <a:rPr lang="en-US" sz="2800" dirty="0"/>
              <a:t> </a:t>
            </a:r>
            <a:r>
              <a:rPr lang="en-US" sz="2800" dirty="0" err="1"/>
              <a:t>bir</a:t>
            </a:r>
            <a:r>
              <a:rPr lang="en-US" sz="2800" dirty="0"/>
              <a:t> </a:t>
            </a:r>
            <a:r>
              <a:rPr lang="en-US" sz="2800" dirty="0" err="1"/>
              <a:t>proje</a:t>
            </a:r>
            <a:r>
              <a:rPr lang="en-US" sz="2800" dirty="0"/>
              <a:t> </a:t>
            </a:r>
            <a:r>
              <a:rPr lang="en-US" sz="2800" dirty="0" err="1"/>
              <a:t>yöneticisi</a:t>
            </a:r>
            <a:r>
              <a:rPr lang="en-US" sz="2800" dirty="0"/>
              <a:t>
</a:t>
            </a:r>
            <a:r>
              <a:rPr lang="en-US" sz="2800" dirty="0" err="1"/>
              <a:t>Projenin</a:t>
            </a:r>
            <a:r>
              <a:rPr lang="en-US" sz="2800" dirty="0"/>
              <a:t> </a:t>
            </a:r>
            <a:r>
              <a:rPr lang="en-US" sz="2800" dirty="0" err="1"/>
              <a:t>ihtiyaçlarını</a:t>
            </a:r>
            <a:r>
              <a:rPr lang="en-US" sz="2800" dirty="0"/>
              <a:t> </a:t>
            </a:r>
            <a:r>
              <a:rPr lang="en-US" sz="2800" dirty="0" err="1"/>
              <a:t>karşılayacak</a:t>
            </a:r>
            <a:r>
              <a:rPr lang="en-US" sz="2800" dirty="0"/>
              <a:t> </a:t>
            </a:r>
            <a:r>
              <a:rPr lang="en-US" sz="2800" dirty="0" err="1"/>
              <a:t>büyüklükte</a:t>
            </a:r>
            <a:r>
              <a:rPr lang="en-US" sz="2800" dirty="0"/>
              <a:t> </a:t>
            </a:r>
            <a:r>
              <a:rPr lang="en-US" sz="2800" dirty="0" err="1"/>
              <a:t>personel</a:t>
            </a:r>
            <a:r>
              <a:rPr lang="en-US" sz="2800" dirty="0"/>
              <a:t> </a:t>
            </a:r>
            <a:r>
              <a:rPr lang="en-US" sz="2800" dirty="0" err="1"/>
              <a:t>havuzu</a:t>
            </a:r>
            <a:r>
              <a:rPr lang="en-US" sz="2800" dirty="0"/>
              <a:t>
Son </a:t>
            </a:r>
            <a:r>
              <a:rPr lang="en-US" sz="2800" dirty="0" err="1"/>
              <a:t>teknoloji</a:t>
            </a:r>
            <a:r>
              <a:rPr lang="en-US" sz="2800" dirty="0"/>
              <a:t> </a:t>
            </a:r>
            <a:r>
              <a:rPr lang="en-US" sz="2800" dirty="0" err="1"/>
              <a:t>ürünü</a:t>
            </a:r>
            <a:r>
              <a:rPr lang="en-US" sz="2800" dirty="0"/>
              <a:t> </a:t>
            </a:r>
            <a:r>
              <a:rPr lang="en-US" sz="2800" dirty="0" err="1"/>
              <a:t>bir</a:t>
            </a:r>
            <a:r>
              <a:rPr lang="en-US" sz="2800" dirty="0"/>
              <a:t> </a:t>
            </a:r>
            <a:r>
              <a:rPr lang="en-US" sz="2800" dirty="0" err="1"/>
              <a:t>telekomünikasyon</a:t>
            </a:r>
            <a:r>
              <a:rPr lang="en-US" sz="2800" dirty="0"/>
              <a:t> </a:t>
            </a:r>
            <a:r>
              <a:rPr lang="en-US" sz="2800" dirty="0" err="1"/>
              <a:t>kurulumu</a:t>
            </a:r>
            <a:r>
              <a:rPr lang="en-US" sz="2800" dirty="0"/>
              <a:t>
</a:t>
            </a:r>
            <a:r>
              <a:rPr lang="en-US" sz="2800" dirty="0" err="1"/>
              <a:t>Yüksek</a:t>
            </a:r>
            <a:r>
              <a:rPr lang="en-US" sz="2800" dirty="0"/>
              <a:t> </a:t>
            </a:r>
            <a:r>
              <a:rPr lang="en-US" sz="2800" dirty="0" err="1"/>
              <a:t>kaliteli</a:t>
            </a:r>
            <a:r>
              <a:rPr lang="en-US" sz="2800" dirty="0"/>
              <a:t> </a:t>
            </a:r>
            <a:r>
              <a:rPr lang="en-US" sz="2800" dirty="0" err="1"/>
              <a:t>saha</a:t>
            </a:r>
            <a:r>
              <a:rPr lang="en-US" sz="2800" dirty="0"/>
              <a:t> </a:t>
            </a:r>
            <a:r>
              <a:rPr lang="en-US" sz="2800" dirty="0" err="1"/>
              <a:t>yöneticileri</a:t>
            </a:r>
            <a:r>
              <a:rPr lang="en-US" sz="2800" dirty="0"/>
              <a:t> </a:t>
            </a:r>
            <a:r>
              <a:rPr lang="en-US" sz="2800" dirty="0" err="1"/>
              <a:t>ve</a:t>
            </a:r>
            <a:r>
              <a:rPr lang="en-US" sz="2800" dirty="0"/>
              <a:t> </a:t>
            </a:r>
            <a:r>
              <a:rPr lang="en-US" sz="2800" dirty="0" err="1"/>
              <a:t>süpervizörleri</a:t>
            </a:r>
            <a:endParaRPr lang="en-US" dirty="0"/>
          </a:p>
        </p:txBody>
      </p:sp>
      <p:sp>
        <p:nvSpPr>
          <p:cNvPr id="3" name="Title 2"/>
          <p:cNvSpPr>
            <a:spLocks noGrp="1"/>
          </p:cNvSpPr>
          <p:nvPr>
            <p:ph type="title"/>
          </p:nvPr>
        </p:nvSpPr>
        <p:spPr>
          <a:xfrm>
            <a:off x="762000" y="81393"/>
            <a:ext cx="8026400" cy="945965"/>
          </a:xfrm>
        </p:spPr>
        <p:txBody>
          <a:bodyPr/>
          <a:lstStyle/>
          <a:p>
            <a:r>
              <a:rPr lang="en-US" sz="3600" dirty="0" err="1"/>
              <a:t>Başarılı</a:t>
            </a:r>
            <a:r>
              <a:rPr lang="en-US" sz="3600" dirty="0"/>
              <a:t> Offshore </a:t>
            </a:r>
            <a:r>
              <a:rPr lang="en-US" sz="3600" dirty="0" err="1"/>
              <a:t>Dış</a:t>
            </a:r>
            <a:r>
              <a:rPr lang="en-US" sz="3600" dirty="0"/>
              <a:t> Kaynak </a:t>
            </a:r>
            <a:r>
              <a:rPr lang="en-US" sz="3600" dirty="0" err="1"/>
              <a:t>Kullanımı</a:t>
            </a:r>
            <a:r>
              <a:rPr lang="en-US" sz="3600" dirty="0"/>
              <a:t> için </a:t>
            </a:r>
            <a:r>
              <a:rPr lang="en-US" sz="3600" dirty="0" err="1"/>
              <a:t>Stratejiler</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68987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88482"/>
            <a:ext cx="8415338" cy="4983718"/>
          </a:xfrm>
        </p:spPr>
        <p:txBody>
          <a:bodyPr/>
          <a:lstStyle/>
          <a:p>
            <a:pPr marL="365760" indent="-256032">
              <a:defRPr/>
            </a:pPr>
            <a:r>
              <a:rPr lang="en-US" altLang="en-US" sz="2800" dirty="0"/>
              <a:t>Bilgi </a:t>
            </a:r>
            <a:r>
              <a:rPr lang="en-US" altLang="en-US" sz="2800" dirty="0" err="1"/>
              <a:t>uçurma</a:t>
            </a:r>
            <a:r>
              <a:rPr lang="en-US" altLang="en-US" sz="2800" dirty="0"/>
              <a:t>: Bir </a:t>
            </a:r>
            <a:r>
              <a:rPr lang="en-US" altLang="en-US" sz="2800" dirty="0" err="1"/>
              <a:t>kuruluşun</a:t>
            </a:r>
            <a:r>
              <a:rPr lang="en-US" altLang="en-US" sz="2800" dirty="0"/>
              <a:t> </a:t>
            </a:r>
            <a:r>
              <a:rPr lang="en-US" altLang="en-US" sz="2800" dirty="0" err="1"/>
              <a:t>ihmalkar</a:t>
            </a:r>
            <a:r>
              <a:rPr lang="en-US" altLang="en-US" sz="2800" dirty="0"/>
              <a:t>, </a:t>
            </a:r>
            <a:r>
              <a:rPr lang="en-US" altLang="en-US" sz="2800" dirty="0" err="1"/>
              <a:t>yasa</a:t>
            </a:r>
            <a:r>
              <a:rPr lang="en-US" altLang="en-US" sz="2800" dirty="0"/>
              <a:t> </a:t>
            </a:r>
            <a:r>
              <a:rPr lang="en-US" altLang="en-US" sz="2800" dirty="0" err="1"/>
              <a:t>dışı</a:t>
            </a:r>
            <a:r>
              <a:rPr lang="en-US" altLang="en-US" sz="2800" dirty="0"/>
              <a:t>, </a:t>
            </a:r>
            <a:r>
              <a:rPr lang="en-US" altLang="en-US" sz="2800" dirty="0" err="1"/>
              <a:t>etik</a:t>
            </a:r>
            <a:r>
              <a:rPr lang="en-US" altLang="en-US" sz="2800" dirty="0"/>
              <a:t> </a:t>
            </a:r>
            <a:r>
              <a:rPr lang="en-US" altLang="en-US" sz="2800" dirty="0" err="1"/>
              <a:t>dışı</a:t>
            </a:r>
            <a:r>
              <a:rPr lang="en-US" altLang="en-US" sz="2800" dirty="0"/>
              <a:t>, </a:t>
            </a:r>
            <a:r>
              <a:rPr lang="en-US" altLang="en-US" sz="2800" dirty="0" err="1"/>
              <a:t>taciz</a:t>
            </a:r>
            <a:r>
              <a:rPr lang="en-US" altLang="en-US" sz="2800" dirty="0"/>
              <a:t> </a:t>
            </a:r>
            <a:r>
              <a:rPr lang="en-US" altLang="en-US" sz="2800" dirty="0" err="1"/>
              <a:t>edici</a:t>
            </a:r>
            <a:r>
              <a:rPr lang="en-US" altLang="en-US" sz="2800" dirty="0"/>
              <a:t> </a:t>
            </a:r>
            <a:r>
              <a:rPr lang="en-US" altLang="en-US" sz="2800" dirty="0" err="1"/>
              <a:t>veya</a:t>
            </a:r>
            <a:r>
              <a:rPr lang="en-US" altLang="en-US" sz="2800" dirty="0"/>
              <a:t> </a:t>
            </a:r>
            <a:r>
              <a:rPr lang="en-US" altLang="en-US" sz="2800" dirty="0" err="1"/>
              <a:t>tehlikeli</a:t>
            </a:r>
            <a:r>
              <a:rPr lang="en-US" altLang="en-US" sz="2800" dirty="0"/>
              <a:t> </a:t>
            </a:r>
            <a:r>
              <a:rPr lang="en-US" altLang="en-US" sz="2800" dirty="0" err="1"/>
              <a:t>bir</a:t>
            </a:r>
            <a:r>
              <a:rPr lang="en-US" altLang="en-US" sz="2800" dirty="0"/>
              <a:t> </a:t>
            </a:r>
            <a:r>
              <a:rPr lang="en-US" altLang="en-US" sz="2800" dirty="0" err="1"/>
              <a:t>eylemine</a:t>
            </a:r>
            <a:r>
              <a:rPr lang="en-US" altLang="en-US" sz="2800" dirty="0"/>
              <a:t> </a:t>
            </a:r>
            <a:r>
              <a:rPr lang="en-US" altLang="en-US" sz="2800" dirty="0" err="1"/>
              <a:t>kamuoyunun</a:t>
            </a:r>
            <a:r>
              <a:rPr lang="en-US" altLang="en-US" sz="2800" dirty="0"/>
              <a:t> </a:t>
            </a:r>
            <a:r>
              <a:rPr lang="en-US" altLang="en-US" sz="2800" dirty="0" err="1"/>
              <a:t>dikkatini</a:t>
            </a:r>
            <a:r>
              <a:rPr lang="en-US" altLang="en-US" sz="2800" dirty="0"/>
              <a:t> </a:t>
            </a:r>
            <a:r>
              <a:rPr lang="en-US" altLang="en-US" sz="2800" dirty="0" err="1"/>
              <a:t>çekme</a:t>
            </a:r>
            <a:r>
              <a:rPr lang="en-US" altLang="en-US" sz="2800" dirty="0"/>
              <a:t> </a:t>
            </a:r>
            <a:r>
              <a:rPr lang="en-US" altLang="en-US" sz="2800" dirty="0" err="1"/>
              <a:t>çabası</a:t>
            </a:r>
            <a:r>
              <a:rPr lang="en-US" altLang="en-US" sz="2800" dirty="0"/>
              <a:t>
</a:t>
            </a:r>
            <a:r>
              <a:rPr lang="en-US" altLang="en-US" sz="2800" dirty="0" err="1"/>
              <a:t>İhbarcı</a:t>
            </a:r>
            <a:r>
              <a:rPr lang="en-US" altLang="en-US" sz="2800" dirty="0"/>
              <a:t>, </a:t>
            </a:r>
            <a:r>
              <a:rPr lang="en-US" altLang="en-US" sz="2800" dirty="0" err="1"/>
              <a:t>organizasyon</a:t>
            </a:r>
            <a:r>
              <a:rPr lang="en-US" altLang="en-US" sz="2800" dirty="0"/>
              <a:t> </a:t>
            </a:r>
            <a:r>
              <a:rPr lang="en-US" altLang="en-US" sz="2800" dirty="0" err="1"/>
              <a:t>içindeki</a:t>
            </a:r>
            <a:r>
              <a:rPr lang="en-US" altLang="en-US" sz="2800" dirty="0"/>
              <a:t> </a:t>
            </a:r>
            <a:r>
              <a:rPr lang="en-US" altLang="en-US" sz="2800" dirty="0" err="1"/>
              <a:t>rolü</a:t>
            </a:r>
            <a:r>
              <a:rPr lang="en-US" altLang="en-US" sz="2800" dirty="0"/>
              <a:t> </a:t>
            </a:r>
            <a:r>
              <a:rPr lang="en-US" altLang="en-US" sz="2800" dirty="0" err="1"/>
              <a:t>nedeniyle</a:t>
            </a:r>
            <a:r>
              <a:rPr lang="en-US" altLang="en-US" sz="2800" dirty="0"/>
              <a:t> </a:t>
            </a:r>
            <a:r>
              <a:rPr lang="en-US" altLang="en-US" sz="2800" dirty="0" err="1"/>
              <a:t>genellikle</a:t>
            </a:r>
            <a:r>
              <a:rPr lang="en-US" altLang="en-US" sz="2800" dirty="0"/>
              <a:t> </a:t>
            </a:r>
            <a:r>
              <a:rPr lang="en-US" altLang="en-US" sz="2800" dirty="0" err="1"/>
              <a:t>neler</a:t>
            </a:r>
            <a:r>
              <a:rPr lang="en-US" altLang="en-US" sz="2800" dirty="0"/>
              <a:t> </a:t>
            </a:r>
            <a:r>
              <a:rPr lang="en-US" altLang="en-US" sz="2800" dirty="0" err="1"/>
              <a:t>olup</a:t>
            </a:r>
            <a:r>
              <a:rPr lang="en-US" altLang="en-US" sz="2800" dirty="0"/>
              <a:t> </a:t>
            </a:r>
            <a:r>
              <a:rPr lang="en-US" altLang="en-US" sz="2800" dirty="0" err="1"/>
              <a:t>bittiğine</a:t>
            </a:r>
            <a:r>
              <a:rPr lang="en-US" altLang="en-US" sz="2800" dirty="0"/>
              <a:t> </a:t>
            </a:r>
            <a:r>
              <a:rPr lang="en-US" altLang="en-US" sz="2800" dirty="0" err="1"/>
              <a:t>dair</a:t>
            </a:r>
            <a:r>
              <a:rPr lang="en-US" altLang="en-US" sz="2800" dirty="0"/>
              <a:t> </a:t>
            </a:r>
            <a:r>
              <a:rPr lang="en-US" altLang="en-US" sz="2800" dirty="0" err="1"/>
              <a:t>kişisel</a:t>
            </a:r>
            <a:r>
              <a:rPr lang="en-US" altLang="en-US" sz="2800" dirty="0"/>
              <a:t> </a:t>
            </a:r>
            <a:r>
              <a:rPr lang="en-US" altLang="en-US" sz="2800" dirty="0" err="1"/>
              <a:t>bilgiye</a:t>
            </a:r>
            <a:r>
              <a:rPr lang="en-US" altLang="en-US" sz="2800" dirty="0"/>
              <a:t> </a:t>
            </a:r>
            <a:r>
              <a:rPr lang="en-US" altLang="en-US" sz="2800" dirty="0" err="1"/>
              <a:t>sahiptir</a:t>
            </a:r>
            <a:r>
              <a:rPr lang="en-US" altLang="en-US" sz="2800" dirty="0"/>
              <a:t>.
Bir </a:t>
            </a:r>
            <a:r>
              <a:rPr lang="en-US" altLang="en-US" sz="2800" dirty="0" err="1"/>
              <a:t>çalışan</a:t>
            </a:r>
            <a:r>
              <a:rPr lang="en-US" altLang="en-US" sz="2800" dirty="0"/>
              <a:t> </a:t>
            </a:r>
            <a:r>
              <a:rPr lang="en-US" altLang="en-US" sz="2800" dirty="0" err="1"/>
              <a:t>veya</a:t>
            </a:r>
            <a:r>
              <a:rPr lang="en-US" altLang="en-US" sz="2800" dirty="0"/>
              <a:t> </a:t>
            </a:r>
            <a:r>
              <a:rPr lang="en-US" altLang="en-US" sz="2800" dirty="0" err="1"/>
              <a:t>denetçi</a:t>
            </a:r>
            <a:r>
              <a:rPr lang="en-US" altLang="en-US" sz="2800" dirty="0"/>
              <a:t> </a:t>
            </a:r>
            <a:r>
              <a:rPr lang="en-US" altLang="en-US" sz="2800" dirty="0" err="1"/>
              <a:t>veya</a:t>
            </a:r>
            <a:r>
              <a:rPr lang="en-US" altLang="en-US" sz="2800" dirty="0"/>
              <a:t> </a:t>
            </a:r>
            <a:r>
              <a:rPr lang="en-US" altLang="en-US" sz="2800" dirty="0" err="1"/>
              <a:t>iş</a:t>
            </a:r>
            <a:r>
              <a:rPr lang="en-US" altLang="en-US" sz="2800" dirty="0"/>
              <a:t> </a:t>
            </a:r>
            <a:r>
              <a:rPr lang="en-US" altLang="en-US" sz="2800" dirty="0" err="1"/>
              <a:t>ortağı</a:t>
            </a:r>
            <a:r>
              <a:rPr lang="en-US" altLang="en-US" sz="2800" dirty="0"/>
              <a:t> </a:t>
            </a:r>
            <a:r>
              <a:rPr lang="en-US" altLang="en-US" sz="2800" dirty="0" err="1"/>
              <a:t>olarak</a:t>
            </a:r>
            <a:r>
              <a:rPr lang="en-US" altLang="en-US" sz="2800" dirty="0"/>
              <a:t> </a:t>
            </a:r>
            <a:r>
              <a:rPr lang="en-US" altLang="en-US" sz="2800" dirty="0" err="1"/>
              <a:t>bir</a:t>
            </a:r>
            <a:r>
              <a:rPr lang="en-US" altLang="en-US" sz="2800" dirty="0"/>
              <a:t> </a:t>
            </a:r>
            <a:r>
              <a:rPr lang="en-US" altLang="en-US" sz="2800" dirty="0" err="1"/>
              <a:t>pozisyondan</a:t>
            </a:r>
            <a:r>
              <a:rPr lang="en-US" altLang="en-US" sz="2800" dirty="0"/>
              <a:t> </a:t>
            </a:r>
            <a:r>
              <a:rPr lang="en-US" altLang="en-US" sz="2800" dirty="0" err="1"/>
              <a:t>edinilmiş</a:t>
            </a:r>
            <a:r>
              <a:rPr lang="en-US" altLang="en-US" sz="2800" dirty="0"/>
              <a:t> </a:t>
            </a:r>
            <a:r>
              <a:rPr lang="en-US" altLang="en-US" sz="2800" dirty="0" err="1"/>
              <a:t>özel</a:t>
            </a:r>
            <a:r>
              <a:rPr lang="en-US" altLang="en-US" sz="2800" dirty="0"/>
              <a:t> </a:t>
            </a:r>
            <a:r>
              <a:rPr lang="en-US" altLang="en-US" sz="2800" dirty="0" err="1"/>
              <a:t>bilgiye</a:t>
            </a:r>
            <a:r>
              <a:rPr lang="en-US" altLang="en-US" sz="2800" dirty="0"/>
              <a:t> </a:t>
            </a:r>
            <a:r>
              <a:rPr lang="en-US" altLang="en-US" sz="2800" dirty="0" err="1"/>
              <a:t>sahip</a:t>
            </a:r>
            <a:r>
              <a:rPr lang="en-US" altLang="en-US" sz="2800" dirty="0"/>
              <a:t> </a:t>
            </a:r>
            <a:r>
              <a:rPr lang="en-US" altLang="en-US" sz="2800" dirty="0" err="1"/>
              <a:t>bir</a:t>
            </a:r>
            <a:r>
              <a:rPr lang="en-US" altLang="en-US" sz="2800" dirty="0"/>
              <a:t> </a:t>
            </a:r>
            <a:r>
              <a:rPr lang="en-US" altLang="en-US" sz="2800" dirty="0" err="1"/>
              <a:t>kişi</a:t>
            </a:r>
            <a:r>
              <a:rPr lang="en-US" altLang="en-US" sz="2800" dirty="0"/>
              <a:t> </a:t>
            </a:r>
            <a:r>
              <a:rPr lang="en-US" altLang="en-US" sz="2800" dirty="0" err="1"/>
              <a:t>olabilir</a:t>
            </a:r>
            <a:r>
              <a:rPr lang="en-US" altLang="en-US" sz="2800" dirty="0"/>
              <a:t>
</a:t>
            </a:r>
            <a:r>
              <a:rPr lang="en-US" altLang="en-US" sz="2800" dirty="0" err="1"/>
              <a:t>Hiçbir</a:t>
            </a:r>
            <a:r>
              <a:rPr lang="en-US" altLang="en-US" sz="2800" dirty="0"/>
              <a:t> </a:t>
            </a:r>
            <a:r>
              <a:rPr lang="en-US" altLang="en-US" sz="2800" dirty="0" err="1"/>
              <a:t>kapsamlı</a:t>
            </a:r>
            <a:r>
              <a:rPr lang="en-US" altLang="en-US" sz="2800" dirty="0"/>
              <a:t> federal </a:t>
            </a:r>
            <a:r>
              <a:rPr lang="en-US" altLang="en-US" sz="2800" dirty="0" err="1"/>
              <a:t>yasa</a:t>
            </a:r>
            <a:r>
              <a:rPr lang="en-US" altLang="en-US" sz="2800" dirty="0"/>
              <a:t>, </a:t>
            </a:r>
            <a:r>
              <a:rPr lang="en-US" altLang="en-US" sz="2800" dirty="0" err="1"/>
              <a:t>muhbirleri</a:t>
            </a:r>
            <a:r>
              <a:rPr lang="en-US" altLang="en-US" sz="2800" dirty="0"/>
              <a:t> </a:t>
            </a:r>
            <a:r>
              <a:rPr lang="en-US" altLang="en-US" sz="2800" dirty="0" err="1"/>
              <a:t>misilleme</a:t>
            </a:r>
            <a:r>
              <a:rPr lang="en-US" altLang="en-US" sz="2800" dirty="0"/>
              <a:t> </a:t>
            </a:r>
            <a:r>
              <a:rPr lang="en-US" altLang="en-US" sz="2800" dirty="0" err="1"/>
              <a:t>eylemlerinden</a:t>
            </a:r>
            <a:r>
              <a:rPr lang="en-US" altLang="en-US" sz="2800" dirty="0"/>
              <a:t> </a:t>
            </a:r>
            <a:r>
              <a:rPr lang="en-US" altLang="en-US" sz="2800" dirty="0" err="1"/>
              <a:t>korumaz</a:t>
            </a:r>
            <a:r>
              <a:rPr lang="en-US" altLang="en-US" sz="2800" dirty="0"/>
              <a:t>.</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Bilgi </a:t>
            </a:r>
            <a:r>
              <a:rPr lang="en-US" sz="4000" dirty="0" err="1"/>
              <a:t>Uçurma</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76398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88482"/>
            <a:ext cx="8415338" cy="4145750"/>
          </a:xfrm>
        </p:spPr>
        <p:txBody>
          <a:bodyPr/>
          <a:lstStyle/>
          <a:p>
            <a:pPr marL="365760" indent="-256032">
              <a:defRPr/>
            </a:pPr>
            <a:r>
              <a:rPr lang="en-US" altLang="en-US" sz="2800" dirty="0" err="1"/>
              <a:t>Yanlış</a:t>
            </a:r>
            <a:r>
              <a:rPr lang="en-US" altLang="en-US" sz="2800" dirty="0"/>
              <a:t> </a:t>
            </a:r>
            <a:r>
              <a:rPr lang="en-US" altLang="en-US" sz="2800" dirty="0" err="1"/>
              <a:t>İddialar</a:t>
            </a:r>
            <a:r>
              <a:rPr lang="en-US" altLang="en-US" sz="2800" dirty="0"/>
              <a:t> </a:t>
            </a:r>
            <a:r>
              <a:rPr lang="en-US" altLang="en-US" sz="2800" dirty="0" err="1"/>
              <a:t>Yasası</a:t>
            </a:r>
            <a:r>
              <a:rPr lang="en-US" altLang="en-US" sz="2800" dirty="0"/>
              <a:t>: ABD </a:t>
            </a:r>
            <a:r>
              <a:rPr lang="en-US" altLang="en-US" sz="2800" dirty="0" err="1"/>
              <a:t>İç</a:t>
            </a:r>
            <a:r>
              <a:rPr lang="en-US" altLang="en-US" sz="2800" dirty="0"/>
              <a:t> </a:t>
            </a:r>
            <a:r>
              <a:rPr lang="en-US" altLang="en-US" sz="2800" dirty="0" err="1"/>
              <a:t>Savaşı</a:t>
            </a:r>
            <a:r>
              <a:rPr lang="en-US" altLang="en-US" sz="2800" dirty="0"/>
              <a:t> </a:t>
            </a:r>
            <a:r>
              <a:rPr lang="en-US" altLang="en-US" sz="2800" dirty="0" err="1"/>
              <a:t>sırasında</a:t>
            </a:r>
            <a:r>
              <a:rPr lang="en-US" altLang="en-US" sz="2800" dirty="0"/>
              <a:t> </a:t>
            </a:r>
            <a:r>
              <a:rPr lang="en-US" altLang="en-US" sz="2800" dirty="0" err="1"/>
              <a:t>Birlik</a:t>
            </a:r>
            <a:r>
              <a:rPr lang="en-US" altLang="en-US" sz="2800" dirty="0"/>
              <a:t> </a:t>
            </a:r>
            <a:r>
              <a:rPr lang="en-US" altLang="en-US" sz="2800" dirty="0" err="1"/>
              <a:t>Ordusu'na</a:t>
            </a:r>
            <a:r>
              <a:rPr lang="en-US" altLang="en-US" sz="2800" dirty="0"/>
              <a:t> </a:t>
            </a:r>
            <a:r>
              <a:rPr lang="en-US" altLang="en-US" sz="2800" dirty="0" err="1"/>
              <a:t>malzeme</a:t>
            </a:r>
            <a:r>
              <a:rPr lang="en-US" altLang="en-US" sz="2800" dirty="0"/>
              <a:t> </a:t>
            </a:r>
            <a:r>
              <a:rPr lang="en-US" altLang="en-US" sz="2800" dirty="0" err="1"/>
              <a:t>satan</a:t>
            </a:r>
            <a:r>
              <a:rPr lang="en-US" altLang="en-US" sz="2800" dirty="0"/>
              <a:t> </a:t>
            </a:r>
            <a:r>
              <a:rPr lang="en-US" altLang="en-US" sz="2800" dirty="0" err="1"/>
              <a:t>şirketler</a:t>
            </a:r>
            <a:r>
              <a:rPr lang="en-US" altLang="en-US" sz="2800" dirty="0"/>
              <a:t> </a:t>
            </a:r>
            <a:r>
              <a:rPr lang="en-US" altLang="en-US" sz="2800" dirty="0" err="1"/>
              <a:t>tarafından</a:t>
            </a:r>
            <a:r>
              <a:rPr lang="en-US" altLang="en-US" sz="2800" dirty="0"/>
              <a:t> </a:t>
            </a:r>
            <a:r>
              <a:rPr lang="en-US" altLang="en-US" sz="2800" dirty="0" err="1"/>
              <a:t>dolandırıcılıkla</a:t>
            </a:r>
            <a:r>
              <a:rPr lang="en-US" altLang="en-US" sz="2800" dirty="0"/>
              <a:t> </a:t>
            </a:r>
            <a:r>
              <a:rPr lang="en-US" altLang="en-US" sz="2800" dirty="0" err="1"/>
              <a:t>mücadele</a:t>
            </a:r>
            <a:r>
              <a:rPr lang="en-US" altLang="en-US" sz="2800" dirty="0"/>
              <a:t> </a:t>
            </a:r>
            <a:r>
              <a:rPr lang="en-US" altLang="en-US" sz="2800" dirty="0" err="1"/>
              <a:t>etmek</a:t>
            </a:r>
            <a:r>
              <a:rPr lang="en-US" altLang="en-US" sz="2800" dirty="0"/>
              <a:t> için </a:t>
            </a:r>
            <a:r>
              <a:rPr lang="en-US" altLang="en-US" sz="2800" dirty="0" err="1"/>
              <a:t>kurulmuştur</a:t>
            </a:r>
            <a:r>
              <a:rPr lang="en-US" altLang="en-US" sz="2800" dirty="0"/>
              <a:t>
Qui tam </a:t>
            </a:r>
            <a:r>
              <a:rPr lang="en-US" altLang="en-US" sz="2800" dirty="0" err="1"/>
              <a:t>hüküm</a:t>
            </a:r>
            <a:r>
              <a:rPr lang="en-US" altLang="en-US" sz="2800" dirty="0"/>
              <a:t>: Özel </a:t>
            </a:r>
            <a:r>
              <a:rPr lang="en-US" altLang="en-US" sz="2800" dirty="0" err="1"/>
              <a:t>bir</a:t>
            </a:r>
            <a:r>
              <a:rPr lang="en-US" altLang="en-US" sz="2800" dirty="0"/>
              <a:t> </a:t>
            </a:r>
            <a:r>
              <a:rPr lang="en-US" altLang="en-US" sz="2800" dirty="0" err="1"/>
              <a:t>vatandaşın</a:t>
            </a:r>
            <a:r>
              <a:rPr lang="en-US" altLang="en-US" sz="2800" dirty="0"/>
              <a:t> ABD </a:t>
            </a:r>
            <a:r>
              <a:rPr lang="en-US" altLang="en-US" sz="2800" dirty="0" err="1"/>
              <a:t>hükümeti</a:t>
            </a:r>
            <a:r>
              <a:rPr lang="en-US" altLang="en-US" sz="2800" dirty="0"/>
              <a:t> </a:t>
            </a:r>
            <a:r>
              <a:rPr lang="en-US" altLang="en-US" sz="2800" dirty="0" err="1"/>
              <a:t>adına</a:t>
            </a:r>
            <a:r>
              <a:rPr lang="en-US" altLang="en-US" sz="2800" dirty="0"/>
              <a:t> </a:t>
            </a:r>
            <a:r>
              <a:rPr lang="en-US" altLang="en-US" sz="2800" dirty="0" err="1"/>
              <a:t>dava</a:t>
            </a:r>
            <a:r>
              <a:rPr lang="en-US" altLang="en-US" sz="2800" dirty="0"/>
              <a:t> </a:t>
            </a:r>
            <a:r>
              <a:rPr lang="en-US" altLang="en-US" sz="2800" dirty="0" err="1"/>
              <a:t>açmasına</a:t>
            </a:r>
            <a:r>
              <a:rPr lang="en-US" altLang="en-US" sz="2800" dirty="0"/>
              <a:t> </a:t>
            </a:r>
            <a:r>
              <a:rPr lang="en-US" altLang="en-US" sz="2800" dirty="0" err="1"/>
              <a:t>ve</a:t>
            </a:r>
            <a:r>
              <a:rPr lang="en-US" altLang="en-US" sz="2800" dirty="0"/>
              <a:t> </a:t>
            </a:r>
            <a:r>
              <a:rPr lang="en-US" altLang="en-US" sz="2800" dirty="0" err="1"/>
              <a:t>devlet</a:t>
            </a:r>
            <a:r>
              <a:rPr lang="en-US" altLang="en-US" sz="2800" dirty="0"/>
              <a:t> </a:t>
            </a:r>
            <a:r>
              <a:rPr lang="en-US" altLang="en-US" sz="2800" dirty="0" err="1"/>
              <a:t>müteahhitleri</a:t>
            </a:r>
            <a:r>
              <a:rPr lang="en-US" altLang="en-US" sz="2800" dirty="0"/>
              <a:t> </a:t>
            </a:r>
            <a:r>
              <a:rPr lang="en-US" altLang="en-US" sz="2800" dirty="0" err="1"/>
              <a:t>tarafından</a:t>
            </a:r>
            <a:r>
              <a:rPr lang="en-US" altLang="en-US" sz="2800" dirty="0"/>
              <a:t> </a:t>
            </a:r>
            <a:r>
              <a:rPr lang="en-US" altLang="en-US" sz="2800" dirty="0" err="1"/>
              <a:t>dolandırıcılık</a:t>
            </a:r>
            <a:r>
              <a:rPr lang="en-US" altLang="en-US" sz="2800" dirty="0"/>
              <a:t> </a:t>
            </a:r>
            <a:r>
              <a:rPr lang="en-US" altLang="en-US" sz="2800" dirty="0" err="1"/>
              <a:t>suçlamasına</a:t>
            </a:r>
            <a:r>
              <a:rPr lang="en-US" altLang="en-US" sz="2800" dirty="0"/>
              <a:t> </a:t>
            </a:r>
            <a:r>
              <a:rPr lang="en-US" altLang="en-US" sz="2800" dirty="0" err="1"/>
              <a:t>izin</a:t>
            </a:r>
            <a:r>
              <a:rPr lang="en-US" altLang="en-US" sz="2800" dirty="0"/>
              <a:t> </a:t>
            </a:r>
            <a:r>
              <a:rPr lang="en-US" altLang="en-US" sz="2800" dirty="0" err="1"/>
              <a:t>verir</a:t>
            </a:r>
            <a:r>
              <a:rPr lang="en-US" altLang="en-US" sz="2800" dirty="0"/>
              <a:t>
</a:t>
            </a:r>
            <a:r>
              <a:rPr lang="en-US" altLang="en-US" sz="2800" dirty="0" err="1"/>
              <a:t>İhlal</a:t>
            </a:r>
            <a:r>
              <a:rPr lang="en-US" altLang="en-US" sz="2800" dirty="0"/>
              <a:t> </a:t>
            </a:r>
            <a:r>
              <a:rPr lang="en-US" altLang="en-US" sz="2800" dirty="0" err="1"/>
              <a:t>edenler</a:t>
            </a:r>
            <a:r>
              <a:rPr lang="en-US" altLang="en-US" sz="2800" dirty="0"/>
              <a:t>, </a:t>
            </a:r>
            <a:r>
              <a:rPr lang="en-US" altLang="en-US" sz="2800" dirty="0" err="1"/>
              <a:t>hükümetin</a:t>
            </a:r>
            <a:r>
              <a:rPr lang="en-US" altLang="en-US" sz="2800" dirty="0"/>
              <a:t> </a:t>
            </a:r>
            <a:r>
              <a:rPr lang="en-US" altLang="en-US" sz="2800" dirty="0" err="1"/>
              <a:t>dolandırıldığı</a:t>
            </a:r>
            <a:r>
              <a:rPr lang="en-US" altLang="en-US" sz="2800" dirty="0"/>
              <a:t> </a:t>
            </a:r>
            <a:r>
              <a:rPr lang="en-US" altLang="en-US" sz="2800" dirty="0" err="1"/>
              <a:t>dolar</a:t>
            </a:r>
            <a:r>
              <a:rPr lang="en-US" altLang="en-US" sz="2800" dirty="0"/>
              <a:t> </a:t>
            </a:r>
            <a:r>
              <a:rPr lang="en-US" altLang="en-US" sz="2800" dirty="0" err="1"/>
              <a:t>tutarının</a:t>
            </a:r>
            <a:r>
              <a:rPr lang="en-US" altLang="en-US" sz="2800" dirty="0"/>
              <a:t> </a:t>
            </a:r>
            <a:r>
              <a:rPr lang="en-US" altLang="en-US" sz="2800" dirty="0" err="1"/>
              <a:t>üç</a:t>
            </a:r>
            <a:r>
              <a:rPr lang="en-US" altLang="en-US" sz="2800" dirty="0"/>
              <a:t> </a:t>
            </a:r>
            <a:r>
              <a:rPr lang="en-US" altLang="en-US" sz="2800" dirty="0" err="1"/>
              <a:t>katından</a:t>
            </a:r>
            <a:r>
              <a:rPr lang="en-US" altLang="en-US" sz="2800" dirty="0"/>
              <a:t> </a:t>
            </a:r>
            <a:r>
              <a:rPr lang="en-US" altLang="en-US" sz="2800" dirty="0" err="1"/>
              <a:t>sorumludur</a:t>
            </a:r>
            <a:r>
              <a:rPr lang="en-US" altLang="en-US" sz="2800" dirty="0"/>
              <a:t>.
</a:t>
            </a:r>
            <a:r>
              <a:rPr lang="en-US" altLang="en-US" sz="2800" dirty="0" err="1"/>
              <a:t>İhbarcıya</a:t>
            </a:r>
            <a:r>
              <a:rPr lang="en-US" altLang="en-US" sz="2800" dirty="0"/>
              <a:t> </a:t>
            </a:r>
            <a:r>
              <a:rPr lang="en-US" altLang="en-US" sz="2800" dirty="0" err="1"/>
              <a:t>tazminat</a:t>
            </a:r>
            <a:r>
              <a:rPr lang="en-US" altLang="en-US" sz="2800" dirty="0"/>
              <a:t> </a:t>
            </a:r>
            <a:r>
              <a:rPr lang="en-US" altLang="en-US" sz="2800" dirty="0" err="1"/>
              <a:t>teklif</a:t>
            </a:r>
            <a:r>
              <a:rPr lang="en-US" altLang="en-US" sz="2800" dirty="0"/>
              <a:t> </a:t>
            </a:r>
            <a:r>
              <a:rPr lang="en-US" altLang="en-US" sz="2800" dirty="0" err="1"/>
              <a:t>edilir</a:t>
            </a:r>
            <a:r>
              <a:rPr lang="en-US" altLang="en-US" sz="2800" dirty="0"/>
              <a:t>.</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Bilgi </a:t>
            </a:r>
            <a:r>
              <a:rPr lang="en-US" sz="4000" dirty="0" err="1"/>
              <a:t>Uçurma</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21075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244513"/>
          </a:xfrm>
        </p:spPr>
        <p:txBody>
          <a:bodyPr/>
          <a:lstStyle/>
          <a:p>
            <a:r>
              <a:rPr lang="en-US" sz="2400" dirty="0" err="1"/>
              <a:t>İhbarcı</a:t>
            </a:r>
            <a:r>
              <a:rPr lang="en-US" sz="2400" dirty="0"/>
              <a:t> </a:t>
            </a:r>
            <a:r>
              <a:rPr lang="en-US" sz="2400" dirty="0" err="1"/>
              <a:t>olmayı</a:t>
            </a:r>
            <a:r>
              <a:rPr lang="en-US" sz="2400" dirty="0"/>
              <a:t> </a:t>
            </a:r>
            <a:r>
              <a:rPr lang="en-US" sz="2400" dirty="0" err="1"/>
              <a:t>düşünen</a:t>
            </a:r>
            <a:r>
              <a:rPr lang="en-US" sz="2400" dirty="0"/>
              <a:t> </a:t>
            </a:r>
            <a:r>
              <a:rPr lang="en-US" sz="2400" dirty="0" err="1"/>
              <a:t>herkes</a:t>
            </a:r>
            <a:r>
              <a:rPr lang="en-US" sz="2400" dirty="0"/>
              <a:t> </a:t>
            </a:r>
            <a:r>
              <a:rPr lang="en-US" sz="2400" dirty="0" err="1"/>
              <a:t>hukuk</a:t>
            </a:r>
            <a:r>
              <a:rPr lang="en-US" sz="2400" dirty="0"/>
              <a:t> </a:t>
            </a:r>
            <a:r>
              <a:rPr lang="en-US" sz="2400" dirty="0" err="1"/>
              <a:t>danışmanı</a:t>
            </a:r>
            <a:r>
              <a:rPr lang="en-US" sz="2400" dirty="0"/>
              <a:t> </a:t>
            </a:r>
            <a:r>
              <a:rPr lang="en-US" sz="2400" dirty="0" err="1"/>
              <a:t>aramalıdır</a:t>
            </a:r>
            <a:r>
              <a:rPr lang="en-US" sz="2400" dirty="0"/>
              <a:t>.
</a:t>
            </a:r>
            <a:r>
              <a:rPr lang="en-US" sz="2400" dirty="0" err="1"/>
              <a:t>Potansiyel</a:t>
            </a:r>
            <a:r>
              <a:rPr lang="en-US" sz="2400" dirty="0"/>
              <a:t> </a:t>
            </a:r>
            <a:r>
              <a:rPr lang="en-US" sz="2400" dirty="0" err="1"/>
              <a:t>bir</a:t>
            </a:r>
            <a:r>
              <a:rPr lang="en-US" sz="2400" dirty="0"/>
              <a:t> </a:t>
            </a:r>
            <a:r>
              <a:rPr lang="en-US" sz="2400" dirty="0" err="1"/>
              <a:t>ihbarcının</a:t>
            </a:r>
            <a:r>
              <a:rPr lang="en-US" sz="2400" dirty="0"/>
              <a:t> </a:t>
            </a:r>
            <a:r>
              <a:rPr lang="en-US" sz="2400" dirty="0" err="1"/>
              <a:t>dikkate</a:t>
            </a:r>
            <a:r>
              <a:rPr lang="en-US" sz="2400" dirty="0"/>
              <a:t> </a:t>
            </a:r>
            <a:r>
              <a:rPr lang="en-US" sz="2400" dirty="0" err="1"/>
              <a:t>alması</a:t>
            </a:r>
            <a:r>
              <a:rPr lang="en-US" sz="2400" dirty="0"/>
              <a:t> </a:t>
            </a:r>
            <a:r>
              <a:rPr lang="en-US" sz="2400" dirty="0" err="1"/>
              <a:t>gereken</a:t>
            </a:r>
            <a:r>
              <a:rPr lang="en-US" sz="2400" dirty="0"/>
              <a:t> </a:t>
            </a:r>
            <a:r>
              <a:rPr lang="en-US" sz="2400" dirty="0" err="1"/>
              <a:t>önemli</a:t>
            </a:r>
            <a:r>
              <a:rPr lang="en-US" sz="2400" dirty="0"/>
              <a:t> </a:t>
            </a:r>
            <a:r>
              <a:rPr lang="en-US" sz="2400" dirty="0" err="1"/>
              <a:t>adımlar</a:t>
            </a:r>
            <a:r>
              <a:rPr lang="en-US" sz="2400" dirty="0"/>
              <a:t> </a:t>
            </a:r>
            <a:r>
              <a:rPr lang="en-US" sz="2400" dirty="0" err="1"/>
              <a:t>ve</a:t>
            </a:r>
            <a:r>
              <a:rPr lang="en-US" sz="2400" dirty="0"/>
              <a:t> </a:t>
            </a:r>
            <a:r>
              <a:rPr lang="en-US" sz="2400" dirty="0" err="1"/>
              <a:t>konular</a:t>
            </a:r>
            <a:r>
              <a:rPr lang="en-US" sz="2400" dirty="0"/>
              <a:t>:
</a:t>
            </a:r>
            <a:r>
              <a:rPr lang="en-US" sz="2400" dirty="0" err="1"/>
              <a:t>Durumun</a:t>
            </a:r>
            <a:r>
              <a:rPr lang="en-US" sz="2400" dirty="0"/>
              <a:t> </a:t>
            </a:r>
            <a:r>
              <a:rPr lang="en-US" sz="2400" dirty="0" err="1"/>
              <a:t>ciddiyetini</a:t>
            </a:r>
            <a:r>
              <a:rPr lang="en-US" sz="2400" dirty="0"/>
              <a:t> </a:t>
            </a:r>
            <a:r>
              <a:rPr lang="en-US" sz="2400" dirty="0" err="1"/>
              <a:t>değerlendirin</a:t>
            </a:r>
            <a:r>
              <a:rPr lang="en-US" sz="2400" dirty="0"/>
              <a:t>
</a:t>
            </a:r>
            <a:r>
              <a:rPr lang="en-US" sz="2400" dirty="0" err="1"/>
              <a:t>Belgelere</a:t>
            </a:r>
            <a:r>
              <a:rPr lang="en-US" sz="2400" dirty="0"/>
              <a:t> </a:t>
            </a:r>
            <a:r>
              <a:rPr lang="en-US" sz="2400" dirty="0" err="1"/>
              <a:t>başla</a:t>
            </a:r>
            <a:r>
              <a:rPr lang="en-US" sz="2400" dirty="0"/>
              <a:t>
Durumu </a:t>
            </a:r>
            <a:r>
              <a:rPr lang="en-US" sz="2400" dirty="0" err="1"/>
              <a:t>dahili</a:t>
            </a:r>
            <a:r>
              <a:rPr lang="en-US" sz="2400" dirty="0"/>
              <a:t> </a:t>
            </a:r>
            <a:r>
              <a:rPr lang="en-US" sz="2400" dirty="0" err="1"/>
              <a:t>olarak</a:t>
            </a:r>
            <a:r>
              <a:rPr lang="en-US" sz="2400" dirty="0"/>
              <a:t> </a:t>
            </a:r>
            <a:r>
              <a:rPr lang="en-US" sz="2400" dirty="0" err="1"/>
              <a:t>ele</a:t>
            </a:r>
            <a:r>
              <a:rPr lang="en-US" sz="2400" dirty="0"/>
              <a:t> </a:t>
            </a:r>
            <a:r>
              <a:rPr lang="en-US" sz="2400" dirty="0" err="1"/>
              <a:t>almaya</a:t>
            </a:r>
            <a:r>
              <a:rPr lang="en-US" sz="2400" dirty="0"/>
              <a:t> </a:t>
            </a:r>
            <a:r>
              <a:rPr lang="en-US" sz="2400" dirty="0" err="1"/>
              <a:t>çalışın</a:t>
            </a:r>
            <a:r>
              <a:rPr lang="en-US" sz="2400" dirty="0"/>
              <a:t>
</a:t>
            </a:r>
            <a:r>
              <a:rPr lang="en-US" sz="2400" dirty="0" err="1"/>
              <a:t>Şirket</a:t>
            </a:r>
            <a:r>
              <a:rPr lang="en-US" sz="2400" dirty="0"/>
              <a:t> </a:t>
            </a:r>
            <a:r>
              <a:rPr lang="en-US" sz="2400" dirty="0" err="1"/>
              <a:t>içindeki</a:t>
            </a:r>
            <a:r>
              <a:rPr lang="en-US" sz="2400" dirty="0"/>
              <a:t> </a:t>
            </a:r>
            <a:r>
              <a:rPr lang="en-US" sz="2400" dirty="0" err="1"/>
              <a:t>durumu</a:t>
            </a:r>
            <a:r>
              <a:rPr lang="en-US" sz="2400" dirty="0"/>
              <a:t> </a:t>
            </a:r>
            <a:r>
              <a:rPr lang="en-US" sz="2400" dirty="0" err="1"/>
              <a:t>yükseltmeyi</a:t>
            </a:r>
            <a:r>
              <a:rPr lang="en-US" sz="2400" dirty="0"/>
              <a:t> </a:t>
            </a:r>
            <a:r>
              <a:rPr lang="en-US" sz="2400" dirty="0" err="1"/>
              <a:t>düşünün</a:t>
            </a:r>
            <a:r>
              <a:rPr lang="en-US" sz="2400" dirty="0"/>
              <a:t>
</a:t>
            </a:r>
            <a:r>
              <a:rPr lang="en-US" sz="2400" dirty="0" err="1"/>
              <a:t>İhbarcı</a:t>
            </a:r>
            <a:r>
              <a:rPr lang="en-US" sz="2400" dirty="0"/>
              <a:t> </a:t>
            </a:r>
            <a:r>
              <a:rPr lang="en-US" sz="2400" dirty="0" err="1"/>
              <a:t>olmanın</a:t>
            </a:r>
            <a:r>
              <a:rPr lang="en-US" sz="2400" dirty="0"/>
              <a:t> </a:t>
            </a:r>
            <a:r>
              <a:rPr lang="en-US" sz="2400" dirty="0" err="1"/>
              <a:t>sonuçlarını</a:t>
            </a:r>
            <a:r>
              <a:rPr lang="en-US" sz="2400" dirty="0"/>
              <a:t> </a:t>
            </a:r>
            <a:r>
              <a:rPr lang="en-US" sz="2400" dirty="0" err="1"/>
              <a:t>değerlendirin</a:t>
            </a:r>
            <a:r>
              <a:rPr lang="en-US" sz="2400" dirty="0"/>
              <a:t>
Bir </a:t>
            </a:r>
            <a:r>
              <a:rPr lang="en-US" sz="2400" dirty="0" err="1"/>
              <a:t>eylem</a:t>
            </a:r>
            <a:r>
              <a:rPr lang="en-US" sz="2400" dirty="0"/>
              <a:t> </a:t>
            </a:r>
            <a:r>
              <a:rPr lang="en-US" sz="2400" dirty="0" err="1"/>
              <a:t>planı</a:t>
            </a:r>
            <a:r>
              <a:rPr lang="en-US" sz="2400" dirty="0"/>
              <a:t> </a:t>
            </a:r>
            <a:r>
              <a:rPr lang="en-US" sz="2400" dirty="0" err="1"/>
              <a:t>geliştirmek</a:t>
            </a:r>
            <a:r>
              <a:rPr lang="en-US" sz="2400" dirty="0"/>
              <a:t> için </a:t>
            </a:r>
            <a:r>
              <a:rPr lang="en-US" sz="2400" dirty="0" err="1"/>
              <a:t>deneyimli</a:t>
            </a:r>
            <a:r>
              <a:rPr lang="en-US" sz="2400" dirty="0"/>
              <a:t> </a:t>
            </a:r>
            <a:r>
              <a:rPr lang="en-US" sz="2400" dirty="0" err="1"/>
              <a:t>kaynakları</a:t>
            </a:r>
            <a:r>
              <a:rPr lang="en-US" sz="2400" dirty="0"/>
              <a:t> </a:t>
            </a:r>
            <a:r>
              <a:rPr lang="en-US" sz="2400" dirty="0" err="1"/>
              <a:t>kullanın</a:t>
            </a:r>
            <a:r>
              <a:rPr lang="en-US" sz="2400" dirty="0"/>
              <a:t>
</a:t>
            </a:r>
            <a:r>
              <a:rPr lang="en-US" sz="2400" dirty="0" err="1"/>
              <a:t>Eylem</a:t>
            </a:r>
            <a:r>
              <a:rPr lang="en-US" sz="2400" dirty="0"/>
              <a:t> </a:t>
            </a:r>
            <a:r>
              <a:rPr lang="en-US" sz="2400" dirty="0" err="1"/>
              <a:t>planını</a:t>
            </a:r>
            <a:r>
              <a:rPr lang="en-US" sz="2400" dirty="0"/>
              <a:t> </a:t>
            </a:r>
            <a:r>
              <a:rPr lang="en-US" sz="2400" dirty="0" err="1"/>
              <a:t>uygulayın</a:t>
            </a:r>
            <a:r>
              <a:rPr lang="en-US" sz="2400" dirty="0"/>
              <a:t> 
</a:t>
            </a:r>
            <a:r>
              <a:rPr lang="en-US" sz="2400" dirty="0" err="1"/>
              <a:t>Sonuçlarla</a:t>
            </a:r>
            <a:r>
              <a:rPr lang="en-US" sz="2400" dirty="0"/>
              <a:t> </a:t>
            </a:r>
            <a:r>
              <a:rPr lang="en-US" sz="2400" dirty="0" err="1"/>
              <a:t>yaşa</a:t>
            </a:r>
            <a:endParaRPr lang="en-US" sz="2600" dirty="0"/>
          </a:p>
        </p:txBody>
      </p:sp>
      <p:sp>
        <p:nvSpPr>
          <p:cNvPr id="3" name="Title 2"/>
          <p:cNvSpPr>
            <a:spLocks noGrp="1"/>
          </p:cNvSpPr>
          <p:nvPr>
            <p:ph type="title"/>
          </p:nvPr>
        </p:nvSpPr>
        <p:spPr>
          <a:xfrm>
            <a:off x="762000" y="316844"/>
            <a:ext cx="8026400" cy="475066"/>
          </a:xfrm>
        </p:spPr>
        <p:txBody>
          <a:bodyPr/>
          <a:lstStyle/>
          <a:p>
            <a:r>
              <a:rPr lang="en-US" sz="3600" dirty="0"/>
              <a:t>Bilgi </a:t>
            </a:r>
            <a:r>
              <a:rPr lang="en-US" sz="3600" dirty="0" err="1"/>
              <a:t>Uçurma</a:t>
            </a:r>
            <a:r>
              <a:rPr lang="en-US" sz="3600" dirty="0"/>
              <a:t> </a:t>
            </a:r>
            <a:r>
              <a:rPr lang="en-US" sz="3600" dirty="0" err="1"/>
              <a:t>Durumuyla</a:t>
            </a:r>
            <a:r>
              <a:rPr lang="en-US" sz="3600" dirty="0"/>
              <a:t> </a:t>
            </a:r>
            <a:r>
              <a:rPr lang="en-US" sz="3600" dirty="0" err="1"/>
              <a:t>Başa</a:t>
            </a:r>
            <a:r>
              <a:rPr lang="en-US" sz="3600" dirty="0"/>
              <a:t> </a:t>
            </a:r>
            <a:r>
              <a:rPr lang="en-US" sz="3600" dirty="0" err="1"/>
              <a:t>Çıkmak</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35060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555093"/>
          </a:xfrm>
        </p:spPr>
        <p:txBody>
          <a:bodyPr/>
          <a:lstStyle/>
          <a:p>
            <a:r>
              <a:rPr lang="en-US" sz="2800" dirty="0" err="1"/>
              <a:t>Elektronik</a:t>
            </a:r>
            <a:r>
              <a:rPr lang="en-US" sz="2800" dirty="0"/>
              <a:t> </a:t>
            </a:r>
            <a:r>
              <a:rPr lang="en-US" sz="2800" dirty="0" err="1"/>
              <a:t>cihazlar</a:t>
            </a:r>
            <a:r>
              <a:rPr lang="en-US" sz="2800" dirty="0"/>
              <a:t>, </a:t>
            </a:r>
            <a:r>
              <a:rPr lang="en-US" sz="2800" dirty="0" err="1"/>
              <a:t>aşağıdakiler</a:t>
            </a:r>
            <a:r>
              <a:rPr lang="en-US" sz="2800" dirty="0"/>
              <a:t> de </a:t>
            </a:r>
            <a:r>
              <a:rPr lang="en-US" sz="2800" dirty="0" err="1"/>
              <a:t>dahil</a:t>
            </a:r>
            <a:r>
              <a:rPr lang="en-US" sz="2800" dirty="0"/>
              <a:t> </a:t>
            </a:r>
            <a:r>
              <a:rPr lang="en-US" sz="2800" dirty="0" err="1"/>
              <a:t>olmak</a:t>
            </a:r>
            <a:r>
              <a:rPr lang="en-US" sz="2800" dirty="0"/>
              <a:t> </a:t>
            </a:r>
            <a:r>
              <a:rPr lang="en-US" sz="2800" dirty="0" err="1"/>
              <a:t>üzere</a:t>
            </a:r>
            <a:r>
              <a:rPr lang="en-US" sz="2800" dirty="0"/>
              <a:t> </a:t>
            </a:r>
            <a:r>
              <a:rPr lang="en-US" sz="2800" dirty="0" err="1"/>
              <a:t>insanlar</a:t>
            </a:r>
            <a:r>
              <a:rPr lang="en-US" sz="2800" dirty="0"/>
              <a:t> </a:t>
            </a:r>
            <a:r>
              <a:rPr lang="en-US" sz="2800" dirty="0" err="1"/>
              <a:t>ve</a:t>
            </a:r>
            <a:r>
              <a:rPr lang="en-US" sz="2800" dirty="0"/>
              <a:t> </a:t>
            </a:r>
            <a:r>
              <a:rPr lang="en-US" sz="2800" dirty="0" err="1"/>
              <a:t>çevre</a:t>
            </a:r>
            <a:r>
              <a:rPr lang="en-US" sz="2800" dirty="0"/>
              <a:t> için </a:t>
            </a:r>
            <a:r>
              <a:rPr lang="en-US" sz="2800" dirty="0" err="1"/>
              <a:t>potansiyel</a:t>
            </a:r>
            <a:r>
              <a:rPr lang="en-US" sz="2800" dirty="0"/>
              <a:t> </a:t>
            </a:r>
            <a:r>
              <a:rPr lang="en-US" sz="2800" dirty="0" err="1"/>
              <a:t>olarak</a:t>
            </a:r>
            <a:r>
              <a:rPr lang="en-US" sz="2800" dirty="0"/>
              <a:t> </a:t>
            </a:r>
            <a:r>
              <a:rPr lang="en-US" sz="2800" dirty="0" err="1"/>
              <a:t>zararlı</a:t>
            </a:r>
            <a:r>
              <a:rPr lang="en-US" sz="2800" dirty="0"/>
              <a:t> </a:t>
            </a:r>
            <a:r>
              <a:rPr lang="en-US" sz="2800" dirty="0" err="1"/>
              <a:t>malzemeler</a:t>
            </a:r>
            <a:r>
              <a:rPr lang="en-US" sz="2800" dirty="0"/>
              <a:t> </a:t>
            </a:r>
            <a:r>
              <a:rPr lang="en-US" sz="2800" dirty="0" err="1"/>
              <a:t>içerir</a:t>
            </a:r>
            <a:r>
              <a:rPr lang="en-US" sz="2800" dirty="0"/>
              <a:t>: 
</a:t>
            </a:r>
            <a:r>
              <a:rPr lang="en-US" sz="2800" dirty="0" err="1"/>
              <a:t>Berilyum</a:t>
            </a:r>
            <a:r>
              <a:rPr lang="en-US" sz="2800" dirty="0"/>
              <a:t>, </a:t>
            </a:r>
            <a:r>
              <a:rPr lang="en-US" sz="2800" dirty="0" err="1"/>
              <a:t>kadmiyum</a:t>
            </a:r>
            <a:r>
              <a:rPr lang="en-US" sz="2800" dirty="0"/>
              <a:t>, </a:t>
            </a:r>
            <a:r>
              <a:rPr lang="en-US" sz="2800" dirty="0" err="1"/>
              <a:t>kurşun</a:t>
            </a:r>
            <a:r>
              <a:rPr lang="en-US" sz="2800" dirty="0"/>
              <a:t>, </a:t>
            </a:r>
            <a:r>
              <a:rPr lang="en-US" sz="2800" dirty="0" err="1"/>
              <a:t>cıva</a:t>
            </a:r>
            <a:r>
              <a:rPr lang="en-US" sz="2800" dirty="0"/>
              <a:t>, </a:t>
            </a:r>
            <a:r>
              <a:rPr lang="en-US" sz="2800" dirty="0" err="1"/>
              <a:t>bromlu</a:t>
            </a:r>
            <a:r>
              <a:rPr lang="en-US" sz="2800" dirty="0"/>
              <a:t> </a:t>
            </a:r>
            <a:r>
              <a:rPr lang="en-US" sz="2800" dirty="0" err="1"/>
              <a:t>alev</a:t>
            </a:r>
            <a:r>
              <a:rPr lang="en-US" sz="2800" dirty="0"/>
              <a:t> </a:t>
            </a:r>
            <a:r>
              <a:rPr lang="en-US" sz="2800" dirty="0" err="1"/>
              <a:t>geciktiriciler</a:t>
            </a:r>
            <a:r>
              <a:rPr lang="en-US" sz="2800" dirty="0"/>
              <a:t> (</a:t>
            </a:r>
            <a:r>
              <a:rPr lang="en-US" sz="2800" dirty="0" err="1"/>
              <a:t>BFR'ler</a:t>
            </a:r>
            <a:r>
              <a:rPr lang="en-US" sz="2800" dirty="0"/>
              <a:t>), </a:t>
            </a:r>
            <a:r>
              <a:rPr lang="en-US" sz="2800" dirty="0" err="1"/>
              <a:t>selenyum</a:t>
            </a:r>
            <a:r>
              <a:rPr lang="en-US" sz="2800" dirty="0"/>
              <a:t> </a:t>
            </a:r>
            <a:r>
              <a:rPr lang="en-US" sz="2800" dirty="0" err="1"/>
              <a:t>ve</a:t>
            </a:r>
            <a:r>
              <a:rPr lang="en-US" sz="2800" dirty="0"/>
              <a:t> </a:t>
            </a:r>
            <a:r>
              <a:rPr lang="en-US" sz="2800" dirty="0" err="1"/>
              <a:t>polivinil</a:t>
            </a:r>
            <a:r>
              <a:rPr lang="en-US" sz="2800" dirty="0"/>
              <a:t> </a:t>
            </a:r>
            <a:r>
              <a:rPr lang="en-US" sz="2800" dirty="0" err="1"/>
              <a:t>klorür</a:t>
            </a:r>
            <a:r>
              <a:rPr lang="en-US" sz="2800" dirty="0"/>
              <a:t>
</a:t>
            </a:r>
            <a:r>
              <a:rPr lang="en-US" sz="2800" dirty="0" err="1"/>
              <a:t>Yeşil</a:t>
            </a:r>
            <a:r>
              <a:rPr lang="en-US" sz="2800" dirty="0"/>
              <a:t> </a:t>
            </a:r>
            <a:r>
              <a:rPr lang="en-US" sz="2800" dirty="0" err="1"/>
              <a:t>bilgi</a:t>
            </a:r>
            <a:r>
              <a:rPr lang="en-US" sz="2800" dirty="0"/>
              <a:t> </a:t>
            </a:r>
            <a:r>
              <a:rPr lang="en-US" sz="2800" dirty="0" err="1"/>
              <a:t>işlem</a:t>
            </a:r>
            <a:r>
              <a:rPr lang="en-US" sz="2800" dirty="0"/>
              <a:t>: </a:t>
            </a:r>
            <a:r>
              <a:rPr lang="en-US" sz="2800" dirty="0" err="1"/>
              <a:t>Aşağıdakiler</a:t>
            </a:r>
            <a:r>
              <a:rPr lang="en-US" sz="2800" dirty="0"/>
              <a:t> </a:t>
            </a:r>
            <a:r>
              <a:rPr lang="en-US" sz="2800" dirty="0" err="1"/>
              <a:t>dahil</a:t>
            </a:r>
            <a:r>
              <a:rPr lang="en-US" sz="2800" dirty="0"/>
              <a:t> </a:t>
            </a:r>
            <a:r>
              <a:rPr lang="en-US" sz="2800" dirty="0" err="1"/>
              <a:t>olmak</a:t>
            </a:r>
            <a:r>
              <a:rPr lang="en-US" sz="2800" dirty="0"/>
              <a:t> </a:t>
            </a:r>
            <a:r>
              <a:rPr lang="en-US" sz="2800" dirty="0" err="1"/>
              <a:t>üzere</a:t>
            </a:r>
            <a:r>
              <a:rPr lang="en-US" sz="2800" dirty="0"/>
              <a:t> BT </a:t>
            </a:r>
            <a:r>
              <a:rPr lang="en-US" sz="2800" dirty="0" err="1"/>
              <a:t>ile</a:t>
            </a:r>
            <a:r>
              <a:rPr lang="en-US" sz="2800" dirty="0"/>
              <a:t> </a:t>
            </a:r>
            <a:r>
              <a:rPr lang="en-US" sz="2800" dirty="0" err="1"/>
              <a:t>ilgili</a:t>
            </a:r>
            <a:r>
              <a:rPr lang="en-US" sz="2800" dirty="0"/>
              <a:t> </a:t>
            </a:r>
            <a:r>
              <a:rPr lang="en-US" sz="2800" dirty="0" err="1"/>
              <a:t>ürünlerin</a:t>
            </a:r>
            <a:r>
              <a:rPr lang="en-US" sz="2800" dirty="0"/>
              <a:t> </a:t>
            </a:r>
            <a:r>
              <a:rPr lang="en-US" sz="2800" dirty="0" err="1"/>
              <a:t>verimli</a:t>
            </a:r>
            <a:r>
              <a:rPr lang="en-US" sz="2800" dirty="0"/>
              <a:t> </a:t>
            </a:r>
            <a:r>
              <a:rPr lang="en-US" sz="2800" dirty="0" err="1"/>
              <a:t>ve</a:t>
            </a:r>
            <a:r>
              <a:rPr lang="en-US" sz="2800" dirty="0"/>
              <a:t> </a:t>
            </a:r>
            <a:r>
              <a:rPr lang="en-US" sz="2800" dirty="0" err="1"/>
              <a:t>çevreye</a:t>
            </a:r>
            <a:r>
              <a:rPr lang="en-US" sz="2800" dirty="0"/>
              <a:t> </a:t>
            </a:r>
            <a:r>
              <a:rPr lang="en-US" sz="2800" dirty="0" err="1"/>
              <a:t>duyarlı</a:t>
            </a:r>
            <a:r>
              <a:rPr lang="en-US" sz="2800" dirty="0"/>
              <a:t> </a:t>
            </a:r>
            <a:r>
              <a:rPr lang="en-US" sz="2800" dirty="0" err="1"/>
              <a:t>üretimi</a:t>
            </a:r>
            <a:r>
              <a:rPr lang="en-US" sz="2800" dirty="0"/>
              <a:t>, </a:t>
            </a:r>
            <a:r>
              <a:rPr lang="en-US" sz="2800" dirty="0" err="1"/>
              <a:t>çalıştırılması</a:t>
            </a:r>
            <a:r>
              <a:rPr lang="en-US" sz="2800" dirty="0"/>
              <a:t> </a:t>
            </a:r>
            <a:r>
              <a:rPr lang="en-US" sz="2800" dirty="0" err="1"/>
              <a:t>ve</a:t>
            </a:r>
            <a:r>
              <a:rPr lang="en-US" sz="2800" dirty="0"/>
              <a:t> </a:t>
            </a:r>
            <a:r>
              <a:rPr lang="en-US" sz="2800" dirty="0" err="1"/>
              <a:t>bertarafı</a:t>
            </a:r>
            <a:r>
              <a:rPr lang="en-US" sz="2800" dirty="0"/>
              <a:t> </a:t>
            </a:r>
            <a:r>
              <a:rPr lang="en-US" sz="2800" dirty="0" err="1"/>
              <a:t>ile</a:t>
            </a:r>
            <a:r>
              <a:rPr lang="en-US" sz="2800" dirty="0"/>
              <a:t> </a:t>
            </a:r>
            <a:r>
              <a:rPr lang="en-US" sz="2800" dirty="0" err="1"/>
              <a:t>ilgilidir</a:t>
            </a:r>
            <a:r>
              <a:rPr lang="en-US" sz="2800" dirty="0"/>
              <a:t>:
</a:t>
            </a:r>
            <a:r>
              <a:rPr lang="en-US" sz="2800" dirty="0" err="1"/>
              <a:t>Dizüstü</a:t>
            </a:r>
            <a:r>
              <a:rPr lang="en-US" sz="2800" dirty="0"/>
              <a:t> </a:t>
            </a:r>
            <a:r>
              <a:rPr lang="en-US" sz="2800" dirty="0" err="1"/>
              <a:t>bilgisayarlar</a:t>
            </a:r>
            <a:r>
              <a:rPr lang="en-US" sz="2800" dirty="0"/>
              <a:t>, </a:t>
            </a:r>
            <a:r>
              <a:rPr lang="en-US" sz="2800" dirty="0" err="1"/>
              <a:t>akıllı</a:t>
            </a:r>
            <a:r>
              <a:rPr lang="en-US" sz="2800" dirty="0"/>
              <a:t> </a:t>
            </a:r>
            <a:r>
              <a:rPr lang="en-US" sz="2800" dirty="0" err="1"/>
              <a:t>telefonlar</a:t>
            </a:r>
            <a:r>
              <a:rPr lang="en-US" sz="2800" dirty="0"/>
              <a:t>, </a:t>
            </a:r>
            <a:r>
              <a:rPr lang="en-US" sz="2800" dirty="0" err="1"/>
              <a:t>depolama</a:t>
            </a:r>
            <a:r>
              <a:rPr lang="en-US" sz="2800" dirty="0"/>
              <a:t> </a:t>
            </a:r>
            <a:r>
              <a:rPr lang="en-US" sz="2800" dirty="0" err="1"/>
              <a:t>aygıtları</a:t>
            </a:r>
            <a:r>
              <a:rPr lang="en-US" sz="2800" dirty="0"/>
              <a:t>, </a:t>
            </a:r>
            <a:r>
              <a:rPr lang="en-US" sz="2800" dirty="0" err="1"/>
              <a:t>yazıcılar</a:t>
            </a:r>
            <a:r>
              <a:rPr lang="en-US" sz="2800" dirty="0"/>
              <a:t> </a:t>
            </a:r>
            <a:r>
              <a:rPr lang="en-US" sz="2800" dirty="0" err="1"/>
              <a:t>ve</a:t>
            </a:r>
            <a:r>
              <a:rPr lang="en-US" sz="2800" dirty="0"/>
              <a:t> </a:t>
            </a:r>
            <a:r>
              <a:rPr lang="en-US" sz="2800" dirty="0" err="1"/>
              <a:t>kartuşlar</a:t>
            </a:r>
            <a:r>
              <a:rPr lang="en-US" sz="2800" dirty="0"/>
              <a:t> </a:t>
            </a:r>
            <a:r>
              <a:rPr lang="en-US" sz="2800" dirty="0" err="1"/>
              <a:t>ve</a:t>
            </a:r>
            <a:r>
              <a:rPr lang="en-US" sz="2800" dirty="0"/>
              <a:t> toner </a:t>
            </a:r>
            <a:r>
              <a:rPr lang="en-US" sz="2800" dirty="0" err="1"/>
              <a:t>gibi</a:t>
            </a:r>
            <a:r>
              <a:rPr lang="en-US" sz="2800" dirty="0"/>
              <a:t> </a:t>
            </a:r>
            <a:r>
              <a:rPr lang="en-US" sz="2800" dirty="0" err="1"/>
              <a:t>yazıcı</a:t>
            </a:r>
            <a:r>
              <a:rPr lang="en-US" sz="2800" dirty="0"/>
              <a:t> </a:t>
            </a:r>
            <a:r>
              <a:rPr lang="en-US" sz="2800" dirty="0" err="1"/>
              <a:t>malzemeleri</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Yeşil</a:t>
            </a:r>
            <a:r>
              <a:rPr lang="en-US" sz="4000" dirty="0"/>
              <a:t> </a:t>
            </a:r>
            <a:r>
              <a:rPr lang="en-US" sz="4000" dirty="0" err="1"/>
              <a:t>Bilişim</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24245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419176"/>
          </a:xfrm>
        </p:spPr>
        <p:txBody>
          <a:bodyPr/>
          <a:lstStyle/>
          <a:p>
            <a:r>
              <a:rPr lang="en-US" sz="2700" dirty="0" err="1"/>
              <a:t>Yeşil</a:t>
            </a:r>
            <a:r>
              <a:rPr lang="en-US" sz="2700" dirty="0"/>
              <a:t> </a:t>
            </a:r>
            <a:r>
              <a:rPr lang="en-US" sz="2700" dirty="0" err="1"/>
              <a:t>bilgi</a:t>
            </a:r>
            <a:r>
              <a:rPr lang="en-US" sz="2700" dirty="0"/>
              <a:t> </a:t>
            </a:r>
            <a:r>
              <a:rPr lang="en-US" sz="2700" dirty="0" err="1"/>
              <a:t>işlemin</a:t>
            </a:r>
            <a:r>
              <a:rPr lang="en-US" sz="2700" dirty="0"/>
              <a:t> </a:t>
            </a:r>
            <a:r>
              <a:rPr lang="en-US" sz="2700" dirty="0" err="1"/>
              <a:t>üç</a:t>
            </a:r>
            <a:r>
              <a:rPr lang="en-US" sz="2700" dirty="0"/>
              <a:t> </a:t>
            </a:r>
            <a:r>
              <a:rPr lang="en-US" sz="2700" dirty="0" err="1"/>
              <a:t>hedefi</a:t>
            </a:r>
            <a:r>
              <a:rPr lang="en-US" sz="2700" dirty="0"/>
              <a:t> </a:t>
            </a:r>
            <a:r>
              <a:rPr lang="en-US" sz="2700" dirty="0" err="1"/>
              <a:t>vardır</a:t>
            </a:r>
            <a:r>
              <a:rPr lang="en-US" sz="2700" dirty="0"/>
              <a:t>:
</a:t>
            </a:r>
            <a:r>
              <a:rPr lang="en-US" sz="2700" dirty="0" err="1"/>
              <a:t>Tehlikeli</a:t>
            </a:r>
            <a:r>
              <a:rPr lang="en-US" sz="2700" dirty="0"/>
              <a:t> </a:t>
            </a:r>
            <a:r>
              <a:rPr lang="en-US" sz="2700" dirty="0" err="1"/>
              <a:t>madde</a:t>
            </a:r>
            <a:r>
              <a:rPr lang="en-US" sz="2700" dirty="0"/>
              <a:t> </a:t>
            </a:r>
            <a:r>
              <a:rPr lang="en-US" sz="2700" dirty="0" err="1"/>
              <a:t>kullanımını</a:t>
            </a:r>
            <a:r>
              <a:rPr lang="en-US" sz="2700" dirty="0"/>
              <a:t> </a:t>
            </a:r>
            <a:r>
              <a:rPr lang="en-US" sz="2700" dirty="0" err="1"/>
              <a:t>azaltın</a:t>
            </a:r>
            <a:r>
              <a:rPr lang="en-US" sz="2700" dirty="0"/>
              <a:t>
</a:t>
            </a:r>
            <a:r>
              <a:rPr lang="en-US" sz="2700" dirty="0" err="1"/>
              <a:t>Şirketlerin</a:t>
            </a:r>
            <a:r>
              <a:rPr lang="en-US" sz="2700" dirty="0"/>
              <a:t> </a:t>
            </a:r>
            <a:r>
              <a:rPr lang="en-US" sz="2700" dirty="0" err="1"/>
              <a:t>güçle</a:t>
            </a:r>
            <a:r>
              <a:rPr lang="en-US" sz="2700" dirty="0"/>
              <a:t> </a:t>
            </a:r>
            <a:r>
              <a:rPr lang="en-US" sz="2700" dirty="0" err="1"/>
              <a:t>ilgili</a:t>
            </a:r>
            <a:r>
              <a:rPr lang="en-US" sz="2700" dirty="0"/>
              <a:t> </a:t>
            </a:r>
            <a:r>
              <a:rPr lang="en-US" sz="2700" dirty="0" err="1"/>
              <a:t>maliyetlerini</a:t>
            </a:r>
            <a:r>
              <a:rPr lang="en-US" sz="2700" dirty="0"/>
              <a:t> </a:t>
            </a:r>
            <a:r>
              <a:rPr lang="en-US" sz="2700" dirty="0" err="1"/>
              <a:t>düşürmelerine</a:t>
            </a:r>
            <a:r>
              <a:rPr lang="en-US" sz="2700" dirty="0"/>
              <a:t> </a:t>
            </a:r>
            <a:r>
              <a:rPr lang="en-US" sz="2700" dirty="0" err="1"/>
              <a:t>izin</a:t>
            </a:r>
            <a:r>
              <a:rPr lang="en-US" sz="2700" dirty="0"/>
              <a:t> </a:t>
            </a:r>
            <a:r>
              <a:rPr lang="en-US" sz="2700" dirty="0" err="1"/>
              <a:t>verin</a:t>
            </a:r>
            <a:r>
              <a:rPr lang="en-US" sz="2700" dirty="0"/>
              <a:t>
</a:t>
            </a:r>
            <a:r>
              <a:rPr lang="en-US" sz="2700" dirty="0" err="1"/>
              <a:t>Bilgisayarların</a:t>
            </a:r>
            <a:r>
              <a:rPr lang="en-US" sz="2700" dirty="0"/>
              <a:t> </a:t>
            </a:r>
            <a:r>
              <a:rPr lang="en-US" sz="2700" dirty="0" err="1"/>
              <a:t>ve</a:t>
            </a:r>
            <a:r>
              <a:rPr lang="en-US" sz="2700" dirty="0"/>
              <a:t> </a:t>
            </a:r>
            <a:r>
              <a:rPr lang="en-US" sz="2700" dirty="0" err="1"/>
              <a:t>bilgisayarla</a:t>
            </a:r>
            <a:r>
              <a:rPr lang="en-US" sz="2700" dirty="0"/>
              <a:t> </a:t>
            </a:r>
            <a:r>
              <a:rPr lang="en-US" sz="2700" dirty="0" err="1"/>
              <a:t>ilgili</a:t>
            </a:r>
            <a:r>
              <a:rPr lang="en-US" sz="2700" dirty="0"/>
              <a:t> </a:t>
            </a:r>
            <a:r>
              <a:rPr lang="en-US" sz="2700" dirty="0" err="1"/>
              <a:t>ekipmanların</a:t>
            </a:r>
            <a:r>
              <a:rPr lang="en-US" sz="2700" dirty="0"/>
              <a:t> </a:t>
            </a:r>
            <a:r>
              <a:rPr lang="en-US" sz="2700" dirty="0" err="1"/>
              <a:t>güvenli</a:t>
            </a:r>
            <a:r>
              <a:rPr lang="en-US" sz="2700" dirty="0"/>
              <a:t> </a:t>
            </a:r>
            <a:r>
              <a:rPr lang="en-US" sz="2700" dirty="0" err="1"/>
              <a:t>bir</a:t>
            </a:r>
            <a:r>
              <a:rPr lang="en-US" sz="2700" dirty="0"/>
              <a:t> </a:t>
            </a:r>
            <a:r>
              <a:rPr lang="en-US" sz="2700" dirty="0" err="1"/>
              <a:t>şekilde</a:t>
            </a:r>
            <a:r>
              <a:rPr lang="en-US" sz="2700" dirty="0"/>
              <a:t> </a:t>
            </a:r>
            <a:r>
              <a:rPr lang="en-US" sz="2700" dirty="0" err="1"/>
              <a:t>atılmasını</a:t>
            </a:r>
            <a:r>
              <a:rPr lang="en-US" sz="2700" dirty="0"/>
              <a:t> </a:t>
            </a:r>
            <a:r>
              <a:rPr lang="en-US" sz="2700" dirty="0" err="1"/>
              <a:t>veya</a:t>
            </a:r>
            <a:r>
              <a:rPr lang="en-US" sz="2700" dirty="0"/>
              <a:t> </a:t>
            </a:r>
            <a:r>
              <a:rPr lang="en-US" sz="2700" dirty="0" err="1"/>
              <a:t>geri</a:t>
            </a:r>
            <a:r>
              <a:rPr lang="en-US" sz="2700" dirty="0"/>
              <a:t> </a:t>
            </a:r>
            <a:r>
              <a:rPr lang="en-US" sz="2700" dirty="0" err="1"/>
              <a:t>dönüştürülmesini</a:t>
            </a:r>
            <a:r>
              <a:rPr lang="en-US" sz="2700" dirty="0"/>
              <a:t> </a:t>
            </a:r>
            <a:r>
              <a:rPr lang="en-US" sz="2700" dirty="0" err="1"/>
              <a:t>sağlayın</a:t>
            </a:r>
            <a:r>
              <a:rPr lang="en-US" sz="2700" dirty="0"/>
              <a:t>
</a:t>
            </a:r>
            <a:r>
              <a:rPr lang="en-US" sz="2700" dirty="0" err="1"/>
              <a:t>Elektronik</a:t>
            </a:r>
            <a:r>
              <a:rPr lang="en-US" sz="2700" dirty="0"/>
              <a:t> </a:t>
            </a:r>
            <a:r>
              <a:rPr lang="en-US" sz="2700" dirty="0" err="1"/>
              <a:t>Ürün</a:t>
            </a:r>
            <a:r>
              <a:rPr lang="en-US" sz="2700" dirty="0"/>
              <a:t> </a:t>
            </a:r>
            <a:r>
              <a:rPr lang="en-US" sz="2700" dirty="0" err="1"/>
              <a:t>Çevresel</a:t>
            </a:r>
            <a:r>
              <a:rPr lang="en-US" sz="2700" dirty="0"/>
              <a:t> </a:t>
            </a:r>
            <a:r>
              <a:rPr lang="en-US" sz="2700" dirty="0" err="1"/>
              <a:t>Değerlendirme</a:t>
            </a:r>
            <a:r>
              <a:rPr lang="en-US" sz="2700" dirty="0"/>
              <a:t> </a:t>
            </a:r>
            <a:r>
              <a:rPr lang="en-US" sz="2700" dirty="0" err="1"/>
              <a:t>Aracı</a:t>
            </a:r>
            <a:r>
              <a:rPr lang="en-US" sz="2700" dirty="0"/>
              <a:t> (EPEAT)
</a:t>
            </a:r>
            <a:r>
              <a:rPr lang="en-US" sz="2700" dirty="0" err="1"/>
              <a:t>Alıcıların</a:t>
            </a:r>
            <a:r>
              <a:rPr lang="en-US" sz="2700" dirty="0"/>
              <a:t> </a:t>
            </a:r>
            <a:r>
              <a:rPr lang="en-US" sz="2700" dirty="0" err="1"/>
              <a:t>elektronik</a:t>
            </a:r>
            <a:r>
              <a:rPr lang="en-US" sz="2700" dirty="0"/>
              <a:t> </a:t>
            </a:r>
            <a:r>
              <a:rPr lang="en-US" sz="2700" dirty="0" err="1"/>
              <a:t>ürünleri</a:t>
            </a:r>
            <a:r>
              <a:rPr lang="en-US" sz="2700" dirty="0"/>
              <a:t> 51 </a:t>
            </a:r>
            <a:r>
              <a:rPr lang="en-US" sz="2700" dirty="0" err="1"/>
              <a:t>çevresel</a:t>
            </a:r>
            <a:r>
              <a:rPr lang="en-US" sz="2700" dirty="0"/>
              <a:t> </a:t>
            </a:r>
            <a:r>
              <a:rPr lang="en-US" sz="2700" dirty="0" err="1"/>
              <a:t>kritere</a:t>
            </a:r>
            <a:r>
              <a:rPr lang="en-US" sz="2700" dirty="0"/>
              <a:t> </a:t>
            </a:r>
            <a:r>
              <a:rPr lang="en-US" sz="2700" dirty="0" err="1"/>
              <a:t>göre</a:t>
            </a:r>
            <a:r>
              <a:rPr lang="en-US" sz="2700" dirty="0"/>
              <a:t> </a:t>
            </a:r>
            <a:r>
              <a:rPr lang="en-US" sz="2700" dirty="0" err="1"/>
              <a:t>karşılaştırmasını</a:t>
            </a:r>
            <a:r>
              <a:rPr lang="en-US" sz="2700" dirty="0"/>
              <a:t> </a:t>
            </a:r>
            <a:r>
              <a:rPr lang="en-US" sz="2700" dirty="0" err="1"/>
              <a:t>ve</a:t>
            </a:r>
            <a:r>
              <a:rPr lang="en-US" sz="2700" dirty="0"/>
              <a:t> </a:t>
            </a:r>
            <a:r>
              <a:rPr lang="en-US" sz="2700" dirty="0" err="1"/>
              <a:t>seçmesini</a:t>
            </a:r>
            <a:r>
              <a:rPr lang="en-US" sz="2700" dirty="0"/>
              <a:t> </a:t>
            </a:r>
            <a:r>
              <a:rPr lang="en-US" sz="2700" dirty="0" err="1"/>
              <a:t>sağlar</a:t>
            </a:r>
            <a:r>
              <a:rPr lang="en-US" sz="2700" dirty="0"/>
              <a:t> 
</a:t>
            </a:r>
            <a:r>
              <a:rPr lang="en-US" sz="2700" dirty="0" err="1"/>
              <a:t>Ürünler</a:t>
            </a:r>
            <a:r>
              <a:rPr lang="en-US" sz="2700" dirty="0"/>
              <a:t>, </a:t>
            </a:r>
            <a:r>
              <a:rPr lang="en-US" sz="2700" dirty="0" err="1"/>
              <a:t>EPEAT'de</a:t>
            </a:r>
            <a:r>
              <a:rPr lang="en-US" sz="2700" dirty="0"/>
              <a:t> </a:t>
            </a:r>
            <a:r>
              <a:rPr lang="en-US" sz="2700" dirty="0" err="1"/>
              <a:t>üç</a:t>
            </a:r>
            <a:r>
              <a:rPr lang="en-US" sz="2700" dirty="0"/>
              <a:t> </a:t>
            </a:r>
            <a:r>
              <a:rPr lang="en-US" sz="2700" dirty="0" err="1"/>
              <a:t>çevresel</a:t>
            </a:r>
            <a:r>
              <a:rPr lang="en-US" sz="2700" dirty="0"/>
              <a:t> </a:t>
            </a:r>
            <a:r>
              <a:rPr lang="en-US" sz="2700" dirty="0" err="1"/>
              <a:t>performans</a:t>
            </a:r>
            <a:r>
              <a:rPr lang="en-US" sz="2700" dirty="0"/>
              <a:t> </a:t>
            </a:r>
            <a:r>
              <a:rPr lang="en-US" sz="2700" dirty="0" err="1"/>
              <a:t>katmanına</a:t>
            </a:r>
            <a:r>
              <a:rPr lang="en-US" sz="2700" dirty="0"/>
              <a:t> </a:t>
            </a:r>
            <a:r>
              <a:rPr lang="en-US" sz="2700" dirty="0" err="1"/>
              <a:t>göre</a:t>
            </a:r>
            <a:r>
              <a:rPr lang="en-US" sz="2700" dirty="0"/>
              <a:t> </a:t>
            </a:r>
            <a:r>
              <a:rPr lang="en-US" sz="2700" dirty="0" err="1"/>
              <a:t>sıralanır</a:t>
            </a:r>
            <a:r>
              <a:rPr lang="en-US" sz="2700" dirty="0"/>
              <a:t>:
</a:t>
            </a:r>
            <a:r>
              <a:rPr lang="en-US" sz="2700" dirty="0" err="1"/>
              <a:t>Altın</a:t>
            </a:r>
            <a:r>
              <a:rPr lang="en-US" sz="2700" dirty="0"/>
              <a:t>, </a:t>
            </a:r>
            <a:r>
              <a:rPr lang="en-US" sz="2700" dirty="0" err="1"/>
              <a:t>Gümüş</a:t>
            </a:r>
            <a:r>
              <a:rPr lang="en-US" sz="2700" dirty="0"/>
              <a:t> </a:t>
            </a:r>
            <a:r>
              <a:rPr lang="en-US" sz="2700" dirty="0" err="1"/>
              <a:t>ve</a:t>
            </a:r>
            <a:r>
              <a:rPr lang="en-US" sz="2700" dirty="0"/>
              <a:t> </a:t>
            </a:r>
            <a:r>
              <a:rPr lang="en-US" sz="2700" dirty="0" err="1"/>
              <a:t>Bronz</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dirty="0" err="1"/>
              <a:t>Yeşil</a:t>
            </a:r>
            <a:r>
              <a:rPr lang="en-US" sz="4000" dirty="0"/>
              <a:t> </a:t>
            </a:r>
            <a:r>
              <a:rPr lang="en-US" sz="4000" dirty="0" err="1"/>
              <a:t>Bilişim</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21166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453527"/>
          </a:xfrm>
        </p:spPr>
        <p:txBody>
          <a:bodyPr/>
          <a:lstStyle/>
          <a:p>
            <a:r>
              <a:rPr lang="en-US" sz="2800" dirty="0" err="1"/>
              <a:t>Koşullu</a:t>
            </a:r>
            <a:r>
              <a:rPr lang="en-US" sz="2800" dirty="0"/>
              <a:t> </a:t>
            </a:r>
            <a:r>
              <a:rPr lang="en-US" sz="2800" dirty="0" err="1"/>
              <a:t>işçilerin</a:t>
            </a:r>
            <a:r>
              <a:rPr lang="en-US" sz="2800" dirty="0"/>
              <a:t>, H-1B </a:t>
            </a:r>
            <a:r>
              <a:rPr lang="en-US" sz="2800" dirty="0" err="1"/>
              <a:t>vizesi</a:t>
            </a:r>
            <a:r>
              <a:rPr lang="en-US" sz="2800" dirty="0"/>
              <a:t> </a:t>
            </a:r>
            <a:r>
              <a:rPr lang="en-US" sz="2800" dirty="0" err="1"/>
              <a:t>sahiplerinin</a:t>
            </a:r>
            <a:r>
              <a:rPr lang="en-US" sz="2800" dirty="0"/>
              <a:t> </a:t>
            </a:r>
            <a:r>
              <a:rPr lang="en-US" sz="2800" dirty="0" err="1"/>
              <a:t>ve</a:t>
            </a:r>
            <a:r>
              <a:rPr lang="en-US" sz="2800" dirty="0"/>
              <a:t> </a:t>
            </a:r>
            <a:r>
              <a:rPr lang="en-US" sz="2800" dirty="0" err="1"/>
              <a:t>denizaşırı</a:t>
            </a:r>
            <a:r>
              <a:rPr lang="en-US" sz="2800" dirty="0"/>
              <a:t> </a:t>
            </a:r>
            <a:r>
              <a:rPr lang="en-US" sz="2800" dirty="0" err="1"/>
              <a:t>dış</a:t>
            </a:r>
            <a:r>
              <a:rPr lang="en-US" sz="2800" dirty="0"/>
              <a:t> </a:t>
            </a:r>
            <a:r>
              <a:rPr lang="en-US" sz="2800" dirty="0" err="1"/>
              <a:t>kaynak</a:t>
            </a:r>
            <a:r>
              <a:rPr lang="en-US" sz="2800" dirty="0"/>
              <a:t> </a:t>
            </a:r>
            <a:r>
              <a:rPr lang="en-US" sz="2800" dirty="0" err="1"/>
              <a:t>şirketlerinin</a:t>
            </a:r>
            <a:r>
              <a:rPr lang="en-US" sz="2800" dirty="0"/>
              <a:t> </a:t>
            </a:r>
            <a:r>
              <a:rPr lang="en-US" sz="2800" dirty="0" err="1"/>
              <a:t>kullanımıyla</a:t>
            </a:r>
            <a:r>
              <a:rPr lang="en-US" sz="2800" dirty="0"/>
              <a:t> </a:t>
            </a:r>
            <a:r>
              <a:rPr lang="en-US" sz="2800" dirty="0" err="1"/>
              <a:t>ilgili</a:t>
            </a:r>
            <a:r>
              <a:rPr lang="en-US" sz="2800" dirty="0"/>
              <a:t> hangi </a:t>
            </a:r>
            <a:r>
              <a:rPr lang="en-US" sz="2800" dirty="0" err="1"/>
              <a:t>temel</a:t>
            </a:r>
            <a:r>
              <a:rPr lang="en-US" sz="2800" dirty="0"/>
              <a:t> </a:t>
            </a:r>
            <a:r>
              <a:rPr lang="en-US" sz="2800" dirty="0" err="1"/>
              <a:t>yasal</a:t>
            </a:r>
            <a:r>
              <a:rPr lang="en-US" sz="2800" dirty="0"/>
              <a:t> </a:t>
            </a:r>
            <a:r>
              <a:rPr lang="en-US" sz="2800" dirty="0" err="1"/>
              <a:t>ve</a:t>
            </a:r>
            <a:r>
              <a:rPr lang="en-US" sz="2800" dirty="0"/>
              <a:t> </a:t>
            </a:r>
            <a:r>
              <a:rPr lang="en-US" sz="2800" dirty="0" err="1"/>
              <a:t>etik</a:t>
            </a:r>
            <a:r>
              <a:rPr lang="en-US" sz="2800" dirty="0"/>
              <a:t> </a:t>
            </a:r>
            <a:r>
              <a:rPr lang="en-US" sz="2800" dirty="0" err="1"/>
              <a:t>konular</a:t>
            </a:r>
            <a:r>
              <a:rPr lang="en-US" sz="2800" dirty="0"/>
              <a:t> </a:t>
            </a:r>
            <a:r>
              <a:rPr lang="en-US" sz="2800" dirty="0" err="1"/>
              <a:t>nelerdir</a:t>
            </a:r>
            <a:r>
              <a:rPr lang="en-US" sz="2800" dirty="0"/>
              <a:t>?
</a:t>
            </a:r>
            <a:r>
              <a:rPr lang="en-US" sz="2800" dirty="0" err="1"/>
              <a:t>Koşullu</a:t>
            </a:r>
            <a:r>
              <a:rPr lang="en-US" sz="2800" dirty="0"/>
              <a:t> </a:t>
            </a:r>
            <a:r>
              <a:rPr lang="en-US" sz="2800" dirty="0" err="1"/>
              <a:t>çalışma</a:t>
            </a:r>
            <a:r>
              <a:rPr lang="en-US" sz="2800" dirty="0"/>
              <a:t>: Bir </a:t>
            </a:r>
            <a:r>
              <a:rPr lang="en-US" sz="2800" dirty="0" err="1"/>
              <a:t>bireyin</a:t>
            </a:r>
            <a:r>
              <a:rPr lang="en-US" sz="2800" dirty="0"/>
              <a:t> </a:t>
            </a:r>
            <a:r>
              <a:rPr lang="en-US" sz="2800" dirty="0" err="1"/>
              <a:t>uzun</a:t>
            </a:r>
            <a:r>
              <a:rPr lang="en-US" sz="2800" dirty="0"/>
              <a:t> </a:t>
            </a:r>
            <a:r>
              <a:rPr lang="en-US" sz="2800" dirty="0" err="1"/>
              <a:t>süreli</a:t>
            </a:r>
            <a:r>
              <a:rPr lang="en-US" sz="2800" dirty="0"/>
              <a:t> </a:t>
            </a:r>
            <a:r>
              <a:rPr lang="en-US" sz="2800" dirty="0" err="1"/>
              <a:t>istihdam</a:t>
            </a:r>
            <a:r>
              <a:rPr lang="en-US" sz="2800" dirty="0"/>
              <a:t> için </a:t>
            </a:r>
            <a:r>
              <a:rPr lang="en-US" sz="2800" dirty="0" err="1"/>
              <a:t>açık</a:t>
            </a:r>
            <a:r>
              <a:rPr lang="en-US" sz="2800" dirty="0"/>
              <a:t> </a:t>
            </a:r>
            <a:r>
              <a:rPr lang="en-US" sz="2800" dirty="0" err="1"/>
              <a:t>veya</a:t>
            </a:r>
            <a:r>
              <a:rPr lang="en-US" sz="2800" dirty="0"/>
              <a:t> </a:t>
            </a:r>
            <a:r>
              <a:rPr lang="en-US" sz="2800" dirty="0" err="1"/>
              <a:t>zımni</a:t>
            </a:r>
            <a:r>
              <a:rPr lang="en-US" sz="2800" dirty="0"/>
              <a:t> </a:t>
            </a:r>
            <a:r>
              <a:rPr lang="en-US" sz="2800" dirty="0" err="1"/>
              <a:t>bir</a:t>
            </a:r>
            <a:r>
              <a:rPr lang="en-US" sz="2800" dirty="0"/>
              <a:t> </a:t>
            </a:r>
            <a:r>
              <a:rPr lang="en-US" sz="2800" dirty="0" err="1"/>
              <a:t>sözleşmesinin</a:t>
            </a:r>
            <a:r>
              <a:rPr lang="en-US" sz="2800" dirty="0"/>
              <a:t> </a:t>
            </a:r>
            <a:r>
              <a:rPr lang="en-US" sz="2800" dirty="0" err="1"/>
              <a:t>olmadığı</a:t>
            </a:r>
            <a:r>
              <a:rPr lang="en-US" sz="2800" dirty="0"/>
              <a:t> </a:t>
            </a:r>
            <a:r>
              <a:rPr lang="en-US" sz="2800" dirty="0" err="1"/>
              <a:t>bir</a:t>
            </a:r>
            <a:r>
              <a:rPr lang="en-US" sz="2800" dirty="0"/>
              <a:t> </a:t>
            </a:r>
            <a:r>
              <a:rPr lang="en-US" sz="2800" dirty="0" err="1"/>
              <a:t>iş</a:t>
            </a:r>
            <a:r>
              <a:rPr lang="en-US" sz="2800" dirty="0"/>
              <a:t> </a:t>
            </a:r>
            <a:r>
              <a:rPr lang="en-US" sz="2800" dirty="0" err="1"/>
              <a:t>durumu</a:t>
            </a:r>
            <a:r>
              <a:rPr lang="en-US" sz="2800" dirty="0"/>
              <a:t>
</a:t>
            </a:r>
            <a:r>
              <a:rPr lang="en-US" sz="2800" dirty="0" err="1"/>
              <a:t>Kuruluşlar</a:t>
            </a:r>
            <a:r>
              <a:rPr lang="en-US" sz="2800" dirty="0"/>
              <a:t>, </a:t>
            </a:r>
            <a:r>
              <a:rPr lang="en-US" sz="2800" dirty="0" err="1"/>
              <a:t>sözleşmeli</a:t>
            </a:r>
            <a:r>
              <a:rPr lang="en-US" sz="2800" dirty="0"/>
              <a:t> </a:t>
            </a:r>
            <a:r>
              <a:rPr lang="en-US" sz="2800" dirty="0" err="1"/>
              <a:t>çalışanları</a:t>
            </a:r>
            <a:r>
              <a:rPr lang="en-US" sz="2800" dirty="0"/>
              <a:t> </a:t>
            </a:r>
            <a:r>
              <a:rPr lang="en-US" sz="2800" dirty="0" err="1"/>
              <a:t>şu</a:t>
            </a:r>
            <a:r>
              <a:rPr lang="en-US" sz="2800" dirty="0"/>
              <a:t> </a:t>
            </a:r>
            <a:r>
              <a:rPr lang="en-US" sz="2800" dirty="0" err="1"/>
              <a:t>yollarla</a:t>
            </a:r>
            <a:r>
              <a:rPr lang="en-US" sz="2800" dirty="0"/>
              <a:t> </a:t>
            </a:r>
            <a:r>
              <a:rPr lang="en-US" sz="2800" dirty="0" err="1"/>
              <a:t>elde</a:t>
            </a:r>
            <a:r>
              <a:rPr lang="en-US" sz="2800" dirty="0"/>
              <a:t> </a:t>
            </a:r>
            <a:r>
              <a:rPr lang="en-US" sz="2800" dirty="0" err="1"/>
              <a:t>edebilir</a:t>
            </a:r>
            <a:r>
              <a:rPr lang="en-US" sz="2800" dirty="0"/>
              <a:t>: 
</a:t>
            </a:r>
            <a:r>
              <a:rPr lang="en-US" sz="2800" dirty="0" err="1"/>
              <a:t>Geçici</a:t>
            </a:r>
            <a:r>
              <a:rPr lang="en-US" sz="2800" dirty="0"/>
              <a:t> </a:t>
            </a:r>
            <a:r>
              <a:rPr lang="en-US" sz="2800" dirty="0" err="1"/>
              <a:t>personel</a:t>
            </a:r>
            <a:r>
              <a:rPr lang="en-US" sz="2800" dirty="0"/>
              <a:t> </a:t>
            </a:r>
            <a:r>
              <a:rPr lang="en-US" sz="2800" dirty="0" err="1"/>
              <a:t>firmaları</a:t>
            </a:r>
            <a:r>
              <a:rPr lang="en-US" sz="2800" dirty="0"/>
              <a:t>
</a:t>
            </a:r>
            <a:r>
              <a:rPr lang="en-US" sz="2800" dirty="0" err="1"/>
              <a:t>Çalışan</a:t>
            </a:r>
            <a:r>
              <a:rPr lang="en-US" sz="2800" dirty="0"/>
              <a:t> </a:t>
            </a:r>
            <a:r>
              <a:rPr lang="en-US" sz="2800" dirty="0" err="1"/>
              <a:t>kiralama</a:t>
            </a:r>
            <a:r>
              <a:rPr lang="en-US" sz="2800" dirty="0"/>
              <a:t> </a:t>
            </a:r>
            <a:r>
              <a:rPr lang="en-US" sz="2800" dirty="0" err="1"/>
              <a:t>organizasyonları</a:t>
            </a:r>
            <a:r>
              <a:rPr lang="en-US" sz="2800" dirty="0"/>
              <a:t>
</a:t>
            </a:r>
            <a:r>
              <a:rPr lang="en-US" sz="2800" dirty="0" err="1"/>
              <a:t>Profesyonel</a:t>
            </a:r>
            <a:r>
              <a:rPr lang="en-US" sz="2800" dirty="0"/>
              <a:t> </a:t>
            </a:r>
            <a:r>
              <a:rPr lang="en-US" sz="2800" dirty="0" err="1"/>
              <a:t>istihdam</a:t>
            </a:r>
            <a:r>
              <a:rPr lang="en-US" sz="2800" dirty="0"/>
              <a:t> </a:t>
            </a:r>
            <a:r>
              <a:rPr lang="en-US" sz="2800" dirty="0" err="1"/>
              <a:t>kuruluşları</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2662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4672048"/>
          </a:xfrm>
        </p:spPr>
        <p:txBody>
          <a:bodyPr/>
          <a:lstStyle/>
          <a:p>
            <a:r>
              <a:rPr lang="en-US" sz="2400" dirty="0" err="1"/>
              <a:t>Koşullu</a:t>
            </a:r>
            <a:r>
              <a:rPr lang="en-US" sz="2400" dirty="0"/>
              <a:t> </a:t>
            </a:r>
            <a:r>
              <a:rPr lang="en-US" sz="2400" dirty="0" err="1"/>
              <a:t>işçilerin</a:t>
            </a:r>
            <a:r>
              <a:rPr lang="en-US" sz="2400" dirty="0"/>
              <a:t>, H-1B </a:t>
            </a:r>
            <a:r>
              <a:rPr lang="en-US" sz="2400" dirty="0" err="1"/>
              <a:t>vizesi</a:t>
            </a:r>
            <a:r>
              <a:rPr lang="en-US" sz="2400" dirty="0"/>
              <a:t> </a:t>
            </a:r>
            <a:r>
              <a:rPr lang="en-US" sz="2400" dirty="0" err="1"/>
              <a:t>sahiplerinin</a:t>
            </a:r>
            <a:r>
              <a:rPr lang="en-US" sz="2400" dirty="0"/>
              <a:t> </a:t>
            </a:r>
            <a:r>
              <a:rPr lang="en-US" sz="2400" dirty="0" err="1"/>
              <a:t>ve</a:t>
            </a:r>
            <a:r>
              <a:rPr lang="en-US" sz="2400" dirty="0"/>
              <a:t> </a:t>
            </a:r>
            <a:r>
              <a:rPr lang="en-US" sz="2400" dirty="0" err="1"/>
              <a:t>denizaşırı</a:t>
            </a:r>
            <a:r>
              <a:rPr lang="en-US" sz="2400" dirty="0"/>
              <a:t> </a:t>
            </a:r>
            <a:r>
              <a:rPr lang="en-US" sz="2400" dirty="0" err="1"/>
              <a:t>dış</a:t>
            </a:r>
            <a:r>
              <a:rPr lang="en-US" sz="2400" dirty="0"/>
              <a:t> </a:t>
            </a:r>
            <a:r>
              <a:rPr lang="en-US" sz="2400" dirty="0" err="1"/>
              <a:t>kaynak</a:t>
            </a:r>
            <a:r>
              <a:rPr lang="en-US" sz="2400" dirty="0"/>
              <a:t> </a:t>
            </a:r>
            <a:r>
              <a:rPr lang="en-US" sz="2400" dirty="0" err="1"/>
              <a:t>şirketlerinin</a:t>
            </a:r>
            <a:r>
              <a:rPr lang="en-US" sz="2400" dirty="0"/>
              <a:t> </a:t>
            </a:r>
            <a:r>
              <a:rPr lang="en-US" sz="2400" dirty="0" err="1"/>
              <a:t>kullanımıyla</a:t>
            </a:r>
            <a:r>
              <a:rPr lang="en-US" sz="2400" dirty="0"/>
              <a:t> </a:t>
            </a:r>
            <a:r>
              <a:rPr lang="en-US" sz="2400" dirty="0" err="1"/>
              <a:t>ilgili</a:t>
            </a:r>
            <a:r>
              <a:rPr lang="en-US" sz="2400" dirty="0"/>
              <a:t> hangi </a:t>
            </a:r>
            <a:r>
              <a:rPr lang="en-US" sz="2400" dirty="0" err="1"/>
              <a:t>temel</a:t>
            </a:r>
            <a:r>
              <a:rPr lang="en-US" sz="2400" dirty="0"/>
              <a:t> </a:t>
            </a:r>
            <a:r>
              <a:rPr lang="en-US" sz="2400" dirty="0" err="1"/>
              <a:t>yasal</a:t>
            </a:r>
            <a:r>
              <a:rPr lang="en-US" sz="2400" dirty="0"/>
              <a:t> </a:t>
            </a:r>
            <a:r>
              <a:rPr lang="en-US" sz="2400" dirty="0" err="1"/>
              <a:t>ve</a:t>
            </a:r>
            <a:r>
              <a:rPr lang="en-US" sz="2400" dirty="0"/>
              <a:t> </a:t>
            </a:r>
            <a:r>
              <a:rPr lang="en-US" sz="2400" dirty="0" err="1"/>
              <a:t>etik</a:t>
            </a:r>
            <a:r>
              <a:rPr lang="en-US" sz="2400" dirty="0"/>
              <a:t> </a:t>
            </a:r>
            <a:r>
              <a:rPr lang="en-US" sz="2400" dirty="0" err="1"/>
              <a:t>konular</a:t>
            </a:r>
            <a:r>
              <a:rPr lang="en-US" sz="2400" dirty="0"/>
              <a:t> </a:t>
            </a:r>
            <a:r>
              <a:rPr lang="en-US" sz="2400" dirty="0" err="1"/>
              <a:t>nelerdir</a:t>
            </a:r>
            <a:r>
              <a:rPr lang="en-US" sz="2400" dirty="0"/>
              <a:t>?
</a:t>
            </a:r>
            <a:r>
              <a:rPr lang="en-US" sz="2400" dirty="0" err="1"/>
              <a:t>Geçici</a:t>
            </a:r>
            <a:r>
              <a:rPr lang="en-US" sz="2400" dirty="0"/>
              <a:t> </a:t>
            </a:r>
            <a:r>
              <a:rPr lang="en-US" sz="2400" dirty="0" err="1"/>
              <a:t>personel</a:t>
            </a:r>
            <a:r>
              <a:rPr lang="en-US" sz="2400" dirty="0"/>
              <a:t> </a:t>
            </a:r>
            <a:r>
              <a:rPr lang="en-US" sz="2400" dirty="0" err="1"/>
              <a:t>firmaları</a:t>
            </a:r>
            <a:r>
              <a:rPr lang="en-US" sz="2400" dirty="0"/>
              <a:t>, </a:t>
            </a:r>
            <a:r>
              <a:rPr lang="en-US" sz="2400" dirty="0" err="1"/>
              <a:t>iş</a:t>
            </a:r>
            <a:r>
              <a:rPr lang="en-US" sz="2400" dirty="0"/>
              <a:t> </a:t>
            </a:r>
            <a:r>
              <a:rPr lang="en-US" sz="2400" dirty="0" err="1"/>
              <a:t>arayanları</a:t>
            </a:r>
            <a:r>
              <a:rPr lang="en-US" sz="2400" dirty="0"/>
              <a:t> </a:t>
            </a:r>
            <a:r>
              <a:rPr lang="en-US" sz="2400" dirty="0" err="1"/>
              <a:t>çok</a:t>
            </a:r>
            <a:r>
              <a:rPr lang="en-US" sz="2400" dirty="0"/>
              <a:t> </a:t>
            </a:r>
            <a:r>
              <a:rPr lang="en-US" sz="2400" dirty="0" err="1"/>
              <a:t>çeşitli</a:t>
            </a:r>
            <a:r>
              <a:rPr lang="en-US" sz="2400" dirty="0"/>
              <a:t> </a:t>
            </a:r>
            <a:r>
              <a:rPr lang="en-US" sz="2400" dirty="0" err="1"/>
              <a:t>iş</a:t>
            </a:r>
            <a:r>
              <a:rPr lang="en-US" sz="2400" dirty="0"/>
              <a:t> </a:t>
            </a:r>
            <a:r>
              <a:rPr lang="en-US" sz="2400" dirty="0" err="1"/>
              <a:t>kategorilerinde</a:t>
            </a:r>
            <a:r>
              <a:rPr lang="en-US" sz="2400" dirty="0"/>
              <a:t> </a:t>
            </a:r>
            <a:r>
              <a:rPr lang="en-US" sz="2400" dirty="0" err="1"/>
              <a:t>ve</a:t>
            </a:r>
            <a:r>
              <a:rPr lang="en-US" sz="2400" dirty="0"/>
              <a:t> </a:t>
            </a:r>
            <a:r>
              <a:rPr lang="en-US" sz="2400" dirty="0" err="1"/>
              <a:t>beceri</a:t>
            </a:r>
            <a:r>
              <a:rPr lang="en-US" sz="2400" dirty="0"/>
              <a:t> </a:t>
            </a:r>
            <a:r>
              <a:rPr lang="en-US" sz="2400" dirty="0" err="1"/>
              <a:t>seviyelerinde</a:t>
            </a:r>
            <a:r>
              <a:rPr lang="en-US" sz="2400" dirty="0"/>
              <a:t> </a:t>
            </a:r>
            <a:r>
              <a:rPr lang="en-US" sz="2400" dirty="0" err="1"/>
              <a:t>işe</a:t>
            </a:r>
            <a:r>
              <a:rPr lang="en-US" sz="2400" dirty="0"/>
              <a:t> </a:t>
            </a:r>
            <a:r>
              <a:rPr lang="en-US" sz="2400" dirty="0" err="1"/>
              <a:t>alır</a:t>
            </a:r>
            <a:r>
              <a:rPr lang="en-US" sz="2400" dirty="0"/>
              <a:t>, </a:t>
            </a:r>
            <a:r>
              <a:rPr lang="en-US" sz="2400" dirty="0" err="1"/>
              <a:t>eğitir</a:t>
            </a:r>
            <a:r>
              <a:rPr lang="en-US" sz="2400" dirty="0"/>
              <a:t> </a:t>
            </a:r>
            <a:r>
              <a:rPr lang="en-US" sz="2400" dirty="0" err="1"/>
              <a:t>ve</a:t>
            </a:r>
            <a:r>
              <a:rPr lang="en-US" sz="2400" dirty="0"/>
              <a:t> test </a:t>
            </a:r>
            <a:r>
              <a:rPr lang="en-US" sz="2400" dirty="0" err="1"/>
              <a:t>eder</a:t>
            </a:r>
            <a:r>
              <a:rPr lang="en-US" sz="2400" dirty="0"/>
              <a:t> </a:t>
            </a:r>
            <a:r>
              <a:rPr lang="en-US" sz="2400" dirty="0" err="1"/>
              <a:t>ve</a:t>
            </a:r>
            <a:r>
              <a:rPr lang="en-US" sz="2400" dirty="0"/>
              <a:t> </a:t>
            </a:r>
            <a:r>
              <a:rPr lang="en-US" sz="2400" dirty="0" err="1"/>
              <a:t>ardından</a:t>
            </a:r>
            <a:r>
              <a:rPr lang="en-US" sz="2400" dirty="0"/>
              <a:t> </a:t>
            </a:r>
            <a:r>
              <a:rPr lang="en-US" sz="2400" dirty="0" err="1"/>
              <a:t>bunları</a:t>
            </a:r>
            <a:r>
              <a:rPr lang="en-US" sz="2400" dirty="0"/>
              <a:t> </a:t>
            </a:r>
            <a:r>
              <a:rPr lang="en-US" sz="2400" dirty="0" err="1"/>
              <a:t>gerektiğinde</a:t>
            </a:r>
            <a:r>
              <a:rPr lang="en-US" sz="2400" dirty="0"/>
              <a:t> </a:t>
            </a:r>
            <a:r>
              <a:rPr lang="en-US" sz="2400" dirty="0" err="1"/>
              <a:t>müşterilere</a:t>
            </a:r>
            <a:r>
              <a:rPr lang="en-US" sz="2400" dirty="0"/>
              <a:t> </a:t>
            </a:r>
            <a:r>
              <a:rPr lang="en-US" sz="2400" dirty="0" err="1"/>
              <a:t>atar</a:t>
            </a:r>
            <a:r>
              <a:rPr lang="en-US" sz="2400" dirty="0"/>
              <a:t>.
</a:t>
            </a:r>
            <a:r>
              <a:rPr lang="en-US" sz="2400" dirty="0" err="1"/>
              <a:t>Çalışan</a:t>
            </a:r>
            <a:r>
              <a:rPr lang="en-US" sz="2400" dirty="0"/>
              <a:t> </a:t>
            </a:r>
            <a:r>
              <a:rPr lang="en-US" sz="2400" dirty="0" err="1"/>
              <a:t>kiralama</a:t>
            </a:r>
            <a:r>
              <a:rPr lang="en-US" sz="2400" dirty="0"/>
              <a:t>: </a:t>
            </a:r>
            <a:r>
              <a:rPr lang="en-US" sz="2400" dirty="0" err="1"/>
              <a:t>Abone</a:t>
            </a:r>
            <a:r>
              <a:rPr lang="en-US" sz="2400" dirty="0"/>
              <a:t> </a:t>
            </a:r>
            <a:r>
              <a:rPr lang="en-US" sz="2400" dirty="0" err="1"/>
              <a:t>olan</a:t>
            </a:r>
            <a:r>
              <a:rPr lang="en-US" sz="2400" dirty="0"/>
              <a:t> </a:t>
            </a:r>
            <a:r>
              <a:rPr lang="en-US" sz="2400" dirty="0" err="1"/>
              <a:t>bir</a:t>
            </a:r>
            <a:r>
              <a:rPr lang="en-US" sz="2400" dirty="0"/>
              <a:t> </a:t>
            </a:r>
            <a:r>
              <a:rPr lang="en-US" sz="2400" dirty="0" err="1"/>
              <a:t>firma</a:t>
            </a:r>
            <a:r>
              <a:rPr lang="en-US" sz="2400" dirty="0"/>
              <a:t>, </a:t>
            </a:r>
            <a:r>
              <a:rPr lang="en-US" sz="2400" dirty="0" err="1"/>
              <a:t>işgücünü</a:t>
            </a:r>
            <a:r>
              <a:rPr lang="en-US" sz="2400" dirty="0"/>
              <a:t>, </a:t>
            </a:r>
            <a:r>
              <a:rPr lang="en-US" sz="2400" dirty="0" err="1"/>
              <a:t>insan</a:t>
            </a:r>
            <a:r>
              <a:rPr lang="en-US" sz="2400" dirty="0"/>
              <a:t> </a:t>
            </a:r>
            <a:r>
              <a:rPr lang="en-US" sz="2400" dirty="0" err="1"/>
              <a:t>kaynaklarıyla</a:t>
            </a:r>
            <a:r>
              <a:rPr lang="en-US" sz="2400" dirty="0"/>
              <a:t> </a:t>
            </a:r>
            <a:r>
              <a:rPr lang="en-US" sz="2400" dirty="0" err="1"/>
              <a:t>ilgili</a:t>
            </a:r>
            <a:r>
              <a:rPr lang="en-US" sz="2400" dirty="0"/>
              <a:t> </a:t>
            </a:r>
            <a:r>
              <a:rPr lang="en-US" sz="2400" dirty="0" err="1"/>
              <a:t>tüm</a:t>
            </a:r>
            <a:r>
              <a:rPr lang="en-US" sz="2400" dirty="0"/>
              <a:t> </a:t>
            </a:r>
            <a:r>
              <a:rPr lang="en-US" sz="2400" dirty="0" err="1"/>
              <a:t>faaliyetleri</a:t>
            </a:r>
            <a:r>
              <a:rPr lang="en-US" sz="2400" dirty="0"/>
              <a:t> </a:t>
            </a:r>
            <a:r>
              <a:rPr lang="en-US" sz="2400" dirty="0" err="1"/>
              <a:t>ve</a:t>
            </a:r>
            <a:r>
              <a:rPr lang="en-US" sz="2400" dirty="0"/>
              <a:t> </a:t>
            </a:r>
            <a:r>
              <a:rPr lang="en-US" sz="2400" dirty="0" err="1"/>
              <a:t>maliyetleri</a:t>
            </a:r>
            <a:r>
              <a:rPr lang="en-US" sz="2400" dirty="0"/>
              <a:t> </a:t>
            </a:r>
            <a:r>
              <a:rPr lang="en-US" sz="2400" dirty="0" err="1"/>
              <a:t>üstlenen</a:t>
            </a:r>
            <a:r>
              <a:rPr lang="en-US" sz="2400" dirty="0"/>
              <a:t> </a:t>
            </a:r>
            <a:r>
              <a:rPr lang="en-US" sz="2400" dirty="0" err="1"/>
              <a:t>bir</a:t>
            </a:r>
            <a:r>
              <a:rPr lang="en-US" sz="2400" dirty="0"/>
              <a:t> leasing </a:t>
            </a:r>
            <a:r>
              <a:rPr lang="en-US" sz="2400" dirty="0" err="1"/>
              <a:t>firmasına</a:t>
            </a:r>
            <a:r>
              <a:rPr lang="en-US" sz="2400" dirty="0"/>
              <a:t> </a:t>
            </a:r>
            <a:r>
              <a:rPr lang="en-US" sz="2400" dirty="0" err="1"/>
              <a:t>aktarır</a:t>
            </a:r>
            <a:r>
              <a:rPr lang="en-US" sz="2400" dirty="0"/>
              <a:t>; </a:t>
            </a:r>
            <a:r>
              <a:rPr lang="en-US" sz="2400" dirty="0" err="1"/>
              <a:t>İşçiler</a:t>
            </a:r>
            <a:r>
              <a:rPr lang="en-US" sz="2400" dirty="0"/>
              <a:t> leasing </a:t>
            </a:r>
            <a:r>
              <a:rPr lang="en-US" sz="2400" dirty="0" err="1"/>
              <a:t>firmasının</a:t>
            </a:r>
            <a:r>
              <a:rPr lang="en-US" sz="2400" dirty="0"/>
              <a:t> </a:t>
            </a:r>
            <a:r>
              <a:rPr lang="en-US" sz="2400" dirty="0" err="1"/>
              <a:t>çalışanları</a:t>
            </a:r>
            <a:r>
              <a:rPr lang="en-US" sz="2400" dirty="0"/>
              <a:t> </a:t>
            </a:r>
            <a:r>
              <a:rPr lang="en-US" sz="2400" dirty="0" err="1"/>
              <a:t>haline</a:t>
            </a:r>
            <a:r>
              <a:rPr lang="en-US" sz="2400" dirty="0"/>
              <a:t> </a:t>
            </a:r>
            <a:r>
              <a:rPr lang="en-US" sz="2400" dirty="0" err="1"/>
              <a:t>gelir</a:t>
            </a:r>
            <a:r>
              <a:rPr lang="en-US" sz="2400" dirty="0"/>
              <a:t>
</a:t>
            </a:r>
            <a:r>
              <a:rPr lang="en-US" sz="2400" dirty="0" err="1"/>
              <a:t>Ortak</a:t>
            </a:r>
            <a:r>
              <a:rPr lang="en-US" sz="2400" dirty="0"/>
              <a:t> </a:t>
            </a:r>
            <a:r>
              <a:rPr lang="en-US" sz="2400" dirty="0" err="1"/>
              <a:t>istihdam</a:t>
            </a:r>
            <a:r>
              <a:rPr lang="en-US" sz="2400" dirty="0"/>
              <a:t> </a:t>
            </a:r>
            <a:r>
              <a:rPr lang="en-US" sz="2400" dirty="0" err="1"/>
              <a:t>ilişkisi</a:t>
            </a:r>
            <a:r>
              <a:rPr lang="en-US" sz="2400" dirty="0"/>
              <a:t>: </a:t>
            </a:r>
            <a:r>
              <a:rPr lang="en-US" sz="2400" dirty="0" err="1"/>
              <a:t>İki</a:t>
            </a:r>
            <a:r>
              <a:rPr lang="en-US" sz="2400" dirty="0"/>
              <a:t> </a:t>
            </a:r>
            <a:r>
              <a:rPr lang="en-US" sz="2400" dirty="0" err="1"/>
              <a:t>işverenin</a:t>
            </a:r>
            <a:r>
              <a:rPr lang="en-US" sz="2400" dirty="0"/>
              <a:t> </a:t>
            </a:r>
            <a:r>
              <a:rPr lang="en-US" sz="2400" dirty="0" err="1"/>
              <a:t>aynı</a:t>
            </a:r>
            <a:r>
              <a:rPr lang="en-US" sz="2400" dirty="0"/>
              <a:t> </a:t>
            </a:r>
            <a:r>
              <a:rPr lang="en-US" sz="2400" dirty="0" err="1"/>
              <a:t>çalışan</a:t>
            </a:r>
            <a:r>
              <a:rPr lang="en-US" sz="2400" dirty="0"/>
              <a:t> </a:t>
            </a:r>
            <a:r>
              <a:rPr lang="en-US" sz="2400" dirty="0" err="1"/>
              <a:t>veya</a:t>
            </a:r>
            <a:r>
              <a:rPr lang="en-US" sz="2400" dirty="0"/>
              <a:t> </a:t>
            </a:r>
            <a:r>
              <a:rPr lang="en-US" sz="2400" dirty="0" err="1"/>
              <a:t>çalışan</a:t>
            </a:r>
            <a:r>
              <a:rPr lang="en-US" sz="2400" dirty="0"/>
              <a:t> </a:t>
            </a:r>
            <a:r>
              <a:rPr lang="en-US" sz="2400" dirty="0" err="1"/>
              <a:t>grubu</a:t>
            </a:r>
            <a:r>
              <a:rPr lang="en-US" sz="2400" dirty="0"/>
              <a:t> </a:t>
            </a:r>
            <a:r>
              <a:rPr lang="en-US" sz="2400" dirty="0" err="1"/>
              <a:t>ile</a:t>
            </a:r>
            <a:r>
              <a:rPr lang="en-US" sz="2400" dirty="0"/>
              <a:t> </a:t>
            </a:r>
            <a:r>
              <a:rPr lang="en-US" sz="2400" dirty="0" err="1"/>
              <a:t>ilgili</a:t>
            </a:r>
            <a:r>
              <a:rPr lang="en-US" sz="2400" dirty="0"/>
              <a:t> </a:t>
            </a:r>
            <a:r>
              <a:rPr lang="en-US" sz="2400" dirty="0" err="1"/>
              <a:t>yasal</a:t>
            </a:r>
            <a:r>
              <a:rPr lang="en-US" sz="2400" dirty="0"/>
              <a:t> </a:t>
            </a:r>
            <a:r>
              <a:rPr lang="en-US" sz="2400" dirty="0" err="1"/>
              <a:t>hak</a:t>
            </a:r>
            <a:r>
              <a:rPr lang="en-US" sz="2400" dirty="0"/>
              <a:t> </a:t>
            </a:r>
            <a:r>
              <a:rPr lang="en-US" sz="2400" dirty="0" err="1"/>
              <a:t>ve</a:t>
            </a:r>
            <a:r>
              <a:rPr lang="en-US" sz="2400" dirty="0"/>
              <a:t> </a:t>
            </a:r>
            <a:r>
              <a:rPr lang="en-US" sz="2400" dirty="0" err="1"/>
              <a:t>görevlere</a:t>
            </a:r>
            <a:r>
              <a:rPr lang="en-US" sz="2400" dirty="0"/>
              <a:t> </a:t>
            </a:r>
            <a:r>
              <a:rPr lang="en-US" sz="2400" dirty="0" err="1"/>
              <a:t>sahip</a:t>
            </a:r>
            <a:r>
              <a:rPr lang="en-US" sz="2400" dirty="0"/>
              <a:t> </a:t>
            </a:r>
            <a:r>
              <a:rPr lang="en-US" sz="2400" dirty="0" err="1"/>
              <a:t>olduğu</a:t>
            </a:r>
            <a:r>
              <a:rPr lang="en-US" sz="2400" dirty="0"/>
              <a:t> </a:t>
            </a:r>
            <a:r>
              <a:rPr lang="en-US" sz="2400" dirty="0" err="1"/>
              <a:t>ilişki</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3629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37618"/>
            <a:ext cx="8415338" cy="5373779"/>
          </a:xfrm>
        </p:spPr>
        <p:txBody>
          <a:bodyPr/>
          <a:lstStyle/>
          <a:p>
            <a:r>
              <a:rPr lang="en-US" sz="2800" dirty="0" err="1"/>
              <a:t>Koşullu</a:t>
            </a:r>
            <a:r>
              <a:rPr lang="en-US" sz="2800" dirty="0"/>
              <a:t> </a:t>
            </a:r>
            <a:r>
              <a:rPr lang="en-US" sz="2800" dirty="0" err="1"/>
              <a:t>işçilerin</a:t>
            </a:r>
            <a:r>
              <a:rPr lang="en-US" sz="2800" dirty="0"/>
              <a:t>, H-1B </a:t>
            </a:r>
            <a:r>
              <a:rPr lang="en-US" sz="2800" dirty="0" err="1"/>
              <a:t>vizesi</a:t>
            </a:r>
            <a:r>
              <a:rPr lang="en-US" sz="2800" dirty="0"/>
              <a:t> </a:t>
            </a:r>
            <a:r>
              <a:rPr lang="en-US" sz="2800" dirty="0" err="1"/>
              <a:t>sahiplerinin</a:t>
            </a:r>
            <a:r>
              <a:rPr lang="en-US" sz="2800" dirty="0"/>
              <a:t> </a:t>
            </a:r>
            <a:r>
              <a:rPr lang="en-US" sz="2800" dirty="0" err="1"/>
              <a:t>ve</a:t>
            </a:r>
            <a:r>
              <a:rPr lang="en-US" sz="2800" dirty="0"/>
              <a:t> </a:t>
            </a:r>
            <a:r>
              <a:rPr lang="en-US" sz="2800" dirty="0" err="1"/>
              <a:t>denizaşırı</a:t>
            </a:r>
            <a:r>
              <a:rPr lang="en-US" sz="2800" dirty="0"/>
              <a:t> </a:t>
            </a:r>
            <a:r>
              <a:rPr lang="en-US" sz="2800" dirty="0" err="1"/>
              <a:t>dış</a:t>
            </a:r>
            <a:r>
              <a:rPr lang="en-US" sz="2800" dirty="0"/>
              <a:t> </a:t>
            </a:r>
            <a:r>
              <a:rPr lang="en-US" sz="2800" dirty="0" err="1"/>
              <a:t>kaynak</a:t>
            </a:r>
            <a:r>
              <a:rPr lang="en-US" sz="2800" dirty="0"/>
              <a:t> </a:t>
            </a:r>
            <a:r>
              <a:rPr lang="en-US" sz="2800" dirty="0" err="1"/>
              <a:t>şirketlerinin</a:t>
            </a:r>
            <a:r>
              <a:rPr lang="en-US" sz="2800" dirty="0"/>
              <a:t> </a:t>
            </a:r>
            <a:r>
              <a:rPr lang="en-US" sz="2800" dirty="0" err="1"/>
              <a:t>kullanımıyla</a:t>
            </a:r>
            <a:r>
              <a:rPr lang="en-US" sz="2800" dirty="0"/>
              <a:t> </a:t>
            </a:r>
            <a:r>
              <a:rPr lang="en-US" sz="2800" dirty="0" err="1"/>
              <a:t>ilgili</a:t>
            </a:r>
            <a:r>
              <a:rPr lang="en-US" sz="2800" dirty="0"/>
              <a:t> hangi </a:t>
            </a:r>
            <a:r>
              <a:rPr lang="en-US" sz="2800" dirty="0" err="1"/>
              <a:t>temel</a:t>
            </a:r>
            <a:r>
              <a:rPr lang="en-US" sz="2800" dirty="0"/>
              <a:t> </a:t>
            </a:r>
            <a:r>
              <a:rPr lang="en-US" sz="2800" dirty="0" err="1"/>
              <a:t>yasal</a:t>
            </a:r>
            <a:r>
              <a:rPr lang="en-US" sz="2800" dirty="0"/>
              <a:t> </a:t>
            </a:r>
            <a:r>
              <a:rPr lang="en-US" sz="2800" dirty="0" err="1"/>
              <a:t>ve</a:t>
            </a:r>
            <a:r>
              <a:rPr lang="en-US" sz="2800" dirty="0"/>
              <a:t> </a:t>
            </a:r>
            <a:r>
              <a:rPr lang="en-US" sz="2800" dirty="0" err="1"/>
              <a:t>etik</a:t>
            </a:r>
            <a:r>
              <a:rPr lang="en-US" sz="2800" dirty="0"/>
              <a:t> </a:t>
            </a:r>
            <a:r>
              <a:rPr lang="en-US" sz="2800" dirty="0" err="1"/>
              <a:t>konular</a:t>
            </a:r>
            <a:r>
              <a:rPr lang="en-US" sz="2800" dirty="0"/>
              <a:t> </a:t>
            </a:r>
            <a:r>
              <a:rPr lang="en-US" sz="2800" dirty="0" err="1"/>
              <a:t>nelerdir</a:t>
            </a:r>
            <a:r>
              <a:rPr lang="en-US" sz="2800" dirty="0"/>
              <a:t>?
PEO: </a:t>
            </a:r>
            <a:r>
              <a:rPr lang="en-US" sz="2800" dirty="0" err="1"/>
              <a:t>Müşterilerinin</a:t>
            </a:r>
            <a:r>
              <a:rPr lang="en-US" sz="2800" dirty="0"/>
              <a:t> </a:t>
            </a:r>
            <a:r>
              <a:rPr lang="en-US" sz="2800" dirty="0" err="1"/>
              <a:t>çalışanlarını</a:t>
            </a:r>
            <a:r>
              <a:rPr lang="en-US" sz="2800" dirty="0"/>
              <a:t> </a:t>
            </a:r>
            <a:r>
              <a:rPr lang="en-US" sz="2800" dirty="0" err="1"/>
              <a:t>işe</a:t>
            </a:r>
            <a:r>
              <a:rPr lang="en-US" sz="2800" dirty="0"/>
              <a:t> </a:t>
            </a:r>
            <a:r>
              <a:rPr lang="en-US" sz="2800" dirty="0" err="1"/>
              <a:t>alan</a:t>
            </a:r>
            <a:r>
              <a:rPr lang="en-US" sz="2800" dirty="0"/>
              <a:t> </a:t>
            </a:r>
            <a:r>
              <a:rPr lang="en-US" sz="2800" dirty="0" err="1"/>
              <a:t>ve</a:t>
            </a:r>
            <a:r>
              <a:rPr lang="en-US" sz="2800" dirty="0"/>
              <a:t> </a:t>
            </a:r>
            <a:r>
              <a:rPr lang="en-US" sz="2800" dirty="0" err="1"/>
              <a:t>tüm</a:t>
            </a:r>
            <a:r>
              <a:rPr lang="en-US" sz="2800" dirty="0"/>
              <a:t> İK </a:t>
            </a:r>
            <a:r>
              <a:rPr lang="en-US" sz="2800" dirty="0" err="1"/>
              <a:t>fonksiyonlarının</a:t>
            </a:r>
            <a:r>
              <a:rPr lang="en-US" sz="2800" dirty="0"/>
              <a:t> </a:t>
            </a:r>
            <a:r>
              <a:rPr lang="en-US" sz="2800" dirty="0" err="1"/>
              <a:t>sorumluluğunu</a:t>
            </a:r>
            <a:r>
              <a:rPr lang="en-US" sz="2800" dirty="0"/>
              <a:t> </a:t>
            </a:r>
            <a:r>
              <a:rPr lang="en-US" sz="2800" dirty="0" err="1"/>
              <a:t>üstlenen</a:t>
            </a:r>
            <a:r>
              <a:rPr lang="en-US" sz="2800" dirty="0"/>
              <a:t> </a:t>
            </a:r>
            <a:r>
              <a:rPr lang="en-US" sz="2800" dirty="0" err="1"/>
              <a:t>bir</a:t>
            </a:r>
            <a:r>
              <a:rPr lang="en-US" sz="2800" dirty="0"/>
              <a:t> </a:t>
            </a:r>
            <a:r>
              <a:rPr lang="en-US" sz="2800" dirty="0" err="1"/>
              <a:t>ticari</a:t>
            </a:r>
            <a:r>
              <a:rPr lang="en-US" sz="2800" dirty="0"/>
              <a:t> </a:t>
            </a:r>
            <a:r>
              <a:rPr lang="en-US" sz="2800" dirty="0" err="1"/>
              <a:t>kuruluş</a:t>
            </a:r>
            <a:r>
              <a:rPr lang="en-US" sz="2800" dirty="0"/>
              <a:t>
</a:t>
            </a:r>
            <a:r>
              <a:rPr lang="en-US" sz="2800" dirty="0" err="1"/>
              <a:t>Esnek</a:t>
            </a:r>
            <a:r>
              <a:rPr lang="en-US" sz="2800" dirty="0"/>
              <a:t> </a:t>
            </a:r>
            <a:r>
              <a:rPr lang="en-US" sz="2800" dirty="0" err="1"/>
              <a:t>ekonomi</a:t>
            </a:r>
            <a:r>
              <a:rPr lang="en-US" sz="2800" dirty="0"/>
              <a:t>: </a:t>
            </a:r>
            <a:r>
              <a:rPr lang="en-US" sz="2800" dirty="0" err="1"/>
              <a:t>Geçici</a:t>
            </a:r>
            <a:r>
              <a:rPr lang="en-US" sz="2800" dirty="0"/>
              <a:t> </a:t>
            </a:r>
            <a:r>
              <a:rPr lang="en-US" sz="2800" dirty="0" err="1"/>
              <a:t>pozisyonların</a:t>
            </a:r>
            <a:r>
              <a:rPr lang="en-US" sz="2800" dirty="0"/>
              <a:t> </a:t>
            </a:r>
            <a:r>
              <a:rPr lang="en-US" sz="2800" dirty="0" err="1"/>
              <a:t>yaygın</a:t>
            </a:r>
            <a:r>
              <a:rPr lang="en-US" sz="2800" dirty="0"/>
              <a:t> </a:t>
            </a:r>
            <a:r>
              <a:rPr lang="en-US" sz="2800" dirty="0" err="1"/>
              <a:t>olduğu</a:t>
            </a:r>
            <a:r>
              <a:rPr lang="en-US" sz="2800" dirty="0"/>
              <a:t> </a:t>
            </a:r>
            <a:r>
              <a:rPr lang="en-US" sz="2800" dirty="0" err="1"/>
              <a:t>ve</a:t>
            </a:r>
            <a:r>
              <a:rPr lang="en-US" sz="2800" dirty="0"/>
              <a:t> </a:t>
            </a:r>
            <a:r>
              <a:rPr lang="en-US" sz="2800" dirty="0" err="1"/>
              <a:t>kuruluşların</a:t>
            </a:r>
            <a:r>
              <a:rPr lang="en-US" sz="2800" dirty="0"/>
              <a:t> </a:t>
            </a:r>
            <a:r>
              <a:rPr lang="en-US" sz="2800" dirty="0" err="1"/>
              <a:t>kısa</a:t>
            </a:r>
            <a:r>
              <a:rPr lang="en-US" sz="2800" dirty="0"/>
              <a:t> </a:t>
            </a:r>
            <a:r>
              <a:rPr lang="en-US" sz="2800" dirty="0" err="1"/>
              <a:t>vadeli</a:t>
            </a:r>
            <a:r>
              <a:rPr lang="en-US" sz="2800" dirty="0"/>
              <a:t> </a:t>
            </a:r>
            <a:r>
              <a:rPr lang="en-US" sz="2800" dirty="0" err="1"/>
              <a:t>sözleşmeler</a:t>
            </a:r>
            <a:r>
              <a:rPr lang="en-US" sz="2800" dirty="0"/>
              <a:t> için </a:t>
            </a:r>
            <a:r>
              <a:rPr lang="en-US" sz="2800" dirty="0" err="1"/>
              <a:t>bağımsız</a:t>
            </a:r>
            <a:r>
              <a:rPr lang="en-US" sz="2800" dirty="0"/>
              <a:t> </a:t>
            </a:r>
            <a:r>
              <a:rPr lang="en-US" sz="2800" dirty="0" err="1"/>
              <a:t>çalışanlarla</a:t>
            </a:r>
            <a:r>
              <a:rPr lang="en-US" sz="2800" dirty="0"/>
              <a:t> </a:t>
            </a:r>
            <a:r>
              <a:rPr lang="en-US" sz="2800" dirty="0" err="1"/>
              <a:t>sözleşme</a:t>
            </a:r>
            <a:r>
              <a:rPr lang="en-US" sz="2800" dirty="0"/>
              <a:t> </a:t>
            </a:r>
            <a:r>
              <a:rPr lang="en-US" sz="2800" dirty="0" err="1"/>
              <a:t>yaptığı</a:t>
            </a:r>
            <a:r>
              <a:rPr lang="en-US" sz="2800" dirty="0"/>
              <a:t> </a:t>
            </a:r>
            <a:r>
              <a:rPr lang="en-US" sz="2800" dirty="0" err="1"/>
              <a:t>bir</a:t>
            </a:r>
            <a:r>
              <a:rPr lang="en-US" sz="2800" dirty="0"/>
              <a:t> </a:t>
            </a:r>
            <a:r>
              <a:rPr lang="en-US" sz="2800" dirty="0" err="1"/>
              <a:t>çalışma</a:t>
            </a:r>
            <a:r>
              <a:rPr lang="en-US" sz="2800" dirty="0"/>
              <a:t> </a:t>
            </a:r>
            <a:r>
              <a:rPr lang="en-US" sz="2800" dirty="0" err="1"/>
              <a:t>ortamı</a:t>
            </a:r>
            <a:r>
              <a:rPr lang="en-US" sz="2800" dirty="0"/>
              <a:t>
</a:t>
            </a:r>
            <a:r>
              <a:rPr lang="en-US" sz="2800" dirty="0" err="1"/>
              <a:t>Bağımsız</a:t>
            </a:r>
            <a:r>
              <a:rPr lang="en-US" sz="2800" dirty="0"/>
              <a:t> </a:t>
            </a:r>
            <a:r>
              <a:rPr lang="en-US" sz="2800" dirty="0" err="1"/>
              <a:t>yüklenici</a:t>
            </a:r>
            <a:r>
              <a:rPr lang="en-US" sz="2800" dirty="0"/>
              <a:t>: </a:t>
            </a:r>
            <a:r>
              <a:rPr lang="en-US" sz="2800" dirty="0" err="1"/>
              <a:t>Yazılı</a:t>
            </a:r>
            <a:r>
              <a:rPr lang="en-US" sz="2800" dirty="0"/>
              <a:t> </a:t>
            </a:r>
            <a:r>
              <a:rPr lang="en-US" sz="2800" dirty="0" err="1"/>
              <a:t>bir</a:t>
            </a:r>
            <a:r>
              <a:rPr lang="en-US" sz="2800" dirty="0"/>
              <a:t> </a:t>
            </a:r>
            <a:r>
              <a:rPr lang="en-US" sz="2800" dirty="0" err="1"/>
              <a:t>sözleşmede</a:t>
            </a:r>
            <a:r>
              <a:rPr lang="en-US" sz="2800" dirty="0"/>
              <a:t> </a:t>
            </a:r>
            <a:r>
              <a:rPr lang="en-US" sz="2800" dirty="0" err="1"/>
              <a:t>veya</a:t>
            </a:r>
            <a:r>
              <a:rPr lang="en-US" sz="2800" dirty="0"/>
              <a:t> </a:t>
            </a:r>
            <a:r>
              <a:rPr lang="en-US" sz="2800" dirty="0" err="1"/>
              <a:t>sözlü</a:t>
            </a:r>
            <a:r>
              <a:rPr lang="en-US" sz="2800" dirty="0"/>
              <a:t> </a:t>
            </a:r>
            <a:r>
              <a:rPr lang="en-US" sz="2800" dirty="0" err="1"/>
              <a:t>bir</a:t>
            </a:r>
            <a:r>
              <a:rPr lang="en-US" sz="2800" dirty="0"/>
              <a:t> </a:t>
            </a:r>
            <a:r>
              <a:rPr lang="en-US" sz="2800" dirty="0" err="1"/>
              <a:t>anlaşmada</a:t>
            </a:r>
            <a:r>
              <a:rPr lang="en-US" sz="2800" dirty="0"/>
              <a:t> </a:t>
            </a:r>
            <a:r>
              <a:rPr lang="en-US" sz="2800" dirty="0" err="1"/>
              <a:t>tanımlanan</a:t>
            </a:r>
            <a:r>
              <a:rPr lang="en-US" sz="2800" dirty="0"/>
              <a:t> </a:t>
            </a:r>
            <a:r>
              <a:rPr lang="en-US" sz="2800" dirty="0" err="1"/>
              <a:t>şartlara</a:t>
            </a:r>
            <a:r>
              <a:rPr lang="en-US" sz="2800" dirty="0"/>
              <a:t> </a:t>
            </a:r>
            <a:r>
              <a:rPr lang="en-US" sz="2800" dirty="0" err="1"/>
              <a:t>göre</a:t>
            </a:r>
            <a:r>
              <a:rPr lang="en-US" sz="2800" dirty="0"/>
              <a:t> </a:t>
            </a:r>
            <a:r>
              <a:rPr lang="en-US" sz="2800" dirty="0" err="1"/>
              <a:t>bir</a:t>
            </a:r>
            <a:r>
              <a:rPr lang="en-US" sz="2800" dirty="0"/>
              <a:t> </a:t>
            </a:r>
            <a:r>
              <a:rPr lang="en-US" sz="2800" dirty="0" err="1"/>
              <a:t>kuruluşa</a:t>
            </a:r>
            <a:r>
              <a:rPr lang="en-US" sz="2800" dirty="0"/>
              <a:t> </a:t>
            </a:r>
            <a:r>
              <a:rPr lang="en-US" sz="2800" dirty="0" err="1"/>
              <a:t>hizmet</a:t>
            </a:r>
            <a:r>
              <a:rPr lang="en-US" sz="2800" dirty="0"/>
              <a:t> </a:t>
            </a:r>
            <a:r>
              <a:rPr lang="en-US" sz="2800" dirty="0" err="1"/>
              <a:t>sağlayan</a:t>
            </a:r>
            <a:r>
              <a:rPr lang="en-US" sz="2800" dirty="0"/>
              <a:t> </a:t>
            </a:r>
            <a:r>
              <a:rPr lang="en-US" sz="2800" dirty="0" err="1"/>
              <a:t>bir</a:t>
            </a:r>
            <a:r>
              <a:rPr lang="en-US" sz="2800" dirty="0"/>
              <a:t> </a:t>
            </a:r>
            <a:r>
              <a:rPr lang="en-US" sz="2800" dirty="0" err="1"/>
              <a:t>işçi</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4835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43000"/>
            <a:ext cx="8415338" cy="4672048"/>
          </a:xfrm>
        </p:spPr>
        <p:txBody>
          <a:bodyPr/>
          <a:lstStyle/>
          <a:p>
            <a:r>
              <a:rPr lang="en-US" sz="2400" dirty="0" err="1"/>
              <a:t>Koşullu</a:t>
            </a:r>
            <a:r>
              <a:rPr lang="en-US" sz="2400" dirty="0"/>
              <a:t> </a:t>
            </a:r>
            <a:r>
              <a:rPr lang="en-US" sz="2400" dirty="0" err="1"/>
              <a:t>işçilerin</a:t>
            </a:r>
            <a:r>
              <a:rPr lang="en-US" sz="2400" dirty="0"/>
              <a:t>, H-1B </a:t>
            </a:r>
            <a:r>
              <a:rPr lang="en-US" sz="2400" dirty="0" err="1"/>
              <a:t>vizesi</a:t>
            </a:r>
            <a:r>
              <a:rPr lang="en-US" sz="2400" dirty="0"/>
              <a:t> </a:t>
            </a:r>
            <a:r>
              <a:rPr lang="en-US" sz="2400" dirty="0" err="1"/>
              <a:t>sahiplerinin</a:t>
            </a:r>
            <a:r>
              <a:rPr lang="en-US" sz="2400" dirty="0"/>
              <a:t> </a:t>
            </a:r>
            <a:r>
              <a:rPr lang="en-US" sz="2400" dirty="0" err="1"/>
              <a:t>ve</a:t>
            </a:r>
            <a:r>
              <a:rPr lang="en-US" sz="2400" dirty="0"/>
              <a:t> </a:t>
            </a:r>
            <a:r>
              <a:rPr lang="en-US" sz="2400" dirty="0" err="1"/>
              <a:t>denizaşırı</a:t>
            </a:r>
            <a:r>
              <a:rPr lang="en-US" sz="2400" dirty="0"/>
              <a:t> </a:t>
            </a:r>
            <a:r>
              <a:rPr lang="en-US" sz="2400" dirty="0" err="1"/>
              <a:t>dış</a:t>
            </a:r>
            <a:r>
              <a:rPr lang="en-US" sz="2400" dirty="0"/>
              <a:t> </a:t>
            </a:r>
            <a:r>
              <a:rPr lang="en-US" sz="2400" dirty="0" err="1"/>
              <a:t>kaynak</a:t>
            </a:r>
            <a:r>
              <a:rPr lang="en-US" sz="2400" dirty="0"/>
              <a:t> </a:t>
            </a:r>
            <a:r>
              <a:rPr lang="en-US" sz="2400" dirty="0" err="1"/>
              <a:t>şirketlerinin</a:t>
            </a:r>
            <a:r>
              <a:rPr lang="en-US" sz="2400" dirty="0"/>
              <a:t> </a:t>
            </a:r>
            <a:r>
              <a:rPr lang="en-US" sz="2400" dirty="0" err="1"/>
              <a:t>kullanımıyla</a:t>
            </a:r>
            <a:r>
              <a:rPr lang="en-US" sz="2400" dirty="0"/>
              <a:t> </a:t>
            </a:r>
            <a:r>
              <a:rPr lang="en-US" sz="2400" dirty="0" err="1"/>
              <a:t>ilgili</a:t>
            </a:r>
            <a:r>
              <a:rPr lang="en-US" sz="2400" dirty="0"/>
              <a:t> hangi </a:t>
            </a:r>
            <a:r>
              <a:rPr lang="en-US" sz="2400" dirty="0" err="1"/>
              <a:t>temel</a:t>
            </a:r>
            <a:r>
              <a:rPr lang="en-US" sz="2400" dirty="0"/>
              <a:t> </a:t>
            </a:r>
            <a:r>
              <a:rPr lang="en-US" sz="2400" dirty="0" err="1"/>
              <a:t>yasal</a:t>
            </a:r>
            <a:r>
              <a:rPr lang="en-US" sz="2400" dirty="0"/>
              <a:t> </a:t>
            </a:r>
            <a:r>
              <a:rPr lang="en-US" sz="2400" dirty="0" err="1"/>
              <a:t>ve</a:t>
            </a:r>
            <a:r>
              <a:rPr lang="en-US" sz="2400" dirty="0"/>
              <a:t> </a:t>
            </a:r>
            <a:r>
              <a:rPr lang="en-US" sz="2400" dirty="0" err="1"/>
              <a:t>etik</a:t>
            </a:r>
            <a:r>
              <a:rPr lang="en-US" sz="2400" dirty="0"/>
              <a:t> </a:t>
            </a:r>
            <a:r>
              <a:rPr lang="en-US" sz="2400" dirty="0" err="1"/>
              <a:t>konular</a:t>
            </a:r>
            <a:r>
              <a:rPr lang="en-US" sz="2400" dirty="0"/>
              <a:t> </a:t>
            </a:r>
            <a:r>
              <a:rPr lang="en-US" sz="2400" dirty="0" err="1"/>
              <a:t>nelerdir</a:t>
            </a:r>
            <a:r>
              <a:rPr lang="en-US" sz="2400" dirty="0"/>
              <a:t>?
</a:t>
            </a:r>
            <a:r>
              <a:rPr lang="en-US" sz="2400" dirty="0" err="1"/>
              <a:t>Kuruluşlar</a:t>
            </a:r>
            <a:r>
              <a:rPr lang="en-US" sz="2400" dirty="0"/>
              <a:t>, </a:t>
            </a:r>
            <a:r>
              <a:rPr lang="en-US" sz="2400" dirty="0" err="1"/>
              <a:t>işçilerin</a:t>
            </a:r>
            <a:r>
              <a:rPr lang="en-US" sz="2400" dirty="0"/>
              <a:t> </a:t>
            </a:r>
            <a:r>
              <a:rPr lang="en-US" sz="2400" dirty="0" err="1"/>
              <a:t>yanlış</a:t>
            </a:r>
            <a:r>
              <a:rPr lang="en-US" sz="2400" dirty="0"/>
              <a:t> </a:t>
            </a:r>
            <a:r>
              <a:rPr lang="en-US" sz="2400" dirty="0" err="1"/>
              <a:t>sınıflandırılması</a:t>
            </a:r>
            <a:r>
              <a:rPr lang="en-US" sz="2400" dirty="0"/>
              <a:t> </a:t>
            </a:r>
            <a:r>
              <a:rPr lang="en-US" sz="2400" dirty="0" err="1"/>
              <a:t>nedeniyle</a:t>
            </a:r>
            <a:r>
              <a:rPr lang="en-US" sz="2400" dirty="0"/>
              <a:t> </a:t>
            </a:r>
            <a:r>
              <a:rPr lang="en-US" sz="2400" dirty="0" err="1"/>
              <a:t>toplu</a:t>
            </a:r>
            <a:r>
              <a:rPr lang="en-US" sz="2400" dirty="0"/>
              <a:t> </a:t>
            </a:r>
            <a:r>
              <a:rPr lang="en-US" sz="2400" dirty="0" err="1"/>
              <a:t>dava</a:t>
            </a:r>
            <a:r>
              <a:rPr lang="en-US" sz="2400" dirty="0"/>
              <a:t> </a:t>
            </a:r>
            <a:r>
              <a:rPr lang="en-US" sz="2400" dirty="0" err="1"/>
              <a:t>açma</a:t>
            </a:r>
            <a:r>
              <a:rPr lang="en-US" sz="2400" dirty="0"/>
              <a:t> </a:t>
            </a:r>
            <a:r>
              <a:rPr lang="en-US" sz="2400" dirty="0" err="1"/>
              <a:t>riskinden</a:t>
            </a:r>
            <a:r>
              <a:rPr lang="en-US" sz="2400" dirty="0"/>
              <a:t> </a:t>
            </a:r>
            <a:r>
              <a:rPr lang="en-US" sz="2400" dirty="0" err="1"/>
              <a:t>kaçınmak</a:t>
            </a:r>
            <a:r>
              <a:rPr lang="en-US" sz="2400" dirty="0"/>
              <a:t> için </a:t>
            </a:r>
            <a:r>
              <a:rPr lang="en-US" sz="2400" dirty="0" err="1"/>
              <a:t>koşullu</a:t>
            </a:r>
            <a:r>
              <a:rPr lang="en-US" sz="2400" dirty="0"/>
              <a:t> </a:t>
            </a:r>
            <a:r>
              <a:rPr lang="en-US" sz="2400" dirty="0" err="1"/>
              <a:t>işçilere</a:t>
            </a:r>
            <a:r>
              <a:rPr lang="en-US" sz="2400" dirty="0"/>
              <a:t> </a:t>
            </a:r>
            <a:r>
              <a:rPr lang="en-US" sz="2400" dirty="0" err="1"/>
              <a:t>nasıl</a:t>
            </a:r>
            <a:r>
              <a:rPr lang="en-US" sz="2400" dirty="0"/>
              <a:t> </a:t>
            </a:r>
            <a:r>
              <a:rPr lang="en-US" sz="2400" dirty="0" err="1"/>
              <a:t>ödeme</a:t>
            </a:r>
            <a:r>
              <a:rPr lang="en-US" sz="2400" dirty="0"/>
              <a:t> </a:t>
            </a:r>
            <a:r>
              <a:rPr lang="en-US" sz="2400" dirty="0" err="1"/>
              <a:t>yaptıklarına</a:t>
            </a:r>
            <a:r>
              <a:rPr lang="en-US" sz="2400" dirty="0"/>
              <a:t> </a:t>
            </a:r>
            <a:r>
              <a:rPr lang="en-US" sz="2400" dirty="0" err="1"/>
              <a:t>ve</a:t>
            </a:r>
            <a:r>
              <a:rPr lang="en-US" sz="2400" dirty="0"/>
              <a:t> </a:t>
            </a:r>
            <a:r>
              <a:rPr lang="en-US" sz="2400" dirty="0" err="1"/>
              <a:t>davrandıklarına</a:t>
            </a:r>
            <a:r>
              <a:rPr lang="en-US" sz="2400" dirty="0"/>
              <a:t> </a:t>
            </a:r>
            <a:r>
              <a:rPr lang="en-US" sz="2400" dirty="0" err="1"/>
              <a:t>dikkat</a:t>
            </a:r>
            <a:r>
              <a:rPr lang="en-US" sz="2400" dirty="0"/>
              <a:t> </a:t>
            </a:r>
            <a:r>
              <a:rPr lang="en-US" sz="2400" dirty="0" err="1"/>
              <a:t>etmelidir</a:t>
            </a:r>
            <a:r>
              <a:rPr lang="en-US" sz="2400" dirty="0"/>
              <a:t>.
</a:t>
            </a:r>
            <a:r>
              <a:rPr lang="en-US" sz="2400" dirty="0" err="1"/>
              <a:t>Koşullu</a:t>
            </a:r>
            <a:r>
              <a:rPr lang="en-US" sz="2400" dirty="0"/>
              <a:t> </a:t>
            </a:r>
            <a:r>
              <a:rPr lang="en-US" sz="2400" dirty="0" err="1"/>
              <a:t>çalışanların</a:t>
            </a:r>
            <a:r>
              <a:rPr lang="en-US" sz="2400" dirty="0"/>
              <a:t> </a:t>
            </a:r>
            <a:r>
              <a:rPr lang="en-US" sz="2400" dirty="0" err="1"/>
              <a:t>avantajları</a:t>
            </a:r>
            <a:r>
              <a:rPr lang="en-US" sz="2400" dirty="0"/>
              <a:t>: </a:t>
            </a:r>
            <a:r>
              <a:rPr lang="en-US" sz="2400" dirty="0" err="1"/>
              <a:t>Firmalar</a:t>
            </a:r>
            <a:r>
              <a:rPr lang="en-US" sz="2400" dirty="0"/>
              <a:t> </a:t>
            </a:r>
            <a:r>
              <a:rPr lang="en-US" sz="2400" dirty="0" err="1"/>
              <a:t>fayda</a:t>
            </a:r>
            <a:r>
              <a:rPr lang="en-US" sz="2400" dirty="0"/>
              <a:t> </a:t>
            </a:r>
            <a:r>
              <a:rPr lang="en-US" sz="2400" dirty="0" err="1"/>
              <a:t>sağlamak</a:t>
            </a:r>
            <a:r>
              <a:rPr lang="en-US" sz="2400" dirty="0"/>
              <a:t> </a:t>
            </a:r>
            <a:r>
              <a:rPr lang="en-US" sz="2400" dirty="0" err="1"/>
              <a:t>zorunda</a:t>
            </a:r>
            <a:r>
              <a:rPr lang="en-US" sz="2400" dirty="0"/>
              <a:t> </a:t>
            </a:r>
            <a:r>
              <a:rPr lang="en-US" sz="2400" dirty="0" err="1"/>
              <a:t>değildir</a:t>
            </a:r>
            <a:r>
              <a:rPr lang="en-US" sz="2400" dirty="0"/>
              <a:t>, </a:t>
            </a:r>
            <a:r>
              <a:rPr lang="en-US" sz="2400" dirty="0" err="1"/>
              <a:t>iş</a:t>
            </a:r>
            <a:r>
              <a:rPr lang="en-US" sz="2400" dirty="0"/>
              <a:t> </a:t>
            </a:r>
            <a:r>
              <a:rPr lang="en-US" sz="2400" dirty="0" err="1"/>
              <a:t>ihtiyaçlarını</a:t>
            </a:r>
            <a:r>
              <a:rPr lang="en-US" sz="2400" dirty="0"/>
              <a:t> </a:t>
            </a:r>
            <a:r>
              <a:rPr lang="en-US" sz="2400" dirty="0" err="1"/>
              <a:t>karşılamak</a:t>
            </a:r>
            <a:r>
              <a:rPr lang="en-US" sz="2400" dirty="0"/>
              <a:t> için </a:t>
            </a:r>
            <a:r>
              <a:rPr lang="en-US" sz="2400" dirty="0" err="1"/>
              <a:t>işçi</a:t>
            </a:r>
            <a:r>
              <a:rPr lang="en-US" sz="2400" dirty="0"/>
              <a:t> </a:t>
            </a:r>
            <a:r>
              <a:rPr lang="en-US" sz="2400" dirty="0" err="1"/>
              <a:t>sayısını</a:t>
            </a:r>
            <a:r>
              <a:rPr lang="en-US" sz="2400" dirty="0"/>
              <a:t> </a:t>
            </a:r>
            <a:r>
              <a:rPr lang="en-US" sz="2400" dirty="0" err="1"/>
              <a:t>kolayca</a:t>
            </a:r>
            <a:r>
              <a:rPr lang="en-US" sz="2400" dirty="0"/>
              <a:t> </a:t>
            </a:r>
            <a:r>
              <a:rPr lang="en-US" sz="2400" dirty="0" err="1"/>
              <a:t>ayarlayabilir</a:t>
            </a:r>
            <a:r>
              <a:rPr lang="en-US" sz="2400" dirty="0"/>
              <a:t> </a:t>
            </a:r>
            <a:r>
              <a:rPr lang="en-US" sz="2400" dirty="0" err="1"/>
              <a:t>ve</a:t>
            </a:r>
            <a:r>
              <a:rPr lang="en-US" sz="2400" dirty="0"/>
              <a:t> </a:t>
            </a:r>
            <a:r>
              <a:rPr lang="en-US" sz="2400" dirty="0" err="1"/>
              <a:t>eğitim</a:t>
            </a:r>
            <a:r>
              <a:rPr lang="en-US" sz="2400" dirty="0"/>
              <a:t> </a:t>
            </a:r>
            <a:r>
              <a:rPr lang="en-US" sz="2400" dirty="0" err="1"/>
              <a:t>maliyetlerine</a:t>
            </a:r>
            <a:r>
              <a:rPr lang="en-US" sz="2400" dirty="0"/>
              <a:t> </a:t>
            </a:r>
            <a:r>
              <a:rPr lang="en-US" sz="2400" dirty="0" err="1"/>
              <a:t>maruz</a:t>
            </a:r>
            <a:r>
              <a:rPr lang="en-US" sz="2400" dirty="0"/>
              <a:t> </a:t>
            </a:r>
            <a:r>
              <a:rPr lang="en-US" sz="2400" dirty="0" err="1"/>
              <a:t>kalmazlar</a:t>
            </a:r>
            <a:r>
              <a:rPr lang="en-US" sz="2400" dirty="0"/>
              <a:t>
</a:t>
            </a:r>
            <a:r>
              <a:rPr lang="en-US" sz="2400" dirty="0" err="1"/>
              <a:t>Koşullu</a:t>
            </a:r>
            <a:r>
              <a:rPr lang="en-US" sz="2400" dirty="0"/>
              <a:t> </a:t>
            </a:r>
            <a:r>
              <a:rPr lang="en-US" sz="2400" dirty="0" err="1"/>
              <a:t>işçilerin</a:t>
            </a:r>
            <a:r>
              <a:rPr lang="en-US" sz="2400" dirty="0"/>
              <a:t> </a:t>
            </a:r>
            <a:r>
              <a:rPr lang="en-US" sz="2400" dirty="0" err="1"/>
              <a:t>dezavantajları</a:t>
            </a:r>
            <a:r>
              <a:rPr lang="en-US" sz="2400" dirty="0"/>
              <a:t>: </a:t>
            </a:r>
            <a:r>
              <a:rPr lang="en-US" sz="2400" dirty="0" err="1"/>
              <a:t>İşçilerin</a:t>
            </a:r>
            <a:r>
              <a:rPr lang="en-US" sz="2400" dirty="0"/>
              <a:t> </a:t>
            </a:r>
            <a:r>
              <a:rPr lang="en-US" sz="2400" dirty="0" err="1"/>
              <a:t>şirkete</a:t>
            </a:r>
            <a:r>
              <a:rPr lang="en-US" sz="2400" dirty="0"/>
              <a:t> </a:t>
            </a:r>
            <a:r>
              <a:rPr lang="en-US" sz="2400" dirty="0" err="1"/>
              <a:t>bağlılıkları</a:t>
            </a:r>
            <a:r>
              <a:rPr lang="en-US" sz="2400" dirty="0"/>
              <a:t> </a:t>
            </a:r>
            <a:r>
              <a:rPr lang="en-US" sz="2400" dirty="0" err="1"/>
              <a:t>düşük</a:t>
            </a:r>
            <a:r>
              <a:rPr lang="en-US" sz="2400" dirty="0"/>
              <a:t> </a:t>
            </a:r>
            <a:r>
              <a:rPr lang="en-US" sz="2400" dirty="0" err="1"/>
              <a:t>olabilir</a:t>
            </a:r>
            <a:r>
              <a:rPr lang="en-US" sz="2400" dirty="0"/>
              <a:t> </a:t>
            </a:r>
            <a:r>
              <a:rPr lang="en-US" sz="2400" dirty="0" err="1"/>
              <a:t>ve</a:t>
            </a:r>
            <a:r>
              <a:rPr lang="en-US" sz="2400" dirty="0"/>
              <a:t> </a:t>
            </a:r>
            <a:r>
              <a:rPr lang="en-US" sz="2400" dirty="0" err="1"/>
              <a:t>işçi</a:t>
            </a:r>
            <a:r>
              <a:rPr lang="en-US" sz="2400" dirty="0"/>
              <a:t> </a:t>
            </a:r>
            <a:r>
              <a:rPr lang="en-US" sz="2400" dirty="0" err="1"/>
              <a:t>bir</a:t>
            </a:r>
            <a:r>
              <a:rPr lang="en-US" sz="2400" dirty="0"/>
              <a:t> </a:t>
            </a:r>
            <a:r>
              <a:rPr lang="en-US" sz="2400" dirty="0" err="1"/>
              <a:t>projenin</a:t>
            </a:r>
            <a:r>
              <a:rPr lang="en-US" sz="2400" dirty="0"/>
              <a:t> </a:t>
            </a:r>
            <a:r>
              <a:rPr lang="en-US" sz="2400" dirty="0" err="1"/>
              <a:t>bitiminde</a:t>
            </a:r>
            <a:r>
              <a:rPr lang="en-US" sz="2400" dirty="0"/>
              <a:t> </a:t>
            </a:r>
            <a:r>
              <a:rPr lang="en-US" sz="2400" dirty="0" err="1"/>
              <a:t>ayrıldığında</a:t>
            </a:r>
            <a:r>
              <a:rPr lang="en-US" sz="2400" dirty="0"/>
              <a:t> </a:t>
            </a:r>
            <a:r>
              <a:rPr lang="en-US" sz="2400" dirty="0" err="1"/>
              <a:t>koşullu</a:t>
            </a:r>
            <a:r>
              <a:rPr lang="en-US" sz="2400" dirty="0"/>
              <a:t> </a:t>
            </a:r>
            <a:r>
              <a:rPr lang="en-US" sz="2400" dirty="0" err="1"/>
              <a:t>bir</a:t>
            </a:r>
            <a:r>
              <a:rPr lang="en-US" sz="2400" dirty="0"/>
              <a:t> </a:t>
            </a:r>
            <a:r>
              <a:rPr lang="en-US" sz="2400" dirty="0" err="1"/>
              <a:t>işçinin</a:t>
            </a:r>
            <a:r>
              <a:rPr lang="en-US" sz="2400" dirty="0"/>
              <a:t> </a:t>
            </a:r>
            <a:r>
              <a:rPr lang="en-US" sz="2400" dirty="0" err="1"/>
              <a:t>becerileri</a:t>
            </a:r>
            <a:r>
              <a:rPr lang="en-US" sz="2400" dirty="0"/>
              <a:t>/</a:t>
            </a:r>
            <a:r>
              <a:rPr lang="en-US" sz="2400" dirty="0" err="1"/>
              <a:t>bilgileri</a:t>
            </a:r>
            <a:r>
              <a:rPr lang="en-US" sz="2400" dirty="0"/>
              <a:t> </a:t>
            </a:r>
            <a:r>
              <a:rPr lang="en-US" sz="2400" dirty="0" err="1"/>
              <a:t>kaybolur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0868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143000"/>
            <a:ext cx="8559800" cy="4979825"/>
          </a:xfrm>
        </p:spPr>
        <p:txBody>
          <a:bodyPr/>
          <a:lstStyle/>
          <a:p>
            <a:r>
              <a:rPr lang="en-US" sz="2400" dirty="0" err="1"/>
              <a:t>Koşullu</a:t>
            </a:r>
            <a:r>
              <a:rPr lang="en-US" sz="2400" dirty="0"/>
              <a:t> </a:t>
            </a:r>
            <a:r>
              <a:rPr lang="en-US" sz="2400" dirty="0" err="1"/>
              <a:t>işçilerin</a:t>
            </a:r>
            <a:r>
              <a:rPr lang="en-US" sz="2400" dirty="0"/>
              <a:t>, H-1B </a:t>
            </a:r>
            <a:r>
              <a:rPr lang="en-US" sz="2400" dirty="0" err="1"/>
              <a:t>vizesi</a:t>
            </a:r>
            <a:r>
              <a:rPr lang="en-US" sz="2400" dirty="0"/>
              <a:t> </a:t>
            </a:r>
            <a:r>
              <a:rPr lang="en-US" sz="2400" dirty="0" err="1"/>
              <a:t>sahiplerinin</a:t>
            </a:r>
            <a:r>
              <a:rPr lang="en-US" sz="2400" dirty="0"/>
              <a:t> </a:t>
            </a:r>
            <a:r>
              <a:rPr lang="en-US" sz="2400" dirty="0" err="1"/>
              <a:t>ve</a:t>
            </a:r>
            <a:r>
              <a:rPr lang="en-US" sz="2400" dirty="0"/>
              <a:t> </a:t>
            </a:r>
            <a:r>
              <a:rPr lang="en-US" sz="2400" dirty="0" err="1"/>
              <a:t>denizaşırı</a:t>
            </a:r>
            <a:r>
              <a:rPr lang="en-US" sz="2400" dirty="0"/>
              <a:t> </a:t>
            </a:r>
            <a:r>
              <a:rPr lang="en-US" sz="2400" dirty="0" err="1"/>
              <a:t>dış</a:t>
            </a:r>
            <a:r>
              <a:rPr lang="en-US" sz="2400" dirty="0"/>
              <a:t> </a:t>
            </a:r>
            <a:r>
              <a:rPr lang="en-US" sz="2400" dirty="0" err="1"/>
              <a:t>kaynak</a:t>
            </a:r>
            <a:r>
              <a:rPr lang="en-US" sz="2400" dirty="0"/>
              <a:t> </a:t>
            </a:r>
            <a:r>
              <a:rPr lang="en-US" sz="2400" dirty="0" err="1"/>
              <a:t>şirketlerinin</a:t>
            </a:r>
            <a:r>
              <a:rPr lang="en-US" sz="2400" dirty="0"/>
              <a:t> </a:t>
            </a:r>
            <a:r>
              <a:rPr lang="en-US" sz="2400" dirty="0" err="1"/>
              <a:t>kullanımıyla</a:t>
            </a:r>
            <a:r>
              <a:rPr lang="en-US" sz="2400" dirty="0"/>
              <a:t> </a:t>
            </a:r>
            <a:r>
              <a:rPr lang="en-US" sz="2400" dirty="0" err="1"/>
              <a:t>ilgili</a:t>
            </a:r>
            <a:r>
              <a:rPr lang="en-US" sz="2400" dirty="0"/>
              <a:t> hangi </a:t>
            </a:r>
            <a:r>
              <a:rPr lang="en-US" sz="2400" dirty="0" err="1"/>
              <a:t>temel</a:t>
            </a:r>
            <a:r>
              <a:rPr lang="en-US" sz="2400" dirty="0"/>
              <a:t> </a:t>
            </a:r>
            <a:r>
              <a:rPr lang="en-US" sz="2400" dirty="0" err="1"/>
              <a:t>yasal</a:t>
            </a:r>
            <a:r>
              <a:rPr lang="en-US" sz="2400" dirty="0"/>
              <a:t> </a:t>
            </a:r>
            <a:r>
              <a:rPr lang="en-US" sz="2400" dirty="0" err="1"/>
              <a:t>ve</a:t>
            </a:r>
            <a:r>
              <a:rPr lang="en-US" sz="2400" dirty="0"/>
              <a:t> </a:t>
            </a:r>
            <a:r>
              <a:rPr lang="en-US" sz="2400" dirty="0" err="1"/>
              <a:t>etik</a:t>
            </a:r>
            <a:r>
              <a:rPr lang="en-US" sz="2400" dirty="0"/>
              <a:t> </a:t>
            </a:r>
            <a:r>
              <a:rPr lang="en-US" sz="2400" dirty="0" err="1"/>
              <a:t>konular</a:t>
            </a:r>
            <a:r>
              <a:rPr lang="en-US" sz="2400" dirty="0"/>
              <a:t> </a:t>
            </a:r>
            <a:r>
              <a:rPr lang="en-US" sz="2400" dirty="0" err="1"/>
              <a:t>nelerdir</a:t>
            </a:r>
            <a:r>
              <a:rPr lang="en-US" sz="2400" dirty="0"/>
              <a:t>?
H-1B </a:t>
            </a:r>
            <a:r>
              <a:rPr lang="en-US" sz="2400" dirty="0" err="1"/>
              <a:t>vizesi</a:t>
            </a:r>
            <a:r>
              <a:rPr lang="en-US" sz="2400" dirty="0"/>
              <a:t>: Özel </a:t>
            </a:r>
            <a:r>
              <a:rPr lang="en-US" sz="2400" dirty="0" err="1"/>
              <a:t>mesleklerde</a:t>
            </a:r>
            <a:r>
              <a:rPr lang="en-US" sz="2400" dirty="0"/>
              <a:t> </a:t>
            </a:r>
            <a:r>
              <a:rPr lang="en-US" sz="2400" dirty="0" err="1"/>
              <a:t>çalışan</a:t>
            </a:r>
            <a:r>
              <a:rPr lang="en-US" sz="2400" dirty="0"/>
              <a:t> </a:t>
            </a:r>
            <a:r>
              <a:rPr lang="en-US" sz="2400" dirty="0" err="1"/>
              <a:t>kişiler</a:t>
            </a:r>
            <a:r>
              <a:rPr lang="en-US" sz="2400" dirty="0"/>
              <a:t> için </a:t>
            </a:r>
            <a:r>
              <a:rPr lang="en-US" sz="2400" dirty="0" err="1"/>
              <a:t>geçici</a:t>
            </a:r>
            <a:r>
              <a:rPr lang="en-US" sz="2400" dirty="0"/>
              <a:t> </a:t>
            </a:r>
            <a:r>
              <a:rPr lang="en-US" sz="2400" dirty="0" err="1"/>
              <a:t>çalışma</a:t>
            </a:r>
            <a:r>
              <a:rPr lang="en-US" sz="2400" dirty="0"/>
              <a:t> </a:t>
            </a:r>
            <a:r>
              <a:rPr lang="en-US" sz="2400" dirty="0" err="1"/>
              <a:t>vizesi</a:t>
            </a:r>
            <a:r>
              <a:rPr lang="en-US" sz="2400" dirty="0"/>
              <a:t>
</a:t>
            </a:r>
            <a:r>
              <a:rPr lang="en-US" sz="2400" dirty="0" err="1"/>
              <a:t>ABD'de</a:t>
            </a:r>
            <a:r>
              <a:rPr lang="en-US" sz="2400" dirty="0"/>
              <a:t> </a:t>
            </a:r>
            <a:r>
              <a:rPr lang="en-US" sz="2400" dirty="0" err="1"/>
              <a:t>kolayca</a:t>
            </a:r>
            <a:r>
              <a:rPr lang="en-US" sz="2400" dirty="0"/>
              <a:t> </a:t>
            </a:r>
            <a:r>
              <a:rPr lang="en-US" sz="2400" dirty="0" err="1"/>
              <a:t>bulunamayan</a:t>
            </a:r>
            <a:r>
              <a:rPr lang="en-US" sz="2400" dirty="0"/>
              <a:t> </a:t>
            </a:r>
            <a:r>
              <a:rPr lang="en-US" sz="2400" dirty="0" err="1"/>
              <a:t>temel</a:t>
            </a:r>
            <a:r>
              <a:rPr lang="en-US" sz="2400" dirty="0"/>
              <a:t> </a:t>
            </a:r>
            <a:r>
              <a:rPr lang="en-US" sz="2400" dirty="0" err="1"/>
              <a:t>teknik</a:t>
            </a:r>
            <a:r>
              <a:rPr lang="en-US" sz="2400" dirty="0"/>
              <a:t> </a:t>
            </a:r>
            <a:r>
              <a:rPr lang="en-US" sz="2400" dirty="0" err="1"/>
              <a:t>becerileri</a:t>
            </a:r>
            <a:r>
              <a:rPr lang="en-US" sz="2400" dirty="0"/>
              <a:t> </a:t>
            </a:r>
            <a:r>
              <a:rPr lang="en-US" sz="2400" dirty="0" err="1"/>
              <a:t>veya</a:t>
            </a:r>
            <a:r>
              <a:rPr lang="en-US" sz="2400" dirty="0"/>
              <a:t> </a:t>
            </a:r>
            <a:r>
              <a:rPr lang="en-US" sz="2400" dirty="0" err="1"/>
              <a:t>bilgileri</a:t>
            </a:r>
            <a:r>
              <a:rPr lang="en-US" sz="2400" dirty="0"/>
              <a:t> </a:t>
            </a:r>
            <a:r>
              <a:rPr lang="en-US" sz="2400" dirty="0" err="1"/>
              <a:t>elde</a:t>
            </a:r>
            <a:r>
              <a:rPr lang="en-US" sz="2400" dirty="0"/>
              <a:t> </a:t>
            </a:r>
            <a:r>
              <a:rPr lang="en-US" sz="2400" dirty="0" err="1"/>
              <a:t>etmek</a:t>
            </a:r>
            <a:r>
              <a:rPr lang="en-US" sz="2400" dirty="0"/>
              <a:t> için </a:t>
            </a:r>
            <a:r>
              <a:rPr lang="en-US" sz="2400" dirty="0" err="1"/>
              <a:t>kullanılır</a:t>
            </a:r>
            <a:r>
              <a:rPr lang="en-US" sz="2400" dirty="0"/>
              <a:t>.
</a:t>
            </a:r>
            <a:r>
              <a:rPr lang="en-US" sz="2400" dirty="0" err="1"/>
              <a:t>Kongre</a:t>
            </a:r>
            <a:r>
              <a:rPr lang="en-US" sz="2400" dirty="0"/>
              <a:t>, H-1B </a:t>
            </a:r>
            <a:r>
              <a:rPr lang="en-US" sz="2400" dirty="0" err="1"/>
              <a:t>vizelerinin</a:t>
            </a:r>
            <a:r>
              <a:rPr lang="en-US" sz="2400" dirty="0"/>
              <a:t> </a:t>
            </a:r>
            <a:r>
              <a:rPr lang="en-US" sz="2400" dirty="0" err="1"/>
              <a:t>sayısına</a:t>
            </a:r>
            <a:r>
              <a:rPr lang="en-US" sz="2400" dirty="0"/>
              <a:t> </a:t>
            </a:r>
            <a:r>
              <a:rPr lang="en-US" sz="2400" dirty="0" err="1"/>
              <a:t>yıllık</a:t>
            </a:r>
            <a:r>
              <a:rPr lang="en-US" sz="2400" dirty="0"/>
              <a:t> </a:t>
            </a:r>
            <a:r>
              <a:rPr lang="en-US" sz="2400" dirty="0" err="1"/>
              <a:t>bir</a:t>
            </a:r>
            <a:r>
              <a:rPr lang="en-US" sz="2400" dirty="0"/>
              <a:t> </a:t>
            </a:r>
            <a:r>
              <a:rPr lang="en-US" sz="2400" dirty="0" err="1"/>
              <a:t>sınır</a:t>
            </a:r>
            <a:r>
              <a:rPr lang="en-US" sz="2400" dirty="0"/>
              <a:t> </a:t>
            </a:r>
            <a:r>
              <a:rPr lang="en-US" sz="2400" dirty="0" err="1"/>
              <a:t>koyar</a:t>
            </a:r>
            <a:r>
              <a:rPr lang="en-US" sz="2400" dirty="0"/>
              <a:t>; </a:t>
            </a:r>
            <a:r>
              <a:rPr lang="en-US" sz="2400" dirty="0" err="1"/>
              <a:t>Verilen</a:t>
            </a:r>
            <a:r>
              <a:rPr lang="en-US" sz="2400" dirty="0"/>
              <a:t> </a:t>
            </a:r>
            <a:r>
              <a:rPr lang="en-US" sz="2400" dirty="0" err="1"/>
              <a:t>sayı</a:t>
            </a:r>
            <a:r>
              <a:rPr lang="en-US" sz="2400" dirty="0"/>
              <a:t> </a:t>
            </a:r>
            <a:r>
              <a:rPr lang="en-US" sz="2400" dirty="0" err="1"/>
              <a:t>istisnalar</a:t>
            </a:r>
            <a:r>
              <a:rPr lang="en-US" sz="2400" dirty="0"/>
              <a:t> </a:t>
            </a:r>
            <a:r>
              <a:rPr lang="en-US" sz="2400" dirty="0" err="1"/>
              <a:t>nedeniyle</a:t>
            </a:r>
            <a:r>
              <a:rPr lang="en-US" sz="2400" dirty="0"/>
              <a:t> </a:t>
            </a:r>
            <a:r>
              <a:rPr lang="en-US" sz="2400" dirty="0" err="1"/>
              <a:t>değişir</a:t>
            </a:r>
            <a:r>
              <a:rPr lang="en-US" sz="2400" dirty="0"/>
              <a:t>.
H-1B </a:t>
            </a:r>
            <a:r>
              <a:rPr lang="en-US" sz="2400" dirty="0" err="1"/>
              <a:t>vizesi</a:t>
            </a:r>
            <a:r>
              <a:rPr lang="en-US" sz="2400" dirty="0"/>
              <a:t> </a:t>
            </a:r>
            <a:r>
              <a:rPr lang="en-US" sz="2400" dirty="0" err="1"/>
              <a:t>kullanan</a:t>
            </a:r>
            <a:r>
              <a:rPr lang="en-US" sz="2400" dirty="0"/>
              <a:t> </a:t>
            </a:r>
            <a:r>
              <a:rPr lang="en-US" sz="2400" dirty="0" err="1"/>
              <a:t>şirketler</a:t>
            </a:r>
            <a:r>
              <a:rPr lang="en-US" sz="2400" dirty="0"/>
              <a:t>, </a:t>
            </a:r>
            <a:r>
              <a:rPr lang="en-US" sz="2400" dirty="0" err="1"/>
              <a:t>meslek</a:t>
            </a:r>
            <a:r>
              <a:rPr lang="en-US" sz="2400" dirty="0"/>
              <a:t> için </a:t>
            </a:r>
            <a:r>
              <a:rPr lang="en-US" sz="2400" dirty="0" err="1"/>
              <a:t>ortalama</a:t>
            </a:r>
            <a:r>
              <a:rPr lang="en-US" sz="2400" dirty="0"/>
              <a:t> </a:t>
            </a:r>
            <a:r>
              <a:rPr lang="en-US" sz="2400" dirty="0" err="1"/>
              <a:t>maaşın</a:t>
            </a:r>
            <a:r>
              <a:rPr lang="en-US" sz="2400" dirty="0"/>
              <a:t> </a:t>
            </a:r>
            <a:r>
              <a:rPr lang="en-US" sz="2400" dirty="0" err="1"/>
              <a:t>en</a:t>
            </a:r>
            <a:r>
              <a:rPr lang="en-US" sz="2400" dirty="0"/>
              <a:t> </a:t>
            </a:r>
            <a:r>
              <a:rPr lang="en-US" sz="2400" dirty="0" err="1"/>
              <a:t>az</a:t>
            </a:r>
            <a:r>
              <a:rPr lang="en-US" sz="2400" dirty="0"/>
              <a:t> %95'i </a:t>
            </a:r>
            <a:r>
              <a:rPr lang="en-US" sz="2400" dirty="0" err="1"/>
              <a:t>kadar</a:t>
            </a:r>
            <a:r>
              <a:rPr lang="en-US" sz="2400" dirty="0"/>
              <a:t> </a:t>
            </a:r>
            <a:r>
              <a:rPr lang="en-US" sz="2400" dirty="0" err="1"/>
              <a:t>bir</a:t>
            </a:r>
            <a:r>
              <a:rPr lang="en-US" sz="2400" dirty="0"/>
              <a:t> </a:t>
            </a:r>
            <a:r>
              <a:rPr lang="en-US" sz="2400" dirty="0" err="1"/>
              <a:t>ücret</a:t>
            </a:r>
            <a:r>
              <a:rPr lang="en-US" sz="2400" dirty="0"/>
              <a:t> </a:t>
            </a:r>
            <a:r>
              <a:rPr lang="en-US" sz="2400" dirty="0" err="1"/>
              <a:t>teklif</a:t>
            </a:r>
            <a:r>
              <a:rPr lang="en-US" sz="2400" dirty="0"/>
              <a:t> </a:t>
            </a:r>
            <a:r>
              <a:rPr lang="en-US" sz="2400" dirty="0" err="1"/>
              <a:t>etmelidir</a:t>
            </a:r>
            <a:r>
              <a:rPr lang="en-US" sz="2400" dirty="0"/>
              <a:t>
</a:t>
            </a:r>
            <a:r>
              <a:rPr lang="en-US" sz="2400" dirty="0" err="1"/>
              <a:t>BT'deki</a:t>
            </a:r>
            <a:r>
              <a:rPr lang="en-US" sz="2400" dirty="0"/>
              <a:t> </a:t>
            </a:r>
            <a:r>
              <a:rPr lang="en-US" sz="2400" dirty="0" err="1"/>
              <a:t>ücretler</a:t>
            </a:r>
            <a:r>
              <a:rPr lang="en-US" sz="2400" dirty="0"/>
              <a:t> </a:t>
            </a:r>
            <a:r>
              <a:rPr lang="en-US" sz="2400" dirty="0" err="1"/>
              <a:t>önemli</a:t>
            </a:r>
            <a:r>
              <a:rPr lang="en-US" sz="2400" dirty="0"/>
              <a:t> </a:t>
            </a:r>
            <a:r>
              <a:rPr lang="en-US" sz="2400" dirty="0" err="1"/>
              <a:t>ölçüde</a:t>
            </a:r>
            <a:r>
              <a:rPr lang="en-US" sz="2400" dirty="0"/>
              <a:t> </a:t>
            </a:r>
            <a:r>
              <a:rPr lang="en-US" sz="2400" dirty="0" err="1"/>
              <a:t>değişir</a:t>
            </a:r>
            <a:r>
              <a:rPr lang="en-US" sz="2400" dirty="0"/>
              <a:t>, </a:t>
            </a:r>
            <a:r>
              <a:rPr lang="en-US" sz="2400" dirty="0" err="1"/>
              <a:t>bu</a:t>
            </a:r>
            <a:r>
              <a:rPr lang="en-US" sz="2400" dirty="0"/>
              <a:t> </a:t>
            </a:r>
            <a:r>
              <a:rPr lang="en-US" sz="2400" dirty="0" err="1"/>
              <a:t>nedenle</a:t>
            </a:r>
            <a:r>
              <a:rPr lang="en-US" sz="2400" dirty="0"/>
              <a:t> </a:t>
            </a:r>
            <a:r>
              <a:rPr lang="en-US" sz="2400" dirty="0" err="1"/>
              <a:t>etik</a:t>
            </a:r>
            <a:r>
              <a:rPr lang="en-US" sz="2400" dirty="0"/>
              <a:t> </a:t>
            </a:r>
            <a:r>
              <a:rPr lang="en-US" sz="2400" dirty="0" err="1"/>
              <a:t>olmayan</a:t>
            </a:r>
            <a:r>
              <a:rPr lang="en-US" sz="2400" dirty="0"/>
              <a:t> </a:t>
            </a:r>
            <a:r>
              <a:rPr lang="en-US" sz="2400" dirty="0" err="1"/>
              <a:t>şirketler</a:t>
            </a:r>
            <a:r>
              <a:rPr lang="en-US" sz="2400" dirty="0"/>
              <a:t> </a:t>
            </a:r>
            <a:r>
              <a:rPr lang="en-US" sz="2400" dirty="0" err="1"/>
              <a:t>ortalama</a:t>
            </a:r>
            <a:r>
              <a:rPr lang="en-US" sz="2400" dirty="0"/>
              <a:t> </a:t>
            </a:r>
            <a:r>
              <a:rPr lang="en-US" sz="2400" dirty="0" err="1"/>
              <a:t>maaş</a:t>
            </a:r>
            <a:r>
              <a:rPr lang="en-US" sz="2400" dirty="0"/>
              <a:t> </a:t>
            </a:r>
            <a:r>
              <a:rPr lang="en-US" sz="2400" dirty="0" err="1"/>
              <a:t>gereksinimini</a:t>
            </a:r>
            <a:r>
              <a:rPr lang="en-US" sz="2400" dirty="0"/>
              <a:t> </a:t>
            </a:r>
            <a:r>
              <a:rPr lang="en-US" sz="2400" dirty="0" err="1"/>
              <a:t>aşabilir</a:t>
            </a:r>
            <a:r>
              <a:rPr lang="en-US" sz="2400" dirty="0"/>
              <a:t>.</a:t>
            </a:r>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8451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475071"/>
          </a:xfrm>
        </p:spPr>
        <p:txBody>
          <a:bodyPr/>
          <a:lstStyle/>
          <a:p>
            <a:r>
              <a:rPr lang="en-US" sz="2400" dirty="0" err="1"/>
              <a:t>Koşullu</a:t>
            </a:r>
            <a:r>
              <a:rPr lang="en-US" sz="2400" dirty="0"/>
              <a:t> </a:t>
            </a:r>
            <a:r>
              <a:rPr lang="en-US" sz="2400" dirty="0" err="1"/>
              <a:t>işçilerin</a:t>
            </a:r>
            <a:r>
              <a:rPr lang="en-US" sz="2400" dirty="0"/>
              <a:t>, H-1B </a:t>
            </a:r>
            <a:r>
              <a:rPr lang="en-US" sz="2400" dirty="0" err="1"/>
              <a:t>vizesi</a:t>
            </a:r>
            <a:r>
              <a:rPr lang="en-US" sz="2400" dirty="0"/>
              <a:t> </a:t>
            </a:r>
            <a:r>
              <a:rPr lang="en-US" sz="2400" dirty="0" err="1"/>
              <a:t>sahiplerinin</a:t>
            </a:r>
            <a:r>
              <a:rPr lang="en-US" sz="2400" dirty="0"/>
              <a:t> </a:t>
            </a:r>
            <a:r>
              <a:rPr lang="en-US" sz="2400" dirty="0" err="1"/>
              <a:t>ve</a:t>
            </a:r>
            <a:r>
              <a:rPr lang="en-US" sz="2400" dirty="0"/>
              <a:t> </a:t>
            </a:r>
            <a:r>
              <a:rPr lang="en-US" sz="2400" dirty="0" err="1"/>
              <a:t>denizaşırı</a:t>
            </a:r>
            <a:r>
              <a:rPr lang="en-US" sz="2400" dirty="0"/>
              <a:t> </a:t>
            </a:r>
            <a:r>
              <a:rPr lang="en-US" sz="2400" dirty="0" err="1"/>
              <a:t>dış</a:t>
            </a:r>
            <a:r>
              <a:rPr lang="en-US" sz="2400" dirty="0"/>
              <a:t> </a:t>
            </a:r>
            <a:r>
              <a:rPr lang="en-US" sz="2400" dirty="0" err="1"/>
              <a:t>kaynak</a:t>
            </a:r>
            <a:r>
              <a:rPr lang="en-US" sz="2400" dirty="0"/>
              <a:t> </a:t>
            </a:r>
            <a:r>
              <a:rPr lang="en-US" sz="2400" dirty="0" err="1"/>
              <a:t>şirketlerinin</a:t>
            </a:r>
            <a:r>
              <a:rPr lang="en-US" sz="2400" dirty="0"/>
              <a:t> </a:t>
            </a:r>
            <a:r>
              <a:rPr lang="en-US" sz="2400" dirty="0" err="1"/>
              <a:t>kullanımıyla</a:t>
            </a:r>
            <a:r>
              <a:rPr lang="en-US" sz="2400" dirty="0"/>
              <a:t> </a:t>
            </a:r>
            <a:r>
              <a:rPr lang="en-US" sz="2400" dirty="0" err="1"/>
              <a:t>ilgili</a:t>
            </a:r>
            <a:r>
              <a:rPr lang="en-US" sz="2400" dirty="0"/>
              <a:t> hangi </a:t>
            </a:r>
            <a:r>
              <a:rPr lang="en-US" sz="2400" dirty="0" err="1"/>
              <a:t>temel</a:t>
            </a:r>
            <a:r>
              <a:rPr lang="en-US" sz="2400" dirty="0"/>
              <a:t> </a:t>
            </a:r>
            <a:r>
              <a:rPr lang="en-US" sz="2400" dirty="0" err="1"/>
              <a:t>yasal</a:t>
            </a:r>
            <a:r>
              <a:rPr lang="en-US" sz="2400" dirty="0"/>
              <a:t> </a:t>
            </a:r>
            <a:r>
              <a:rPr lang="en-US" sz="2400" dirty="0" err="1"/>
              <a:t>ve</a:t>
            </a:r>
            <a:r>
              <a:rPr lang="en-US" sz="2400" dirty="0"/>
              <a:t> </a:t>
            </a:r>
            <a:r>
              <a:rPr lang="en-US" sz="2400" dirty="0" err="1"/>
              <a:t>etik</a:t>
            </a:r>
            <a:r>
              <a:rPr lang="en-US" sz="2400" dirty="0"/>
              <a:t> </a:t>
            </a:r>
            <a:r>
              <a:rPr lang="en-US" sz="2400" dirty="0" err="1"/>
              <a:t>konular</a:t>
            </a:r>
            <a:r>
              <a:rPr lang="en-US" sz="2400" dirty="0"/>
              <a:t> </a:t>
            </a:r>
            <a:r>
              <a:rPr lang="en-US" sz="2400" dirty="0" err="1"/>
              <a:t>nelerdir</a:t>
            </a:r>
            <a:r>
              <a:rPr lang="en-US" sz="2400" dirty="0"/>
              <a:t>?
H-1B </a:t>
            </a:r>
            <a:r>
              <a:rPr lang="en-US" sz="2400" dirty="0" err="1"/>
              <a:t>işçilerini</a:t>
            </a:r>
            <a:r>
              <a:rPr lang="en-US" sz="2400" dirty="0"/>
              <a:t> </a:t>
            </a:r>
            <a:r>
              <a:rPr lang="en-US" sz="2400" dirty="0" err="1"/>
              <a:t>istihdam</a:t>
            </a:r>
            <a:r>
              <a:rPr lang="en-US" sz="2400" dirty="0"/>
              <a:t> </a:t>
            </a:r>
            <a:r>
              <a:rPr lang="en-US" sz="2400" dirty="0" err="1"/>
              <a:t>eden</a:t>
            </a:r>
            <a:r>
              <a:rPr lang="en-US" sz="2400" dirty="0"/>
              <a:t> </a:t>
            </a:r>
            <a:r>
              <a:rPr lang="en-US" sz="2400" dirty="0" err="1"/>
              <a:t>şirketlerin</a:t>
            </a:r>
            <a:r>
              <a:rPr lang="en-US" sz="2400" dirty="0"/>
              <a:t>, </a:t>
            </a:r>
            <a:r>
              <a:rPr lang="en-US" sz="2400" dirty="0" err="1"/>
              <a:t>Amerikalı</a:t>
            </a:r>
            <a:r>
              <a:rPr lang="en-US" sz="2400" dirty="0"/>
              <a:t> </a:t>
            </a:r>
            <a:r>
              <a:rPr lang="en-US" sz="2400" dirty="0" err="1"/>
              <a:t>işçileri</a:t>
            </a:r>
            <a:r>
              <a:rPr lang="en-US" sz="2400" dirty="0"/>
              <a:t> </a:t>
            </a:r>
            <a:r>
              <a:rPr lang="en-US" sz="2400" dirty="0" err="1"/>
              <a:t>yerinden</a:t>
            </a:r>
            <a:r>
              <a:rPr lang="en-US" sz="2400" dirty="0"/>
              <a:t> </a:t>
            </a:r>
            <a:r>
              <a:rPr lang="en-US" sz="2400" dirty="0" err="1"/>
              <a:t>etmeyeceklerini</a:t>
            </a:r>
            <a:r>
              <a:rPr lang="en-US" sz="2400" dirty="0"/>
              <a:t> </a:t>
            </a:r>
            <a:r>
              <a:rPr lang="en-US" sz="2400" dirty="0" err="1"/>
              <a:t>beyan</a:t>
            </a:r>
            <a:r>
              <a:rPr lang="en-US" sz="2400" dirty="0"/>
              <a:t> </a:t>
            </a:r>
            <a:r>
              <a:rPr lang="en-US" sz="2400" dirty="0" err="1"/>
              <a:t>etmeleri</a:t>
            </a:r>
            <a:r>
              <a:rPr lang="en-US" sz="2400" dirty="0"/>
              <a:t> </a:t>
            </a:r>
            <a:r>
              <a:rPr lang="en-US" sz="2400" dirty="0" err="1"/>
              <a:t>gerekmektedir</a:t>
            </a:r>
            <a:r>
              <a:rPr lang="en-US" sz="2400" dirty="0"/>
              <a:t>.
</a:t>
            </a:r>
            <a:r>
              <a:rPr lang="en-US" sz="2400" dirty="0" err="1"/>
              <a:t>İstisnalar</a:t>
            </a:r>
            <a:r>
              <a:rPr lang="en-US" sz="2400" dirty="0"/>
              <a:t>: </a:t>
            </a:r>
            <a:r>
              <a:rPr lang="en-US" sz="2400" dirty="0" err="1"/>
              <a:t>İşçilerinin</a:t>
            </a:r>
            <a:r>
              <a:rPr lang="en-US" sz="2400" dirty="0"/>
              <a:t> </a:t>
            </a:r>
            <a:r>
              <a:rPr lang="en-US" sz="2400" dirty="0" err="1"/>
              <a:t>yüzde</a:t>
            </a:r>
            <a:r>
              <a:rPr lang="en-US" sz="2400" dirty="0"/>
              <a:t> 15'i </a:t>
            </a:r>
            <a:r>
              <a:rPr lang="en-US" sz="2400" dirty="0" err="1"/>
              <a:t>veya</a:t>
            </a:r>
            <a:r>
              <a:rPr lang="en-US" sz="2400" dirty="0"/>
              <a:t> </a:t>
            </a:r>
            <a:r>
              <a:rPr lang="en-US" sz="2400" dirty="0" err="1"/>
              <a:t>daha</a:t>
            </a:r>
            <a:r>
              <a:rPr lang="en-US" sz="2400" dirty="0"/>
              <a:t> </a:t>
            </a:r>
            <a:r>
              <a:rPr lang="en-US" sz="2400" dirty="0" err="1"/>
              <a:t>fazlası</a:t>
            </a:r>
            <a:r>
              <a:rPr lang="en-US" sz="2400" dirty="0"/>
              <a:t> H-1B </a:t>
            </a:r>
            <a:r>
              <a:rPr lang="en-US" sz="2400" dirty="0" err="1"/>
              <a:t>vizesine</a:t>
            </a:r>
            <a:r>
              <a:rPr lang="en-US" sz="2400" dirty="0"/>
              <a:t> </a:t>
            </a:r>
            <a:r>
              <a:rPr lang="en-US" sz="2400" dirty="0" err="1"/>
              <a:t>sahipse</a:t>
            </a:r>
            <a:r>
              <a:rPr lang="en-US" sz="2400" dirty="0"/>
              <a:t> </a:t>
            </a:r>
            <a:r>
              <a:rPr lang="en-US" sz="2400" dirty="0" err="1"/>
              <a:t>ve</a:t>
            </a:r>
            <a:r>
              <a:rPr lang="en-US" sz="2400" dirty="0"/>
              <a:t> H-1B </a:t>
            </a:r>
            <a:r>
              <a:rPr lang="en-US" sz="2400" dirty="0" err="1"/>
              <a:t>çalışanlarına</a:t>
            </a:r>
            <a:r>
              <a:rPr lang="en-US" sz="2400" dirty="0"/>
              <a:t> </a:t>
            </a:r>
            <a:r>
              <a:rPr lang="en-US" sz="2400" dirty="0" err="1"/>
              <a:t>yılda</a:t>
            </a:r>
            <a:r>
              <a:rPr lang="en-US" sz="2400" dirty="0"/>
              <a:t> </a:t>
            </a:r>
            <a:r>
              <a:rPr lang="en-US" sz="2400" dirty="0" err="1"/>
              <a:t>en</a:t>
            </a:r>
            <a:r>
              <a:rPr lang="en-US" sz="2400" dirty="0"/>
              <a:t> </a:t>
            </a:r>
            <a:r>
              <a:rPr lang="en-US" sz="2400" dirty="0" err="1"/>
              <a:t>az</a:t>
            </a:r>
            <a:r>
              <a:rPr lang="en-US" sz="2400" dirty="0"/>
              <a:t> 60.000 </a:t>
            </a:r>
            <a:r>
              <a:rPr lang="en-US" sz="2400" dirty="0" err="1"/>
              <a:t>dolar</a:t>
            </a:r>
            <a:r>
              <a:rPr lang="en-US" sz="2400" dirty="0"/>
              <a:t> </a:t>
            </a:r>
            <a:r>
              <a:rPr lang="en-US" sz="2400" dirty="0" err="1"/>
              <a:t>ödeniyorsa</a:t>
            </a:r>
            <a:r>
              <a:rPr lang="en-US" sz="2400" dirty="0"/>
              <a:t>
</a:t>
            </a:r>
            <a:r>
              <a:rPr lang="en-US" sz="2400" dirty="0" err="1"/>
              <a:t>Birçok</a:t>
            </a:r>
            <a:r>
              <a:rPr lang="en-US" sz="2400" dirty="0"/>
              <a:t> ABD </a:t>
            </a:r>
            <a:r>
              <a:rPr lang="en-US" sz="2400" dirty="0" err="1"/>
              <a:t>şirketi</a:t>
            </a:r>
            <a:r>
              <a:rPr lang="en-US" sz="2400" dirty="0"/>
              <a:t>, </a:t>
            </a:r>
            <a:r>
              <a:rPr lang="en-US" sz="2400" dirty="0" err="1"/>
              <a:t>yeterli</a:t>
            </a:r>
            <a:r>
              <a:rPr lang="en-US" sz="2400" dirty="0"/>
              <a:t> </a:t>
            </a:r>
            <a:r>
              <a:rPr lang="en-US" sz="2400" dirty="0" err="1"/>
              <a:t>sayıda</a:t>
            </a:r>
            <a:r>
              <a:rPr lang="en-US" sz="2400" dirty="0"/>
              <a:t> </a:t>
            </a:r>
            <a:r>
              <a:rPr lang="en-US" sz="2400" dirty="0" err="1"/>
              <a:t>kalifiye</a:t>
            </a:r>
            <a:r>
              <a:rPr lang="en-US" sz="2400" dirty="0"/>
              <a:t> ABD BT </a:t>
            </a:r>
            <a:r>
              <a:rPr lang="en-US" sz="2400" dirty="0" err="1"/>
              <a:t>çalışanı</a:t>
            </a:r>
            <a:r>
              <a:rPr lang="en-US" sz="2400" dirty="0"/>
              <a:t> </a:t>
            </a:r>
            <a:r>
              <a:rPr lang="en-US" sz="2400" dirty="0" err="1"/>
              <a:t>bulmakta</a:t>
            </a:r>
            <a:r>
              <a:rPr lang="en-US" sz="2400" dirty="0"/>
              <a:t> </a:t>
            </a:r>
            <a:r>
              <a:rPr lang="en-US" sz="2400" dirty="0" err="1"/>
              <a:t>zorlandıklarını</a:t>
            </a:r>
            <a:r>
              <a:rPr lang="en-US" sz="2400" dirty="0"/>
              <a:t> </a:t>
            </a:r>
            <a:r>
              <a:rPr lang="en-US" sz="2400" dirty="0" err="1"/>
              <a:t>söylüyor</a:t>
            </a:r>
            <a:r>
              <a:rPr lang="en-US" sz="2400" dirty="0"/>
              <a:t>.
</a:t>
            </a:r>
            <a:r>
              <a:rPr lang="en-US" sz="2400" dirty="0" err="1"/>
              <a:t>Eleştirmenler</a:t>
            </a:r>
            <a:r>
              <a:rPr lang="en-US" sz="2400" dirty="0"/>
              <a:t>, </a:t>
            </a:r>
            <a:r>
              <a:rPr lang="en-US" sz="2400" dirty="0" err="1"/>
              <a:t>ABD'nin</a:t>
            </a:r>
            <a:r>
              <a:rPr lang="en-US" sz="2400" dirty="0"/>
              <a:t> her </a:t>
            </a:r>
            <a:r>
              <a:rPr lang="en-US" sz="2400" dirty="0" err="1"/>
              <a:t>yıl</a:t>
            </a:r>
            <a:r>
              <a:rPr lang="en-US" sz="2400" dirty="0"/>
              <a:t> on </a:t>
            </a:r>
            <a:r>
              <a:rPr lang="en-US" sz="2400" dirty="0" err="1"/>
              <a:t>binlerce</a:t>
            </a:r>
            <a:r>
              <a:rPr lang="en-US" sz="2400" dirty="0"/>
              <a:t> H-1B </a:t>
            </a:r>
            <a:r>
              <a:rPr lang="en-US" sz="2400" dirty="0" err="1"/>
              <a:t>işçisini</a:t>
            </a:r>
            <a:r>
              <a:rPr lang="en-US" sz="2400" dirty="0"/>
              <a:t> </a:t>
            </a:r>
            <a:r>
              <a:rPr lang="en-US" sz="2400" dirty="0" err="1"/>
              <a:t>ithal</a:t>
            </a:r>
            <a:r>
              <a:rPr lang="en-US" sz="2400" dirty="0"/>
              <a:t> </a:t>
            </a:r>
            <a:r>
              <a:rPr lang="en-US" sz="2400" dirty="0" err="1"/>
              <a:t>etmeye</a:t>
            </a:r>
            <a:r>
              <a:rPr lang="en-US" sz="2400" dirty="0"/>
              <a:t> </a:t>
            </a:r>
            <a:r>
              <a:rPr lang="en-US" sz="2400" dirty="0" err="1"/>
              <a:t>devam</a:t>
            </a:r>
            <a:r>
              <a:rPr lang="en-US" sz="2400" dirty="0"/>
              <a:t> </a:t>
            </a:r>
            <a:r>
              <a:rPr lang="en-US" sz="2400" dirty="0" err="1"/>
              <a:t>etmesi</a:t>
            </a:r>
            <a:r>
              <a:rPr lang="en-US" sz="2400" dirty="0"/>
              <a:t> </a:t>
            </a:r>
            <a:r>
              <a:rPr lang="en-US" sz="2400" dirty="0" err="1"/>
              <a:t>gerekip</a:t>
            </a:r>
            <a:r>
              <a:rPr lang="en-US" sz="2400" dirty="0"/>
              <a:t> </a:t>
            </a:r>
            <a:r>
              <a:rPr lang="en-US" sz="2400" dirty="0" err="1"/>
              <a:t>gerekmediğini</a:t>
            </a:r>
            <a:r>
              <a:rPr lang="en-US" sz="2400" dirty="0"/>
              <a:t> </a:t>
            </a:r>
            <a:r>
              <a:rPr lang="en-US" sz="2400" dirty="0" err="1"/>
              <a:t>sorguluyor</a:t>
            </a:r>
            <a:r>
              <a:rPr lang="en-US" sz="2400" dirty="0"/>
              <a:t>.</a:t>
            </a:r>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37705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145750"/>
          </a:xfrm>
        </p:spPr>
        <p:txBody>
          <a:bodyPr/>
          <a:lstStyle/>
          <a:p>
            <a:r>
              <a:rPr lang="en-US" sz="2800" dirty="0" err="1"/>
              <a:t>Koşullu</a:t>
            </a:r>
            <a:r>
              <a:rPr lang="en-US" sz="2800" dirty="0"/>
              <a:t> </a:t>
            </a:r>
            <a:r>
              <a:rPr lang="en-US" sz="2800" dirty="0" err="1"/>
              <a:t>işçilerin</a:t>
            </a:r>
            <a:r>
              <a:rPr lang="en-US" sz="2800" dirty="0"/>
              <a:t>, H-1B </a:t>
            </a:r>
            <a:r>
              <a:rPr lang="en-US" sz="2800" dirty="0" err="1"/>
              <a:t>vizesi</a:t>
            </a:r>
            <a:r>
              <a:rPr lang="en-US" sz="2800" dirty="0"/>
              <a:t> </a:t>
            </a:r>
            <a:r>
              <a:rPr lang="en-US" sz="2800" dirty="0" err="1"/>
              <a:t>sahiplerinin</a:t>
            </a:r>
            <a:r>
              <a:rPr lang="en-US" sz="2800" dirty="0"/>
              <a:t> </a:t>
            </a:r>
            <a:r>
              <a:rPr lang="en-US" sz="2800" dirty="0" err="1"/>
              <a:t>ve</a:t>
            </a:r>
            <a:r>
              <a:rPr lang="en-US" sz="2800" dirty="0"/>
              <a:t> </a:t>
            </a:r>
            <a:r>
              <a:rPr lang="en-US" sz="2800" dirty="0" err="1"/>
              <a:t>denizaşırı</a:t>
            </a:r>
            <a:r>
              <a:rPr lang="en-US" sz="2800" dirty="0"/>
              <a:t> </a:t>
            </a:r>
            <a:r>
              <a:rPr lang="en-US" sz="2800" dirty="0" err="1"/>
              <a:t>dış</a:t>
            </a:r>
            <a:r>
              <a:rPr lang="en-US" sz="2800" dirty="0"/>
              <a:t> </a:t>
            </a:r>
            <a:r>
              <a:rPr lang="en-US" sz="2800" dirty="0" err="1"/>
              <a:t>kaynak</a:t>
            </a:r>
            <a:r>
              <a:rPr lang="en-US" sz="2800" dirty="0"/>
              <a:t> </a:t>
            </a:r>
            <a:r>
              <a:rPr lang="en-US" sz="2800" dirty="0" err="1"/>
              <a:t>şirketlerinin</a:t>
            </a:r>
            <a:r>
              <a:rPr lang="en-US" sz="2800" dirty="0"/>
              <a:t> </a:t>
            </a:r>
            <a:r>
              <a:rPr lang="en-US" sz="2800" dirty="0" err="1"/>
              <a:t>kullanımıyla</a:t>
            </a:r>
            <a:r>
              <a:rPr lang="en-US" sz="2800" dirty="0"/>
              <a:t> </a:t>
            </a:r>
            <a:r>
              <a:rPr lang="en-US" sz="2800" dirty="0" err="1"/>
              <a:t>ilgili</a:t>
            </a:r>
            <a:r>
              <a:rPr lang="en-US" sz="2800" dirty="0"/>
              <a:t> hangi </a:t>
            </a:r>
            <a:r>
              <a:rPr lang="en-US" sz="2800" dirty="0" err="1"/>
              <a:t>temel</a:t>
            </a:r>
            <a:r>
              <a:rPr lang="en-US" sz="2800" dirty="0"/>
              <a:t> </a:t>
            </a:r>
            <a:r>
              <a:rPr lang="en-US" sz="2800" dirty="0" err="1"/>
              <a:t>yasal</a:t>
            </a:r>
            <a:r>
              <a:rPr lang="en-US" sz="2800" dirty="0"/>
              <a:t> </a:t>
            </a:r>
            <a:r>
              <a:rPr lang="en-US" sz="2800" dirty="0" err="1"/>
              <a:t>ve</a:t>
            </a:r>
            <a:r>
              <a:rPr lang="en-US" sz="2800" dirty="0"/>
              <a:t> </a:t>
            </a:r>
            <a:r>
              <a:rPr lang="en-US" sz="2800" dirty="0" err="1"/>
              <a:t>etik</a:t>
            </a:r>
            <a:r>
              <a:rPr lang="en-US" sz="2800" dirty="0"/>
              <a:t> </a:t>
            </a:r>
            <a:r>
              <a:rPr lang="en-US" sz="2800" dirty="0" err="1"/>
              <a:t>konular</a:t>
            </a:r>
            <a:r>
              <a:rPr lang="en-US" sz="2800" dirty="0"/>
              <a:t> </a:t>
            </a:r>
            <a:r>
              <a:rPr lang="en-US" sz="2800" dirty="0" err="1"/>
              <a:t>nelerdir</a:t>
            </a:r>
            <a:r>
              <a:rPr lang="en-US" sz="2800" dirty="0"/>
              <a:t>?
2015 </a:t>
            </a:r>
            <a:r>
              <a:rPr lang="en-US" sz="2800" dirty="0" err="1"/>
              <a:t>yılında</a:t>
            </a:r>
            <a:r>
              <a:rPr lang="en-US" sz="2800" dirty="0"/>
              <a:t>, </a:t>
            </a:r>
            <a:r>
              <a:rPr lang="en-US" sz="2800" dirty="0" err="1"/>
              <a:t>ABD'deki</a:t>
            </a:r>
            <a:r>
              <a:rPr lang="en-US" sz="2800" dirty="0"/>
              <a:t> </a:t>
            </a:r>
            <a:r>
              <a:rPr lang="en-US" sz="2800" dirty="0" err="1"/>
              <a:t>lise</a:t>
            </a:r>
            <a:r>
              <a:rPr lang="en-US" sz="2800" dirty="0"/>
              <a:t> </a:t>
            </a:r>
            <a:r>
              <a:rPr lang="en-US" sz="2800" dirty="0" err="1"/>
              <a:t>sonrası</a:t>
            </a:r>
            <a:r>
              <a:rPr lang="en-US" sz="2800" dirty="0"/>
              <a:t> </a:t>
            </a:r>
            <a:r>
              <a:rPr lang="en-US" sz="2800" dirty="0" err="1"/>
              <a:t>kurumlarda</a:t>
            </a:r>
            <a:r>
              <a:rPr lang="en-US" sz="2800" dirty="0"/>
              <a:t> </a:t>
            </a:r>
            <a:r>
              <a:rPr lang="en-US" sz="2800" dirty="0" err="1"/>
              <a:t>bilgisayar</a:t>
            </a:r>
            <a:r>
              <a:rPr lang="en-US" sz="2800" dirty="0"/>
              <a:t> </a:t>
            </a:r>
            <a:r>
              <a:rPr lang="en-US" sz="2800" dirty="0" err="1"/>
              <a:t>ve</a:t>
            </a:r>
            <a:r>
              <a:rPr lang="en-US" sz="2800" dirty="0"/>
              <a:t> </a:t>
            </a:r>
            <a:r>
              <a:rPr lang="en-US" sz="2800" dirty="0" err="1"/>
              <a:t>bilgi</a:t>
            </a:r>
            <a:r>
              <a:rPr lang="en-US" sz="2800" dirty="0"/>
              <a:t> </a:t>
            </a:r>
            <a:r>
              <a:rPr lang="en-US" sz="2800" dirty="0" err="1"/>
              <a:t>bilimleri</a:t>
            </a:r>
            <a:r>
              <a:rPr lang="en-US" sz="2800" dirty="0"/>
              <a:t> </a:t>
            </a:r>
            <a:r>
              <a:rPr lang="en-US" sz="2800" dirty="0" err="1"/>
              <a:t>alanında</a:t>
            </a:r>
            <a:r>
              <a:rPr lang="en-US" sz="2800" dirty="0"/>
              <a:t> </a:t>
            </a:r>
            <a:r>
              <a:rPr lang="en-US" sz="2800" dirty="0" err="1"/>
              <a:t>verilen</a:t>
            </a:r>
            <a:r>
              <a:rPr lang="en-US" sz="2800" dirty="0"/>
              <a:t> </a:t>
            </a:r>
            <a:r>
              <a:rPr lang="en-US" sz="2800" dirty="0" err="1"/>
              <a:t>derece</a:t>
            </a:r>
            <a:r>
              <a:rPr lang="en-US" sz="2800" dirty="0"/>
              <a:t> </a:t>
            </a:r>
            <a:r>
              <a:rPr lang="en-US" sz="2800" dirty="0" err="1"/>
              <a:t>sayısı</a:t>
            </a:r>
            <a:r>
              <a:rPr lang="en-US" sz="2800" dirty="0"/>
              <a:t> = 130.000
BLS, 2014'ten 2024'e </a:t>
            </a:r>
            <a:r>
              <a:rPr lang="en-US" sz="2800" dirty="0" err="1"/>
              <a:t>kadar</a:t>
            </a:r>
            <a:r>
              <a:rPr lang="en-US" sz="2800" dirty="0"/>
              <a:t> </a:t>
            </a:r>
            <a:r>
              <a:rPr lang="en-US" sz="2800" dirty="0" err="1"/>
              <a:t>yılda</a:t>
            </a:r>
            <a:r>
              <a:rPr lang="en-US" sz="2800" dirty="0"/>
              <a:t> 53.000 yeni ABD </a:t>
            </a:r>
            <a:r>
              <a:rPr lang="en-US" sz="2800" dirty="0" err="1"/>
              <a:t>teknoloji</a:t>
            </a:r>
            <a:r>
              <a:rPr lang="en-US" sz="2800" dirty="0"/>
              <a:t> </a:t>
            </a:r>
            <a:r>
              <a:rPr lang="en-US" sz="2800" dirty="0" err="1"/>
              <a:t>işi</a:t>
            </a:r>
            <a:r>
              <a:rPr lang="en-US" sz="2800" dirty="0"/>
              <a:t> </a:t>
            </a:r>
            <a:r>
              <a:rPr lang="en-US" sz="2800" dirty="0" err="1"/>
              <a:t>artışı</a:t>
            </a:r>
            <a:r>
              <a:rPr lang="en-US" sz="2800" dirty="0"/>
              <a:t> </a:t>
            </a:r>
            <a:r>
              <a:rPr lang="en-US" sz="2800" dirty="0" err="1"/>
              <a:t>öngörüyor</a:t>
            </a:r>
            <a:r>
              <a:rPr lang="en-US" sz="2800" dirty="0"/>
              <a:t>
H-1B </a:t>
            </a:r>
            <a:r>
              <a:rPr lang="en-US" sz="2800" dirty="0" err="1"/>
              <a:t>işçilerinin</a:t>
            </a:r>
            <a:r>
              <a:rPr lang="en-US" sz="2800" dirty="0"/>
              <a:t> </a:t>
            </a:r>
            <a:r>
              <a:rPr lang="en-US" sz="2800" dirty="0" err="1"/>
              <a:t>işe</a:t>
            </a:r>
            <a:r>
              <a:rPr lang="en-US" sz="2800" dirty="0"/>
              <a:t> </a:t>
            </a:r>
            <a:r>
              <a:rPr lang="en-US" sz="2800" dirty="0" err="1"/>
              <a:t>alınmasının</a:t>
            </a:r>
            <a:r>
              <a:rPr lang="en-US" sz="2800" dirty="0"/>
              <a:t> </a:t>
            </a:r>
            <a:r>
              <a:rPr lang="en-US" sz="2800" dirty="0" err="1"/>
              <a:t>iş</a:t>
            </a:r>
            <a:r>
              <a:rPr lang="en-US" sz="2800" dirty="0"/>
              <a:t> </a:t>
            </a:r>
            <a:r>
              <a:rPr lang="en-US" sz="2800" dirty="0" err="1"/>
              <a:t>fırsatlarını</a:t>
            </a:r>
            <a:r>
              <a:rPr lang="en-US" sz="2800" dirty="0"/>
              <a:t> </a:t>
            </a:r>
            <a:r>
              <a:rPr lang="en-US" sz="2800" dirty="0" err="1"/>
              <a:t>ve</a:t>
            </a:r>
            <a:r>
              <a:rPr lang="en-US" sz="2800" dirty="0"/>
              <a:t> </a:t>
            </a:r>
            <a:r>
              <a:rPr lang="en-US" sz="2800" dirty="0" err="1"/>
              <a:t>ücretleri</a:t>
            </a:r>
            <a:r>
              <a:rPr lang="en-US" sz="2800" dirty="0"/>
              <a:t> </a:t>
            </a:r>
            <a:r>
              <a:rPr lang="en-US" sz="2800" dirty="0" err="1"/>
              <a:t>etkileyip</a:t>
            </a:r>
            <a:r>
              <a:rPr lang="en-US" sz="2800" dirty="0"/>
              <a:t> </a:t>
            </a:r>
            <a:r>
              <a:rPr lang="en-US" sz="2800" dirty="0" err="1"/>
              <a:t>etkilemediği</a:t>
            </a:r>
            <a:r>
              <a:rPr lang="en-US" sz="2800" dirty="0"/>
              <a:t> </a:t>
            </a:r>
            <a:r>
              <a:rPr lang="en-US" sz="2800" dirty="0" err="1"/>
              <a:t>konusunda</a:t>
            </a:r>
            <a:r>
              <a:rPr lang="en-US" sz="2800" dirty="0"/>
              <a:t> </a:t>
            </a:r>
            <a:r>
              <a:rPr lang="en-US" sz="2800" dirty="0" err="1"/>
              <a:t>görüşler</a:t>
            </a:r>
            <a:r>
              <a:rPr lang="en-US" sz="2800" dirty="0"/>
              <a:t> </a:t>
            </a:r>
            <a:r>
              <a:rPr lang="en-US" sz="2800" dirty="0" err="1"/>
              <a:t>değişmektedir</a:t>
            </a:r>
            <a:r>
              <a:rPr lang="en-US" sz="2800" dirty="0"/>
              <a:t>.</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0859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43000"/>
            <a:ext cx="8415338" cy="4964436"/>
          </a:xfrm>
        </p:spPr>
        <p:txBody>
          <a:bodyPr/>
          <a:lstStyle/>
          <a:p>
            <a:r>
              <a:rPr lang="en-US" sz="2800" dirty="0" err="1"/>
              <a:t>Koşullu</a:t>
            </a:r>
            <a:r>
              <a:rPr lang="en-US" sz="2800" dirty="0"/>
              <a:t> </a:t>
            </a:r>
            <a:r>
              <a:rPr lang="en-US" sz="2800" dirty="0" err="1"/>
              <a:t>işçilerin</a:t>
            </a:r>
            <a:r>
              <a:rPr lang="en-US" sz="2800" dirty="0"/>
              <a:t>, H-1B </a:t>
            </a:r>
            <a:r>
              <a:rPr lang="en-US" sz="2800" dirty="0" err="1"/>
              <a:t>vizesi</a:t>
            </a:r>
            <a:r>
              <a:rPr lang="en-US" sz="2800" dirty="0"/>
              <a:t> </a:t>
            </a:r>
            <a:r>
              <a:rPr lang="en-US" sz="2800" dirty="0" err="1"/>
              <a:t>sahiplerinin</a:t>
            </a:r>
            <a:r>
              <a:rPr lang="en-US" sz="2800" dirty="0"/>
              <a:t> </a:t>
            </a:r>
            <a:r>
              <a:rPr lang="en-US" sz="2800" dirty="0" err="1"/>
              <a:t>ve</a:t>
            </a:r>
            <a:r>
              <a:rPr lang="en-US" sz="2800" dirty="0"/>
              <a:t> </a:t>
            </a:r>
            <a:r>
              <a:rPr lang="en-US" sz="2800" dirty="0" err="1"/>
              <a:t>denizaşırı</a:t>
            </a:r>
            <a:r>
              <a:rPr lang="en-US" sz="2800" dirty="0"/>
              <a:t> </a:t>
            </a:r>
            <a:r>
              <a:rPr lang="en-US" sz="2800" dirty="0" err="1"/>
              <a:t>dış</a:t>
            </a:r>
            <a:r>
              <a:rPr lang="en-US" sz="2800" dirty="0"/>
              <a:t> </a:t>
            </a:r>
            <a:r>
              <a:rPr lang="en-US" sz="2800" dirty="0" err="1"/>
              <a:t>kaynak</a:t>
            </a:r>
            <a:r>
              <a:rPr lang="en-US" sz="2800" dirty="0"/>
              <a:t> </a:t>
            </a:r>
            <a:r>
              <a:rPr lang="en-US" sz="2800" dirty="0" err="1"/>
              <a:t>şirketlerinin</a:t>
            </a:r>
            <a:r>
              <a:rPr lang="en-US" sz="2800" dirty="0"/>
              <a:t> </a:t>
            </a:r>
            <a:r>
              <a:rPr lang="en-US" sz="2800" dirty="0" err="1"/>
              <a:t>kullanımıyla</a:t>
            </a:r>
            <a:r>
              <a:rPr lang="en-US" sz="2800" dirty="0"/>
              <a:t> </a:t>
            </a:r>
            <a:r>
              <a:rPr lang="en-US" sz="2800" dirty="0" err="1"/>
              <a:t>ilgili</a:t>
            </a:r>
            <a:r>
              <a:rPr lang="en-US" sz="2800" dirty="0"/>
              <a:t> hangi </a:t>
            </a:r>
            <a:r>
              <a:rPr lang="en-US" sz="2800" dirty="0" err="1"/>
              <a:t>temel</a:t>
            </a:r>
            <a:r>
              <a:rPr lang="en-US" sz="2800" dirty="0"/>
              <a:t> </a:t>
            </a:r>
            <a:r>
              <a:rPr lang="en-US" sz="2800" dirty="0" err="1"/>
              <a:t>yasal</a:t>
            </a:r>
            <a:r>
              <a:rPr lang="en-US" sz="2800" dirty="0"/>
              <a:t> </a:t>
            </a:r>
            <a:r>
              <a:rPr lang="en-US" sz="2800" dirty="0" err="1"/>
              <a:t>ve</a:t>
            </a:r>
            <a:r>
              <a:rPr lang="en-US" sz="2800" dirty="0"/>
              <a:t> </a:t>
            </a:r>
            <a:r>
              <a:rPr lang="en-US" sz="2800" dirty="0" err="1"/>
              <a:t>etik</a:t>
            </a:r>
            <a:r>
              <a:rPr lang="en-US" sz="2800" dirty="0"/>
              <a:t> </a:t>
            </a:r>
            <a:r>
              <a:rPr lang="en-US" sz="2800" dirty="0" err="1"/>
              <a:t>konular</a:t>
            </a:r>
            <a:r>
              <a:rPr lang="en-US" sz="2800" dirty="0"/>
              <a:t> </a:t>
            </a:r>
            <a:r>
              <a:rPr lang="en-US" sz="2800" dirty="0" err="1"/>
              <a:t>nelerdir</a:t>
            </a:r>
            <a:r>
              <a:rPr lang="en-US" sz="2800" dirty="0"/>
              <a:t>?
</a:t>
            </a:r>
            <a:r>
              <a:rPr lang="en-US" sz="2800" dirty="0" err="1"/>
              <a:t>Dış</a:t>
            </a:r>
            <a:r>
              <a:rPr lang="en-US" sz="2800" dirty="0"/>
              <a:t> Kaynak </a:t>
            </a:r>
            <a:r>
              <a:rPr lang="en-US" sz="2800" dirty="0" err="1"/>
              <a:t>Kullanımı</a:t>
            </a:r>
            <a:r>
              <a:rPr lang="en-US" sz="2800" dirty="0"/>
              <a:t>: Bir </a:t>
            </a:r>
            <a:r>
              <a:rPr lang="en-US" sz="2800" dirty="0" err="1"/>
              <a:t>şirketin</a:t>
            </a:r>
            <a:r>
              <a:rPr lang="en-US" sz="2800" dirty="0"/>
              <a:t> </a:t>
            </a:r>
            <a:r>
              <a:rPr lang="en-US" sz="2800" dirty="0" err="1"/>
              <a:t>dış</a:t>
            </a:r>
            <a:r>
              <a:rPr lang="en-US" sz="2800" dirty="0"/>
              <a:t> </a:t>
            </a:r>
            <a:r>
              <a:rPr lang="en-US" sz="2800" dirty="0" err="1"/>
              <a:t>kuruluşla</a:t>
            </a:r>
            <a:r>
              <a:rPr lang="en-US" sz="2800" dirty="0"/>
              <a:t> </a:t>
            </a:r>
            <a:r>
              <a:rPr lang="en-US" sz="2800" dirty="0" err="1"/>
              <a:t>hizmetler</a:t>
            </a:r>
            <a:r>
              <a:rPr lang="en-US" sz="2800" dirty="0"/>
              <a:t> için </a:t>
            </a:r>
            <a:r>
              <a:rPr lang="en-US" sz="2800" dirty="0" err="1"/>
              <a:t>sözleşme</a:t>
            </a:r>
            <a:r>
              <a:rPr lang="en-US" sz="2800" dirty="0"/>
              <a:t> </a:t>
            </a:r>
            <a:r>
              <a:rPr lang="en-US" sz="2800" dirty="0" err="1"/>
              <a:t>yaptığı</a:t>
            </a:r>
            <a:r>
              <a:rPr lang="en-US" sz="2800" dirty="0"/>
              <a:t> </a:t>
            </a:r>
            <a:r>
              <a:rPr lang="en-US" sz="2800" dirty="0" err="1"/>
              <a:t>uzun</a:t>
            </a:r>
            <a:r>
              <a:rPr lang="en-US" sz="2800" dirty="0"/>
              <a:t> </a:t>
            </a:r>
            <a:r>
              <a:rPr lang="en-US" sz="2800" dirty="0" err="1"/>
              <a:t>vadeli</a:t>
            </a:r>
            <a:r>
              <a:rPr lang="en-US" sz="2800" dirty="0"/>
              <a:t> </a:t>
            </a:r>
            <a:r>
              <a:rPr lang="en-US" sz="2800" dirty="0" err="1"/>
              <a:t>bir</a:t>
            </a:r>
            <a:r>
              <a:rPr lang="en-US" sz="2800" dirty="0"/>
              <a:t> </a:t>
            </a:r>
            <a:r>
              <a:rPr lang="en-US" sz="2800" dirty="0" err="1"/>
              <a:t>iş</a:t>
            </a:r>
            <a:r>
              <a:rPr lang="en-US" sz="2800" dirty="0"/>
              <a:t> </a:t>
            </a:r>
            <a:r>
              <a:rPr lang="en-US" sz="2800" dirty="0" err="1"/>
              <a:t>düzenlemesi</a:t>
            </a:r>
            <a:r>
              <a:rPr lang="en-US" sz="2800" dirty="0"/>
              <a:t> 
Offshore </a:t>
            </a:r>
            <a:r>
              <a:rPr lang="en-US" sz="2800" dirty="0" err="1"/>
              <a:t>dış</a:t>
            </a:r>
            <a:r>
              <a:rPr lang="en-US" sz="2800" dirty="0"/>
              <a:t> </a:t>
            </a:r>
            <a:r>
              <a:rPr lang="en-US" sz="2800" dirty="0" err="1"/>
              <a:t>kaynak</a:t>
            </a:r>
            <a:r>
              <a:rPr lang="en-US" sz="2800" dirty="0"/>
              <a:t> </a:t>
            </a:r>
            <a:r>
              <a:rPr lang="en-US" sz="2800" dirty="0" err="1"/>
              <a:t>kullanımı</a:t>
            </a:r>
            <a:r>
              <a:rPr lang="en-US" sz="2800" dirty="0"/>
              <a:t>: </a:t>
            </a:r>
            <a:r>
              <a:rPr lang="en-US" sz="2800" dirty="0" err="1"/>
              <a:t>Hizmetler</a:t>
            </a:r>
            <a:r>
              <a:rPr lang="en-US" sz="2800" dirty="0"/>
              <a:t>, </a:t>
            </a:r>
            <a:r>
              <a:rPr lang="en-US" sz="2800" dirty="0" err="1"/>
              <a:t>çalışanları</a:t>
            </a:r>
            <a:r>
              <a:rPr lang="en-US" sz="2800" dirty="0"/>
              <a:t> </a:t>
            </a:r>
            <a:r>
              <a:rPr lang="en-US" sz="2800" dirty="0" err="1"/>
              <a:t>yabancı</a:t>
            </a:r>
            <a:r>
              <a:rPr lang="en-US" sz="2800" dirty="0"/>
              <a:t> </a:t>
            </a:r>
            <a:r>
              <a:rPr lang="en-US" sz="2800" dirty="0" err="1"/>
              <a:t>bir</a:t>
            </a:r>
            <a:r>
              <a:rPr lang="en-US" sz="2800" dirty="0"/>
              <a:t> </a:t>
            </a:r>
            <a:r>
              <a:rPr lang="en-US" sz="2800" dirty="0" err="1"/>
              <a:t>ülkede</a:t>
            </a:r>
            <a:r>
              <a:rPr lang="en-US" sz="2800" dirty="0"/>
              <a:t> </a:t>
            </a:r>
            <a:r>
              <a:rPr lang="en-US" sz="2800" dirty="0" err="1"/>
              <a:t>bulunan</a:t>
            </a:r>
            <a:r>
              <a:rPr lang="en-US" sz="2800" dirty="0"/>
              <a:t> </a:t>
            </a:r>
            <a:r>
              <a:rPr lang="en-US" sz="2800" dirty="0" err="1"/>
              <a:t>bir</a:t>
            </a:r>
            <a:r>
              <a:rPr lang="en-US" sz="2800" dirty="0"/>
              <a:t> </a:t>
            </a:r>
            <a:r>
              <a:rPr lang="en-US" sz="2800" dirty="0" err="1"/>
              <a:t>kuruluş</a:t>
            </a:r>
            <a:r>
              <a:rPr lang="en-US" sz="2800" dirty="0"/>
              <a:t> </a:t>
            </a:r>
            <a:r>
              <a:rPr lang="en-US" sz="2800" dirty="0" err="1"/>
              <a:t>tarafından</a:t>
            </a:r>
            <a:r>
              <a:rPr lang="en-US" sz="2800" dirty="0"/>
              <a:t> </a:t>
            </a:r>
            <a:r>
              <a:rPr lang="en-US" sz="2800" dirty="0" err="1"/>
              <a:t>sağlanır</a:t>
            </a:r>
            <a:r>
              <a:rPr lang="en-US" sz="2800" dirty="0"/>
              <a:t>
</a:t>
            </a:r>
            <a:r>
              <a:rPr lang="en-US" sz="2800" dirty="0" err="1"/>
              <a:t>Başarılı</a:t>
            </a:r>
            <a:r>
              <a:rPr lang="en-US" sz="2800" dirty="0"/>
              <a:t> offshoring: </a:t>
            </a:r>
            <a:r>
              <a:rPr lang="en-US" sz="2800" dirty="0" err="1"/>
              <a:t>Yazılım</a:t>
            </a:r>
            <a:r>
              <a:rPr lang="en-US" sz="2800" dirty="0"/>
              <a:t> </a:t>
            </a:r>
            <a:r>
              <a:rPr lang="en-US" sz="2800" dirty="0" err="1"/>
              <a:t>geliştirme</a:t>
            </a:r>
            <a:r>
              <a:rPr lang="en-US" sz="2800" dirty="0"/>
              <a:t> </a:t>
            </a:r>
            <a:r>
              <a:rPr lang="en-US" sz="2800" dirty="0" err="1"/>
              <a:t>ve</a:t>
            </a:r>
            <a:r>
              <a:rPr lang="en-US" sz="2800" dirty="0"/>
              <a:t> </a:t>
            </a:r>
            <a:r>
              <a:rPr lang="en-US" sz="2800" dirty="0" err="1"/>
              <a:t>iş</a:t>
            </a:r>
            <a:r>
              <a:rPr lang="en-US" sz="2800" dirty="0"/>
              <a:t> </a:t>
            </a:r>
            <a:r>
              <a:rPr lang="en-US" sz="2800" dirty="0" err="1"/>
              <a:t>ekipleri</a:t>
            </a:r>
            <a:r>
              <a:rPr lang="en-US" sz="2800" dirty="0"/>
              <a:t> </a:t>
            </a:r>
            <a:r>
              <a:rPr lang="en-US" sz="2800" dirty="0" err="1"/>
              <a:t>arasında</a:t>
            </a:r>
            <a:r>
              <a:rPr lang="en-US" sz="2800" dirty="0"/>
              <a:t> </a:t>
            </a:r>
            <a:r>
              <a:rPr lang="en-US" sz="2800" dirty="0" err="1"/>
              <a:t>günlük</a:t>
            </a:r>
            <a:r>
              <a:rPr lang="en-US" sz="2800" dirty="0"/>
              <a:t> </a:t>
            </a:r>
            <a:r>
              <a:rPr lang="en-US" sz="2800" dirty="0" err="1"/>
              <a:t>etkileşim</a:t>
            </a:r>
            <a:r>
              <a:rPr lang="en-US" sz="2800" dirty="0"/>
              <a:t> </a:t>
            </a:r>
            <a:r>
              <a:rPr lang="en-US" sz="2800" dirty="0" err="1"/>
              <a:t>ve</a:t>
            </a:r>
            <a:r>
              <a:rPr lang="en-US" sz="2800" dirty="0"/>
              <a:t> </a:t>
            </a:r>
            <a:r>
              <a:rPr lang="en-US" sz="2800" dirty="0" err="1"/>
              <a:t>proje</a:t>
            </a:r>
            <a:r>
              <a:rPr lang="en-US" sz="2800" dirty="0"/>
              <a:t> </a:t>
            </a:r>
            <a:r>
              <a:rPr lang="en-US" sz="2800" dirty="0" err="1"/>
              <a:t>yönetimine</a:t>
            </a:r>
            <a:r>
              <a:rPr lang="en-US" sz="2800" dirty="0"/>
              <a:t> </a:t>
            </a:r>
            <a:r>
              <a:rPr lang="en-US" sz="2800" dirty="0" err="1"/>
              <a:t>uygulamalı</a:t>
            </a:r>
            <a:r>
              <a:rPr lang="en-US" sz="2800" dirty="0"/>
              <a:t> </a:t>
            </a:r>
            <a:r>
              <a:rPr lang="en-US" sz="2800" dirty="0" err="1"/>
              <a:t>bir</a:t>
            </a:r>
            <a:r>
              <a:rPr lang="en-US" sz="2800" dirty="0"/>
              <a:t> </a:t>
            </a:r>
            <a:r>
              <a:rPr lang="en-US" sz="2800" dirty="0" err="1"/>
              <a:t>yaklaşım</a:t>
            </a:r>
            <a:r>
              <a:rPr lang="en-US" sz="2800" dirty="0"/>
              <a:t> </a:t>
            </a:r>
            <a:r>
              <a:rPr lang="en-US" sz="2800" dirty="0" err="1"/>
              <a:t>gerektirir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8</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62560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964436"/>
          </a:xfrm>
        </p:spPr>
        <p:txBody>
          <a:bodyPr/>
          <a:lstStyle/>
          <a:p>
            <a:r>
              <a:rPr lang="en-US" sz="2800" dirty="0"/>
              <a:t>Bilgi </a:t>
            </a:r>
            <a:r>
              <a:rPr lang="en-US" sz="2800" dirty="0" err="1"/>
              <a:t>uçurma</a:t>
            </a:r>
            <a:r>
              <a:rPr lang="en-US" sz="2800" dirty="0"/>
              <a:t> </a:t>
            </a:r>
            <a:r>
              <a:rPr lang="en-US" sz="2800" dirty="0" err="1"/>
              <a:t>nedir</a:t>
            </a:r>
            <a:r>
              <a:rPr lang="en-US" sz="2800" dirty="0"/>
              <a:t> </a:t>
            </a:r>
            <a:r>
              <a:rPr lang="en-US" sz="2800" dirty="0" err="1"/>
              <a:t>ve</a:t>
            </a:r>
            <a:r>
              <a:rPr lang="en-US" sz="2800" dirty="0"/>
              <a:t> </a:t>
            </a:r>
            <a:r>
              <a:rPr lang="en-US" sz="2800" dirty="0" err="1"/>
              <a:t>bununla</a:t>
            </a:r>
            <a:r>
              <a:rPr lang="en-US" sz="2800" dirty="0"/>
              <a:t> hangi </a:t>
            </a:r>
            <a:r>
              <a:rPr lang="en-US" sz="2800" dirty="0" err="1"/>
              <a:t>etik</a:t>
            </a:r>
            <a:r>
              <a:rPr lang="en-US" sz="2800" dirty="0"/>
              <a:t> </a:t>
            </a:r>
            <a:r>
              <a:rPr lang="en-US" sz="2800" dirty="0" err="1"/>
              <a:t>sorunlar</a:t>
            </a:r>
            <a:r>
              <a:rPr lang="en-US" sz="2800" dirty="0"/>
              <a:t> </a:t>
            </a:r>
            <a:r>
              <a:rPr lang="en-US" sz="2800" dirty="0" err="1"/>
              <a:t>ilişkilidir</a:t>
            </a:r>
            <a:r>
              <a:rPr lang="en-US" sz="2800" dirty="0"/>
              <a:t>?
Bilgi </a:t>
            </a:r>
            <a:r>
              <a:rPr lang="en-US" sz="2800" dirty="0" err="1"/>
              <a:t>uçurma</a:t>
            </a:r>
            <a:r>
              <a:rPr lang="en-US" sz="2800" dirty="0"/>
              <a:t>: Bir </a:t>
            </a:r>
            <a:r>
              <a:rPr lang="en-US" sz="2800" dirty="0" err="1"/>
              <a:t>kuruluşun</a:t>
            </a:r>
            <a:r>
              <a:rPr lang="en-US" sz="2800" dirty="0"/>
              <a:t> </a:t>
            </a:r>
            <a:r>
              <a:rPr lang="en-US" sz="2800" dirty="0" err="1"/>
              <a:t>ihmalkar</a:t>
            </a:r>
            <a:r>
              <a:rPr lang="en-US" sz="2800" dirty="0"/>
              <a:t>, </a:t>
            </a:r>
            <a:r>
              <a:rPr lang="en-US" sz="2800" dirty="0" err="1"/>
              <a:t>yasa</a:t>
            </a:r>
            <a:r>
              <a:rPr lang="en-US" sz="2800" dirty="0"/>
              <a:t> </a:t>
            </a:r>
            <a:r>
              <a:rPr lang="en-US" sz="2800" dirty="0" err="1"/>
              <a:t>dışı</a:t>
            </a:r>
            <a:r>
              <a:rPr lang="en-US" sz="2800" dirty="0"/>
              <a:t>, </a:t>
            </a:r>
            <a:r>
              <a:rPr lang="en-US" sz="2800" dirty="0" err="1"/>
              <a:t>etik</a:t>
            </a:r>
            <a:r>
              <a:rPr lang="en-US" sz="2800" dirty="0"/>
              <a:t> </a:t>
            </a:r>
            <a:r>
              <a:rPr lang="en-US" sz="2800" dirty="0" err="1"/>
              <a:t>dışı</a:t>
            </a:r>
            <a:r>
              <a:rPr lang="en-US" sz="2800" dirty="0"/>
              <a:t>, </a:t>
            </a:r>
            <a:r>
              <a:rPr lang="en-US" sz="2800" dirty="0" err="1"/>
              <a:t>taciz</a:t>
            </a:r>
            <a:r>
              <a:rPr lang="en-US" sz="2800" dirty="0"/>
              <a:t> </a:t>
            </a:r>
            <a:r>
              <a:rPr lang="en-US" sz="2800" dirty="0" err="1"/>
              <a:t>edici</a:t>
            </a:r>
            <a:r>
              <a:rPr lang="en-US" sz="2800" dirty="0"/>
              <a:t> </a:t>
            </a:r>
            <a:r>
              <a:rPr lang="en-US" sz="2800" dirty="0" err="1"/>
              <a:t>veya</a:t>
            </a:r>
            <a:r>
              <a:rPr lang="en-US" sz="2800" dirty="0"/>
              <a:t> </a:t>
            </a:r>
            <a:r>
              <a:rPr lang="en-US" sz="2800" dirty="0" err="1"/>
              <a:t>tehlikeli</a:t>
            </a:r>
            <a:r>
              <a:rPr lang="en-US" sz="2800" dirty="0"/>
              <a:t> </a:t>
            </a:r>
            <a:r>
              <a:rPr lang="en-US" sz="2800" dirty="0" err="1"/>
              <a:t>bir</a:t>
            </a:r>
            <a:r>
              <a:rPr lang="en-US" sz="2800" dirty="0"/>
              <a:t> </a:t>
            </a:r>
            <a:r>
              <a:rPr lang="en-US" sz="2800" dirty="0" err="1"/>
              <a:t>eylemine</a:t>
            </a:r>
            <a:r>
              <a:rPr lang="en-US" sz="2800" dirty="0"/>
              <a:t> </a:t>
            </a:r>
            <a:r>
              <a:rPr lang="en-US" sz="2800" dirty="0" err="1"/>
              <a:t>kamuoyunun</a:t>
            </a:r>
            <a:r>
              <a:rPr lang="en-US" sz="2800" dirty="0"/>
              <a:t> </a:t>
            </a:r>
            <a:r>
              <a:rPr lang="en-US" sz="2800" dirty="0" err="1"/>
              <a:t>dikkatini</a:t>
            </a:r>
            <a:r>
              <a:rPr lang="en-US" sz="2800" dirty="0"/>
              <a:t> </a:t>
            </a:r>
            <a:r>
              <a:rPr lang="en-US" sz="2800" dirty="0" err="1"/>
              <a:t>çekme</a:t>
            </a:r>
            <a:r>
              <a:rPr lang="en-US" sz="2800" dirty="0"/>
              <a:t> </a:t>
            </a:r>
            <a:r>
              <a:rPr lang="en-US" sz="2800" dirty="0" err="1"/>
              <a:t>çabası</a:t>
            </a:r>
            <a:r>
              <a:rPr lang="en-US" sz="2800" dirty="0"/>
              <a:t>
</a:t>
            </a:r>
            <a:r>
              <a:rPr lang="en-US" sz="2800" dirty="0" err="1"/>
              <a:t>İhbar</a:t>
            </a:r>
            <a:r>
              <a:rPr lang="en-US" sz="2800" dirty="0"/>
              <a:t> </a:t>
            </a:r>
            <a:r>
              <a:rPr lang="en-US" sz="2800" dirty="0" err="1"/>
              <a:t>koruma</a:t>
            </a:r>
            <a:r>
              <a:rPr lang="en-US" sz="2800" dirty="0"/>
              <a:t> </a:t>
            </a:r>
            <a:r>
              <a:rPr lang="en-US" sz="2800" dirty="0" err="1"/>
              <a:t>yasaları</a:t>
            </a:r>
            <a:r>
              <a:rPr lang="en-US" sz="2800" dirty="0"/>
              <a:t>, </a:t>
            </a:r>
            <a:r>
              <a:rPr lang="en-US" sz="2800" dirty="0" err="1"/>
              <a:t>çalışanların</a:t>
            </a:r>
            <a:r>
              <a:rPr lang="en-US" sz="2800" dirty="0"/>
              <a:t> </a:t>
            </a:r>
            <a:r>
              <a:rPr lang="en-US" sz="2800" dirty="0" err="1"/>
              <a:t>etik</a:t>
            </a:r>
            <a:r>
              <a:rPr lang="en-US" sz="2800" dirty="0"/>
              <a:t> </a:t>
            </a:r>
            <a:r>
              <a:rPr lang="en-US" sz="2800" dirty="0" err="1"/>
              <a:t>olmayan</a:t>
            </a:r>
            <a:r>
              <a:rPr lang="en-US" sz="2800" dirty="0"/>
              <a:t>, </a:t>
            </a:r>
            <a:r>
              <a:rPr lang="en-US" sz="2800" dirty="0" err="1"/>
              <a:t>yasa</a:t>
            </a:r>
            <a:r>
              <a:rPr lang="en-US" sz="2800" dirty="0"/>
              <a:t> </a:t>
            </a:r>
            <a:r>
              <a:rPr lang="en-US" sz="2800" dirty="0" err="1"/>
              <a:t>dışı</a:t>
            </a:r>
            <a:r>
              <a:rPr lang="en-US" sz="2800" dirty="0"/>
              <a:t> </a:t>
            </a:r>
            <a:r>
              <a:rPr lang="en-US" sz="2800" dirty="0" err="1"/>
              <a:t>veya</a:t>
            </a:r>
            <a:r>
              <a:rPr lang="en-US" sz="2800" dirty="0"/>
              <a:t> </a:t>
            </a:r>
            <a:r>
              <a:rPr lang="en-US" sz="2800" dirty="0" err="1"/>
              <a:t>güvenli</a:t>
            </a:r>
            <a:r>
              <a:rPr lang="en-US" sz="2800" dirty="0"/>
              <a:t> </a:t>
            </a:r>
            <a:r>
              <a:rPr lang="en-US" sz="2800" dirty="0" err="1"/>
              <a:t>olmayan</a:t>
            </a:r>
            <a:r>
              <a:rPr lang="en-US" sz="2800" dirty="0"/>
              <a:t> </a:t>
            </a:r>
            <a:r>
              <a:rPr lang="en-US" sz="2800" dirty="0" err="1"/>
              <a:t>veya</a:t>
            </a:r>
            <a:r>
              <a:rPr lang="en-US" sz="2800" dirty="0"/>
              <a:t> </a:t>
            </a:r>
            <a:r>
              <a:rPr lang="en-US" sz="2800" dirty="0" err="1"/>
              <a:t>belirli</a:t>
            </a:r>
            <a:r>
              <a:rPr lang="en-US" sz="2800" dirty="0"/>
              <a:t> </a:t>
            </a:r>
            <a:r>
              <a:rPr lang="en-US" sz="2800" dirty="0" err="1"/>
              <a:t>kamu</a:t>
            </a:r>
            <a:r>
              <a:rPr lang="en-US" sz="2800" dirty="0"/>
              <a:t> </a:t>
            </a:r>
            <a:r>
              <a:rPr lang="en-US" sz="2800" dirty="0" err="1"/>
              <a:t>politikalarını</a:t>
            </a:r>
            <a:r>
              <a:rPr lang="en-US" sz="2800" dirty="0"/>
              <a:t> </a:t>
            </a:r>
            <a:r>
              <a:rPr lang="en-US" sz="2800" dirty="0" err="1"/>
              <a:t>ihlal</a:t>
            </a:r>
            <a:r>
              <a:rPr lang="en-US" sz="2800" dirty="0"/>
              <a:t> </a:t>
            </a:r>
            <a:r>
              <a:rPr lang="en-US" sz="2800" dirty="0" err="1"/>
              <a:t>eden</a:t>
            </a:r>
            <a:r>
              <a:rPr lang="en-US" sz="2800" dirty="0"/>
              <a:t> </a:t>
            </a:r>
            <a:r>
              <a:rPr lang="en-US" sz="2800" dirty="0" err="1"/>
              <a:t>işveren</a:t>
            </a:r>
            <a:r>
              <a:rPr lang="en-US" sz="2800" dirty="0"/>
              <a:t> </a:t>
            </a:r>
            <a:r>
              <a:rPr lang="en-US" sz="2800" dirty="0" err="1"/>
              <a:t>eylemlerine</a:t>
            </a:r>
            <a:r>
              <a:rPr lang="en-US" sz="2800" dirty="0"/>
              <a:t> </a:t>
            </a:r>
            <a:r>
              <a:rPr lang="en-US" sz="2800" dirty="0" err="1"/>
              <a:t>karşı</a:t>
            </a:r>
            <a:r>
              <a:rPr lang="en-US" sz="2800" dirty="0"/>
              <a:t> </a:t>
            </a:r>
            <a:r>
              <a:rPr lang="en-US" sz="2800" dirty="0" err="1"/>
              <a:t>uygun</a:t>
            </a:r>
            <a:r>
              <a:rPr lang="en-US" sz="2800" dirty="0"/>
              <a:t> </a:t>
            </a:r>
            <a:r>
              <a:rPr lang="en-US" sz="2800" dirty="0" err="1"/>
              <a:t>yetkilileri</a:t>
            </a:r>
            <a:r>
              <a:rPr lang="en-US" sz="2800" dirty="0"/>
              <a:t> </a:t>
            </a:r>
            <a:r>
              <a:rPr lang="en-US" sz="2800" dirty="0" err="1"/>
              <a:t>uyarmasına</a:t>
            </a:r>
            <a:r>
              <a:rPr lang="en-US" sz="2800" dirty="0"/>
              <a:t> </a:t>
            </a:r>
            <a:r>
              <a:rPr lang="en-US" sz="2800" dirty="0" err="1"/>
              <a:t>olanak</a:t>
            </a:r>
            <a:r>
              <a:rPr lang="en-US" sz="2800" dirty="0"/>
              <a:t> </a:t>
            </a:r>
            <a:r>
              <a:rPr lang="en-US" sz="2800" dirty="0" err="1"/>
              <a:t>tanır</a:t>
            </a:r>
            <a:r>
              <a:rPr lang="en-US" sz="2800" dirty="0"/>
              <a:t>.
</a:t>
            </a:r>
            <a:r>
              <a:rPr lang="en-US" sz="2800" dirty="0" err="1"/>
              <a:t>Hiçbir</a:t>
            </a:r>
            <a:r>
              <a:rPr lang="en-US" sz="2800" dirty="0"/>
              <a:t> </a:t>
            </a:r>
            <a:r>
              <a:rPr lang="en-US" sz="2800" dirty="0" err="1"/>
              <a:t>kapsamlı</a:t>
            </a:r>
            <a:r>
              <a:rPr lang="en-US" sz="2800" dirty="0"/>
              <a:t> federal </a:t>
            </a:r>
            <a:r>
              <a:rPr lang="en-US" sz="2800" dirty="0" err="1"/>
              <a:t>yasa</a:t>
            </a:r>
            <a:r>
              <a:rPr lang="en-US" sz="2800" dirty="0"/>
              <a:t>, </a:t>
            </a:r>
            <a:r>
              <a:rPr lang="en-US" sz="2800" dirty="0" err="1"/>
              <a:t>muhbirleri</a:t>
            </a:r>
            <a:r>
              <a:rPr lang="en-US" sz="2800" dirty="0"/>
              <a:t> </a:t>
            </a:r>
            <a:r>
              <a:rPr lang="en-US" sz="2800" dirty="0" err="1"/>
              <a:t>misilleme</a:t>
            </a:r>
            <a:r>
              <a:rPr lang="en-US" sz="2800" dirty="0"/>
              <a:t> </a:t>
            </a:r>
            <a:r>
              <a:rPr lang="en-US" sz="2800" dirty="0" err="1"/>
              <a:t>eylemlerinden</a:t>
            </a:r>
            <a:r>
              <a:rPr lang="en-US" sz="2800" dirty="0"/>
              <a:t> </a:t>
            </a:r>
            <a:r>
              <a:rPr lang="en-US" sz="2800" dirty="0" err="1"/>
              <a:t>korumaz</a:t>
            </a:r>
            <a:r>
              <a:rPr lang="en-US" sz="2800" dirty="0"/>
              <a:t>.</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9</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80265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4453527"/>
          </a:xfrm>
        </p:spPr>
        <p:txBody>
          <a:bodyPr/>
          <a:lstStyle/>
          <a:p>
            <a:r>
              <a:rPr lang="en-US" sz="2800" dirty="0"/>
              <a:t>Bilgi </a:t>
            </a:r>
            <a:r>
              <a:rPr lang="en-US" sz="2800" dirty="0" err="1"/>
              <a:t>uçurma</a:t>
            </a:r>
            <a:r>
              <a:rPr lang="en-US" sz="2800" dirty="0"/>
              <a:t> </a:t>
            </a:r>
            <a:r>
              <a:rPr lang="en-US" sz="2800" dirty="0" err="1"/>
              <a:t>nedir</a:t>
            </a:r>
            <a:r>
              <a:rPr lang="en-US" sz="2800" dirty="0"/>
              <a:t> </a:t>
            </a:r>
            <a:r>
              <a:rPr lang="en-US" sz="2800" dirty="0" err="1"/>
              <a:t>ve</a:t>
            </a:r>
            <a:r>
              <a:rPr lang="en-US" sz="2800" dirty="0"/>
              <a:t> </a:t>
            </a:r>
            <a:r>
              <a:rPr lang="en-US" sz="2800" dirty="0" err="1"/>
              <a:t>bununla</a:t>
            </a:r>
            <a:r>
              <a:rPr lang="en-US" sz="2800" dirty="0"/>
              <a:t> hangi </a:t>
            </a:r>
            <a:r>
              <a:rPr lang="en-US" sz="2800" dirty="0" err="1"/>
              <a:t>etik</a:t>
            </a:r>
            <a:r>
              <a:rPr lang="en-US" sz="2800" dirty="0"/>
              <a:t> </a:t>
            </a:r>
            <a:r>
              <a:rPr lang="en-US" sz="2800" dirty="0" err="1"/>
              <a:t>sorunlar</a:t>
            </a:r>
            <a:r>
              <a:rPr lang="en-US" sz="2800" dirty="0"/>
              <a:t> </a:t>
            </a:r>
            <a:r>
              <a:rPr lang="en-US" sz="2800" dirty="0" err="1"/>
              <a:t>ilişkilidir</a:t>
            </a:r>
            <a:r>
              <a:rPr lang="en-US" sz="2800" dirty="0"/>
              <a:t>?
Bilgi </a:t>
            </a:r>
            <a:r>
              <a:rPr lang="en-US" sz="2800" dirty="0" err="1"/>
              <a:t>uçurmanın</a:t>
            </a:r>
            <a:r>
              <a:rPr lang="en-US" sz="2800" dirty="0"/>
              <a:t> </a:t>
            </a:r>
            <a:r>
              <a:rPr lang="en-US" sz="2800" dirty="0" err="1"/>
              <a:t>etik</a:t>
            </a:r>
            <a:r>
              <a:rPr lang="en-US" sz="2800" dirty="0"/>
              <a:t> </a:t>
            </a:r>
            <a:r>
              <a:rPr lang="en-US" sz="2800" dirty="0" err="1"/>
              <a:t>hususları</a:t>
            </a:r>
            <a:r>
              <a:rPr lang="en-US" sz="2800" dirty="0"/>
              <a:t>: 
Bilgi </a:t>
            </a:r>
            <a:r>
              <a:rPr lang="en-US" sz="2800" dirty="0" err="1"/>
              <a:t>uçurmanın</a:t>
            </a:r>
            <a:r>
              <a:rPr lang="en-US" sz="2800" dirty="0"/>
              <a:t> </a:t>
            </a:r>
            <a:r>
              <a:rPr lang="en-US" sz="2800" dirty="0" err="1"/>
              <a:t>yüksek</a:t>
            </a:r>
            <a:r>
              <a:rPr lang="en-US" sz="2800" dirty="0"/>
              <a:t> </a:t>
            </a:r>
            <a:r>
              <a:rPr lang="en-US" sz="2800" dirty="0" err="1"/>
              <a:t>fiyatı</a:t>
            </a:r>
            <a:r>
              <a:rPr lang="en-US" sz="2800" dirty="0"/>
              <a:t> buna </a:t>
            </a:r>
            <a:r>
              <a:rPr lang="en-US" sz="2800" dirty="0" err="1"/>
              <a:t>değer</a:t>
            </a:r>
            <a:r>
              <a:rPr lang="en-US" sz="2800" dirty="0"/>
              <a:t> mi?
</a:t>
            </a:r>
            <a:r>
              <a:rPr lang="en-US" sz="2800" dirty="0" err="1"/>
              <a:t>Sorunla</a:t>
            </a:r>
            <a:r>
              <a:rPr lang="en-US" sz="2800" dirty="0"/>
              <a:t> </a:t>
            </a:r>
            <a:r>
              <a:rPr lang="en-US" sz="2800" dirty="0" err="1"/>
              <a:t>başa</a:t>
            </a:r>
            <a:r>
              <a:rPr lang="en-US" sz="2800" dirty="0"/>
              <a:t> </a:t>
            </a:r>
            <a:r>
              <a:rPr lang="en-US" sz="2800" dirty="0" err="1"/>
              <a:t>çıkmanın</a:t>
            </a:r>
            <a:r>
              <a:rPr lang="en-US" sz="2800" dirty="0"/>
              <a:t> </a:t>
            </a:r>
            <a:r>
              <a:rPr lang="en-US" sz="2800" dirty="0" err="1"/>
              <a:t>diğer</a:t>
            </a:r>
            <a:r>
              <a:rPr lang="en-US" sz="2800" dirty="0"/>
              <a:t> </a:t>
            </a:r>
            <a:r>
              <a:rPr lang="en-US" sz="2800" dirty="0" err="1"/>
              <a:t>tüm</a:t>
            </a:r>
            <a:r>
              <a:rPr lang="en-US" sz="2800" dirty="0"/>
              <a:t> </a:t>
            </a:r>
            <a:r>
              <a:rPr lang="en-US" sz="2800" dirty="0" err="1"/>
              <a:t>yolları</a:t>
            </a:r>
            <a:r>
              <a:rPr lang="en-US" sz="2800" dirty="0"/>
              <a:t> </a:t>
            </a:r>
            <a:r>
              <a:rPr lang="en-US" sz="2800" dirty="0" err="1"/>
              <a:t>tükendi</a:t>
            </a:r>
            <a:r>
              <a:rPr lang="en-US" sz="2800" dirty="0"/>
              <a:t> mi?
</a:t>
            </a:r>
            <a:r>
              <a:rPr lang="en-US" sz="2800" dirty="0" err="1"/>
              <a:t>İhbar</a:t>
            </a:r>
            <a:r>
              <a:rPr lang="en-US" sz="2800" dirty="0"/>
              <a:t>, </a:t>
            </a:r>
            <a:r>
              <a:rPr lang="en-US" sz="2800" dirty="0" err="1"/>
              <a:t>kuruma</a:t>
            </a:r>
            <a:r>
              <a:rPr lang="en-US" sz="2800" dirty="0"/>
              <a:t> </a:t>
            </a:r>
            <a:r>
              <a:rPr lang="en-US" sz="2800" dirty="0" err="1"/>
              <a:t>sadakat</a:t>
            </a:r>
            <a:r>
              <a:rPr lang="en-US" sz="2800" dirty="0"/>
              <a:t> </a:t>
            </a:r>
            <a:r>
              <a:rPr lang="en-US" sz="2800" dirty="0" err="1"/>
              <a:t>yükümlülüğünü</a:t>
            </a:r>
            <a:r>
              <a:rPr lang="en-US" sz="2800" dirty="0"/>
              <a:t> </a:t>
            </a:r>
            <a:r>
              <a:rPr lang="en-US" sz="2800" dirty="0" err="1"/>
              <a:t>ihlal</a:t>
            </a:r>
            <a:r>
              <a:rPr lang="en-US" sz="2800" dirty="0"/>
              <a:t> </a:t>
            </a:r>
            <a:r>
              <a:rPr lang="en-US" sz="2800" dirty="0" err="1"/>
              <a:t>eder</a:t>
            </a:r>
            <a:r>
              <a:rPr lang="en-US" sz="2800" dirty="0"/>
              <a:t> mi?
</a:t>
            </a:r>
            <a:r>
              <a:rPr lang="en-US" sz="2800" dirty="0" err="1"/>
              <a:t>Sorunun</a:t>
            </a:r>
            <a:r>
              <a:rPr lang="en-US" sz="2800" dirty="0"/>
              <a:t> </a:t>
            </a:r>
            <a:r>
              <a:rPr lang="en-US" sz="2800" dirty="0" err="1"/>
              <a:t>kamuya</a:t>
            </a:r>
            <a:r>
              <a:rPr lang="en-US" sz="2800" dirty="0"/>
              <a:t> </a:t>
            </a:r>
            <a:r>
              <a:rPr lang="en-US" sz="2800" dirty="0" err="1"/>
              <a:t>açık</a:t>
            </a:r>
            <a:r>
              <a:rPr lang="en-US" sz="2800" dirty="0"/>
              <a:t> </a:t>
            </a:r>
            <a:r>
              <a:rPr lang="en-US" sz="2800" dirty="0" err="1"/>
              <a:t>bir</a:t>
            </a:r>
            <a:r>
              <a:rPr lang="en-US" sz="2800" dirty="0"/>
              <a:t> </a:t>
            </a:r>
            <a:r>
              <a:rPr lang="en-US" sz="2800" dirty="0" err="1"/>
              <a:t>şekilde</a:t>
            </a:r>
            <a:r>
              <a:rPr lang="en-US" sz="2800" dirty="0"/>
              <a:t> </a:t>
            </a:r>
            <a:r>
              <a:rPr lang="en-US" sz="2800" dirty="0" err="1"/>
              <a:t>ortaya</a:t>
            </a:r>
            <a:r>
              <a:rPr lang="en-US" sz="2800" dirty="0"/>
              <a:t> </a:t>
            </a:r>
            <a:r>
              <a:rPr lang="en-US" sz="2800" dirty="0" err="1"/>
              <a:t>çıkması</a:t>
            </a:r>
            <a:r>
              <a:rPr lang="en-US" sz="2800" dirty="0"/>
              <a:t> </a:t>
            </a:r>
            <a:r>
              <a:rPr lang="en-US" sz="2800" dirty="0" err="1"/>
              <a:t>gerçekten</a:t>
            </a:r>
            <a:r>
              <a:rPr lang="en-US" sz="2800" dirty="0"/>
              <a:t> </a:t>
            </a:r>
            <a:r>
              <a:rPr lang="en-US" sz="2800" dirty="0" err="1"/>
              <a:t>düzeltecek</a:t>
            </a:r>
            <a:r>
              <a:rPr lang="en-US" sz="2800" dirty="0"/>
              <a:t> </a:t>
            </a:r>
            <a:r>
              <a:rPr lang="en-US" sz="2800" dirty="0" err="1"/>
              <a:t>ve</a:t>
            </a:r>
            <a:r>
              <a:rPr lang="en-US" sz="2800" dirty="0"/>
              <a:t> </a:t>
            </a:r>
            <a:r>
              <a:rPr lang="en-US" sz="2800" dirty="0" err="1"/>
              <a:t>başkalarını</a:t>
            </a:r>
            <a:r>
              <a:rPr lang="en-US" sz="2800" dirty="0"/>
              <a:t> </a:t>
            </a:r>
            <a:r>
              <a:rPr lang="en-US" sz="2800" dirty="0" err="1"/>
              <a:t>zarar</a:t>
            </a:r>
            <a:r>
              <a:rPr lang="en-US" sz="2800" dirty="0"/>
              <a:t> </a:t>
            </a:r>
            <a:r>
              <a:rPr lang="en-US" sz="2800" dirty="0" err="1"/>
              <a:t>görmekten</a:t>
            </a:r>
            <a:r>
              <a:rPr lang="en-US" sz="2800" dirty="0"/>
              <a:t> </a:t>
            </a:r>
            <a:r>
              <a:rPr lang="en-US" sz="2800" dirty="0" err="1"/>
              <a:t>koruyacak</a:t>
            </a:r>
            <a:r>
              <a:rPr lang="en-US" sz="2800" dirty="0"/>
              <a:t> </a:t>
            </a:r>
            <a:r>
              <a:rPr lang="en-US" sz="2800" dirty="0" err="1"/>
              <a:t>mı</a:t>
            </a:r>
            <a:r>
              <a:rPr lang="en-US" sz="2800" dirty="0"/>
              <a:t>?</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10</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11963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4893647"/>
          </a:xfrm>
        </p:spPr>
        <p:txBody>
          <a:bodyPr/>
          <a:lstStyle/>
          <a:p>
            <a:r>
              <a:rPr lang="en-US" sz="2400" dirty="0"/>
              <a:t>Bilgi </a:t>
            </a:r>
            <a:r>
              <a:rPr lang="en-US" sz="2400" dirty="0" err="1"/>
              <a:t>uçurma</a:t>
            </a:r>
            <a:r>
              <a:rPr lang="en-US" sz="2400" dirty="0"/>
              <a:t> </a:t>
            </a:r>
            <a:r>
              <a:rPr lang="en-US" sz="2400" dirty="0" err="1"/>
              <a:t>nedir</a:t>
            </a:r>
            <a:r>
              <a:rPr lang="en-US" sz="2400" dirty="0"/>
              <a:t> </a:t>
            </a:r>
            <a:r>
              <a:rPr lang="en-US" sz="2400" dirty="0" err="1"/>
              <a:t>ve</a:t>
            </a:r>
            <a:r>
              <a:rPr lang="en-US" sz="2400" dirty="0"/>
              <a:t> </a:t>
            </a:r>
            <a:r>
              <a:rPr lang="en-US" sz="2400" dirty="0" err="1"/>
              <a:t>bununla</a:t>
            </a:r>
            <a:r>
              <a:rPr lang="en-US" sz="2400" dirty="0"/>
              <a:t> hangi </a:t>
            </a:r>
            <a:r>
              <a:rPr lang="en-US" sz="2400" dirty="0" err="1"/>
              <a:t>etik</a:t>
            </a:r>
            <a:r>
              <a:rPr lang="en-US" sz="2400" dirty="0"/>
              <a:t> </a:t>
            </a:r>
            <a:r>
              <a:rPr lang="en-US" sz="2400" dirty="0" err="1"/>
              <a:t>sorunlar</a:t>
            </a:r>
            <a:r>
              <a:rPr lang="en-US" sz="2400" dirty="0"/>
              <a:t> </a:t>
            </a:r>
            <a:r>
              <a:rPr lang="en-US" sz="2400" dirty="0" err="1"/>
              <a:t>ilişkilidir</a:t>
            </a:r>
            <a:r>
              <a:rPr lang="en-US" sz="2400" dirty="0"/>
              <a:t>?
</a:t>
            </a:r>
            <a:r>
              <a:rPr lang="en-US" sz="2400" dirty="0" err="1"/>
              <a:t>Etkili</a:t>
            </a:r>
            <a:r>
              <a:rPr lang="en-US" sz="2400" dirty="0"/>
              <a:t> </a:t>
            </a:r>
            <a:r>
              <a:rPr lang="en-US" sz="2400" dirty="0" err="1"/>
              <a:t>bir</a:t>
            </a:r>
            <a:r>
              <a:rPr lang="en-US" sz="2400" dirty="0"/>
              <a:t> </a:t>
            </a:r>
            <a:r>
              <a:rPr lang="en-US" sz="2400" dirty="0" err="1"/>
              <a:t>ihbar</a:t>
            </a:r>
            <a:r>
              <a:rPr lang="en-US" sz="2400" dirty="0"/>
              <a:t> </a:t>
            </a:r>
            <a:r>
              <a:rPr lang="en-US" sz="2400" dirty="0" err="1"/>
              <a:t>sürecindeki</a:t>
            </a:r>
            <a:r>
              <a:rPr lang="en-US" sz="2400" dirty="0"/>
              <a:t> </a:t>
            </a:r>
            <a:r>
              <a:rPr lang="en-US" sz="2400" dirty="0" err="1"/>
              <a:t>adımlar</a:t>
            </a:r>
            <a:r>
              <a:rPr lang="en-US" sz="2400" dirty="0"/>
              <a:t>: 
(1) </a:t>
            </a:r>
            <a:r>
              <a:rPr lang="en-US" sz="2400" dirty="0" err="1"/>
              <a:t>Durumun</a:t>
            </a:r>
            <a:r>
              <a:rPr lang="en-US" sz="2400" dirty="0"/>
              <a:t> </a:t>
            </a:r>
            <a:r>
              <a:rPr lang="en-US" sz="2400" dirty="0" err="1"/>
              <a:t>ciddiyetini</a:t>
            </a:r>
            <a:r>
              <a:rPr lang="en-US" sz="2400" dirty="0"/>
              <a:t> </a:t>
            </a:r>
            <a:r>
              <a:rPr lang="en-US" sz="2400" dirty="0" err="1"/>
              <a:t>değerlendirin</a:t>
            </a:r>
            <a:r>
              <a:rPr lang="en-US" sz="2400" dirty="0"/>
              <a:t>
(2) </a:t>
            </a:r>
            <a:r>
              <a:rPr lang="en-US" sz="2400" dirty="0" err="1"/>
              <a:t>Belgelere</a:t>
            </a:r>
            <a:r>
              <a:rPr lang="en-US" sz="2400" dirty="0"/>
              <a:t> </a:t>
            </a:r>
            <a:r>
              <a:rPr lang="en-US" sz="2400" dirty="0" err="1"/>
              <a:t>başlayın</a:t>
            </a:r>
            <a:r>
              <a:rPr lang="en-US" sz="2400" dirty="0"/>
              <a:t>
(3) Durumu </a:t>
            </a:r>
            <a:r>
              <a:rPr lang="en-US" sz="2400" dirty="0" err="1"/>
              <a:t>dahili</a:t>
            </a:r>
            <a:r>
              <a:rPr lang="en-US" sz="2400" dirty="0"/>
              <a:t> </a:t>
            </a:r>
            <a:r>
              <a:rPr lang="en-US" sz="2400" dirty="0" err="1"/>
              <a:t>olarak</a:t>
            </a:r>
            <a:r>
              <a:rPr lang="en-US" sz="2400" dirty="0"/>
              <a:t> </a:t>
            </a:r>
            <a:r>
              <a:rPr lang="en-US" sz="2400" dirty="0" err="1"/>
              <a:t>ele</a:t>
            </a:r>
            <a:r>
              <a:rPr lang="en-US" sz="2400" dirty="0"/>
              <a:t> </a:t>
            </a:r>
            <a:r>
              <a:rPr lang="en-US" sz="2400" dirty="0" err="1"/>
              <a:t>almaya</a:t>
            </a:r>
            <a:r>
              <a:rPr lang="en-US" sz="2400" dirty="0"/>
              <a:t> </a:t>
            </a:r>
            <a:r>
              <a:rPr lang="en-US" sz="2400" dirty="0" err="1"/>
              <a:t>çalışın</a:t>
            </a:r>
            <a:r>
              <a:rPr lang="en-US" sz="2400" dirty="0"/>
              <a:t>
(4) </a:t>
            </a:r>
            <a:r>
              <a:rPr lang="en-US" sz="2400" dirty="0" err="1"/>
              <a:t>Şirket</a:t>
            </a:r>
            <a:r>
              <a:rPr lang="en-US" sz="2400" dirty="0"/>
              <a:t> </a:t>
            </a:r>
            <a:r>
              <a:rPr lang="en-US" sz="2400" dirty="0" err="1"/>
              <a:t>içindeki</a:t>
            </a:r>
            <a:r>
              <a:rPr lang="en-US" sz="2400" dirty="0"/>
              <a:t> </a:t>
            </a:r>
            <a:r>
              <a:rPr lang="en-US" sz="2400" dirty="0" err="1"/>
              <a:t>durumu</a:t>
            </a:r>
            <a:r>
              <a:rPr lang="en-US" sz="2400" dirty="0"/>
              <a:t> </a:t>
            </a:r>
            <a:r>
              <a:rPr lang="en-US" sz="2400" dirty="0" err="1"/>
              <a:t>tırmandırmayı</a:t>
            </a:r>
            <a:r>
              <a:rPr lang="en-US" sz="2400" dirty="0"/>
              <a:t> </a:t>
            </a:r>
            <a:r>
              <a:rPr lang="en-US" sz="2400" dirty="0" err="1"/>
              <a:t>düşünün</a:t>
            </a:r>
            <a:r>
              <a:rPr lang="en-US" sz="2400" dirty="0"/>
              <a:t>
(5) </a:t>
            </a:r>
            <a:r>
              <a:rPr lang="en-US" sz="2400" dirty="0" err="1"/>
              <a:t>İhbarcı</a:t>
            </a:r>
            <a:r>
              <a:rPr lang="en-US" sz="2400" dirty="0"/>
              <a:t> </a:t>
            </a:r>
            <a:r>
              <a:rPr lang="en-US" sz="2400" dirty="0" err="1"/>
              <a:t>olmanın</a:t>
            </a:r>
            <a:r>
              <a:rPr lang="en-US" sz="2400" dirty="0"/>
              <a:t> </a:t>
            </a:r>
            <a:r>
              <a:rPr lang="en-US" sz="2400" dirty="0" err="1"/>
              <a:t>sonuçlarını</a:t>
            </a:r>
            <a:r>
              <a:rPr lang="en-US" sz="2400" dirty="0"/>
              <a:t> </a:t>
            </a:r>
            <a:r>
              <a:rPr lang="en-US" sz="2400" dirty="0" err="1"/>
              <a:t>değerlendirin</a:t>
            </a:r>
            <a:r>
              <a:rPr lang="en-US" sz="2400" dirty="0"/>
              <a:t>
(6) Bir </a:t>
            </a:r>
            <a:r>
              <a:rPr lang="en-US" sz="2400" dirty="0" err="1"/>
              <a:t>eylem</a:t>
            </a:r>
            <a:r>
              <a:rPr lang="en-US" sz="2400" dirty="0"/>
              <a:t> </a:t>
            </a:r>
            <a:r>
              <a:rPr lang="en-US" sz="2400" dirty="0" err="1"/>
              <a:t>planı</a:t>
            </a:r>
            <a:r>
              <a:rPr lang="en-US" sz="2400" dirty="0"/>
              <a:t> </a:t>
            </a:r>
            <a:r>
              <a:rPr lang="en-US" sz="2400" dirty="0" err="1"/>
              <a:t>geliştirmek</a:t>
            </a:r>
            <a:r>
              <a:rPr lang="en-US" sz="2400" dirty="0"/>
              <a:t> için </a:t>
            </a:r>
            <a:r>
              <a:rPr lang="en-US" sz="2400" dirty="0" err="1"/>
              <a:t>deneyimli</a:t>
            </a:r>
            <a:r>
              <a:rPr lang="en-US" sz="2400" dirty="0"/>
              <a:t> </a:t>
            </a:r>
            <a:r>
              <a:rPr lang="en-US" sz="2400" dirty="0" err="1"/>
              <a:t>kaynakları</a:t>
            </a:r>
            <a:r>
              <a:rPr lang="en-US" sz="2400" dirty="0"/>
              <a:t> </a:t>
            </a:r>
            <a:r>
              <a:rPr lang="en-US" sz="2400" dirty="0" err="1"/>
              <a:t>kullanın</a:t>
            </a:r>
            <a:r>
              <a:rPr lang="en-US" sz="2400" dirty="0"/>
              <a:t>
(7) </a:t>
            </a:r>
            <a:r>
              <a:rPr lang="en-US" sz="2400" dirty="0" err="1"/>
              <a:t>Eylem</a:t>
            </a:r>
            <a:r>
              <a:rPr lang="en-US" sz="2400" dirty="0"/>
              <a:t> </a:t>
            </a:r>
            <a:r>
              <a:rPr lang="en-US" sz="2400" dirty="0" err="1"/>
              <a:t>planını</a:t>
            </a:r>
            <a:r>
              <a:rPr lang="en-US" sz="2400" dirty="0"/>
              <a:t> </a:t>
            </a:r>
            <a:r>
              <a:rPr lang="en-US" sz="2400" dirty="0" err="1"/>
              <a:t>uygulayın</a:t>
            </a:r>
            <a:r>
              <a:rPr lang="en-US" sz="2400" dirty="0"/>
              <a:t>
(8) </a:t>
            </a:r>
            <a:r>
              <a:rPr lang="en-US" sz="2400" dirty="0" err="1"/>
              <a:t>Sonuçlarla</a:t>
            </a:r>
            <a:r>
              <a:rPr lang="en-US" sz="2400" dirty="0"/>
              <a:t> </a:t>
            </a:r>
            <a:r>
              <a:rPr lang="en-US" sz="2400" dirty="0" err="1"/>
              <a:t>yaşayın</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11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83434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5272213"/>
          </a:xfrm>
        </p:spPr>
        <p:txBody>
          <a:bodyPr/>
          <a:lstStyle/>
          <a:p>
            <a:r>
              <a:rPr lang="en-US" sz="2800" dirty="0" err="1"/>
              <a:t>Yeşil</a:t>
            </a:r>
            <a:r>
              <a:rPr lang="en-US" sz="2800" dirty="0"/>
              <a:t> </a:t>
            </a:r>
            <a:r>
              <a:rPr lang="en-US" sz="2800" dirty="0" err="1"/>
              <a:t>bilgi</a:t>
            </a:r>
            <a:r>
              <a:rPr lang="en-US" sz="2800" dirty="0"/>
              <a:t> </a:t>
            </a:r>
            <a:r>
              <a:rPr lang="en-US" sz="2800" dirty="0" err="1"/>
              <a:t>işlem</a:t>
            </a:r>
            <a:r>
              <a:rPr lang="en-US" sz="2800" dirty="0"/>
              <a:t> </a:t>
            </a:r>
            <a:r>
              <a:rPr lang="en-US" sz="2800" dirty="0" err="1"/>
              <a:t>nedir</a:t>
            </a:r>
            <a:r>
              <a:rPr lang="en-US" sz="2800" dirty="0"/>
              <a:t> </a:t>
            </a:r>
            <a:r>
              <a:rPr lang="en-US" sz="2800" dirty="0" err="1"/>
              <a:t>ve</a:t>
            </a:r>
            <a:r>
              <a:rPr lang="en-US" sz="2800" dirty="0"/>
              <a:t> </a:t>
            </a:r>
            <a:r>
              <a:rPr lang="en-US" sz="2800" dirty="0" err="1"/>
              <a:t>kuruluşlar</a:t>
            </a:r>
            <a:r>
              <a:rPr lang="en-US" sz="2800" dirty="0"/>
              <a:t> </a:t>
            </a:r>
            <a:r>
              <a:rPr lang="en-US" sz="2800" dirty="0" err="1"/>
              <a:t>bu</a:t>
            </a:r>
            <a:r>
              <a:rPr lang="en-US" sz="2800" dirty="0"/>
              <a:t> </a:t>
            </a:r>
            <a:r>
              <a:rPr lang="en-US" sz="2800" dirty="0" err="1"/>
              <a:t>girişimi</a:t>
            </a:r>
            <a:r>
              <a:rPr lang="en-US" sz="2800" dirty="0"/>
              <a:t> </a:t>
            </a:r>
            <a:r>
              <a:rPr lang="en-US" sz="2800" dirty="0" err="1"/>
              <a:t>desteklemek</a:t>
            </a:r>
            <a:r>
              <a:rPr lang="en-US" sz="2800" dirty="0"/>
              <a:t> için ne </a:t>
            </a:r>
            <a:r>
              <a:rPr lang="en-US" sz="2800" dirty="0" err="1"/>
              <a:t>yapıyor</a:t>
            </a:r>
            <a:r>
              <a:rPr lang="en-US" sz="2800" dirty="0"/>
              <a:t>?
</a:t>
            </a:r>
            <a:r>
              <a:rPr lang="en-US" sz="2800" dirty="0" err="1"/>
              <a:t>Yeşil</a:t>
            </a:r>
            <a:r>
              <a:rPr lang="en-US" sz="2800" dirty="0"/>
              <a:t> </a:t>
            </a:r>
            <a:r>
              <a:rPr lang="en-US" sz="2800" dirty="0" err="1"/>
              <a:t>bilgi</a:t>
            </a:r>
            <a:r>
              <a:rPr lang="en-US" sz="2800" dirty="0"/>
              <a:t> </a:t>
            </a:r>
            <a:r>
              <a:rPr lang="en-US" sz="2800" dirty="0" err="1"/>
              <a:t>işlem</a:t>
            </a:r>
            <a:r>
              <a:rPr lang="en-US" sz="2800" dirty="0"/>
              <a:t>: BT </a:t>
            </a:r>
            <a:r>
              <a:rPr lang="en-US" sz="2800" dirty="0" err="1"/>
              <a:t>ile</a:t>
            </a:r>
            <a:r>
              <a:rPr lang="en-US" sz="2800" dirty="0"/>
              <a:t> </a:t>
            </a:r>
            <a:r>
              <a:rPr lang="en-US" sz="2800" dirty="0" err="1"/>
              <a:t>ilgili</a:t>
            </a:r>
            <a:r>
              <a:rPr lang="en-US" sz="2800" dirty="0"/>
              <a:t> </a:t>
            </a:r>
            <a:r>
              <a:rPr lang="en-US" sz="2800" dirty="0" err="1"/>
              <a:t>ürünlerin</a:t>
            </a:r>
            <a:r>
              <a:rPr lang="en-US" sz="2800" dirty="0"/>
              <a:t> </a:t>
            </a:r>
            <a:r>
              <a:rPr lang="en-US" sz="2800" dirty="0" err="1"/>
              <a:t>verimli</a:t>
            </a:r>
            <a:r>
              <a:rPr lang="en-US" sz="2800" dirty="0"/>
              <a:t> </a:t>
            </a:r>
            <a:r>
              <a:rPr lang="en-US" sz="2800" dirty="0" err="1"/>
              <a:t>ve</a:t>
            </a:r>
            <a:r>
              <a:rPr lang="en-US" sz="2800" dirty="0"/>
              <a:t> </a:t>
            </a:r>
            <a:r>
              <a:rPr lang="en-US" sz="2800" dirty="0" err="1"/>
              <a:t>çevreye</a:t>
            </a:r>
            <a:r>
              <a:rPr lang="en-US" sz="2800" dirty="0"/>
              <a:t> </a:t>
            </a:r>
            <a:r>
              <a:rPr lang="en-US" sz="2800" dirty="0" err="1"/>
              <a:t>duyarlı</a:t>
            </a:r>
            <a:r>
              <a:rPr lang="en-US" sz="2800" dirty="0"/>
              <a:t> </a:t>
            </a:r>
            <a:r>
              <a:rPr lang="en-US" sz="2800" dirty="0" err="1"/>
              <a:t>tasarımı</a:t>
            </a:r>
            <a:r>
              <a:rPr lang="en-US" sz="2800" dirty="0"/>
              <a:t>, </a:t>
            </a:r>
            <a:r>
              <a:rPr lang="en-US" sz="2800" dirty="0" err="1"/>
              <a:t>üretimi</a:t>
            </a:r>
            <a:r>
              <a:rPr lang="en-US" sz="2800" dirty="0"/>
              <a:t>, </a:t>
            </a:r>
            <a:r>
              <a:rPr lang="en-US" sz="2800" dirty="0" err="1"/>
              <a:t>çalıştırılması</a:t>
            </a:r>
            <a:r>
              <a:rPr lang="en-US" sz="2800" dirty="0"/>
              <a:t> </a:t>
            </a:r>
            <a:r>
              <a:rPr lang="en-US" sz="2800" dirty="0" err="1"/>
              <a:t>ve</a:t>
            </a:r>
            <a:r>
              <a:rPr lang="en-US" sz="2800" dirty="0"/>
              <a:t> </a:t>
            </a:r>
            <a:r>
              <a:rPr lang="en-US" sz="2800" dirty="0" err="1"/>
              <a:t>imhası</a:t>
            </a:r>
            <a:r>
              <a:rPr lang="en-US" sz="2800" dirty="0"/>
              <a:t> </a:t>
            </a:r>
            <a:r>
              <a:rPr lang="en-US" sz="2800" dirty="0" err="1"/>
              <a:t>ile</a:t>
            </a:r>
            <a:r>
              <a:rPr lang="en-US" sz="2800" dirty="0"/>
              <a:t> </a:t>
            </a:r>
            <a:r>
              <a:rPr lang="en-US" sz="2800" dirty="0" err="1"/>
              <a:t>ilgilidir</a:t>
            </a:r>
            <a:r>
              <a:rPr lang="en-US" sz="2800" dirty="0"/>
              <a:t>
</a:t>
            </a:r>
            <a:r>
              <a:rPr lang="en-US" sz="2800" dirty="0" err="1"/>
              <a:t>Yeşil</a:t>
            </a:r>
            <a:r>
              <a:rPr lang="en-US" sz="2800" dirty="0"/>
              <a:t> </a:t>
            </a:r>
            <a:r>
              <a:rPr lang="en-US" sz="2800" dirty="0" err="1"/>
              <a:t>bilgi</a:t>
            </a:r>
            <a:r>
              <a:rPr lang="en-US" sz="2800" dirty="0"/>
              <a:t> </a:t>
            </a:r>
            <a:r>
              <a:rPr lang="en-US" sz="2800" dirty="0" err="1"/>
              <a:t>işlemin</a:t>
            </a:r>
            <a:r>
              <a:rPr lang="en-US" sz="2800" dirty="0"/>
              <a:t> </a:t>
            </a:r>
            <a:r>
              <a:rPr lang="en-US" sz="2800" dirty="0" err="1"/>
              <a:t>üç</a:t>
            </a:r>
            <a:r>
              <a:rPr lang="en-US" sz="2800" dirty="0"/>
              <a:t> </a:t>
            </a:r>
            <a:r>
              <a:rPr lang="en-US" sz="2800" dirty="0" err="1"/>
              <a:t>hedefi</a:t>
            </a:r>
            <a:r>
              <a:rPr lang="en-US" sz="2800" dirty="0"/>
              <a:t> </a:t>
            </a:r>
            <a:r>
              <a:rPr lang="en-US" sz="2800" dirty="0" err="1"/>
              <a:t>vardır</a:t>
            </a:r>
            <a:r>
              <a:rPr lang="en-US" sz="2800" dirty="0"/>
              <a:t>:
</a:t>
            </a:r>
            <a:r>
              <a:rPr lang="en-US" sz="2800" dirty="0" err="1"/>
              <a:t>Tehlikeli</a:t>
            </a:r>
            <a:r>
              <a:rPr lang="en-US" sz="2800" dirty="0"/>
              <a:t> </a:t>
            </a:r>
            <a:r>
              <a:rPr lang="en-US" sz="2800" dirty="0" err="1"/>
              <a:t>madde</a:t>
            </a:r>
            <a:r>
              <a:rPr lang="en-US" sz="2800" dirty="0"/>
              <a:t> </a:t>
            </a:r>
            <a:r>
              <a:rPr lang="en-US" sz="2800" dirty="0" err="1"/>
              <a:t>kullanımını</a:t>
            </a:r>
            <a:r>
              <a:rPr lang="en-US" sz="2800" dirty="0"/>
              <a:t> </a:t>
            </a:r>
            <a:r>
              <a:rPr lang="en-US" sz="2800" dirty="0" err="1"/>
              <a:t>azaltın</a:t>
            </a:r>
            <a:r>
              <a:rPr lang="en-US" sz="2800" dirty="0"/>
              <a:t>
</a:t>
            </a:r>
            <a:r>
              <a:rPr lang="en-US" sz="2800" dirty="0" err="1"/>
              <a:t>Şirketlerin</a:t>
            </a:r>
            <a:r>
              <a:rPr lang="en-US" sz="2800" dirty="0"/>
              <a:t> </a:t>
            </a:r>
            <a:r>
              <a:rPr lang="en-US" sz="2800" dirty="0" err="1"/>
              <a:t>güçle</a:t>
            </a:r>
            <a:r>
              <a:rPr lang="en-US" sz="2800" dirty="0"/>
              <a:t> </a:t>
            </a:r>
            <a:r>
              <a:rPr lang="en-US" sz="2800" dirty="0" err="1"/>
              <a:t>ilgili</a:t>
            </a:r>
            <a:r>
              <a:rPr lang="en-US" sz="2800" dirty="0"/>
              <a:t> </a:t>
            </a:r>
            <a:r>
              <a:rPr lang="en-US" sz="2800" dirty="0" err="1"/>
              <a:t>maliyetlerini</a:t>
            </a:r>
            <a:r>
              <a:rPr lang="en-US" sz="2800" dirty="0"/>
              <a:t> </a:t>
            </a:r>
            <a:r>
              <a:rPr lang="en-US" sz="2800" dirty="0" err="1"/>
              <a:t>düşürmelerine</a:t>
            </a:r>
            <a:r>
              <a:rPr lang="en-US" sz="2800" dirty="0"/>
              <a:t> </a:t>
            </a:r>
            <a:r>
              <a:rPr lang="en-US" sz="2800" dirty="0" err="1"/>
              <a:t>izin</a:t>
            </a:r>
            <a:r>
              <a:rPr lang="en-US" sz="2800" dirty="0"/>
              <a:t> </a:t>
            </a:r>
            <a:r>
              <a:rPr lang="en-US" sz="2800" dirty="0" err="1"/>
              <a:t>verin</a:t>
            </a:r>
            <a:r>
              <a:rPr lang="en-US" sz="2800" dirty="0"/>
              <a:t>
</a:t>
            </a:r>
            <a:r>
              <a:rPr lang="en-US" sz="2800" dirty="0" err="1"/>
              <a:t>Bilgisayarların</a:t>
            </a:r>
            <a:r>
              <a:rPr lang="en-US" sz="2800" dirty="0"/>
              <a:t> </a:t>
            </a:r>
            <a:r>
              <a:rPr lang="en-US" sz="2800" dirty="0" err="1"/>
              <a:t>ve</a:t>
            </a:r>
            <a:r>
              <a:rPr lang="en-US" sz="2800" dirty="0"/>
              <a:t> </a:t>
            </a:r>
            <a:r>
              <a:rPr lang="en-US" sz="2800" dirty="0" err="1"/>
              <a:t>bilgisayarla</a:t>
            </a:r>
            <a:r>
              <a:rPr lang="en-US" sz="2800" dirty="0"/>
              <a:t> </a:t>
            </a:r>
            <a:r>
              <a:rPr lang="en-US" sz="2800" dirty="0" err="1"/>
              <a:t>ilgili</a:t>
            </a:r>
            <a:r>
              <a:rPr lang="en-US" sz="2800" dirty="0"/>
              <a:t> </a:t>
            </a:r>
            <a:r>
              <a:rPr lang="en-US" sz="2800" dirty="0" err="1"/>
              <a:t>ekipmanların</a:t>
            </a:r>
            <a:r>
              <a:rPr lang="en-US" sz="2800" dirty="0"/>
              <a:t> </a:t>
            </a:r>
            <a:r>
              <a:rPr lang="en-US" sz="2800" dirty="0" err="1"/>
              <a:t>güvenli</a:t>
            </a:r>
            <a:r>
              <a:rPr lang="en-US" sz="2800" dirty="0"/>
              <a:t> </a:t>
            </a:r>
            <a:r>
              <a:rPr lang="en-US" sz="2800" dirty="0" err="1"/>
              <a:t>bir</a:t>
            </a:r>
            <a:r>
              <a:rPr lang="en-US" sz="2800" dirty="0"/>
              <a:t> </a:t>
            </a:r>
            <a:r>
              <a:rPr lang="en-US" sz="2800" dirty="0" err="1"/>
              <a:t>şekilde</a:t>
            </a:r>
            <a:r>
              <a:rPr lang="en-US" sz="2800" dirty="0"/>
              <a:t> </a:t>
            </a:r>
            <a:r>
              <a:rPr lang="en-US" sz="2800" dirty="0" err="1"/>
              <a:t>atılmasını</a:t>
            </a:r>
            <a:r>
              <a:rPr lang="en-US" sz="2800" dirty="0"/>
              <a:t> </a:t>
            </a:r>
            <a:r>
              <a:rPr lang="en-US" sz="2800" dirty="0" err="1"/>
              <a:t>veya</a:t>
            </a:r>
            <a:r>
              <a:rPr lang="en-US" sz="2800" dirty="0"/>
              <a:t> </a:t>
            </a:r>
            <a:r>
              <a:rPr lang="en-US" sz="2800" dirty="0" err="1"/>
              <a:t>geri</a:t>
            </a:r>
            <a:r>
              <a:rPr lang="en-US" sz="2800" dirty="0"/>
              <a:t> </a:t>
            </a:r>
            <a:r>
              <a:rPr lang="en-US" sz="2800" dirty="0" err="1"/>
              <a:t>dönüştürülmesini</a:t>
            </a:r>
            <a:r>
              <a:rPr lang="en-US" sz="2800" dirty="0"/>
              <a:t> </a:t>
            </a:r>
            <a:r>
              <a:rPr lang="en-US" sz="2800" dirty="0" err="1"/>
              <a:t>sağlayın</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12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30860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143000"/>
            <a:ext cx="8415338" cy="5287601"/>
          </a:xfrm>
        </p:spPr>
        <p:txBody>
          <a:bodyPr/>
          <a:lstStyle/>
          <a:p>
            <a:r>
              <a:rPr lang="en-US" sz="2400" dirty="0" err="1"/>
              <a:t>Yeşil</a:t>
            </a:r>
            <a:r>
              <a:rPr lang="en-US" sz="2400" dirty="0"/>
              <a:t> </a:t>
            </a:r>
            <a:r>
              <a:rPr lang="en-US" sz="2400" dirty="0" err="1"/>
              <a:t>bilgi</a:t>
            </a:r>
            <a:r>
              <a:rPr lang="en-US" sz="2400" dirty="0"/>
              <a:t> </a:t>
            </a:r>
            <a:r>
              <a:rPr lang="en-US" sz="2400" dirty="0" err="1"/>
              <a:t>işlem</a:t>
            </a:r>
            <a:r>
              <a:rPr lang="en-US" sz="2400" dirty="0"/>
              <a:t> </a:t>
            </a:r>
            <a:r>
              <a:rPr lang="en-US" sz="2400" dirty="0" err="1"/>
              <a:t>nedir</a:t>
            </a:r>
            <a:r>
              <a:rPr lang="en-US" sz="2400" dirty="0"/>
              <a:t> </a:t>
            </a:r>
            <a:r>
              <a:rPr lang="en-US" sz="2400" dirty="0" err="1"/>
              <a:t>ve</a:t>
            </a:r>
            <a:r>
              <a:rPr lang="en-US" sz="2400" dirty="0"/>
              <a:t> </a:t>
            </a:r>
            <a:r>
              <a:rPr lang="en-US" sz="2400" dirty="0" err="1"/>
              <a:t>kuruluşlar</a:t>
            </a:r>
            <a:r>
              <a:rPr lang="en-US" sz="2400" dirty="0"/>
              <a:t> </a:t>
            </a:r>
            <a:r>
              <a:rPr lang="en-US" sz="2400" dirty="0" err="1"/>
              <a:t>bu</a:t>
            </a:r>
            <a:r>
              <a:rPr lang="en-US" sz="2400" dirty="0"/>
              <a:t> </a:t>
            </a:r>
            <a:r>
              <a:rPr lang="en-US" sz="2400" dirty="0" err="1"/>
              <a:t>girişimi</a:t>
            </a:r>
            <a:r>
              <a:rPr lang="en-US" sz="2400" dirty="0"/>
              <a:t> </a:t>
            </a:r>
            <a:r>
              <a:rPr lang="en-US" sz="2400" dirty="0" err="1"/>
              <a:t>desteklemek</a:t>
            </a:r>
            <a:r>
              <a:rPr lang="en-US" sz="2400" dirty="0"/>
              <a:t> için ne </a:t>
            </a:r>
            <a:r>
              <a:rPr lang="en-US" sz="2400" dirty="0" err="1"/>
              <a:t>yapıyor</a:t>
            </a:r>
            <a:r>
              <a:rPr lang="en-US" sz="2400" dirty="0"/>
              <a:t>?
</a:t>
            </a:r>
            <a:r>
              <a:rPr lang="en-US" sz="2400" dirty="0" err="1"/>
              <a:t>Elektronik</a:t>
            </a:r>
            <a:r>
              <a:rPr lang="en-US" sz="2400" dirty="0"/>
              <a:t> </a:t>
            </a:r>
            <a:r>
              <a:rPr lang="en-US" sz="2400" dirty="0" err="1"/>
              <a:t>Ürün</a:t>
            </a:r>
            <a:r>
              <a:rPr lang="en-US" sz="2400" dirty="0"/>
              <a:t> </a:t>
            </a:r>
            <a:r>
              <a:rPr lang="en-US" sz="2400" dirty="0" err="1"/>
              <a:t>Çevresel</a:t>
            </a:r>
            <a:r>
              <a:rPr lang="en-US" sz="2400" dirty="0"/>
              <a:t> </a:t>
            </a:r>
            <a:r>
              <a:rPr lang="en-US" sz="2400" dirty="0" err="1"/>
              <a:t>Değerlendirme</a:t>
            </a:r>
            <a:r>
              <a:rPr lang="en-US" sz="2400" dirty="0"/>
              <a:t> </a:t>
            </a:r>
            <a:r>
              <a:rPr lang="en-US" sz="2400" dirty="0" err="1"/>
              <a:t>Aracı</a:t>
            </a:r>
            <a:r>
              <a:rPr lang="en-US" sz="2400" dirty="0"/>
              <a:t> (EPEAT)
</a:t>
            </a:r>
            <a:r>
              <a:rPr lang="en-US" sz="2400" dirty="0" err="1"/>
              <a:t>Alıcıların</a:t>
            </a:r>
            <a:r>
              <a:rPr lang="en-US" sz="2400" dirty="0"/>
              <a:t> </a:t>
            </a:r>
            <a:r>
              <a:rPr lang="en-US" sz="2400" dirty="0" err="1"/>
              <a:t>elektronik</a:t>
            </a:r>
            <a:r>
              <a:rPr lang="en-US" sz="2400" dirty="0"/>
              <a:t> </a:t>
            </a:r>
            <a:r>
              <a:rPr lang="en-US" sz="2400" dirty="0" err="1"/>
              <a:t>ürünleri</a:t>
            </a:r>
            <a:r>
              <a:rPr lang="en-US" sz="2400" dirty="0"/>
              <a:t> 51 </a:t>
            </a:r>
            <a:r>
              <a:rPr lang="en-US" sz="2400" dirty="0" err="1"/>
              <a:t>çevresel</a:t>
            </a:r>
            <a:r>
              <a:rPr lang="en-US" sz="2400" dirty="0"/>
              <a:t> </a:t>
            </a:r>
            <a:r>
              <a:rPr lang="en-US" sz="2400" dirty="0" err="1"/>
              <a:t>kritere</a:t>
            </a:r>
            <a:r>
              <a:rPr lang="en-US" sz="2400" dirty="0"/>
              <a:t> </a:t>
            </a:r>
            <a:r>
              <a:rPr lang="en-US" sz="2400" dirty="0" err="1"/>
              <a:t>göre</a:t>
            </a:r>
            <a:r>
              <a:rPr lang="en-US" sz="2400" dirty="0"/>
              <a:t> </a:t>
            </a:r>
            <a:r>
              <a:rPr lang="en-US" sz="2400" dirty="0" err="1"/>
              <a:t>değerlendirmesine</a:t>
            </a:r>
            <a:r>
              <a:rPr lang="en-US" sz="2400" dirty="0"/>
              <a:t>, </a:t>
            </a:r>
            <a:r>
              <a:rPr lang="en-US" sz="2400" dirty="0" err="1"/>
              <a:t>karşılaştırmasına</a:t>
            </a:r>
            <a:r>
              <a:rPr lang="en-US" sz="2400" dirty="0"/>
              <a:t> </a:t>
            </a:r>
            <a:r>
              <a:rPr lang="en-US" sz="2400" dirty="0" err="1"/>
              <a:t>ve</a:t>
            </a:r>
            <a:r>
              <a:rPr lang="en-US" sz="2400" dirty="0"/>
              <a:t> </a:t>
            </a:r>
            <a:r>
              <a:rPr lang="en-US" sz="2400" dirty="0" err="1"/>
              <a:t>seçmesine</a:t>
            </a:r>
            <a:r>
              <a:rPr lang="en-US" sz="2400" dirty="0"/>
              <a:t> </a:t>
            </a:r>
            <a:r>
              <a:rPr lang="en-US" sz="2400" dirty="0" err="1"/>
              <a:t>olanak</a:t>
            </a:r>
            <a:r>
              <a:rPr lang="en-US" sz="2400" dirty="0"/>
              <a:t> </a:t>
            </a:r>
            <a:r>
              <a:rPr lang="en-US" sz="2400" dirty="0" err="1"/>
              <a:t>tanır</a:t>
            </a:r>
            <a:r>
              <a:rPr lang="en-US" sz="2400" dirty="0"/>
              <a:t>
</a:t>
            </a:r>
            <a:r>
              <a:rPr lang="en-US" sz="2400" dirty="0" err="1"/>
              <a:t>AB'nin</a:t>
            </a:r>
            <a:r>
              <a:rPr lang="en-US" sz="2400" dirty="0"/>
              <a:t> </a:t>
            </a:r>
            <a:r>
              <a:rPr lang="en-US" sz="2400" dirty="0" err="1"/>
              <a:t>Tehlikeli</a:t>
            </a:r>
            <a:r>
              <a:rPr lang="en-US" sz="2400" dirty="0"/>
              <a:t> </a:t>
            </a:r>
            <a:r>
              <a:rPr lang="en-US" sz="2400" dirty="0" err="1"/>
              <a:t>Maddelerin</a:t>
            </a:r>
            <a:r>
              <a:rPr lang="en-US" sz="2400" dirty="0"/>
              <a:t> </a:t>
            </a:r>
            <a:r>
              <a:rPr lang="en-US" sz="2400" dirty="0" err="1"/>
              <a:t>Kısıtlanması</a:t>
            </a:r>
            <a:r>
              <a:rPr lang="en-US" sz="2400" dirty="0"/>
              <a:t> </a:t>
            </a:r>
            <a:r>
              <a:rPr lang="en-US" sz="2400" dirty="0" err="1"/>
              <a:t>Direktifi</a:t>
            </a:r>
            <a:r>
              <a:rPr lang="en-US" sz="2400" dirty="0"/>
              <a:t>:
</a:t>
            </a:r>
            <a:r>
              <a:rPr lang="en-US" sz="2400" dirty="0" err="1"/>
              <a:t>Bilgisayar</a:t>
            </a:r>
            <a:r>
              <a:rPr lang="en-US" sz="2400" dirty="0"/>
              <a:t> </a:t>
            </a:r>
            <a:r>
              <a:rPr lang="en-US" sz="2400" dirty="0" err="1"/>
              <a:t>üretiminde</a:t>
            </a:r>
            <a:r>
              <a:rPr lang="en-US" sz="2400" dirty="0"/>
              <a:t> </a:t>
            </a:r>
            <a:r>
              <a:rPr lang="en-US" sz="2400" dirty="0" err="1"/>
              <a:t>birçok</a:t>
            </a:r>
            <a:r>
              <a:rPr lang="en-US" sz="2400" dirty="0"/>
              <a:t> </a:t>
            </a:r>
            <a:r>
              <a:rPr lang="en-US" sz="2400" dirty="0" err="1"/>
              <a:t>tehlikeli</a:t>
            </a:r>
            <a:r>
              <a:rPr lang="en-US" sz="2400" dirty="0"/>
              <a:t> </a:t>
            </a:r>
            <a:r>
              <a:rPr lang="en-US" sz="2400" dirty="0" err="1"/>
              <a:t>maddenin</a:t>
            </a:r>
            <a:r>
              <a:rPr lang="en-US" sz="2400" dirty="0"/>
              <a:t> </a:t>
            </a:r>
            <a:r>
              <a:rPr lang="en-US" sz="2400" dirty="0" err="1"/>
              <a:t>kullanımını</a:t>
            </a:r>
            <a:r>
              <a:rPr lang="en-US" sz="2400" dirty="0"/>
              <a:t> </a:t>
            </a:r>
            <a:r>
              <a:rPr lang="en-US" sz="2400" dirty="0" err="1"/>
              <a:t>kısıtlar</a:t>
            </a:r>
            <a:r>
              <a:rPr lang="en-US" sz="2400" dirty="0"/>
              <a:t>
</a:t>
            </a:r>
            <a:r>
              <a:rPr lang="en-US" sz="2400" dirty="0" err="1"/>
              <a:t>Üreticilerin</a:t>
            </a:r>
            <a:r>
              <a:rPr lang="en-US" sz="2400" dirty="0"/>
              <a:t> </a:t>
            </a:r>
            <a:r>
              <a:rPr lang="en-US" sz="2400" dirty="0" err="1"/>
              <a:t>en</a:t>
            </a:r>
            <a:r>
              <a:rPr lang="en-US" sz="2400" dirty="0"/>
              <a:t> </a:t>
            </a:r>
            <a:r>
              <a:rPr lang="en-US" sz="2400" dirty="0" err="1"/>
              <a:t>az</a:t>
            </a:r>
            <a:r>
              <a:rPr lang="en-US" sz="2400" dirty="0"/>
              <a:t> %65 </a:t>
            </a:r>
            <a:r>
              <a:rPr lang="en-US" sz="2400" dirty="0" err="1"/>
              <a:t>oranında</a:t>
            </a:r>
            <a:r>
              <a:rPr lang="en-US" sz="2400" dirty="0"/>
              <a:t> </a:t>
            </a:r>
            <a:r>
              <a:rPr lang="en-US" sz="2400" dirty="0" err="1"/>
              <a:t>yeniden</a:t>
            </a:r>
            <a:r>
              <a:rPr lang="en-US" sz="2400" dirty="0"/>
              <a:t> </a:t>
            </a:r>
            <a:r>
              <a:rPr lang="en-US" sz="2400" dirty="0" err="1"/>
              <a:t>kullanılabilir</a:t>
            </a:r>
            <a:r>
              <a:rPr lang="en-US" sz="2400" dirty="0"/>
              <a:t> </a:t>
            </a:r>
            <a:r>
              <a:rPr lang="en-US" sz="2400" dirty="0" err="1"/>
              <a:t>veya</a:t>
            </a:r>
            <a:r>
              <a:rPr lang="en-US" sz="2400" dirty="0"/>
              <a:t> </a:t>
            </a:r>
            <a:r>
              <a:rPr lang="en-US" sz="2400" dirty="0" err="1"/>
              <a:t>geri</a:t>
            </a:r>
            <a:r>
              <a:rPr lang="en-US" sz="2400" dirty="0"/>
              <a:t> </a:t>
            </a:r>
            <a:r>
              <a:rPr lang="en-US" sz="2400" dirty="0" err="1"/>
              <a:t>dönüştürülebilir</a:t>
            </a:r>
            <a:r>
              <a:rPr lang="en-US" sz="2400" dirty="0"/>
              <a:t> </a:t>
            </a:r>
            <a:r>
              <a:rPr lang="en-US" sz="2400" dirty="0" err="1"/>
              <a:t>bileşenler</a:t>
            </a:r>
            <a:r>
              <a:rPr lang="en-US" sz="2400" dirty="0"/>
              <a:t> </a:t>
            </a:r>
            <a:r>
              <a:rPr lang="en-US" sz="2400" dirty="0" err="1"/>
              <a:t>kullanmasını</a:t>
            </a:r>
            <a:r>
              <a:rPr lang="en-US" sz="2400" dirty="0"/>
              <a:t> </a:t>
            </a:r>
            <a:r>
              <a:rPr lang="en-US" sz="2400" dirty="0" err="1"/>
              <a:t>gerektirir</a:t>
            </a:r>
            <a:r>
              <a:rPr lang="en-US" sz="2400" dirty="0"/>
              <a:t>
</a:t>
            </a:r>
            <a:r>
              <a:rPr lang="en-US" sz="2400" dirty="0" err="1"/>
              <a:t>Yaşam</a:t>
            </a:r>
            <a:r>
              <a:rPr lang="en-US" sz="2400" dirty="0"/>
              <a:t> </a:t>
            </a:r>
            <a:r>
              <a:rPr lang="en-US" sz="2400" dirty="0" err="1"/>
              <a:t>döngülerinin</a:t>
            </a:r>
            <a:r>
              <a:rPr lang="en-US" sz="2400" dirty="0"/>
              <a:t> </a:t>
            </a:r>
            <a:r>
              <a:rPr lang="en-US" sz="2400" dirty="0" err="1"/>
              <a:t>sonundaki</a:t>
            </a:r>
            <a:r>
              <a:rPr lang="en-US" sz="2400" dirty="0"/>
              <a:t> </a:t>
            </a:r>
            <a:r>
              <a:rPr lang="en-US" sz="2400" dirty="0" err="1"/>
              <a:t>ürünleri</a:t>
            </a:r>
            <a:r>
              <a:rPr lang="en-US" sz="2400" dirty="0"/>
              <a:t> </a:t>
            </a:r>
            <a:r>
              <a:rPr lang="en-US" sz="2400" dirty="0" err="1"/>
              <a:t>çevreye</a:t>
            </a:r>
            <a:r>
              <a:rPr lang="en-US" sz="2400" dirty="0"/>
              <a:t> </a:t>
            </a:r>
            <a:r>
              <a:rPr lang="en-US" sz="2400" dirty="0" err="1"/>
              <a:t>zarar</a:t>
            </a:r>
            <a:r>
              <a:rPr lang="en-US" sz="2400" dirty="0"/>
              <a:t> </a:t>
            </a:r>
            <a:r>
              <a:rPr lang="en-US" sz="2400" dirty="0" err="1"/>
              <a:t>vermeyecek</a:t>
            </a:r>
            <a:r>
              <a:rPr lang="en-US" sz="2400" dirty="0"/>
              <a:t> </a:t>
            </a:r>
            <a:r>
              <a:rPr lang="en-US" sz="2400" dirty="0" err="1"/>
              <a:t>şekilde</a:t>
            </a:r>
            <a:r>
              <a:rPr lang="en-US" sz="2400" dirty="0"/>
              <a:t> </a:t>
            </a:r>
            <a:r>
              <a:rPr lang="en-US" sz="2400" dirty="0" err="1"/>
              <a:t>yönetmek</a:t>
            </a:r>
            <a:r>
              <a:rPr lang="en-US" sz="2400" dirty="0"/>
              <a:t> için </a:t>
            </a:r>
            <a:r>
              <a:rPr lang="en-US" sz="2400" dirty="0" err="1"/>
              <a:t>bir</a:t>
            </a:r>
            <a:r>
              <a:rPr lang="en-US" sz="2400" dirty="0"/>
              <a:t> plan </a:t>
            </a:r>
            <a:r>
              <a:rPr lang="en-US" sz="2400" dirty="0" err="1"/>
              <a:t>uygular</a:t>
            </a:r>
            <a:r>
              <a:rPr lang="en-US" sz="2400" dirty="0"/>
              <a:t>
</a:t>
            </a:r>
            <a:r>
              <a:rPr lang="en-US" sz="2400" dirty="0" err="1"/>
              <a:t>Ambalajlarındaki</a:t>
            </a:r>
            <a:r>
              <a:rPr lang="en-US" sz="2400" dirty="0"/>
              <a:t> </a:t>
            </a:r>
            <a:r>
              <a:rPr lang="en-US" sz="2400" dirty="0" err="1"/>
              <a:t>toksik</a:t>
            </a:r>
            <a:r>
              <a:rPr lang="en-US" sz="2400" dirty="0"/>
              <a:t> </a:t>
            </a:r>
            <a:r>
              <a:rPr lang="en-US" sz="2400" dirty="0" err="1"/>
              <a:t>maddeleri</a:t>
            </a:r>
            <a:r>
              <a:rPr lang="en-US" sz="2400" dirty="0"/>
              <a:t> </a:t>
            </a:r>
            <a:r>
              <a:rPr lang="en-US" sz="2400" dirty="0" err="1"/>
              <a:t>azaltır</a:t>
            </a:r>
            <a:r>
              <a:rPr lang="en-US" sz="2400" dirty="0"/>
              <a:t> </a:t>
            </a:r>
            <a:r>
              <a:rPr lang="en-US" sz="2400" dirty="0" err="1"/>
              <a:t>veya</a:t>
            </a:r>
            <a:r>
              <a:rPr lang="en-US" sz="2400" dirty="0"/>
              <a:t> </a:t>
            </a:r>
            <a:r>
              <a:rPr lang="en-US" sz="2400" dirty="0" err="1"/>
              <a:t>ortadan</a:t>
            </a:r>
            <a:r>
              <a:rPr lang="en-US" sz="2400" dirty="0"/>
              <a:t> </a:t>
            </a:r>
            <a:r>
              <a:rPr lang="en-US" sz="2400" dirty="0" err="1"/>
              <a:t>kaldırır</a:t>
            </a:r>
            <a:endParaRPr lang="en-US" sz="68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13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51264896"/>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7782</TotalTime>
  <Words>4342</Words>
  <Application>Microsoft Office PowerPoint</Application>
  <PresentationFormat>Ekran Gösterisi (4:3)</PresentationFormat>
  <Paragraphs>120</Paragraphs>
  <Slides>34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34</vt:i4>
      </vt:variant>
    </vt:vector>
  </HeadingPairs>
  <TitlesOfParts>
    <vt:vector size="38" baseType="lpstr">
      <vt:lpstr>Arial</vt:lpstr>
      <vt:lpstr>Calibri</vt:lpstr>
      <vt:lpstr>Calibri Light</vt:lpstr>
      <vt:lpstr>Office Theme</vt:lpstr>
      <vt:lpstr>Bilgi Teknolojilerinde Etik</vt:lpstr>
      <vt:lpstr>Öğrenme hedefleri</vt:lpstr>
      <vt:lpstr>Taşeron İşçilerin Kullanımı, Bölüm 1</vt:lpstr>
      <vt:lpstr>Taşeron İşçilerin Kullanımı, Bölüm 2</vt:lpstr>
      <vt:lpstr>Taşeron İşçilerin Kullanımı, Bölüm 3</vt:lpstr>
      <vt:lpstr>Bağımsız Müteahhitlere Yönelik Eğilimin Arkasındaki Faktörler</vt:lpstr>
      <vt:lpstr>Yöneticinin Şartlı İşçilerin Kullanımına İlişkin Kontrol Listesi, Bölüm 1</vt:lpstr>
      <vt:lpstr>Yöneticinin Koşullu İşçilerin Kullanımına İlişkin Kontrol Listesi, Bölüm 2</vt:lpstr>
      <vt:lpstr>H1-B İşçileri</vt:lpstr>
      <vt:lpstr>H1-B Vize Programını Oynamak, Bölüm 1</vt:lpstr>
      <vt:lpstr>H1-B Vize Programını Oynamak, Bölüm 2</vt:lpstr>
      <vt:lpstr>H1-B İşçilerine İhtiyaç</vt:lpstr>
      <vt:lpstr>Effects of H1-B Visa Program </vt:lpstr>
      <vt:lpstr>Dış Kaynak Kullanımı </vt:lpstr>
      <vt:lpstr>Offshore Dış Kaynak Kullanımının Artıları ve Eksileri</vt:lpstr>
      <vt:lpstr>Başarılı Offshore Dış Kaynak Kullanımı için Stratejiler</vt:lpstr>
      <vt:lpstr>Bilgi Uçurma, Bölüm 1</vt:lpstr>
      <vt:lpstr>Bilgi Uçurma, Bölüm 2</vt:lpstr>
      <vt:lpstr>Bilgi Uçurma Durumuyla Başa Çıkmak</vt:lpstr>
      <vt:lpstr>Yeşil Bilişim, Bölüm 1</vt:lpstr>
      <vt:lpstr>Yeşil Bilişim, Bölüm 2</vt:lpstr>
      <vt:lpstr>Özet, Bölüm 1</vt:lpstr>
      <vt:lpstr>Özet, Bölüm 2</vt:lpstr>
      <vt:lpstr>Özet, Bölüm 3</vt:lpstr>
      <vt:lpstr>Özet, Bölüm 4</vt:lpstr>
      <vt:lpstr>Özet, Bölüm 5</vt:lpstr>
      <vt:lpstr>Özet, Bölüm 6</vt:lpstr>
      <vt:lpstr>Özet, Bölüm 7</vt:lpstr>
      <vt:lpstr>Özet, Bölüm 8</vt:lpstr>
      <vt:lpstr>Özet, Bölüm 9</vt:lpstr>
      <vt:lpstr>Özet, Bölüm 10</vt:lpstr>
      <vt:lpstr>Özet, Bölüm 11</vt:lpstr>
      <vt:lpstr>Özet, Bölüm 12</vt:lpstr>
      <vt:lpstr>Özet, Bölüm 13</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karahocaa</cp:lastModifiedBy>
  <cp:revision>453</cp:revision>
  <cp:lastPrinted>2010-11-12T17:54:40Z</cp:lastPrinted>
  <dcterms:created xsi:type="dcterms:W3CDTF">2007-02-15T20:50:52Z</dcterms:created>
  <dcterms:modified xsi:type="dcterms:W3CDTF">2023-11-09T20:01:48Z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