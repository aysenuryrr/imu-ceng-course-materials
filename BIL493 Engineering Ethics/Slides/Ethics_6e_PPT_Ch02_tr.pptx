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1"/>
  </p:sldMasterIdLst>
  <p:notesMasterIdLst>
    <p:notesMasterId r:id="rId39"/>
  </p:notesMasterIdLst>
  <p:handoutMasterIdLst>
    <p:handoutMasterId r:id="rId40"/>
  </p:handoutMasterIdLst>
  <p:sldIdLst>
    <p:sldId id="260" r:id="rId2"/>
    <p:sldId id="261" r:id="rId3"/>
    <p:sldId id="258" r:id="rId4"/>
    <p:sldId id="262" r:id="rId5"/>
    <p:sldId id="263" r:id="rId6"/>
    <p:sldId id="264" r:id="rId7"/>
    <p:sldId id="265" r:id="rId8"/>
    <p:sldId id="277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80" r:id="rId21"/>
    <p:sldId id="278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7" r:id="rId38"/>
  </p:sldIdLst>
  <p:sldSz cx="9144000" cy="6858000" type="screen4x3"/>
  <p:notesSz cx="9372600" cy="7086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ette Stillwell" initials="NBS" lastIdx="5" clrIdx="0"/>
  <p:cmAuthor id="1" name="Gerald Titchener" initials="GT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0A5"/>
    <a:srgbClr val="FFFFFF"/>
    <a:srgbClr val="96CDEE"/>
    <a:srgbClr val="0F3F5D"/>
    <a:srgbClr val="01773A"/>
    <a:srgbClr val="156B13"/>
    <a:srgbClr val="008000"/>
    <a:srgbClr val="F20000"/>
    <a:srgbClr val="66CC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5" autoAdjust="0"/>
    <p:restoredTop sz="99857" autoAdjust="0"/>
  </p:normalViewPr>
  <p:slideViewPr>
    <p:cSldViewPr>
      <p:cViewPr>
        <p:scale>
          <a:sx n="100" d="100"/>
          <a:sy n="100" d="100"/>
        </p:scale>
        <p:origin x="852" y="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4EE4060F-EC6E-45B5-96F1-A60F0585115B}" type="datetimeFigureOut">
              <a:rPr lang="en-US" smtClean="0"/>
              <a:pPr/>
              <a:t>9/22/2023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A987596C-5E44-4393-BE44-DB7D499825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0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pPr>
              <a:defRPr/>
            </a:pPr>
            <a:fld id="{46950642-C6F2-4E46-90C1-0B12B643B3D7}" type="datetimeFigureOut">
              <a:rPr lang="en-US"/>
              <a:pPr>
                <a:defRPr/>
              </a:pPr>
              <a:t>9/22/2023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531813"/>
            <a:ext cx="35433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66135"/>
            <a:ext cx="7498080" cy="31889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pPr>
              <a:defRPr/>
            </a:pPr>
            <a:fld id="{CAA8545F-A231-4F50-B1F1-95F56EBB64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0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6363869"/>
            <a:ext cx="6201666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6415635"/>
            <a:ext cx="1151034" cy="3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8720" y="6363035"/>
            <a:ext cx="1400289" cy="4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177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488" y="6305978"/>
            <a:ext cx="1403024" cy="4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6" y="6611007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102"/>
            <a:ext cx="7747000" cy="1229567"/>
          </a:xfrm>
        </p:spPr>
        <p:txBody>
          <a:bodyPr anchor="ctr"/>
          <a:lstStyle/>
          <a:p>
            <a:r>
              <a:rPr lang="en-US" sz="4700" b="1" dirty="0"/>
              <a:t>Ethics in Information </a:t>
            </a:r>
            <a:r>
              <a:rPr lang="en-US" sz="4700" b="1" dirty="0" smtClean="0"/>
              <a:t>Technology</a:t>
            </a:r>
            <a:r>
              <a:rPr lang="tr-TR" sz="4700" b="1" dirty="0" smtClean="0"/>
              <a:t/>
            </a:r>
            <a:br>
              <a:rPr lang="tr-TR" sz="4700" b="1" dirty="0" smtClean="0"/>
            </a:br>
            <a:r>
              <a:rPr lang="tr-TR" sz="4700" b="1" dirty="0" smtClean="0"/>
              <a:t>Bilişim Teknolojisinde Etik</a:t>
            </a:r>
            <a:endParaRPr lang="en-US" sz="4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24200"/>
            <a:ext cx="7747000" cy="2976199"/>
          </a:xfrm>
        </p:spPr>
        <p:txBody>
          <a:bodyPr/>
          <a:lstStyle/>
          <a:p>
            <a:r>
              <a:rPr lang="en-US" sz="3400" dirty="0"/>
              <a:t>Chapter </a:t>
            </a:r>
            <a:r>
              <a:rPr lang="en-US" sz="3400" dirty="0" smtClean="0"/>
              <a:t>2</a:t>
            </a:r>
            <a:r>
              <a:rPr lang="tr-TR" sz="3400" dirty="0" smtClean="0"/>
              <a:t>-Bölüm 2</a:t>
            </a:r>
            <a:endParaRPr lang="en-US" sz="3400" dirty="0"/>
          </a:p>
          <a:p>
            <a:r>
              <a:rPr lang="en-US" sz="3800" b="1" dirty="0"/>
              <a:t>Ethics for IT Workers and IT </a:t>
            </a:r>
            <a:r>
              <a:rPr lang="en-US" sz="3800" b="1" dirty="0" smtClean="0"/>
              <a:t>Users</a:t>
            </a:r>
            <a:endParaRPr lang="tr-TR" sz="3800" b="1" dirty="0" smtClean="0"/>
          </a:p>
          <a:p>
            <a:r>
              <a:rPr lang="en-US" sz="3800" b="1" dirty="0" smtClean="0"/>
              <a:t>BT </a:t>
            </a:r>
            <a:r>
              <a:rPr lang="en-US" sz="3800" b="1" dirty="0" err="1" smtClean="0"/>
              <a:t>Çalışanları</a:t>
            </a:r>
            <a:r>
              <a:rPr lang="en-US" sz="3800" b="1" dirty="0" smtClean="0"/>
              <a:t> ve BT </a:t>
            </a:r>
            <a:r>
              <a:rPr lang="en-US" sz="3800" b="1" dirty="0" err="1" smtClean="0"/>
              <a:t>Kullanıcıları</a:t>
            </a:r>
            <a:r>
              <a:rPr lang="en-US" sz="3800" b="1" dirty="0" smtClean="0"/>
              <a:t> </a:t>
            </a:r>
            <a:r>
              <a:rPr lang="en-US" sz="3800" b="1" dirty="0" err="1" smtClean="0"/>
              <a:t>için</a:t>
            </a:r>
            <a:r>
              <a:rPr lang="en-US" sz="3800" b="1" dirty="0" smtClean="0"/>
              <a:t> </a:t>
            </a:r>
            <a:r>
              <a:rPr lang="en-US" sz="3800" b="1" dirty="0" err="1" smtClean="0"/>
              <a:t>Etik</a:t>
            </a:r>
            <a:endParaRPr lang="en-US" sz="3800" b="1" dirty="0"/>
          </a:p>
          <a:p>
            <a:r>
              <a:rPr lang="en-US" sz="2400" b="1" dirty="0" smtClean="0">
                <a:solidFill>
                  <a:schemeClr val="accent2"/>
                </a:solidFill>
              </a:rPr>
              <a:t>George </a:t>
            </a:r>
            <a:r>
              <a:rPr lang="en-US" sz="2400" b="1" dirty="0">
                <a:solidFill>
                  <a:schemeClr val="accent2"/>
                </a:solidFill>
              </a:rPr>
              <a:t>W. Reynolds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066801" y="6477000"/>
            <a:ext cx="6248400" cy="244535"/>
          </a:xfrm>
        </p:spPr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5790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7170" y="193139"/>
            <a:ext cx="5812430" cy="1046440"/>
          </a:xfrm>
        </p:spPr>
        <p:txBody>
          <a:bodyPr/>
          <a:lstStyle/>
          <a:p>
            <a:r>
              <a:rPr lang="en-US" sz="4000" dirty="0" smtClean="0"/>
              <a:t>Learning</a:t>
            </a:r>
            <a:r>
              <a:rPr lang="tr-TR" sz="4000" dirty="0" smtClean="0"/>
              <a:t> </a:t>
            </a:r>
            <a:r>
              <a:rPr lang="en-US" sz="4000" dirty="0" smtClean="0"/>
              <a:t>Objectives</a:t>
            </a:r>
            <a:r>
              <a:rPr lang="tr-TR" sz="4000" dirty="0" smtClean="0"/>
              <a:t>-Öğrenme Hedefleri</a:t>
            </a:r>
            <a:endParaRPr lang="en-US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2417170" y="1219200"/>
            <a:ext cx="6193430" cy="4185761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tx1"/>
                </a:solidFill>
              </a:rPr>
              <a:t>Bir</a:t>
            </a:r>
            <a:r>
              <a:rPr lang="en-US" sz="2800" dirty="0" smtClean="0">
                <a:solidFill>
                  <a:schemeClr val="tx1"/>
                </a:solidFill>
              </a:rPr>
              <a:t> BT </a:t>
            </a:r>
            <a:r>
              <a:rPr lang="en-US" sz="2800" dirty="0" err="1" smtClean="0">
                <a:solidFill>
                  <a:schemeClr val="tx1"/>
                </a:solidFill>
              </a:rPr>
              <a:t>çalışanı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hangi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ilişkileri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yönetmelidir</a:t>
            </a:r>
            <a:r>
              <a:rPr lang="en-US" sz="2800" dirty="0" smtClean="0">
                <a:solidFill>
                  <a:schemeClr val="tx1"/>
                </a:solidFill>
              </a:rPr>
              <a:t> ve her </a:t>
            </a:r>
            <a:r>
              <a:rPr lang="en-US" sz="2800" dirty="0" err="1" smtClean="0">
                <a:solidFill>
                  <a:schemeClr val="tx1"/>
                </a:solidFill>
              </a:rPr>
              <a:t>birinde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hangi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temel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etik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sorunlar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ortaya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çıkabilir</a:t>
            </a:r>
            <a:r>
              <a:rPr lang="en-US" sz="2800" dirty="0" smtClean="0">
                <a:solidFill>
                  <a:schemeClr val="tx1"/>
                </a:solidFill>
              </a:rPr>
              <a:t>? </a:t>
            </a:r>
            <a:endParaRPr lang="tr-TR" sz="2800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BT </a:t>
            </a:r>
            <a:r>
              <a:rPr lang="en-US" sz="2800" dirty="0" err="1" smtClean="0">
                <a:solidFill>
                  <a:schemeClr val="tx1"/>
                </a:solidFill>
              </a:rPr>
              <a:t>çalışanlarının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profesyonelliğini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teşvik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etmek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için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neler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yapılabilir</a:t>
            </a:r>
            <a:r>
              <a:rPr lang="en-US" sz="2800" dirty="0" smtClean="0">
                <a:solidFill>
                  <a:schemeClr val="tx1"/>
                </a:solidFill>
              </a:rPr>
              <a:t>? </a:t>
            </a:r>
            <a:endParaRPr lang="tr-TR" sz="2800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BT </a:t>
            </a:r>
            <a:r>
              <a:rPr lang="en-US" sz="2800" dirty="0" err="1" smtClean="0">
                <a:solidFill>
                  <a:schemeClr val="tx1"/>
                </a:solidFill>
              </a:rPr>
              <a:t>kullanıcıları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hangi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etik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sorunlarla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karşı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karşıya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kalıyor</a:t>
            </a:r>
            <a:r>
              <a:rPr lang="en-US" sz="2800" dirty="0" smtClean="0">
                <a:solidFill>
                  <a:schemeClr val="tx1"/>
                </a:solidFill>
              </a:rPr>
              <a:t> ve </a:t>
            </a:r>
            <a:r>
              <a:rPr lang="en-US" sz="2800" dirty="0" err="1" smtClean="0">
                <a:solidFill>
                  <a:schemeClr val="tx1"/>
                </a:solidFill>
              </a:rPr>
              <a:t>etik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davranışlarını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teşvik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etmek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için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neler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yapılabilir</a:t>
            </a:r>
            <a:r>
              <a:rPr lang="en-US" sz="2800" dirty="0" smtClean="0">
                <a:solidFill>
                  <a:schemeClr val="tx1"/>
                </a:solidFill>
              </a:rPr>
              <a:t>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9915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1999" y="1538818"/>
            <a:ext cx="8018463" cy="3225498"/>
          </a:xfrm>
        </p:spPr>
        <p:txBody>
          <a:bodyPr/>
          <a:lstStyle/>
          <a:p>
            <a:r>
              <a:rPr lang="en-US" sz="2800" dirty="0" err="1" smtClean="0"/>
              <a:t>İşverenler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Müşteriler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Tedarikçiler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Diğer</a:t>
            </a:r>
            <a:r>
              <a:rPr lang="en-US" sz="2800" dirty="0" smtClean="0"/>
              <a:t> </a:t>
            </a:r>
            <a:r>
              <a:rPr lang="en-US" sz="2800" dirty="0" err="1" smtClean="0"/>
              <a:t>profesyoneller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smtClean="0"/>
              <a:t>BT </a:t>
            </a:r>
            <a:r>
              <a:rPr lang="en-US" sz="2800" dirty="0" err="1" smtClean="0"/>
              <a:t>kullanıcıları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Genel</a:t>
            </a:r>
            <a:r>
              <a:rPr lang="en-US" sz="2800" dirty="0" smtClean="0"/>
              <a:t> </a:t>
            </a:r>
            <a:r>
              <a:rPr lang="en-US" sz="2800" dirty="0" err="1" smtClean="0"/>
              <a:t>olarak</a:t>
            </a:r>
            <a:r>
              <a:rPr lang="en-US" sz="2800" dirty="0" smtClean="0"/>
              <a:t> </a:t>
            </a:r>
            <a:r>
              <a:rPr lang="en-US" sz="2800" dirty="0" err="1" smtClean="0"/>
              <a:t>toplum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5801"/>
            <a:ext cx="8026400" cy="837152"/>
          </a:xfrm>
        </p:spPr>
        <p:txBody>
          <a:bodyPr/>
          <a:lstStyle/>
          <a:p>
            <a:r>
              <a:rPr lang="en-US" sz="3200" dirty="0"/>
              <a:t>IT Worker Relationships That Must be </a:t>
            </a:r>
            <a:r>
              <a:rPr lang="en-US" sz="3200" dirty="0" smtClean="0"/>
              <a:t>Managed</a:t>
            </a:r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dirty="0" smtClean="0"/>
              <a:t>Yönetilmesi Gereken BT Çalışanı İlişkileri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39296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149819"/>
          </a:xfrm>
        </p:spPr>
        <p:txBody>
          <a:bodyPr/>
          <a:lstStyle/>
          <a:p>
            <a:r>
              <a:rPr lang="en-US" sz="2800" dirty="0" err="1" smtClean="0"/>
              <a:t>Anahtar</a:t>
            </a:r>
            <a:r>
              <a:rPr lang="en-US" sz="2800" dirty="0" smtClean="0"/>
              <a:t> </a:t>
            </a:r>
            <a:r>
              <a:rPr lang="en-US" sz="2800" dirty="0" err="1" smtClean="0"/>
              <a:t>konular</a:t>
            </a:r>
            <a:r>
              <a:rPr lang="en-US" sz="2800" dirty="0" smtClean="0"/>
              <a:t>: </a:t>
            </a:r>
            <a:endParaRPr lang="tr-TR" sz="2800" dirty="0" smtClean="0"/>
          </a:p>
          <a:p>
            <a:pPr lvl="1"/>
            <a:r>
              <a:rPr lang="en-US" sz="2600" dirty="0" err="1" smtClean="0"/>
              <a:t>BT'nin</a:t>
            </a:r>
            <a:r>
              <a:rPr lang="en-US" sz="2600" dirty="0" smtClean="0"/>
              <a:t> </a:t>
            </a:r>
            <a:r>
              <a:rPr lang="en-US" sz="2600" dirty="0" err="1" smtClean="0"/>
              <a:t>etik</a:t>
            </a:r>
            <a:r>
              <a:rPr lang="en-US" sz="2600" dirty="0" smtClean="0"/>
              <a:t> </a:t>
            </a:r>
            <a:r>
              <a:rPr lang="en-US" sz="2600" dirty="0" err="1" smtClean="0"/>
              <a:t>kullanımına</a:t>
            </a:r>
            <a:r>
              <a:rPr lang="en-US" sz="2600" dirty="0" smtClean="0"/>
              <a:t> </a:t>
            </a:r>
            <a:r>
              <a:rPr lang="en-US" sz="2600" dirty="0" err="1" smtClean="0"/>
              <a:t>ilişkin</a:t>
            </a:r>
            <a:r>
              <a:rPr lang="en-US" sz="2600" dirty="0" smtClean="0"/>
              <a:t> </a:t>
            </a:r>
            <a:r>
              <a:rPr lang="en-US" sz="2600" dirty="0" err="1" smtClean="0"/>
              <a:t>politikaların</a:t>
            </a:r>
            <a:r>
              <a:rPr lang="en-US" sz="2600" dirty="0" smtClean="0"/>
              <a:t> </a:t>
            </a:r>
            <a:r>
              <a:rPr lang="en-US" sz="2600" dirty="0" err="1" smtClean="0"/>
              <a:t>belirlenmesi</a:t>
            </a:r>
            <a:r>
              <a:rPr lang="en-US" sz="2600" dirty="0" smtClean="0"/>
              <a:t> ve </a:t>
            </a:r>
            <a:r>
              <a:rPr lang="en-US" sz="2600" dirty="0" err="1" smtClean="0"/>
              <a:t>uygulanması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Ticari</a:t>
            </a:r>
            <a:r>
              <a:rPr lang="en-US" sz="2600" dirty="0" smtClean="0"/>
              <a:t> </a:t>
            </a:r>
            <a:r>
              <a:rPr lang="en-US" sz="2600" dirty="0" err="1" smtClean="0"/>
              <a:t>sırların</a:t>
            </a:r>
            <a:r>
              <a:rPr lang="en-US" sz="2600" dirty="0" smtClean="0"/>
              <a:t> </a:t>
            </a:r>
            <a:r>
              <a:rPr lang="en-US" sz="2600" dirty="0" err="1" smtClean="0"/>
              <a:t>korunması</a:t>
            </a:r>
            <a:r>
              <a:rPr lang="en-US" sz="2600" dirty="0" smtClean="0"/>
              <a:t> </a:t>
            </a:r>
            <a:r>
              <a:rPr lang="en-US" sz="2600" dirty="0" err="1" smtClean="0"/>
              <a:t>İhbar</a:t>
            </a:r>
            <a:r>
              <a:rPr lang="en-US" sz="2600" dirty="0" smtClean="0"/>
              <a:t> </a:t>
            </a:r>
            <a:r>
              <a:rPr lang="en-US" sz="2600" dirty="0" err="1" smtClean="0"/>
              <a:t>etme</a:t>
            </a:r>
            <a:r>
              <a:rPr lang="en-US" sz="2600" dirty="0" smtClean="0"/>
              <a:t> </a:t>
            </a:r>
            <a:r>
              <a:rPr lang="en-US" sz="2600" dirty="0" err="1" smtClean="0"/>
              <a:t>potansiyeli</a:t>
            </a:r>
            <a:endParaRPr lang="en-US" sz="24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5800"/>
            <a:ext cx="8026400" cy="837152"/>
          </a:xfrm>
        </p:spPr>
        <p:txBody>
          <a:bodyPr/>
          <a:lstStyle/>
          <a:p>
            <a:r>
              <a:rPr lang="en-US" sz="3200" dirty="0"/>
              <a:t>Relationships Between IT Workers and </a:t>
            </a:r>
            <a:r>
              <a:rPr lang="en-US" sz="3200" dirty="0" smtClean="0"/>
              <a:t>Employers</a:t>
            </a:r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dirty="0" smtClean="0"/>
              <a:t>BT Çalışanları ve İşverenler Arasındaki İlişkiler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78916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582" y="1295400"/>
            <a:ext cx="8415338" cy="4552015"/>
          </a:xfrm>
        </p:spPr>
        <p:txBody>
          <a:bodyPr/>
          <a:lstStyle/>
          <a:p>
            <a:r>
              <a:rPr lang="en-US" sz="2800" dirty="0" smtClean="0"/>
              <a:t>BT </a:t>
            </a:r>
            <a:r>
              <a:rPr lang="en-US" sz="2800" dirty="0" err="1" smtClean="0"/>
              <a:t>personeli</a:t>
            </a:r>
            <a:r>
              <a:rPr lang="en-US" sz="2800" dirty="0" smtClean="0"/>
              <a:t>, </a:t>
            </a:r>
            <a:r>
              <a:rPr lang="en-US" sz="2800" dirty="0" err="1" smtClean="0"/>
              <a:t>genellikle</a:t>
            </a:r>
            <a:r>
              <a:rPr lang="en-US" sz="2800" dirty="0" smtClean="0"/>
              <a:t> BT </a:t>
            </a:r>
            <a:r>
              <a:rPr lang="en-US" sz="2800" dirty="0" err="1" smtClean="0"/>
              <a:t>ile</a:t>
            </a:r>
            <a:r>
              <a:rPr lang="en-US" sz="2800" dirty="0" smtClean="0"/>
              <a:t> </a:t>
            </a:r>
            <a:r>
              <a:rPr lang="en-US" sz="2800" dirty="0" err="1" smtClean="0"/>
              <a:t>ilgili</a:t>
            </a:r>
            <a:r>
              <a:rPr lang="en-US" sz="2800" dirty="0" smtClean="0"/>
              <a:t> </a:t>
            </a:r>
            <a:r>
              <a:rPr lang="en-US" sz="2800" dirty="0" err="1" smtClean="0"/>
              <a:t>harcamaları</a:t>
            </a:r>
            <a:r>
              <a:rPr lang="en-US" sz="2800" dirty="0" smtClean="0"/>
              <a:t> </a:t>
            </a:r>
            <a:r>
              <a:rPr lang="en-US" sz="2800" dirty="0" err="1" smtClean="0"/>
              <a:t>azaltmak</a:t>
            </a:r>
            <a:r>
              <a:rPr lang="en-US" sz="2800" dirty="0" smtClean="0"/>
              <a:t> </a:t>
            </a:r>
            <a:r>
              <a:rPr lang="en-US" sz="2800" dirty="0" err="1" smtClean="0"/>
              <a:t>için</a:t>
            </a:r>
            <a:r>
              <a:rPr lang="en-US" sz="2800" dirty="0" smtClean="0"/>
              <a:t> </a:t>
            </a:r>
            <a:r>
              <a:rPr lang="en-US" sz="2800" dirty="0" err="1" smtClean="0"/>
              <a:t>yazılım</a:t>
            </a:r>
            <a:r>
              <a:rPr lang="en-US" sz="2800" dirty="0" smtClean="0"/>
              <a:t> </a:t>
            </a:r>
            <a:r>
              <a:rPr lang="en-US" sz="2800" dirty="0" err="1" smtClean="0"/>
              <a:t>korsanlığına</a:t>
            </a:r>
            <a:r>
              <a:rPr lang="en-US" sz="2800" dirty="0" smtClean="0"/>
              <a:t> </a:t>
            </a:r>
            <a:r>
              <a:rPr lang="en-US" sz="2800" dirty="0" err="1" smtClean="0"/>
              <a:t>aktif</a:t>
            </a:r>
            <a:r>
              <a:rPr lang="en-US" sz="2800" dirty="0" smtClean="0"/>
              <a:t> </a:t>
            </a:r>
            <a:r>
              <a:rPr lang="en-US" sz="2800" dirty="0" err="1" smtClean="0"/>
              <a:t>olarak</a:t>
            </a:r>
            <a:r>
              <a:rPr lang="en-US" sz="2800" dirty="0" smtClean="0"/>
              <a:t> </a:t>
            </a:r>
            <a:r>
              <a:rPr lang="en-US" sz="2800" dirty="0" err="1" smtClean="0"/>
              <a:t>katılabilir</a:t>
            </a:r>
            <a:r>
              <a:rPr lang="en-US" sz="2800" dirty="0" smtClean="0"/>
              <a:t> </a:t>
            </a:r>
            <a:r>
              <a:rPr lang="en-US" sz="2800" dirty="0" err="1" smtClean="0"/>
              <a:t>veya</a:t>
            </a:r>
            <a:r>
              <a:rPr lang="en-US" sz="2800" dirty="0" smtClean="0"/>
              <a:t> </a:t>
            </a:r>
            <a:r>
              <a:rPr lang="en-US" sz="2800" dirty="0" err="1" smtClean="0"/>
              <a:t>bunun</a:t>
            </a:r>
            <a:r>
              <a:rPr lang="en-US" sz="2800" dirty="0" smtClean="0"/>
              <a:t> </a:t>
            </a:r>
            <a:r>
              <a:rPr lang="en-US" sz="2800" dirty="0" err="1" smtClean="0"/>
              <a:t>gerçekleşmesine</a:t>
            </a:r>
            <a:r>
              <a:rPr lang="en-US" sz="2800" dirty="0" smtClean="0"/>
              <a:t> </a:t>
            </a:r>
            <a:r>
              <a:rPr lang="en-US" sz="2800" dirty="0" err="1" smtClean="0"/>
              <a:t>izin</a:t>
            </a:r>
            <a:r>
              <a:rPr lang="en-US" sz="2800" dirty="0" smtClean="0"/>
              <a:t> </a:t>
            </a:r>
            <a:r>
              <a:rPr lang="en-US" sz="2800" dirty="0" err="1" smtClean="0"/>
              <a:t>verebilir</a:t>
            </a:r>
            <a:r>
              <a:rPr lang="en-US" sz="2800" dirty="0" smtClean="0"/>
              <a:t>. </a:t>
            </a:r>
            <a:endParaRPr lang="tr-TR" sz="2800" dirty="0" smtClean="0"/>
          </a:p>
          <a:p>
            <a:r>
              <a:rPr lang="en-US" sz="2800" dirty="0" err="1" smtClean="0"/>
              <a:t>Dünyanın</a:t>
            </a:r>
            <a:r>
              <a:rPr lang="en-US" sz="2800" dirty="0" smtClean="0"/>
              <a:t> en </a:t>
            </a:r>
            <a:r>
              <a:rPr lang="en-US" sz="2800" dirty="0" err="1" smtClean="0"/>
              <a:t>büyük</a:t>
            </a:r>
            <a:r>
              <a:rPr lang="en-US" sz="2800" dirty="0" smtClean="0"/>
              <a:t> BT </a:t>
            </a:r>
            <a:r>
              <a:rPr lang="en-US" sz="2800" dirty="0" err="1" smtClean="0"/>
              <a:t>şirketlerini</a:t>
            </a:r>
            <a:r>
              <a:rPr lang="en-US" sz="2800" dirty="0" smtClean="0"/>
              <a:t> </a:t>
            </a:r>
            <a:r>
              <a:rPr lang="en-US" sz="2800" dirty="0" err="1" smtClean="0"/>
              <a:t>temsil</a:t>
            </a:r>
            <a:r>
              <a:rPr lang="en-US" sz="2800" dirty="0" smtClean="0"/>
              <a:t> </a:t>
            </a:r>
            <a:r>
              <a:rPr lang="en-US" sz="2800" dirty="0" err="1" smtClean="0"/>
              <a:t>eden</a:t>
            </a:r>
            <a:r>
              <a:rPr lang="en-US" sz="2800" dirty="0" smtClean="0"/>
              <a:t> </a:t>
            </a:r>
            <a:r>
              <a:rPr lang="en-US" sz="2800" dirty="0" err="1" smtClean="0"/>
              <a:t>ticaret</a:t>
            </a:r>
            <a:r>
              <a:rPr lang="en-US" sz="2800" dirty="0" smtClean="0"/>
              <a:t> </a:t>
            </a:r>
            <a:r>
              <a:rPr lang="en-US" sz="2800" dirty="0" err="1" smtClean="0"/>
              <a:t>grupları</a:t>
            </a:r>
            <a:r>
              <a:rPr lang="en-US" sz="2800" dirty="0" smtClean="0"/>
              <a:t>, </a:t>
            </a:r>
            <a:r>
              <a:rPr lang="en-US" sz="2800" dirty="0" err="1" smtClean="0"/>
              <a:t>yazılım</a:t>
            </a:r>
            <a:r>
              <a:rPr lang="en-US" sz="2800" dirty="0" smtClean="0"/>
              <a:t> </a:t>
            </a:r>
            <a:r>
              <a:rPr lang="en-US" sz="2800" dirty="0" err="1" smtClean="0"/>
              <a:t>korsanlığını</a:t>
            </a:r>
            <a:r>
              <a:rPr lang="en-US" sz="2800" dirty="0" smtClean="0"/>
              <a:t> </a:t>
            </a:r>
            <a:r>
              <a:rPr lang="en-US" sz="2800" dirty="0" err="1" smtClean="0"/>
              <a:t>durdurmaya</a:t>
            </a:r>
            <a:r>
              <a:rPr lang="en-US" sz="2800" dirty="0" smtClean="0"/>
              <a:t> </a:t>
            </a:r>
            <a:r>
              <a:rPr lang="en-US" sz="2800" dirty="0" err="1" smtClean="0"/>
              <a:t>odaklanmıştır</a:t>
            </a:r>
            <a:r>
              <a:rPr lang="en-US" sz="2800" dirty="0" smtClean="0"/>
              <a:t>:</a:t>
            </a:r>
            <a:endParaRPr lang="tr-TR" sz="2800" dirty="0" smtClean="0"/>
          </a:p>
          <a:p>
            <a:r>
              <a:rPr lang="en-US" sz="2600" b="1" dirty="0" err="1" smtClean="0"/>
              <a:t>Yazılım</a:t>
            </a:r>
            <a:r>
              <a:rPr lang="en-US" sz="2600" b="1" dirty="0" smtClean="0"/>
              <a:t> ve </a:t>
            </a:r>
            <a:r>
              <a:rPr lang="en-US" sz="2600" b="1" dirty="0" err="1" smtClean="0"/>
              <a:t>Bilgi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Endüstrisi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Derneği</a:t>
            </a:r>
            <a:r>
              <a:rPr lang="en-US" sz="2600" b="1" dirty="0" smtClean="0"/>
              <a:t> (SIIA)</a:t>
            </a:r>
            <a:endParaRPr lang="tr-TR" sz="2600" b="1" dirty="0" smtClean="0"/>
          </a:p>
          <a:p>
            <a:pPr lvl="1"/>
            <a:r>
              <a:rPr lang="en-US" sz="2200" dirty="0" err="1" smtClean="0"/>
              <a:t>Yazılım</a:t>
            </a:r>
            <a:r>
              <a:rPr lang="en-US" sz="2200" dirty="0" smtClean="0"/>
              <a:t> ve </a:t>
            </a:r>
            <a:r>
              <a:rPr lang="en-US" sz="2200" dirty="0" err="1" smtClean="0"/>
              <a:t>dijital</a:t>
            </a:r>
            <a:r>
              <a:rPr lang="en-US" sz="2200" dirty="0" smtClean="0"/>
              <a:t> </a:t>
            </a:r>
            <a:r>
              <a:rPr lang="en-US" sz="2200" dirty="0" err="1" smtClean="0"/>
              <a:t>içerik</a:t>
            </a:r>
            <a:r>
              <a:rPr lang="en-US" sz="2200" dirty="0" smtClean="0"/>
              <a:t> </a:t>
            </a:r>
            <a:r>
              <a:rPr lang="en-US" sz="2200" dirty="0" err="1" smtClean="0"/>
              <a:t>endüstrilerinin</a:t>
            </a:r>
            <a:r>
              <a:rPr lang="en-US" sz="2200" dirty="0" smtClean="0"/>
              <a:t> </a:t>
            </a:r>
            <a:r>
              <a:rPr lang="en-US" sz="2200" dirty="0" err="1" smtClean="0"/>
              <a:t>ortak</a:t>
            </a:r>
            <a:r>
              <a:rPr lang="en-US" sz="2200" dirty="0" smtClean="0"/>
              <a:t> </a:t>
            </a:r>
            <a:r>
              <a:rPr lang="en-US" sz="2200" dirty="0" err="1" smtClean="0"/>
              <a:t>çıkarlarını</a:t>
            </a:r>
            <a:r>
              <a:rPr lang="en-US" sz="2200" dirty="0" smtClean="0"/>
              <a:t> </a:t>
            </a:r>
            <a:r>
              <a:rPr lang="en-US" sz="2200" dirty="0" err="1" smtClean="0"/>
              <a:t>teşvik</a:t>
            </a:r>
            <a:r>
              <a:rPr lang="en-US" sz="2200" dirty="0" smtClean="0"/>
              <a:t> </a:t>
            </a:r>
            <a:r>
              <a:rPr lang="en-US" sz="2200" dirty="0" err="1" smtClean="0"/>
              <a:t>eder</a:t>
            </a:r>
            <a:endParaRPr lang="tr-TR" sz="2200" dirty="0" smtClean="0"/>
          </a:p>
          <a:p>
            <a:r>
              <a:rPr lang="en-US" sz="2800" b="1" dirty="0" smtClean="0"/>
              <a:t>BSA - </a:t>
            </a:r>
            <a:r>
              <a:rPr lang="en-US" sz="2800" b="1" dirty="0" err="1" smtClean="0"/>
              <a:t>Türkiye</a:t>
            </a:r>
            <a:r>
              <a:rPr lang="en-US" sz="2800" b="1" dirty="0" smtClean="0"/>
              <a:t> | </a:t>
            </a:r>
            <a:r>
              <a:rPr lang="en-US" sz="2800" b="1" dirty="0" err="1" smtClean="0"/>
              <a:t>Yazılım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İttifakı</a:t>
            </a:r>
            <a:r>
              <a:rPr lang="en-US" sz="2800" b="1" dirty="0" smtClean="0"/>
              <a:t> (BSA)</a:t>
            </a:r>
            <a:endParaRPr lang="tr-TR" sz="2800" b="1" dirty="0" smtClean="0"/>
          </a:p>
          <a:p>
            <a:pPr lvl="1"/>
            <a:r>
              <a:rPr lang="en-US" sz="2200" dirty="0" err="1" smtClean="0"/>
              <a:t>Üye</a:t>
            </a:r>
            <a:r>
              <a:rPr lang="en-US" sz="2200" dirty="0" smtClean="0"/>
              <a:t> </a:t>
            </a:r>
            <a:r>
              <a:rPr lang="en-US" sz="2200" dirty="0" err="1" smtClean="0"/>
              <a:t>şirketlerin</a:t>
            </a:r>
            <a:r>
              <a:rPr lang="en-US" sz="2200" dirty="0" smtClean="0"/>
              <a:t> </a:t>
            </a:r>
            <a:r>
              <a:rPr lang="en-US" sz="2200" dirty="0" err="1" smtClean="0"/>
              <a:t>aidatları</a:t>
            </a:r>
            <a:r>
              <a:rPr lang="en-US" sz="2200" dirty="0" smtClean="0"/>
              <a:t> ve </a:t>
            </a:r>
            <a:r>
              <a:rPr lang="en-US" sz="2200" dirty="0" err="1" smtClean="0"/>
              <a:t>korsanlık</a:t>
            </a:r>
            <a:r>
              <a:rPr lang="en-US" sz="2200" dirty="0" smtClean="0"/>
              <a:t> </a:t>
            </a:r>
            <a:r>
              <a:rPr lang="en-US" sz="2200" dirty="0" err="1" smtClean="0"/>
              <a:t>yapan</a:t>
            </a:r>
            <a:r>
              <a:rPr lang="en-US" sz="2200" dirty="0" smtClean="0"/>
              <a:t> </a:t>
            </a:r>
            <a:r>
              <a:rPr lang="en-US" sz="2200" dirty="0" err="1" smtClean="0"/>
              <a:t>şirketlerin</a:t>
            </a:r>
            <a:r>
              <a:rPr lang="en-US" sz="2200" dirty="0" smtClean="0"/>
              <a:t> </a:t>
            </a:r>
            <a:r>
              <a:rPr lang="en-US" sz="2200" dirty="0" err="1" smtClean="0"/>
              <a:t>uzlaşmaları</a:t>
            </a:r>
            <a:r>
              <a:rPr lang="en-US" sz="2200" dirty="0" smtClean="0"/>
              <a:t> </a:t>
            </a:r>
            <a:r>
              <a:rPr lang="en-US" sz="2200" dirty="0" err="1" smtClean="0"/>
              <a:t>yoluyla</a:t>
            </a:r>
            <a:r>
              <a:rPr lang="en-US" sz="2200" dirty="0" smtClean="0"/>
              <a:t> </a:t>
            </a:r>
            <a:r>
              <a:rPr lang="en-US" sz="2200" dirty="0" err="1" smtClean="0"/>
              <a:t>finanse</a:t>
            </a:r>
            <a:r>
              <a:rPr lang="en-US" sz="2200" dirty="0" smtClean="0"/>
              <a:t> </a:t>
            </a:r>
            <a:r>
              <a:rPr lang="en-US" sz="2200" dirty="0" err="1" smtClean="0"/>
              <a:t>edilir</a:t>
            </a:r>
            <a:endParaRPr lang="en-US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158"/>
            <a:ext cx="8026400" cy="1046440"/>
          </a:xfrm>
        </p:spPr>
        <p:txBody>
          <a:bodyPr/>
          <a:lstStyle/>
          <a:p>
            <a:r>
              <a:rPr lang="en-US" sz="4000" dirty="0"/>
              <a:t>Ethical Use of </a:t>
            </a:r>
            <a:r>
              <a:rPr lang="en-US" sz="4000" dirty="0" smtClean="0"/>
              <a:t>IT</a:t>
            </a:r>
            <a:r>
              <a:rPr lang="tr-TR" sz="4000" dirty="0" smtClean="0"/>
              <a:t/>
            </a:r>
            <a:br>
              <a:rPr lang="tr-TR" sz="4000" dirty="0" smtClean="0"/>
            </a:br>
            <a:r>
              <a:rPr lang="tr-TR" sz="4000" dirty="0" err="1" smtClean="0"/>
              <a:t>BT'nin</a:t>
            </a:r>
            <a:r>
              <a:rPr lang="tr-TR" sz="4000" dirty="0" smtClean="0"/>
              <a:t> Etik Kullanımı</a:t>
            </a:r>
            <a:r>
              <a:rPr lang="en-US" sz="4000" dirty="0"/>
              <a:t>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746184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9474" y="1351584"/>
            <a:ext cx="8415338" cy="3600986"/>
          </a:xfrm>
        </p:spPr>
        <p:txBody>
          <a:bodyPr/>
          <a:lstStyle/>
          <a:p>
            <a:r>
              <a:rPr lang="en-US" sz="2800" dirty="0" err="1" smtClean="0"/>
              <a:t>Ticari</a:t>
            </a:r>
            <a:r>
              <a:rPr lang="en-US" sz="2800" dirty="0" smtClean="0"/>
              <a:t> sır: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şirketin</a:t>
            </a:r>
            <a:r>
              <a:rPr lang="en-US" sz="2800" dirty="0" smtClean="0"/>
              <a:t> </a:t>
            </a:r>
            <a:r>
              <a:rPr lang="en-US" sz="2800" dirty="0" err="1" smtClean="0"/>
              <a:t>gizli</a:t>
            </a:r>
            <a:r>
              <a:rPr lang="en-US" sz="2800" dirty="0" smtClean="0"/>
              <a:t> </a:t>
            </a:r>
            <a:r>
              <a:rPr lang="en-US" sz="2800" dirty="0" err="1" smtClean="0"/>
              <a:t>tutmak</a:t>
            </a:r>
            <a:r>
              <a:rPr lang="en-US" sz="2800" dirty="0" smtClean="0"/>
              <a:t> </a:t>
            </a:r>
            <a:r>
              <a:rPr lang="en-US" sz="2800" dirty="0" err="1" smtClean="0"/>
              <a:t>için</a:t>
            </a:r>
            <a:r>
              <a:rPr lang="en-US" sz="2800" dirty="0" smtClean="0"/>
              <a:t> </a:t>
            </a:r>
            <a:r>
              <a:rPr lang="en-US" sz="2800" dirty="0" err="1" smtClean="0"/>
              <a:t>güçlü</a:t>
            </a:r>
            <a:r>
              <a:rPr lang="en-US" sz="2800" dirty="0" smtClean="0"/>
              <a:t> </a:t>
            </a:r>
            <a:r>
              <a:rPr lang="en-US" sz="2800" dirty="0" err="1" smtClean="0"/>
              <a:t>önlemler</a:t>
            </a:r>
            <a:r>
              <a:rPr lang="en-US" sz="2800" dirty="0" smtClean="0"/>
              <a:t> </a:t>
            </a:r>
            <a:r>
              <a:rPr lang="en-US" sz="2800" dirty="0" err="1" smtClean="0"/>
              <a:t>aldığı</a:t>
            </a:r>
            <a:r>
              <a:rPr lang="en-US" sz="2800" dirty="0" smtClean="0"/>
              <a:t> </a:t>
            </a:r>
            <a:r>
              <a:rPr lang="en-US" sz="2800" dirty="0" err="1" smtClean="0"/>
              <a:t>bilgiler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pPr lvl="1"/>
            <a:r>
              <a:rPr lang="en-US" sz="2600" dirty="0" err="1" smtClean="0"/>
              <a:t>Şirketler</a:t>
            </a:r>
            <a:r>
              <a:rPr lang="en-US" sz="2600" dirty="0" smtClean="0"/>
              <a:t>, </a:t>
            </a:r>
            <a:r>
              <a:rPr lang="en-US" sz="2600" dirty="0" err="1" smtClean="0"/>
              <a:t>çalışanlarının</a:t>
            </a:r>
            <a:r>
              <a:rPr lang="en-US" sz="2600" dirty="0" smtClean="0"/>
              <a:t> </a:t>
            </a:r>
            <a:r>
              <a:rPr lang="en-US" sz="2600" dirty="0" err="1" smtClean="0"/>
              <a:t>ticari</a:t>
            </a:r>
            <a:r>
              <a:rPr lang="en-US" sz="2600" dirty="0" smtClean="0"/>
              <a:t> </a:t>
            </a:r>
            <a:r>
              <a:rPr lang="en-US" sz="2600" dirty="0" err="1" smtClean="0"/>
              <a:t>sırları</a:t>
            </a:r>
            <a:r>
              <a:rPr lang="en-US" sz="2600" dirty="0" smtClean="0"/>
              <a:t> </a:t>
            </a:r>
            <a:r>
              <a:rPr lang="en-US" sz="2600" dirty="0" err="1" smtClean="0"/>
              <a:t>ifşa</a:t>
            </a:r>
            <a:r>
              <a:rPr lang="en-US" sz="2600" dirty="0" smtClean="0"/>
              <a:t> </a:t>
            </a:r>
            <a:r>
              <a:rPr lang="en-US" sz="2600" dirty="0" err="1" smtClean="0"/>
              <a:t>etmeme</a:t>
            </a:r>
            <a:r>
              <a:rPr lang="en-US" sz="2600" dirty="0" smtClean="0"/>
              <a:t> </a:t>
            </a:r>
            <a:r>
              <a:rPr lang="en-US" sz="2600" dirty="0" err="1" smtClean="0"/>
              <a:t>sözü</a:t>
            </a:r>
            <a:r>
              <a:rPr lang="en-US" sz="2600" dirty="0" smtClean="0"/>
              <a:t> </a:t>
            </a:r>
            <a:r>
              <a:rPr lang="en-US" sz="2600" dirty="0" err="1" smtClean="0"/>
              <a:t>veren</a:t>
            </a:r>
            <a:r>
              <a:rPr lang="en-US" sz="2600" dirty="0" smtClean="0"/>
              <a:t> </a:t>
            </a:r>
            <a:r>
              <a:rPr lang="en-US" sz="2600" dirty="0" err="1" smtClean="0"/>
              <a:t>gizlilik</a:t>
            </a:r>
            <a:r>
              <a:rPr lang="en-US" sz="2600" dirty="0" smtClean="0"/>
              <a:t> </a:t>
            </a:r>
            <a:r>
              <a:rPr lang="en-US" sz="2600" dirty="0" err="1" smtClean="0"/>
              <a:t>anlaşmaları</a:t>
            </a:r>
            <a:r>
              <a:rPr lang="en-US" sz="2600" dirty="0" smtClean="0"/>
              <a:t> </a:t>
            </a:r>
            <a:r>
              <a:rPr lang="en-US" sz="2600" dirty="0" err="1" smtClean="0"/>
              <a:t>imzalamalarını</a:t>
            </a:r>
            <a:r>
              <a:rPr lang="en-US" sz="2600" dirty="0" smtClean="0"/>
              <a:t> </a:t>
            </a:r>
            <a:r>
              <a:rPr lang="en-US" sz="2600" dirty="0" err="1" smtClean="0"/>
              <a:t>isteyebilir</a:t>
            </a:r>
            <a:r>
              <a:rPr lang="en-US" sz="2600" dirty="0" smtClean="0"/>
              <a:t>. </a:t>
            </a:r>
            <a:endParaRPr lang="tr-TR" sz="2600" dirty="0" smtClean="0"/>
          </a:p>
          <a:p>
            <a:r>
              <a:rPr lang="en-US" sz="2800" dirty="0" err="1" smtClean="0"/>
              <a:t>İhbar</a:t>
            </a:r>
            <a:r>
              <a:rPr lang="en-US" sz="2800" dirty="0" smtClean="0"/>
              <a:t>: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çalışanın</a:t>
            </a:r>
            <a:r>
              <a:rPr lang="en-US" sz="2800" dirty="0" smtClean="0"/>
              <a:t> </a:t>
            </a:r>
            <a:r>
              <a:rPr lang="en-US" sz="2800" dirty="0" err="1" smtClean="0"/>
              <a:t>kamu</a:t>
            </a:r>
            <a:r>
              <a:rPr lang="en-US" sz="2800" dirty="0" smtClean="0"/>
              <a:t> </a:t>
            </a:r>
            <a:r>
              <a:rPr lang="en-US" sz="2800" dirty="0" err="1" smtClean="0"/>
              <a:t>yararını</a:t>
            </a:r>
            <a:r>
              <a:rPr lang="en-US" sz="2800" dirty="0" smtClean="0"/>
              <a:t> </a:t>
            </a:r>
            <a:r>
              <a:rPr lang="en-US" sz="2800" dirty="0" err="1" smtClean="0"/>
              <a:t>tehdit</a:t>
            </a:r>
            <a:r>
              <a:rPr lang="en-US" sz="2800" dirty="0" smtClean="0"/>
              <a:t> </a:t>
            </a:r>
            <a:r>
              <a:rPr lang="en-US" sz="2800" dirty="0" err="1" smtClean="0"/>
              <a:t>eden</a:t>
            </a:r>
            <a:r>
              <a:rPr lang="en-US" sz="2800" dirty="0" smtClean="0"/>
              <a:t>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şirketin</a:t>
            </a:r>
            <a:r>
              <a:rPr lang="en-US" sz="2800" dirty="0" smtClean="0"/>
              <a:t> </a:t>
            </a:r>
            <a:r>
              <a:rPr lang="en-US" sz="2800" dirty="0" err="1" smtClean="0"/>
              <a:t>eylemine</a:t>
            </a:r>
            <a:r>
              <a:rPr lang="en-US" sz="2800" dirty="0" smtClean="0"/>
              <a:t> </a:t>
            </a:r>
            <a:r>
              <a:rPr lang="en-US" sz="2800" dirty="0" err="1" smtClean="0"/>
              <a:t>dikkat</a:t>
            </a:r>
            <a:r>
              <a:rPr lang="en-US" sz="2800" dirty="0" smtClean="0"/>
              <a:t> </a:t>
            </a:r>
            <a:r>
              <a:rPr lang="en-US" sz="2800" dirty="0" err="1" smtClean="0"/>
              <a:t>çekme</a:t>
            </a:r>
            <a:r>
              <a:rPr lang="en-US" sz="2800" dirty="0" smtClean="0"/>
              <a:t> </a:t>
            </a:r>
            <a:r>
              <a:rPr lang="en-US" sz="2800" dirty="0" err="1" smtClean="0"/>
              <a:t>çabası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pPr lvl="1"/>
            <a:r>
              <a:rPr lang="en-US" sz="2600" dirty="0" err="1" smtClean="0"/>
              <a:t>İhbarcılar</a:t>
            </a:r>
            <a:r>
              <a:rPr lang="en-US" sz="2600" dirty="0" smtClean="0"/>
              <a:t> </a:t>
            </a:r>
            <a:r>
              <a:rPr lang="en-US" sz="2600" dirty="0" err="1" smtClean="0"/>
              <a:t>genellikle</a:t>
            </a:r>
            <a:r>
              <a:rPr lang="en-US" sz="2600" dirty="0" smtClean="0"/>
              <a:t> </a:t>
            </a:r>
            <a:r>
              <a:rPr lang="en-US" sz="2600" dirty="0" err="1" smtClean="0"/>
              <a:t>uzmanlıklarına</a:t>
            </a:r>
            <a:r>
              <a:rPr lang="en-US" sz="2600" dirty="0" smtClean="0"/>
              <a:t> </a:t>
            </a:r>
            <a:r>
              <a:rPr lang="en-US" sz="2600" dirty="0" err="1" smtClean="0"/>
              <a:t>veya</a:t>
            </a:r>
            <a:r>
              <a:rPr lang="en-US" sz="2600" dirty="0" smtClean="0"/>
              <a:t> </a:t>
            </a:r>
            <a:r>
              <a:rPr lang="en-US" sz="2600" dirty="0" err="1" smtClean="0"/>
              <a:t>konumlarına</a:t>
            </a:r>
            <a:r>
              <a:rPr lang="en-US" sz="2600" dirty="0" smtClean="0"/>
              <a:t> </a:t>
            </a:r>
            <a:r>
              <a:rPr lang="en-US" sz="2600" dirty="0" err="1" smtClean="0"/>
              <a:t>göre</a:t>
            </a:r>
            <a:r>
              <a:rPr lang="en-US" sz="2600" dirty="0" smtClean="0"/>
              <a:t> </a:t>
            </a:r>
            <a:r>
              <a:rPr lang="en-US" sz="2600" dirty="0" err="1" smtClean="0"/>
              <a:t>özel</a:t>
            </a:r>
            <a:r>
              <a:rPr lang="en-US" sz="2600" dirty="0" smtClean="0"/>
              <a:t> </a:t>
            </a:r>
            <a:r>
              <a:rPr lang="en-US" sz="2600" dirty="0" err="1" smtClean="0"/>
              <a:t>bilgilere</a:t>
            </a:r>
            <a:r>
              <a:rPr lang="en-US" sz="2600" dirty="0" smtClean="0"/>
              <a:t> </a:t>
            </a:r>
            <a:r>
              <a:rPr lang="en-US" sz="2600" dirty="0" err="1" smtClean="0"/>
              <a:t>sahiptir</a:t>
            </a:r>
            <a:r>
              <a:rPr lang="en-US" sz="2600" dirty="0" smtClean="0"/>
              <a:t>.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158"/>
            <a:ext cx="8026400" cy="1046440"/>
          </a:xfrm>
        </p:spPr>
        <p:txBody>
          <a:bodyPr/>
          <a:lstStyle/>
          <a:p>
            <a:r>
              <a:rPr lang="en-US" sz="4000" dirty="0"/>
              <a:t>Trade Secrets &amp; </a:t>
            </a:r>
            <a:r>
              <a:rPr lang="en-US" sz="4000" dirty="0" smtClean="0"/>
              <a:t>Whistle-Blowing</a:t>
            </a:r>
            <a:r>
              <a:rPr lang="tr-TR" sz="4000" dirty="0" smtClean="0"/>
              <a:t/>
            </a:r>
            <a:br>
              <a:rPr lang="tr-TR" sz="4000" dirty="0" smtClean="0"/>
            </a:br>
            <a:r>
              <a:rPr lang="es-ES" sz="4000" dirty="0" smtClean="0"/>
              <a:t>Ticari Sırlar ve İhbar Etme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789119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19200"/>
            <a:ext cx="8415338" cy="4990597"/>
          </a:xfrm>
        </p:spPr>
        <p:txBody>
          <a:bodyPr/>
          <a:lstStyle/>
          <a:p>
            <a:pPr lvl="1">
              <a:buClr>
                <a:schemeClr val="accent2"/>
              </a:buClr>
            </a:pPr>
            <a:r>
              <a:rPr lang="en-US" sz="2800" dirty="0" err="1" smtClean="0"/>
              <a:t>Anahtar</a:t>
            </a:r>
            <a:r>
              <a:rPr lang="en-US" sz="2800" dirty="0" smtClean="0"/>
              <a:t> </a:t>
            </a:r>
            <a:r>
              <a:rPr lang="en-US" sz="2800" dirty="0" err="1" smtClean="0"/>
              <a:t>konular</a:t>
            </a:r>
            <a:r>
              <a:rPr lang="en-US" sz="2800" dirty="0" smtClean="0"/>
              <a:t>: </a:t>
            </a:r>
            <a:endParaRPr lang="tr-TR" sz="2800" dirty="0" smtClean="0"/>
          </a:p>
          <a:p>
            <a:pPr lvl="2">
              <a:buClr>
                <a:schemeClr val="accent2"/>
              </a:buClr>
            </a:pPr>
            <a:r>
              <a:rPr lang="en-US" sz="2600" dirty="0" err="1" smtClean="0"/>
              <a:t>Çıkar</a:t>
            </a:r>
            <a:r>
              <a:rPr lang="en-US" sz="2600" dirty="0" smtClean="0"/>
              <a:t> </a:t>
            </a:r>
            <a:r>
              <a:rPr lang="en-US" sz="2600" dirty="0" err="1" smtClean="0"/>
              <a:t>çatışması</a:t>
            </a:r>
            <a:r>
              <a:rPr lang="en-US" sz="2600" dirty="0" smtClean="0"/>
              <a:t>: BT </a:t>
            </a:r>
            <a:r>
              <a:rPr lang="en-US" sz="2600" dirty="0" err="1" smtClean="0"/>
              <a:t>çalışanının</a:t>
            </a:r>
            <a:r>
              <a:rPr lang="en-US" sz="2600" dirty="0" smtClean="0"/>
              <a:t> (</a:t>
            </a:r>
            <a:r>
              <a:rPr lang="en-US" sz="2600" dirty="0" err="1" smtClean="0"/>
              <a:t>veya</a:t>
            </a:r>
            <a:r>
              <a:rPr lang="en-US" sz="2600" dirty="0" smtClean="0"/>
              <a:t> BT </a:t>
            </a:r>
            <a:r>
              <a:rPr lang="en-US" sz="2600" dirty="0" err="1" smtClean="0"/>
              <a:t>firmasının</a:t>
            </a:r>
            <a:r>
              <a:rPr lang="en-US" sz="2600" dirty="0" smtClean="0"/>
              <a:t>) </a:t>
            </a:r>
            <a:r>
              <a:rPr lang="en-US" sz="2600" dirty="0" err="1" smtClean="0"/>
              <a:t>kişisel</a:t>
            </a:r>
            <a:r>
              <a:rPr lang="en-US" sz="2600" dirty="0" smtClean="0"/>
              <a:t> </a:t>
            </a:r>
            <a:r>
              <a:rPr lang="en-US" sz="2600" dirty="0" err="1" smtClean="0"/>
              <a:t>çıkarları</a:t>
            </a:r>
            <a:r>
              <a:rPr lang="en-US" sz="2600" dirty="0" smtClean="0"/>
              <a:t> </a:t>
            </a:r>
            <a:r>
              <a:rPr lang="en-US" sz="2600" dirty="0" err="1" smtClean="0"/>
              <a:t>ile</a:t>
            </a:r>
            <a:r>
              <a:rPr lang="en-US" sz="2600" dirty="0" smtClean="0"/>
              <a:t> </a:t>
            </a:r>
            <a:r>
              <a:rPr lang="en-US" sz="2600" dirty="0" err="1" smtClean="0"/>
              <a:t>müşterinin</a:t>
            </a:r>
            <a:r>
              <a:rPr lang="en-US" sz="2600" dirty="0" smtClean="0"/>
              <a:t> </a:t>
            </a:r>
            <a:r>
              <a:rPr lang="en-US" sz="2600" dirty="0" err="1" smtClean="0"/>
              <a:t>çıkarları</a:t>
            </a:r>
            <a:r>
              <a:rPr lang="en-US" sz="2600" dirty="0" smtClean="0"/>
              <a:t> </a:t>
            </a:r>
            <a:r>
              <a:rPr lang="en-US" sz="2600" dirty="0" err="1" smtClean="0"/>
              <a:t>arasındaki</a:t>
            </a:r>
            <a:r>
              <a:rPr lang="en-US" sz="2600" dirty="0" smtClean="0"/>
              <a:t> </a:t>
            </a:r>
            <a:r>
              <a:rPr lang="en-US" sz="2600" dirty="0" err="1" smtClean="0"/>
              <a:t>çatışma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2">
              <a:buClr>
                <a:schemeClr val="accent2"/>
              </a:buClr>
            </a:pPr>
            <a:r>
              <a:rPr lang="en-US" sz="2600" dirty="0" err="1" smtClean="0"/>
              <a:t>Dolandırıcılık</a:t>
            </a:r>
            <a:r>
              <a:rPr lang="en-US" sz="2600" dirty="0" smtClean="0"/>
              <a:t>: </a:t>
            </a:r>
            <a:r>
              <a:rPr lang="en-US" sz="2600" dirty="0" err="1" smtClean="0"/>
              <a:t>Aldatma</a:t>
            </a:r>
            <a:r>
              <a:rPr lang="en-US" sz="2600" dirty="0" smtClean="0"/>
              <a:t> </a:t>
            </a:r>
            <a:r>
              <a:rPr lang="en-US" sz="2600" dirty="0" err="1" smtClean="0"/>
              <a:t>veya</a:t>
            </a:r>
            <a:r>
              <a:rPr lang="en-US" sz="2600" dirty="0" smtClean="0"/>
              <a:t> </a:t>
            </a:r>
            <a:r>
              <a:rPr lang="en-US" sz="2600" dirty="0" err="1" smtClean="0"/>
              <a:t>hile</a:t>
            </a:r>
            <a:r>
              <a:rPr lang="en-US" sz="2600" dirty="0" smtClean="0"/>
              <a:t> </a:t>
            </a:r>
            <a:r>
              <a:rPr lang="en-US" sz="2600" dirty="0" err="1" smtClean="0"/>
              <a:t>yoluyla</a:t>
            </a:r>
            <a:r>
              <a:rPr lang="en-US" sz="2600" dirty="0" smtClean="0"/>
              <a:t> mal, </a:t>
            </a:r>
            <a:r>
              <a:rPr lang="en-US" sz="2600" dirty="0" err="1" smtClean="0"/>
              <a:t>hizmet</a:t>
            </a:r>
            <a:r>
              <a:rPr lang="en-US" sz="2600" dirty="0" smtClean="0"/>
              <a:t> </a:t>
            </a:r>
            <a:r>
              <a:rPr lang="en-US" sz="2600" dirty="0" err="1" smtClean="0"/>
              <a:t>veya</a:t>
            </a:r>
            <a:r>
              <a:rPr lang="en-US" sz="2600" dirty="0" smtClean="0"/>
              <a:t> </a:t>
            </a:r>
            <a:r>
              <a:rPr lang="en-US" sz="2600" dirty="0" err="1" smtClean="0"/>
              <a:t>mülk</a:t>
            </a:r>
            <a:r>
              <a:rPr lang="en-US" sz="2600" dirty="0" smtClean="0"/>
              <a:t> </a:t>
            </a:r>
            <a:r>
              <a:rPr lang="en-US" sz="2600" dirty="0" err="1" smtClean="0"/>
              <a:t>edinme</a:t>
            </a:r>
            <a:r>
              <a:rPr lang="en-US" sz="2600" dirty="0" smtClean="0"/>
              <a:t> </a:t>
            </a:r>
            <a:r>
              <a:rPr lang="en-US" sz="2600" dirty="0" err="1" smtClean="0"/>
              <a:t>suçu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2">
              <a:buClr>
                <a:schemeClr val="accent2"/>
              </a:buClr>
            </a:pPr>
            <a:r>
              <a:rPr lang="en-US" sz="2600" dirty="0" err="1" smtClean="0"/>
              <a:t>Yanlış</a:t>
            </a:r>
            <a:r>
              <a:rPr lang="en-US" sz="2600" dirty="0" smtClean="0"/>
              <a:t> </a:t>
            </a:r>
            <a:r>
              <a:rPr lang="en-US" sz="2600" dirty="0" err="1" smtClean="0"/>
              <a:t>beyan</a:t>
            </a:r>
            <a:r>
              <a:rPr lang="en-US" sz="2600" dirty="0" smtClean="0"/>
              <a:t>: </a:t>
            </a:r>
            <a:r>
              <a:rPr lang="en-US" sz="2600" dirty="0" err="1" smtClean="0"/>
              <a:t>Maddi</a:t>
            </a:r>
            <a:r>
              <a:rPr lang="en-US" sz="2600" dirty="0" smtClean="0"/>
              <a:t> </a:t>
            </a:r>
            <a:r>
              <a:rPr lang="en-US" sz="2600" dirty="0" err="1" smtClean="0"/>
              <a:t>bir</a:t>
            </a:r>
            <a:r>
              <a:rPr lang="en-US" sz="2600" dirty="0" smtClean="0"/>
              <a:t> </a:t>
            </a:r>
            <a:r>
              <a:rPr lang="en-US" sz="2600" dirty="0" err="1" smtClean="0"/>
              <a:t>gerçeğin</a:t>
            </a:r>
            <a:r>
              <a:rPr lang="en-US" sz="2600" dirty="0" smtClean="0"/>
              <a:t> </a:t>
            </a:r>
            <a:r>
              <a:rPr lang="en-US" sz="2600" dirty="0" err="1" smtClean="0"/>
              <a:t>yanlış</a:t>
            </a:r>
            <a:r>
              <a:rPr lang="en-US" sz="2600" dirty="0" smtClean="0"/>
              <a:t> </a:t>
            </a:r>
            <a:r>
              <a:rPr lang="en-US" sz="2600" dirty="0" err="1" smtClean="0"/>
              <a:t>beyanı</a:t>
            </a:r>
            <a:r>
              <a:rPr lang="en-US" sz="2600" dirty="0" smtClean="0"/>
              <a:t> </a:t>
            </a:r>
            <a:r>
              <a:rPr lang="en-US" sz="2600" dirty="0" err="1" smtClean="0"/>
              <a:t>veya</a:t>
            </a:r>
            <a:r>
              <a:rPr lang="en-US" sz="2600" dirty="0" smtClean="0"/>
              <a:t> </a:t>
            </a:r>
            <a:r>
              <a:rPr lang="en-US" sz="2600" dirty="0" err="1" smtClean="0"/>
              <a:t>eksik</a:t>
            </a:r>
            <a:r>
              <a:rPr lang="en-US" sz="2600" dirty="0" smtClean="0"/>
              <a:t> </a:t>
            </a:r>
            <a:r>
              <a:rPr lang="en-US" sz="2600" dirty="0" err="1" smtClean="0"/>
              <a:t>beyanı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2">
              <a:buClr>
                <a:schemeClr val="accent2"/>
              </a:buClr>
            </a:pPr>
            <a:r>
              <a:rPr lang="en-US" sz="2600" dirty="0" err="1" smtClean="0"/>
              <a:t>Sözleşmenin</a:t>
            </a:r>
            <a:r>
              <a:rPr lang="en-US" sz="2600" dirty="0" smtClean="0"/>
              <a:t> </a:t>
            </a:r>
            <a:r>
              <a:rPr lang="en-US" sz="2600" dirty="0" err="1" smtClean="0"/>
              <a:t>ihlali</a:t>
            </a:r>
            <a:r>
              <a:rPr lang="en-US" sz="2600" dirty="0" smtClean="0"/>
              <a:t>: </a:t>
            </a:r>
            <a:r>
              <a:rPr lang="en-US" sz="2600" dirty="0" err="1" smtClean="0"/>
              <a:t>Bir</a:t>
            </a:r>
            <a:r>
              <a:rPr lang="en-US" sz="2600" dirty="0" smtClean="0"/>
              <a:t> </a:t>
            </a:r>
            <a:r>
              <a:rPr lang="en-US" sz="2600" dirty="0" err="1" smtClean="0"/>
              <a:t>tarafın</a:t>
            </a:r>
            <a:r>
              <a:rPr lang="en-US" sz="2600" dirty="0" smtClean="0"/>
              <a:t> </a:t>
            </a:r>
            <a:r>
              <a:rPr lang="en-US" sz="2600" dirty="0" err="1" smtClean="0"/>
              <a:t>bir</a:t>
            </a:r>
            <a:r>
              <a:rPr lang="en-US" sz="2600" dirty="0" smtClean="0"/>
              <a:t> </a:t>
            </a:r>
            <a:r>
              <a:rPr lang="en-US" sz="2600" dirty="0" err="1" smtClean="0"/>
              <a:t>sözleşmenin</a:t>
            </a:r>
            <a:r>
              <a:rPr lang="en-US" sz="2600" dirty="0" smtClean="0"/>
              <a:t> </a:t>
            </a:r>
            <a:r>
              <a:rPr lang="en-US" sz="2600" dirty="0" err="1" smtClean="0"/>
              <a:t>şartlarını</a:t>
            </a:r>
            <a:r>
              <a:rPr lang="en-US" sz="2600" dirty="0" smtClean="0"/>
              <a:t> </a:t>
            </a:r>
            <a:r>
              <a:rPr lang="en-US" sz="2600" dirty="0" err="1" smtClean="0"/>
              <a:t>yerine</a:t>
            </a:r>
            <a:r>
              <a:rPr lang="en-US" sz="2600" dirty="0" smtClean="0"/>
              <a:t> </a:t>
            </a:r>
            <a:r>
              <a:rPr lang="en-US" sz="2600" dirty="0" err="1" smtClean="0"/>
              <a:t>getirmemesi</a:t>
            </a:r>
            <a:r>
              <a:rPr lang="en-US" sz="2600" dirty="0" smtClean="0"/>
              <a:t> </a:t>
            </a:r>
            <a:r>
              <a:rPr lang="en-US" sz="2600" dirty="0" err="1" smtClean="0"/>
              <a:t>durumunda</a:t>
            </a:r>
            <a:r>
              <a:rPr lang="en-US" sz="2600" dirty="0" smtClean="0"/>
              <a:t> </a:t>
            </a:r>
            <a:r>
              <a:rPr lang="en-US" sz="2600" dirty="0" err="1" smtClean="0"/>
              <a:t>ortaya</a:t>
            </a:r>
            <a:r>
              <a:rPr lang="en-US" sz="2600" dirty="0" smtClean="0"/>
              <a:t> </a:t>
            </a:r>
            <a:r>
              <a:rPr lang="en-US" sz="2600" dirty="0" err="1" smtClean="0"/>
              <a:t>çıkar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2">
              <a:buClr>
                <a:schemeClr val="accent2"/>
              </a:buClr>
            </a:pPr>
            <a:r>
              <a:rPr lang="en-US" sz="2600" dirty="0" err="1" smtClean="0"/>
              <a:t>Sözleşmenin</a:t>
            </a:r>
            <a:r>
              <a:rPr lang="en-US" sz="2600" dirty="0" smtClean="0"/>
              <a:t> </a:t>
            </a:r>
            <a:r>
              <a:rPr lang="en-US" sz="2600" dirty="0" err="1" smtClean="0"/>
              <a:t>maddi</a:t>
            </a:r>
            <a:r>
              <a:rPr lang="en-US" sz="2600" dirty="0" smtClean="0"/>
              <a:t> </a:t>
            </a:r>
            <a:r>
              <a:rPr lang="en-US" sz="2600" dirty="0" err="1" smtClean="0"/>
              <a:t>ihlali</a:t>
            </a:r>
            <a:r>
              <a:rPr lang="en-US" sz="2600" dirty="0" smtClean="0"/>
              <a:t>:  </a:t>
            </a:r>
            <a:r>
              <a:rPr lang="en-US" sz="2600" dirty="0" err="1" smtClean="0"/>
              <a:t>Bir</a:t>
            </a:r>
            <a:r>
              <a:rPr lang="en-US" sz="2600" dirty="0" smtClean="0"/>
              <a:t> </a:t>
            </a:r>
            <a:r>
              <a:rPr lang="en-US" sz="2600" dirty="0" err="1" smtClean="0"/>
              <a:t>taraf</a:t>
            </a:r>
            <a:r>
              <a:rPr lang="en-US" sz="2600" dirty="0" smtClean="0"/>
              <a:t> </a:t>
            </a:r>
            <a:r>
              <a:rPr lang="en-US" sz="2600" dirty="0" err="1" smtClean="0"/>
              <a:t>belirli</a:t>
            </a:r>
            <a:r>
              <a:rPr lang="en-US" sz="2600" dirty="0" smtClean="0"/>
              <a:t> </a:t>
            </a:r>
            <a:r>
              <a:rPr lang="en-US" sz="2600" dirty="0" err="1" smtClean="0"/>
              <a:t>yükümlülükleri</a:t>
            </a:r>
            <a:r>
              <a:rPr lang="en-US" sz="2600" dirty="0" smtClean="0"/>
              <a:t> </a:t>
            </a:r>
            <a:r>
              <a:rPr lang="en-US" sz="2600" dirty="0" err="1" smtClean="0"/>
              <a:t>yerine</a:t>
            </a:r>
            <a:r>
              <a:rPr lang="en-US" sz="2600" dirty="0" smtClean="0"/>
              <a:t> </a:t>
            </a:r>
            <a:r>
              <a:rPr lang="en-US" sz="2600" dirty="0" err="1" smtClean="0"/>
              <a:t>getirmediğinde</a:t>
            </a:r>
            <a:r>
              <a:rPr lang="en-US" sz="2600" dirty="0" smtClean="0"/>
              <a:t>, </a:t>
            </a:r>
            <a:r>
              <a:rPr lang="en-US" sz="2600" dirty="0" err="1" smtClean="0"/>
              <a:t>dolayısıyla</a:t>
            </a:r>
            <a:r>
              <a:rPr lang="en-US" sz="2600" dirty="0" smtClean="0"/>
              <a:t> </a:t>
            </a:r>
            <a:r>
              <a:rPr lang="en-US" sz="2600" dirty="0" err="1" smtClean="0"/>
              <a:t>sözleşmenin</a:t>
            </a:r>
            <a:r>
              <a:rPr lang="en-US" sz="2600" dirty="0" smtClean="0"/>
              <a:t> </a:t>
            </a:r>
            <a:r>
              <a:rPr lang="en-US" sz="2600" dirty="0" err="1" smtClean="0"/>
              <a:t>özünü</a:t>
            </a:r>
            <a:r>
              <a:rPr lang="en-US" sz="2600" dirty="0" smtClean="0"/>
              <a:t> </a:t>
            </a:r>
            <a:r>
              <a:rPr lang="en-US" sz="2600" dirty="0" err="1" smtClean="0"/>
              <a:t>bozduğunda</a:t>
            </a:r>
            <a:r>
              <a:rPr lang="en-US" sz="2600" dirty="0" smtClean="0"/>
              <a:t> </a:t>
            </a:r>
            <a:r>
              <a:rPr lang="en-US" sz="2600" dirty="0" err="1" smtClean="0"/>
              <a:t>veya</a:t>
            </a:r>
            <a:r>
              <a:rPr lang="en-US" sz="2600" dirty="0" smtClean="0"/>
              <a:t> </a:t>
            </a:r>
            <a:r>
              <a:rPr lang="en-US" sz="2600" dirty="0" err="1" smtClean="0"/>
              <a:t>tahrip</a:t>
            </a:r>
            <a:r>
              <a:rPr lang="en-US" sz="2600" dirty="0" smtClean="0"/>
              <a:t> </a:t>
            </a:r>
            <a:r>
              <a:rPr lang="en-US" sz="2600" dirty="0" err="1" smtClean="0"/>
              <a:t>ettiğinde</a:t>
            </a:r>
            <a:r>
              <a:rPr lang="en-US" sz="2600" dirty="0" smtClean="0"/>
              <a:t> </a:t>
            </a:r>
            <a:r>
              <a:rPr lang="en-US" sz="2600" dirty="0" err="1" smtClean="0"/>
              <a:t>ortaya</a:t>
            </a:r>
            <a:r>
              <a:rPr lang="en-US" sz="2600" dirty="0" smtClean="0"/>
              <a:t> </a:t>
            </a:r>
            <a:r>
              <a:rPr lang="en-US" sz="2600" dirty="0" err="1" smtClean="0"/>
              <a:t>çıkar</a:t>
            </a:r>
            <a:endParaRPr lang="en-US" sz="24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5800"/>
            <a:ext cx="8026400" cy="837152"/>
          </a:xfrm>
        </p:spPr>
        <p:txBody>
          <a:bodyPr/>
          <a:lstStyle/>
          <a:p>
            <a:r>
              <a:rPr lang="en-US" sz="3200" dirty="0"/>
              <a:t>Relationships Between IT Workers and </a:t>
            </a:r>
            <a:r>
              <a:rPr lang="en-US" sz="3200" dirty="0" smtClean="0"/>
              <a:t>Clients</a:t>
            </a:r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dirty="0" smtClean="0"/>
              <a:t>BT çalışanları ve müşteriler arasındaki ilişkiler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579269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Figure 2-1: This drawing of a project manager on a tightrope above a sea of sharks illustrates the frequent causes of problems in IT projects: legacy systems, scope creep, out-of-date solutions, and poor communication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08687"/>
            <a:ext cx="7962117" cy="49530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86520"/>
            <a:ext cx="8026400" cy="735714"/>
          </a:xfrm>
        </p:spPr>
        <p:txBody>
          <a:bodyPr/>
          <a:lstStyle/>
          <a:p>
            <a:r>
              <a:rPr lang="en-US" sz="2800" dirty="0"/>
              <a:t>Frequent Causes of Problems in IT </a:t>
            </a:r>
            <a:r>
              <a:rPr lang="en-US" sz="2800" dirty="0" smtClean="0"/>
              <a:t>Projects</a:t>
            </a:r>
            <a:r>
              <a:rPr lang="tr-TR" sz="2800" dirty="0" smtClean="0"/>
              <a:t/>
            </a:r>
            <a:br>
              <a:rPr lang="tr-TR" sz="2800" dirty="0" smtClean="0"/>
            </a:br>
            <a:r>
              <a:rPr lang="tr-TR" sz="2800" dirty="0" smtClean="0"/>
              <a:t>BT Projelerinde Sık Karşılaşılan Sorunların Nedenleri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14387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28248"/>
            <a:ext cx="8415338" cy="4061112"/>
          </a:xfrm>
        </p:spPr>
        <p:txBody>
          <a:bodyPr/>
          <a:lstStyle/>
          <a:p>
            <a:r>
              <a:rPr lang="en-US" sz="2800" dirty="0" err="1" smtClean="0"/>
              <a:t>Anahtar</a:t>
            </a:r>
            <a:r>
              <a:rPr lang="en-US" sz="2800" dirty="0" smtClean="0"/>
              <a:t> </a:t>
            </a:r>
            <a:r>
              <a:rPr lang="en-US" sz="2800" dirty="0" err="1" smtClean="0"/>
              <a:t>konular</a:t>
            </a:r>
            <a:r>
              <a:rPr lang="en-US" sz="2800" dirty="0" smtClean="0"/>
              <a:t>: </a:t>
            </a:r>
            <a:endParaRPr lang="tr-TR" sz="2800" dirty="0" smtClean="0"/>
          </a:p>
          <a:p>
            <a:pPr lvl="1"/>
            <a:r>
              <a:rPr lang="en-US" sz="2600" dirty="0" err="1" smtClean="0"/>
              <a:t>Rüşvet</a:t>
            </a:r>
            <a:r>
              <a:rPr lang="en-US" sz="2600" dirty="0" smtClean="0"/>
              <a:t>: </a:t>
            </a:r>
            <a:r>
              <a:rPr lang="en-US" sz="2600" dirty="0" err="1" smtClean="0"/>
              <a:t>Bir</a:t>
            </a:r>
            <a:r>
              <a:rPr lang="en-US" sz="2600" dirty="0" smtClean="0"/>
              <a:t> </a:t>
            </a:r>
            <a:r>
              <a:rPr lang="en-US" sz="2600" dirty="0" err="1" smtClean="0"/>
              <a:t>iş</a:t>
            </a:r>
            <a:r>
              <a:rPr lang="en-US" sz="2600" dirty="0" smtClean="0"/>
              <a:t> </a:t>
            </a:r>
            <a:r>
              <a:rPr lang="en-US" sz="2600" dirty="0" err="1" smtClean="0"/>
              <a:t>avantajı</a:t>
            </a:r>
            <a:r>
              <a:rPr lang="en-US" sz="2600" dirty="0" smtClean="0"/>
              <a:t> </a:t>
            </a:r>
            <a:r>
              <a:rPr lang="en-US" sz="2600" dirty="0" err="1" smtClean="0"/>
              <a:t>elde</a:t>
            </a:r>
            <a:r>
              <a:rPr lang="en-US" sz="2600" dirty="0" smtClean="0"/>
              <a:t> </a:t>
            </a:r>
            <a:r>
              <a:rPr lang="en-US" sz="2600" dirty="0" err="1" smtClean="0"/>
              <a:t>etmek</a:t>
            </a:r>
            <a:r>
              <a:rPr lang="en-US" sz="2600" dirty="0" smtClean="0"/>
              <a:t> </a:t>
            </a:r>
            <a:r>
              <a:rPr lang="en-US" sz="2600" dirty="0" err="1" smtClean="0"/>
              <a:t>için</a:t>
            </a:r>
            <a:r>
              <a:rPr lang="en-US" sz="2600" dirty="0" smtClean="0"/>
              <a:t> para, </a:t>
            </a:r>
            <a:r>
              <a:rPr lang="en-US" sz="2600" dirty="0" err="1" smtClean="0"/>
              <a:t>mülk</a:t>
            </a:r>
            <a:r>
              <a:rPr lang="en-US" sz="2600" dirty="0" smtClean="0"/>
              <a:t> </a:t>
            </a:r>
            <a:r>
              <a:rPr lang="en-US" sz="2600" dirty="0" err="1" smtClean="0"/>
              <a:t>veya</a:t>
            </a:r>
            <a:r>
              <a:rPr lang="en-US" sz="2600" dirty="0" smtClean="0"/>
              <a:t> </a:t>
            </a:r>
            <a:r>
              <a:rPr lang="en-US" sz="2600" dirty="0" err="1" smtClean="0"/>
              <a:t>iyilik</a:t>
            </a:r>
            <a:r>
              <a:rPr lang="en-US" sz="2600" dirty="0" smtClean="0"/>
              <a:t> </a:t>
            </a:r>
            <a:r>
              <a:rPr lang="en-US" sz="2600" dirty="0" err="1" smtClean="0"/>
              <a:t>sağlama</a:t>
            </a:r>
            <a:r>
              <a:rPr lang="en-US" sz="2600" dirty="0" smtClean="0"/>
              <a:t> </a:t>
            </a:r>
            <a:r>
              <a:rPr lang="en-US" sz="2600" dirty="0" err="1" smtClean="0"/>
              <a:t>eylemi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İç</a:t>
            </a:r>
            <a:r>
              <a:rPr lang="en-US" sz="2600" dirty="0" smtClean="0"/>
              <a:t> </a:t>
            </a:r>
            <a:r>
              <a:rPr lang="en-US" sz="2600" dirty="0" err="1" smtClean="0"/>
              <a:t>kontrol</a:t>
            </a:r>
            <a:r>
              <a:rPr lang="en-US" sz="2600" dirty="0" smtClean="0"/>
              <a:t>: </a:t>
            </a:r>
            <a:r>
              <a:rPr lang="en-US" sz="2600" dirty="0" err="1" smtClean="0"/>
              <a:t>Operasyonların</a:t>
            </a:r>
            <a:r>
              <a:rPr lang="en-US" sz="2600" dirty="0" smtClean="0"/>
              <a:t> </a:t>
            </a:r>
            <a:r>
              <a:rPr lang="en-US" sz="2600" dirty="0" err="1" smtClean="0"/>
              <a:t>etkinliği</a:t>
            </a:r>
            <a:r>
              <a:rPr lang="en-US" sz="2600" dirty="0" smtClean="0"/>
              <a:t> ve </a:t>
            </a:r>
            <a:r>
              <a:rPr lang="en-US" sz="2600" dirty="0" err="1" smtClean="0"/>
              <a:t>verimliliği</a:t>
            </a:r>
            <a:r>
              <a:rPr lang="en-US" sz="2600" dirty="0" smtClean="0"/>
              <a:t>, </a:t>
            </a:r>
            <a:r>
              <a:rPr lang="en-US" sz="2600" dirty="0" err="1" smtClean="0"/>
              <a:t>finansal</a:t>
            </a:r>
            <a:r>
              <a:rPr lang="en-US" sz="2600" dirty="0" smtClean="0"/>
              <a:t> </a:t>
            </a:r>
            <a:r>
              <a:rPr lang="en-US" sz="2600" dirty="0" err="1" smtClean="0"/>
              <a:t>raporlamanın</a:t>
            </a:r>
            <a:r>
              <a:rPr lang="en-US" sz="2600" dirty="0" smtClean="0"/>
              <a:t> </a:t>
            </a:r>
            <a:r>
              <a:rPr lang="en-US" sz="2600" dirty="0" err="1" smtClean="0"/>
              <a:t>güvenilirliği</a:t>
            </a:r>
            <a:r>
              <a:rPr lang="en-US" sz="2600" dirty="0" smtClean="0"/>
              <a:t> ve </a:t>
            </a:r>
            <a:r>
              <a:rPr lang="en-US" sz="2600" dirty="0" err="1" smtClean="0"/>
              <a:t>yürürlükteki</a:t>
            </a:r>
            <a:r>
              <a:rPr lang="en-US" sz="2600" dirty="0" smtClean="0"/>
              <a:t> </a:t>
            </a:r>
            <a:r>
              <a:rPr lang="en-US" sz="2600" dirty="0" err="1" smtClean="0"/>
              <a:t>yasa</a:t>
            </a:r>
            <a:r>
              <a:rPr lang="en-US" sz="2600" dirty="0" smtClean="0"/>
              <a:t> ve </a:t>
            </a:r>
            <a:r>
              <a:rPr lang="en-US" sz="2600" dirty="0" err="1" smtClean="0"/>
              <a:t>yönetmeliklere</a:t>
            </a:r>
            <a:r>
              <a:rPr lang="en-US" sz="2600" dirty="0" smtClean="0"/>
              <a:t> </a:t>
            </a:r>
            <a:r>
              <a:rPr lang="en-US" sz="2600" dirty="0" err="1" smtClean="0"/>
              <a:t>uygunluk</a:t>
            </a:r>
            <a:r>
              <a:rPr lang="en-US" sz="2600" dirty="0" smtClean="0"/>
              <a:t> </a:t>
            </a:r>
            <a:r>
              <a:rPr lang="en-US" sz="2600" dirty="0" err="1" smtClean="0"/>
              <a:t>için</a:t>
            </a:r>
            <a:r>
              <a:rPr lang="en-US" sz="2600" dirty="0" smtClean="0"/>
              <a:t> </a:t>
            </a:r>
            <a:r>
              <a:rPr lang="en-US" sz="2600" dirty="0" err="1" smtClean="0"/>
              <a:t>makul</a:t>
            </a:r>
            <a:r>
              <a:rPr lang="en-US" sz="2600" dirty="0" smtClean="0"/>
              <a:t> </a:t>
            </a:r>
            <a:r>
              <a:rPr lang="en-US" sz="2600" dirty="0" err="1" smtClean="0"/>
              <a:t>güvence</a:t>
            </a:r>
            <a:r>
              <a:rPr lang="en-US" sz="2600" dirty="0" smtClean="0"/>
              <a:t> </a:t>
            </a:r>
            <a:r>
              <a:rPr lang="en-US" sz="2600" dirty="0" err="1" smtClean="0"/>
              <a:t>sağlamak</a:t>
            </a:r>
            <a:r>
              <a:rPr lang="en-US" sz="2600" dirty="0" smtClean="0"/>
              <a:t> </a:t>
            </a:r>
            <a:r>
              <a:rPr lang="en-US" sz="2600" dirty="0" err="1" smtClean="0"/>
              <a:t>üzere</a:t>
            </a:r>
            <a:r>
              <a:rPr lang="en-US" sz="2600" dirty="0" smtClean="0"/>
              <a:t> </a:t>
            </a:r>
            <a:r>
              <a:rPr lang="en-US" sz="2600" dirty="0" err="1" smtClean="0"/>
              <a:t>oluşturulan</a:t>
            </a:r>
            <a:r>
              <a:rPr lang="en-US" sz="2600" dirty="0" smtClean="0"/>
              <a:t> </a:t>
            </a:r>
            <a:r>
              <a:rPr lang="en-US" sz="2600" dirty="0" err="1" smtClean="0"/>
              <a:t>süreç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Görevlerin</a:t>
            </a:r>
            <a:r>
              <a:rPr lang="en-US" sz="2600" dirty="0" smtClean="0"/>
              <a:t> </a:t>
            </a:r>
            <a:r>
              <a:rPr lang="en-US" sz="2600" dirty="0" err="1" smtClean="0"/>
              <a:t>ayrılması</a:t>
            </a:r>
            <a:r>
              <a:rPr lang="en-US" sz="2600" dirty="0" smtClean="0"/>
              <a:t>: </a:t>
            </a:r>
            <a:r>
              <a:rPr lang="en-US" sz="2600" dirty="0" err="1" smtClean="0"/>
              <a:t>Finansal</a:t>
            </a:r>
            <a:r>
              <a:rPr lang="en-US" sz="2600" dirty="0" smtClean="0"/>
              <a:t> </a:t>
            </a:r>
            <a:r>
              <a:rPr lang="en-US" sz="2600" dirty="0" err="1" smtClean="0"/>
              <a:t>işlemleri</a:t>
            </a:r>
            <a:r>
              <a:rPr lang="en-US" sz="2600" dirty="0" smtClean="0"/>
              <a:t> </a:t>
            </a:r>
            <a:r>
              <a:rPr lang="en-US" sz="2600" dirty="0" err="1" smtClean="0"/>
              <a:t>içeren</a:t>
            </a:r>
            <a:r>
              <a:rPr lang="en-US" sz="2600" dirty="0" smtClean="0"/>
              <a:t> </a:t>
            </a:r>
            <a:r>
              <a:rPr lang="en-US" sz="2600" dirty="0" err="1" smtClean="0"/>
              <a:t>süreçlerin</a:t>
            </a:r>
            <a:r>
              <a:rPr lang="en-US" sz="2600" dirty="0" smtClean="0"/>
              <a:t> </a:t>
            </a:r>
            <a:r>
              <a:rPr lang="en-US" sz="2600" dirty="0" err="1" smtClean="0"/>
              <a:t>farklı</a:t>
            </a:r>
            <a:r>
              <a:rPr lang="en-US" sz="2600" dirty="0" smtClean="0"/>
              <a:t> </a:t>
            </a:r>
            <a:r>
              <a:rPr lang="en-US" sz="2600" dirty="0" err="1" smtClean="0"/>
              <a:t>yönlerinin</a:t>
            </a:r>
            <a:r>
              <a:rPr lang="en-US" sz="2600" dirty="0" smtClean="0"/>
              <a:t> </a:t>
            </a:r>
            <a:r>
              <a:rPr lang="en-US" sz="2600" dirty="0" err="1" smtClean="0"/>
              <a:t>farklı</a:t>
            </a:r>
            <a:r>
              <a:rPr lang="en-US" sz="2600" dirty="0" smtClean="0"/>
              <a:t> </a:t>
            </a:r>
            <a:r>
              <a:rPr lang="en-US" sz="2600" dirty="0" err="1" smtClean="0"/>
              <a:t>kişiler</a:t>
            </a:r>
            <a:r>
              <a:rPr lang="en-US" sz="2600" dirty="0" smtClean="0"/>
              <a:t> </a:t>
            </a:r>
            <a:r>
              <a:rPr lang="en-US" sz="2600" dirty="0" err="1" smtClean="0"/>
              <a:t>tarafından</a:t>
            </a:r>
            <a:r>
              <a:rPr lang="en-US" sz="2600" dirty="0" smtClean="0"/>
              <a:t> </a:t>
            </a:r>
            <a:r>
              <a:rPr lang="en-US" sz="2600" dirty="0" err="1" smtClean="0"/>
              <a:t>ele</a:t>
            </a:r>
            <a:r>
              <a:rPr lang="en-US" sz="2600" dirty="0" smtClean="0"/>
              <a:t> </a:t>
            </a:r>
            <a:r>
              <a:rPr lang="en-US" sz="2600" dirty="0" err="1" smtClean="0"/>
              <a:t>alınmasını</a:t>
            </a:r>
            <a:r>
              <a:rPr lang="en-US" sz="2600" dirty="0" smtClean="0"/>
              <a:t> </a:t>
            </a:r>
            <a:r>
              <a:rPr lang="en-US" sz="2600" dirty="0" err="1" smtClean="0"/>
              <a:t>sağlama</a:t>
            </a:r>
            <a:r>
              <a:rPr lang="en-US" sz="2600" dirty="0" smtClean="0"/>
              <a:t> </a:t>
            </a:r>
            <a:r>
              <a:rPr lang="en-US" sz="2600" dirty="0" err="1" smtClean="0"/>
              <a:t>eylemi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5800"/>
            <a:ext cx="8026400" cy="837152"/>
          </a:xfrm>
        </p:spPr>
        <p:txBody>
          <a:bodyPr/>
          <a:lstStyle/>
          <a:p>
            <a:r>
              <a:rPr lang="en-US" sz="3200" dirty="0"/>
              <a:t>Relationships Between IT Workers and </a:t>
            </a:r>
            <a:r>
              <a:rPr lang="en-US" sz="3200" dirty="0" smtClean="0"/>
              <a:t>Suppliers</a:t>
            </a:r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dirty="0" smtClean="0"/>
              <a:t>BT Çalışanları ve Tedarikçiler Arasındaki İlişkiler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032425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4094967"/>
          </a:xfrm>
        </p:spPr>
        <p:txBody>
          <a:bodyPr/>
          <a:lstStyle/>
          <a:p>
            <a:pPr marL="171450" lvl="1">
              <a:spcBef>
                <a:spcPts val="1200"/>
              </a:spcBef>
              <a:buClr>
                <a:schemeClr val="accent2"/>
              </a:buClr>
            </a:pPr>
            <a:r>
              <a:rPr lang="tr-TR" sz="2800" dirty="0" smtClean="0"/>
              <a:t>FCPA Yabancı bir yetkiliye, yabancı bir siyasi parti yetkilisine veya yabancı siyasi makam adayına rüşvet vermeyi suç haline getirir </a:t>
            </a:r>
          </a:p>
          <a:p>
            <a:pPr marL="342900" lvl="2">
              <a:spcBef>
                <a:spcPts val="1200"/>
              </a:spcBef>
              <a:buClr>
                <a:schemeClr val="accent2"/>
              </a:buClr>
            </a:pPr>
            <a:r>
              <a:rPr lang="tr-TR" sz="2600" dirty="0" smtClean="0"/>
              <a:t>Herhangi bir ABD vatandaşı veya şirketi ve herhangi bir ABD borsasında listelenen hisseleri olan herhangi bir şirket için geçerlidir </a:t>
            </a:r>
          </a:p>
          <a:p>
            <a:pPr marL="171450" lvl="1">
              <a:spcBef>
                <a:spcPts val="1200"/>
              </a:spcBef>
              <a:buClr>
                <a:schemeClr val="accent2"/>
              </a:buClr>
            </a:pPr>
            <a:r>
              <a:rPr lang="tr-TR" sz="2800" dirty="0" smtClean="0"/>
              <a:t>FCPA cezaları: </a:t>
            </a:r>
          </a:p>
          <a:p>
            <a:pPr marL="514350" lvl="3">
              <a:spcBef>
                <a:spcPts val="1200"/>
              </a:spcBef>
              <a:buClr>
                <a:schemeClr val="accent2"/>
              </a:buClr>
            </a:pPr>
            <a:r>
              <a:rPr lang="tr-TR" sz="2400" dirty="0" smtClean="0"/>
              <a:t>Şirketler: İhlal başına 2 milyon dolara kadar para cezası </a:t>
            </a:r>
          </a:p>
          <a:p>
            <a:pPr marL="514350" lvl="3">
              <a:spcBef>
                <a:spcPts val="1200"/>
              </a:spcBef>
              <a:buClr>
                <a:schemeClr val="accent2"/>
              </a:buClr>
            </a:pPr>
            <a:r>
              <a:rPr lang="tr-TR" sz="2400" dirty="0" smtClean="0"/>
              <a:t>Bireyler: 100.000 dolara kadar para cezası ve 5 yıl hapis cezası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82198" y="0"/>
            <a:ext cx="8026400" cy="1046440"/>
          </a:xfrm>
        </p:spPr>
        <p:txBody>
          <a:bodyPr/>
          <a:lstStyle/>
          <a:p>
            <a:r>
              <a:rPr lang="en-US" sz="4000" dirty="0"/>
              <a:t>Foreign Corrupt Practices Act (FCPA</a:t>
            </a:r>
            <a:r>
              <a:rPr lang="en-US" sz="4000" dirty="0" smtClean="0"/>
              <a:t>)</a:t>
            </a:r>
            <a:r>
              <a:rPr lang="tr-TR" sz="4000" dirty="0" smtClean="0"/>
              <a:t/>
            </a:r>
            <a:br>
              <a:rPr lang="tr-TR" sz="4000" dirty="0" smtClean="0"/>
            </a:br>
            <a:r>
              <a:rPr lang="tr-TR" sz="4000" dirty="0" smtClean="0"/>
              <a:t>Yabancı Yolsuzluk Uygulamaları Yasası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750161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2-1: Bribes are made in secret, as they are neither legally nor morally acceptable; are often made indirectly through a third party; and encourage an obligation for the recipient to act favorably toward the donor. &#10;Gifts are made openly and publicly, as a gesture of friendship or goodwill; are made directly from donor to recipient; and come with no expectation of a future favor for the donor.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2503204"/>
              </p:ext>
            </p:extLst>
          </p:nvPr>
        </p:nvGraphicFramePr>
        <p:xfrm>
          <a:off x="373062" y="1371600"/>
          <a:ext cx="841533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7669">
                  <a:extLst>
                    <a:ext uri="{9D8B030D-6E8A-4147-A177-3AD203B41FA5}">
                      <a16:colId xmlns:a16="http://schemas.microsoft.com/office/drawing/2014/main" xmlns="" val="560820014"/>
                    </a:ext>
                  </a:extLst>
                </a:gridCol>
                <a:gridCol w="4207669">
                  <a:extLst>
                    <a:ext uri="{9D8B030D-6E8A-4147-A177-3AD203B41FA5}">
                      <a16:colId xmlns:a16="http://schemas.microsoft.com/office/drawing/2014/main" xmlns="" val="1000680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Bribes</a:t>
                      </a:r>
                      <a:r>
                        <a:rPr lang="tr-TR" sz="3600" dirty="0" smtClean="0"/>
                        <a:t>-</a:t>
                      </a:r>
                      <a:r>
                        <a:rPr lang="tr-TR" sz="3600" dirty="0" err="1" smtClean="0"/>
                        <a:t>Rüşver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Gifts</a:t>
                      </a:r>
                      <a:r>
                        <a:rPr lang="tr-TR" sz="3600" dirty="0" smtClean="0"/>
                        <a:t>-Hediyeler</a:t>
                      </a:r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82223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yasal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ne de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ahlaki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olarak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kabul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edilebilir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olmadıkları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için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gizli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olarak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yapılmıştır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Açık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ve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aleni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bir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şekilde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bir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dostluk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veya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iyi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niyet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jesti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olarak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yapılır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01812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Genellikle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dolaylı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olarak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üçüncü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bir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taraf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aracılığıyla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yapılır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Doğrudan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donörden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alıcıya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yapılır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27813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Alıcının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bağışçıya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karşı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olumlu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davranması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için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bir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yükümlülüğü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teşvik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etmek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Donör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için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gelecekteki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bir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iyilik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beklentisi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olmadan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gelin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7842370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83479"/>
            <a:ext cx="8026400" cy="941796"/>
          </a:xfrm>
        </p:spPr>
        <p:txBody>
          <a:bodyPr/>
          <a:lstStyle/>
          <a:p>
            <a:r>
              <a:rPr lang="en-US" altLang="en-US" sz="3600" dirty="0"/>
              <a:t>Distinguishing Between Bribes and </a:t>
            </a:r>
            <a:r>
              <a:rPr lang="en-US" altLang="en-US" sz="3600" dirty="0" smtClean="0"/>
              <a:t>Gifts</a:t>
            </a:r>
            <a:r>
              <a:rPr lang="tr-TR" altLang="en-US" sz="3600" dirty="0" smtClean="0"/>
              <a:t/>
            </a:r>
            <a:br>
              <a:rPr lang="tr-TR" altLang="en-US" sz="3600" dirty="0" smtClean="0"/>
            </a:br>
            <a:r>
              <a:rPr lang="tr-TR" altLang="en-US" sz="3600" dirty="0" smtClean="0"/>
              <a:t>Rüşvet ve Hediyeler Arasında Ayrım Yapmak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272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371600"/>
            <a:ext cx="8415338" cy="2920800"/>
          </a:xfrm>
        </p:spPr>
        <p:txBody>
          <a:bodyPr/>
          <a:lstStyle/>
          <a:p>
            <a:r>
              <a:rPr lang="en-US" sz="2800" dirty="0" err="1" smtClean="0"/>
              <a:t>Anahtar</a:t>
            </a:r>
            <a:r>
              <a:rPr lang="en-US" sz="2800" dirty="0" smtClean="0"/>
              <a:t> </a:t>
            </a:r>
            <a:r>
              <a:rPr lang="en-US" sz="2800" dirty="0" err="1" smtClean="0"/>
              <a:t>konular</a:t>
            </a:r>
            <a:r>
              <a:rPr lang="en-US" sz="2800" dirty="0" smtClean="0"/>
              <a:t>: </a:t>
            </a:r>
            <a:endParaRPr lang="tr-TR" sz="2800" dirty="0" smtClean="0"/>
          </a:p>
          <a:p>
            <a:pPr lvl="1"/>
            <a:r>
              <a:rPr lang="en-US" sz="2600" dirty="0" err="1" smtClean="0"/>
              <a:t>Profesyoneller</a:t>
            </a:r>
            <a:r>
              <a:rPr lang="en-US" sz="2600" dirty="0" smtClean="0"/>
              <a:t> </a:t>
            </a:r>
            <a:r>
              <a:rPr lang="en-US" sz="2600" dirty="0" err="1" smtClean="0"/>
              <a:t>birbirlerine</a:t>
            </a:r>
            <a:r>
              <a:rPr lang="en-US" sz="2600" dirty="0" smtClean="0"/>
              <a:t> </a:t>
            </a:r>
            <a:r>
              <a:rPr lang="en-US" sz="2600" dirty="0" err="1" smtClean="0"/>
              <a:t>mesleklerinin</a:t>
            </a:r>
            <a:r>
              <a:rPr lang="en-US" sz="2600" dirty="0" smtClean="0"/>
              <a:t> </a:t>
            </a:r>
            <a:r>
              <a:rPr lang="en-US" sz="2600" dirty="0" err="1" smtClean="0"/>
              <a:t>davranış</a:t>
            </a:r>
            <a:r>
              <a:rPr lang="en-US" sz="2600" dirty="0" smtClean="0"/>
              <a:t> </a:t>
            </a:r>
            <a:r>
              <a:rPr lang="en-US" sz="2600" dirty="0" err="1" smtClean="0"/>
              <a:t>kurallarına</a:t>
            </a:r>
            <a:r>
              <a:rPr lang="en-US" sz="2600" dirty="0" smtClean="0"/>
              <a:t> </a:t>
            </a:r>
            <a:r>
              <a:rPr lang="en-US" sz="2600" dirty="0" err="1" smtClean="0"/>
              <a:t>bağlılık</a:t>
            </a:r>
            <a:r>
              <a:rPr lang="en-US" sz="2600" dirty="0" smtClean="0"/>
              <a:t> </a:t>
            </a:r>
            <a:r>
              <a:rPr lang="en-US" sz="2600" dirty="0" err="1" smtClean="0"/>
              <a:t>borçludurlar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Özgeçmiş</a:t>
            </a:r>
            <a:r>
              <a:rPr lang="en-US" sz="2600" dirty="0" smtClean="0"/>
              <a:t> </a:t>
            </a:r>
            <a:r>
              <a:rPr lang="en-US" sz="2600" dirty="0" err="1" smtClean="0"/>
              <a:t>enflasyonu</a:t>
            </a:r>
            <a:r>
              <a:rPr lang="en-US" sz="2600" dirty="0" smtClean="0"/>
              <a:t>: </a:t>
            </a:r>
            <a:r>
              <a:rPr lang="en-US" sz="2600" dirty="0" err="1" smtClean="0"/>
              <a:t>Birinin</a:t>
            </a:r>
            <a:r>
              <a:rPr lang="en-US" sz="2600" dirty="0" smtClean="0"/>
              <a:t> </a:t>
            </a:r>
            <a:r>
              <a:rPr lang="en-US" sz="2600" dirty="0" err="1" smtClean="0"/>
              <a:t>nitelikleri</a:t>
            </a:r>
            <a:r>
              <a:rPr lang="en-US" sz="2600" dirty="0" smtClean="0"/>
              <a:t> </a:t>
            </a:r>
            <a:r>
              <a:rPr lang="en-US" sz="2600" dirty="0" err="1" smtClean="0"/>
              <a:t>hakkında</a:t>
            </a:r>
            <a:r>
              <a:rPr lang="en-US" sz="2600" dirty="0" smtClean="0"/>
              <a:t> </a:t>
            </a:r>
            <a:r>
              <a:rPr lang="en-US" sz="2600" dirty="0" err="1" smtClean="0"/>
              <a:t>bir</a:t>
            </a:r>
            <a:r>
              <a:rPr lang="en-US" sz="2600" dirty="0" smtClean="0"/>
              <a:t> </a:t>
            </a:r>
            <a:r>
              <a:rPr lang="en-US" sz="2600" dirty="0" err="1" smtClean="0"/>
              <a:t>özgeçmişe</a:t>
            </a:r>
            <a:r>
              <a:rPr lang="en-US" sz="2600" dirty="0" smtClean="0"/>
              <a:t> </a:t>
            </a:r>
            <a:r>
              <a:rPr lang="en-US" sz="2600" dirty="0" err="1" smtClean="0"/>
              <a:t>yalan</a:t>
            </a:r>
            <a:r>
              <a:rPr lang="en-US" sz="2600" dirty="0" smtClean="0"/>
              <a:t> </a:t>
            </a:r>
            <a:r>
              <a:rPr lang="en-US" sz="2600" dirty="0" err="1" smtClean="0"/>
              <a:t>söylemek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Üçüncü</a:t>
            </a:r>
            <a:r>
              <a:rPr lang="en-US" sz="2600" dirty="0" smtClean="0"/>
              <a:t> </a:t>
            </a:r>
            <a:r>
              <a:rPr lang="en-US" sz="2600" dirty="0" err="1" smtClean="0"/>
              <a:t>taraflarla</a:t>
            </a:r>
            <a:r>
              <a:rPr lang="en-US" sz="2600" dirty="0" smtClean="0"/>
              <a:t> </a:t>
            </a:r>
            <a:r>
              <a:rPr lang="en-US" sz="2600" dirty="0" err="1" smtClean="0"/>
              <a:t>gayri</a:t>
            </a:r>
            <a:r>
              <a:rPr lang="en-US" sz="2600" dirty="0" smtClean="0"/>
              <a:t> </a:t>
            </a:r>
            <a:r>
              <a:rPr lang="en-US" sz="2600" dirty="0" err="1" smtClean="0"/>
              <a:t>resmi</a:t>
            </a:r>
            <a:r>
              <a:rPr lang="en-US" sz="2600" dirty="0" smtClean="0"/>
              <a:t> </a:t>
            </a:r>
            <a:r>
              <a:rPr lang="en-US" sz="2600" dirty="0" err="1" smtClean="0"/>
              <a:t>olarak</a:t>
            </a:r>
            <a:r>
              <a:rPr lang="en-US" sz="2600" dirty="0" smtClean="0"/>
              <a:t> </a:t>
            </a:r>
            <a:r>
              <a:rPr lang="en-US" sz="2600" dirty="0" err="1" smtClean="0"/>
              <a:t>satılabilecek</a:t>
            </a:r>
            <a:r>
              <a:rPr lang="en-US" sz="2600" dirty="0" smtClean="0"/>
              <a:t> </a:t>
            </a:r>
            <a:r>
              <a:rPr lang="en-US" sz="2600" dirty="0" err="1" smtClean="0"/>
              <a:t>veya</a:t>
            </a:r>
            <a:r>
              <a:rPr lang="en-US" sz="2600" dirty="0" smtClean="0"/>
              <a:t> </a:t>
            </a:r>
            <a:r>
              <a:rPr lang="en-US" sz="2600" dirty="0" err="1" smtClean="0"/>
              <a:t>paylaşılabilecek</a:t>
            </a:r>
            <a:r>
              <a:rPr lang="en-US" sz="2600" dirty="0" smtClean="0"/>
              <a:t> </a:t>
            </a:r>
            <a:r>
              <a:rPr lang="en-US" sz="2600" dirty="0" err="1" smtClean="0"/>
              <a:t>kurumsal</a:t>
            </a:r>
            <a:r>
              <a:rPr lang="en-US" sz="2600" dirty="0" smtClean="0"/>
              <a:t> </a:t>
            </a:r>
            <a:r>
              <a:rPr lang="en-US" sz="2600" dirty="0" err="1" smtClean="0"/>
              <a:t>bilgilerin</a:t>
            </a:r>
            <a:r>
              <a:rPr lang="en-US" sz="2600" dirty="0" smtClean="0"/>
              <a:t> </a:t>
            </a:r>
            <a:r>
              <a:rPr lang="en-US" sz="2600" dirty="0" err="1" smtClean="0"/>
              <a:t>uygunsuz</a:t>
            </a:r>
            <a:r>
              <a:rPr lang="en-US" sz="2600" dirty="0" smtClean="0"/>
              <a:t> </a:t>
            </a:r>
            <a:r>
              <a:rPr lang="en-US" sz="2600" dirty="0" err="1" smtClean="0"/>
              <a:t>paylaşımı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6138" y="228600"/>
            <a:ext cx="8382000" cy="735714"/>
          </a:xfrm>
        </p:spPr>
        <p:txBody>
          <a:bodyPr/>
          <a:lstStyle/>
          <a:p>
            <a:r>
              <a:rPr lang="en-US" sz="2800" dirty="0"/>
              <a:t>Relationships Between IT Workers and Other </a:t>
            </a:r>
            <a:r>
              <a:rPr lang="en-US" sz="2800" dirty="0" smtClean="0"/>
              <a:t>Professionals</a:t>
            </a:r>
            <a:r>
              <a:rPr lang="tr-TR" sz="2800" dirty="0" smtClean="0"/>
              <a:t/>
            </a:r>
            <a:br>
              <a:rPr lang="tr-TR" sz="2800" dirty="0" smtClean="0"/>
            </a:br>
            <a:r>
              <a:rPr lang="tr-TR" sz="2800" dirty="0" smtClean="0"/>
              <a:t>BT çalışanları ve diğer profesyoneller arasındaki ilişkiler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31447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010055"/>
          </a:xfrm>
        </p:spPr>
        <p:txBody>
          <a:bodyPr/>
          <a:lstStyle/>
          <a:p>
            <a:r>
              <a:rPr lang="en-US" sz="2800" dirty="0" err="1" smtClean="0"/>
              <a:t>Anahtar</a:t>
            </a:r>
            <a:r>
              <a:rPr lang="en-US" sz="2800" dirty="0" smtClean="0"/>
              <a:t> </a:t>
            </a:r>
            <a:r>
              <a:rPr lang="en-US" sz="2800" dirty="0" err="1" smtClean="0"/>
              <a:t>konular</a:t>
            </a:r>
            <a:r>
              <a:rPr lang="en-US" sz="2800" dirty="0" smtClean="0"/>
              <a:t>: </a:t>
            </a:r>
            <a:endParaRPr lang="tr-TR" sz="2800" dirty="0" smtClean="0"/>
          </a:p>
          <a:p>
            <a:pPr lvl="1"/>
            <a:r>
              <a:rPr lang="en-US" sz="2600" dirty="0" err="1" smtClean="0"/>
              <a:t>Toplum</a:t>
            </a:r>
            <a:r>
              <a:rPr lang="en-US" sz="2600" dirty="0" smtClean="0"/>
              <a:t>, </a:t>
            </a:r>
            <a:r>
              <a:rPr lang="en-US" sz="2600" dirty="0" err="1" smtClean="0"/>
              <a:t>bir</a:t>
            </a:r>
            <a:r>
              <a:rPr lang="en-US" sz="2600" dirty="0" smtClean="0"/>
              <a:t> </a:t>
            </a:r>
            <a:r>
              <a:rPr lang="en-US" sz="2600" dirty="0" err="1" smtClean="0"/>
              <a:t>meslek</a:t>
            </a:r>
            <a:r>
              <a:rPr lang="en-US" sz="2600" dirty="0" smtClean="0"/>
              <a:t> </a:t>
            </a:r>
            <a:r>
              <a:rPr lang="en-US" sz="2600" dirty="0" err="1" smtClean="0"/>
              <a:t>mensuplarından</a:t>
            </a:r>
            <a:r>
              <a:rPr lang="en-US" sz="2600" dirty="0" smtClean="0"/>
              <a:t> </a:t>
            </a:r>
            <a:r>
              <a:rPr lang="en-US" sz="2600" dirty="0" err="1" smtClean="0"/>
              <a:t>şunları</a:t>
            </a:r>
            <a:r>
              <a:rPr lang="en-US" sz="2600" dirty="0" smtClean="0"/>
              <a:t> </a:t>
            </a:r>
            <a:r>
              <a:rPr lang="en-US" sz="2600" dirty="0" err="1" smtClean="0"/>
              <a:t>bekler</a:t>
            </a:r>
            <a:r>
              <a:rPr lang="en-US" sz="2600" dirty="0" smtClean="0"/>
              <a:t>: </a:t>
            </a:r>
            <a:endParaRPr lang="tr-TR" sz="2600" dirty="0" smtClean="0"/>
          </a:p>
          <a:p>
            <a:pPr lvl="2"/>
            <a:r>
              <a:rPr lang="en-US" sz="2400" dirty="0" err="1" smtClean="0"/>
              <a:t>Önemli</a:t>
            </a:r>
            <a:r>
              <a:rPr lang="en-US" sz="2400" dirty="0" smtClean="0"/>
              <a:t> </a:t>
            </a:r>
            <a:r>
              <a:rPr lang="en-US" sz="2400" dirty="0" err="1" smtClean="0"/>
              <a:t>faydalar</a:t>
            </a:r>
            <a:r>
              <a:rPr lang="en-US" sz="2400" dirty="0" smtClean="0"/>
              <a:t> </a:t>
            </a:r>
            <a:r>
              <a:rPr lang="en-US" sz="2400" dirty="0" err="1" smtClean="0"/>
              <a:t>sağlamak</a:t>
            </a:r>
            <a:r>
              <a:rPr lang="en-US" sz="2400" dirty="0" smtClean="0"/>
              <a:t> </a:t>
            </a:r>
            <a:endParaRPr lang="tr-TR" sz="2400" dirty="0" smtClean="0"/>
          </a:p>
          <a:p>
            <a:pPr lvl="2"/>
            <a:r>
              <a:rPr lang="en-US" sz="2400" dirty="0" err="1" smtClean="0"/>
              <a:t>Eylemleriyle</a:t>
            </a:r>
            <a:r>
              <a:rPr lang="en-US" sz="2400" dirty="0" smtClean="0"/>
              <a:t> </a:t>
            </a:r>
            <a:r>
              <a:rPr lang="en-US" sz="2400" dirty="0" err="1" smtClean="0"/>
              <a:t>zarar</a:t>
            </a:r>
            <a:r>
              <a:rPr lang="en-US" sz="2400" dirty="0" smtClean="0"/>
              <a:t> </a:t>
            </a:r>
            <a:r>
              <a:rPr lang="en-US" sz="2400" dirty="0" err="1" smtClean="0"/>
              <a:t>vermemek</a:t>
            </a:r>
            <a:r>
              <a:rPr lang="en-US" sz="2400" dirty="0" smtClean="0"/>
              <a:t> </a:t>
            </a:r>
            <a:endParaRPr lang="tr-TR" sz="2400" dirty="0" smtClean="0"/>
          </a:p>
          <a:p>
            <a:pPr lvl="1"/>
            <a:r>
              <a:rPr lang="en-US" sz="2600" dirty="0" err="1" smtClean="0"/>
              <a:t>Profesyonel</a:t>
            </a:r>
            <a:r>
              <a:rPr lang="en-US" sz="2600" dirty="0" smtClean="0"/>
              <a:t> </a:t>
            </a:r>
            <a:r>
              <a:rPr lang="en-US" sz="2600" dirty="0" err="1" smtClean="0"/>
              <a:t>kuruluşlar</a:t>
            </a:r>
            <a:r>
              <a:rPr lang="en-US" sz="2600" dirty="0" smtClean="0"/>
              <a:t>, </a:t>
            </a:r>
            <a:endParaRPr lang="tr-TR" sz="2600" dirty="0" smtClean="0"/>
          </a:p>
          <a:p>
            <a:pPr lvl="2"/>
            <a:r>
              <a:rPr lang="en-US" sz="2400" dirty="0" smtClean="0"/>
              <a:t>BT </a:t>
            </a:r>
            <a:r>
              <a:rPr lang="en-US" sz="2400" dirty="0" err="1" smtClean="0"/>
              <a:t>çalışanlarının</a:t>
            </a:r>
            <a:r>
              <a:rPr lang="en-US" sz="2400" dirty="0" smtClean="0"/>
              <a:t> </a:t>
            </a:r>
            <a:r>
              <a:rPr lang="en-US" sz="2400" dirty="0" err="1" smtClean="0"/>
              <a:t>eylemlerini</a:t>
            </a:r>
            <a:r>
              <a:rPr lang="en-US" sz="2400" dirty="0" smtClean="0"/>
              <a:t> </a:t>
            </a:r>
            <a:r>
              <a:rPr lang="en-US" sz="2400" dirty="0" err="1" smtClean="0"/>
              <a:t>yönlendirmek</a:t>
            </a:r>
            <a:r>
              <a:rPr lang="en-US" sz="2400" dirty="0" smtClean="0"/>
              <a:t> </a:t>
            </a:r>
            <a:r>
              <a:rPr lang="en-US" sz="2400" dirty="0" err="1" smtClean="0"/>
              <a:t>için</a:t>
            </a:r>
            <a:r>
              <a:rPr lang="en-US" sz="2400" dirty="0" smtClean="0"/>
              <a:t> </a:t>
            </a:r>
            <a:r>
              <a:rPr lang="en-US" sz="2400" dirty="0" err="1" smtClean="0"/>
              <a:t>etik</a:t>
            </a:r>
            <a:r>
              <a:rPr lang="en-US" sz="2400" dirty="0" smtClean="0"/>
              <a:t> </a:t>
            </a:r>
            <a:r>
              <a:rPr lang="en-US" sz="2400" dirty="0" err="1" smtClean="0"/>
              <a:t>kurallar</a:t>
            </a:r>
            <a:r>
              <a:rPr lang="en-US" sz="2400" dirty="0" smtClean="0"/>
              <a:t> </a:t>
            </a:r>
            <a:r>
              <a:rPr lang="en-US" sz="2400" dirty="0" err="1" smtClean="0"/>
              <a:t>sağlar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5800"/>
            <a:ext cx="8026400" cy="837152"/>
          </a:xfrm>
        </p:spPr>
        <p:txBody>
          <a:bodyPr/>
          <a:lstStyle/>
          <a:p>
            <a:r>
              <a:rPr lang="en-US" sz="3200" dirty="0"/>
              <a:t>Relationships Between IT Workers and </a:t>
            </a:r>
            <a:r>
              <a:rPr lang="en-US" sz="3200" dirty="0" smtClean="0"/>
              <a:t>Society</a:t>
            </a:r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dirty="0" smtClean="0"/>
              <a:t>BT Çalışanları ve Toplum Arasındaki İlişkiler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966414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5548" y="1524000"/>
            <a:ext cx="8415338" cy="3531736"/>
          </a:xfrm>
        </p:spPr>
        <p:txBody>
          <a:bodyPr/>
          <a:lstStyle/>
          <a:p>
            <a:r>
              <a:rPr lang="en-US" sz="2800" dirty="0" err="1" smtClean="0"/>
              <a:t>Profesyonellerin</a:t>
            </a:r>
            <a:r>
              <a:rPr lang="en-US" sz="2800" dirty="0" smtClean="0"/>
              <a:t> </a:t>
            </a:r>
            <a:r>
              <a:rPr lang="en-US" sz="2800" dirty="0" err="1" smtClean="0"/>
              <a:t>özellikleri</a:t>
            </a:r>
            <a:r>
              <a:rPr lang="en-US" sz="2800" dirty="0" smtClean="0"/>
              <a:t>: </a:t>
            </a:r>
            <a:endParaRPr lang="tr-TR" sz="2800" dirty="0" smtClean="0"/>
          </a:p>
          <a:p>
            <a:pPr lvl="1"/>
            <a:r>
              <a:rPr lang="en-US" sz="2600" dirty="0" err="1" smtClean="0"/>
              <a:t>İşlerini</a:t>
            </a:r>
            <a:r>
              <a:rPr lang="en-US" sz="2600" dirty="0" smtClean="0"/>
              <a:t> </a:t>
            </a:r>
            <a:r>
              <a:rPr lang="en-US" sz="2600" dirty="0" err="1" smtClean="0"/>
              <a:t>yapmak</a:t>
            </a:r>
            <a:r>
              <a:rPr lang="en-US" sz="2600" dirty="0" smtClean="0"/>
              <a:t> </a:t>
            </a:r>
            <a:r>
              <a:rPr lang="en-US" sz="2600" dirty="0" err="1" smtClean="0"/>
              <a:t>için</a:t>
            </a:r>
            <a:r>
              <a:rPr lang="en-US" sz="2600" dirty="0" smtClean="0"/>
              <a:t> </a:t>
            </a:r>
            <a:r>
              <a:rPr lang="en-US" sz="2600" dirty="0" err="1" smtClean="0"/>
              <a:t>gereken</a:t>
            </a:r>
            <a:r>
              <a:rPr lang="en-US" sz="2600" dirty="0" smtClean="0"/>
              <a:t> </a:t>
            </a:r>
            <a:r>
              <a:rPr lang="en-US" sz="2600" dirty="0" err="1" smtClean="0"/>
              <a:t>araç</a:t>
            </a:r>
            <a:r>
              <a:rPr lang="en-US" sz="2600" dirty="0" smtClean="0"/>
              <a:t> ve </a:t>
            </a:r>
            <a:r>
              <a:rPr lang="en-US" sz="2600" dirty="0" err="1" smtClean="0"/>
              <a:t>becerilerde</a:t>
            </a:r>
            <a:r>
              <a:rPr lang="en-US" sz="2600" dirty="0" smtClean="0"/>
              <a:t> </a:t>
            </a:r>
            <a:r>
              <a:rPr lang="en-US" sz="2600" dirty="0" err="1" smtClean="0"/>
              <a:t>uzmanlığa</a:t>
            </a:r>
            <a:r>
              <a:rPr lang="en-US" sz="2600" dirty="0" smtClean="0"/>
              <a:t> </a:t>
            </a:r>
            <a:r>
              <a:rPr lang="en-US" sz="2600" dirty="0" err="1" smtClean="0"/>
              <a:t>sahip</a:t>
            </a:r>
            <a:r>
              <a:rPr lang="en-US" sz="2600" dirty="0" smtClean="0"/>
              <a:t> </a:t>
            </a:r>
            <a:r>
              <a:rPr lang="en-US" sz="2600" dirty="0" err="1" smtClean="0"/>
              <a:t>olmak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Yüksek</a:t>
            </a:r>
            <a:r>
              <a:rPr lang="en-US" sz="2600" dirty="0" smtClean="0"/>
              <a:t> </a:t>
            </a:r>
            <a:r>
              <a:rPr lang="en-US" sz="2600" dirty="0" err="1" smtClean="0"/>
              <a:t>etik</a:t>
            </a:r>
            <a:r>
              <a:rPr lang="en-US" sz="2600" dirty="0" smtClean="0"/>
              <a:t> ve </a:t>
            </a:r>
            <a:r>
              <a:rPr lang="en-US" sz="2600" dirty="0" err="1" smtClean="0"/>
              <a:t>ahlaki</a:t>
            </a:r>
            <a:r>
              <a:rPr lang="en-US" sz="2600" dirty="0" smtClean="0"/>
              <a:t> </a:t>
            </a:r>
            <a:r>
              <a:rPr lang="en-US" sz="2600" dirty="0" err="1" smtClean="0"/>
              <a:t>standartlara</a:t>
            </a:r>
            <a:r>
              <a:rPr lang="en-US" sz="2600" dirty="0" smtClean="0"/>
              <a:t> </a:t>
            </a:r>
            <a:r>
              <a:rPr lang="en-US" sz="2600" dirty="0" err="1" smtClean="0"/>
              <a:t>uymak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Yüksek</a:t>
            </a:r>
            <a:r>
              <a:rPr lang="en-US" sz="2600" dirty="0" smtClean="0"/>
              <a:t> </a:t>
            </a:r>
            <a:r>
              <a:rPr lang="en-US" sz="2600" dirty="0" err="1" smtClean="0"/>
              <a:t>kaliteli</a:t>
            </a:r>
            <a:r>
              <a:rPr lang="en-US" sz="2600" dirty="0" smtClean="0"/>
              <a:t> </a:t>
            </a:r>
            <a:r>
              <a:rPr lang="en-US" sz="2600" dirty="0" err="1" smtClean="0"/>
              <a:t>sonuçlar</a:t>
            </a:r>
            <a:r>
              <a:rPr lang="en-US" sz="2600" dirty="0" smtClean="0"/>
              <a:t> </a:t>
            </a:r>
            <a:r>
              <a:rPr lang="en-US" sz="2600" dirty="0" err="1" smtClean="0"/>
              <a:t>üretin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Taahhütlerini</a:t>
            </a:r>
            <a:r>
              <a:rPr lang="en-US" sz="2600" dirty="0" smtClean="0"/>
              <a:t> </a:t>
            </a:r>
            <a:r>
              <a:rPr lang="en-US" sz="2600" dirty="0" err="1" smtClean="0"/>
              <a:t>yerine</a:t>
            </a:r>
            <a:r>
              <a:rPr lang="en-US" sz="2600" dirty="0" smtClean="0"/>
              <a:t> </a:t>
            </a:r>
            <a:r>
              <a:rPr lang="en-US" sz="2600" dirty="0" err="1" smtClean="0"/>
              <a:t>getirin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Etkili</a:t>
            </a:r>
            <a:r>
              <a:rPr lang="en-US" sz="2600" dirty="0" smtClean="0"/>
              <a:t> </a:t>
            </a:r>
            <a:r>
              <a:rPr lang="en-US" sz="2600" dirty="0" err="1" smtClean="0"/>
              <a:t>iletişim</a:t>
            </a:r>
            <a:r>
              <a:rPr lang="en-US" sz="2600" dirty="0" smtClean="0"/>
              <a:t> </a:t>
            </a:r>
            <a:r>
              <a:rPr lang="en-US" sz="2600" dirty="0" err="1" smtClean="0"/>
              <a:t>kurun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Daha</a:t>
            </a:r>
            <a:r>
              <a:rPr lang="en-US" sz="2600" dirty="0" smtClean="0"/>
              <a:t> </a:t>
            </a:r>
            <a:r>
              <a:rPr lang="en-US" sz="2600" dirty="0" err="1" smtClean="0"/>
              <a:t>az</a:t>
            </a:r>
            <a:r>
              <a:rPr lang="en-US" sz="2600" dirty="0" smtClean="0"/>
              <a:t> </a:t>
            </a:r>
            <a:r>
              <a:rPr lang="en-US" sz="2600" dirty="0" err="1" smtClean="0"/>
              <a:t>deneyimle</a:t>
            </a:r>
            <a:r>
              <a:rPr lang="en-US" sz="2600" dirty="0" smtClean="0"/>
              <a:t> </a:t>
            </a:r>
            <a:r>
              <a:rPr lang="en-US" sz="2600" dirty="0" err="1" smtClean="0"/>
              <a:t>başkalarını</a:t>
            </a:r>
            <a:r>
              <a:rPr lang="en-US" sz="2600" dirty="0" smtClean="0"/>
              <a:t> </a:t>
            </a:r>
            <a:r>
              <a:rPr lang="en-US" sz="2600" dirty="0" err="1" smtClean="0"/>
              <a:t>eğitin</a:t>
            </a:r>
            <a:r>
              <a:rPr lang="en-US" sz="2600" dirty="0" smtClean="0"/>
              <a:t> ve </a:t>
            </a:r>
            <a:r>
              <a:rPr lang="en-US" sz="2600" dirty="0" err="1" smtClean="0"/>
              <a:t>geliştirin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5801"/>
            <a:ext cx="8026400" cy="837152"/>
          </a:xfrm>
        </p:spPr>
        <p:txBody>
          <a:bodyPr/>
          <a:lstStyle/>
          <a:p>
            <a:r>
              <a:rPr lang="en-US" sz="3200" dirty="0"/>
              <a:t>Encouraging the Professionalism of IT </a:t>
            </a:r>
            <a:r>
              <a:rPr lang="en-US" sz="3200" dirty="0" smtClean="0"/>
              <a:t>Workers</a:t>
            </a:r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dirty="0" smtClean="0"/>
              <a:t>BT Çalışanlarının Profesyonelliğini Teşvik Etmek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626251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646878"/>
          </a:xfrm>
        </p:spPr>
        <p:txBody>
          <a:bodyPr/>
          <a:lstStyle/>
          <a:p>
            <a:r>
              <a:rPr lang="en-US" sz="2800" dirty="0" smtClean="0"/>
              <a:t>BT </a:t>
            </a:r>
            <a:r>
              <a:rPr lang="en-US" sz="2800" dirty="0" err="1" smtClean="0"/>
              <a:t>çalışanları</a:t>
            </a:r>
            <a:r>
              <a:rPr lang="en-US" sz="2800" dirty="0" smtClean="0"/>
              <a:t>, </a:t>
            </a:r>
            <a:r>
              <a:rPr lang="en-US" sz="2800" dirty="0" err="1" smtClean="0"/>
              <a:t>mesleklerinin</a:t>
            </a:r>
            <a:r>
              <a:rPr lang="en-US" sz="2800" dirty="0" smtClean="0"/>
              <a:t> </a:t>
            </a:r>
            <a:r>
              <a:rPr lang="en-US" sz="2800" dirty="0" err="1" smtClean="0"/>
              <a:t>profesyonellik</a:t>
            </a:r>
            <a:r>
              <a:rPr lang="en-US" sz="2800" dirty="0" smtClean="0"/>
              <a:t> </a:t>
            </a:r>
            <a:r>
              <a:rPr lang="en-US" sz="2800" dirty="0" err="1" smtClean="0"/>
              <a:t>konusundaki</a:t>
            </a:r>
            <a:r>
              <a:rPr lang="en-US" sz="2800" dirty="0" smtClean="0"/>
              <a:t> </a:t>
            </a:r>
            <a:r>
              <a:rPr lang="en-US" sz="2800" dirty="0" err="1" smtClean="0"/>
              <a:t>itibarını</a:t>
            </a:r>
            <a:r>
              <a:rPr lang="en-US" sz="2800" dirty="0" smtClean="0"/>
              <a:t> </a:t>
            </a:r>
            <a:r>
              <a:rPr lang="en-US" sz="2800" dirty="0" err="1" smtClean="0"/>
              <a:t>şu</a:t>
            </a:r>
            <a:r>
              <a:rPr lang="en-US" sz="2800" dirty="0" smtClean="0"/>
              <a:t> </a:t>
            </a:r>
            <a:r>
              <a:rPr lang="en-US" sz="2800" dirty="0" err="1" smtClean="0"/>
              <a:t>yollarla</a:t>
            </a:r>
            <a:r>
              <a:rPr lang="en-US" sz="2800" dirty="0" smtClean="0"/>
              <a:t> </a:t>
            </a:r>
            <a:r>
              <a:rPr lang="en-US" sz="2800" dirty="0" err="1" smtClean="0"/>
              <a:t>artırabilir</a:t>
            </a:r>
            <a:r>
              <a:rPr lang="en-US" sz="2800" dirty="0" smtClean="0"/>
              <a:t>: </a:t>
            </a:r>
            <a:endParaRPr lang="tr-TR" sz="2800" dirty="0" smtClean="0"/>
          </a:p>
          <a:p>
            <a:pPr lvl="1"/>
            <a:r>
              <a:rPr lang="en-US" sz="2600" dirty="0" err="1" smtClean="0"/>
              <a:t>Profesyonel</a:t>
            </a:r>
            <a:r>
              <a:rPr lang="en-US" sz="2600" dirty="0" smtClean="0"/>
              <a:t> </a:t>
            </a:r>
            <a:r>
              <a:rPr lang="en-US" sz="2600" dirty="0" err="1" smtClean="0"/>
              <a:t>bir</a:t>
            </a:r>
            <a:r>
              <a:rPr lang="en-US" sz="2600" dirty="0" smtClean="0"/>
              <a:t> </a:t>
            </a:r>
            <a:r>
              <a:rPr lang="en-US" sz="2600" dirty="0" err="1" smtClean="0"/>
              <a:t>etik</a:t>
            </a:r>
            <a:r>
              <a:rPr lang="en-US" sz="2600" dirty="0" smtClean="0"/>
              <a:t> </a:t>
            </a:r>
            <a:r>
              <a:rPr lang="en-US" sz="2600" dirty="0" err="1" smtClean="0"/>
              <a:t>kurallarına</a:t>
            </a:r>
            <a:r>
              <a:rPr lang="en-US" sz="2600" dirty="0" smtClean="0"/>
              <a:t> </a:t>
            </a:r>
            <a:r>
              <a:rPr lang="en-US" sz="2600" dirty="0" err="1" smtClean="0"/>
              <a:t>abone</a:t>
            </a:r>
            <a:r>
              <a:rPr lang="en-US" sz="2600" dirty="0" smtClean="0"/>
              <a:t> </a:t>
            </a:r>
            <a:r>
              <a:rPr lang="en-US" sz="2600" dirty="0" err="1" smtClean="0"/>
              <a:t>olmak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Profesyonel</a:t>
            </a:r>
            <a:r>
              <a:rPr lang="en-US" sz="2600" dirty="0" smtClean="0"/>
              <a:t> </a:t>
            </a:r>
            <a:r>
              <a:rPr lang="en-US" sz="2600" dirty="0" err="1" smtClean="0"/>
              <a:t>organizasyonlara</a:t>
            </a:r>
            <a:r>
              <a:rPr lang="en-US" sz="2600" dirty="0" smtClean="0"/>
              <a:t> </a:t>
            </a:r>
            <a:r>
              <a:rPr lang="en-US" sz="2600" dirty="0" err="1" smtClean="0"/>
              <a:t>katılmak</a:t>
            </a:r>
            <a:r>
              <a:rPr lang="en-US" sz="2600" dirty="0" smtClean="0"/>
              <a:t> ve </a:t>
            </a:r>
            <a:r>
              <a:rPr lang="en-US" sz="2600" dirty="0" err="1" smtClean="0"/>
              <a:t>katılmak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Uygun</a:t>
            </a:r>
            <a:r>
              <a:rPr lang="en-US" sz="2600" dirty="0" smtClean="0"/>
              <a:t> </a:t>
            </a:r>
            <a:r>
              <a:rPr lang="en-US" sz="2600" dirty="0" err="1" smtClean="0"/>
              <a:t>sertifikaları</a:t>
            </a:r>
            <a:r>
              <a:rPr lang="en-US" sz="2600" dirty="0" smtClean="0"/>
              <a:t> </a:t>
            </a:r>
            <a:r>
              <a:rPr lang="en-US" sz="2600" dirty="0" err="1" smtClean="0"/>
              <a:t>almak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Mevcut</a:t>
            </a:r>
            <a:r>
              <a:rPr lang="en-US" sz="2600" dirty="0" smtClean="0"/>
              <a:t> </a:t>
            </a:r>
            <a:r>
              <a:rPr lang="en-US" sz="2600" dirty="0" err="1" smtClean="0"/>
              <a:t>olduğunda</a:t>
            </a:r>
            <a:r>
              <a:rPr lang="en-US" sz="2600" dirty="0" smtClean="0"/>
              <a:t> </a:t>
            </a:r>
            <a:r>
              <a:rPr lang="en-US" sz="2600" dirty="0" err="1" smtClean="0"/>
              <a:t>devlet</a:t>
            </a:r>
            <a:r>
              <a:rPr lang="en-US" sz="2600" dirty="0" smtClean="0"/>
              <a:t> </a:t>
            </a:r>
            <a:r>
              <a:rPr lang="en-US" sz="2600" dirty="0" err="1" smtClean="0"/>
              <a:t>lisansını</a:t>
            </a:r>
            <a:r>
              <a:rPr lang="en-US" sz="2600" dirty="0" smtClean="0"/>
              <a:t> </a:t>
            </a:r>
            <a:r>
              <a:rPr lang="en-US" sz="2600" dirty="0" err="1" smtClean="0"/>
              <a:t>desteklemek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88122"/>
            <a:ext cx="8026400" cy="732508"/>
          </a:xfrm>
        </p:spPr>
        <p:txBody>
          <a:bodyPr/>
          <a:lstStyle/>
          <a:p>
            <a:r>
              <a:rPr lang="en-US" sz="2800" dirty="0"/>
              <a:t>Improving IT Workers’ Reputation for </a:t>
            </a:r>
            <a:r>
              <a:rPr lang="en-US" sz="2800" dirty="0" smtClean="0"/>
              <a:t>Professionalism</a:t>
            </a:r>
            <a:r>
              <a:rPr lang="tr-TR" sz="2800" dirty="0" smtClean="0"/>
              <a:t/>
            </a:r>
            <a:br>
              <a:rPr lang="tr-TR" sz="2800" dirty="0" smtClean="0"/>
            </a:br>
            <a:r>
              <a:rPr lang="tr-TR" sz="2800" dirty="0" smtClean="0"/>
              <a:t>BT Çalışanlarının Profesyonellik İtibarını Geliştirme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10280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4047262"/>
          </a:xfrm>
        </p:spPr>
        <p:txBody>
          <a:bodyPr/>
          <a:lstStyle/>
          <a:p>
            <a:r>
              <a:rPr lang="en-US" sz="2800" dirty="0" err="1" smtClean="0"/>
              <a:t>Mesleki</a:t>
            </a:r>
            <a:r>
              <a:rPr lang="en-US" sz="2800" dirty="0" smtClean="0"/>
              <a:t> </a:t>
            </a:r>
            <a:r>
              <a:rPr lang="en-US" sz="2800" dirty="0" err="1" smtClean="0"/>
              <a:t>etik</a:t>
            </a:r>
            <a:r>
              <a:rPr lang="en-US" sz="2800" dirty="0" smtClean="0"/>
              <a:t> </a:t>
            </a:r>
            <a:r>
              <a:rPr lang="en-US" sz="2800" dirty="0" err="1" smtClean="0"/>
              <a:t>kurallar</a:t>
            </a:r>
            <a:r>
              <a:rPr lang="en-US" sz="2800" dirty="0" smtClean="0"/>
              <a:t>: </a:t>
            </a:r>
            <a:endParaRPr lang="tr-TR" sz="2800" dirty="0" smtClean="0"/>
          </a:p>
          <a:p>
            <a:pPr lvl="1"/>
            <a:r>
              <a:rPr lang="en-US" sz="2600" dirty="0" err="1" smtClean="0"/>
              <a:t>Belirli</a:t>
            </a:r>
            <a:r>
              <a:rPr lang="en-US" sz="2600" dirty="0" smtClean="0"/>
              <a:t> </a:t>
            </a:r>
            <a:r>
              <a:rPr lang="en-US" sz="2600" dirty="0" err="1" smtClean="0"/>
              <a:t>bir</a:t>
            </a:r>
            <a:r>
              <a:rPr lang="en-US" sz="2600" dirty="0" smtClean="0"/>
              <a:t> </a:t>
            </a:r>
            <a:r>
              <a:rPr lang="en-US" sz="2600" dirty="0" err="1" smtClean="0"/>
              <a:t>meslek</a:t>
            </a:r>
            <a:r>
              <a:rPr lang="en-US" sz="2600" dirty="0" smtClean="0"/>
              <a:t> </a:t>
            </a:r>
            <a:r>
              <a:rPr lang="en-US" sz="2600" dirty="0" err="1" smtClean="0"/>
              <a:t>grubunun</a:t>
            </a:r>
            <a:r>
              <a:rPr lang="en-US" sz="2600" dirty="0" smtClean="0"/>
              <a:t> </a:t>
            </a:r>
            <a:r>
              <a:rPr lang="en-US" sz="2600" dirty="0" err="1" smtClean="0"/>
              <a:t>çalışması</a:t>
            </a:r>
            <a:r>
              <a:rPr lang="en-US" sz="2600" dirty="0" smtClean="0"/>
              <a:t> </a:t>
            </a:r>
            <a:r>
              <a:rPr lang="en-US" sz="2600" dirty="0" err="1" smtClean="0"/>
              <a:t>için</a:t>
            </a:r>
            <a:r>
              <a:rPr lang="en-US" sz="2600" dirty="0" smtClean="0"/>
              <a:t> </a:t>
            </a:r>
            <a:r>
              <a:rPr lang="en-US" sz="2600" dirty="0" err="1" smtClean="0"/>
              <a:t>gerekli</a:t>
            </a:r>
            <a:r>
              <a:rPr lang="en-US" sz="2600" dirty="0" smtClean="0"/>
              <a:t> </a:t>
            </a:r>
            <a:r>
              <a:rPr lang="en-US" sz="2600" dirty="0" err="1" smtClean="0"/>
              <a:t>olan</a:t>
            </a:r>
            <a:r>
              <a:rPr lang="en-US" sz="2600" dirty="0" smtClean="0"/>
              <a:t> </a:t>
            </a:r>
            <a:r>
              <a:rPr lang="en-US" sz="2600" dirty="0" err="1" smtClean="0"/>
              <a:t>ilkelerin</a:t>
            </a:r>
            <a:r>
              <a:rPr lang="en-US" sz="2600" dirty="0" smtClean="0"/>
              <a:t> ve </a:t>
            </a:r>
            <a:r>
              <a:rPr lang="en-US" sz="2600" dirty="0" err="1" smtClean="0"/>
              <a:t>temel</a:t>
            </a:r>
            <a:r>
              <a:rPr lang="en-US" sz="2600" dirty="0" smtClean="0"/>
              <a:t> </a:t>
            </a:r>
            <a:r>
              <a:rPr lang="en-US" sz="2600" dirty="0" err="1" smtClean="0"/>
              <a:t>değerlerin</a:t>
            </a:r>
            <a:r>
              <a:rPr lang="en-US" sz="2600" dirty="0" smtClean="0"/>
              <a:t> </a:t>
            </a:r>
            <a:r>
              <a:rPr lang="en-US" sz="2600" dirty="0" err="1" smtClean="0"/>
              <a:t>bir</a:t>
            </a:r>
            <a:r>
              <a:rPr lang="en-US" sz="2600" dirty="0" smtClean="0"/>
              <a:t> </a:t>
            </a:r>
            <a:r>
              <a:rPr lang="en-US" sz="2600" dirty="0" err="1" smtClean="0"/>
              <a:t>beyanı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r>
              <a:rPr lang="en-US" sz="2800" dirty="0" err="1" smtClean="0"/>
              <a:t>Mesleki</a:t>
            </a:r>
            <a:r>
              <a:rPr lang="en-US" sz="2800" dirty="0" smtClean="0"/>
              <a:t> </a:t>
            </a:r>
            <a:r>
              <a:rPr lang="en-US" sz="2800" dirty="0" err="1" smtClean="0"/>
              <a:t>etik</a:t>
            </a:r>
            <a:r>
              <a:rPr lang="en-US" sz="2800" dirty="0" smtClean="0"/>
              <a:t> </a:t>
            </a:r>
            <a:r>
              <a:rPr lang="en-US" sz="2800" dirty="0" err="1" smtClean="0"/>
              <a:t>kuralları</a:t>
            </a:r>
            <a:r>
              <a:rPr lang="en-US" sz="2800" dirty="0" smtClean="0"/>
              <a:t>, </a:t>
            </a:r>
            <a:r>
              <a:rPr lang="en-US" sz="2800" dirty="0" err="1" smtClean="0"/>
              <a:t>birey</a:t>
            </a:r>
            <a:r>
              <a:rPr lang="en-US" sz="2800" dirty="0" smtClean="0"/>
              <a:t>, </a:t>
            </a:r>
            <a:r>
              <a:rPr lang="en-US" sz="2800" dirty="0" err="1" smtClean="0"/>
              <a:t>meslek</a:t>
            </a:r>
            <a:r>
              <a:rPr lang="en-US" sz="2800" dirty="0" smtClean="0"/>
              <a:t> ve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bütün</a:t>
            </a:r>
            <a:r>
              <a:rPr lang="en-US" sz="2800" dirty="0" smtClean="0"/>
              <a:t> </a:t>
            </a:r>
            <a:r>
              <a:rPr lang="en-US" sz="2800" dirty="0" err="1" smtClean="0"/>
              <a:t>olarak</a:t>
            </a:r>
            <a:r>
              <a:rPr lang="en-US" sz="2800" dirty="0" smtClean="0"/>
              <a:t> </a:t>
            </a:r>
            <a:r>
              <a:rPr lang="en-US" sz="2800" dirty="0" err="1" smtClean="0"/>
              <a:t>toplum</a:t>
            </a:r>
            <a:r>
              <a:rPr lang="en-US" sz="2800" dirty="0" smtClean="0"/>
              <a:t> </a:t>
            </a:r>
            <a:r>
              <a:rPr lang="en-US" sz="2800" dirty="0" err="1" smtClean="0"/>
              <a:t>için</a:t>
            </a:r>
            <a:r>
              <a:rPr lang="en-US" sz="2800" dirty="0" smtClean="0"/>
              <a:t> </a:t>
            </a:r>
            <a:r>
              <a:rPr lang="en-US" sz="2800" dirty="0" err="1" smtClean="0"/>
              <a:t>faydalar</a:t>
            </a:r>
            <a:r>
              <a:rPr lang="en-US" sz="2800" dirty="0" smtClean="0"/>
              <a:t> </a:t>
            </a:r>
            <a:r>
              <a:rPr lang="en-US" sz="2800" dirty="0" err="1" smtClean="0"/>
              <a:t>sağlar</a:t>
            </a:r>
            <a:r>
              <a:rPr lang="en-US" sz="2800" dirty="0" smtClean="0"/>
              <a:t>: </a:t>
            </a:r>
            <a:endParaRPr lang="tr-TR" sz="2800" dirty="0" smtClean="0"/>
          </a:p>
          <a:p>
            <a:pPr lvl="1"/>
            <a:r>
              <a:rPr lang="en-US" sz="2600" dirty="0" err="1" smtClean="0"/>
              <a:t>Etik</a:t>
            </a:r>
            <a:r>
              <a:rPr lang="en-US" sz="2600" dirty="0" smtClean="0"/>
              <a:t> </a:t>
            </a:r>
            <a:r>
              <a:rPr lang="en-US" sz="2600" dirty="0" err="1" smtClean="0"/>
              <a:t>karar</a:t>
            </a:r>
            <a:r>
              <a:rPr lang="en-US" sz="2600" dirty="0" smtClean="0"/>
              <a:t> </a:t>
            </a:r>
            <a:r>
              <a:rPr lang="en-US" sz="2600" dirty="0" err="1" smtClean="0"/>
              <a:t>verme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Yüksek</a:t>
            </a:r>
            <a:r>
              <a:rPr lang="en-US" sz="2600" dirty="0" smtClean="0"/>
              <a:t> </a:t>
            </a:r>
            <a:r>
              <a:rPr lang="en-US" sz="2600" dirty="0" err="1" smtClean="0"/>
              <a:t>uygulama</a:t>
            </a:r>
            <a:r>
              <a:rPr lang="en-US" sz="2600" dirty="0" smtClean="0"/>
              <a:t> </a:t>
            </a:r>
            <a:r>
              <a:rPr lang="en-US" sz="2600" dirty="0" err="1" smtClean="0"/>
              <a:t>standartları</a:t>
            </a:r>
            <a:r>
              <a:rPr lang="en-US" sz="2600" dirty="0" smtClean="0"/>
              <a:t> ve </a:t>
            </a:r>
            <a:r>
              <a:rPr lang="en-US" sz="2600" dirty="0" err="1" smtClean="0"/>
              <a:t>etik</a:t>
            </a:r>
            <a:r>
              <a:rPr lang="en-US" sz="2600" dirty="0" smtClean="0"/>
              <a:t> </a:t>
            </a:r>
            <a:r>
              <a:rPr lang="en-US" sz="2600" dirty="0" err="1" smtClean="0"/>
              <a:t>davranış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Genel</a:t>
            </a:r>
            <a:r>
              <a:rPr lang="en-US" sz="2600" dirty="0" smtClean="0"/>
              <a:t> </a:t>
            </a:r>
            <a:r>
              <a:rPr lang="en-US" sz="2600" dirty="0" err="1" smtClean="0"/>
              <a:t>halktan</a:t>
            </a:r>
            <a:r>
              <a:rPr lang="en-US" sz="2600" dirty="0" smtClean="0"/>
              <a:t> </a:t>
            </a:r>
            <a:r>
              <a:rPr lang="en-US" sz="2600" dirty="0" err="1" smtClean="0"/>
              <a:t>güven</a:t>
            </a:r>
            <a:r>
              <a:rPr lang="en-US" sz="2600" dirty="0" smtClean="0"/>
              <a:t> ve </a:t>
            </a:r>
            <a:r>
              <a:rPr lang="en-US" sz="2600" dirty="0" err="1" smtClean="0"/>
              <a:t>saygı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Değerlendirme</a:t>
            </a:r>
            <a:r>
              <a:rPr lang="en-US" sz="2600" dirty="0" smtClean="0"/>
              <a:t> </a:t>
            </a:r>
            <a:r>
              <a:rPr lang="en-US" sz="2600" dirty="0" err="1" smtClean="0"/>
              <a:t>kriterleri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158"/>
            <a:ext cx="8026400" cy="1046440"/>
          </a:xfrm>
        </p:spPr>
        <p:txBody>
          <a:bodyPr/>
          <a:lstStyle/>
          <a:p>
            <a:r>
              <a:rPr lang="en-US" sz="4000" dirty="0"/>
              <a:t>Professional Code of </a:t>
            </a:r>
            <a:r>
              <a:rPr lang="en-US" sz="4000" dirty="0" smtClean="0"/>
              <a:t>Ethics</a:t>
            </a:r>
            <a:r>
              <a:rPr lang="tr-TR" sz="4000" dirty="0" smtClean="0"/>
              <a:t/>
            </a:r>
            <a:br>
              <a:rPr lang="tr-TR" sz="4000" dirty="0" smtClean="0"/>
            </a:br>
            <a:r>
              <a:rPr lang="tr-TR" sz="4000" dirty="0" smtClean="0"/>
              <a:t>Mesleki Etik Kurallar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3576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999556"/>
          </a:xfrm>
        </p:spPr>
        <p:txBody>
          <a:bodyPr/>
          <a:lstStyle/>
          <a:p>
            <a:r>
              <a:rPr lang="en-US" altLang="en-US" sz="2800" dirty="0" smtClean="0"/>
              <a:t>BT </a:t>
            </a:r>
            <a:r>
              <a:rPr lang="en-US" altLang="en-US" sz="2800" dirty="0" err="1" smtClean="0"/>
              <a:t>çalışanlarının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başkalarıyla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ağ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kurmasına</a:t>
            </a:r>
            <a:r>
              <a:rPr lang="en-US" altLang="en-US" sz="2800" dirty="0" smtClean="0"/>
              <a:t>, </a:t>
            </a:r>
            <a:r>
              <a:rPr lang="en-US" altLang="en-US" sz="2800" dirty="0" err="1" smtClean="0"/>
              <a:t>yeni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fikirler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aramasına</a:t>
            </a:r>
            <a:r>
              <a:rPr lang="en-US" altLang="en-US" sz="2800" dirty="0" smtClean="0"/>
              <a:t> ve </a:t>
            </a:r>
            <a:r>
              <a:rPr lang="en-US" altLang="en-US" sz="2800" dirty="0" err="1" smtClean="0"/>
              <a:t>kişisel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becerilerini</a:t>
            </a:r>
            <a:r>
              <a:rPr lang="en-US" altLang="en-US" sz="2800" dirty="0" smtClean="0"/>
              <a:t> ve </a:t>
            </a:r>
            <a:r>
              <a:rPr lang="en-US" altLang="en-US" sz="2800" dirty="0" err="1" smtClean="0"/>
              <a:t>uzmanlıklarını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geliştirmesine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yardımcı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olun</a:t>
            </a:r>
            <a:r>
              <a:rPr lang="en-US" altLang="en-US" sz="2800" dirty="0" smtClean="0"/>
              <a:t> </a:t>
            </a:r>
            <a:endParaRPr lang="tr-TR" altLang="en-US" sz="2800" dirty="0" smtClean="0"/>
          </a:p>
          <a:p>
            <a:r>
              <a:rPr lang="en-US" altLang="en-US" sz="2800" dirty="0" smtClean="0"/>
              <a:t>BT </a:t>
            </a:r>
            <a:r>
              <a:rPr lang="en-US" altLang="en-US" sz="2800" dirty="0" err="1" smtClean="0"/>
              <a:t>ile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ilgili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önde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gelen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kuruluşlar</a:t>
            </a:r>
            <a:r>
              <a:rPr lang="en-US" altLang="en-US" sz="2800" dirty="0" smtClean="0"/>
              <a:t>: </a:t>
            </a:r>
            <a:endParaRPr lang="tr-TR" altLang="en-US" sz="2800" dirty="0" smtClean="0"/>
          </a:p>
          <a:p>
            <a:pPr lvl="1"/>
            <a:r>
              <a:rPr lang="en-US" altLang="en-US" sz="2600" dirty="0" err="1" smtClean="0"/>
              <a:t>Bilgisayar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Makineleri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Birliği</a:t>
            </a:r>
            <a:r>
              <a:rPr lang="en-US" altLang="en-US" sz="2600" dirty="0" smtClean="0"/>
              <a:t> (ACM) </a:t>
            </a:r>
            <a:endParaRPr lang="tr-TR" altLang="en-US" sz="2600" dirty="0" smtClean="0"/>
          </a:p>
          <a:p>
            <a:pPr lvl="1"/>
            <a:r>
              <a:rPr lang="en-US" altLang="en-US" sz="2600" dirty="0" err="1" smtClean="0"/>
              <a:t>Elektrik</a:t>
            </a:r>
            <a:r>
              <a:rPr lang="en-US" altLang="en-US" sz="2600" dirty="0" smtClean="0"/>
              <a:t> ve </a:t>
            </a:r>
            <a:r>
              <a:rPr lang="en-US" altLang="en-US" sz="2600" dirty="0" err="1" smtClean="0"/>
              <a:t>Elektronik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Mühendisleri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Enstitüsü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Bilgisayar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Topluluğu</a:t>
            </a:r>
            <a:r>
              <a:rPr lang="en-US" altLang="en-US" sz="2600" dirty="0" smtClean="0"/>
              <a:t> (IEEE-CS) </a:t>
            </a:r>
            <a:endParaRPr lang="tr-TR" altLang="en-US" sz="2600" dirty="0" smtClean="0"/>
          </a:p>
          <a:p>
            <a:pPr lvl="1"/>
            <a:r>
              <a:rPr lang="en-US" altLang="en-US" sz="2600" dirty="0" err="1" smtClean="0"/>
              <a:t>Bilgi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Teknolojileri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Profesyonelleri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Derneği</a:t>
            </a:r>
            <a:r>
              <a:rPr lang="en-US" altLang="en-US" sz="2600" dirty="0" smtClean="0"/>
              <a:t> (AITP) </a:t>
            </a:r>
            <a:endParaRPr lang="tr-TR" altLang="en-US" sz="2600" dirty="0" smtClean="0"/>
          </a:p>
          <a:p>
            <a:pPr lvl="1"/>
            <a:r>
              <a:rPr lang="en-US" altLang="en-US" sz="2600" dirty="0" err="1" smtClean="0"/>
              <a:t>SysAdmin</a:t>
            </a:r>
            <a:r>
              <a:rPr lang="en-US" altLang="en-US" sz="2600" dirty="0" smtClean="0"/>
              <a:t>, </a:t>
            </a:r>
            <a:r>
              <a:rPr lang="en-US" altLang="en-US" sz="2600" dirty="0" err="1" smtClean="0"/>
              <a:t>Denetim</a:t>
            </a:r>
            <a:r>
              <a:rPr lang="en-US" altLang="en-US" sz="2600" dirty="0" smtClean="0"/>
              <a:t>, </a:t>
            </a:r>
            <a:r>
              <a:rPr lang="en-US" altLang="en-US" sz="2600" dirty="0" err="1" smtClean="0"/>
              <a:t>Ağ</a:t>
            </a:r>
            <a:r>
              <a:rPr lang="en-US" altLang="en-US" sz="2600" dirty="0" smtClean="0"/>
              <a:t>, </a:t>
            </a:r>
            <a:r>
              <a:rPr lang="en-US" altLang="en-US" sz="2600" dirty="0" err="1" smtClean="0"/>
              <a:t>Güvenlik</a:t>
            </a:r>
            <a:r>
              <a:rPr lang="en-US" altLang="en-US" sz="2600" dirty="0" smtClean="0"/>
              <a:t> (SANS) </a:t>
            </a:r>
            <a:r>
              <a:rPr lang="en-US" altLang="en-US" sz="2600" dirty="0" err="1" smtClean="0"/>
              <a:t>Enstitüsü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Professional </a:t>
            </a:r>
            <a:r>
              <a:rPr lang="en-US" sz="4000" dirty="0" smtClean="0"/>
              <a:t>Organizations</a:t>
            </a:r>
            <a:r>
              <a:rPr lang="tr-TR" sz="4000" dirty="0" smtClean="0"/>
              <a:t/>
            </a:r>
            <a:br>
              <a:rPr lang="tr-TR" sz="4000" dirty="0" smtClean="0"/>
            </a:br>
            <a:r>
              <a:rPr lang="tr-TR" sz="4000" dirty="0" smtClean="0"/>
              <a:t>Meslek Örgütleri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783482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4555093"/>
          </a:xfrm>
        </p:spPr>
        <p:txBody>
          <a:bodyPr/>
          <a:lstStyle/>
          <a:p>
            <a:r>
              <a:rPr lang="en-CA" altLang="en-US" sz="2800" dirty="0" err="1" smtClean="0"/>
              <a:t>Sertifikasyon</a:t>
            </a:r>
            <a:r>
              <a:rPr lang="en-CA" altLang="en-US" sz="2800" dirty="0" smtClean="0"/>
              <a:t>: </a:t>
            </a:r>
            <a:r>
              <a:rPr lang="en-CA" altLang="en-US" sz="2800" dirty="0" err="1" smtClean="0"/>
              <a:t>Sertifika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veren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kuruluşun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görüşüne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göre</a:t>
            </a:r>
            <a:r>
              <a:rPr lang="en-CA" altLang="en-US" sz="2800" dirty="0" smtClean="0"/>
              <a:t>, </a:t>
            </a:r>
            <a:r>
              <a:rPr lang="en-CA" altLang="en-US" sz="2800" dirty="0" err="1" smtClean="0"/>
              <a:t>bir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profesyonelin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belirli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bir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beceri</a:t>
            </a:r>
            <a:r>
              <a:rPr lang="en-CA" altLang="en-US" sz="2800" dirty="0" smtClean="0"/>
              <a:t>, </a:t>
            </a:r>
            <a:r>
              <a:rPr lang="en-CA" altLang="en-US" sz="2800" dirty="0" err="1" smtClean="0"/>
              <a:t>bilgi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veya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yetenek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setine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sahip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olduğunun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tanınması</a:t>
            </a:r>
            <a:r>
              <a:rPr lang="en-CA" altLang="en-US" sz="2800" dirty="0" smtClean="0"/>
              <a:t> </a:t>
            </a:r>
            <a:endParaRPr lang="tr-TR" altLang="en-US" sz="2800" dirty="0" smtClean="0"/>
          </a:p>
          <a:p>
            <a:r>
              <a:rPr lang="en-CA" altLang="en-US" sz="2800" dirty="0" err="1" smtClean="0"/>
              <a:t>Bir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bireyin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ön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koşul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eğitim</a:t>
            </a:r>
            <a:r>
              <a:rPr lang="en-CA" altLang="en-US" sz="2800" dirty="0" smtClean="0"/>
              <a:t> ve </a:t>
            </a:r>
            <a:r>
              <a:rPr lang="en-CA" altLang="en-US" sz="2800" dirty="0" err="1" smtClean="0"/>
              <a:t>deneyime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sahip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olmasını</a:t>
            </a:r>
            <a:r>
              <a:rPr lang="en-CA" altLang="en-US" sz="2800" dirty="0" smtClean="0"/>
              <a:t> ve </a:t>
            </a:r>
            <a:r>
              <a:rPr lang="en-CA" altLang="en-US" sz="2800" dirty="0" err="1" smtClean="0"/>
              <a:t>bir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sınavı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geçmesini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zorunlu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kılar</a:t>
            </a:r>
            <a:r>
              <a:rPr lang="en-CA" altLang="en-US" sz="2800" dirty="0" smtClean="0"/>
              <a:t> </a:t>
            </a:r>
            <a:endParaRPr lang="tr-TR" altLang="en-US" sz="2800" dirty="0" smtClean="0"/>
          </a:p>
          <a:p>
            <a:r>
              <a:rPr lang="en-CA" altLang="en-US" sz="2800" dirty="0" err="1" smtClean="0"/>
              <a:t>Endüstri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derneklerinden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alınan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sertifikalar</a:t>
            </a:r>
            <a:r>
              <a:rPr lang="en-CA" altLang="en-US" sz="2800" dirty="0" smtClean="0"/>
              <a:t>, </a:t>
            </a:r>
            <a:r>
              <a:rPr lang="en-CA" altLang="en-US" sz="2800" dirty="0" err="1" smtClean="0"/>
              <a:t>satıcı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sertifikalarından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daha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yüksek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bir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deneyim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seviyesi</a:t>
            </a:r>
            <a:r>
              <a:rPr lang="en-CA" altLang="en-US" sz="2800" dirty="0" smtClean="0"/>
              <a:t> ve </a:t>
            </a:r>
            <a:r>
              <a:rPr lang="en-CA" altLang="en-US" sz="2800" dirty="0" err="1" smtClean="0"/>
              <a:t>daha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geniş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bir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bakış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açısı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gerektirir</a:t>
            </a:r>
            <a:r>
              <a:rPr lang="en-CA" altLang="en-US" sz="2800" dirty="0" smtClean="0"/>
              <a:t> </a:t>
            </a:r>
            <a:endParaRPr lang="tr-TR" altLang="en-US" sz="2800" dirty="0" smtClean="0"/>
          </a:p>
          <a:p>
            <a:r>
              <a:rPr lang="en-CA" altLang="en-US" sz="2800" dirty="0" smtClean="0"/>
              <a:t>BT </a:t>
            </a:r>
            <a:r>
              <a:rPr lang="en-CA" altLang="en-US" sz="2800" dirty="0" err="1" smtClean="0"/>
              <a:t>ile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ilgili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sertifikalar</a:t>
            </a:r>
            <a:r>
              <a:rPr lang="en-CA" altLang="en-US" sz="2800" dirty="0" smtClean="0"/>
              <a:t>, </a:t>
            </a:r>
            <a:r>
              <a:rPr lang="en-CA" altLang="en-US" sz="2800" dirty="0" err="1" smtClean="0"/>
              <a:t>bir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etik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kurallarına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uyma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gerekliliğini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içerebilir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veya</a:t>
            </a:r>
            <a:r>
              <a:rPr lang="en-CA" altLang="en-US" sz="2800" dirty="0" smtClean="0"/>
              <a:t> </a:t>
            </a:r>
            <a:r>
              <a:rPr lang="en-CA" altLang="en-US" sz="2800" dirty="0" err="1" smtClean="0"/>
              <a:t>içermeyebilir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 smtClean="0"/>
              <a:t>Certification</a:t>
            </a:r>
            <a:r>
              <a:rPr lang="tr-TR" sz="4000" dirty="0" smtClean="0"/>
              <a:t>-Sertifikasyon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66191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6725" y="990600"/>
            <a:ext cx="8321675" cy="5593839"/>
          </a:xfrm>
        </p:spPr>
        <p:txBody>
          <a:bodyPr/>
          <a:lstStyle/>
          <a:p>
            <a:pPr marL="171450" lvl="1">
              <a:spcBef>
                <a:spcPts val="1200"/>
              </a:spcBef>
              <a:buClr>
                <a:schemeClr val="accent2"/>
              </a:buClr>
            </a:pPr>
            <a:r>
              <a:rPr lang="tr-TR" sz="2800" dirty="0" smtClean="0"/>
              <a:t>Devlet lisansı: Bir faaliyette bulunma veya bir işletmeyi işletme izni </a:t>
            </a:r>
          </a:p>
          <a:p>
            <a:pPr marL="171450" lvl="1">
              <a:spcBef>
                <a:spcPts val="1200"/>
              </a:spcBef>
              <a:buClr>
                <a:schemeClr val="accent2"/>
              </a:buClr>
            </a:pPr>
            <a:r>
              <a:rPr lang="tr-TR" sz="2800" dirty="0" smtClean="0"/>
              <a:t>BT çalışanlarını lisanslama durumu: </a:t>
            </a:r>
          </a:p>
          <a:p>
            <a:pPr marL="342900" lvl="2">
              <a:spcBef>
                <a:spcPts val="1200"/>
              </a:spcBef>
              <a:buClr>
                <a:schemeClr val="accent2"/>
              </a:buClr>
            </a:pPr>
            <a:r>
              <a:rPr lang="tr-TR" sz="2600" dirty="0" smtClean="0"/>
              <a:t>Bilgi sistemlerini iyileştirme </a:t>
            </a:r>
          </a:p>
          <a:p>
            <a:pPr marL="342900" lvl="2">
              <a:spcBef>
                <a:spcPts val="1200"/>
              </a:spcBef>
              <a:buClr>
                <a:schemeClr val="accent2"/>
              </a:buClr>
            </a:pPr>
            <a:r>
              <a:rPr lang="tr-TR" sz="2600" dirty="0" smtClean="0"/>
              <a:t>BT çalışanlarını mesleğin en yüksek standartlarını takip etmeye ve bir etik kurallarını uygulamaya teşvik edin </a:t>
            </a:r>
          </a:p>
          <a:p>
            <a:pPr marL="171450" lvl="1">
              <a:spcBef>
                <a:spcPts val="1200"/>
              </a:spcBef>
              <a:buClr>
                <a:schemeClr val="accent2"/>
              </a:buClr>
            </a:pPr>
            <a:r>
              <a:rPr lang="tr-TR" sz="2800" dirty="0" smtClean="0"/>
              <a:t>Lisans olmadan: Yüksek bakım için iyi tanımlanmış bir gereklilik yoktur ve mesleki yanlış uygulama kavramı yoktur </a:t>
            </a:r>
          </a:p>
          <a:p>
            <a:pPr marL="171450" lvl="1">
              <a:spcBef>
                <a:spcPts val="1200"/>
              </a:spcBef>
              <a:buClr>
                <a:schemeClr val="accent2"/>
              </a:buClr>
            </a:pPr>
            <a:r>
              <a:rPr lang="tr-TR" sz="2800" dirty="0" smtClean="0"/>
              <a:t>Devlet lisans kurulları, kendi yetki alanlarındaki lisanslama için özel gereksinimler üzerinde yetkiye sahiptir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157"/>
            <a:ext cx="8026400" cy="1046440"/>
          </a:xfrm>
        </p:spPr>
        <p:txBody>
          <a:bodyPr/>
          <a:lstStyle/>
          <a:p>
            <a:r>
              <a:rPr lang="en-US" sz="4000" dirty="0"/>
              <a:t>Licensing of IT </a:t>
            </a:r>
            <a:r>
              <a:rPr lang="en-US" sz="4000" dirty="0" smtClean="0"/>
              <a:t>Professionals</a:t>
            </a:r>
            <a:r>
              <a:rPr lang="tr-TR" sz="4000" dirty="0" smtClean="0"/>
              <a:t/>
            </a:r>
            <a:br>
              <a:rPr lang="tr-TR" sz="4000" dirty="0" smtClean="0"/>
            </a:br>
            <a:r>
              <a:rPr lang="tr-TR" sz="4000" dirty="0" smtClean="0"/>
              <a:t>BT Uzmanlarının Lisanslanması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90830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828800"/>
            <a:ext cx="8415338" cy="4299639"/>
          </a:xfrm>
        </p:spPr>
        <p:txBody>
          <a:bodyPr/>
          <a:lstStyle/>
          <a:p>
            <a:r>
              <a:rPr lang="en-US" sz="2800" dirty="0" smtClean="0"/>
              <a:t>ACM ve IEEE-CS </a:t>
            </a:r>
            <a:r>
              <a:rPr lang="en-US" sz="2800" dirty="0" err="1" smtClean="0"/>
              <a:t>ortak</a:t>
            </a:r>
            <a:r>
              <a:rPr lang="en-US" sz="2800" dirty="0" smtClean="0"/>
              <a:t> </a:t>
            </a:r>
            <a:r>
              <a:rPr lang="en-US" sz="2800" dirty="0" err="1" smtClean="0"/>
              <a:t>komitesi</a:t>
            </a:r>
            <a:r>
              <a:rPr lang="en-US" sz="2800" dirty="0" smtClean="0"/>
              <a:t> İlk </a:t>
            </a:r>
            <a:r>
              <a:rPr lang="en-US" sz="2800" dirty="0" err="1" smtClean="0"/>
              <a:t>öneriler</a:t>
            </a:r>
            <a:r>
              <a:rPr lang="en-US" sz="2800" dirty="0" smtClean="0"/>
              <a:t>: </a:t>
            </a:r>
            <a:endParaRPr lang="tr-TR" sz="2800" dirty="0" smtClean="0"/>
          </a:p>
          <a:p>
            <a:r>
              <a:rPr lang="en-US" sz="2800" dirty="0" err="1" smtClean="0"/>
              <a:t>Etik</a:t>
            </a:r>
            <a:r>
              <a:rPr lang="en-US" sz="2800" dirty="0" smtClean="0"/>
              <a:t> </a:t>
            </a:r>
            <a:r>
              <a:rPr lang="en-US" sz="2800" dirty="0" err="1" smtClean="0"/>
              <a:t>standartları</a:t>
            </a:r>
            <a:r>
              <a:rPr lang="en-US" sz="2800" dirty="0" smtClean="0"/>
              <a:t> </a:t>
            </a:r>
            <a:r>
              <a:rPr lang="en-US" sz="2800" dirty="0" err="1" smtClean="0"/>
              <a:t>tanımlayın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Yazılım</a:t>
            </a:r>
            <a:r>
              <a:rPr lang="en-US" sz="2800" dirty="0" smtClean="0"/>
              <a:t> </a:t>
            </a:r>
            <a:r>
              <a:rPr lang="en-US" sz="2800" dirty="0" err="1" smtClean="0"/>
              <a:t>mühendisliğinde</a:t>
            </a:r>
            <a:r>
              <a:rPr lang="en-US" sz="2800" dirty="0" smtClean="0"/>
              <a:t> </a:t>
            </a:r>
            <a:r>
              <a:rPr lang="en-US" sz="2800" dirty="0" err="1" smtClean="0"/>
              <a:t>gerekli</a:t>
            </a:r>
            <a:r>
              <a:rPr lang="en-US" sz="2800" dirty="0" smtClean="0"/>
              <a:t> </a:t>
            </a:r>
            <a:r>
              <a:rPr lang="en-US" sz="2800" dirty="0" err="1" smtClean="0"/>
              <a:t>bilgi</a:t>
            </a:r>
            <a:r>
              <a:rPr lang="en-US" sz="2800" dirty="0" smtClean="0"/>
              <a:t> </a:t>
            </a:r>
            <a:r>
              <a:rPr lang="en-US" sz="2800" dirty="0" err="1" smtClean="0"/>
              <a:t>birikimini</a:t>
            </a:r>
            <a:r>
              <a:rPr lang="en-US" sz="2800" dirty="0" smtClean="0"/>
              <a:t> ve </a:t>
            </a:r>
            <a:r>
              <a:rPr lang="en-US" sz="2800" dirty="0" err="1" smtClean="0"/>
              <a:t>önerilen</a:t>
            </a:r>
            <a:r>
              <a:rPr lang="en-US" sz="2800" dirty="0" smtClean="0"/>
              <a:t> </a:t>
            </a:r>
            <a:r>
              <a:rPr lang="en-US" sz="2800" dirty="0" err="1" smtClean="0"/>
              <a:t>uygulamaları</a:t>
            </a:r>
            <a:r>
              <a:rPr lang="en-US" sz="2800" dirty="0" smtClean="0"/>
              <a:t> </a:t>
            </a:r>
            <a:r>
              <a:rPr lang="en-US" sz="2800" dirty="0" err="1" smtClean="0"/>
              <a:t>tanımlayın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Bilgi</a:t>
            </a:r>
            <a:r>
              <a:rPr lang="en-US" sz="2800" dirty="0" smtClean="0"/>
              <a:t> </a:t>
            </a:r>
            <a:r>
              <a:rPr lang="en-US" sz="2800" dirty="0" err="1" smtClean="0"/>
              <a:t>birikimi</a:t>
            </a:r>
            <a:r>
              <a:rPr lang="en-US" sz="2800" dirty="0" smtClean="0"/>
              <a:t>: </a:t>
            </a:r>
            <a:r>
              <a:rPr lang="en-US" sz="2800" dirty="0" err="1" smtClean="0"/>
              <a:t>Belirli</a:t>
            </a:r>
            <a:r>
              <a:rPr lang="en-US" sz="2800" dirty="0" smtClean="0"/>
              <a:t>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meslek</a:t>
            </a:r>
            <a:r>
              <a:rPr lang="en-US" sz="2800" dirty="0" smtClean="0"/>
              <a:t> </a:t>
            </a:r>
            <a:r>
              <a:rPr lang="en-US" sz="2800" dirty="0" err="1" smtClean="0"/>
              <a:t>için</a:t>
            </a:r>
            <a:r>
              <a:rPr lang="en-US" sz="2800" dirty="0" smtClean="0"/>
              <a:t> - </a:t>
            </a:r>
            <a:r>
              <a:rPr lang="en-US" sz="2800" dirty="0" err="1" smtClean="0"/>
              <a:t>tüm</a:t>
            </a:r>
            <a:r>
              <a:rPr lang="en-US" sz="2800" dirty="0" smtClean="0"/>
              <a:t> </a:t>
            </a:r>
            <a:r>
              <a:rPr lang="en-US" sz="2800" dirty="0" err="1" smtClean="0"/>
              <a:t>lisanslı</a:t>
            </a:r>
            <a:r>
              <a:rPr lang="en-US" sz="2800" dirty="0" smtClean="0"/>
              <a:t> </a:t>
            </a:r>
            <a:r>
              <a:rPr lang="en-US" sz="2800" dirty="0" err="1" smtClean="0"/>
              <a:t>profesyonellerin</a:t>
            </a:r>
            <a:r>
              <a:rPr lang="en-US" sz="2800" dirty="0" smtClean="0"/>
              <a:t> </a:t>
            </a:r>
            <a:r>
              <a:rPr lang="en-US" sz="2800" dirty="0" err="1" smtClean="0"/>
              <a:t>sahip</a:t>
            </a:r>
            <a:r>
              <a:rPr lang="en-US" sz="2800" dirty="0" smtClean="0"/>
              <a:t> </a:t>
            </a:r>
            <a:r>
              <a:rPr lang="en-US" sz="2800" dirty="0" err="1" smtClean="0"/>
              <a:t>olması</a:t>
            </a:r>
            <a:r>
              <a:rPr lang="en-US" sz="2800" dirty="0" smtClean="0"/>
              <a:t> </a:t>
            </a:r>
            <a:r>
              <a:rPr lang="en-US" sz="2800" dirty="0" err="1" smtClean="0"/>
              <a:t>gereken</a:t>
            </a:r>
            <a:r>
              <a:rPr lang="en-US" sz="2800" dirty="0" smtClean="0"/>
              <a:t> </a:t>
            </a:r>
            <a:r>
              <a:rPr lang="en-US" sz="2800" dirty="0" err="1" smtClean="0"/>
              <a:t>üzerinde</a:t>
            </a:r>
            <a:r>
              <a:rPr lang="en-US" sz="2800" dirty="0" smtClean="0"/>
              <a:t> </a:t>
            </a:r>
            <a:r>
              <a:rPr lang="en-US" sz="2800" dirty="0" err="1" smtClean="0"/>
              <a:t>anlaşmaya</a:t>
            </a:r>
            <a:r>
              <a:rPr lang="en-US" sz="2800" dirty="0" smtClean="0"/>
              <a:t> </a:t>
            </a:r>
            <a:r>
              <a:rPr lang="en-US" sz="2800" dirty="0" err="1" smtClean="0"/>
              <a:t>varılmış</a:t>
            </a:r>
            <a:r>
              <a:rPr lang="en-US" sz="2800" dirty="0" smtClean="0"/>
              <a:t>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dizi</a:t>
            </a:r>
            <a:r>
              <a:rPr lang="en-US" sz="2800" dirty="0" smtClean="0"/>
              <a:t> </a:t>
            </a:r>
            <a:r>
              <a:rPr lang="en-US" sz="2800" dirty="0" err="1" smtClean="0"/>
              <a:t>beceri</a:t>
            </a:r>
            <a:r>
              <a:rPr lang="en-US" sz="2800" dirty="0" smtClean="0"/>
              <a:t> ve </a:t>
            </a:r>
            <a:r>
              <a:rPr lang="en-US" sz="2800" dirty="0" err="1" smtClean="0"/>
              <a:t>yeteneği</a:t>
            </a:r>
            <a:r>
              <a:rPr lang="en-US" sz="2800" dirty="0" smtClean="0"/>
              <a:t> </a:t>
            </a:r>
            <a:r>
              <a:rPr lang="en-US" sz="2800" dirty="0" err="1" smtClean="0"/>
              <a:t>ana</a:t>
            </a:r>
            <a:r>
              <a:rPr lang="en-US" sz="2800" dirty="0" smtClean="0"/>
              <a:t> </a:t>
            </a:r>
            <a:r>
              <a:rPr lang="en-US" sz="2800" dirty="0" err="1" smtClean="0"/>
              <a:t>hatlarıyla</a:t>
            </a:r>
            <a:r>
              <a:rPr lang="en-US" sz="2800" dirty="0" smtClean="0"/>
              <a:t> </a:t>
            </a:r>
            <a:r>
              <a:rPr lang="en-US" sz="2800" dirty="0" err="1" smtClean="0"/>
              <a:t>belirtir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Bilgi</a:t>
            </a:r>
            <a:r>
              <a:rPr lang="en-US" sz="2800" dirty="0" smtClean="0"/>
              <a:t> </a:t>
            </a:r>
            <a:r>
              <a:rPr lang="en-US" sz="2800" dirty="0" err="1" smtClean="0"/>
              <a:t>edinmek</a:t>
            </a:r>
            <a:r>
              <a:rPr lang="en-US" sz="2800" dirty="0" smtClean="0"/>
              <a:t> </a:t>
            </a:r>
            <a:r>
              <a:rPr lang="en-US" sz="2800" dirty="0" err="1" smtClean="0"/>
              <a:t>için</a:t>
            </a:r>
            <a:r>
              <a:rPr lang="en-US" sz="2800" dirty="0" smtClean="0"/>
              <a:t> </a:t>
            </a:r>
            <a:r>
              <a:rPr lang="en-US" sz="2800" dirty="0" err="1" smtClean="0"/>
              <a:t>uygun</a:t>
            </a:r>
            <a:r>
              <a:rPr lang="en-US" sz="2800" dirty="0" smtClean="0"/>
              <a:t> </a:t>
            </a:r>
            <a:r>
              <a:rPr lang="en-US" sz="2800" dirty="0" err="1" smtClean="0"/>
              <a:t>müfredatı</a:t>
            </a:r>
            <a:r>
              <a:rPr lang="en-US" sz="2800" dirty="0" smtClean="0"/>
              <a:t> </a:t>
            </a:r>
            <a:r>
              <a:rPr lang="en-US" sz="2800" dirty="0" err="1" smtClean="0"/>
              <a:t>tanımlayın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50777"/>
            <a:ext cx="8026400" cy="1678023"/>
          </a:xfrm>
        </p:spPr>
        <p:txBody>
          <a:bodyPr/>
          <a:lstStyle/>
          <a:p>
            <a:r>
              <a:rPr lang="en-US" sz="3200" dirty="0" smtClean="0"/>
              <a:t>Joint Steering Committee for the Establishment of Software Engineering as a Profession</a:t>
            </a:r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dirty="0" smtClean="0"/>
              <a:t>Yazılım Mühendisliğinin Bir Meslek Olarak Kurulması Ortak Yönlendirme Komitesi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390494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371600"/>
            <a:ext cx="8415338" cy="4964436"/>
          </a:xfrm>
        </p:spPr>
        <p:txBody>
          <a:bodyPr/>
          <a:lstStyle/>
          <a:p>
            <a:r>
              <a:rPr lang="en-US" sz="2800" dirty="0" err="1" smtClean="0"/>
              <a:t>İhmal</a:t>
            </a:r>
            <a:r>
              <a:rPr lang="en-US" sz="2800" dirty="0" smtClean="0"/>
              <a:t>: </a:t>
            </a:r>
            <a:r>
              <a:rPr lang="en-US" sz="2800" dirty="0" err="1" smtClean="0"/>
              <a:t>Makul</a:t>
            </a:r>
            <a:r>
              <a:rPr lang="en-US" sz="2800" dirty="0" smtClean="0"/>
              <a:t>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kişinin</a:t>
            </a:r>
            <a:r>
              <a:rPr lang="en-US" sz="2800" dirty="0" smtClean="0"/>
              <a:t> </a:t>
            </a:r>
            <a:r>
              <a:rPr lang="en-US" sz="2800" dirty="0" err="1" smtClean="0"/>
              <a:t>yapacağı</a:t>
            </a:r>
            <a:r>
              <a:rPr lang="en-US" sz="2800" dirty="0" smtClean="0"/>
              <a:t>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şeyi</a:t>
            </a:r>
            <a:r>
              <a:rPr lang="en-US" sz="2800" dirty="0" smtClean="0"/>
              <a:t> </a:t>
            </a:r>
            <a:r>
              <a:rPr lang="en-US" sz="2800" dirty="0" err="1" smtClean="0"/>
              <a:t>yapmamak</a:t>
            </a:r>
            <a:r>
              <a:rPr lang="en-US" sz="2800" dirty="0" smtClean="0"/>
              <a:t> </a:t>
            </a:r>
            <a:r>
              <a:rPr lang="en-US" sz="2800" dirty="0" err="1" smtClean="0"/>
              <a:t>veya</a:t>
            </a:r>
            <a:r>
              <a:rPr lang="en-US" sz="2800" dirty="0" smtClean="0"/>
              <a:t> </a:t>
            </a:r>
            <a:r>
              <a:rPr lang="en-US" sz="2800" dirty="0" err="1" smtClean="0"/>
              <a:t>makul</a:t>
            </a:r>
            <a:r>
              <a:rPr lang="en-US" sz="2800" dirty="0" smtClean="0"/>
              <a:t>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kişinin</a:t>
            </a:r>
            <a:r>
              <a:rPr lang="en-US" sz="2800" dirty="0" smtClean="0"/>
              <a:t> </a:t>
            </a:r>
            <a:r>
              <a:rPr lang="en-US" sz="2800" dirty="0" err="1" smtClean="0"/>
              <a:t>yapmayacağı</a:t>
            </a:r>
            <a:r>
              <a:rPr lang="en-US" sz="2800" dirty="0" smtClean="0"/>
              <a:t>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şeyi</a:t>
            </a:r>
            <a:r>
              <a:rPr lang="en-US" sz="2800" dirty="0" smtClean="0"/>
              <a:t> </a:t>
            </a:r>
            <a:r>
              <a:rPr lang="en-US" sz="2800" dirty="0" err="1" smtClean="0"/>
              <a:t>yapmak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Özen</a:t>
            </a:r>
            <a:r>
              <a:rPr lang="en-US" sz="2800" dirty="0" smtClean="0"/>
              <a:t> </a:t>
            </a:r>
            <a:r>
              <a:rPr lang="en-US" sz="2800" dirty="0" err="1" smtClean="0"/>
              <a:t>yükümlülüğü</a:t>
            </a:r>
            <a:r>
              <a:rPr lang="en-US" sz="2800" dirty="0" smtClean="0"/>
              <a:t>: </a:t>
            </a:r>
            <a:r>
              <a:rPr lang="en-US" sz="2800" dirty="0" err="1" smtClean="0"/>
              <a:t>İnsanları</a:t>
            </a:r>
            <a:r>
              <a:rPr lang="en-US" sz="2800" dirty="0" smtClean="0"/>
              <a:t> </a:t>
            </a:r>
            <a:r>
              <a:rPr lang="en-US" sz="2800" dirty="0" err="1" smtClean="0"/>
              <a:t>makul</a:t>
            </a:r>
            <a:r>
              <a:rPr lang="en-US" sz="2800" dirty="0" smtClean="0"/>
              <a:t> </a:t>
            </a:r>
            <a:r>
              <a:rPr lang="en-US" sz="2800" dirty="0" err="1" smtClean="0"/>
              <a:t>olmayan</a:t>
            </a:r>
            <a:r>
              <a:rPr lang="en-US" sz="2800" dirty="0" smtClean="0"/>
              <a:t> </a:t>
            </a:r>
            <a:r>
              <a:rPr lang="en-US" sz="2800" dirty="0" err="1" smtClean="0"/>
              <a:t>zarar</a:t>
            </a:r>
            <a:r>
              <a:rPr lang="en-US" sz="2800" dirty="0" smtClean="0"/>
              <a:t> </a:t>
            </a:r>
            <a:r>
              <a:rPr lang="en-US" sz="2800" dirty="0" err="1" smtClean="0"/>
              <a:t>veya</a:t>
            </a:r>
            <a:r>
              <a:rPr lang="en-US" sz="2800" dirty="0" smtClean="0"/>
              <a:t> </a:t>
            </a:r>
            <a:r>
              <a:rPr lang="en-US" sz="2800" dirty="0" err="1" smtClean="0"/>
              <a:t>risklere</a:t>
            </a:r>
            <a:r>
              <a:rPr lang="en-US" sz="2800" dirty="0" smtClean="0"/>
              <a:t> </a:t>
            </a:r>
            <a:r>
              <a:rPr lang="en-US" sz="2800" dirty="0" err="1" smtClean="0"/>
              <a:t>karşı</a:t>
            </a:r>
            <a:r>
              <a:rPr lang="en-US" sz="2800" dirty="0" smtClean="0"/>
              <a:t> </a:t>
            </a:r>
            <a:r>
              <a:rPr lang="en-US" sz="2800" dirty="0" err="1" smtClean="0"/>
              <a:t>koruma</a:t>
            </a:r>
            <a:r>
              <a:rPr lang="en-US" sz="2800" dirty="0" smtClean="0"/>
              <a:t> </a:t>
            </a:r>
            <a:r>
              <a:rPr lang="en-US" sz="2800" dirty="0" err="1" smtClean="0"/>
              <a:t>yükümlülüğü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Makul</a:t>
            </a:r>
            <a:r>
              <a:rPr lang="en-US" sz="2800" dirty="0" smtClean="0"/>
              <a:t> </a:t>
            </a:r>
            <a:r>
              <a:rPr lang="en-US" sz="2800" dirty="0" err="1" smtClean="0"/>
              <a:t>kişi</a:t>
            </a:r>
            <a:r>
              <a:rPr lang="en-US" sz="2800" dirty="0" smtClean="0"/>
              <a:t> </a:t>
            </a:r>
            <a:r>
              <a:rPr lang="en-US" sz="2800" dirty="0" err="1" smtClean="0"/>
              <a:t>standardı</a:t>
            </a:r>
            <a:r>
              <a:rPr lang="en-US" sz="2800" dirty="0" smtClean="0"/>
              <a:t>: </a:t>
            </a:r>
            <a:r>
              <a:rPr lang="en-US" sz="2800" dirty="0" err="1" smtClean="0"/>
              <a:t>Objektif</a:t>
            </a:r>
            <a:r>
              <a:rPr lang="en-US" sz="2800" dirty="0" smtClean="0"/>
              <a:t>, </a:t>
            </a:r>
            <a:r>
              <a:rPr lang="en-US" sz="2800" dirty="0" err="1" smtClean="0"/>
              <a:t>dikkatli</a:t>
            </a:r>
            <a:r>
              <a:rPr lang="en-US" sz="2800" dirty="0" smtClean="0"/>
              <a:t> ve </a:t>
            </a:r>
            <a:r>
              <a:rPr lang="en-US" sz="2800" dirty="0" err="1" smtClean="0"/>
              <a:t>vicdanlı</a:t>
            </a:r>
            <a:r>
              <a:rPr lang="en-US" sz="2800" dirty="0" smtClean="0"/>
              <a:t>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kişinin</a:t>
            </a:r>
            <a:r>
              <a:rPr lang="en-US" sz="2800" dirty="0" smtClean="0"/>
              <a:t> </a:t>
            </a:r>
            <a:r>
              <a:rPr lang="en-US" sz="2800" dirty="0" err="1" smtClean="0"/>
              <a:t>aynı</a:t>
            </a:r>
            <a:r>
              <a:rPr lang="en-US" sz="2800" dirty="0" smtClean="0"/>
              <a:t> </a:t>
            </a:r>
            <a:r>
              <a:rPr lang="en-US" sz="2800" dirty="0" err="1" smtClean="0"/>
              <a:t>koşullarda</a:t>
            </a:r>
            <a:r>
              <a:rPr lang="en-US" sz="2800" dirty="0" smtClean="0"/>
              <a:t> </a:t>
            </a:r>
            <a:r>
              <a:rPr lang="en-US" sz="2800" dirty="0" err="1" smtClean="0"/>
              <a:t>nasıl</a:t>
            </a:r>
            <a:r>
              <a:rPr lang="en-US" sz="2800" dirty="0" smtClean="0"/>
              <a:t> </a:t>
            </a:r>
            <a:r>
              <a:rPr lang="en-US" sz="2800" dirty="0" err="1" smtClean="0"/>
              <a:t>davranacağını</a:t>
            </a:r>
            <a:r>
              <a:rPr lang="en-US" sz="2800" dirty="0" smtClean="0"/>
              <a:t> </a:t>
            </a:r>
            <a:r>
              <a:rPr lang="en-US" sz="2800" dirty="0" err="1" smtClean="0"/>
              <a:t>değerlendirmek</a:t>
            </a:r>
            <a:r>
              <a:rPr lang="en-US" sz="2800" dirty="0" smtClean="0"/>
              <a:t> </a:t>
            </a:r>
            <a:r>
              <a:rPr lang="en-US" sz="2800" dirty="0" err="1" smtClean="0"/>
              <a:t>için</a:t>
            </a:r>
            <a:r>
              <a:rPr lang="en-US" sz="2800" dirty="0" smtClean="0"/>
              <a:t> </a:t>
            </a:r>
            <a:r>
              <a:rPr lang="en-US" sz="2800" dirty="0" err="1" smtClean="0"/>
              <a:t>mahkemeler</a:t>
            </a:r>
            <a:r>
              <a:rPr lang="en-US" sz="2800" dirty="0" smtClean="0"/>
              <a:t> </a:t>
            </a:r>
            <a:r>
              <a:rPr lang="en-US" sz="2800" dirty="0" err="1" smtClean="0"/>
              <a:t>tarafından</a:t>
            </a:r>
            <a:r>
              <a:rPr lang="en-US" sz="2800" dirty="0" smtClean="0"/>
              <a:t> </a:t>
            </a:r>
            <a:r>
              <a:rPr lang="en-US" sz="2800" dirty="0" err="1" smtClean="0"/>
              <a:t>kullanılan</a:t>
            </a:r>
            <a:r>
              <a:rPr lang="en-US" sz="2800" dirty="0" smtClean="0"/>
              <a:t>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standart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Makul</a:t>
            </a:r>
            <a:r>
              <a:rPr lang="en-US" sz="2800" dirty="0" smtClean="0"/>
              <a:t> </a:t>
            </a:r>
            <a:r>
              <a:rPr lang="en-US" sz="2800" dirty="0" err="1" smtClean="0"/>
              <a:t>mesleki</a:t>
            </a:r>
            <a:r>
              <a:rPr lang="en-US" sz="2800" dirty="0" smtClean="0"/>
              <a:t> </a:t>
            </a:r>
            <a:r>
              <a:rPr lang="en-US" sz="2800" dirty="0" err="1" smtClean="0"/>
              <a:t>standart</a:t>
            </a:r>
            <a:r>
              <a:rPr lang="en-US" sz="2800" dirty="0" smtClean="0"/>
              <a:t>:  </a:t>
            </a:r>
            <a:r>
              <a:rPr lang="en-US" sz="2800" dirty="0" err="1" smtClean="0"/>
              <a:t>Belirli</a:t>
            </a:r>
            <a:r>
              <a:rPr lang="en-US" sz="2800" dirty="0" smtClean="0"/>
              <a:t>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uzmanlığa</a:t>
            </a:r>
            <a:r>
              <a:rPr lang="en-US" sz="2800" dirty="0" smtClean="0"/>
              <a:t> </a:t>
            </a:r>
            <a:r>
              <a:rPr lang="en-US" sz="2800" dirty="0" err="1" smtClean="0"/>
              <a:t>veya</a:t>
            </a:r>
            <a:r>
              <a:rPr lang="en-US" sz="2800" dirty="0" smtClean="0"/>
              <a:t> </a:t>
            </a:r>
            <a:r>
              <a:rPr lang="en-US" sz="2800" dirty="0" err="1" smtClean="0"/>
              <a:t>yetkinliğe</a:t>
            </a:r>
            <a:r>
              <a:rPr lang="en-US" sz="2800" dirty="0" smtClean="0"/>
              <a:t> </a:t>
            </a:r>
            <a:r>
              <a:rPr lang="en-US" sz="2800" dirty="0" err="1" smtClean="0"/>
              <a:t>sahip</a:t>
            </a:r>
            <a:r>
              <a:rPr lang="en-US" sz="2800" dirty="0" smtClean="0"/>
              <a:t> </a:t>
            </a:r>
            <a:r>
              <a:rPr lang="en-US" sz="2800" dirty="0" err="1" smtClean="0"/>
              <a:t>profesyonellerin</a:t>
            </a:r>
            <a:r>
              <a:rPr lang="en-US" sz="2800" dirty="0" smtClean="0"/>
              <a:t> </a:t>
            </a:r>
            <a:r>
              <a:rPr lang="en-US" sz="2800" dirty="0" err="1" smtClean="0"/>
              <a:t>eylemlerini</a:t>
            </a:r>
            <a:r>
              <a:rPr lang="en-US" sz="2800" dirty="0" smtClean="0"/>
              <a:t> </a:t>
            </a:r>
            <a:r>
              <a:rPr lang="en-US" sz="2800" dirty="0" err="1" smtClean="0"/>
              <a:t>ölçmek</a:t>
            </a:r>
            <a:r>
              <a:rPr lang="en-US" sz="2800" dirty="0" smtClean="0"/>
              <a:t> </a:t>
            </a:r>
            <a:r>
              <a:rPr lang="en-US" sz="2800" dirty="0" err="1" smtClean="0"/>
              <a:t>için</a:t>
            </a:r>
            <a:r>
              <a:rPr lang="en-US" sz="2800" dirty="0" smtClean="0"/>
              <a:t> </a:t>
            </a:r>
            <a:r>
              <a:rPr lang="en-US" sz="2800" dirty="0" err="1" smtClean="0"/>
              <a:t>kullanılır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30197"/>
            <a:ext cx="8026400" cy="1141403"/>
          </a:xfrm>
        </p:spPr>
        <p:txBody>
          <a:bodyPr/>
          <a:lstStyle/>
          <a:p>
            <a:r>
              <a:rPr lang="en-US" sz="2900" dirty="0"/>
              <a:t>Potential Legal Issues Related to Licensing IT </a:t>
            </a:r>
            <a:r>
              <a:rPr lang="en-US" sz="2900" dirty="0" smtClean="0"/>
              <a:t>Workers</a:t>
            </a:r>
            <a:r>
              <a:rPr lang="tr-TR" sz="2900" dirty="0" smtClean="0"/>
              <a:t/>
            </a:r>
            <a:br>
              <a:rPr lang="tr-TR" sz="2900" dirty="0" smtClean="0"/>
            </a:br>
            <a:r>
              <a:rPr lang="tr-TR" sz="2900" dirty="0" smtClean="0"/>
              <a:t>BT Çalışanlarının Lisanslanmasıyla İlgili Olası Yasal Sorunlar</a:t>
            </a:r>
            <a:endParaRPr lang="en-US" sz="2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246407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173176"/>
          </a:xfrm>
        </p:spPr>
        <p:txBody>
          <a:bodyPr/>
          <a:lstStyle/>
          <a:p>
            <a:r>
              <a:rPr lang="en-US" sz="2800" dirty="0" err="1" smtClean="0"/>
              <a:t>Bakım</a:t>
            </a:r>
            <a:r>
              <a:rPr lang="en-US" sz="2800" dirty="0" smtClean="0"/>
              <a:t> </a:t>
            </a:r>
            <a:r>
              <a:rPr lang="en-US" sz="2800" dirty="0" err="1" smtClean="0"/>
              <a:t>yükümlülüğünün</a:t>
            </a:r>
            <a:r>
              <a:rPr lang="en-US" sz="2800" dirty="0" smtClean="0"/>
              <a:t> </a:t>
            </a:r>
            <a:r>
              <a:rPr lang="en-US" sz="2800" dirty="0" err="1" smtClean="0"/>
              <a:t>ihlali</a:t>
            </a:r>
            <a:r>
              <a:rPr lang="en-US" sz="2800" dirty="0" smtClean="0"/>
              <a:t>: </a:t>
            </a:r>
            <a:r>
              <a:rPr lang="en-US" sz="2800" dirty="0" err="1" smtClean="0"/>
              <a:t>Makul</a:t>
            </a:r>
            <a:r>
              <a:rPr lang="en-US" sz="2800" dirty="0" smtClean="0"/>
              <a:t>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kişi</a:t>
            </a:r>
            <a:r>
              <a:rPr lang="en-US" sz="2800" dirty="0" smtClean="0"/>
              <a:t> </a:t>
            </a:r>
            <a:r>
              <a:rPr lang="en-US" sz="2800" dirty="0" err="1" smtClean="0"/>
              <a:t>olarak</a:t>
            </a:r>
            <a:r>
              <a:rPr lang="en-US" sz="2800" dirty="0" smtClean="0"/>
              <a:t> </a:t>
            </a:r>
            <a:r>
              <a:rPr lang="en-US" sz="2800" dirty="0" err="1" smtClean="0"/>
              <a:t>hareket</a:t>
            </a:r>
            <a:r>
              <a:rPr lang="en-US" sz="2800" dirty="0" smtClean="0"/>
              <a:t> </a:t>
            </a:r>
            <a:r>
              <a:rPr lang="en-US" sz="2800" dirty="0" err="1" smtClean="0"/>
              <a:t>etmemek</a:t>
            </a:r>
            <a:r>
              <a:rPr lang="en-US" sz="2800" dirty="0" smtClean="0"/>
              <a:t>, </a:t>
            </a:r>
            <a:r>
              <a:rPr lang="en-US" sz="2800" dirty="0" err="1" smtClean="0"/>
              <a:t>mesleki</a:t>
            </a:r>
            <a:r>
              <a:rPr lang="en-US" sz="2800" dirty="0" smtClean="0"/>
              <a:t> </a:t>
            </a:r>
            <a:r>
              <a:rPr lang="en-US" sz="2800" dirty="0" err="1" smtClean="0"/>
              <a:t>malpraktis</a:t>
            </a:r>
            <a:r>
              <a:rPr lang="en-US" sz="2800" dirty="0" smtClean="0"/>
              <a:t> </a:t>
            </a:r>
            <a:r>
              <a:rPr lang="en-US" sz="2800" dirty="0" err="1" smtClean="0"/>
              <a:t>görevini</a:t>
            </a:r>
            <a:r>
              <a:rPr lang="en-US" sz="2800" dirty="0" smtClean="0"/>
              <a:t> </a:t>
            </a:r>
            <a:r>
              <a:rPr lang="en-US" sz="2800" dirty="0" err="1" smtClean="0"/>
              <a:t>ihlal</a:t>
            </a:r>
            <a:r>
              <a:rPr lang="en-US" sz="2800" dirty="0" smtClean="0"/>
              <a:t> </a:t>
            </a:r>
            <a:r>
              <a:rPr lang="en-US" sz="2800" dirty="0" err="1" smtClean="0"/>
              <a:t>eder</a:t>
            </a:r>
            <a:r>
              <a:rPr lang="en-US" sz="2800" dirty="0" smtClean="0"/>
              <a:t>: </a:t>
            </a:r>
            <a:endParaRPr lang="tr-TR" sz="2800" dirty="0" smtClean="0"/>
          </a:p>
          <a:p>
            <a:r>
              <a:rPr lang="en-US" sz="2800" dirty="0" err="1" smtClean="0"/>
              <a:t>Bakım</a:t>
            </a:r>
            <a:r>
              <a:rPr lang="en-US" sz="2800" dirty="0" smtClean="0"/>
              <a:t> </a:t>
            </a:r>
            <a:r>
              <a:rPr lang="en-US" sz="2800" dirty="0" err="1" smtClean="0"/>
              <a:t>yükümlülüğünü</a:t>
            </a:r>
            <a:r>
              <a:rPr lang="en-US" sz="2800" dirty="0" smtClean="0"/>
              <a:t> </a:t>
            </a:r>
            <a:r>
              <a:rPr lang="en-US" sz="2800" dirty="0" err="1" smtClean="0"/>
              <a:t>ihlal</a:t>
            </a:r>
            <a:r>
              <a:rPr lang="en-US" sz="2800" dirty="0" smtClean="0"/>
              <a:t> </a:t>
            </a:r>
            <a:r>
              <a:rPr lang="en-US" sz="2800" dirty="0" err="1" smtClean="0"/>
              <a:t>eden</a:t>
            </a:r>
            <a:r>
              <a:rPr lang="en-US" sz="2800" dirty="0" smtClean="0"/>
              <a:t>, </a:t>
            </a:r>
            <a:r>
              <a:rPr lang="en-US" sz="2800" dirty="0" err="1" smtClean="0"/>
              <a:t>ihmalkar</a:t>
            </a:r>
            <a:r>
              <a:rPr lang="en-US" sz="2800" dirty="0" smtClean="0"/>
              <a:t> </a:t>
            </a:r>
            <a:r>
              <a:rPr lang="en-US" sz="2800" dirty="0" err="1" smtClean="0"/>
              <a:t>bakım</a:t>
            </a:r>
            <a:r>
              <a:rPr lang="en-US" sz="2800" dirty="0" smtClean="0"/>
              <a:t> ve </a:t>
            </a:r>
            <a:r>
              <a:rPr lang="en-US" sz="2800" dirty="0" err="1" smtClean="0"/>
              <a:t>yaralanmalarla</a:t>
            </a:r>
            <a:r>
              <a:rPr lang="en-US" sz="2800" dirty="0" smtClean="0"/>
              <a:t> </a:t>
            </a:r>
            <a:r>
              <a:rPr lang="en-US" sz="2800" dirty="0" err="1" smtClean="0"/>
              <a:t>sonuçlanan</a:t>
            </a:r>
            <a:r>
              <a:rPr lang="en-US" sz="2800" dirty="0" smtClean="0"/>
              <a:t> </a:t>
            </a:r>
            <a:r>
              <a:rPr lang="en-US" sz="2800" dirty="0" err="1" smtClean="0"/>
              <a:t>profesyonellerin</a:t>
            </a:r>
            <a:r>
              <a:rPr lang="en-US" sz="2800" dirty="0" smtClean="0"/>
              <a:t> </a:t>
            </a:r>
            <a:r>
              <a:rPr lang="en-US" sz="2800" dirty="0" err="1" smtClean="0"/>
              <a:t>sorumluluğu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Profesyonel</a:t>
            </a:r>
            <a:r>
              <a:rPr lang="en-US" sz="2800" dirty="0" smtClean="0"/>
              <a:t> </a:t>
            </a:r>
            <a:r>
              <a:rPr lang="en-US" sz="2800" dirty="0" err="1" smtClean="0"/>
              <a:t>ihmal</a:t>
            </a:r>
            <a:r>
              <a:rPr lang="en-US" sz="2800" dirty="0" smtClean="0"/>
              <a:t>, </a:t>
            </a:r>
            <a:r>
              <a:rPr lang="en-US" sz="2800" dirty="0" err="1" smtClean="0"/>
              <a:t>yalnızca</a:t>
            </a:r>
            <a:r>
              <a:rPr lang="en-US" sz="2800" dirty="0" smtClean="0"/>
              <a:t> </a:t>
            </a:r>
            <a:r>
              <a:rPr lang="en-US" sz="2800" dirty="0" err="1" smtClean="0"/>
              <a:t>mesleki</a:t>
            </a:r>
            <a:r>
              <a:rPr lang="en-US" sz="2800" dirty="0" smtClean="0"/>
              <a:t> </a:t>
            </a:r>
            <a:r>
              <a:rPr lang="en-US" sz="2800" dirty="0" err="1" smtClean="0"/>
              <a:t>davranışlarını</a:t>
            </a:r>
            <a:r>
              <a:rPr lang="en-US" sz="2800" dirty="0" smtClean="0"/>
              <a:t> </a:t>
            </a:r>
            <a:r>
              <a:rPr lang="en-US" sz="2800" dirty="0" err="1" smtClean="0"/>
              <a:t>karşılaştırmak</a:t>
            </a:r>
            <a:r>
              <a:rPr lang="en-US" sz="2800" dirty="0" smtClean="0"/>
              <a:t> </a:t>
            </a:r>
            <a:r>
              <a:rPr lang="en-US" sz="2800" dirty="0" err="1" smtClean="0"/>
              <a:t>için</a:t>
            </a:r>
            <a:r>
              <a:rPr lang="en-US" sz="2800" dirty="0" smtClean="0"/>
              <a:t> </a:t>
            </a:r>
            <a:r>
              <a:rPr lang="en-US" sz="2800" dirty="0" err="1" smtClean="0"/>
              <a:t>tek</a:t>
            </a:r>
            <a:r>
              <a:rPr lang="en-US" sz="2800" dirty="0" smtClean="0"/>
              <a:t> tip </a:t>
            </a:r>
            <a:r>
              <a:rPr lang="en-US" sz="2800" dirty="0" err="1" smtClean="0"/>
              <a:t>standartlar</a:t>
            </a:r>
            <a:r>
              <a:rPr lang="en-US" sz="2800" dirty="0" smtClean="0"/>
              <a:t> </a:t>
            </a:r>
            <a:r>
              <a:rPr lang="en-US" sz="2800" dirty="0" err="1" smtClean="0"/>
              <a:t>varsa</a:t>
            </a:r>
            <a:r>
              <a:rPr lang="en-US" sz="2800" dirty="0" smtClean="0"/>
              <a:t> </a:t>
            </a:r>
            <a:r>
              <a:rPr lang="en-US" sz="2800" dirty="0" err="1" smtClean="0"/>
              <a:t>ortaya</a:t>
            </a:r>
            <a:r>
              <a:rPr lang="en-US" sz="2800" dirty="0" smtClean="0"/>
              <a:t> </a:t>
            </a:r>
            <a:r>
              <a:rPr lang="en-US" sz="2800" dirty="0" err="1" smtClean="0"/>
              <a:t>çıkabilir</a:t>
            </a:r>
            <a:r>
              <a:rPr lang="en-US" sz="2800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158"/>
            <a:ext cx="8026400" cy="1046440"/>
          </a:xfrm>
        </p:spPr>
        <p:txBody>
          <a:bodyPr/>
          <a:lstStyle/>
          <a:p>
            <a:r>
              <a:rPr lang="en-US" sz="4000" dirty="0"/>
              <a:t>IT Professional </a:t>
            </a:r>
            <a:r>
              <a:rPr lang="en-US" sz="4000" dirty="0" smtClean="0"/>
              <a:t>Malpractice</a:t>
            </a:r>
            <a:r>
              <a:rPr lang="tr-TR" sz="4000" dirty="0" smtClean="0"/>
              <a:t/>
            </a:r>
            <a:br>
              <a:rPr lang="tr-TR" sz="4000" dirty="0" smtClean="0"/>
            </a:br>
            <a:r>
              <a:rPr lang="tr-TR" sz="4000" dirty="0" smtClean="0"/>
              <a:t>BT Uzmanı </a:t>
            </a:r>
            <a:r>
              <a:rPr lang="tr-TR" sz="4000" dirty="0" err="1" smtClean="0"/>
              <a:t>Malpraktisi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327686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8373" y="1373422"/>
            <a:ext cx="8415338" cy="5543056"/>
          </a:xfrm>
        </p:spPr>
        <p:txBody>
          <a:bodyPr/>
          <a:lstStyle/>
          <a:p>
            <a:r>
              <a:rPr lang="en-GB" altLang="en-US" sz="2800" dirty="0" err="1" smtClean="0"/>
              <a:t>Yazılım</a:t>
            </a:r>
            <a:r>
              <a:rPr lang="en-GB" altLang="en-US" sz="2800" dirty="0" smtClean="0"/>
              <a:t> </a:t>
            </a:r>
            <a:r>
              <a:rPr lang="en-GB" altLang="en-US" sz="2800" dirty="0" err="1" smtClean="0"/>
              <a:t>korsanlığı</a:t>
            </a:r>
            <a:r>
              <a:rPr lang="en-GB" altLang="en-US" sz="2800" dirty="0" smtClean="0"/>
              <a:t> </a:t>
            </a:r>
            <a:endParaRPr lang="tr-TR" altLang="en-US" sz="2800" dirty="0" smtClean="0"/>
          </a:p>
          <a:p>
            <a:pPr lvl="1"/>
            <a:r>
              <a:rPr lang="en-GB" altLang="en-US" sz="2600" dirty="0" err="1" smtClean="0"/>
              <a:t>Gelecekteki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yazılım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geliştirme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üzerinde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olumsuz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bir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etkisi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vardır</a:t>
            </a:r>
            <a:r>
              <a:rPr lang="en-GB" altLang="en-US" sz="2600" dirty="0" smtClean="0"/>
              <a:t> </a:t>
            </a:r>
            <a:endParaRPr lang="tr-TR" altLang="en-US" sz="2600" dirty="0" smtClean="0"/>
          </a:p>
          <a:p>
            <a:pPr lvl="1"/>
            <a:r>
              <a:rPr lang="en-GB" altLang="en-US" sz="2600" dirty="0" smtClean="0"/>
              <a:t>Android </a:t>
            </a:r>
            <a:r>
              <a:rPr lang="en-GB" altLang="en-US" sz="2600" dirty="0" err="1" smtClean="0"/>
              <a:t>işletim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sistemi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yazılım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korsanlığı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sorununa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katkıda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bulunmuştur</a:t>
            </a:r>
            <a:r>
              <a:rPr lang="en-GB" altLang="en-US" sz="2600" dirty="0" smtClean="0"/>
              <a:t> </a:t>
            </a:r>
            <a:endParaRPr lang="tr-TR" altLang="en-US" sz="2600" dirty="0" smtClean="0"/>
          </a:p>
          <a:p>
            <a:r>
              <a:rPr lang="en-GB" altLang="en-US" sz="2800" dirty="0" err="1" smtClean="0"/>
              <a:t>Bilgi</a:t>
            </a:r>
            <a:r>
              <a:rPr lang="en-GB" altLang="en-US" sz="2800" dirty="0" smtClean="0"/>
              <a:t> </a:t>
            </a:r>
            <a:r>
              <a:rPr lang="en-GB" altLang="en-US" sz="2800" dirty="0" err="1" smtClean="0"/>
              <a:t>işlem</a:t>
            </a:r>
            <a:r>
              <a:rPr lang="en-GB" altLang="en-US" sz="2800" dirty="0" smtClean="0"/>
              <a:t> </a:t>
            </a:r>
            <a:r>
              <a:rPr lang="en-GB" altLang="en-US" sz="2800" dirty="0" err="1" smtClean="0"/>
              <a:t>kaynaklarının</a:t>
            </a:r>
            <a:r>
              <a:rPr lang="en-GB" altLang="en-US" sz="2800" dirty="0" smtClean="0"/>
              <a:t> </a:t>
            </a:r>
            <a:r>
              <a:rPr lang="en-GB" altLang="en-US" sz="2800" dirty="0" err="1" smtClean="0"/>
              <a:t>uygunsuz</a:t>
            </a:r>
            <a:r>
              <a:rPr lang="en-GB" altLang="en-US" sz="2800" dirty="0" smtClean="0"/>
              <a:t> </a:t>
            </a:r>
            <a:r>
              <a:rPr lang="en-GB" altLang="en-US" sz="2800" dirty="0" err="1" smtClean="0"/>
              <a:t>kullanımı</a:t>
            </a:r>
            <a:r>
              <a:rPr lang="en-GB" altLang="en-US" sz="2800" dirty="0" smtClean="0"/>
              <a:t> </a:t>
            </a:r>
            <a:endParaRPr lang="tr-TR" altLang="en-US" sz="2800" dirty="0" smtClean="0"/>
          </a:p>
          <a:p>
            <a:pPr lvl="1"/>
            <a:r>
              <a:rPr lang="en-GB" altLang="en-US" sz="2600" dirty="0" err="1" smtClean="0"/>
              <a:t>İşçi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verimliliğini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aşındırır</a:t>
            </a:r>
            <a:r>
              <a:rPr lang="en-GB" altLang="en-US" sz="2600" dirty="0" smtClean="0"/>
              <a:t> ve </a:t>
            </a:r>
            <a:r>
              <a:rPr lang="en-GB" altLang="en-US" sz="2600" dirty="0" err="1" smtClean="0"/>
              <a:t>zaman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kaybettirir</a:t>
            </a:r>
            <a:r>
              <a:rPr lang="en-GB" altLang="en-US" sz="2600" dirty="0" smtClean="0"/>
              <a:t> </a:t>
            </a:r>
            <a:endParaRPr lang="tr-TR" altLang="en-US" sz="2600" dirty="0" smtClean="0"/>
          </a:p>
          <a:p>
            <a:pPr lvl="1"/>
            <a:r>
              <a:rPr lang="en-GB" altLang="en-US" sz="2600" dirty="0" err="1" smtClean="0"/>
              <a:t>İşyerinde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ırksal</a:t>
            </a:r>
            <a:r>
              <a:rPr lang="en-GB" altLang="en-US" sz="2600" dirty="0" smtClean="0"/>
              <a:t> / </a:t>
            </a:r>
            <a:r>
              <a:rPr lang="en-GB" altLang="en-US" sz="2600" dirty="0" err="1" smtClean="0"/>
              <a:t>cinsel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taciz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davalarına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yol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açabilir</a:t>
            </a:r>
            <a:endParaRPr lang="tr-TR" altLang="en-US" sz="2600" dirty="0"/>
          </a:p>
          <a:p>
            <a:r>
              <a:rPr lang="en-GB" altLang="en-US" sz="2800" dirty="0" err="1" smtClean="0"/>
              <a:t>Uygunsuz</a:t>
            </a:r>
            <a:r>
              <a:rPr lang="en-GB" altLang="en-US" sz="2800" dirty="0" smtClean="0"/>
              <a:t> </a:t>
            </a:r>
            <a:r>
              <a:rPr lang="en-GB" altLang="en-US" sz="2800" dirty="0" err="1" smtClean="0"/>
              <a:t>bilgi</a:t>
            </a:r>
            <a:r>
              <a:rPr lang="en-GB" altLang="en-US" sz="2800" dirty="0" smtClean="0"/>
              <a:t> </a:t>
            </a:r>
            <a:r>
              <a:rPr lang="en-GB" altLang="en-US" sz="2800" dirty="0" err="1" smtClean="0"/>
              <a:t>paylaşımı</a:t>
            </a:r>
            <a:r>
              <a:rPr lang="en-GB" altLang="en-US" sz="2800" dirty="0" smtClean="0"/>
              <a:t> </a:t>
            </a:r>
            <a:endParaRPr lang="tr-TR" altLang="en-US" sz="2800" dirty="0" smtClean="0"/>
          </a:p>
          <a:p>
            <a:pPr lvl="1"/>
            <a:r>
              <a:rPr lang="en-GB" altLang="en-US" sz="2600" dirty="0" err="1" smtClean="0"/>
              <a:t>Özel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kişisel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veriler</a:t>
            </a:r>
            <a:r>
              <a:rPr lang="en-GB" altLang="en-US" sz="2600" dirty="0" smtClean="0"/>
              <a:t>: </a:t>
            </a:r>
            <a:r>
              <a:rPr lang="en-GB" altLang="en-US" sz="2600" dirty="0" err="1" smtClean="0"/>
              <a:t>Gizlilik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ihlali</a:t>
            </a:r>
            <a:r>
              <a:rPr lang="en-GB" altLang="en-US" sz="2600" dirty="0" smtClean="0"/>
              <a:t> </a:t>
            </a:r>
            <a:endParaRPr lang="tr-TR" altLang="en-US" sz="2600" dirty="0" smtClean="0"/>
          </a:p>
          <a:p>
            <a:pPr lvl="1"/>
            <a:r>
              <a:rPr lang="en-GB" altLang="en-US" sz="2600" dirty="0" err="1" smtClean="0"/>
              <a:t>Gizli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şirket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verileri</a:t>
            </a:r>
            <a:r>
              <a:rPr lang="en-GB" altLang="en-US" sz="2600" dirty="0" smtClean="0"/>
              <a:t>: </a:t>
            </a:r>
            <a:r>
              <a:rPr lang="en-GB" altLang="en-US" sz="2600" dirty="0" err="1" smtClean="0"/>
              <a:t>Rakiplerin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eline</a:t>
            </a:r>
            <a:r>
              <a:rPr lang="en-GB" altLang="en-US" sz="2600" dirty="0" smtClean="0"/>
              <a:t> </a:t>
            </a:r>
            <a:r>
              <a:rPr lang="en-GB" altLang="en-US" sz="2600" dirty="0" err="1" smtClean="0"/>
              <a:t>geçebilir</a:t>
            </a:r>
            <a:r>
              <a:rPr lang="en-US" altLang="en-US" sz="2400" dirty="0" smtClean="0"/>
              <a:t> </a:t>
            </a:r>
            <a:endParaRPr lang="en-GB" altLang="en-US" sz="24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157"/>
            <a:ext cx="8026400" cy="1046440"/>
          </a:xfrm>
        </p:spPr>
        <p:txBody>
          <a:bodyPr/>
          <a:lstStyle/>
          <a:p>
            <a:r>
              <a:rPr lang="en-US" sz="4000" dirty="0"/>
              <a:t>Common Ethical Issues for IT </a:t>
            </a:r>
            <a:r>
              <a:rPr lang="en-US" sz="4000" dirty="0" smtClean="0"/>
              <a:t>Users</a:t>
            </a:r>
            <a:r>
              <a:rPr lang="tr-TR" sz="4000" dirty="0" smtClean="0"/>
              <a:t/>
            </a:r>
            <a:br>
              <a:rPr lang="tr-TR" sz="4000" dirty="0" smtClean="0"/>
            </a:br>
            <a:r>
              <a:rPr lang="tr-TR" sz="4000" dirty="0" smtClean="0"/>
              <a:t>BT Kullanıcıları için Ortak Etik Sorunlar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64658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398687"/>
            <a:ext cx="8415338" cy="4972130"/>
          </a:xfrm>
        </p:spPr>
        <p:txBody>
          <a:bodyPr/>
          <a:lstStyle/>
          <a:p>
            <a:r>
              <a:rPr lang="en-US" sz="2800" dirty="0" err="1" smtClean="0"/>
              <a:t>Şirket</a:t>
            </a:r>
            <a:r>
              <a:rPr lang="en-US" sz="2800" dirty="0" smtClean="0"/>
              <a:t> </a:t>
            </a:r>
            <a:r>
              <a:rPr lang="en-US" sz="2800" dirty="0" err="1" smtClean="0"/>
              <a:t>donanım</a:t>
            </a:r>
            <a:r>
              <a:rPr lang="en-US" sz="2800" dirty="0" smtClean="0"/>
              <a:t> ve </a:t>
            </a:r>
            <a:r>
              <a:rPr lang="en-US" sz="2800" dirty="0" err="1" smtClean="0"/>
              <a:t>yazılımlarının</a:t>
            </a:r>
            <a:r>
              <a:rPr lang="en-US" sz="2800" dirty="0" smtClean="0"/>
              <a:t> </a:t>
            </a:r>
            <a:r>
              <a:rPr lang="en-US" sz="2800" dirty="0" err="1" smtClean="0"/>
              <a:t>kullanımı</a:t>
            </a:r>
            <a:r>
              <a:rPr lang="en-US" sz="2800" dirty="0" smtClean="0"/>
              <a:t> </a:t>
            </a:r>
            <a:r>
              <a:rPr lang="en-US" sz="2800" dirty="0" err="1" smtClean="0"/>
              <a:t>için</a:t>
            </a:r>
            <a:r>
              <a:rPr lang="en-US" sz="2800" dirty="0" smtClean="0"/>
              <a:t> </a:t>
            </a:r>
            <a:r>
              <a:rPr lang="en-US" sz="2800" dirty="0" err="1" smtClean="0"/>
              <a:t>yönergeler</a:t>
            </a:r>
            <a:r>
              <a:rPr lang="en-US" sz="2800" dirty="0" smtClean="0"/>
              <a:t> </a:t>
            </a:r>
            <a:r>
              <a:rPr lang="en-US" sz="2800" dirty="0" err="1" smtClean="0"/>
              <a:t>oluşturma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smtClean="0"/>
              <a:t>Kabul </a:t>
            </a:r>
            <a:r>
              <a:rPr lang="en-US" sz="2800" dirty="0" err="1" smtClean="0"/>
              <a:t>edilebilir</a:t>
            </a:r>
            <a:r>
              <a:rPr lang="en-US" sz="2800" dirty="0" smtClean="0"/>
              <a:t> </a:t>
            </a:r>
            <a:r>
              <a:rPr lang="en-US" sz="2800" dirty="0" err="1" smtClean="0"/>
              <a:t>kullanım</a:t>
            </a:r>
            <a:r>
              <a:rPr lang="en-US" sz="2800" dirty="0" smtClean="0"/>
              <a:t> </a:t>
            </a:r>
            <a:r>
              <a:rPr lang="en-US" sz="2800" dirty="0" err="1" smtClean="0"/>
              <a:t>politikası</a:t>
            </a:r>
            <a:r>
              <a:rPr lang="en-US" sz="2800" dirty="0" smtClean="0"/>
              <a:t> (AUP) </a:t>
            </a:r>
            <a:r>
              <a:rPr lang="en-US" sz="2800" dirty="0" err="1" smtClean="0"/>
              <a:t>tanımlama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Verileri</a:t>
            </a:r>
            <a:r>
              <a:rPr lang="en-US" sz="2800" dirty="0" smtClean="0"/>
              <a:t> ve </a:t>
            </a:r>
            <a:r>
              <a:rPr lang="en-US" sz="2800" dirty="0" err="1" smtClean="0"/>
              <a:t>bilgileri</a:t>
            </a:r>
            <a:r>
              <a:rPr lang="en-US" sz="2800" dirty="0" smtClean="0"/>
              <a:t> </a:t>
            </a:r>
            <a:r>
              <a:rPr lang="en-US" sz="2800" dirty="0" err="1" smtClean="0"/>
              <a:t>korumak</a:t>
            </a:r>
            <a:r>
              <a:rPr lang="en-US" sz="2800" dirty="0" smtClean="0"/>
              <a:t> </a:t>
            </a:r>
            <a:r>
              <a:rPr lang="en-US" sz="2800" dirty="0" err="1" smtClean="0"/>
              <a:t>için</a:t>
            </a:r>
            <a:r>
              <a:rPr lang="en-US" sz="2800" dirty="0" smtClean="0"/>
              <a:t> </a:t>
            </a:r>
            <a:r>
              <a:rPr lang="en-US" sz="2800" dirty="0" err="1" smtClean="0"/>
              <a:t>bilgi</a:t>
            </a:r>
            <a:r>
              <a:rPr lang="en-US" sz="2800" dirty="0" smtClean="0"/>
              <a:t> </a:t>
            </a:r>
            <a:r>
              <a:rPr lang="en-US" sz="2800" dirty="0" err="1" smtClean="0"/>
              <a:t>sistemlerini</a:t>
            </a:r>
            <a:r>
              <a:rPr lang="en-US" sz="2800" dirty="0" smtClean="0"/>
              <a:t> </a:t>
            </a:r>
            <a:r>
              <a:rPr lang="en-US" sz="2800" dirty="0" err="1" smtClean="0"/>
              <a:t>yapılandırma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Şirket</a:t>
            </a:r>
            <a:r>
              <a:rPr lang="en-US" sz="2800" dirty="0" smtClean="0"/>
              <a:t> </a:t>
            </a:r>
            <a:r>
              <a:rPr lang="en-US" sz="2800" dirty="0" err="1" smtClean="0"/>
              <a:t>güvenlik</a:t>
            </a:r>
            <a:r>
              <a:rPr lang="en-US" sz="2800" dirty="0" smtClean="0"/>
              <a:t> </a:t>
            </a:r>
            <a:r>
              <a:rPr lang="en-US" sz="2800" dirty="0" err="1" smtClean="0"/>
              <a:t>duvarı</a:t>
            </a:r>
            <a:r>
              <a:rPr lang="en-US" sz="2800" dirty="0" smtClean="0"/>
              <a:t> </a:t>
            </a:r>
            <a:r>
              <a:rPr lang="en-US" sz="2800" dirty="0" err="1" smtClean="0"/>
              <a:t>kurma</a:t>
            </a:r>
            <a:r>
              <a:rPr lang="en-US" sz="2800" dirty="0" smtClean="0"/>
              <a:t> ve </a:t>
            </a:r>
            <a:r>
              <a:rPr lang="en-US" sz="2800" dirty="0" err="1" smtClean="0"/>
              <a:t>sürdürme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pPr lvl="1"/>
            <a:r>
              <a:rPr lang="en-US" sz="2600" dirty="0" err="1" smtClean="0"/>
              <a:t>Güvenlik</a:t>
            </a:r>
            <a:r>
              <a:rPr lang="en-US" sz="2600" dirty="0" smtClean="0"/>
              <a:t> </a:t>
            </a:r>
            <a:r>
              <a:rPr lang="en-US" sz="2600" dirty="0" err="1" smtClean="0"/>
              <a:t>duvarı</a:t>
            </a:r>
            <a:r>
              <a:rPr lang="en-US" sz="2600" dirty="0" smtClean="0"/>
              <a:t>: </a:t>
            </a:r>
            <a:r>
              <a:rPr lang="en-US" sz="2600" dirty="0" err="1" smtClean="0"/>
              <a:t>Bir</a:t>
            </a:r>
            <a:r>
              <a:rPr lang="en-US" sz="2600" dirty="0" smtClean="0"/>
              <a:t> </a:t>
            </a:r>
            <a:r>
              <a:rPr lang="en-US" sz="2600" dirty="0" err="1" smtClean="0"/>
              <a:t>kuruluşun</a:t>
            </a:r>
            <a:r>
              <a:rPr lang="en-US" sz="2600" dirty="0" smtClean="0"/>
              <a:t> </a:t>
            </a:r>
            <a:r>
              <a:rPr lang="en-US" sz="2600" dirty="0" err="1" smtClean="0"/>
              <a:t>ağı</a:t>
            </a:r>
            <a:r>
              <a:rPr lang="en-US" sz="2600" dirty="0" smtClean="0"/>
              <a:t> </a:t>
            </a:r>
            <a:r>
              <a:rPr lang="en-US" sz="2600" dirty="0" err="1" smtClean="0"/>
              <a:t>ile</a:t>
            </a:r>
            <a:r>
              <a:rPr lang="en-US" sz="2600" dirty="0" smtClean="0"/>
              <a:t> İnternet </a:t>
            </a:r>
            <a:r>
              <a:rPr lang="en-US" sz="2600" dirty="0" err="1" smtClean="0"/>
              <a:t>arasında</a:t>
            </a:r>
            <a:r>
              <a:rPr lang="en-US" sz="2600" dirty="0" smtClean="0"/>
              <a:t> ilk </a:t>
            </a:r>
            <a:r>
              <a:rPr lang="en-US" sz="2600" dirty="0" err="1" smtClean="0"/>
              <a:t>savunma</a:t>
            </a:r>
            <a:r>
              <a:rPr lang="en-US" sz="2600" dirty="0" smtClean="0"/>
              <a:t> </a:t>
            </a:r>
            <a:r>
              <a:rPr lang="en-US" sz="2600" dirty="0" err="1" smtClean="0"/>
              <a:t>hattı</a:t>
            </a:r>
            <a:r>
              <a:rPr lang="en-US" sz="2600" dirty="0" smtClean="0"/>
              <a:t> </a:t>
            </a:r>
            <a:r>
              <a:rPr lang="en-US" sz="2600" dirty="0" err="1" smtClean="0"/>
              <a:t>olarak</a:t>
            </a:r>
            <a:r>
              <a:rPr lang="en-US" sz="2600" dirty="0" smtClean="0"/>
              <a:t> </a:t>
            </a:r>
            <a:r>
              <a:rPr lang="en-US" sz="2600" dirty="0" err="1" smtClean="0"/>
              <a:t>hizmet</a:t>
            </a:r>
            <a:r>
              <a:rPr lang="en-US" sz="2600" dirty="0" smtClean="0"/>
              <a:t> </a:t>
            </a:r>
            <a:r>
              <a:rPr lang="en-US" sz="2600" dirty="0" err="1" smtClean="0"/>
              <a:t>veren</a:t>
            </a:r>
            <a:r>
              <a:rPr lang="en-US" sz="2600" dirty="0" smtClean="0"/>
              <a:t> </a:t>
            </a:r>
            <a:r>
              <a:rPr lang="en-US" sz="2600" dirty="0" err="1" smtClean="0"/>
              <a:t>donanım</a:t>
            </a:r>
            <a:r>
              <a:rPr lang="en-US" sz="2600" dirty="0" smtClean="0"/>
              <a:t> </a:t>
            </a:r>
            <a:r>
              <a:rPr lang="en-US" sz="2600" dirty="0" err="1" smtClean="0"/>
              <a:t>veya</a:t>
            </a:r>
            <a:r>
              <a:rPr lang="en-US" sz="2600" dirty="0" smtClean="0"/>
              <a:t> </a:t>
            </a:r>
            <a:r>
              <a:rPr lang="en-US" sz="2600" dirty="0" err="1" smtClean="0"/>
              <a:t>yazılım</a:t>
            </a:r>
            <a:r>
              <a:rPr lang="en-US" sz="2600" dirty="0" smtClean="0"/>
              <a:t>; </a:t>
            </a:r>
            <a:r>
              <a:rPr lang="en-US" sz="2600" dirty="0" err="1" smtClean="0"/>
              <a:t>ayrıca</a:t>
            </a:r>
            <a:r>
              <a:rPr lang="en-US" sz="2600" dirty="0" smtClean="0"/>
              <a:t> </a:t>
            </a:r>
            <a:r>
              <a:rPr lang="en-US" sz="2600" dirty="0" err="1" smtClean="0"/>
              <a:t>bir</a:t>
            </a:r>
            <a:r>
              <a:rPr lang="en-US" sz="2600" dirty="0" smtClean="0"/>
              <a:t> İnternet </a:t>
            </a:r>
            <a:r>
              <a:rPr lang="en-US" sz="2600" dirty="0" err="1" smtClean="0"/>
              <a:t>kullanım</a:t>
            </a:r>
            <a:r>
              <a:rPr lang="en-US" sz="2600" dirty="0" smtClean="0"/>
              <a:t> </a:t>
            </a:r>
            <a:r>
              <a:rPr lang="en-US" sz="2600" dirty="0" err="1" smtClean="0"/>
              <a:t>ilkesine</a:t>
            </a:r>
            <a:r>
              <a:rPr lang="en-US" sz="2600" dirty="0" smtClean="0"/>
              <a:t> </a:t>
            </a:r>
            <a:r>
              <a:rPr lang="en-US" sz="2600" dirty="0" err="1" smtClean="0"/>
              <a:t>dayalı</a:t>
            </a:r>
            <a:r>
              <a:rPr lang="en-US" sz="2600" dirty="0" smtClean="0"/>
              <a:t> </a:t>
            </a:r>
            <a:r>
              <a:rPr lang="en-US" sz="2600" dirty="0" err="1" smtClean="0"/>
              <a:t>olarak</a:t>
            </a:r>
            <a:r>
              <a:rPr lang="en-US" sz="2600" dirty="0" smtClean="0"/>
              <a:t> </a:t>
            </a:r>
            <a:r>
              <a:rPr lang="en-US" sz="2600" dirty="0" err="1" smtClean="0"/>
              <a:t>şirketin</a:t>
            </a:r>
            <a:r>
              <a:rPr lang="en-US" sz="2600" dirty="0" smtClean="0"/>
              <a:t> </a:t>
            </a:r>
            <a:r>
              <a:rPr lang="en-US" sz="2600" dirty="0" err="1" smtClean="0"/>
              <a:t>ağına</a:t>
            </a:r>
            <a:r>
              <a:rPr lang="en-US" sz="2600" dirty="0" smtClean="0"/>
              <a:t> </a:t>
            </a:r>
            <a:r>
              <a:rPr lang="en-US" sz="2600" dirty="0" err="1" smtClean="0"/>
              <a:t>erişimi</a:t>
            </a:r>
            <a:r>
              <a:rPr lang="en-US" sz="2600" dirty="0" smtClean="0"/>
              <a:t> </a:t>
            </a:r>
            <a:r>
              <a:rPr lang="en-US" sz="2600" dirty="0" err="1" smtClean="0"/>
              <a:t>sınırlar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Uyumluluk</a:t>
            </a:r>
            <a:endParaRPr lang="en-US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0937"/>
            <a:ext cx="8026400" cy="1416863"/>
          </a:xfrm>
        </p:spPr>
        <p:txBody>
          <a:bodyPr/>
          <a:lstStyle/>
          <a:p>
            <a:r>
              <a:rPr lang="en-GB" altLang="en-US" sz="3600" dirty="0"/>
              <a:t>Supporting the Ethical Practices of IT </a:t>
            </a:r>
            <a:r>
              <a:rPr lang="en-GB" altLang="en-US" sz="3600" dirty="0" smtClean="0"/>
              <a:t>Users</a:t>
            </a:r>
            <a:r>
              <a:rPr lang="tr-TR" altLang="en-US" sz="3600" dirty="0" smtClean="0"/>
              <a:t/>
            </a:r>
            <a:br>
              <a:rPr lang="tr-TR" altLang="en-US" sz="3600" dirty="0" smtClean="0"/>
            </a:br>
            <a:r>
              <a:rPr lang="tr-TR" altLang="en-US" sz="3600" dirty="0" smtClean="0"/>
              <a:t>BT Kullanıcılarının Etik Uygulamalarının Desteklenmesi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139688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19200"/>
            <a:ext cx="8415338" cy="4456605"/>
          </a:xfrm>
        </p:spPr>
        <p:txBody>
          <a:bodyPr/>
          <a:lstStyle/>
          <a:p>
            <a:r>
              <a:rPr lang="en-US" sz="2800" dirty="0" smtClean="0"/>
              <a:t>AUP: </a:t>
            </a:r>
            <a:r>
              <a:rPr lang="en-US" sz="2800" dirty="0" err="1" smtClean="0"/>
              <a:t>Bir</a:t>
            </a:r>
            <a:r>
              <a:rPr lang="en-US" sz="2800" dirty="0" smtClean="0"/>
              <a:t> </a:t>
            </a:r>
            <a:r>
              <a:rPr lang="en-US" sz="2800" dirty="0" err="1" smtClean="0"/>
              <a:t>kullanıcının</a:t>
            </a:r>
            <a:r>
              <a:rPr lang="en-US" sz="2800" dirty="0" smtClean="0"/>
              <a:t> </a:t>
            </a:r>
            <a:r>
              <a:rPr lang="en-US" sz="2800" dirty="0" err="1" smtClean="0"/>
              <a:t>kurumsal</a:t>
            </a:r>
            <a:r>
              <a:rPr lang="en-US" sz="2800" dirty="0" smtClean="0"/>
              <a:t> </a:t>
            </a:r>
            <a:r>
              <a:rPr lang="en-US" sz="2800" dirty="0" err="1" smtClean="0"/>
              <a:t>bilgi</a:t>
            </a:r>
            <a:r>
              <a:rPr lang="en-US" sz="2800" dirty="0" smtClean="0"/>
              <a:t> </a:t>
            </a:r>
            <a:r>
              <a:rPr lang="en-US" sz="2800" dirty="0" err="1" smtClean="0"/>
              <a:t>işlem</a:t>
            </a:r>
            <a:r>
              <a:rPr lang="en-US" sz="2800" dirty="0" smtClean="0"/>
              <a:t> ve </a:t>
            </a:r>
            <a:r>
              <a:rPr lang="en-US" sz="2800" dirty="0" err="1" smtClean="0"/>
              <a:t>ağ</a:t>
            </a:r>
            <a:r>
              <a:rPr lang="en-US" sz="2800" dirty="0" smtClean="0"/>
              <a:t> </a:t>
            </a:r>
            <a:r>
              <a:rPr lang="en-US" sz="2800" dirty="0" err="1" smtClean="0"/>
              <a:t>kaynaklarını</a:t>
            </a:r>
            <a:r>
              <a:rPr lang="en-US" sz="2800" dirty="0" smtClean="0"/>
              <a:t> </a:t>
            </a:r>
            <a:r>
              <a:rPr lang="en-US" sz="2800" dirty="0" err="1" smtClean="0"/>
              <a:t>kullanmak</a:t>
            </a:r>
            <a:r>
              <a:rPr lang="en-US" sz="2800" dirty="0" smtClean="0"/>
              <a:t> </a:t>
            </a:r>
            <a:r>
              <a:rPr lang="en-US" sz="2800" dirty="0" err="1" smtClean="0"/>
              <a:t>için</a:t>
            </a:r>
            <a:r>
              <a:rPr lang="en-US" sz="2800" dirty="0" smtClean="0"/>
              <a:t> </a:t>
            </a:r>
            <a:r>
              <a:rPr lang="en-US" sz="2800" dirty="0" err="1" smtClean="0"/>
              <a:t>kabul</a:t>
            </a:r>
            <a:r>
              <a:rPr lang="en-US" sz="2800" dirty="0" smtClean="0"/>
              <a:t> </a:t>
            </a:r>
            <a:r>
              <a:rPr lang="en-US" sz="2800" dirty="0" err="1" smtClean="0"/>
              <a:t>etmesi</a:t>
            </a:r>
            <a:r>
              <a:rPr lang="en-US" sz="2800" dirty="0" smtClean="0"/>
              <a:t> </a:t>
            </a:r>
            <a:r>
              <a:rPr lang="en-US" sz="2800" dirty="0" err="1" smtClean="0"/>
              <a:t>gereken</a:t>
            </a:r>
            <a:r>
              <a:rPr lang="en-US" sz="2800" dirty="0" smtClean="0"/>
              <a:t> </a:t>
            </a:r>
            <a:r>
              <a:rPr lang="en-US" sz="2800" dirty="0" err="1" smtClean="0"/>
              <a:t>kısıtlamaları</a:t>
            </a:r>
            <a:r>
              <a:rPr lang="en-US" sz="2800" dirty="0" smtClean="0"/>
              <a:t> ve </a:t>
            </a:r>
            <a:r>
              <a:rPr lang="en-US" sz="2800" dirty="0" err="1" smtClean="0"/>
              <a:t>uygulamaları</a:t>
            </a:r>
            <a:r>
              <a:rPr lang="en-US" sz="2800" dirty="0" smtClean="0"/>
              <a:t> </a:t>
            </a:r>
            <a:r>
              <a:rPr lang="en-US" sz="2800" dirty="0" err="1" smtClean="0"/>
              <a:t>belirtir</a:t>
            </a:r>
            <a:r>
              <a:rPr lang="en-US" sz="2800" dirty="0" smtClean="0"/>
              <a:t> </a:t>
            </a:r>
            <a:endParaRPr lang="tr-TR" sz="2800" dirty="0" smtClean="0"/>
          </a:p>
          <a:p>
            <a:r>
              <a:rPr lang="en-US" sz="2800" dirty="0" err="1" smtClean="0"/>
              <a:t>Etkili</a:t>
            </a:r>
            <a:r>
              <a:rPr lang="en-US" sz="2800" dirty="0" smtClean="0"/>
              <a:t> </a:t>
            </a:r>
            <a:r>
              <a:rPr lang="en-US" sz="2800" dirty="0" err="1" smtClean="0"/>
              <a:t>bir</a:t>
            </a:r>
            <a:r>
              <a:rPr lang="en-US" sz="2800" dirty="0" smtClean="0"/>
              <a:t> AUP </a:t>
            </a:r>
            <a:r>
              <a:rPr lang="en-US" sz="2800" dirty="0" err="1" smtClean="0"/>
              <a:t>beş</a:t>
            </a:r>
            <a:r>
              <a:rPr lang="en-US" sz="2800" dirty="0" smtClean="0"/>
              <a:t> </a:t>
            </a:r>
            <a:r>
              <a:rPr lang="en-US" sz="2800" dirty="0" err="1" smtClean="0"/>
              <a:t>unsur</a:t>
            </a:r>
            <a:r>
              <a:rPr lang="en-US" sz="2800" dirty="0" smtClean="0"/>
              <a:t> </a:t>
            </a:r>
            <a:r>
              <a:rPr lang="en-US" sz="2800" dirty="0" err="1" smtClean="0"/>
              <a:t>içerir</a:t>
            </a:r>
            <a:r>
              <a:rPr lang="en-US" sz="2800" dirty="0" smtClean="0"/>
              <a:t>: </a:t>
            </a:r>
            <a:endParaRPr lang="tr-TR" sz="2800" dirty="0" smtClean="0"/>
          </a:p>
          <a:p>
            <a:pPr lvl="1"/>
            <a:r>
              <a:rPr lang="en-US" sz="2600" dirty="0" err="1" smtClean="0"/>
              <a:t>Amaç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Kapsamı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İlke</a:t>
            </a:r>
            <a:r>
              <a:rPr lang="en-US" sz="2600" dirty="0" smtClean="0"/>
              <a:t> </a:t>
            </a:r>
            <a:r>
              <a:rPr lang="en-US" sz="2600" dirty="0" err="1" smtClean="0"/>
              <a:t>Uyumluluğu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Yaptırımlar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2"/>
            <a:r>
              <a:rPr lang="en-US" sz="2400" dirty="0" err="1" smtClean="0"/>
              <a:t>Bir</a:t>
            </a:r>
            <a:r>
              <a:rPr lang="en-US" sz="2400" dirty="0" smtClean="0"/>
              <a:t> </a:t>
            </a:r>
            <a:r>
              <a:rPr lang="en-US" sz="2400" dirty="0" err="1" smtClean="0"/>
              <a:t>kuruluşun</a:t>
            </a:r>
            <a:r>
              <a:rPr lang="en-US" sz="2400" dirty="0" smtClean="0"/>
              <a:t> </a:t>
            </a:r>
            <a:r>
              <a:rPr lang="en-US" sz="2400" dirty="0" err="1" smtClean="0"/>
              <a:t>bilgi</a:t>
            </a:r>
            <a:r>
              <a:rPr lang="en-US" sz="2400" dirty="0" smtClean="0"/>
              <a:t> </a:t>
            </a:r>
            <a:r>
              <a:rPr lang="en-US" sz="2400" dirty="0" err="1" smtClean="0"/>
              <a:t>güvenliği</a:t>
            </a:r>
            <a:r>
              <a:rPr lang="en-US" sz="2400" dirty="0" smtClean="0"/>
              <a:t> (</a:t>
            </a:r>
            <a:r>
              <a:rPr lang="en-US" sz="2400" dirty="0" err="1" smtClean="0"/>
              <a:t>infosec</a:t>
            </a:r>
            <a:r>
              <a:rPr lang="en-US" sz="2400" dirty="0" smtClean="0"/>
              <a:t>) </a:t>
            </a:r>
            <a:r>
              <a:rPr lang="en-US" sz="2400" dirty="0" err="1" smtClean="0"/>
              <a:t>grubu</a:t>
            </a:r>
            <a:r>
              <a:rPr lang="en-US" sz="2400" dirty="0" smtClean="0"/>
              <a:t>, </a:t>
            </a:r>
            <a:r>
              <a:rPr lang="en-US" sz="2400" dirty="0" err="1" smtClean="0"/>
              <a:t>AUP'ye</a:t>
            </a:r>
            <a:r>
              <a:rPr lang="en-US" sz="2400" dirty="0" smtClean="0"/>
              <a:t> </a:t>
            </a:r>
            <a:r>
              <a:rPr lang="en-US" sz="2400" dirty="0" err="1" smtClean="0"/>
              <a:t>uyumluluğu</a:t>
            </a:r>
            <a:r>
              <a:rPr lang="en-US" sz="2400" dirty="0" smtClean="0"/>
              <a:t> </a:t>
            </a:r>
            <a:r>
              <a:rPr lang="en-US" sz="2400" dirty="0" err="1" smtClean="0"/>
              <a:t>izlemekten</a:t>
            </a:r>
            <a:r>
              <a:rPr lang="en-US" sz="2400" dirty="0" smtClean="0"/>
              <a:t> </a:t>
            </a:r>
            <a:r>
              <a:rPr lang="en-US" sz="2400" dirty="0" err="1" smtClean="0"/>
              <a:t>sorumludur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66605"/>
            <a:ext cx="8026400" cy="575542"/>
          </a:xfrm>
        </p:spPr>
        <p:txBody>
          <a:bodyPr/>
          <a:lstStyle/>
          <a:p>
            <a:r>
              <a:rPr lang="en-US" dirty="0"/>
              <a:t>Acceptable Use Policy (AUP</a:t>
            </a:r>
            <a:r>
              <a:rPr lang="en-US" dirty="0" smtClean="0"/>
              <a:t>)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>Kabul Edilebilir Kullanım Politikası (AUP)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727916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2-5 (part 1): This table presents a checklist of questions a manager should ask when trying to establish an acceptable use policy: &#10;Is there a statement that explains the need for an acceptable use policy?&#10;Is it clear how the policy applies to the following types of workers?&#10;Full-time employees&#10;Part-time employees&#10;Temps&#10;Contractors&#10;Does the policy address the following issues?&#10;Protection of the data privacy rights of employees, customers, suppliers, and others&#10;Control of access to proprietary company data and information&#10;Use of unauthorized or pirated software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4152681"/>
              </p:ext>
            </p:extLst>
          </p:nvPr>
        </p:nvGraphicFramePr>
        <p:xfrm>
          <a:off x="347270" y="1219200"/>
          <a:ext cx="8403971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8675">
                  <a:extLst>
                    <a:ext uri="{9D8B030D-6E8A-4147-A177-3AD203B41FA5}">
                      <a16:colId xmlns:a16="http://schemas.microsoft.com/office/drawing/2014/main" xmlns="" val="2363978071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xmlns="" val="269672754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xmlns="" val="640755802"/>
                    </a:ext>
                  </a:extLst>
                </a:gridCol>
              </a:tblGrid>
              <a:tr h="334328">
                <a:tc>
                  <a:txBody>
                    <a:bodyPr/>
                    <a:lstStyle/>
                    <a:p>
                      <a:r>
                        <a:rPr lang="en-US" sz="2000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266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Kabul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edilebilir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kullanım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politikasına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duyulan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ihtiyacı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açıklayan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ifade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Politikanın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aşağıdaki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işçi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türlerine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nasıl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uygulandığı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açık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Tam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zamanlı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çalışanlar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Yarı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zamanlı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çalışanlar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tr-TR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Geçici çalışanlar</a:t>
                      </a: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Müteahhitler</a:t>
                      </a:r>
                      <a:endParaRPr lang="en-US" sz="2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İlke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aşağıdaki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sorunları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alıyor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mu?</a:t>
                      </a:r>
                      <a:endParaRPr lang="en-US" sz="2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Çalışanların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müşterilerin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tedarikçilerin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diğerlerinin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gizliliği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haklarının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korunması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Özel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şirket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verilerine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bilgilerine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erişimin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kontrolü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Yetkisiz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veya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korsan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yazılım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kullanımı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37021227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0"/>
            <a:ext cx="8026400" cy="983924"/>
          </a:xfrm>
        </p:spPr>
        <p:txBody>
          <a:bodyPr/>
          <a:lstStyle/>
          <a:p>
            <a:r>
              <a:rPr lang="en-US" sz="2500" dirty="0"/>
              <a:t>Manager’s Checklist For Establishing an Acceptable Use Policy, Part </a:t>
            </a:r>
            <a:r>
              <a:rPr lang="en-US" sz="2500" dirty="0" smtClean="0"/>
              <a:t>1</a:t>
            </a:r>
            <a:r>
              <a:rPr lang="tr-TR" sz="2500" dirty="0" smtClean="0"/>
              <a:t>-Kabul Edilebilir Bir Kullanım Politikası Oluşturmak İçin Yöneticinin Kontrol Listesi, Bölüm 1</a:t>
            </a:r>
            <a:endParaRPr lang="en-US" sz="25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202502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2-5 (part 2): This table presents a checklist of questions a manager should ask when trying to establish an acceptable use policy:&#10;Does the policy address the following issues? (continued)&#10;Employee monitoring, including email, wiretapping and eavesdropping on phone conversations, computer monitoring, and surveillance by video&#10;Respect of the intellectual rights of others, including trade secrets, copyrights, patents, and trademarks&#10;Inappropriate use of IT resources, such as web surfing, excessive use of social networks, blogging, personal emailing, and other use of computers for purposes other than business&#10;The need to protect the security of IT resources through adherence to good security practices, such as not sharing user IDs and passwords, using hard-to-guess passwords, and frequently changing passwords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844316"/>
              </p:ext>
            </p:extLst>
          </p:nvPr>
        </p:nvGraphicFramePr>
        <p:xfrm>
          <a:off x="347270" y="1219200"/>
          <a:ext cx="8403971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8675">
                  <a:extLst>
                    <a:ext uri="{9D8B030D-6E8A-4147-A177-3AD203B41FA5}">
                      <a16:colId xmlns:a16="http://schemas.microsoft.com/office/drawing/2014/main" xmlns="" val="2363978071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xmlns="" val="269672754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xmlns="" val="640755802"/>
                    </a:ext>
                  </a:extLst>
                </a:gridCol>
              </a:tblGrid>
              <a:tr h="334328">
                <a:tc>
                  <a:txBody>
                    <a:bodyPr/>
                    <a:lstStyle/>
                    <a:p>
                      <a:r>
                        <a:rPr lang="en-US" sz="2000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266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İlke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aşağıdaki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sorunları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alıyor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mu? (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devamı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E-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posta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telefon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dinleme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telefon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konuşmalarını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dinleme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bilgisayar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izleme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 video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ile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gözetim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dahil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olmak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üzere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çalışanların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izlenmesi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Ticari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sırlar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telif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hakları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patentler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ticari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markalar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dahil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olmak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üzere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başkalarının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fikri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haklarına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saygı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gösterilmesi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Web'de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gezinme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sosyal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ağların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aşırı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kullanımı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blog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yazma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kişisel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e-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posta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gönderme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bilgisayarların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iş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dışındaki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amaçlar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için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diğer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kullanımı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gibi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BT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kaynaklarının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uygunsuz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kullanımı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Kullanıcı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kimliklerini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parolaları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paylaşmamak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tahmin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edilmesi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zor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parolalar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kullanmak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sık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sık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parola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değiştirmek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gibi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iyi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güvenlik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uygulamalarına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bağlı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kalarak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BT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kaynaklarının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güvenliğini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koruma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gereksinimi</a:t>
                      </a:r>
                      <a:endParaRPr lang="en-US" sz="2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37021227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0"/>
            <a:ext cx="8026400" cy="983924"/>
          </a:xfrm>
        </p:spPr>
        <p:txBody>
          <a:bodyPr/>
          <a:lstStyle/>
          <a:p>
            <a:r>
              <a:rPr lang="en-US" sz="2500" dirty="0"/>
              <a:t>Manager’s Checklist For Establishing an Acceptable Use Policy, Part </a:t>
            </a:r>
            <a:r>
              <a:rPr lang="en-US" sz="2500" dirty="0" smtClean="0"/>
              <a:t>2</a:t>
            </a:r>
            <a:r>
              <a:rPr lang="tr-TR" sz="2500" dirty="0"/>
              <a:t>--Kabul Edilebilir Bir Kullanım Politikası Oluşturmak İçin Yöneticinin Kontrol Listesi, Bölüm </a:t>
            </a:r>
            <a:r>
              <a:rPr lang="tr-TR" sz="2500" dirty="0" smtClean="0"/>
              <a:t>2</a:t>
            </a:r>
            <a:endParaRPr lang="en-US" sz="25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22468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2-5 (part 3): This table presents a checklist of questions a manager should ask when trying to establish an acceptable use policy:&#10;Does the policy address the following issues? (continued)&#10;The use of the computer to intimidate, harass, or insult others through abusive language in emails and by other means&#10;Are disciplinary actions defined for IT-related abuses?&#10;Is there a process for communicating the policy to employees?&#10;Is there a plan to provide effective, ongoing training relative to the policy?&#10;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824782"/>
              </p:ext>
            </p:extLst>
          </p:nvPr>
        </p:nvGraphicFramePr>
        <p:xfrm>
          <a:off x="347270" y="1219200"/>
          <a:ext cx="8415339" cy="336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6530">
                  <a:extLst>
                    <a:ext uri="{9D8B030D-6E8A-4147-A177-3AD203B41FA5}">
                      <a16:colId xmlns:a16="http://schemas.microsoft.com/office/drawing/2014/main" xmlns="" val="23639780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696727545"/>
                    </a:ext>
                  </a:extLst>
                </a:gridCol>
                <a:gridCol w="609209">
                  <a:extLst>
                    <a:ext uri="{9D8B030D-6E8A-4147-A177-3AD203B41FA5}">
                      <a16:colId xmlns:a16="http://schemas.microsoft.com/office/drawing/2014/main" xmlns="" val="640755802"/>
                    </a:ext>
                  </a:extLst>
                </a:gridCol>
              </a:tblGrid>
              <a:tr h="334328">
                <a:tc>
                  <a:txBody>
                    <a:bodyPr/>
                    <a:lstStyle/>
                    <a:p>
                      <a:r>
                        <a:rPr lang="en-US" sz="2000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266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İlke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aşağıdaki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sorunları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alıyor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mu? (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devamı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Bilgisayarın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e-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postalardaki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küfürlü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dil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diğer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yollarla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başkalarını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korkutmak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taciz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etmek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veya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hakaret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etmek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için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kullanılması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BT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ile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ilgili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suistimaller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için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disiplin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cezaları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tanımlanmış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Politikayı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çalışanlara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iletmek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için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süreç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  <a:endParaRPr lang="tr-TR" sz="21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Politikaya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göre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etkili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sürekli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eğitim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sağlamak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için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plan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1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mı</a:t>
                      </a:r>
                      <a:r>
                        <a:rPr lang="en-US" sz="2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37021227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0"/>
            <a:ext cx="8026400" cy="983924"/>
          </a:xfrm>
        </p:spPr>
        <p:txBody>
          <a:bodyPr/>
          <a:lstStyle/>
          <a:p>
            <a:r>
              <a:rPr lang="en-US" sz="2500" dirty="0"/>
              <a:t>Manager’s Checklist For Establishing an Acceptable Use Policy, Part </a:t>
            </a:r>
            <a:r>
              <a:rPr lang="en-US" sz="2500" dirty="0" smtClean="0"/>
              <a:t>3</a:t>
            </a:r>
            <a:r>
              <a:rPr lang="tr-TR" sz="2500" dirty="0"/>
              <a:t>--Kabul Edilebilir Bir Kullanım Politikası Oluşturmak İçin Yöneticinin Kontrol Listesi, Bölüm </a:t>
            </a:r>
            <a:r>
              <a:rPr lang="tr-TR" sz="2500" dirty="0" smtClean="0"/>
              <a:t>3</a:t>
            </a:r>
            <a:endParaRPr lang="en-US" sz="25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74872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763834"/>
          </a:xfrm>
        </p:spPr>
        <p:txBody>
          <a:bodyPr/>
          <a:lstStyle/>
          <a:p>
            <a:r>
              <a:rPr lang="en-US" altLang="en-US" sz="2800" dirty="0" err="1" smtClean="0"/>
              <a:t>Uyumluluk</a:t>
            </a:r>
            <a:r>
              <a:rPr lang="en-US" altLang="en-US" sz="2800" dirty="0" smtClean="0"/>
              <a:t>: </a:t>
            </a:r>
            <a:r>
              <a:rPr lang="en-US" altLang="en-US" sz="2800" dirty="0" err="1" smtClean="0"/>
              <a:t>Belirlenmiş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politikalara</a:t>
            </a:r>
            <a:r>
              <a:rPr lang="en-US" altLang="en-US" sz="2800" dirty="0" smtClean="0"/>
              <a:t>, </a:t>
            </a:r>
            <a:r>
              <a:rPr lang="en-US" altLang="en-US" sz="2800" dirty="0" err="1" smtClean="0"/>
              <a:t>yönergelere</a:t>
            </a:r>
            <a:r>
              <a:rPr lang="en-US" altLang="en-US" sz="2800" dirty="0" smtClean="0"/>
              <a:t>, </a:t>
            </a:r>
            <a:r>
              <a:rPr lang="en-US" altLang="en-US" sz="2800" dirty="0" err="1" smtClean="0"/>
              <a:t>şartnamelere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veya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mevzuata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uygun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olmak</a:t>
            </a:r>
            <a:r>
              <a:rPr lang="en-US" altLang="en-US" sz="2800" dirty="0" smtClean="0"/>
              <a:t> </a:t>
            </a:r>
            <a:endParaRPr lang="tr-TR" altLang="en-US" sz="2800" dirty="0" smtClean="0"/>
          </a:p>
          <a:p>
            <a:r>
              <a:rPr lang="en-US" altLang="en-US" sz="2800" dirty="0" err="1" smtClean="0"/>
              <a:t>Mevzuata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uyulmaması</a:t>
            </a:r>
            <a:r>
              <a:rPr lang="en-US" altLang="en-US" sz="2800" dirty="0" smtClean="0"/>
              <a:t>, </a:t>
            </a:r>
            <a:r>
              <a:rPr lang="en-US" altLang="en-US" sz="2800" dirty="0" err="1" smtClean="0"/>
              <a:t>davalara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veya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devlet</a:t>
            </a:r>
            <a:r>
              <a:rPr lang="en-US" altLang="en-US" sz="2800" dirty="0" smtClean="0"/>
              <a:t> para </a:t>
            </a:r>
            <a:r>
              <a:rPr lang="en-US" altLang="en-US" sz="2800" dirty="0" err="1" smtClean="0"/>
              <a:t>cezalarına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yol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açabilir</a:t>
            </a:r>
            <a:r>
              <a:rPr lang="en-US" altLang="en-US" sz="2800" dirty="0" smtClean="0"/>
              <a:t>. </a:t>
            </a:r>
            <a:endParaRPr lang="tr-TR" altLang="en-US" sz="2800" dirty="0" smtClean="0"/>
          </a:p>
          <a:p>
            <a:r>
              <a:rPr lang="en-US" altLang="en-US" sz="2800" dirty="0" err="1" smtClean="0"/>
              <a:t>Birden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fazla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hükümet</a:t>
            </a:r>
            <a:r>
              <a:rPr lang="en-US" altLang="en-US" sz="2800" dirty="0" smtClean="0"/>
              <a:t> ve </a:t>
            </a:r>
            <a:r>
              <a:rPr lang="en-US" altLang="en-US" sz="2800" dirty="0" err="1" smtClean="0"/>
              <a:t>endüstri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düzenlemesine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uyumu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göstermek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zor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olabilir</a:t>
            </a:r>
            <a:r>
              <a:rPr lang="en-US" altLang="en-US" sz="2800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 smtClean="0"/>
              <a:t>Compliance</a:t>
            </a:r>
            <a:r>
              <a:rPr lang="tr-TR" sz="4000" dirty="0" smtClean="0"/>
              <a:t>-Uyumluluk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31137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997744"/>
          </a:xfrm>
        </p:spPr>
        <p:txBody>
          <a:bodyPr/>
          <a:lstStyle/>
          <a:p>
            <a:r>
              <a:rPr lang="en-US" sz="2800" dirty="0" err="1" smtClean="0"/>
              <a:t>Yönetim</a:t>
            </a:r>
            <a:r>
              <a:rPr lang="en-US" sz="2800" dirty="0" smtClean="0"/>
              <a:t> </a:t>
            </a:r>
            <a:r>
              <a:rPr lang="en-US" sz="2800" dirty="0" err="1" smtClean="0"/>
              <a:t>kuruluna</a:t>
            </a:r>
            <a:r>
              <a:rPr lang="en-US" sz="2800" dirty="0" smtClean="0"/>
              <a:t> </a:t>
            </a:r>
            <a:r>
              <a:rPr lang="en-US" sz="2800" dirty="0" err="1" smtClean="0"/>
              <a:t>aşağıdaki</a:t>
            </a:r>
            <a:r>
              <a:rPr lang="en-US" sz="2800" dirty="0" smtClean="0"/>
              <a:t> </a:t>
            </a:r>
            <a:r>
              <a:rPr lang="en-US" sz="2800" dirty="0" err="1" smtClean="0"/>
              <a:t>konularda</a:t>
            </a:r>
            <a:r>
              <a:rPr lang="en-US" sz="2800" dirty="0" smtClean="0"/>
              <a:t> </a:t>
            </a:r>
            <a:r>
              <a:rPr lang="en-US" sz="2800" dirty="0" err="1" smtClean="0"/>
              <a:t>yardım</a:t>
            </a:r>
            <a:r>
              <a:rPr lang="en-US" sz="2800" dirty="0" smtClean="0"/>
              <a:t> </a:t>
            </a:r>
            <a:r>
              <a:rPr lang="en-US" sz="2800" dirty="0" err="1" smtClean="0"/>
              <a:t>sağlar</a:t>
            </a:r>
            <a:r>
              <a:rPr lang="en-US" sz="2800" dirty="0" smtClean="0"/>
              <a:t>:</a:t>
            </a:r>
            <a:endParaRPr lang="tr-TR" sz="2800" dirty="0" smtClean="0"/>
          </a:p>
          <a:p>
            <a:pPr lvl="1"/>
            <a:r>
              <a:rPr lang="en-US" sz="2600" dirty="0" err="1" smtClean="0"/>
              <a:t>Muhasebe</a:t>
            </a:r>
            <a:r>
              <a:rPr lang="en-US" sz="2600" dirty="0" smtClean="0"/>
              <a:t> ve </a:t>
            </a:r>
            <a:r>
              <a:rPr lang="en-US" sz="2600" dirty="0" err="1" smtClean="0"/>
              <a:t>raporlama</a:t>
            </a:r>
            <a:r>
              <a:rPr lang="en-US" sz="2600" dirty="0" smtClean="0"/>
              <a:t> </a:t>
            </a:r>
            <a:r>
              <a:rPr lang="en-US" sz="2600" dirty="0" err="1" smtClean="0"/>
              <a:t>uygulamalarının</a:t>
            </a:r>
            <a:r>
              <a:rPr lang="en-US" sz="2600" dirty="0" smtClean="0"/>
              <a:t> ve </a:t>
            </a:r>
            <a:r>
              <a:rPr lang="en-US" sz="2600" dirty="0" err="1" smtClean="0"/>
              <a:t>kontrollerinin</a:t>
            </a:r>
            <a:r>
              <a:rPr lang="en-US" sz="2600" dirty="0" smtClean="0"/>
              <a:t> </a:t>
            </a:r>
            <a:r>
              <a:rPr lang="en-US" sz="2600" dirty="0" err="1" smtClean="0"/>
              <a:t>kalitesi</a:t>
            </a:r>
            <a:r>
              <a:rPr lang="en-US" sz="2600" dirty="0" smtClean="0"/>
              <a:t> ve </a:t>
            </a:r>
            <a:r>
              <a:rPr lang="en-US" sz="2600" dirty="0" err="1" smtClean="0"/>
              <a:t>bütünlüğü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Yasal</a:t>
            </a:r>
            <a:r>
              <a:rPr lang="en-US" sz="2600" dirty="0" smtClean="0"/>
              <a:t> ve </a:t>
            </a:r>
            <a:r>
              <a:rPr lang="en-US" sz="2600" dirty="0" err="1" smtClean="0"/>
              <a:t>düzenleyici</a:t>
            </a:r>
            <a:r>
              <a:rPr lang="en-US" sz="2600" dirty="0" smtClean="0"/>
              <a:t> </a:t>
            </a:r>
            <a:r>
              <a:rPr lang="en-US" sz="2600" dirty="0" err="1" smtClean="0"/>
              <a:t>gerekliliklere</a:t>
            </a:r>
            <a:r>
              <a:rPr lang="en-US" sz="2600" dirty="0" smtClean="0"/>
              <a:t> </a:t>
            </a:r>
            <a:r>
              <a:rPr lang="en-US" sz="2600" dirty="0" err="1" smtClean="0"/>
              <a:t>uygunluk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Kuruluşun</a:t>
            </a:r>
            <a:r>
              <a:rPr lang="en-US" sz="2600" dirty="0" smtClean="0"/>
              <a:t> </a:t>
            </a:r>
            <a:r>
              <a:rPr lang="en-US" sz="2600" dirty="0" err="1" smtClean="0"/>
              <a:t>bağımsız</a:t>
            </a:r>
            <a:r>
              <a:rPr lang="en-US" sz="2600" dirty="0" smtClean="0"/>
              <a:t> </a:t>
            </a:r>
            <a:r>
              <a:rPr lang="en-US" sz="2600" dirty="0" err="1" smtClean="0"/>
              <a:t>denetçisinin</a:t>
            </a:r>
            <a:r>
              <a:rPr lang="en-US" sz="2600" dirty="0" smtClean="0"/>
              <a:t> </a:t>
            </a:r>
            <a:r>
              <a:rPr lang="en-US" sz="2600" dirty="0" err="1" smtClean="0"/>
              <a:t>nitelikleri</a:t>
            </a:r>
            <a:r>
              <a:rPr lang="en-US" sz="2600" dirty="0" smtClean="0"/>
              <a:t>, </a:t>
            </a:r>
            <a:r>
              <a:rPr lang="en-US" sz="2600" dirty="0" err="1" smtClean="0"/>
              <a:t>bağımsızlığı</a:t>
            </a:r>
            <a:r>
              <a:rPr lang="en-US" sz="2600" dirty="0" smtClean="0"/>
              <a:t> ve </a:t>
            </a:r>
            <a:r>
              <a:rPr lang="en-US" sz="2600" dirty="0" err="1" smtClean="0"/>
              <a:t>performansı</a:t>
            </a:r>
            <a:r>
              <a:rPr lang="en-US" sz="2600" dirty="0" smtClean="0"/>
              <a:t> </a:t>
            </a:r>
            <a:endParaRPr lang="tr-TR" sz="2600" dirty="0" smtClean="0"/>
          </a:p>
          <a:p>
            <a:pPr lvl="1"/>
            <a:r>
              <a:rPr lang="en-US" sz="2600" dirty="0" err="1" smtClean="0"/>
              <a:t>Şirketin</a:t>
            </a:r>
            <a:r>
              <a:rPr lang="en-US" sz="2600" dirty="0" smtClean="0"/>
              <a:t> </a:t>
            </a:r>
            <a:r>
              <a:rPr lang="en-US" sz="2600" dirty="0" err="1" smtClean="0"/>
              <a:t>iç</a:t>
            </a:r>
            <a:r>
              <a:rPr lang="en-US" sz="2600" dirty="0" smtClean="0"/>
              <a:t> </a:t>
            </a:r>
            <a:r>
              <a:rPr lang="en-US" sz="2600" dirty="0" err="1" smtClean="0"/>
              <a:t>denetim</a:t>
            </a:r>
            <a:r>
              <a:rPr lang="en-US" sz="2600" dirty="0" smtClean="0"/>
              <a:t> </a:t>
            </a:r>
            <a:r>
              <a:rPr lang="en-US" sz="2600" dirty="0" err="1" smtClean="0"/>
              <a:t>ekibinin</a:t>
            </a:r>
            <a:r>
              <a:rPr lang="en-US" sz="2600" dirty="0" smtClean="0"/>
              <a:t> </a:t>
            </a:r>
            <a:r>
              <a:rPr lang="en-US" sz="2600" dirty="0" err="1" smtClean="0"/>
              <a:t>performansı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8849"/>
            <a:ext cx="8026400" cy="1051057"/>
          </a:xfrm>
        </p:spPr>
        <p:txBody>
          <a:bodyPr/>
          <a:lstStyle/>
          <a:p>
            <a:r>
              <a:rPr lang="en-US" sz="4000" dirty="0"/>
              <a:t>Audit </a:t>
            </a:r>
            <a:r>
              <a:rPr lang="en-US" sz="4000" dirty="0" smtClean="0"/>
              <a:t>Committee</a:t>
            </a:r>
            <a:r>
              <a:rPr lang="tr-TR" sz="4000" dirty="0" smtClean="0"/>
              <a:t>-</a:t>
            </a:r>
            <a:br>
              <a:rPr lang="tr-TR" sz="4000" dirty="0" smtClean="0"/>
            </a:br>
            <a:r>
              <a:rPr lang="tr-TR" sz="4000" dirty="0" smtClean="0"/>
              <a:t>Denetim Komitesi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17620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9365" y="1371600"/>
            <a:ext cx="8415338" cy="4215000"/>
          </a:xfrm>
        </p:spPr>
        <p:txBody>
          <a:bodyPr/>
          <a:lstStyle/>
          <a:p>
            <a:r>
              <a:rPr lang="en-US" altLang="en-US" sz="2800" dirty="0" err="1" smtClean="0"/>
              <a:t>Birincil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sorumluluklar</a:t>
            </a:r>
            <a:r>
              <a:rPr lang="en-US" altLang="en-US" sz="2800" dirty="0" smtClean="0"/>
              <a:t>: </a:t>
            </a:r>
            <a:endParaRPr lang="tr-TR" altLang="en-US" sz="2800" dirty="0" smtClean="0"/>
          </a:p>
          <a:p>
            <a:pPr lvl="1"/>
            <a:r>
              <a:rPr lang="en-US" altLang="en-US" sz="2600" dirty="0" err="1" smtClean="0"/>
              <a:t>İç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sistemlerin</a:t>
            </a:r>
            <a:r>
              <a:rPr lang="en-US" altLang="en-US" sz="2600" dirty="0" smtClean="0"/>
              <a:t> ve </a:t>
            </a:r>
            <a:r>
              <a:rPr lang="en-US" altLang="en-US" sz="2600" dirty="0" err="1" smtClean="0"/>
              <a:t>kontrollerin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etkili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olduğunu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belirlemek</a:t>
            </a:r>
            <a:r>
              <a:rPr lang="en-US" altLang="en-US" sz="2600" dirty="0" smtClean="0"/>
              <a:t> </a:t>
            </a:r>
            <a:endParaRPr lang="tr-TR" altLang="en-US" sz="2600" dirty="0" smtClean="0"/>
          </a:p>
          <a:p>
            <a:pPr lvl="1"/>
            <a:r>
              <a:rPr lang="en-US" altLang="en-US" sz="2600" dirty="0" err="1" smtClean="0"/>
              <a:t>Şirket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varlıklarının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varlığını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doğrulamak</a:t>
            </a:r>
            <a:r>
              <a:rPr lang="en-US" altLang="en-US" sz="2600" dirty="0" smtClean="0"/>
              <a:t> ve </a:t>
            </a:r>
            <a:r>
              <a:rPr lang="en-US" altLang="en-US" sz="2600" dirty="0" err="1" smtClean="0"/>
              <a:t>korunmaları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konusunda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uygun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önlemleri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almak</a:t>
            </a:r>
            <a:r>
              <a:rPr lang="en-US" altLang="en-US" sz="2600" dirty="0" smtClean="0"/>
              <a:t> </a:t>
            </a:r>
            <a:endParaRPr lang="tr-TR" altLang="en-US" sz="2600" dirty="0" smtClean="0"/>
          </a:p>
          <a:p>
            <a:pPr lvl="1"/>
            <a:r>
              <a:rPr lang="en-US" altLang="en-US" sz="2600" dirty="0" err="1" smtClean="0"/>
              <a:t>Kuruluşun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kendi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politika</a:t>
            </a:r>
            <a:r>
              <a:rPr lang="en-US" altLang="en-US" sz="2600" dirty="0" smtClean="0"/>
              <a:t> ve </a:t>
            </a:r>
            <a:r>
              <a:rPr lang="en-US" altLang="en-US" sz="2600" dirty="0" err="1" smtClean="0"/>
              <a:t>prosedürlerine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uygunluğunu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ölçmek</a:t>
            </a:r>
            <a:r>
              <a:rPr lang="en-US" altLang="en-US" sz="2600" dirty="0" smtClean="0"/>
              <a:t> </a:t>
            </a:r>
            <a:endParaRPr lang="tr-TR" altLang="en-US" sz="2600" dirty="0" smtClean="0"/>
          </a:p>
          <a:p>
            <a:pPr lvl="1"/>
            <a:r>
              <a:rPr lang="en-US" altLang="en-US" sz="2600" dirty="0" err="1" smtClean="0"/>
              <a:t>Kurumsal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politika</a:t>
            </a:r>
            <a:r>
              <a:rPr lang="en-US" altLang="en-US" sz="2600" dirty="0" smtClean="0"/>
              <a:t> ve </a:t>
            </a:r>
            <a:r>
              <a:rPr lang="en-US" altLang="en-US" sz="2600" dirty="0" err="1" smtClean="0"/>
              <a:t>prosedürlere</a:t>
            </a:r>
            <a:r>
              <a:rPr lang="en-US" altLang="en-US" sz="2600" dirty="0" smtClean="0"/>
              <a:t>, </a:t>
            </a:r>
            <a:r>
              <a:rPr lang="en-US" altLang="en-US" sz="2600" dirty="0" err="1" smtClean="0"/>
              <a:t>uygun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yasalara</a:t>
            </a:r>
            <a:r>
              <a:rPr lang="en-US" altLang="en-US" sz="2600" dirty="0" smtClean="0"/>
              <a:t> ve </a:t>
            </a:r>
            <a:r>
              <a:rPr lang="en-US" altLang="en-US" sz="2600" dirty="0" err="1" smtClean="0"/>
              <a:t>iyi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uygulamalara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uyulmasını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sağlamak</a:t>
            </a:r>
            <a:r>
              <a:rPr lang="en-US" altLang="en-US" sz="2600" dirty="0" smtClean="0"/>
              <a:t> </a:t>
            </a:r>
            <a:endParaRPr lang="tr-TR" altLang="en-US" sz="2600" dirty="0" smtClean="0"/>
          </a:p>
          <a:p>
            <a:pPr lvl="1"/>
            <a:r>
              <a:rPr lang="en-US" altLang="en-US" sz="2600" dirty="0" err="1" smtClean="0"/>
              <a:t>Yönetimin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karar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vermesi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için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mevcut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bilgilerin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yeterliliğini</a:t>
            </a:r>
            <a:r>
              <a:rPr lang="en-US" altLang="en-US" sz="2600" dirty="0" smtClean="0"/>
              <a:t> ve </a:t>
            </a:r>
            <a:r>
              <a:rPr lang="en-US" altLang="en-US" sz="2600" dirty="0" err="1" smtClean="0"/>
              <a:t>güvenilirliğini</a:t>
            </a:r>
            <a:r>
              <a:rPr lang="en-US" altLang="en-US" sz="2600" dirty="0" smtClean="0"/>
              <a:t> </a:t>
            </a:r>
            <a:r>
              <a:rPr lang="en-US" altLang="en-US" sz="2600" dirty="0" err="1" smtClean="0"/>
              <a:t>değerlendirmek</a:t>
            </a:r>
            <a:r>
              <a:rPr lang="tr-TR" altLang="en-US" sz="2600" dirty="0" smtClean="0"/>
              <a:t>”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158"/>
            <a:ext cx="8026400" cy="1046440"/>
          </a:xfrm>
        </p:spPr>
        <p:txBody>
          <a:bodyPr/>
          <a:lstStyle/>
          <a:p>
            <a:r>
              <a:rPr lang="en-US" sz="4000" dirty="0"/>
              <a:t>Internal Audit </a:t>
            </a:r>
            <a:r>
              <a:rPr lang="en-US" sz="4000" dirty="0" smtClean="0"/>
              <a:t>Department</a:t>
            </a:r>
            <a:r>
              <a:rPr lang="tr-TR" sz="4000" dirty="0" smtClean="0"/>
              <a:t/>
            </a:r>
            <a:br>
              <a:rPr lang="tr-TR" sz="4000" dirty="0" smtClean="0"/>
            </a:br>
            <a:r>
              <a:rPr lang="tr-TR" sz="4000" dirty="0" smtClean="0"/>
              <a:t>İç Denetim Departmanı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885141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01" y="1104878"/>
            <a:ext cx="8415338" cy="5005986"/>
          </a:xfrm>
        </p:spPr>
        <p:txBody>
          <a:bodyPr/>
          <a:lstStyle/>
          <a:p>
            <a:r>
              <a:rPr lang="en-US" sz="2800" b="1" dirty="0" err="1" smtClean="0"/>
              <a:t>Bir</a:t>
            </a:r>
            <a:r>
              <a:rPr lang="en-US" sz="2800" b="1" dirty="0" smtClean="0"/>
              <a:t> BT </a:t>
            </a:r>
            <a:r>
              <a:rPr lang="en-US" sz="2800" b="1" dirty="0" err="1" smtClean="0"/>
              <a:t>çalışanı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hangi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ilişkileri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yönetmelidir</a:t>
            </a:r>
            <a:r>
              <a:rPr lang="en-US" sz="2800" b="1" dirty="0" smtClean="0"/>
              <a:t> ve her </a:t>
            </a:r>
            <a:r>
              <a:rPr lang="en-US" sz="2800" b="1" dirty="0" err="1" smtClean="0"/>
              <a:t>birinde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hangi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temel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etik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sorunlar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ortaya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çıkabilir</a:t>
            </a:r>
            <a:r>
              <a:rPr lang="en-US" sz="2800" b="1" dirty="0" smtClean="0"/>
              <a:t>?</a:t>
            </a:r>
            <a:endParaRPr lang="tr-TR" sz="2800" b="1" dirty="0" smtClean="0"/>
          </a:p>
          <a:p>
            <a:pPr lvl="1"/>
            <a:r>
              <a:rPr lang="en-US" sz="2400" dirty="0" smtClean="0"/>
              <a:t>BT </a:t>
            </a:r>
            <a:r>
              <a:rPr lang="en-US" sz="2400" dirty="0" err="1" smtClean="0"/>
              <a:t>çalışanları</a:t>
            </a:r>
            <a:r>
              <a:rPr lang="en-US" sz="2400" dirty="0" smtClean="0"/>
              <a:t> ve </a:t>
            </a:r>
            <a:r>
              <a:rPr lang="en-US" sz="2400" dirty="0" err="1" smtClean="0"/>
              <a:t>işverenleri</a:t>
            </a:r>
            <a:r>
              <a:rPr lang="en-US" sz="2400" dirty="0" smtClean="0"/>
              <a:t>:</a:t>
            </a:r>
          </a:p>
          <a:p>
            <a:pPr lvl="2">
              <a:spcBef>
                <a:spcPts val="300"/>
              </a:spcBef>
            </a:pPr>
            <a:r>
              <a:rPr lang="en-US" sz="2400" dirty="0" err="1" smtClean="0"/>
              <a:t>BT'nin</a:t>
            </a:r>
            <a:r>
              <a:rPr lang="en-US" sz="2400" dirty="0" smtClean="0"/>
              <a:t> </a:t>
            </a:r>
            <a:r>
              <a:rPr lang="en-US" sz="2400" dirty="0" err="1" smtClean="0"/>
              <a:t>etik</a:t>
            </a:r>
            <a:r>
              <a:rPr lang="en-US" sz="2400" dirty="0" smtClean="0"/>
              <a:t> </a:t>
            </a:r>
            <a:r>
              <a:rPr lang="en-US" sz="2400" dirty="0" err="1" smtClean="0"/>
              <a:t>kullanımı</a:t>
            </a:r>
            <a:r>
              <a:rPr lang="en-US" sz="2400" dirty="0" smtClean="0"/>
              <a:t>, </a:t>
            </a:r>
            <a:r>
              <a:rPr lang="en-US" sz="2400" dirty="0" err="1" smtClean="0"/>
              <a:t>ticari</a:t>
            </a:r>
            <a:r>
              <a:rPr lang="en-US" sz="2400" dirty="0" smtClean="0"/>
              <a:t> </a:t>
            </a:r>
            <a:r>
              <a:rPr lang="en-US" sz="2400" dirty="0" err="1" smtClean="0"/>
              <a:t>sırların</a:t>
            </a:r>
            <a:r>
              <a:rPr lang="en-US" sz="2400" dirty="0" smtClean="0"/>
              <a:t> </a:t>
            </a:r>
            <a:r>
              <a:rPr lang="en-US" sz="2400" dirty="0" err="1" smtClean="0"/>
              <a:t>korunması</a:t>
            </a:r>
            <a:r>
              <a:rPr lang="en-US" sz="2400" dirty="0" smtClean="0"/>
              <a:t> ve </a:t>
            </a:r>
            <a:r>
              <a:rPr lang="en-US" sz="2400" dirty="0" err="1" smtClean="0"/>
              <a:t>muhbir</a:t>
            </a:r>
            <a:r>
              <a:rPr lang="en-US" sz="2400" dirty="0" smtClean="0"/>
              <a:t> </a:t>
            </a:r>
            <a:r>
              <a:rPr lang="en-US" sz="2400" dirty="0" err="1" smtClean="0"/>
              <a:t>ile</a:t>
            </a:r>
            <a:r>
              <a:rPr lang="en-US" sz="2400" dirty="0" smtClean="0"/>
              <a:t> </a:t>
            </a:r>
            <a:r>
              <a:rPr lang="en-US" sz="2400" dirty="0" err="1" smtClean="0"/>
              <a:t>ilgili</a:t>
            </a:r>
            <a:r>
              <a:rPr lang="en-US" sz="2400" dirty="0" smtClean="0"/>
              <a:t> </a:t>
            </a:r>
            <a:r>
              <a:rPr lang="en-US" sz="2400" dirty="0" err="1" smtClean="0"/>
              <a:t>politikaların</a:t>
            </a:r>
            <a:r>
              <a:rPr lang="en-US" sz="2400" dirty="0" smtClean="0"/>
              <a:t> </a:t>
            </a:r>
            <a:r>
              <a:rPr lang="en-US" sz="2400" dirty="0" err="1" smtClean="0"/>
              <a:t>belirlenmesi</a:t>
            </a:r>
            <a:endParaRPr lang="tr-TR" sz="2400" dirty="0" smtClean="0"/>
          </a:p>
          <a:p>
            <a:pPr lvl="1">
              <a:spcBef>
                <a:spcPts val="300"/>
              </a:spcBef>
            </a:pPr>
            <a:r>
              <a:rPr lang="en-US" sz="2800" dirty="0" smtClean="0"/>
              <a:t>BT </a:t>
            </a:r>
            <a:r>
              <a:rPr lang="en-US" sz="2800" dirty="0" err="1" smtClean="0"/>
              <a:t>çalışanları</a:t>
            </a:r>
            <a:r>
              <a:rPr lang="en-US" sz="2800" dirty="0" smtClean="0"/>
              <a:t> ve </a:t>
            </a:r>
            <a:r>
              <a:rPr lang="en-US" sz="2800" dirty="0" err="1" smtClean="0"/>
              <a:t>müşterileri</a:t>
            </a:r>
            <a:r>
              <a:rPr lang="en-US" sz="2800" dirty="0" smtClean="0"/>
              <a:t>:</a:t>
            </a:r>
            <a:endParaRPr lang="tr-TR" sz="2800" dirty="0" smtClean="0"/>
          </a:p>
          <a:p>
            <a:pPr lvl="2">
              <a:spcBef>
                <a:spcPts val="300"/>
              </a:spcBef>
            </a:pPr>
            <a:r>
              <a:rPr lang="en-US" sz="2200" dirty="0" err="1" smtClean="0"/>
              <a:t>Bir</a:t>
            </a:r>
            <a:r>
              <a:rPr lang="en-US" sz="2200" dirty="0" smtClean="0"/>
              <a:t> BT </a:t>
            </a:r>
            <a:r>
              <a:rPr lang="en-US" sz="2200" dirty="0" err="1" smtClean="0"/>
              <a:t>projesini</a:t>
            </a:r>
            <a:r>
              <a:rPr lang="en-US" sz="2200" dirty="0" smtClean="0"/>
              <a:t> </a:t>
            </a:r>
            <a:r>
              <a:rPr lang="en-US" sz="2200" dirty="0" err="1" smtClean="0"/>
              <a:t>başarıyla</a:t>
            </a:r>
            <a:r>
              <a:rPr lang="en-US" sz="2200" dirty="0" smtClean="0"/>
              <a:t> </a:t>
            </a:r>
            <a:r>
              <a:rPr lang="en-US" sz="2200" dirty="0" err="1" smtClean="0"/>
              <a:t>tamamlamak</a:t>
            </a:r>
            <a:r>
              <a:rPr lang="en-US" sz="2200" dirty="0" smtClean="0"/>
              <a:t> </a:t>
            </a:r>
            <a:r>
              <a:rPr lang="en-US" sz="2200" dirty="0" err="1" smtClean="0"/>
              <a:t>için</a:t>
            </a:r>
            <a:r>
              <a:rPr lang="en-US" sz="2200" dirty="0" smtClean="0"/>
              <a:t> her </a:t>
            </a:r>
            <a:r>
              <a:rPr lang="en-US" sz="2200" dirty="0" err="1" smtClean="0"/>
              <a:t>bir</a:t>
            </a:r>
            <a:r>
              <a:rPr lang="en-US" sz="2200" dirty="0" smtClean="0"/>
              <a:t> </a:t>
            </a:r>
            <a:r>
              <a:rPr lang="en-US" sz="2200" dirty="0" err="1" smtClean="0"/>
              <a:t>tarafın</a:t>
            </a:r>
            <a:r>
              <a:rPr lang="en-US" sz="2200" dirty="0" smtClean="0"/>
              <a:t> </a:t>
            </a:r>
            <a:r>
              <a:rPr lang="en-US" sz="2200" dirty="0" err="1" smtClean="0"/>
              <a:t>sorumluluklarını</a:t>
            </a:r>
            <a:r>
              <a:rPr lang="en-US" sz="2200" dirty="0" smtClean="0"/>
              <a:t> </a:t>
            </a:r>
            <a:r>
              <a:rPr lang="en-US" sz="2200" dirty="0" err="1" smtClean="0"/>
              <a:t>tanımlamak</a:t>
            </a:r>
            <a:r>
              <a:rPr lang="en-US" sz="2200" dirty="0" smtClean="0"/>
              <a:t> ve </a:t>
            </a:r>
            <a:r>
              <a:rPr lang="en-US" sz="2200" dirty="0" err="1" smtClean="0"/>
              <a:t>yerine</a:t>
            </a:r>
            <a:r>
              <a:rPr lang="en-US" sz="2200" dirty="0" smtClean="0"/>
              <a:t> </a:t>
            </a:r>
            <a:r>
              <a:rPr lang="en-US" sz="2200" dirty="0" err="1" smtClean="0"/>
              <a:t>getirmek</a:t>
            </a:r>
            <a:endParaRPr lang="tr-TR" sz="2200" dirty="0" smtClean="0"/>
          </a:p>
          <a:p>
            <a:pPr lvl="1">
              <a:spcBef>
                <a:spcPts val="300"/>
              </a:spcBef>
            </a:pPr>
            <a:r>
              <a:rPr lang="en-US" sz="2800" dirty="0" smtClean="0"/>
              <a:t>BT </a:t>
            </a:r>
            <a:r>
              <a:rPr lang="en-US" sz="2800" dirty="0" err="1" smtClean="0"/>
              <a:t>çalışanları</a:t>
            </a:r>
            <a:r>
              <a:rPr lang="en-US" sz="2800" dirty="0" smtClean="0"/>
              <a:t> ve </a:t>
            </a:r>
            <a:r>
              <a:rPr lang="en-US" sz="2800" dirty="0" err="1" smtClean="0"/>
              <a:t>tedarikçileri</a:t>
            </a:r>
            <a:r>
              <a:rPr lang="en-US" sz="2800" dirty="0" smtClean="0"/>
              <a:t>:</a:t>
            </a:r>
          </a:p>
          <a:p>
            <a:pPr lvl="2">
              <a:spcBef>
                <a:spcPts val="300"/>
              </a:spcBef>
            </a:pPr>
            <a:r>
              <a:rPr lang="en-US" sz="2400" dirty="0" err="1" smtClean="0"/>
              <a:t>Hiçbir</a:t>
            </a:r>
            <a:r>
              <a:rPr lang="en-US" sz="2400" dirty="0" smtClean="0"/>
              <a:t> </a:t>
            </a:r>
            <a:r>
              <a:rPr lang="en-US" sz="2400" dirty="0" err="1" smtClean="0"/>
              <a:t>eylemin</a:t>
            </a:r>
            <a:r>
              <a:rPr lang="en-US" sz="2400" dirty="0" smtClean="0"/>
              <a:t> </a:t>
            </a:r>
            <a:r>
              <a:rPr lang="en-US" sz="2400" dirty="0" err="1" smtClean="0"/>
              <a:t>etik</a:t>
            </a:r>
            <a:r>
              <a:rPr lang="en-US" sz="2400" dirty="0" smtClean="0"/>
              <a:t> </a:t>
            </a:r>
            <a:r>
              <a:rPr lang="en-US" sz="2400" dirty="0" err="1" smtClean="0"/>
              <a:t>dışı</a:t>
            </a:r>
            <a:r>
              <a:rPr lang="en-US" sz="2400" dirty="0" smtClean="0"/>
              <a:t> </a:t>
            </a:r>
            <a:r>
              <a:rPr lang="en-US" sz="2400" dirty="0" err="1" smtClean="0"/>
              <a:t>olarak</a:t>
            </a:r>
            <a:r>
              <a:rPr lang="en-US" sz="2400" dirty="0" smtClean="0"/>
              <a:t> </a:t>
            </a:r>
            <a:r>
              <a:rPr lang="en-US" sz="2400" dirty="0" err="1" smtClean="0"/>
              <a:t>algılanamayacağı</a:t>
            </a:r>
            <a:r>
              <a:rPr lang="en-US" sz="2400" dirty="0" smtClean="0"/>
              <a:t> </a:t>
            </a:r>
            <a:r>
              <a:rPr lang="en-US" sz="2400" dirty="0" err="1" smtClean="0"/>
              <a:t>iş</a:t>
            </a:r>
            <a:r>
              <a:rPr lang="en-US" sz="2400" dirty="0" smtClean="0"/>
              <a:t> </a:t>
            </a:r>
            <a:r>
              <a:rPr lang="en-US" sz="2400" dirty="0" err="1" smtClean="0"/>
              <a:t>ilişkileri</a:t>
            </a:r>
            <a:r>
              <a:rPr lang="en-US" sz="2400" dirty="0" smtClean="0"/>
              <a:t> </a:t>
            </a:r>
            <a:r>
              <a:rPr lang="en-US" sz="2400" dirty="0" err="1" smtClean="0"/>
              <a:t>geliştirmek</a:t>
            </a:r>
            <a:r>
              <a:rPr lang="en-US" sz="2400" dirty="0" smtClean="0"/>
              <a:t> </a:t>
            </a:r>
            <a:endParaRPr lang="tr-TR" sz="2400" dirty="0" smtClean="0"/>
          </a:p>
          <a:p>
            <a:pPr lvl="2">
              <a:spcBef>
                <a:spcPts val="300"/>
              </a:spcBef>
            </a:pPr>
            <a:r>
              <a:rPr lang="en-US" sz="2400" dirty="0" err="1" smtClean="0"/>
              <a:t>İç</a:t>
            </a:r>
            <a:r>
              <a:rPr lang="en-US" sz="2400" dirty="0" smtClean="0"/>
              <a:t> </a:t>
            </a:r>
            <a:r>
              <a:rPr lang="en-US" sz="2400" dirty="0" err="1" smtClean="0"/>
              <a:t>kontrol</a:t>
            </a:r>
            <a:r>
              <a:rPr lang="en-US" sz="2400" dirty="0" smtClean="0"/>
              <a:t>: </a:t>
            </a:r>
            <a:r>
              <a:rPr lang="en-US" sz="2400" dirty="0" err="1" smtClean="0"/>
              <a:t>Operasyonların</a:t>
            </a:r>
            <a:r>
              <a:rPr lang="en-US" sz="2400" dirty="0" smtClean="0"/>
              <a:t> </a:t>
            </a:r>
            <a:r>
              <a:rPr lang="en-US" sz="2400" dirty="0" err="1" smtClean="0"/>
              <a:t>etkinliğini</a:t>
            </a:r>
            <a:r>
              <a:rPr lang="en-US" sz="2400" dirty="0" smtClean="0"/>
              <a:t>, </a:t>
            </a:r>
            <a:r>
              <a:rPr lang="en-US" sz="2400" dirty="0" err="1" smtClean="0"/>
              <a:t>finansal</a:t>
            </a:r>
            <a:r>
              <a:rPr lang="en-US" sz="2400" dirty="0" smtClean="0"/>
              <a:t> </a:t>
            </a:r>
            <a:r>
              <a:rPr lang="en-US" sz="2400" dirty="0" err="1" smtClean="0"/>
              <a:t>raporlamanın</a:t>
            </a:r>
            <a:r>
              <a:rPr lang="en-US" sz="2400" dirty="0" smtClean="0"/>
              <a:t> </a:t>
            </a:r>
            <a:r>
              <a:rPr lang="en-US" sz="2400" dirty="0" err="1" smtClean="0"/>
              <a:t>güvenilirliğini</a:t>
            </a:r>
            <a:r>
              <a:rPr lang="en-US" sz="2400" dirty="0" smtClean="0"/>
              <a:t> ve </a:t>
            </a:r>
            <a:r>
              <a:rPr lang="en-US" sz="2400" dirty="0" err="1" smtClean="0"/>
              <a:t>uyumu</a:t>
            </a:r>
            <a:r>
              <a:rPr lang="en-US" sz="2400" dirty="0" smtClean="0"/>
              <a:t> </a:t>
            </a:r>
            <a:r>
              <a:rPr lang="en-US" sz="2400" dirty="0" err="1" smtClean="0"/>
              <a:t>sağlar</a:t>
            </a:r>
            <a:r>
              <a:rPr lang="en-US" sz="2400" dirty="0" smtClean="0"/>
              <a:t>; </a:t>
            </a:r>
            <a:r>
              <a:rPr lang="en-US" sz="2400" dirty="0" err="1" smtClean="0"/>
              <a:t>Görevlerin</a:t>
            </a:r>
            <a:r>
              <a:rPr lang="en-US" sz="2400" dirty="0" smtClean="0"/>
              <a:t> </a:t>
            </a:r>
            <a:r>
              <a:rPr lang="en-US" sz="2400" dirty="0" err="1" smtClean="0"/>
              <a:t>ayrılması</a:t>
            </a:r>
            <a:endParaRPr lang="en-US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156"/>
            <a:ext cx="8026400" cy="1046440"/>
          </a:xfrm>
        </p:spPr>
        <p:txBody>
          <a:bodyPr/>
          <a:lstStyle/>
          <a:p>
            <a:r>
              <a:rPr lang="en-US" sz="4000" dirty="0"/>
              <a:t>Summary, Part </a:t>
            </a:r>
            <a:r>
              <a:rPr lang="en-US" sz="4000" dirty="0" smtClean="0"/>
              <a:t>1</a:t>
            </a:r>
            <a:r>
              <a:rPr lang="tr-TR" sz="4000" dirty="0" smtClean="0"/>
              <a:t/>
            </a:r>
            <a:br>
              <a:rPr lang="tr-TR" sz="4000" dirty="0" smtClean="0"/>
            </a:br>
            <a:r>
              <a:rPr lang="tr-TR" sz="4000" dirty="0" smtClean="0"/>
              <a:t>Özet, Bölüm 1»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2597041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161569"/>
            <a:ext cx="8415338" cy="4878259"/>
          </a:xfrm>
        </p:spPr>
        <p:txBody>
          <a:bodyPr/>
          <a:lstStyle/>
          <a:p>
            <a:pPr marL="171450" lvl="1">
              <a:spcBef>
                <a:spcPts val="1200"/>
              </a:spcBef>
              <a:buClr>
                <a:schemeClr val="accent2"/>
              </a:buClr>
            </a:pPr>
            <a:r>
              <a:rPr lang="en-US" sz="2800" b="1" dirty="0" err="1" smtClean="0"/>
              <a:t>Bir</a:t>
            </a:r>
            <a:r>
              <a:rPr lang="en-US" sz="2800" b="1" dirty="0" smtClean="0"/>
              <a:t> BT </a:t>
            </a:r>
            <a:r>
              <a:rPr lang="en-US" sz="2800" b="1" dirty="0" err="1" smtClean="0"/>
              <a:t>çalışanı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hangi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ilişkileri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yönetmelidir</a:t>
            </a:r>
            <a:r>
              <a:rPr lang="en-US" sz="2800" b="1" dirty="0" smtClean="0"/>
              <a:t> ve her </a:t>
            </a:r>
            <a:r>
              <a:rPr lang="en-US" sz="2800" b="1" dirty="0" err="1" smtClean="0"/>
              <a:t>birinde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hangi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temel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etik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sorunlar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ortaya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çıkabilir</a:t>
            </a:r>
            <a:r>
              <a:rPr lang="en-US" sz="2800" b="1" dirty="0" smtClean="0"/>
              <a:t>?</a:t>
            </a:r>
            <a:endParaRPr lang="tr-TR" sz="2800" b="1" dirty="0" smtClean="0"/>
          </a:p>
          <a:p>
            <a:pPr marL="171450" lvl="1">
              <a:spcBef>
                <a:spcPts val="1200"/>
              </a:spcBef>
              <a:buClr>
                <a:schemeClr val="accent2"/>
              </a:buClr>
            </a:pPr>
            <a:r>
              <a:rPr lang="en-US" sz="2600" dirty="0" smtClean="0"/>
              <a:t>BT </a:t>
            </a:r>
            <a:r>
              <a:rPr lang="en-US" sz="2600" dirty="0" err="1" smtClean="0"/>
              <a:t>çalışanları</a:t>
            </a:r>
            <a:r>
              <a:rPr lang="en-US" sz="2600" dirty="0" smtClean="0"/>
              <a:t> ve </a:t>
            </a:r>
            <a:r>
              <a:rPr lang="en-US" sz="2600" dirty="0" err="1" smtClean="0"/>
              <a:t>diğer</a:t>
            </a:r>
            <a:r>
              <a:rPr lang="en-US" sz="2600" dirty="0" smtClean="0"/>
              <a:t> </a:t>
            </a:r>
            <a:r>
              <a:rPr lang="en-US" sz="2600" dirty="0" err="1" smtClean="0"/>
              <a:t>profesyoneller</a:t>
            </a:r>
            <a:r>
              <a:rPr lang="en-US" sz="2600" dirty="0" smtClean="0"/>
              <a:t>:</a:t>
            </a:r>
            <a:endParaRPr lang="en-US" sz="2600" dirty="0"/>
          </a:p>
          <a:p>
            <a:pPr marL="685800" lvl="4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</a:pPr>
            <a:r>
              <a:rPr lang="en-US" sz="2400" dirty="0" err="1" smtClean="0"/>
              <a:t>Deneyimsiz</a:t>
            </a:r>
            <a:r>
              <a:rPr lang="en-US" sz="2400" dirty="0" smtClean="0"/>
              <a:t> </a:t>
            </a:r>
            <a:r>
              <a:rPr lang="en-US" sz="2400" dirty="0" err="1" smtClean="0"/>
              <a:t>meslektaşlarına</a:t>
            </a:r>
            <a:r>
              <a:rPr lang="en-US" sz="2400" dirty="0" smtClean="0"/>
              <a:t> </a:t>
            </a:r>
            <a:r>
              <a:rPr lang="en-US" sz="2400" dirty="0" err="1" smtClean="0"/>
              <a:t>mentorluk</a:t>
            </a:r>
            <a:r>
              <a:rPr lang="en-US" sz="2400" dirty="0" smtClean="0"/>
              <a:t> </a:t>
            </a:r>
            <a:r>
              <a:rPr lang="en-US" sz="2400" dirty="0" err="1" smtClean="0"/>
              <a:t>yapmak</a:t>
            </a:r>
            <a:r>
              <a:rPr lang="en-US" sz="2400" dirty="0" smtClean="0"/>
              <a:t>, </a:t>
            </a:r>
            <a:r>
              <a:rPr lang="en-US" sz="2400" dirty="0" err="1" smtClean="0"/>
              <a:t>mesleki</a:t>
            </a:r>
            <a:r>
              <a:rPr lang="en-US" sz="2400" dirty="0" smtClean="0"/>
              <a:t> </a:t>
            </a:r>
            <a:r>
              <a:rPr lang="en-US" sz="2400" dirty="0" err="1" smtClean="0"/>
              <a:t>sadakat</a:t>
            </a:r>
            <a:r>
              <a:rPr lang="en-US" sz="2400" dirty="0" smtClean="0"/>
              <a:t> </a:t>
            </a:r>
            <a:r>
              <a:rPr lang="en-US" sz="2400" dirty="0" err="1" smtClean="0"/>
              <a:t>göstermek</a:t>
            </a:r>
            <a:r>
              <a:rPr lang="en-US" sz="2400" dirty="0" smtClean="0"/>
              <a:t>, </a:t>
            </a:r>
            <a:r>
              <a:rPr lang="en-US" sz="2400" dirty="0" err="1" smtClean="0"/>
              <a:t>özgeçmiş</a:t>
            </a:r>
            <a:r>
              <a:rPr lang="en-US" sz="2400" dirty="0" smtClean="0"/>
              <a:t> </a:t>
            </a:r>
            <a:r>
              <a:rPr lang="en-US" sz="2400" dirty="0" err="1" smtClean="0"/>
              <a:t>enflasyonunu</a:t>
            </a:r>
            <a:r>
              <a:rPr lang="en-US" sz="2400" dirty="0" smtClean="0"/>
              <a:t> </a:t>
            </a:r>
            <a:r>
              <a:rPr lang="en-US" sz="2400" dirty="0" err="1" smtClean="0"/>
              <a:t>önlemek</a:t>
            </a:r>
            <a:r>
              <a:rPr lang="en-US" sz="2400" dirty="0" smtClean="0"/>
              <a:t> ve </a:t>
            </a:r>
            <a:r>
              <a:rPr lang="en-US" sz="2400" dirty="0" err="1" smtClean="0"/>
              <a:t>uygunsuz</a:t>
            </a:r>
            <a:r>
              <a:rPr lang="en-US" sz="2400" dirty="0" smtClean="0"/>
              <a:t> </a:t>
            </a:r>
            <a:r>
              <a:rPr lang="en-US" sz="2400" dirty="0" err="1" smtClean="0"/>
              <a:t>bilgi</a:t>
            </a:r>
            <a:r>
              <a:rPr lang="en-US" sz="2400" dirty="0" smtClean="0"/>
              <a:t> </a:t>
            </a:r>
            <a:r>
              <a:rPr lang="en-US" sz="2400" dirty="0" err="1" smtClean="0"/>
              <a:t>paylaşımını</a:t>
            </a:r>
            <a:r>
              <a:rPr lang="en-US" sz="2400" dirty="0" smtClean="0"/>
              <a:t> </a:t>
            </a:r>
            <a:r>
              <a:rPr lang="en-US" sz="2400" dirty="0" err="1" smtClean="0"/>
              <a:t>önlemek</a:t>
            </a:r>
            <a:endParaRPr lang="tr-TR" sz="2400" dirty="0" smtClean="0"/>
          </a:p>
          <a:p>
            <a:pPr marL="171450" lvl="1">
              <a:spcBef>
                <a:spcPts val="300"/>
              </a:spcBef>
            </a:pPr>
            <a:r>
              <a:rPr lang="en-US" sz="3000" dirty="0" smtClean="0"/>
              <a:t>BT </a:t>
            </a:r>
            <a:r>
              <a:rPr lang="en-US" sz="3000" dirty="0" err="1" smtClean="0"/>
              <a:t>çalışanları</a:t>
            </a:r>
            <a:r>
              <a:rPr lang="en-US" sz="3000" dirty="0" smtClean="0"/>
              <a:t> ve BT </a:t>
            </a:r>
            <a:r>
              <a:rPr lang="en-US" sz="3000" dirty="0" err="1" smtClean="0"/>
              <a:t>kullanıcıları</a:t>
            </a:r>
            <a:r>
              <a:rPr lang="en-US" sz="3000" dirty="0" smtClean="0"/>
              <a:t>:</a:t>
            </a:r>
            <a:endParaRPr lang="en-US" sz="3000" dirty="0"/>
          </a:p>
          <a:p>
            <a:pPr lvl="2">
              <a:spcBef>
                <a:spcPts val="300"/>
              </a:spcBef>
            </a:pPr>
            <a:r>
              <a:rPr lang="en-US" sz="2400" dirty="0" err="1" smtClean="0"/>
              <a:t>Yazılım</a:t>
            </a:r>
            <a:r>
              <a:rPr lang="en-US" sz="2400" dirty="0" smtClean="0"/>
              <a:t> </a:t>
            </a:r>
            <a:r>
              <a:rPr lang="en-US" sz="2400" dirty="0" err="1" smtClean="0"/>
              <a:t>korsanlığı</a:t>
            </a:r>
            <a:r>
              <a:rPr lang="en-US" sz="2400" dirty="0" smtClean="0"/>
              <a:t>, BT </a:t>
            </a:r>
            <a:r>
              <a:rPr lang="en-US" sz="2400" dirty="0" err="1" smtClean="0"/>
              <a:t>kaynaklarının</a:t>
            </a:r>
            <a:r>
              <a:rPr lang="en-US" sz="2400" dirty="0" smtClean="0"/>
              <a:t> </a:t>
            </a:r>
            <a:r>
              <a:rPr lang="en-US" sz="2400" dirty="0" err="1" smtClean="0"/>
              <a:t>uygunsuz</a:t>
            </a:r>
            <a:r>
              <a:rPr lang="en-US" sz="2400" dirty="0" smtClean="0"/>
              <a:t> </a:t>
            </a:r>
            <a:r>
              <a:rPr lang="en-US" sz="2400" dirty="0" err="1" smtClean="0"/>
              <a:t>kullanımı</a:t>
            </a:r>
            <a:r>
              <a:rPr lang="en-US" sz="2400" dirty="0" smtClean="0"/>
              <a:t> ve </a:t>
            </a:r>
            <a:r>
              <a:rPr lang="en-US" sz="2400" dirty="0" err="1" smtClean="0"/>
              <a:t>uygunsuz</a:t>
            </a:r>
            <a:r>
              <a:rPr lang="en-US" sz="2400" dirty="0" smtClean="0"/>
              <a:t> </a:t>
            </a:r>
            <a:r>
              <a:rPr lang="en-US" sz="2400" dirty="0" err="1" smtClean="0"/>
              <a:t>bilgi</a:t>
            </a:r>
            <a:r>
              <a:rPr lang="en-US" sz="2400" dirty="0" smtClean="0"/>
              <a:t> </a:t>
            </a:r>
            <a:r>
              <a:rPr lang="en-US" sz="2400" dirty="0" err="1" smtClean="0"/>
              <a:t>paylaşımı</a:t>
            </a:r>
            <a:endParaRPr lang="tr-TR" sz="2400" dirty="0" smtClean="0"/>
          </a:p>
          <a:p>
            <a:pPr>
              <a:spcBef>
                <a:spcPts val="300"/>
              </a:spcBef>
            </a:pPr>
            <a:r>
              <a:rPr lang="en-US" sz="3000" dirty="0" smtClean="0"/>
              <a:t>BT </a:t>
            </a:r>
            <a:r>
              <a:rPr lang="en-US" sz="3000" dirty="0" err="1" smtClean="0"/>
              <a:t>çalışanları</a:t>
            </a:r>
            <a:r>
              <a:rPr lang="en-US" sz="3000" dirty="0" smtClean="0"/>
              <a:t> ve </a:t>
            </a:r>
            <a:r>
              <a:rPr lang="en-US" sz="3000" dirty="0" err="1" smtClean="0"/>
              <a:t>genel</a:t>
            </a:r>
            <a:r>
              <a:rPr lang="en-US" sz="3000" dirty="0" smtClean="0"/>
              <a:t> </a:t>
            </a:r>
            <a:r>
              <a:rPr lang="en-US" sz="3000" dirty="0" err="1" smtClean="0"/>
              <a:t>olarak</a:t>
            </a:r>
            <a:r>
              <a:rPr lang="en-US" sz="3000" dirty="0" smtClean="0"/>
              <a:t> </a:t>
            </a:r>
            <a:r>
              <a:rPr lang="en-US" sz="3000" dirty="0" err="1" smtClean="0"/>
              <a:t>toplum</a:t>
            </a:r>
            <a:r>
              <a:rPr lang="en-US" sz="3000" dirty="0" smtClean="0"/>
              <a:t>:</a:t>
            </a:r>
            <a:endParaRPr lang="en-US" sz="3000" dirty="0"/>
          </a:p>
          <a:p>
            <a:pPr lvl="2">
              <a:spcBef>
                <a:spcPts val="300"/>
              </a:spcBef>
            </a:pPr>
            <a:r>
              <a:rPr lang="en-US" sz="2400" dirty="0" err="1" smtClean="0"/>
              <a:t>Mesleği</a:t>
            </a:r>
            <a:r>
              <a:rPr lang="en-US" sz="2400" dirty="0" smtClean="0"/>
              <a:t> </a:t>
            </a:r>
            <a:r>
              <a:rPr lang="en-US" sz="2400" dirty="0" err="1" smtClean="0"/>
              <a:t>zarar</a:t>
            </a:r>
            <a:r>
              <a:rPr lang="en-US" sz="2400" dirty="0" smtClean="0"/>
              <a:t> </a:t>
            </a:r>
            <a:r>
              <a:rPr lang="en-US" sz="2400" dirty="0" err="1" smtClean="0"/>
              <a:t>vermeyecek</a:t>
            </a:r>
            <a:r>
              <a:rPr lang="en-US" sz="2400" dirty="0" smtClean="0"/>
              <a:t> ve </a:t>
            </a:r>
            <a:r>
              <a:rPr lang="en-US" sz="2400" dirty="0" err="1" smtClean="0"/>
              <a:t>topluma</a:t>
            </a:r>
            <a:r>
              <a:rPr lang="en-US" sz="2400" dirty="0" smtClean="0"/>
              <a:t> </a:t>
            </a:r>
            <a:r>
              <a:rPr lang="en-US" sz="2400" dirty="0" err="1" smtClean="0"/>
              <a:t>fayda</a:t>
            </a:r>
            <a:r>
              <a:rPr lang="en-US" sz="2400" dirty="0" smtClean="0"/>
              <a:t> </a:t>
            </a:r>
            <a:r>
              <a:rPr lang="en-US" sz="2400" dirty="0" err="1" smtClean="0"/>
              <a:t>sağlayacak</a:t>
            </a:r>
            <a:r>
              <a:rPr lang="en-US" sz="2400" dirty="0" smtClean="0"/>
              <a:t> </a:t>
            </a:r>
            <a:r>
              <a:rPr lang="en-US" sz="2400" dirty="0" err="1" smtClean="0"/>
              <a:t>şekilde</a:t>
            </a:r>
            <a:r>
              <a:rPr lang="en-US" sz="2400" dirty="0" smtClean="0"/>
              <a:t> </a:t>
            </a:r>
            <a:r>
              <a:rPr lang="en-US" sz="2400" dirty="0" err="1" smtClean="0"/>
              <a:t>icra</a:t>
            </a:r>
            <a:r>
              <a:rPr lang="en-US" sz="2400" dirty="0" smtClean="0"/>
              <a:t> </a:t>
            </a:r>
            <a:r>
              <a:rPr lang="en-US" sz="2400" dirty="0" err="1" smtClean="0"/>
              <a:t>etmek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158"/>
            <a:ext cx="8026400" cy="1046440"/>
          </a:xfrm>
        </p:spPr>
        <p:txBody>
          <a:bodyPr/>
          <a:lstStyle/>
          <a:p>
            <a:r>
              <a:rPr lang="en-US" sz="4000" dirty="0"/>
              <a:t>Summary, Part </a:t>
            </a:r>
            <a:r>
              <a:rPr lang="en-US" sz="4000" dirty="0" smtClean="0"/>
              <a:t>2</a:t>
            </a:r>
            <a:r>
              <a:rPr lang="tr-TR" sz="4000" dirty="0"/>
              <a:t/>
            </a:r>
            <a:br>
              <a:rPr lang="tr-TR" sz="4000" dirty="0"/>
            </a:br>
            <a:r>
              <a:rPr lang="tr-TR" sz="4000" dirty="0"/>
              <a:t>Özet, Bölüm </a:t>
            </a:r>
            <a:r>
              <a:rPr lang="tr-TR" sz="4000" dirty="0" smtClean="0"/>
              <a:t>2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61108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191496"/>
            <a:ext cx="8415338" cy="5393784"/>
          </a:xfrm>
        </p:spPr>
        <p:txBody>
          <a:bodyPr/>
          <a:lstStyle/>
          <a:p>
            <a:r>
              <a:rPr lang="en-US" sz="2800" b="1" dirty="0" smtClean="0"/>
              <a:t>BT </a:t>
            </a:r>
            <a:r>
              <a:rPr lang="en-US" sz="2800" b="1" dirty="0" err="1" smtClean="0"/>
              <a:t>çalışanlarının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profesyonelliğini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teşvik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etmek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için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neler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yapılabilir</a:t>
            </a:r>
            <a:r>
              <a:rPr lang="en-US" sz="2800" b="1" dirty="0" smtClean="0"/>
              <a:t>?</a:t>
            </a:r>
            <a:endParaRPr lang="tr-TR" sz="2800" b="1" dirty="0" smtClean="0"/>
          </a:p>
          <a:p>
            <a:pPr lvl="1"/>
            <a:r>
              <a:rPr lang="en-US" sz="2400" dirty="0" err="1" smtClean="0"/>
              <a:t>Profesyoneller</a:t>
            </a:r>
            <a:r>
              <a:rPr lang="en-US" sz="2400" dirty="0" smtClean="0"/>
              <a:t>: </a:t>
            </a:r>
            <a:endParaRPr lang="tr-TR" sz="2400" dirty="0" smtClean="0"/>
          </a:p>
          <a:p>
            <a:pPr lvl="2"/>
            <a:r>
              <a:rPr lang="en-US" sz="2200" dirty="0" err="1" smtClean="0"/>
              <a:t>Bir</a:t>
            </a:r>
            <a:r>
              <a:rPr lang="en-US" sz="2200" dirty="0" smtClean="0"/>
              <a:t> </a:t>
            </a:r>
            <a:r>
              <a:rPr lang="en-US" sz="2200" dirty="0" err="1" smtClean="0"/>
              <a:t>işi</a:t>
            </a:r>
            <a:r>
              <a:rPr lang="en-US" sz="2200" dirty="0" smtClean="0"/>
              <a:t> </a:t>
            </a:r>
            <a:r>
              <a:rPr lang="en-US" sz="2200" dirty="0" err="1" smtClean="0"/>
              <a:t>iyi</a:t>
            </a:r>
            <a:r>
              <a:rPr lang="en-US" sz="2200" dirty="0" smtClean="0"/>
              <a:t> </a:t>
            </a:r>
            <a:r>
              <a:rPr lang="en-US" sz="2200" dirty="0" err="1" smtClean="0"/>
              <a:t>yapmak</a:t>
            </a:r>
            <a:r>
              <a:rPr lang="en-US" sz="2200" dirty="0" smtClean="0"/>
              <a:t> </a:t>
            </a:r>
            <a:r>
              <a:rPr lang="en-US" sz="2200" dirty="0" err="1" smtClean="0"/>
              <a:t>için</a:t>
            </a:r>
            <a:r>
              <a:rPr lang="en-US" sz="2200" dirty="0" smtClean="0"/>
              <a:t> </a:t>
            </a:r>
            <a:r>
              <a:rPr lang="en-US" sz="2200" dirty="0" err="1" smtClean="0"/>
              <a:t>eğitim</a:t>
            </a:r>
            <a:r>
              <a:rPr lang="en-US" sz="2200" dirty="0" smtClean="0"/>
              <a:t> ve </a:t>
            </a:r>
            <a:r>
              <a:rPr lang="en-US" sz="2200" dirty="0" err="1" smtClean="0"/>
              <a:t>deneyime</a:t>
            </a:r>
            <a:r>
              <a:rPr lang="en-US" sz="2200" dirty="0" smtClean="0"/>
              <a:t> </a:t>
            </a:r>
            <a:r>
              <a:rPr lang="en-US" sz="2200" dirty="0" err="1" smtClean="0"/>
              <a:t>sahip</a:t>
            </a:r>
            <a:r>
              <a:rPr lang="en-US" sz="2200" dirty="0" smtClean="0"/>
              <a:t> </a:t>
            </a:r>
            <a:r>
              <a:rPr lang="en-US" sz="2200" dirty="0" err="1" smtClean="0"/>
              <a:t>bir</a:t>
            </a:r>
            <a:r>
              <a:rPr lang="en-US" sz="2200" dirty="0" smtClean="0"/>
              <a:t> </a:t>
            </a:r>
            <a:r>
              <a:rPr lang="en-US" sz="2200" dirty="0" err="1" smtClean="0"/>
              <a:t>kişiden</a:t>
            </a:r>
            <a:r>
              <a:rPr lang="en-US" sz="2200" dirty="0" smtClean="0"/>
              <a:t> </a:t>
            </a:r>
            <a:r>
              <a:rPr lang="en-US" sz="2200" dirty="0" err="1" smtClean="0"/>
              <a:t>beklenen</a:t>
            </a:r>
            <a:r>
              <a:rPr lang="en-US" sz="2200" dirty="0" smtClean="0"/>
              <a:t> </a:t>
            </a:r>
            <a:r>
              <a:rPr lang="en-US" sz="2200" dirty="0" err="1" smtClean="0"/>
              <a:t>becerilere</a:t>
            </a:r>
            <a:r>
              <a:rPr lang="en-US" sz="2200" dirty="0" smtClean="0"/>
              <a:t>, </a:t>
            </a:r>
            <a:r>
              <a:rPr lang="en-US" sz="2200" dirty="0" err="1" smtClean="0"/>
              <a:t>iyi</a:t>
            </a:r>
            <a:r>
              <a:rPr lang="en-US" sz="2200" dirty="0" smtClean="0"/>
              <a:t> </a:t>
            </a:r>
            <a:r>
              <a:rPr lang="en-US" sz="2200" dirty="0" err="1" smtClean="0"/>
              <a:t>muhakemeye</a:t>
            </a:r>
            <a:r>
              <a:rPr lang="en-US" sz="2200" dirty="0" smtClean="0"/>
              <a:t> ve </a:t>
            </a:r>
            <a:r>
              <a:rPr lang="en-US" sz="2200" dirty="0" err="1" smtClean="0"/>
              <a:t>çalışma</a:t>
            </a:r>
            <a:r>
              <a:rPr lang="en-US" sz="2200" dirty="0" smtClean="0"/>
              <a:t> </a:t>
            </a:r>
            <a:r>
              <a:rPr lang="en-US" sz="2200" dirty="0" err="1" smtClean="0"/>
              <a:t>alışkanlıklarına</a:t>
            </a:r>
            <a:r>
              <a:rPr lang="en-US" sz="2200" dirty="0" smtClean="0"/>
              <a:t> </a:t>
            </a:r>
            <a:r>
              <a:rPr lang="en-US" sz="2200" dirty="0" err="1" smtClean="0"/>
              <a:t>sahip</a:t>
            </a:r>
            <a:r>
              <a:rPr lang="en-US" sz="2200" dirty="0" smtClean="0"/>
              <a:t> </a:t>
            </a:r>
            <a:r>
              <a:rPr lang="en-US" sz="2200" dirty="0" err="1" smtClean="0"/>
              <a:t>olmak</a:t>
            </a:r>
            <a:r>
              <a:rPr lang="en-US" sz="2200" dirty="0" smtClean="0"/>
              <a:t> </a:t>
            </a:r>
            <a:endParaRPr lang="tr-TR" sz="2200" dirty="0" smtClean="0"/>
          </a:p>
          <a:p>
            <a:pPr lvl="2"/>
            <a:r>
              <a:rPr lang="en-US" sz="2200" dirty="0" err="1" smtClean="0"/>
              <a:t>Topluma</a:t>
            </a:r>
            <a:r>
              <a:rPr lang="en-US" sz="2200" dirty="0" smtClean="0"/>
              <a:t> </a:t>
            </a:r>
            <a:r>
              <a:rPr lang="en-US" sz="2200" dirty="0" err="1" smtClean="0"/>
              <a:t>katkıda</a:t>
            </a:r>
            <a:r>
              <a:rPr lang="en-US" sz="2200" dirty="0" smtClean="0"/>
              <a:t> </a:t>
            </a:r>
            <a:r>
              <a:rPr lang="en-US" sz="2200" dirty="0" err="1" smtClean="0"/>
              <a:t>bulunmak</a:t>
            </a:r>
            <a:r>
              <a:rPr lang="en-US" sz="2200" dirty="0" smtClean="0"/>
              <a:t>, </a:t>
            </a:r>
            <a:endParaRPr lang="tr-TR" sz="2200" dirty="0" smtClean="0"/>
          </a:p>
          <a:p>
            <a:pPr lvl="2"/>
            <a:r>
              <a:rPr lang="en-US" sz="2200" dirty="0" err="1" smtClean="0"/>
              <a:t>yaşam</a:t>
            </a:r>
            <a:r>
              <a:rPr lang="en-US" sz="2200" dirty="0" smtClean="0"/>
              <a:t> </a:t>
            </a:r>
            <a:r>
              <a:rPr lang="en-US" sz="2200" dirty="0" err="1" smtClean="0"/>
              <a:t>boyu</a:t>
            </a:r>
            <a:r>
              <a:rPr lang="en-US" sz="2200" dirty="0" smtClean="0"/>
              <a:t> </a:t>
            </a:r>
            <a:r>
              <a:rPr lang="en-US" sz="2200" dirty="0" err="1" smtClean="0"/>
              <a:t>eğitime</a:t>
            </a:r>
            <a:r>
              <a:rPr lang="en-US" sz="2200" dirty="0" smtClean="0"/>
              <a:t> </a:t>
            </a:r>
            <a:r>
              <a:rPr lang="en-US" sz="2200" dirty="0" err="1" smtClean="0"/>
              <a:t>katılmak</a:t>
            </a:r>
            <a:r>
              <a:rPr lang="en-US" sz="2200" dirty="0" smtClean="0"/>
              <a:t> ve </a:t>
            </a:r>
            <a:r>
              <a:rPr lang="en-US" sz="2200" dirty="0" err="1" smtClean="0"/>
              <a:t>diğer</a:t>
            </a:r>
            <a:r>
              <a:rPr lang="en-US" sz="2200" dirty="0" smtClean="0"/>
              <a:t> </a:t>
            </a:r>
            <a:r>
              <a:rPr lang="en-US" sz="2200" dirty="0" err="1" smtClean="0"/>
              <a:t>profesyonellerin</a:t>
            </a:r>
            <a:r>
              <a:rPr lang="en-US" sz="2200" dirty="0" smtClean="0"/>
              <a:t> </a:t>
            </a:r>
            <a:r>
              <a:rPr lang="en-US" sz="2200" dirty="0" err="1" smtClean="0"/>
              <a:t>gelişmesine</a:t>
            </a:r>
            <a:r>
              <a:rPr lang="en-US" sz="2200" dirty="0" smtClean="0"/>
              <a:t> </a:t>
            </a:r>
            <a:r>
              <a:rPr lang="en-US" sz="2200" dirty="0" err="1" smtClean="0"/>
              <a:t>yardımcı</a:t>
            </a:r>
            <a:r>
              <a:rPr lang="en-US" sz="2200" dirty="0" smtClean="0"/>
              <a:t> </a:t>
            </a:r>
            <a:r>
              <a:rPr lang="en-US" sz="2200" dirty="0" err="1" smtClean="0"/>
              <a:t>olmak</a:t>
            </a:r>
            <a:endParaRPr lang="tr-TR" sz="2200" dirty="0" smtClean="0"/>
          </a:p>
          <a:p>
            <a:pPr lvl="1"/>
            <a:r>
              <a:rPr lang="en-US" sz="2600" dirty="0" smtClean="0"/>
              <a:t>BT </a:t>
            </a:r>
            <a:r>
              <a:rPr lang="en-US" sz="2600" dirty="0" err="1" smtClean="0"/>
              <a:t>çalışanları</a:t>
            </a:r>
            <a:r>
              <a:rPr lang="en-US" sz="2600" dirty="0" smtClean="0"/>
              <a:t>, </a:t>
            </a:r>
            <a:r>
              <a:rPr lang="en-US" sz="2600" dirty="0" err="1" smtClean="0"/>
              <a:t>mesleklerinin</a:t>
            </a:r>
            <a:r>
              <a:rPr lang="en-US" sz="2600" dirty="0" smtClean="0"/>
              <a:t> </a:t>
            </a:r>
            <a:r>
              <a:rPr lang="en-US" sz="2600" dirty="0" err="1" smtClean="0"/>
              <a:t>profesyonellik</a:t>
            </a:r>
            <a:r>
              <a:rPr lang="en-US" sz="2600" dirty="0" smtClean="0"/>
              <a:t> </a:t>
            </a:r>
            <a:r>
              <a:rPr lang="en-US" sz="2600" dirty="0" err="1" smtClean="0"/>
              <a:t>konusundaki</a:t>
            </a:r>
            <a:r>
              <a:rPr lang="en-US" sz="2600" dirty="0" smtClean="0"/>
              <a:t> </a:t>
            </a:r>
            <a:r>
              <a:rPr lang="en-US" sz="2600" dirty="0" err="1" smtClean="0"/>
              <a:t>itibarını</a:t>
            </a:r>
            <a:r>
              <a:rPr lang="en-US" sz="2600" dirty="0" smtClean="0"/>
              <a:t> </a:t>
            </a:r>
            <a:r>
              <a:rPr lang="en-US" sz="2600" dirty="0" err="1" smtClean="0"/>
              <a:t>artırabilir</a:t>
            </a:r>
            <a:r>
              <a:rPr lang="en-US" sz="2600" dirty="0" smtClean="0"/>
              <a:t>:</a:t>
            </a:r>
            <a:endParaRPr lang="en-US" sz="2600" dirty="0"/>
          </a:p>
          <a:p>
            <a:pPr lvl="2">
              <a:spcBef>
                <a:spcPts val="300"/>
              </a:spcBef>
            </a:pPr>
            <a:r>
              <a:rPr lang="en-US" sz="2300" dirty="0" err="1" smtClean="0"/>
              <a:t>Profesyonel</a:t>
            </a:r>
            <a:r>
              <a:rPr lang="en-US" sz="2300" dirty="0" smtClean="0"/>
              <a:t> </a:t>
            </a:r>
            <a:r>
              <a:rPr lang="en-US" sz="2300" dirty="0" err="1" smtClean="0"/>
              <a:t>bir</a:t>
            </a:r>
            <a:r>
              <a:rPr lang="en-US" sz="2300" dirty="0" smtClean="0"/>
              <a:t> </a:t>
            </a:r>
            <a:r>
              <a:rPr lang="en-US" sz="2300" dirty="0" err="1" smtClean="0"/>
              <a:t>etik</a:t>
            </a:r>
            <a:r>
              <a:rPr lang="en-US" sz="2300" dirty="0" smtClean="0"/>
              <a:t> </a:t>
            </a:r>
            <a:r>
              <a:rPr lang="en-US" sz="2300" dirty="0" err="1" smtClean="0"/>
              <a:t>kurallarına</a:t>
            </a:r>
            <a:r>
              <a:rPr lang="en-US" sz="2300" dirty="0" smtClean="0"/>
              <a:t> </a:t>
            </a:r>
            <a:r>
              <a:rPr lang="en-US" sz="2300" dirty="0" err="1" smtClean="0"/>
              <a:t>abone</a:t>
            </a:r>
            <a:r>
              <a:rPr lang="en-US" sz="2300" dirty="0" smtClean="0"/>
              <a:t> </a:t>
            </a:r>
            <a:r>
              <a:rPr lang="en-US" sz="2300" dirty="0" err="1" smtClean="0"/>
              <a:t>olun</a:t>
            </a:r>
            <a:r>
              <a:rPr lang="en-US" sz="2300" dirty="0" smtClean="0"/>
              <a:t> </a:t>
            </a:r>
            <a:endParaRPr lang="tr-TR" sz="2300" dirty="0" smtClean="0"/>
          </a:p>
          <a:p>
            <a:pPr lvl="2">
              <a:spcBef>
                <a:spcPts val="300"/>
              </a:spcBef>
            </a:pPr>
            <a:r>
              <a:rPr lang="en-US" sz="2300" dirty="0" err="1" smtClean="0"/>
              <a:t>Profesyonel</a:t>
            </a:r>
            <a:r>
              <a:rPr lang="en-US" sz="2300" dirty="0" smtClean="0"/>
              <a:t> </a:t>
            </a:r>
            <a:r>
              <a:rPr lang="en-US" sz="2300" dirty="0" err="1" smtClean="0"/>
              <a:t>organizasyonlara</a:t>
            </a:r>
            <a:r>
              <a:rPr lang="en-US" sz="2300" dirty="0" smtClean="0"/>
              <a:t> </a:t>
            </a:r>
            <a:r>
              <a:rPr lang="en-US" sz="2300" dirty="0" err="1" smtClean="0"/>
              <a:t>katılın</a:t>
            </a:r>
            <a:r>
              <a:rPr lang="en-US" sz="2300" dirty="0" smtClean="0"/>
              <a:t> </a:t>
            </a:r>
            <a:endParaRPr lang="tr-TR" sz="2300" dirty="0" smtClean="0"/>
          </a:p>
          <a:p>
            <a:pPr lvl="2">
              <a:spcBef>
                <a:spcPts val="300"/>
              </a:spcBef>
            </a:pPr>
            <a:r>
              <a:rPr lang="en-US" sz="2300" dirty="0" err="1" smtClean="0"/>
              <a:t>Uygun</a:t>
            </a:r>
            <a:r>
              <a:rPr lang="en-US" sz="2300" dirty="0" smtClean="0"/>
              <a:t> </a:t>
            </a:r>
            <a:r>
              <a:rPr lang="en-US" sz="2300" dirty="0" err="1" smtClean="0"/>
              <a:t>sertifikaları</a:t>
            </a:r>
            <a:r>
              <a:rPr lang="en-US" sz="2300" dirty="0" smtClean="0"/>
              <a:t> </a:t>
            </a:r>
            <a:r>
              <a:rPr lang="en-US" sz="2300" dirty="0" err="1" smtClean="0"/>
              <a:t>alın</a:t>
            </a:r>
            <a:r>
              <a:rPr lang="en-US" sz="2300" dirty="0" smtClean="0"/>
              <a:t> </a:t>
            </a:r>
            <a:endParaRPr lang="tr-TR" sz="2300" dirty="0" smtClean="0"/>
          </a:p>
          <a:p>
            <a:pPr lvl="2">
              <a:spcBef>
                <a:spcPts val="300"/>
              </a:spcBef>
            </a:pPr>
            <a:r>
              <a:rPr lang="en-US" sz="2300" dirty="0" err="1" smtClean="0"/>
              <a:t>Devlet</a:t>
            </a:r>
            <a:r>
              <a:rPr lang="en-US" sz="2300" dirty="0" smtClean="0"/>
              <a:t> </a:t>
            </a:r>
            <a:r>
              <a:rPr lang="en-US" sz="2300" dirty="0" err="1" smtClean="0"/>
              <a:t>lisanslarını</a:t>
            </a:r>
            <a:r>
              <a:rPr lang="en-US" sz="2300" dirty="0" smtClean="0"/>
              <a:t> </a:t>
            </a:r>
            <a:r>
              <a:rPr lang="en-US" sz="2300" dirty="0" err="1" smtClean="0"/>
              <a:t>destekleyin</a:t>
            </a:r>
            <a:endParaRPr lang="en-US" sz="23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158"/>
            <a:ext cx="8026400" cy="1046440"/>
          </a:xfrm>
        </p:spPr>
        <p:txBody>
          <a:bodyPr/>
          <a:lstStyle/>
          <a:p>
            <a:r>
              <a:rPr lang="en-US" sz="4000" dirty="0"/>
              <a:t>Summary, Part </a:t>
            </a:r>
            <a:r>
              <a:rPr lang="en-US" sz="4000" dirty="0" smtClean="0"/>
              <a:t>3</a:t>
            </a:r>
            <a:r>
              <a:rPr lang="tr-TR" sz="4000" dirty="0"/>
              <a:t/>
            </a:r>
            <a:br>
              <a:rPr lang="tr-TR" sz="4000" dirty="0"/>
            </a:br>
            <a:r>
              <a:rPr lang="tr-TR" sz="4000" dirty="0"/>
              <a:t>Özet, Bölüm </a:t>
            </a:r>
            <a:r>
              <a:rPr lang="tr-TR" sz="4000" dirty="0" smtClean="0"/>
              <a:t>3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550418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19200"/>
            <a:ext cx="8415338" cy="3582519"/>
          </a:xfrm>
        </p:spPr>
        <p:txBody>
          <a:bodyPr/>
          <a:lstStyle/>
          <a:p>
            <a:r>
              <a:rPr lang="en-US" sz="2800" b="1" dirty="0" smtClean="0"/>
              <a:t>BT </a:t>
            </a:r>
            <a:r>
              <a:rPr lang="en-US" sz="2800" b="1" dirty="0" err="1" smtClean="0"/>
              <a:t>çalışanlarının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profesyonelliğini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teşvik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etmek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için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neler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yapılabilir</a:t>
            </a:r>
            <a:r>
              <a:rPr lang="en-US" sz="2800" b="1" dirty="0" smtClean="0"/>
              <a:t>?</a:t>
            </a:r>
            <a:endParaRPr lang="tr-TR" sz="2800" b="1" dirty="0" smtClean="0"/>
          </a:p>
          <a:p>
            <a:pPr lvl="1"/>
            <a:r>
              <a:rPr lang="en-US" sz="2400" dirty="0" err="1" smtClean="0"/>
              <a:t>Mesleki</a:t>
            </a:r>
            <a:r>
              <a:rPr lang="en-US" sz="2400" dirty="0" smtClean="0"/>
              <a:t> </a:t>
            </a:r>
            <a:r>
              <a:rPr lang="en-US" sz="2400" dirty="0" err="1" smtClean="0"/>
              <a:t>etik</a:t>
            </a:r>
            <a:r>
              <a:rPr lang="en-US" sz="2400" dirty="0" smtClean="0"/>
              <a:t> </a:t>
            </a:r>
            <a:r>
              <a:rPr lang="en-US" sz="2400" dirty="0" err="1" smtClean="0"/>
              <a:t>kuralları</a:t>
            </a:r>
            <a:r>
              <a:rPr lang="en-US" sz="2400" dirty="0" smtClean="0"/>
              <a:t>: </a:t>
            </a:r>
            <a:r>
              <a:rPr lang="en-US" sz="2400" dirty="0" err="1" smtClean="0"/>
              <a:t>Belirli</a:t>
            </a:r>
            <a:r>
              <a:rPr lang="en-US" sz="2400" dirty="0" smtClean="0"/>
              <a:t> </a:t>
            </a:r>
            <a:r>
              <a:rPr lang="en-US" sz="2400" dirty="0" err="1" smtClean="0"/>
              <a:t>bir</a:t>
            </a:r>
            <a:r>
              <a:rPr lang="en-US" sz="2400" dirty="0" smtClean="0"/>
              <a:t> </a:t>
            </a:r>
            <a:r>
              <a:rPr lang="en-US" sz="2400" dirty="0" err="1" smtClean="0"/>
              <a:t>meslek</a:t>
            </a:r>
            <a:r>
              <a:rPr lang="en-US" sz="2400" dirty="0" smtClean="0"/>
              <a:t> </a:t>
            </a:r>
            <a:r>
              <a:rPr lang="en-US" sz="2400" dirty="0" err="1" smtClean="0"/>
              <a:t>grubunun</a:t>
            </a:r>
            <a:r>
              <a:rPr lang="en-US" sz="2400" dirty="0" smtClean="0"/>
              <a:t> </a:t>
            </a:r>
            <a:r>
              <a:rPr lang="en-US" sz="2400" dirty="0" err="1" smtClean="0"/>
              <a:t>çalışması</a:t>
            </a:r>
            <a:r>
              <a:rPr lang="en-US" sz="2400" dirty="0" smtClean="0"/>
              <a:t> </a:t>
            </a:r>
            <a:r>
              <a:rPr lang="en-US" sz="2400" dirty="0" err="1" smtClean="0"/>
              <a:t>için</a:t>
            </a:r>
            <a:r>
              <a:rPr lang="en-US" sz="2400" dirty="0" smtClean="0"/>
              <a:t> </a:t>
            </a:r>
            <a:r>
              <a:rPr lang="en-US" sz="2400" dirty="0" err="1" smtClean="0"/>
              <a:t>gerekli</a:t>
            </a:r>
            <a:r>
              <a:rPr lang="en-US" sz="2400" dirty="0" smtClean="0"/>
              <a:t> </a:t>
            </a:r>
            <a:r>
              <a:rPr lang="en-US" sz="2400" dirty="0" err="1" smtClean="0"/>
              <a:t>olan</a:t>
            </a:r>
            <a:r>
              <a:rPr lang="en-US" sz="2400" dirty="0" smtClean="0"/>
              <a:t> </a:t>
            </a:r>
            <a:r>
              <a:rPr lang="en-US" sz="2400" dirty="0" err="1" smtClean="0"/>
              <a:t>ilkeleri</a:t>
            </a:r>
            <a:r>
              <a:rPr lang="en-US" sz="2400" dirty="0" smtClean="0"/>
              <a:t> ve </a:t>
            </a:r>
            <a:r>
              <a:rPr lang="en-US" sz="2400" dirty="0" err="1" smtClean="0"/>
              <a:t>temel</a:t>
            </a:r>
            <a:r>
              <a:rPr lang="en-US" sz="2400" dirty="0" smtClean="0"/>
              <a:t> </a:t>
            </a:r>
            <a:r>
              <a:rPr lang="en-US" sz="2400" dirty="0" err="1" smtClean="0"/>
              <a:t>değerleri</a:t>
            </a:r>
            <a:r>
              <a:rPr lang="en-US" sz="2400" dirty="0" smtClean="0"/>
              <a:t> </a:t>
            </a:r>
            <a:r>
              <a:rPr lang="en-US" sz="2400" dirty="0" err="1" smtClean="0"/>
              <a:t>belirtir</a:t>
            </a:r>
            <a:r>
              <a:rPr lang="en-US" sz="2400" dirty="0" smtClean="0"/>
              <a:t> </a:t>
            </a:r>
            <a:endParaRPr lang="tr-TR" sz="2400" dirty="0" smtClean="0"/>
          </a:p>
          <a:p>
            <a:pPr lvl="1"/>
            <a:r>
              <a:rPr lang="en-US" sz="2400" dirty="0" err="1" smtClean="0"/>
              <a:t>Etik</a:t>
            </a:r>
            <a:r>
              <a:rPr lang="en-US" sz="2400" dirty="0" smtClean="0"/>
              <a:t> </a:t>
            </a:r>
            <a:r>
              <a:rPr lang="en-US" sz="2400" dirty="0" err="1" smtClean="0"/>
              <a:t>kuralların</a:t>
            </a:r>
            <a:r>
              <a:rPr lang="en-US" sz="2400" dirty="0" smtClean="0"/>
              <a:t> </a:t>
            </a:r>
            <a:r>
              <a:rPr lang="en-US" sz="2400" dirty="0" err="1" smtClean="0"/>
              <a:t>faydaları</a:t>
            </a:r>
            <a:r>
              <a:rPr lang="en-US" sz="2400" dirty="0" smtClean="0"/>
              <a:t>: </a:t>
            </a:r>
            <a:r>
              <a:rPr lang="en-US" sz="2400" dirty="0" err="1" smtClean="0"/>
              <a:t>Etik</a:t>
            </a:r>
            <a:r>
              <a:rPr lang="en-US" sz="2400" dirty="0" smtClean="0"/>
              <a:t> </a:t>
            </a:r>
            <a:r>
              <a:rPr lang="en-US" sz="2400" dirty="0" err="1" smtClean="0"/>
              <a:t>karar</a:t>
            </a:r>
            <a:r>
              <a:rPr lang="en-US" sz="2400" dirty="0" smtClean="0"/>
              <a:t> </a:t>
            </a:r>
            <a:r>
              <a:rPr lang="en-US" sz="2400" dirty="0" err="1" smtClean="0"/>
              <a:t>verme</a:t>
            </a:r>
            <a:r>
              <a:rPr lang="en-US" sz="2400" dirty="0" smtClean="0"/>
              <a:t>, </a:t>
            </a:r>
            <a:r>
              <a:rPr lang="en-US" sz="2400" dirty="0" err="1" smtClean="0"/>
              <a:t>yüksek</a:t>
            </a:r>
            <a:r>
              <a:rPr lang="en-US" sz="2400" dirty="0" smtClean="0"/>
              <a:t> </a:t>
            </a:r>
            <a:r>
              <a:rPr lang="en-US" sz="2400" dirty="0" err="1" smtClean="0"/>
              <a:t>etik</a:t>
            </a:r>
            <a:r>
              <a:rPr lang="en-US" sz="2400" dirty="0" smtClean="0"/>
              <a:t> </a:t>
            </a:r>
            <a:r>
              <a:rPr lang="en-US" sz="2400" dirty="0" err="1" smtClean="0"/>
              <a:t>davranış</a:t>
            </a:r>
            <a:r>
              <a:rPr lang="en-US" sz="2400" dirty="0" smtClean="0"/>
              <a:t> </a:t>
            </a:r>
            <a:r>
              <a:rPr lang="en-US" sz="2400" dirty="0" err="1" smtClean="0"/>
              <a:t>standartları</a:t>
            </a:r>
            <a:r>
              <a:rPr lang="en-US" sz="2400" dirty="0" smtClean="0"/>
              <a:t>, </a:t>
            </a:r>
            <a:r>
              <a:rPr lang="en-US" sz="2400" dirty="0" err="1" smtClean="0"/>
              <a:t>genel</a:t>
            </a:r>
            <a:r>
              <a:rPr lang="en-US" sz="2400" dirty="0" smtClean="0"/>
              <a:t> </a:t>
            </a:r>
            <a:r>
              <a:rPr lang="en-US" sz="2400" dirty="0" err="1" smtClean="0"/>
              <a:t>halkla</a:t>
            </a:r>
            <a:r>
              <a:rPr lang="en-US" sz="2400" dirty="0" smtClean="0"/>
              <a:t> </a:t>
            </a:r>
            <a:r>
              <a:rPr lang="en-US" sz="2400" dirty="0" err="1" smtClean="0"/>
              <a:t>güven</a:t>
            </a:r>
            <a:r>
              <a:rPr lang="en-US" sz="2400" dirty="0" smtClean="0"/>
              <a:t> ve </a:t>
            </a:r>
            <a:r>
              <a:rPr lang="en-US" sz="2400" dirty="0" err="1" smtClean="0"/>
              <a:t>saygı</a:t>
            </a:r>
            <a:r>
              <a:rPr lang="en-US" sz="2400" dirty="0" smtClean="0"/>
              <a:t> ve </a:t>
            </a:r>
            <a:r>
              <a:rPr lang="en-US" sz="2400" dirty="0" err="1" smtClean="0"/>
              <a:t>etik</a:t>
            </a:r>
            <a:r>
              <a:rPr lang="en-US" sz="2400" dirty="0" smtClean="0"/>
              <a:t> </a:t>
            </a:r>
            <a:r>
              <a:rPr lang="en-US" sz="2400" dirty="0" err="1" smtClean="0"/>
              <a:t>kurallara</a:t>
            </a:r>
            <a:r>
              <a:rPr lang="en-US" sz="2400" dirty="0" smtClean="0"/>
              <a:t> </a:t>
            </a:r>
            <a:r>
              <a:rPr lang="en-US" sz="2400" dirty="0" err="1" smtClean="0"/>
              <a:t>sahip</a:t>
            </a:r>
            <a:r>
              <a:rPr lang="en-US" sz="2400" dirty="0" smtClean="0"/>
              <a:t> </a:t>
            </a:r>
            <a:endParaRPr lang="tr-TR" sz="2400" dirty="0" smtClean="0"/>
          </a:p>
          <a:p>
            <a:pPr lvl="1"/>
            <a:r>
              <a:rPr lang="en-US" sz="2400" dirty="0" smtClean="0"/>
              <a:t>BT </a:t>
            </a:r>
            <a:r>
              <a:rPr lang="en-US" sz="2400" dirty="0" err="1" smtClean="0"/>
              <a:t>ile</a:t>
            </a:r>
            <a:r>
              <a:rPr lang="en-US" sz="2400" dirty="0" smtClean="0"/>
              <a:t> </a:t>
            </a:r>
            <a:r>
              <a:rPr lang="en-US" sz="2400" dirty="0" err="1" smtClean="0"/>
              <a:t>ilgili</a:t>
            </a:r>
            <a:r>
              <a:rPr lang="en-US" sz="2400" dirty="0" smtClean="0"/>
              <a:t> </a:t>
            </a:r>
            <a:r>
              <a:rPr lang="en-US" sz="2400" dirty="0" err="1" smtClean="0"/>
              <a:t>profesyonel</a:t>
            </a:r>
            <a:r>
              <a:rPr lang="en-US" sz="2400" dirty="0" smtClean="0"/>
              <a:t> </a:t>
            </a:r>
            <a:r>
              <a:rPr lang="en-US" sz="2400" dirty="0" err="1" smtClean="0"/>
              <a:t>kuruluşlar</a:t>
            </a:r>
            <a:r>
              <a:rPr lang="en-US" sz="2400" dirty="0" smtClean="0"/>
              <a:t> </a:t>
            </a:r>
            <a:r>
              <a:rPr lang="en-US" sz="2400" dirty="0" err="1" smtClean="0"/>
              <a:t>için</a:t>
            </a:r>
            <a:r>
              <a:rPr lang="en-US" sz="2400" dirty="0" smtClean="0"/>
              <a:t> </a:t>
            </a:r>
            <a:r>
              <a:rPr lang="en-US" sz="2400" dirty="0" err="1" smtClean="0"/>
              <a:t>öz</a:t>
            </a:r>
            <a:r>
              <a:rPr lang="en-US" sz="2400" dirty="0" smtClean="0"/>
              <a:t> </a:t>
            </a:r>
            <a:r>
              <a:rPr lang="en-US" sz="2400" dirty="0" err="1" smtClean="0"/>
              <a:t>değerlendirme</a:t>
            </a:r>
            <a:r>
              <a:rPr lang="en-US" sz="2400" dirty="0" smtClean="0"/>
              <a:t> </a:t>
            </a:r>
            <a:r>
              <a:rPr lang="en-US" sz="2400" dirty="0" err="1" smtClean="0"/>
              <a:t>için</a:t>
            </a:r>
            <a:r>
              <a:rPr lang="en-US" sz="2400" dirty="0" smtClean="0"/>
              <a:t> </a:t>
            </a:r>
            <a:r>
              <a:rPr lang="en-US" sz="2400" dirty="0" err="1" smtClean="0"/>
              <a:t>bir</a:t>
            </a:r>
            <a:r>
              <a:rPr lang="en-US" sz="2400" dirty="0" smtClean="0"/>
              <a:t> </a:t>
            </a:r>
            <a:r>
              <a:rPr lang="en-US" sz="2400" dirty="0" err="1" smtClean="0"/>
              <a:t>değerlendirme</a:t>
            </a:r>
            <a:r>
              <a:rPr lang="en-US" sz="2400" dirty="0" smtClean="0"/>
              <a:t> </a:t>
            </a:r>
            <a:r>
              <a:rPr lang="en-US" sz="2400" dirty="0" err="1" smtClean="0"/>
              <a:t>kriterine</a:t>
            </a:r>
            <a:r>
              <a:rPr lang="en-US" sz="2400" dirty="0" smtClean="0"/>
              <a:t> </a:t>
            </a:r>
            <a:r>
              <a:rPr lang="en-US" sz="2400" dirty="0" err="1" smtClean="0"/>
              <a:t>erişim</a:t>
            </a:r>
            <a:r>
              <a:rPr lang="en-US" sz="2400" dirty="0" smtClean="0"/>
              <a:t>:</a:t>
            </a:r>
            <a:endParaRPr lang="tr-TR" sz="2400" dirty="0" smtClean="0"/>
          </a:p>
          <a:p>
            <a:pPr lvl="2"/>
            <a:r>
              <a:rPr lang="en-US" sz="2200" dirty="0" smtClean="0"/>
              <a:t>ACM</a:t>
            </a:r>
            <a:r>
              <a:rPr lang="en-US" sz="2200" dirty="0"/>
              <a:t>, IEEE-CS, AITP, </a:t>
            </a:r>
            <a:r>
              <a:rPr lang="tr-TR" sz="2200" dirty="0" smtClean="0"/>
              <a:t>ve </a:t>
            </a:r>
            <a:r>
              <a:rPr lang="en-US" sz="2200" dirty="0" smtClean="0"/>
              <a:t>SANS</a:t>
            </a:r>
            <a:endParaRPr lang="en-US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158"/>
            <a:ext cx="8026400" cy="1046440"/>
          </a:xfrm>
        </p:spPr>
        <p:txBody>
          <a:bodyPr/>
          <a:lstStyle/>
          <a:p>
            <a:r>
              <a:rPr lang="en-US" sz="4000" dirty="0"/>
              <a:t>Summary, Part </a:t>
            </a:r>
            <a:r>
              <a:rPr lang="en-US" sz="4000" dirty="0" smtClean="0"/>
              <a:t>4</a:t>
            </a:r>
            <a:r>
              <a:rPr lang="tr-TR" sz="4000" dirty="0"/>
              <a:t/>
            </a:r>
            <a:br>
              <a:rPr lang="tr-TR" sz="4000" dirty="0"/>
            </a:br>
            <a:r>
              <a:rPr lang="tr-TR" sz="4000" dirty="0"/>
              <a:t>Özet, Bölüm </a:t>
            </a:r>
            <a:r>
              <a:rPr lang="tr-TR" sz="4000" dirty="0" smtClean="0"/>
              <a:t>4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3749407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8041" y="1328163"/>
            <a:ext cx="8415338" cy="4411977"/>
          </a:xfrm>
        </p:spPr>
        <p:txBody>
          <a:bodyPr/>
          <a:lstStyle/>
          <a:p>
            <a:r>
              <a:rPr lang="en-US" sz="2800" b="1" dirty="0" smtClean="0"/>
              <a:t>BT </a:t>
            </a:r>
            <a:r>
              <a:rPr lang="en-US" sz="2800" b="1" dirty="0" err="1" smtClean="0"/>
              <a:t>çalışanlarının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profesyonelliğini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teşvik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etmek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için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neler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yapılabilir</a:t>
            </a:r>
            <a:r>
              <a:rPr lang="en-US" sz="2800" b="1" dirty="0" smtClean="0"/>
              <a:t>?</a:t>
            </a:r>
            <a:endParaRPr lang="tr-TR" sz="2800" b="1" dirty="0" smtClean="0"/>
          </a:p>
          <a:p>
            <a:pPr lvl="1"/>
            <a:r>
              <a:rPr lang="en-US" sz="2400" dirty="0" smtClean="0"/>
              <a:t>BT </a:t>
            </a:r>
            <a:r>
              <a:rPr lang="en-US" sz="2400" dirty="0" err="1" smtClean="0"/>
              <a:t>çalışanlarının</a:t>
            </a:r>
            <a:r>
              <a:rPr lang="en-US" sz="2400" dirty="0" smtClean="0"/>
              <a:t> </a:t>
            </a:r>
            <a:r>
              <a:rPr lang="en-US" sz="2400" dirty="0" err="1" smtClean="0"/>
              <a:t>sertifikalandırılması</a:t>
            </a:r>
            <a:r>
              <a:rPr lang="en-US" sz="2400" dirty="0" smtClean="0"/>
              <a:t> ve </a:t>
            </a:r>
            <a:r>
              <a:rPr lang="en-US" sz="2400" dirty="0" err="1" smtClean="0"/>
              <a:t>lisanslanması</a:t>
            </a:r>
            <a:r>
              <a:rPr lang="en-US" sz="2400" dirty="0" smtClean="0"/>
              <a:t>:</a:t>
            </a:r>
            <a:endParaRPr lang="tr-TR" sz="2400" dirty="0" smtClean="0"/>
          </a:p>
          <a:p>
            <a:pPr lvl="2"/>
            <a:r>
              <a:rPr lang="en-US" sz="2200" dirty="0" err="1" smtClean="0"/>
              <a:t>Savunucular</a:t>
            </a:r>
            <a:r>
              <a:rPr lang="en-US" sz="2200" dirty="0" smtClean="0"/>
              <a:t>, </a:t>
            </a:r>
            <a:r>
              <a:rPr lang="en-US" sz="2200" dirty="0" err="1" smtClean="0"/>
              <a:t>sertifikasyon</a:t>
            </a:r>
            <a:r>
              <a:rPr lang="en-US" sz="2200" dirty="0" smtClean="0"/>
              <a:t> ve </a:t>
            </a:r>
            <a:r>
              <a:rPr lang="en-US" sz="2200" dirty="0" err="1" smtClean="0"/>
              <a:t>lisanslamanın</a:t>
            </a:r>
            <a:r>
              <a:rPr lang="en-US" sz="2200" dirty="0" smtClean="0"/>
              <a:t> </a:t>
            </a:r>
            <a:r>
              <a:rPr lang="en-US" sz="2200" dirty="0" err="1" smtClean="0"/>
              <a:t>bilgi</a:t>
            </a:r>
            <a:r>
              <a:rPr lang="en-US" sz="2200" dirty="0" smtClean="0"/>
              <a:t> </a:t>
            </a:r>
            <a:r>
              <a:rPr lang="en-US" sz="2200" dirty="0" err="1" smtClean="0"/>
              <a:t>sistemlerinin</a:t>
            </a:r>
            <a:r>
              <a:rPr lang="en-US" sz="2200" dirty="0" smtClean="0"/>
              <a:t> </a:t>
            </a:r>
            <a:r>
              <a:rPr lang="en-US" sz="2200" dirty="0" err="1" smtClean="0"/>
              <a:t>güvenilirliğini</a:t>
            </a:r>
            <a:r>
              <a:rPr lang="en-US" sz="2200" dirty="0" smtClean="0"/>
              <a:t> ve </a:t>
            </a:r>
            <a:r>
              <a:rPr lang="en-US" sz="2200" dirty="0" err="1" smtClean="0"/>
              <a:t>etkinliğini</a:t>
            </a:r>
            <a:r>
              <a:rPr lang="en-US" sz="2200" dirty="0" smtClean="0"/>
              <a:t> </a:t>
            </a:r>
            <a:r>
              <a:rPr lang="en-US" sz="2200" dirty="0" err="1" smtClean="0"/>
              <a:t>artıracağını</a:t>
            </a:r>
            <a:r>
              <a:rPr lang="en-US" sz="2200" dirty="0" smtClean="0"/>
              <a:t> </a:t>
            </a:r>
            <a:r>
              <a:rPr lang="en-US" sz="2200" dirty="0" err="1" smtClean="0"/>
              <a:t>savunuyorlar</a:t>
            </a:r>
            <a:r>
              <a:rPr lang="en-US" sz="2200" dirty="0" smtClean="0"/>
              <a:t>. </a:t>
            </a:r>
            <a:endParaRPr lang="tr-TR" sz="2200" dirty="0" smtClean="0"/>
          </a:p>
          <a:p>
            <a:pPr lvl="2"/>
            <a:r>
              <a:rPr lang="en-US" sz="2200" dirty="0" err="1" smtClean="0"/>
              <a:t>Sertifikasyon</a:t>
            </a:r>
            <a:r>
              <a:rPr lang="en-US" sz="2200" dirty="0" smtClean="0"/>
              <a:t>, </a:t>
            </a:r>
            <a:r>
              <a:rPr lang="en-US" sz="2200" dirty="0" err="1" smtClean="0"/>
              <a:t>bir</a:t>
            </a:r>
            <a:r>
              <a:rPr lang="en-US" sz="2200" dirty="0" smtClean="0"/>
              <a:t> </a:t>
            </a:r>
            <a:r>
              <a:rPr lang="en-US" sz="2200" dirty="0" err="1" smtClean="0"/>
              <a:t>profesyonelin</a:t>
            </a:r>
            <a:r>
              <a:rPr lang="en-US" sz="2200" dirty="0" smtClean="0"/>
              <a:t>, </a:t>
            </a:r>
            <a:r>
              <a:rPr lang="en-US" sz="2200" dirty="0" err="1" smtClean="0"/>
              <a:t>sertifika</a:t>
            </a:r>
            <a:r>
              <a:rPr lang="en-US" sz="2200" dirty="0" smtClean="0"/>
              <a:t> </a:t>
            </a:r>
            <a:r>
              <a:rPr lang="en-US" sz="2200" dirty="0" err="1" smtClean="0"/>
              <a:t>veren</a:t>
            </a:r>
            <a:r>
              <a:rPr lang="en-US" sz="2200" dirty="0" smtClean="0"/>
              <a:t> </a:t>
            </a:r>
            <a:r>
              <a:rPr lang="en-US" sz="2200" dirty="0" err="1" smtClean="0"/>
              <a:t>kuruluşun</a:t>
            </a:r>
            <a:r>
              <a:rPr lang="en-US" sz="2200" dirty="0" smtClean="0"/>
              <a:t> </a:t>
            </a:r>
            <a:r>
              <a:rPr lang="en-US" sz="2200" dirty="0" err="1" smtClean="0"/>
              <a:t>görüşüne</a:t>
            </a:r>
            <a:r>
              <a:rPr lang="en-US" sz="2200" dirty="0" smtClean="0"/>
              <a:t> </a:t>
            </a:r>
            <a:r>
              <a:rPr lang="en-US" sz="2200" dirty="0" err="1" smtClean="0"/>
              <a:t>göre</a:t>
            </a:r>
            <a:r>
              <a:rPr lang="en-US" sz="2200" dirty="0" smtClean="0"/>
              <a:t> </a:t>
            </a:r>
            <a:r>
              <a:rPr lang="en-US" sz="2200" dirty="0" err="1" smtClean="0"/>
              <a:t>belirli</a:t>
            </a:r>
            <a:r>
              <a:rPr lang="en-US" sz="2200" dirty="0" smtClean="0"/>
              <a:t> </a:t>
            </a:r>
            <a:r>
              <a:rPr lang="en-US" sz="2200" dirty="0" err="1" smtClean="0"/>
              <a:t>bir</a:t>
            </a:r>
            <a:r>
              <a:rPr lang="en-US" sz="2200" dirty="0" smtClean="0"/>
              <a:t> </a:t>
            </a:r>
            <a:r>
              <a:rPr lang="en-US" sz="2200" dirty="0" err="1" smtClean="0"/>
              <a:t>beceri</a:t>
            </a:r>
            <a:r>
              <a:rPr lang="en-US" sz="2200" dirty="0" smtClean="0"/>
              <a:t>, </a:t>
            </a:r>
            <a:r>
              <a:rPr lang="en-US" sz="2200" dirty="0" err="1" smtClean="0"/>
              <a:t>bilgi</a:t>
            </a:r>
            <a:r>
              <a:rPr lang="en-US" sz="2200" dirty="0" smtClean="0"/>
              <a:t> </a:t>
            </a:r>
            <a:r>
              <a:rPr lang="en-US" sz="2200" dirty="0" err="1" smtClean="0"/>
              <a:t>veya</a:t>
            </a:r>
            <a:r>
              <a:rPr lang="en-US" sz="2200" dirty="0" smtClean="0"/>
              <a:t> </a:t>
            </a:r>
            <a:r>
              <a:rPr lang="en-US" sz="2200" dirty="0" err="1" smtClean="0"/>
              <a:t>yetenek</a:t>
            </a:r>
            <a:r>
              <a:rPr lang="en-US" sz="2200" dirty="0" smtClean="0"/>
              <a:t> </a:t>
            </a:r>
            <a:r>
              <a:rPr lang="en-US" sz="2200" dirty="0" err="1" smtClean="0"/>
              <a:t>setine</a:t>
            </a:r>
            <a:r>
              <a:rPr lang="en-US" sz="2200" dirty="0" smtClean="0"/>
              <a:t> </a:t>
            </a:r>
            <a:r>
              <a:rPr lang="en-US" sz="2200" dirty="0" err="1" smtClean="0"/>
              <a:t>sahip</a:t>
            </a:r>
            <a:r>
              <a:rPr lang="en-US" sz="2200" dirty="0" smtClean="0"/>
              <a:t> </a:t>
            </a:r>
            <a:r>
              <a:rPr lang="en-US" sz="2200" dirty="0" err="1" smtClean="0"/>
              <a:t>olduğunu</a:t>
            </a:r>
            <a:r>
              <a:rPr lang="en-US" sz="2200" dirty="0" smtClean="0"/>
              <a:t> </a:t>
            </a:r>
            <a:r>
              <a:rPr lang="en-US" sz="2200" dirty="0" err="1" smtClean="0"/>
              <a:t>gösterir</a:t>
            </a:r>
            <a:r>
              <a:rPr lang="en-US" sz="2200" dirty="0" smtClean="0"/>
              <a:t>.  </a:t>
            </a:r>
            <a:endParaRPr lang="tr-TR" sz="2200" dirty="0" smtClean="0"/>
          </a:p>
          <a:p>
            <a:pPr lvl="2"/>
            <a:r>
              <a:rPr lang="en-US" sz="2200" dirty="0" err="1" smtClean="0"/>
              <a:t>Çoğu</a:t>
            </a:r>
            <a:r>
              <a:rPr lang="en-US" sz="2200" dirty="0" smtClean="0"/>
              <a:t> </a:t>
            </a:r>
            <a:r>
              <a:rPr lang="en-US" sz="2200" dirty="0" err="1" smtClean="0"/>
              <a:t>eyalet</a:t>
            </a:r>
            <a:r>
              <a:rPr lang="en-US" sz="2200" dirty="0" smtClean="0"/>
              <a:t>, </a:t>
            </a:r>
            <a:r>
              <a:rPr lang="en-US" sz="2200" dirty="0" err="1" smtClean="0"/>
              <a:t>yazılım</a:t>
            </a:r>
            <a:r>
              <a:rPr lang="en-US" sz="2200" dirty="0" smtClean="0"/>
              <a:t> </a:t>
            </a:r>
            <a:r>
              <a:rPr lang="en-US" sz="2200" dirty="0" err="1" smtClean="0"/>
              <a:t>mühendislerinin</a:t>
            </a:r>
            <a:r>
              <a:rPr lang="en-US" sz="2200" dirty="0" smtClean="0"/>
              <a:t> </a:t>
            </a:r>
            <a:r>
              <a:rPr lang="en-US" sz="2200" dirty="0" err="1" smtClean="0"/>
              <a:t>lisanslanmasını</a:t>
            </a:r>
            <a:r>
              <a:rPr lang="en-US" sz="2200" dirty="0" smtClean="0"/>
              <a:t> </a:t>
            </a:r>
            <a:r>
              <a:rPr lang="en-US" sz="2200" dirty="0" err="1" smtClean="0"/>
              <a:t>desteklemektedir</a:t>
            </a:r>
            <a:r>
              <a:rPr lang="en-US" sz="2200" dirty="0" smtClean="0"/>
              <a:t>. </a:t>
            </a:r>
            <a:endParaRPr lang="tr-TR" sz="2200" dirty="0" smtClean="0"/>
          </a:p>
          <a:p>
            <a:pPr lvl="2"/>
            <a:r>
              <a:rPr lang="en-US" sz="2200" dirty="0" err="1" smtClean="0"/>
              <a:t>Devlet</a:t>
            </a:r>
            <a:r>
              <a:rPr lang="en-US" sz="2200" dirty="0" smtClean="0"/>
              <a:t> </a:t>
            </a:r>
            <a:r>
              <a:rPr lang="en-US" sz="2200" dirty="0" err="1" smtClean="0"/>
              <a:t>lisans</a:t>
            </a:r>
            <a:r>
              <a:rPr lang="en-US" sz="2200" dirty="0" smtClean="0"/>
              <a:t> </a:t>
            </a:r>
            <a:r>
              <a:rPr lang="en-US" sz="2200" dirty="0" err="1" smtClean="0"/>
              <a:t>kurulları</a:t>
            </a:r>
            <a:r>
              <a:rPr lang="en-US" sz="2200" dirty="0" smtClean="0"/>
              <a:t>, </a:t>
            </a:r>
            <a:r>
              <a:rPr lang="en-US" sz="2200" dirty="0" err="1" smtClean="0"/>
              <a:t>kendi</a:t>
            </a:r>
            <a:r>
              <a:rPr lang="en-US" sz="2200" dirty="0" smtClean="0"/>
              <a:t> </a:t>
            </a:r>
            <a:r>
              <a:rPr lang="en-US" sz="2200" dirty="0" err="1" smtClean="0"/>
              <a:t>yetki</a:t>
            </a:r>
            <a:r>
              <a:rPr lang="en-US" sz="2200" dirty="0" smtClean="0"/>
              <a:t> </a:t>
            </a:r>
            <a:r>
              <a:rPr lang="en-US" sz="2200" dirty="0" err="1" smtClean="0"/>
              <a:t>alanlarındaki</a:t>
            </a:r>
            <a:r>
              <a:rPr lang="en-US" sz="2200" dirty="0" smtClean="0"/>
              <a:t> </a:t>
            </a:r>
            <a:r>
              <a:rPr lang="en-US" sz="2200" dirty="0" err="1" smtClean="0"/>
              <a:t>belirli</a:t>
            </a:r>
            <a:r>
              <a:rPr lang="en-US" sz="2200" dirty="0" smtClean="0"/>
              <a:t> </a:t>
            </a:r>
            <a:r>
              <a:rPr lang="en-US" sz="2200" dirty="0" err="1" smtClean="0"/>
              <a:t>gereksinimler</a:t>
            </a:r>
            <a:r>
              <a:rPr lang="en-US" sz="2200" dirty="0" smtClean="0"/>
              <a:t> </a:t>
            </a:r>
            <a:r>
              <a:rPr lang="en-US" sz="2200" dirty="0" err="1" smtClean="0"/>
              <a:t>üzerinde</a:t>
            </a:r>
            <a:r>
              <a:rPr lang="en-US" sz="2200" dirty="0" smtClean="0"/>
              <a:t> </a:t>
            </a:r>
            <a:r>
              <a:rPr lang="en-US" sz="2200" dirty="0" err="1" smtClean="0"/>
              <a:t>sorumluluğa</a:t>
            </a:r>
            <a:r>
              <a:rPr lang="en-US" sz="2200" dirty="0" smtClean="0"/>
              <a:t> </a:t>
            </a:r>
            <a:r>
              <a:rPr lang="en-US" sz="2200" dirty="0" err="1" smtClean="0"/>
              <a:t>sahiptir</a:t>
            </a:r>
            <a:r>
              <a:rPr lang="en-US" sz="2200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158"/>
            <a:ext cx="8026400" cy="1046440"/>
          </a:xfrm>
        </p:spPr>
        <p:txBody>
          <a:bodyPr/>
          <a:lstStyle/>
          <a:p>
            <a:r>
              <a:rPr lang="en-US" sz="4000" dirty="0"/>
              <a:t>Summary, Part </a:t>
            </a:r>
            <a:r>
              <a:rPr lang="en-US" sz="4000" dirty="0" smtClean="0"/>
              <a:t>5</a:t>
            </a:r>
            <a:r>
              <a:rPr lang="tr-TR" sz="4000" dirty="0"/>
              <a:t/>
            </a:r>
            <a:br>
              <a:rPr lang="tr-TR" sz="4000" dirty="0"/>
            </a:br>
            <a:r>
              <a:rPr lang="tr-TR" sz="4000" dirty="0"/>
              <a:t>Özet, Bölüm </a:t>
            </a:r>
            <a:r>
              <a:rPr lang="tr-TR" sz="4000" dirty="0" smtClean="0"/>
              <a:t>5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6819302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6062" y="1371600"/>
            <a:ext cx="8542338" cy="3944157"/>
          </a:xfrm>
        </p:spPr>
        <p:txBody>
          <a:bodyPr/>
          <a:lstStyle/>
          <a:p>
            <a:r>
              <a:rPr lang="en-US" sz="2800" b="1" dirty="0" smtClean="0"/>
              <a:t>BT </a:t>
            </a:r>
            <a:r>
              <a:rPr lang="en-US" sz="2800" b="1" dirty="0" err="1" smtClean="0"/>
              <a:t>kullanıcıları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hangi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etik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sorunlarla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karşı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karşıya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kalıyor</a:t>
            </a:r>
            <a:r>
              <a:rPr lang="en-US" sz="2800" b="1" dirty="0" smtClean="0"/>
              <a:t> ve </a:t>
            </a:r>
            <a:r>
              <a:rPr lang="en-US" sz="2800" b="1" dirty="0" err="1" smtClean="0"/>
              <a:t>etik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davranışlarını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teşvik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etmek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için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neler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yapılabilir</a:t>
            </a:r>
            <a:r>
              <a:rPr lang="en-US" sz="2800" b="1" dirty="0" smtClean="0"/>
              <a:t>?</a:t>
            </a:r>
            <a:endParaRPr lang="tr-TR" sz="2800" b="1" dirty="0" smtClean="0"/>
          </a:p>
          <a:p>
            <a:pPr lvl="1"/>
            <a:r>
              <a:rPr lang="en-US" sz="2200" dirty="0" smtClean="0"/>
              <a:t>BT </a:t>
            </a:r>
            <a:r>
              <a:rPr lang="en-US" sz="2200" dirty="0" err="1" smtClean="0"/>
              <a:t>kullanıcılarının</a:t>
            </a:r>
            <a:r>
              <a:rPr lang="en-US" sz="2200" dirty="0" smtClean="0"/>
              <a:t> </a:t>
            </a:r>
            <a:r>
              <a:rPr lang="en-US" sz="2200" dirty="0" err="1" smtClean="0"/>
              <a:t>karşılaştığı</a:t>
            </a:r>
            <a:r>
              <a:rPr lang="en-US" sz="2200" dirty="0" smtClean="0"/>
              <a:t> </a:t>
            </a:r>
            <a:r>
              <a:rPr lang="en-US" sz="2200" dirty="0" err="1" smtClean="0"/>
              <a:t>etik</a:t>
            </a:r>
            <a:r>
              <a:rPr lang="en-US" sz="2200" dirty="0" smtClean="0"/>
              <a:t> </a:t>
            </a:r>
            <a:r>
              <a:rPr lang="en-US" sz="2200" dirty="0" err="1" smtClean="0"/>
              <a:t>sorunlar</a:t>
            </a:r>
            <a:r>
              <a:rPr lang="en-US" sz="2200" dirty="0" smtClean="0"/>
              <a:t>: </a:t>
            </a:r>
            <a:r>
              <a:rPr lang="en-US" sz="2200" dirty="0" err="1" smtClean="0"/>
              <a:t>Yazılım</a:t>
            </a:r>
            <a:r>
              <a:rPr lang="en-US" sz="2200" dirty="0" smtClean="0"/>
              <a:t> </a:t>
            </a:r>
            <a:r>
              <a:rPr lang="en-US" sz="2200" dirty="0" err="1" smtClean="0"/>
              <a:t>korsanlığı</a:t>
            </a:r>
            <a:r>
              <a:rPr lang="en-US" sz="2200" dirty="0" smtClean="0"/>
              <a:t>, </a:t>
            </a:r>
            <a:r>
              <a:rPr lang="en-US" sz="2200" dirty="0" err="1" smtClean="0"/>
              <a:t>bilgi</a:t>
            </a:r>
            <a:r>
              <a:rPr lang="en-US" sz="2200" dirty="0" smtClean="0"/>
              <a:t> </a:t>
            </a:r>
            <a:r>
              <a:rPr lang="en-US" sz="2200" dirty="0" err="1" smtClean="0"/>
              <a:t>işlem</a:t>
            </a:r>
            <a:r>
              <a:rPr lang="en-US" sz="2200" dirty="0" smtClean="0"/>
              <a:t> </a:t>
            </a:r>
            <a:r>
              <a:rPr lang="en-US" sz="2200" dirty="0" err="1" smtClean="0"/>
              <a:t>kaynaklarının</a:t>
            </a:r>
            <a:r>
              <a:rPr lang="en-US" sz="2200" dirty="0" smtClean="0"/>
              <a:t> </a:t>
            </a:r>
            <a:r>
              <a:rPr lang="en-US" sz="2200" dirty="0" err="1" smtClean="0"/>
              <a:t>uygunsuz</a:t>
            </a:r>
            <a:r>
              <a:rPr lang="en-US" sz="2200" dirty="0" smtClean="0"/>
              <a:t> </a:t>
            </a:r>
            <a:r>
              <a:rPr lang="en-US" sz="2200" dirty="0" err="1" smtClean="0"/>
              <a:t>kullanımı</a:t>
            </a:r>
            <a:r>
              <a:rPr lang="en-US" sz="2200" dirty="0" smtClean="0"/>
              <a:t> ve </a:t>
            </a:r>
            <a:r>
              <a:rPr lang="en-US" sz="2200" dirty="0" err="1" smtClean="0"/>
              <a:t>verilerin</a:t>
            </a:r>
            <a:r>
              <a:rPr lang="en-US" sz="2200" dirty="0" smtClean="0"/>
              <a:t> </a:t>
            </a:r>
            <a:r>
              <a:rPr lang="en-US" sz="2200" dirty="0" err="1" smtClean="0"/>
              <a:t>uygunsuz</a:t>
            </a:r>
            <a:r>
              <a:rPr lang="en-US" sz="2200" dirty="0" smtClean="0"/>
              <a:t> </a:t>
            </a:r>
            <a:r>
              <a:rPr lang="en-US" sz="2200" dirty="0" err="1" smtClean="0"/>
              <a:t>paylaşımı</a:t>
            </a:r>
            <a:r>
              <a:rPr lang="en-US" sz="2200" dirty="0" smtClean="0"/>
              <a:t> </a:t>
            </a:r>
            <a:endParaRPr lang="tr-TR" sz="2200" dirty="0" smtClean="0"/>
          </a:p>
          <a:p>
            <a:pPr lvl="1"/>
            <a:r>
              <a:rPr lang="en-US" sz="2200" dirty="0" err="1" smtClean="0"/>
              <a:t>Etik</a:t>
            </a:r>
            <a:r>
              <a:rPr lang="en-US" sz="2200" dirty="0" smtClean="0"/>
              <a:t> </a:t>
            </a:r>
            <a:r>
              <a:rPr lang="en-US" sz="2200" dirty="0" err="1" smtClean="0"/>
              <a:t>davranışı</a:t>
            </a:r>
            <a:r>
              <a:rPr lang="en-US" sz="2200" dirty="0" smtClean="0"/>
              <a:t> </a:t>
            </a:r>
            <a:r>
              <a:rPr lang="en-US" sz="2200" dirty="0" err="1" smtClean="0"/>
              <a:t>teşvik</a:t>
            </a:r>
            <a:r>
              <a:rPr lang="en-US" sz="2200" dirty="0" smtClean="0"/>
              <a:t> </a:t>
            </a:r>
            <a:r>
              <a:rPr lang="en-US" sz="2200" dirty="0" err="1" smtClean="0"/>
              <a:t>etmek</a:t>
            </a:r>
            <a:r>
              <a:rPr lang="en-US" sz="2200" dirty="0" smtClean="0"/>
              <a:t> </a:t>
            </a:r>
            <a:r>
              <a:rPr lang="en-US" sz="2200" dirty="0" err="1" smtClean="0"/>
              <a:t>için</a:t>
            </a:r>
            <a:r>
              <a:rPr lang="en-US" sz="2200" dirty="0" smtClean="0"/>
              <a:t> </a:t>
            </a:r>
            <a:r>
              <a:rPr lang="en-US" sz="2200" dirty="0" err="1" smtClean="0"/>
              <a:t>eylemler</a:t>
            </a:r>
            <a:r>
              <a:rPr lang="en-US" sz="2200" dirty="0" smtClean="0"/>
              <a:t>: </a:t>
            </a:r>
            <a:r>
              <a:rPr lang="en-US" sz="2200" dirty="0" err="1" smtClean="0"/>
              <a:t>Teknoloji</a:t>
            </a:r>
            <a:r>
              <a:rPr lang="en-US" sz="2200" dirty="0" smtClean="0"/>
              <a:t> </a:t>
            </a:r>
            <a:r>
              <a:rPr lang="en-US" sz="2200" dirty="0" err="1" smtClean="0"/>
              <a:t>kullanımı</a:t>
            </a:r>
            <a:r>
              <a:rPr lang="en-US" sz="2200" dirty="0" smtClean="0"/>
              <a:t> </a:t>
            </a:r>
            <a:r>
              <a:rPr lang="en-US" sz="2200" dirty="0" err="1" smtClean="0"/>
              <a:t>için</a:t>
            </a:r>
            <a:r>
              <a:rPr lang="en-US" sz="2200" dirty="0" smtClean="0"/>
              <a:t> </a:t>
            </a:r>
            <a:r>
              <a:rPr lang="en-US" sz="2200" dirty="0" err="1" smtClean="0"/>
              <a:t>yönergeler</a:t>
            </a:r>
            <a:r>
              <a:rPr lang="en-US" sz="2200" dirty="0" smtClean="0"/>
              <a:t> </a:t>
            </a:r>
            <a:r>
              <a:rPr lang="en-US" sz="2200" dirty="0" err="1" smtClean="0"/>
              <a:t>oluşturmak</a:t>
            </a:r>
            <a:r>
              <a:rPr lang="en-US" sz="2200" dirty="0" smtClean="0"/>
              <a:t>, </a:t>
            </a:r>
            <a:r>
              <a:rPr lang="en-US" sz="2200" dirty="0" err="1" smtClean="0"/>
              <a:t>bir</a:t>
            </a:r>
            <a:r>
              <a:rPr lang="en-US" sz="2200" dirty="0" smtClean="0"/>
              <a:t> AUP </a:t>
            </a:r>
            <a:r>
              <a:rPr lang="en-US" sz="2200" dirty="0" err="1" smtClean="0"/>
              <a:t>tanımlamak</a:t>
            </a:r>
            <a:r>
              <a:rPr lang="en-US" sz="2200" dirty="0" smtClean="0"/>
              <a:t>; </a:t>
            </a:r>
            <a:r>
              <a:rPr lang="en-US" sz="2200" dirty="0" err="1" smtClean="0"/>
              <a:t>Verileri</a:t>
            </a:r>
            <a:r>
              <a:rPr lang="en-US" sz="2200" dirty="0" smtClean="0"/>
              <a:t> </a:t>
            </a:r>
            <a:r>
              <a:rPr lang="en-US" sz="2200" dirty="0" err="1" smtClean="0"/>
              <a:t>korumak</a:t>
            </a:r>
            <a:r>
              <a:rPr lang="en-US" sz="2200" dirty="0" smtClean="0"/>
              <a:t>, </a:t>
            </a:r>
            <a:r>
              <a:rPr lang="en-US" sz="2200" dirty="0" err="1" smtClean="0"/>
              <a:t>güvenlik</a:t>
            </a:r>
            <a:r>
              <a:rPr lang="en-US" sz="2200" dirty="0" smtClean="0"/>
              <a:t> </a:t>
            </a:r>
            <a:r>
              <a:rPr lang="en-US" sz="2200" dirty="0" err="1" smtClean="0"/>
              <a:t>duvarını</a:t>
            </a:r>
            <a:r>
              <a:rPr lang="en-US" sz="2200" dirty="0" smtClean="0"/>
              <a:t> </a:t>
            </a:r>
            <a:r>
              <a:rPr lang="en-US" sz="2200" dirty="0" err="1" smtClean="0"/>
              <a:t>korumak</a:t>
            </a:r>
            <a:r>
              <a:rPr lang="en-US" sz="2200" dirty="0" smtClean="0"/>
              <a:t> ve </a:t>
            </a:r>
            <a:r>
              <a:rPr lang="en-US" sz="2200" dirty="0" err="1" smtClean="0"/>
              <a:t>uyumluluğu</a:t>
            </a:r>
            <a:r>
              <a:rPr lang="en-US" sz="2200" dirty="0" smtClean="0"/>
              <a:t> </a:t>
            </a:r>
            <a:r>
              <a:rPr lang="en-US" sz="2200" dirty="0" err="1" smtClean="0"/>
              <a:t>sağlamak</a:t>
            </a:r>
            <a:r>
              <a:rPr lang="en-US" sz="2200" dirty="0" smtClean="0"/>
              <a:t> </a:t>
            </a:r>
            <a:r>
              <a:rPr lang="en-US" sz="2200" dirty="0" err="1" smtClean="0"/>
              <a:t>için</a:t>
            </a:r>
            <a:r>
              <a:rPr lang="en-US" sz="2200" dirty="0" smtClean="0"/>
              <a:t> </a:t>
            </a:r>
            <a:r>
              <a:rPr lang="en-US" sz="2200" dirty="0" err="1" smtClean="0"/>
              <a:t>bilgi</a:t>
            </a:r>
            <a:r>
              <a:rPr lang="en-US" sz="2200" dirty="0" smtClean="0"/>
              <a:t> </a:t>
            </a:r>
            <a:r>
              <a:rPr lang="en-US" sz="2200" dirty="0" err="1" smtClean="0"/>
              <a:t>sistemlerini</a:t>
            </a:r>
            <a:r>
              <a:rPr lang="en-US" sz="2200" dirty="0" smtClean="0"/>
              <a:t> </a:t>
            </a:r>
            <a:r>
              <a:rPr lang="en-US" sz="2200" dirty="0" err="1" smtClean="0"/>
              <a:t>yapılandırın</a:t>
            </a:r>
            <a:r>
              <a:rPr lang="en-US" sz="2200" dirty="0" smtClean="0"/>
              <a:t> </a:t>
            </a:r>
            <a:endParaRPr lang="tr-TR" sz="2200" dirty="0" smtClean="0"/>
          </a:p>
          <a:p>
            <a:pPr lvl="1"/>
            <a:r>
              <a:rPr lang="en-US" sz="2200" dirty="0" err="1" smtClean="0"/>
              <a:t>Bir</a:t>
            </a:r>
            <a:r>
              <a:rPr lang="en-US" sz="2200" dirty="0" smtClean="0"/>
              <a:t> </a:t>
            </a:r>
            <a:r>
              <a:rPr lang="en-US" sz="2200" dirty="0" err="1" smtClean="0"/>
              <a:t>yönetim</a:t>
            </a:r>
            <a:r>
              <a:rPr lang="en-US" sz="2200" dirty="0" smtClean="0"/>
              <a:t> </a:t>
            </a:r>
            <a:r>
              <a:rPr lang="en-US" sz="2200" dirty="0" err="1" smtClean="0"/>
              <a:t>kurulu</a:t>
            </a:r>
            <a:r>
              <a:rPr lang="en-US" sz="2200" dirty="0" smtClean="0"/>
              <a:t> ve </a:t>
            </a:r>
            <a:r>
              <a:rPr lang="en-US" sz="2200" dirty="0" err="1" smtClean="0"/>
              <a:t>iç</a:t>
            </a:r>
            <a:r>
              <a:rPr lang="en-US" sz="2200" dirty="0" smtClean="0"/>
              <a:t> </a:t>
            </a:r>
            <a:r>
              <a:rPr lang="en-US" sz="2200" dirty="0" err="1" smtClean="0"/>
              <a:t>denetim</a:t>
            </a:r>
            <a:r>
              <a:rPr lang="en-US" sz="2200" dirty="0" smtClean="0"/>
              <a:t> </a:t>
            </a:r>
            <a:r>
              <a:rPr lang="en-US" sz="2200" dirty="0" err="1" smtClean="0"/>
              <a:t>ekibinin</a:t>
            </a:r>
            <a:r>
              <a:rPr lang="en-US" sz="2200" dirty="0" smtClean="0"/>
              <a:t> </a:t>
            </a:r>
            <a:r>
              <a:rPr lang="en-US" sz="2200" dirty="0" err="1" smtClean="0"/>
              <a:t>denetim</a:t>
            </a:r>
            <a:r>
              <a:rPr lang="en-US" sz="2200" dirty="0" smtClean="0"/>
              <a:t> </a:t>
            </a:r>
            <a:r>
              <a:rPr lang="en-US" sz="2200" dirty="0" err="1" smtClean="0"/>
              <a:t>komitesi</a:t>
            </a:r>
            <a:r>
              <a:rPr lang="en-US" sz="2200" dirty="0" smtClean="0"/>
              <a:t>: BT </a:t>
            </a:r>
            <a:r>
              <a:rPr lang="en-US" sz="2200" dirty="0" err="1" smtClean="0"/>
              <a:t>organizasyonunun</a:t>
            </a:r>
            <a:r>
              <a:rPr lang="en-US" sz="2200" dirty="0" smtClean="0"/>
              <a:t> ve BT </a:t>
            </a:r>
            <a:r>
              <a:rPr lang="en-US" sz="2200" dirty="0" err="1" smtClean="0"/>
              <a:t>kullanıcılarının</a:t>
            </a:r>
            <a:r>
              <a:rPr lang="en-US" sz="2200" dirty="0" smtClean="0"/>
              <a:t> </a:t>
            </a:r>
            <a:r>
              <a:rPr lang="en-US" sz="2200" dirty="0" err="1" smtClean="0"/>
              <a:t>organizasyon</a:t>
            </a:r>
            <a:r>
              <a:rPr lang="en-US" sz="2200" dirty="0" smtClean="0"/>
              <a:t> </a:t>
            </a:r>
            <a:r>
              <a:rPr lang="en-US" sz="2200" dirty="0" err="1" smtClean="0"/>
              <a:t>politikalarına</a:t>
            </a:r>
            <a:r>
              <a:rPr lang="en-US" sz="2200" dirty="0" smtClean="0"/>
              <a:t>, </a:t>
            </a:r>
            <a:r>
              <a:rPr lang="en-US" sz="2200" dirty="0" err="1" smtClean="0"/>
              <a:t>yasalarına</a:t>
            </a:r>
            <a:r>
              <a:rPr lang="en-US" sz="2200" dirty="0" smtClean="0"/>
              <a:t> ve </a:t>
            </a:r>
            <a:r>
              <a:rPr lang="en-US" sz="2200" dirty="0" err="1" smtClean="0"/>
              <a:t>yönetmeliklerine</a:t>
            </a:r>
            <a:r>
              <a:rPr lang="en-US" sz="2200" dirty="0" smtClean="0"/>
              <a:t> </a:t>
            </a:r>
            <a:r>
              <a:rPr lang="en-US" sz="2200" dirty="0" err="1" smtClean="0"/>
              <a:t>uygun</a:t>
            </a:r>
            <a:r>
              <a:rPr lang="en-US" sz="2200" dirty="0" smtClean="0"/>
              <a:t> </a:t>
            </a:r>
            <a:r>
              <a:rPr lang="en-US" sz="2200" dirty="0" err="1" smtClean="0"/>
              <a:t>olmasını</a:t>
            </a:r>
            <a:r>
              <a:rPr lang="en-US" sz="2200" dirty="0" smtClean="0"/>
              <a:t> </a:t>
            </a:r>
            <a:r>
              <a:rPr lang="en-US" sz="2200" dirty="0" err="1" smtClean="0"/>
              <a:t>sağlamak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158"/>
            <a:ext cx="8026400" cy="1046440"/>
          </a:xfrm>
        </p:spPr>
        <p:txBody>
          <a:bodyPr/>
          <a:lstStyle/>
          <a:p>
            <a:r>
              <a:rPr lang="en-US" sz="4000" dirty="0"/>
              <a:t>Summary, Part </a:t>
            </a:r>
            <a:r>
              <a:rPr lang="en-US" sz="4000" dirty="0" smtClean="0"/>
              <a:t>6</a:t>
            </a:r>
            <a:r>
              <a:rPr lang="tr-TR" sz="4000" dirty="0"/>
              <a:t/>
            </a:r>
            <a:br>
              <a:rPr lang="tr-TR" sz="4000" dirty="0"/>
            </a:br>
            <a:r>
              <a:rPr lang="tr-TR" sz="4000" dirty="0"/>
              <a:t>Özet, Bölüm </a:t>
            </a:r>
            <a:r>
              <a:rPr lang="tr-TR" sz="4000" dirty="0" smtClean="0"/>
              <a:t>6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991132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11631</TotalTime>
  <Words>4025</Words>
  <Application>Microsoft Office PowerPoint</Application>
  <PresentationFormat>Ekran Gösterisi (4:3)</PresentationFormat>
  <Paragraphs>285</Paragraphs>
  <Slides>37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Ethics in Information Technology Bilişim Teknolojisinde Etik</vt:lpstr>
      <vt:lpstr>Learning Objectives-Öğrenme Hedefleri</vt:lpstr>
      <vt:lpstr>IT Worker Relationships That Must be Managed Yönetilmesi Gereken BT Çalışanı İlişkileri</vt:lpstr>
      <vt:lpstr>Relationships Between IT Workers and Employers BT Çalışanları ve İşverenler Arasındaki İlişkiler</vt:lpstr>
      <vt:lpstr>Ethical Use of IT BT'nin Etik Kullanımı </vt:lpstr>
      <vt:lpstr>Trade Secrets &amp; Whistle-Blowing Ticari Sırlar ve İhbar Etme</vt:lpstr>
      <vt:lpstr>Relationships Between IT Workers and Clients BT çalışanları ve müşteriler arasındaki ilişkiler</vt:lpstr>
      <vt:lpstr>Frequent Causes of Problems in IT Projects BT Projelerinde Sık Karşılaşılan Sorunların Nedenleri</vt:lpstr>
      <vt:lpstr>Relationships Between IT Workers and Suppliers BT Çalışanları ve Tedarikçiler Arasındaki İlişkiler</vt:lpstr>
      <vt:lpstr>Foreign Corrupt Practices Act (FCPA) Yabancı Yolsuzluk Uygulamaları Yasası </vt:lpstr>
      <vt:lpstr>Distinguishing Between Bribes and Gifts Rüşvet ve Hediyeler Arasında Ayrım Yapmak</vt:lpstr>
      <vt:lpstr>Relationships Between IT Workers and Other Professionals BT çalışanları ve diğer profesyoneller arasındaki ilişkiler</vt:lpstr>
      <vt:lpstr>Relationships Between IT Workers and Society BT Çalışanları ve Toplum Arasındaki İlişkiler</vt:lpstr>
      <vt:lpstr>Encouraging the Professionalism of IT Workers BT Çalışanlarının Profesyonelliğini Teşvik Etmek</vt:lpstr>
      <vt:lpstr>Improving IT Workers’ Reputation for Professionalism BT Çalışanlarının Profesyonellik İtibarını Geliştirme</vt:lpstr>
      <vt:lpstr>Professional Code of Ethics Mesleki Etik Kurallar</vt:lpstr>
      <vt:lpstr>Professional Organizations Meslek Örgütleri</vt:lpstr>
      <vt:lpstr>Certification-Sertifikasyon</vt:lpstr>
      <vt:lpstr>Licensing of IT Professionals BT Uzmanlarının Lisanslanması</vt:lpstr>
      <vt:lpstr>Joint Steering Committee for the Establishment of Software Engineering as a Profession Yazılım Mühendisliğinin Bir Meslek Olarak Kurulması Ortak Yönlendirme Komitesi</vt:lpstr>
      <vt:lpstr>Potential Legal Issues Related to Licensing IT Workers BT Çalışanlarının Lisanslanmasıyla İlgili Olası Yasal Sorunlar</vt:lpstr>
      <vt:lpstr>IT Professional Malpractice BT Uzmanı Malpraktisi</vt:lpstr>
      <vt:lpstr>Common Ethical Issues for IT Users BT Kullanıcıları için Ortak Etik Sorunlar</vt:lpstr>
      <vt:lpstr>Supporting the Ethical Practices of IT Users BT Kullanıcılarının Etik Uygulamalarının Desteklenmesi</vt:lpstr>
      <vt:lpstr>Acceptable Use Policy (AUP) Kabul Edilebilir Kullanım Politikası (AUP)</vt:lpstr>
      <vt:lpstr>Manager’s Checklist For Establishing an Acceptable Use Policy, Part 1-Kabul Edilebilir Bir Kullanım Politikası Oluşturmak İçin Yöneticinin Kontrol Listesi, Bölüm 1</vt:lpstr>
      <vt:lpstr>Manager’s Checklist For Establishing an Acceptable Use Policy, Part 2--Kabul Edilebilir Bir Kullanım Politikası Oluşturmak İçin Yöneticinin Kontrol Listesi, Bölüm 2</vt:lpstr>
      <vt:lpstr>Manager’s Checklist For Establishing an Acceptable Use Policy, Part 3--Kabul Edilebilir Bir Kullanım Politikası Oluşturmak İçin Yöneticinin Kontrol Listesi, Bölüm 3</vt:lpstr>
      <vt:lpstr>Compliance-Uyumluluk</vt:lpstr>
      <vt:lpstr>Audit Committee- Denetim Komitesi</vt:lpstr>
      <vt:lpstr>Internal Audit Department İç Denetim Departmanı</vt:lpstr>
      <vt:lpstr>Summary, Part 1 Özet, Bölüm 1»</vt:lpstr>
      <vt:lpstr>Summary, Part 2 Özet, Bölüm 2</vt:lpstr>
      <vt:lpstr>Summary, Part 3 Özet, Bölüm 3</vt:lpstr>
      <vt:lpstr>Summary, Part 4 Özet, Bölüm 4</vt:lpstr>
      <vt:lpstr>Summary, Part 5 Özet, Bölüm 5</vt:lpstr>
      <vt:lpstr>Summary, Part 6 Özet, Bölüm 6</vt:lpstr>
    </vt:vector>
  </TitlesOfParts>
  <Company>Course Technology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Author</dc:creator>
  <cp:lastModifiedBy>ADEM KARAHOCA</cp:lastModifiedBy>
  <cp:revision>418</cp:revision>
  <cp:lastPrinted>2010-11-12T17:54:40Z</cp:lastPrinted>
  <dcterms:created xsi:type="dcterms:W3CDTF">2007-02-15T20:50:52Z</dcterms:created>
  <dcterms:modified xsi:type="dcterms:W3CDTF">2023-09-22T11:53:22Z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1933890983</vt:i4>
  </property>
  <property fmtid="{D5CDD505-2E9C-101B-9397-08002B2CF9AE}" pid="3" name="_NewReviewCycle">
    <vt:lpwstr/>
  </property>
  <property fmtid="{D5CDD505-2E9C-101B-9397-08002B2CF9AE}" pid="4" name="_EmailSubject">
    <vt:lpwstr>Cengage Branding/Accessibility </vt:lpwstr>
  </property>
  <property fmtid="{D5CDD505-2E9C-101B-9397-08002B2CF9AE}" pid="5" name="_AuthorEmail">
    <vt:lpwstr>Alyssa.Pratt@cengage.com</vt:lpwstr>
  </property>
  <property fmtid="{D5CDD505-2E9C-101B-9397-08002B2CF9AE}" pid="6" name="_AuthorEmailDisplayName">
    <vt:lpwstr>Pratt, Alyssa</vt:lpwstr>
  </property>
  <property fmtid="{D5CDD505-2E9C-101B-9397-08002B2CF9AE}" pid="7" name="_PreviousAdHocReviewCycleID">
    <vt:i4>-685122576</vt:i4>
  </property>
</Properties>
</file>