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32"/>
  </p:notesMasterIdLst>
  <p:handoutMasterIdLst>
    <p:handoutMasterId r:id="rId33"/>
  </p:handoutMasterIdLst>
  <p:sldIdLst>
    <p:sldId id="264" r:id="rId2"/>
    <p:sldId id="261" r:id="rId3"/>
    <p:sldId id="266" r:id="rId4"/>
    <p:sldId id="267" r:id="rId5"/>
    <p:sldId id="268" r:id="rId6"/>
    <p:sldId id="269" r:id="rId7"/>
    <p:sldId id="271" r:id="rId8"/>
    <p:sldId id="270" r:id="rId9"/>
    <p:sldId id="272" r:id="rId10"/>
    <p:sldId id="273" r:id="rId11"/>
    <p:sldId id="274" r:id="rId12"/>
    <p:sldId id="275" r:id="rId13"/>
    <p:sldId id="278" r:id="rId14"/>
    <p:sldId id="277" r:id="rId15"/>
    <p:sldId id="280" r:id="rId16"/>
    <p:sldId id="279"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86" autoAdjust="0"/>
    <p:restoredTop sz="99857" autoAdjust="0"/>
  </p:normalViewPr>
  <p:slideViewPr>
    <p:cSldViewPr>
      <p:cViewPr varScale="1">
        <p:scale>
          <a:sx n="68" d="100"/>
          <a:sy n="68" d="100"/>
        </p:scale>
        <p:origin x="1614"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8/16/2017</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8/16/2017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dirty="0"/>
              <a:t>Ethics in Information Technology</a:t>
            </a:r>
            <a:endParaRPr lang="en-US" sz="4700" dirty="0"/>
          </a:p>
        </p:txBody>
      </p:sp>
      <p:sp>
        <p:nvSpPr>
          <p:cNvPr id="3" name="Subtitle 2"/>
          <p:cNvSpPr>
            <a:spLocks noGrp="1"/>
          </p:cNvSpPr>
          <p:nvPr>
            <p:ph type="subTitle" idx="1"/>
          </p:nvPr>
        </p:nvSpPr>
        <p:spPr>
          <a:xfrm>
            <a:off x="609600" y="3124200"/>
            <a:ext cx="7747000" cy="2326021"/>
          </a:xfrm>
        </p:spPr>
        <p:txBody>
          <a:bodyPr/>
          <a:lstStyle/>
          <a:p>
            <a:r>
              <a:rPr lang="en-US" sz="3400" dirty="0"/>
              <a:t>Chapter 5</a:t>
            </a:r>
          </a:p>
          <a:p>
            <a:r>
              <a:rPr lang="en-US" sz="3800" b="1" dirty="0"/>
              <a:t>Freedom of Expression</a:t>
            </a:r>
          </a:p>
          <a:p>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a:t>Learning Objectives</a:t>
            </a:r>
          </a:p>
        </p:txBody>
      </p:sp>
      <p:sp>
        <p:nvSpPr>
          <p:cNvPr id="4" name="Content Placeholder 3"/>
          <p:cNvSpPr>
            <a:spLocks noGrp="1"/>
          </p:cNvSpPr>
          <p:nvPr>
            <p:ph type="body" idx="1"/>
          </p:nvPr>
        </p:nvSpPr>
        <p:spPr>
          <a:xfrm>
            <a:off x="2425131" y="1143000"/>
            <a:ext cx="6337869" cy="5355312"/>
          </a:xfrm>
        </p:spPr>
        <p:txBody>
          <a:bodyPr/>
          <a:lstStyle/>
          <a:p>
            <a:pPr marL="457200" indent="-457200">
              <a:lnSpc>
                <a:spcPct val="100000"/>
              </a:lnSpc>
              <a:buFont typeface="Arial" panose="020B0604020202020204" pitchFamily="34" charset="0"/>
              <a:buChar char="•"/>
            </a:pPr>
            <a:r>
              <a:rPr lang="en-US" sz="2800" dirty="0">
                <a:solidFill>
                  <a:schemeClr val="tx1"/>
                </a:solidFill>
              </a:rPr>
              <a:t>What is the basis for the protection of freedom of expression in the United States, and what types of expressions are not protected under the law?</a:t>
            </a:r>
          </a:p>
          <a:p>
            <a:pPr marL="457200" indent="-457200">
              <a:lnSpc>
                <a:spcPct val="100000"/>
              </a:lnSpc>
              <a:buFont typeface="Arial" panose="020B0604020202020204" pitchFamily="34" charset="0"/>
              <a:buChar char="•"/>
            </a:pPr>
            <a:r>
              <a:rPr lang="en-US" sz="2800" dirty="0">
                <a:solidFill>
                  <a:schemeClr val="tx1"/>
                </a:solidFill>
              </a:rPr>
              <a:t>What are some key federal laws that affect online freedom of expression, and how do they impact organizations?</a:t>
            </a:r>
          </a:p>
          <a:p>
            <a:pPr marL="457200" indent="-457200">
              <a:lnSpc>
                <a:spcPct val="100000"/>
              </a:lnSpc>
              <a:buFont typeface="Arial" panose="020B0604020202020204" pitchFamily="34" charset="0"/>
              <a:buChar char="•"/>
            </a:pPr>
            <a:r>
              <a:rPr lang="en-US" sz="2800" dirty="0">
                <a:solidFill>
                  <a:schemeClr val="tx1"/>
                </a:solidFill>
              </a:rPr>
              <a:t>What important freedom of expression issues relate to the use of information technology?</a:t>
            </a:r>
          </a:p>
          <a:p>
            <a:pPr marL="457200" indent="-457200">
              <a:lnSpc>
                <a:spcPct val="100000"/>
              </a:lnSpc>
              <a:buFont typeface="Arial" panose="020B0604020202020204" pitchFamily="34" charset="0"/>
              <a:buChar char="•"/>
            </a:pPr>
            <a:endParaRPr lang="en-US" sz="2800" dirty="0">
              <a:solidFill>
                <a:schemeClr val="tx1"/>
              </a:solidFill>
            </a:endParaRP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282437"/>
          </a:xfrm>
        </p:spPr>
        <p:txBody>
          <a:bodyPr/>
          <a:lstStyle/>
          <a:p>
            <a:r>
              <a:rPr lang="en-US" altLang="en-US" sz="2800" b="1" dirty="0"/>
              <a:t>First Amendment</a:t>
            </a:r>
            <a:r>
              <a:rPr lang="en-US" altLang="en-US" sz="2800" dirty="0"/>
              <a:t>: </a:t>
            </a:r>
          </a:p>
          <a:p>
            <a:pPr lvl="1">
              <a:buClr>
                <a:schemeClr val="accent2"/>
              </a:buClr>
            </a:pPr>
            <a:r>
              <a:rPr lang="en-US" sz="2600" dirty="0"/>
              <a:t>“Congress shall make no law respecting an establishment of religion, or prohibiting the exercise thereof; or abridging the freedom of speech, or of the press; or the right of the people peaceably to assemble, and to petition the government for a redress of grievances.</a:t>
            </a:r>
          </a:p>
          <a:p>
            <a:pPr lvl="1">
              <a:buClr>
                <a:schemeClr val="accent2"/>
              </a:buClr>
            </a:pPr>
            <a:r>
              <a:rPr lang="en-US" sz="2600" dirty="0"/>
              <a:t>Protects Americans’ rights to freedom of religion, freedom of expression, and freedom to assemble peaceably</a:t>
            </a:r>
          </a:p>
        </p:txBody>
      </p:sp>
      <p:sp>
        <p:nvSpPr>
          <p:cNvPr id="3" name="Title 2"/>
          <p:cNvSpPr>
            <a:spLocks noGrp="1"/>
          </p:cNvSpPr>
          <p:nvPr>
            <p:ph type="title"/>
          </p:nvPr>
        </p:nvSpPr>
        <p:spPr>
          <a:xfrm>
            <a:off x="762000" y="292766"/>
            <a:ext cx="8026400" cy="523220"/>
          </a:xfrm>
        </p:spPr>
        <p:txBody>
          <a:bodyPr/>
          <a:lstStyle/>
          <a:p>
            <a:r>
              <a:rPr lang="en-US" sz="4000" dirty="0"/>
              <a:t>First Amendment Rights, Part 1</a:t>
            </a:r>
            <a:r>
              <a:rPr lang="en-US" dirty="0"/>
              <a:t>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466112"/>
          </a:xfrm>
        </p:spPr>
        <p:txBody>
          <a:bodyPr/>
          <a:lstStyle/>
          <a:p>
            <a:r>
              <a:rPr lang="en-US" sz="2800" dirty="0"/>
              <a:t>U.S. Supreme Court has ruled that freedom of speech includes: </a:t>
            </a:r>
          </a:p>
          <a:p>
            <a:pPr lvl="1">
              <a:buClr>
                <a:schemeClr val="accent2"/>
              </a:buClr>
            </a:pPr>
            <a:r>
              <a:rPr lang="en-US" sz="2600" dirty="0"/>
              <a:t>Nonverbal, visual, and symbolic forms of expression, including: flag burning, dance movements, and hand gestures</a:t>
            </a:r>
          </a:p>
          <a:p>
            <a:pPr lvl="1">
              <a:buClr>
                <a:schemeClr val="accent2"/>
              </a:buClr>
            </a:pPr>
            <a:r>
              <a:rPr lang="en-US" sz="2600" dirty="0"/>
              <a:t>The right to speak anonymously</a:t>
            </a:r>
          </a:p>
          <a:p>
            <a:r>
              <a:rPr lang="en-US" sz="2800" dirty="0"/>
              <a:t>The First Amendment does not protect:</a:t>
            </a:r>
          </a:p>
          <a:p>
            <a:pPr lvl="1">
              <a:buClr>
                <a:schemeClr val="accent2"/>
              </a:buClr>
            </a:pPr>
            <a:r>
              <a:rPr lang="en-US" sz="2600" dirty="0"/>
              <a:t>Perjury and fraud</a:t>
            </a:r>
          </a:p>
          <a:p>
            <a:pPr lvl="1">
              <a:buClr>
                <a:schemeClr val="accent2"/>
              </a:buClr>
            </a:pPr>
            <a:r>
              <a:rPr lang="en-US" sz="2600" dirty="0"/>
              <a:t>Defamation and obscene speech</a:t>
            </a:r>
          </a:p>
          <a:p>
            <a:pPr lvl="1">
              <a:buClr>
                <a:schemeClr val="accent2"/>
              </a:buClr>
            </a:pPr>
            <a:r>
              <a:rPr lang="en-US" sz="2600" dirty="0"/>
              <a:t>Incitement of panic and incitement to crime</a:t>
            </a:r>
          </a:p>
          <a:p>
            <a:pPr lvl="1">
              <a:buClr>
                <a:schemeClr val="accent2"/>
              </a:buClr>
            </a:pPr>
            <a:r>
              <a:rPr lang="en-US" sz="2600" dirty="0"/>
              <a:t>Fighting words and sedition</a:t>
            </a:r>
            <a:endParaRPr lang="en-US" altLang="en-US" sz="2600" dirty="0"/>
          </a:p>
          <a:p>
            <a:endParaRPr lang="en-US" dirty="0"/>
          </a:p>
        </p:txBody>
      </p:sp>
      <p:sp>
        <p:nvSpPr>
          <p:cNvPr id="3" name="Title 2"/>
          <p:cNvSpPr>
            <a:spLocks noGrp="1"/>
          </p:cNvSpPr>
          <p:nvPr>
            <p:ph type="title"/>
          </p:nvPr>
        </p:nvSpPr>
        <p:spPr>
          <a:xfrm>
            <a:off x="762000" y="292766"/>
            <a:ext cx="8026400" cy="523220"/>
          </a:xfrm>
        </p:spPr>
        <p:txBody>
          <a:bodyPr/>
          <a:lstStyle/>
          <a:p>
            <a:r>
              <a:rPr lang="en-US" sz="4000" dirty="0"/>
              <a:t>First Amendment Rights, Part 2</a:t>
            </a:r>
            <a:endParaRPr lang="en-US"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828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001095"/>
          </a:xfrm>
        </p:spPr>
        <p:txBody>
          <a:bodyPr/>
          <a:lstStyle/>
          <a:p>
            <a:r>
              <a:rPr lang="en-US" altLang="en-US" sz="2800" i="1" dirty="0"/>
              <a:t>Miller v. California </a:t>
            </a:r>
          </a:p>
          <a:p>
            <a:pPr lvl="1">
              <a:buClr>
                <a:schemeClr val="accent2"/>
              </a:buClr>
            </a:pPr>
            <a:r>
              <a:rPr lang="en-US" altLang="en-US" sz="2600" dirty="0"/>
              <a:t>Established a test to determine if material is obscene</a:t>
            </a:r>
          </a:p>
          <a:p>
            <a:pPr lvl="1">
              <a:buClr>
                <a:schemeClr val="accent2"/>
              </a:buClr>
            </a:pPr>
            <a:r>
              <a:rPr lang="en-US" altLang="en-US" sz="2600" dirty="0"/>
              <a:t>Speech can be considered obscene if:</a:t>
            </a:r>
          </a:p>
          <a:p>
            <a:pPr lvl="2"/>
            <a:r>
              <a:rPr lang="en-US" altLang="en-US" sz="2400" dirty="0"/>
              <a:t>The average person finds that the work, taken as a whole, appeals to the prurient interest</a:t>
            </a:r>
          </a:p>
          <a:p>
            <a:pPr lvl="2"/>
            <a:r>
              <a:rPr lang="en-US" altLang="en-US" sz="2400" dirty="0"/>
              <a:t>The work depicts or describes, in a patently offensive </a:t>
            </a:r>
            <a:br>
              <a:rPr lang="en-US" altLang="en-US" sz="2400" dirty="0"/>
            </a:br>
            <a:r>
              <a:rPr lang="en-US" altLang="en-US" sz="2400" dirty="0"/>
              <a:t>way, sexual conduct specifically defined by the applicable </a:t>
            </a:r>
            <a:br>
              <a:rPr lang="en-US" altLang="en-US" sz="2400" dirty="0"/>
            </a:br>
            <a:r>
              <a:rPr lang="en-US" altLang="en-US" sz="2400" dirty="0"/>
              <a:t>state law</a:t>
            </a:r>
          </a:p>
          <a:p>
            <a:pPr lvl="2"/>
            <a:r>
              <a:rPr lang="en-US" altLang="en-US" sz="2400" dirty="0"/>
              <a:t>The work, taken as a whole, lacks serious literary, artistic, political, or scientific value</a:t>
            </a:r>
          </a:p>
        </p:txBody>
      </p:sp>
      <p:sp>
        <p:nvSpPr>
          <p:cNvPr id="3" name="Title 2"/>
          <p:cNvSpPr>
            <a:spLocks noGrp="1"/>
          </p:cNvSpPr>
          <p:nvPr>
            <p:ph type="title"/>
          </p:nvPr>
        </p:nvSpPr>
        <p:spPr>
          <a:xfrm>
            <a:off x="762000" y="290459"/>
            <a:ext cx="8026400" cy="527837"/>
          </a:xfrm>
        </p:spPr>
        <p:txBody>
          <a:bodyPr/>
          <a:lstStyle/>
          <a:p>
            <a:r>
              <a:rPr lang="en-US" sz="4000" dirty="0"/>
              <a:t>Obscene Speech</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04501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773341"/>
          </a:xfrm>
        </p:spPr>
        <p:txBody>
          <a:bodyPr/>
          <a:lstStyle/>
          <a:p>
            <a:r>
              <a:rPr lang="en-US" sz="2800" dirty="0"/>
              <a:t>The right to freedom of expression is restricted when the expressions, whether spoken or written, are untrue and cause harm to another person.</a:t>
            </a:r>
          </a:p>
          <a:p>
            <a:r>
              <a:rPr lang="en-US" altLang="en-US" sz="2800" b="1" dirty="0"/>
              <a:t>Defamation: </a:t>
            </a:r>
            <a:r>
              <a:rPr lang="en-US" altLang="en-US" sz="2800" dirty="0"/>
              <a:t>A statement of alleged fact that is false and that harms another person</a:t>
            </a:r>
          </a:p>
          <a:p>
            <a:r>
              <a:rPr lang="en-US" altLang="en-US" sz="2800" b="1" dirty="0"/>
              <a:t>Slander</a:t>
            </a:r>
            <a:r>
              <a:rPr lang="en-US" altLang="en-US" sz="2800" dirty="0"/>
              <a:t>: An oral defamatory statement</a:t>
            </a:r>
          </a:p>
          <a:p>
            <a:r>
              <a:rPr lang="en-US" altLang="en-US" sz="2800" b="1" dirty="0"/>
              <a:t>Libel</a:t>
            </a:r>
            <a:r>
              <a:rPr lang="en-US" altLang="en-US" sz="2800" dirty="0"/>
              <a:t>: A written defamatory statement</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Defamation</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38634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his table presents a list of key issues relating to freedom of expression. Those issues include: controlling access to information on the Internet, Internet censorship, SLAPP lawsuits, anonymity on the Internet, John Doe lawsuits, hate speech, pornography on the Internet, and fake news. "/>
          <p:cNvGraphicFramePr>
            <a:graphicFrameLocks noGrp="1"/>
          </p:cNvGraphicFramePr>
          <p:nvPr>
            <p:ph idx="1"/>
            <p:extLst>
              <p:ext uri="{D42A27DB-BD31-4B8C-83A1-F6EECF244321}">
                <p14:modId xmlns:p14="http://schemas.microsoft.com/office/powerpoint/2010/main" val="814325983"/>
              </p:ext>
            </p:extLst>
          </p:nvPr>
        </p:nvGraphicFramePr>
        <p:xfrm>
          <a:off x="365125" y="1538288"/>
          <a:ext cx="8093075" cy="3352800"/>
        </p:xfrm>
        <a:graphic>
          <a:graphicData uri="http://schemas.openxmlformats.org/drawingml/2006/table">
            <a:tbl>
              <a:tblPr firstRow="1" bandRow="1">
                <a:tableStyleId>{69CF1AB2-1976-4502-BF36-3FF5EA218861}</a:tableStyleId>
              </a:tblPr>
              <a:tblGrid>
                <a:gridCol w="4207669">
                  <a:extLst>
                    <a:ext uri="{9D8B030D-6E8A-4147-A177-3AD203B41FA5}">
                      <a16:colId xmlns:a16="http://schemas.microsoft.com/office/drawing/2014/main" val="819534664"/>
                    </a:ext>
                  </a:extLst>
                </a:gridCol>
                <a:gridCol w="3885406">
                  <a:extLst>
                    <a:ext uri="{9D8B030D-6E8A-4147-A177-3AD203B41FA5}">
                      <a16:colId xmlns:a16="http://schemas.microsoft.com/office/drawing/2014/main" val="449052341"/>
                    </a:ext>
                  </a:extLst>
                </a:gridCol>
              </a:tblGrid>
              <a:tr h="370840">
                <a:tc>
                  <a:txBody>
                    <a:bodyPr/>
                    <a:lstStyle/>
                    <a:p>
                      <a:r>
                        <a:rPr lang="en-US" sz="2800" b="0" dirty="0"/>
                        <a:t>Controlling</a:t>
                      </a:r>
                      <a:r>
                        <a:rPr lang="en-US" sz="2800" b="0" baseline="0" dirty="0"/>
                        <a:t> access to information on the Internet</a:t>
                      </a:r>
                      <a:endParaRPr lang="en-US" sz="2800" b="0" dirty="0"/>
                    </a:p>
                  </a:txBody>
                  <a:tcPr/>
                </a:tc>
                <a:tc>
                  <a:txBody>
                    <a:bodyPr/>
                    <a:lstStyle/>
                    <a:p>
                      <a:r>
                        <a:rPr lang="en-US" sz="2800" b="0" dirty="0"/>
                        <a:t>Internet censorship</a:t>
                      </a:r>
                    </a:p>
                  </a:txBody>
                  <a:tcPr/>
                </a:tc>
                <a:extLst>
                  <a:ext uri="{0D108BD9-81ED-4DB2-BD59-A6C34878D82A}">
                    <a16:rowId xmlns:a16="http://schemas.microsoft.com/office/drawing/2014/main" val="3301763468"/>
                  </a:ext>
                </a:extLst>
              </a:tr>
              <a:tr h="370840">
                <a:tc>
                  <a:txBody>
                    <a:bodyPr/>
                    <a:lstStyle/>
                    <a:p>
                      <a:r>
                        <a:rPr lang="en-US" sz="2800" dirty="0"/>
                        <a:t>SLAPP lawsuits</a:t>
                      </a:r>
                      <a:endParaRPr lang="en-US" sz="2800" b="0" dirty="0"/>
                    </a:p>
                  </a:txBody>
                  <a:tcPr/>
                </a:tc>
                <a:tc>
                  <a:txBody>
                    <a:bodyPr/>
                    <a:lstStyle/>
                    <a:p>
                      <a:r>
                        <a:rPr lang="en-US" sz="2800" dirty="0"/>
                        <a:t>Anonymity</a:t>
                      </a:r>
                      <a:r>
                        <a:rPr lang="en-US" sz="2800" baseline="0" dirty="0"/>
                        <a:t> on the Internet</a:t>
                      </a:r>
                      <a:endParaRPr lang="en-US" sz="2800" b="0" dirty="0"/>
                    </a:p>
                  </a:txBody>
                  <a:tcPr/>
                </a:tc>
                <a:extLst>
                  <a:ext uri="{0D108BD9-81ED-4DB2-BD59-A6C34878D82A}">
                    <a16:rowId xmlns:a16="http://schemas.microsoft.com/office/drawing/2014/main" val="1169099925"/>
                  </a:ext>
                </a:extLst>
              </a:tr>
              <a:tr h="370840">
                <a:tc>
                  <a:txBody>
                    <a:bodyPr/>
                    <a:lstStyle/>
                    <a:p>
                      <a:r>
                        <a:rPr lang="en-US" sz="2800" dirty="0"/>
                        <a:t>John Doe lawsuits</a:t>
                      </a:r>
                      <a:endParaRPr lang="en-US" sz="2800" b="0" dirty="0"/>
                    </a:p>
                  </a:txBody>
                  <a:tcPr/>
                </a:tc>
                <a:tc>
                  <a:txBody>
                    <a:bodyPr/>
                    <a:lstStyle/>
                    <a:p>
                      <a:r>
                        <a:rPr lang="en-US" sz="2800" dirty="0"/>
                        <a:t>Hate speech</a:t>
                      </a:r>
                      <a:endParaRPr lang="en-US" sz="2800" b="0" dirty="0"/>
                    </a:p>
                  </a:txBody>
                  <a:tcPr/>
                </a:tc>
                <a:extLst>
                  <a:ext uri="{0D108BD9-81ED-4DB2-BD59-A6C34878D82A}">
                    <a16:rowId xmlns:a16="http://schemas.microsoft.com/office/drawing/2014/main" val="513624814"/>
                  </a:ext>
                </a:extLst>
              </a:tr>
              <a:tr h="370840">
                <a:tc>
                  <a:txBody>
                    <a:bodyPr/>
                    <a:lstStyle/>
                    <a:p>
                      <a:r>
                        <a:rPr lang="en-US" sz="2800" dirty="0"/>
                        <a:t>Pornography on the Internet</a:t>
                      </a:r>
                      <a:endParaRPr lang="en-US" sz="2800" b="0" dirty="0"/>
                    </a:p>
                  </a:txBody>
                  <a:tcPr/>
                </a:tc>
                <a:tc>
                  <a:txBody>
                    <a:bodyPr/>
                    <a:lstStyle/>
                    <a:p>
                      <a:r>
                        <a:rPr lang="en-US" sz="2800" dirty="0"/>
                        <a:t>Fake news</a:t>
                      </a:r>
                      <a:endParaRPr lang="en-US" sz="2800" b="0" dirty="0"/>
                    </a:p>
                  </a:txBody>
                  <a:tcPr/>
                </a:tc>
                <a:extLst>
                  <a:ext uri="{0D108BD9-81ED-4DB2-BD59-A6C34878D82A}">
                    <a16:rowId xmlns:a16="http://schemas.microsoft.com/office/drawing/2014/main" val="756316753"/>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dirty="0"/>
              <a:t>Freedom of Expression: Key Issues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00321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895956"/>
          </a:xfrm>
        </p:spPr>
        <p:txBody>
          <a:bodyPr/>
          <a:lstStyle/>
          <a:p>
            <a:r>
              <a:rPr lang="en-US" altLang="en-US" sz="2700" dirty="0"/>
              <a:t>Telecommunications Act: Its goal was to promote free competition among phone, cable, and TV companies</a:t>
            </a:r>
          </a:p>
          <a:p>
            <a:pPr>
              <a:spcBef>
                <a:spcPts val="600"/>
              </a:spcBef>
            </a:pPr>
            <a:r>
              <a:rPr lang="en-US" altLang="en-US" sz="2700" b="1" dirty="0"/>
              <a:t>Communications Decency Act (CDA)</a:t>
            </a:r>
            <a:r>
              <a:rPr lang="en-US" altLang="en-US" sz="2700" dirty="0"/>
              <a:t>:</a:t>
            </a:r>
            <a:r>
              <a:rPr lang="en-US" altLang="en-US" sz="2700" b="1" dirty="0"/>
              <a:t> </a:t>
            </a:r>
            <a:r>
              <a:rPr lang="en-US" altLang="en-US" sz="2700" dirty="0"/>
              <a:t>Title V of the Telecommunications Act; aimed at protecting children from pornography</a:t>
            </a:r>
          </a:p>
          <a:p>
            <a:pPr lvl="1">
              <a:buClr>
                <a:schemeClr val="accent2"/>
              </a:buClr>
            </a:pPr>
            <a:r>
              <a:rPr lang="en-US" altLang="en-US" sz="2600" dirty="0"/>
              <a:t>In June 1997, much of the CDA was ruled unconstitutional </a:t>
            </a:r>
            <a:br>
              <a:rPr lang="en-US" altLang="en-US" sz="2600" dirty="0"/>
            </a:br>
            <a:r>
              <a:rPr lang="en-US" altLang="en-US" sz="2600" dirty="0"/>
              <a:t>by the U.S. Supreme Court</a:t>
            </a:r>
          </a:p>
          <a:p>
            <a:pPr lvl="1">
              <a:buClr>
                <a:schemeClr val="accent2"/>
              </a:buClr>
            </a:pPr>
            <a:r>
              <a:rPr lang="en-US" altLang="en-US" sz="2600" dirty="0"/>
              <a:t>Section 230 of the CDA: </a:t>
            </a:r>
          </a:p>
          <a:p>
            <a:pPr lvl="2"/>
            <a:r>
              <a:rPr lang="en-US" altLang="en-US" sz="2400" dirty="0"/>
              <a:t>Not  declared unconstitutional</a:t>
            </a:r>
          </a:p>
          <a:p>
            <a:pPr lvl="2"/>
            <a:r>
              <a:rPr lang="en-US" altLang="en-US" sz="2400" dirty="0"/>
              <a:t>Provides immunity to an ISP that publishes user-generated content</a:t>
            </a:r>
            <a:r>
              <a:rPr lang="en-US" sz="2400" dirty="0"/>
              <a:t>—p</a:t>
            </a:r>
            <a:r>
              <a:rPr lang="en-US" altLang="en-US" sz="2400" dirty="0"/>
              <a:t>rovided its actions do not rise to the level of a content provider</a:t>
            </a:r>
          </a:p>
        </p:txBody>
      </p:sp>
      <p:sp>
        <p:nvSpPr>
          <p:cNvPr id="3" name="Title 2"/>
          <p:cNvSpPr>
            <a:spLocks noGrp="1"/>
          </p:cNvSpPr>
          <p:nvPr>
            <p:ph type="title"/>
          </p:nvPr>
        </p:nvSpPr>
        <p:spPr>
          <a:xfrm>
            <a:off x="762000" y="369646"/>
            <a:ext cx="8026400" cy="369460"/>
          </a:xfrm>
        </p:spPr>
        <p:txBody>
          <a:bodyPr/>
          <a:lstStyle/>
          <a:p>
            <a:r>
              <a:rPr lang="en-US" sz="2800" dirty="0"/>
              <a:t>Controlling Access to Information on the Internet,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8127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472267"/>
          </a:xfrm>
        </p:spPr>
        <p:txBody>
          <a:bodyPr/>
          <a:lstStyle/>
          <a:p>
            <a:pPr marL="342900" lvl="1" indent="-342900">
              <a:buClr>
                <a:schemeClr val="accent2"/>
              </a:buClr>
              <a:buFontTx/>
              <a:buChar char="•"/>
              <a:defRPr/>
            </a:pPr>
            <a:r>
              <a:rPr lang="en-US" sz="2800" b="1" dirty="0"/>
              <a:t>Child Online Protection Act (COPA)</a:t>
            </a:r>
            <a:r>
              <a:rPr lang="en-US" sz="2800" dirty="0"/>
              <a:t>:</a:t>
            </a:r>
            <a:r>
              <a:rPr lang="en-US" sz="2800" b="1" dirty="0"/>
              <a:t> </a:t>
            </a:r>
            <a:r>
              <a:rPr lang="en-US" sz="2800" dirty="0"/>
              <a:t>Passed in 1998; i</a:t>
            </a:r>
            <a:r>
              <a:rPr lang="en-US" altLang="en-US" sz="2800" dirty="0"/>
              <a:t>mposes penalties for exposing minors to </a:t>
            </a:r>
            <a:br>
              <a:rPr lang="en-US" altLang="en-US" sz="2800" dirty="0"/>
            </a:br>
            <a:r>
              <a:rPr lang="en-US" altLang="en-US" sz="2800" dirty="0"/>
              <a:t>harmful material online</a:t>
            </a:r>
          </a:p>
          <a:p>
            <a:pPr marL="514350" lvl="2" indent="-342900">
              <a:buClr>
                <a:schemeClr val="accent2"/>
              </a:buClr>
              <a:buFontTx/>
              <a:buChar char="•"/>
              <a:defRPr/>
            </a:pPr>
            <a:r>
              <a:rPr lang="en-US" sz="2600" dirty="0"/>
              <a:t>In June 2004, COPA was ruled unconstitutional by the </a:t>
            </a:r>
            <a:br>
              <a:rPr lang="en-US" sz="2600" dirty="0"/>
            </a:br>
            <a:r>
              <a:rPr lang="en-US" sz="2600" dirty="0"/>
              <a:t>U.S. Supreme Court </a:t>
            </a:r>
          </a:p>
          <a:p>
            <a:pPr>
              <a:defRPr/>
            </a:pPr>
            <a:r>
              <a:rPr lang="en-US" sz="2800" b="1" dirty="0"/>
              <a:t>Internet filter</a:t>
            </a:r>
            <a:r>
              <a:rPr lang="en-US" sz="2800" dirty="0"/>
              <a:t>: Software that blocks access to certain websites that contain material deemed inappropriate </a:t>
            </a:r>
            <a:br>
              <a:rPr lang="en-US" sz="2800" dirty="0"/>
            </a:br>
            <a:r>
              <a:rPr lang="en-US" sz="2800" dirty="0"/>
              <a:t>or offensive</a:t>
            </a:r>
          </a:p>
          <a:p>
            <a:pPr lvl="1">
              <a:buClr>
                <a:schemeClr val="accent2"/>
              </a:buClr>
              <a:defRPr/>
            </a:pPr>
            <a:r>
              <a:rPr lang="en-US" sz="2800" dirty="0"/>
              <a:t>Uses a </a:t>
            </a:r>
            <a:r>
              <a:rPr lang="en-US" sz="2600" dirty="0"/>
              <a:t>combination</a:t>
            </a:r>
            <a:r>
              <a:rPr lang="en-US" sz="2800" dirty="0"/>
              <a:t> of URL, keyword, and dynamic content filtering</a:t>
            </a:r>
          </a:p>
          <a:p>
            <a:pPr>
              <a:defRPr/>
            </a:pPr>
            <a:endParaRPr lang="en-US" sz="3000" dirty="0"/>
          </a:p>
          <a:p>
            <a:pPr lvl="1"/>
            <a:endParaRPr lang="en-US" altLang="en-US" sz="2200" dirty="0"/>
          </a:p>
        </p:txBody>
      </p:sp>
      <p:sp>
        <p:nvSpPr>
          <p:cNvPr id="3" name="Title 2"/>
          <p:cNvSpPr>
            <a:spLocks noGrp="1"/>
          </p:cNvSpPr>
          <p:nvPr>
            <p:ph type="title"/>
          </p:nvPr>
        </p:nvSpPr>
        <p:spPr>
          <a:xfrm>
            <a:off x="762000" y="369646"/>
            <a:ext cx="8026400" cy="369460"/>
          </a:xfrm>
        </p:spPr>
        <p:txBody>
          <a:bodyPr/>
          <a:lstStyle/>
          <a:p>
            <a:r>
              <a:rPr lang="en-US" sz="2800" dirty="0"/>
              <a:t>Controlling Access to Information on the Internet,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66433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764655"/>
          </a:xfrm>
        </p:spPr>
        <p:txBody>
          <a:bodyPr/>
          <a:lstStyle/>
          <a:p>
            <a:r>
              <a:rPr lang="en-US" altLang="en-US" sz="3000" b="1" dirty="0"/>
              <a:t>Children’s Internet Protection Act (CIPA): </a:t>
            </a:r>
            <a:r>
              <a:rPr lang="en-US" altLang="en-US" sz="3000" dirty="0"/>
              <a:t>Passed in 2000; requires federally financed schools and libraries to block computer access to obscene material, pornography, and anything else harmful to minors</a:t>
            </a:r>
          </a:p>
          <a:p>
            <a:pPr lvl="1">
              <a:buClr>
                <a:schemeClr val="accent2"/>
              </a:buClr>
            </a:pPr>
            <a:r>
              <a:rPr lang="en-US" altLang="en-US" sz="2800" dirty="0"/>
              <a:t>Criticisms of CIPA: </a:t>
            </a:r>
          </a:p>
          <a:p>
            <a:pPr lvl="2"/>
            <a:r>
              <a:rPr lang="en-US" altLang="en-US" sz="2600" dirty="0"/>
              <a:t>Transferred power over education to the software companies that develop the Internet filters</a:t>
            </a:r>
          </a:p>
          <a:p>
            <a:pPr lvl="2"/>
            <a:r>
              <a:rPr lang="en-US" altLang="en-US" sz="2600" dirty="0"/>
              <a:t>Some filters are ineffective</a:t>
            </a:r>
          </a:p>
          <a:p>
            <a:pPr lvl="2"/>
            <a:r>
              <a:rPr lang="en-US" altLang="en-US" sz="2600" dirty="0"/>
              <a:t>Penalties resulting in a loss of federal funds could lead </a:t>
            </a:r>
            <a:br>
              <a:rPr lang="en-US" altLang="en-US" sz="2600" dirty="0"/>
            </a:br>
            <a:r>
              <a:rPr lang="en-US" altLang="en-US" sz="2600" dirty="0"/>
              <a:t>to a less capable version of the Internet for students at poorer schools</a:t>
            </a:r>
          </a:p>
          <a:p>
            <a:pPr lvl="1"/>
            <a:endParaRPr lang="en-US" altLang="en-US" sz="2200" dirty="0"/>
          </a:p>
        </p:txBody>
      </p:sp>
      <p:sp>
        <p:nvSpPr>
          <p:cNvPr id="3" name="Title 2"/>
          <p:cNvSpPr>
            <a:spLocks noGrp="1"/>
          </p:cNvSpPr>
          <p:nvPr>
            <p:ph type="title"/>
          </p:nvPr>
        </p:nvSpPr>
        <p:spPr>
          <a:xfrm>
            <a:off x="762000" y="369646"/>
            <a:ext cx="8026400" cy="369460"/>
          </a:xfrm>
        </p:spPr>
        <p:txBody>
          <a:bodyPr/>
          <a:lstStyle/>
          <a:p>
            <a:r>
              <a:rPr lang="en-US" sz="2800" dirty="0"/>
              <a:t>Controlling Access to Information on the Internet,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45501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3513269"/>
          </a:xfrm>
        </p:spPr>
        <p:txBody>
          <a:bodyPr/>
          <a:lstStyle/>
          <a:p>
            <a:r>
              <a:rPr lang="en-US" altLang="en-US" sz="2800" b="1" dirty="0"/>
              <a:t>Digital Millennium Copyright Act (DMCA): </a:t>
            </a:r>
            <a:r>
              <a:rPr lang="en-US" altLang="en-US" sz="2800" dirty="0"/>
              <a:t>Passed in 1998; addresses a number of copyright-related issues</a:t>
            </a:r>
          </a:p>
          <a:p>
            <a:pPr lvl="1">
              <a:buClr>
                <a:schemeClr val="accent2"/>
              </a:buClr>
            </a:pPr>
            <a:r>
              <a:rPr lang="en-US" altLang="en-US" sz="2600" dirty="0"/>
              <a:t>Title II of the act limits the liability of an ISP for copyright infringement if an ISP subscriber posts copyrighted material.</a:t>
            </a:r>
          </a:p>
          <a:p>
            <a:pPr lvl="2"/>
            <a:r>
              <a:rPr lang="en-US" altLang="en-US" sz="2400" dirty="0"/>
              <a:t>An ISP cannot be held liable for copyright infringement if, </a:t>
            </a:r>
            <a:br>
              <a:rPr lang="en-US" altLang="en-US" sz="2400" dirty="0"/>
            </a:br>
            <a:r>
              <a:rPr lang="en-US" altLang="en-US" sz="2400" dirty="0"/>
              <a:t>when notified by the copyright holder, it notifies the subscriber of the alleged infringement and executes a “takedown” by removing the offending content.</a:t>
            </a:r>
          </a:p>
        </p:txBody>
      </p:sp>
      <p:sp>
        <p:nvSpPr>
          <p:cNvPr id="3" name="Title 2"/>
          <p:cNvSpPr>
            <a:spLocks noGrp="1"/>
          </p:cNvSpPr>
          <p:nvPr>
            <p:ph type="title"/>
          </p:nvPr>
        </p:nvSpPr>
        <p:spPr>
          <a:xfrm>
            <a:off x="762000" y="369646"/>
            <a:ext cx="8026400" cy="369460"/>
          </a:xfrm>
        </p:spPr>
        <p:txBody>
          <a:bodyPr/>
          <a:lstStyle/>
          <a:p>
            <a:r>
              <a:rPr lang="en-US" sz="2800" dirty="0"/>
              <a:t>Controlling Access to Information on the Internet,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0763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429399"/>
            <a:ext cx="8415338" cy="2609945"/>
          </a:xfrm>
        </p:spPr>
        <p:txBody>
          <a:bodyPr/>
          <a:lstStyle/>
          <a:p>
            <a:r>
              <a:rPr lang="en-US" altLang="en-US" sz="2800" b="1" dirty="0"/>
              <a:t>Internet censorship: </a:t>
            </a:r>
            <a:r>
              <a:rPr lang="en-US" altLang="en-US" sz="2800" dirty="0"/>
              <a:t>The control or suppression of </a:t>
            </a:r>
            <a:br>
              <a:rPr lang="en-US" altLang="en-US" sz="2800" dirty="0"/>
            </a:br>
            <a:r>
              <a:rPr lang="en-US" altLang="en-US" sz="2800" dirty="0"/>
              <a:t>the publishing or accessing of information online</a:t>
            </a:r>
          </a:p>
          <a:p>
            <a:r>
              <a:rPr lang="en-US" sz="2800" dirty="0"/>
              <a:t>Speech on the Internet requires a series of intermediaries to reach its audience with each intermediary vulnerable to some degree of pressure from those who want to silence the speech.</a:t>
            </a:r>
            <a:endParaRPr lang="en-US" altLang="en-US" sz="2800" dirty="0"/>
          </a:p>
        </p:txBody>
      </p:sp>
      <p:sp>
        <p:nvSpPr>
          <p:cNvPr id="3" name="Title 2"/>
          <p:cNvSpPr>
            <a:spLocks noGrp="1"/>
          </p:cNvSpPr>
          <p:nvPr>
            <p:ph type="title"/>
          </p:nvPr>
        </p:nvSpPr>
        <p:spPr>
          <a:xfrm>
            <a:off x="762000" y="290459"/>
            <a:ext cx="8026400" cy="527837"/>
          </a:xfrm>
        </p:spPr>
        <p:txBody>
          <a:bodyPr/>
          <a:lstStyle/>
          <a:p>
            <a:r>
              <a:rPr lang="en-US" sz="4000" dirty="0"/>
              <a:t>Internet Censorship,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26539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ure 5-3: This figure illustrates the path that speech on the Internet must take through a series of intermediaries to reach its audience. Components of that path include: You, a web host server, upstream Internet service providers, domain name service, additional Internet service providers, and your audience. "/>
          <p:cNvPicPr>
            <a:picLocks noGrp="1" noChangeAspect="1"/>
          </p:cNvPicPr>
          <p:nvPr>
            <p:ph idx="1"/>
          </p:nvPr>
        </p:nvPicPr>
        <p:blipFill>
          <a:blip r:embed="rId2"/>
          <a:stretch>
            <a:fillRect/>
          </a:stretch>
        </p:blipFill>
        <p:spPr>
          <a:xfrm>
            <a:off x="76200" y="1539473"/>
            <a:ext cx="8922773" cy="3337327"/>
          </a:xfrm>
          <a:prstGeom prst="rect">
            <a:avLst/>
          </a:prstGeom>
        </p:spPr>
      </p:pic>
      <p:sp>
        <p:nvSpPr>
          <p:cNvPr id="3" name="Title 2"/>
          <p:cNvSpPr>
            <a:spLocks noGrp="1"/>
          </p:cNvSpPr>
          <p:nvPr>
            <p:ph type="title"/>
          </p:nvPr>
        </p:nvSpPr>
        <p:spPr>
          <a:xfrm>
            <a:off x="762000" y="290459"/>
            <a:ext cx="8026400" cy="527837"/>
          </a:xfrm>
        </p:spPr>
        <p:txBody>
          <a:bodyPr/>
          <a:lstStyle/>
          <a:p>
            <a:r>
              <a:rPr lang="en-US" sz="4000" dirty="0"/>
              <a:t>Internet Censorship,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2689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911840"/>
          </a:xfrm>
        </p:spPr>
        <p:txBody>
          <a:bodyPr/>
          <a:lstStyle/>
          <a:p>
            <a:r>
              <a:rPr lang="en-US" altLang="en-US" sz="2800" dirty="0"/>
              <a:t>Internet censorship takes a variety of forms:</a:t>
            </a:r>
          </a:p>
          <a:p>
            <a:pPr lvl="1">
              <a:buClr>
                <a:schemeClr val="accent2"/>
              </a:buClr>
            </a:pPr>
            <a:r>
              <a:rPr lang="en-US" altLang="en-US" sz="2600" dirty="0"/>
              <a:t>Limiting access to certain websites</a:t>
            </a:r>
          </a:p>
          <a:p>
            <a:pPr lvl="1">
              <a:buClr>
                <a:schemeClr val="accent2"/>
              </a:buClr>
            </a:pPr>
            <a:r>
              <a:rPr lang="en-US" altLang="en-US" sz="2600" dirty="0"/>
              <a:t>Allowing access to only some content or to modified content at certain websites</a:t>
            </a:r>
          </a:p>
          <a:p>
            <a:pPr lvl="1">
              <a:buClr>
                <a:schemeClr val="accent2"/>
              </a:buClr>
            </a:pPr>
            <a:r>
              <a:rPr lang="en-US" altLang="en-US" sz="2600" dirty="0"/>
              <a:t>Rejecting the use of certain keywords in online searches</a:t>
            </a:r>
          </a:p>
          <a:p>
            <a:pPr lvl="1">
              <a:buClr>
                <a:schemeClr val="accent2"/>
              </a:buClr>
            </a:pPr>
            <a:r>
              <a:rPr lang="en-US" altLang="en-US" sz="2600" dirty="0"/>
              <a:t>Tracking the Internet activities of individuals</a:t>
            </a:r>
          </a:p>
          <a:p>
            <a:pPr lvl="1">
              <a:buClr>
                <a:schemeClr val="accent2"/>
              </a:buClr>
            </a:pPr>
            <a:r>
              <a:rPr lang="en-US" altLang="en-US" sz="2600" dirty="0"/>
              <a:t>Jailing individuals for their Internet use</a:t>
            </a:r>
          </a:p>
          <a:p>
            <a:pPr lvl="1">
              <a:buClr>
                <a:schemeClr val="accent2"/>
              </a:buClr>
            </a:pPr>
            <a:r>
              <a:rPr lang="en-US" altLang="en-US" sz="2600" dirty="0"/>
              <a:t>Deregistering a domain that hosts content deemed inappropriate or illegal</a:t>
            </a:r>
          </a:p>
        </p:txBody>
      </p:sp>
      <p:sp>
        <p:nvSpPr>
          <p:cNvPr id="3" name="Title 2"/>
          <p:cNvSpPr>
            <a:spLocks noGrp="1"/>
          </p:cNvSpPr>
          <p:nvPr>
            <p:ph type="title"/>
          </p:nvPr>
        </p:nvSpPr>
        <p:spPr>
          <a:xfrm>
            <a:off x="762000" y="290459"/>
            <a:ext cx="8026400" cy="527837"/>
          </a:xfrm>
        </p:spPr>
        <p:txBody>
          <a:bodyPr/>
          <a:lstStyle/>
          <a:p>
            <a:r>
              <a:rPr lang="en-US" sz="4000" dirty="0"/>
              <a:t>Internet Censorship,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9477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143938"/>
          </a:xfrm>
        </p:spPr>
        <p:txBody>
          <a:bodyPr/>
          <a:lstStyle/>
          <a:p>
            <a:r>
              <a:rPr lang="en-US" altLang="en-US" sz="2800" b="1" dirty="0"/>
              <a:t>Strategic Lawsuit Against Public Participation (SLAPP): </a:t>
            </a:r>
            <a:br>
              <a:rPr lang="en-US" altLang="en-US" sz="2800" b="1" dirty="0"/>
            </a:br>
            <a:r>
              <a:rPr lang="en-US" altLang="en-US" sz="2800" dirty="0"/>
              <a:t>A lawsuit employed by corporations, government officials, and others against citizens and community groups who oppose them on matters of public interest</a:t>
            </a:r>
          </a:p>
          <a:p>
            <a:r>
              <a:rPr lang="en-US" altLang="en-US" sz="2800" dirty="0"/>
              <a:t>Anti-SLAPP laws: </a:t>
            </a:r>
          </a:p>
          <a:p>
            <a:pPr lvl="1">
              <a:buClr>
                <a:schemeClr val="accent2"/>
              </a:buClr>
            </a:pPr>
            <a:r>
              <a:rPr lang="en-US" altLang="en-US" sz="2600" dirty="0"/>
              <a:t>Passed in 28 states and the District of Columbia</a:t>
            </a:r>
          </a:p>
          <a:p>
            <a:pPr lvl="1">
              <a:buClr>
                <a:schemeClr val="accent2"/>
              </a:buClr>
            </a:pPr>
            <a:r>
              <a:rPr lang="en-US" altLang="en-US" sz="2600" dirty="0"/>
              <a:t>Designed to reduce frivolous SLAPPs</a:t>
            </a:r>
          </a:p>
        </p:txBody>
      </p:sp>
      <p:sp>
        <p:nvSpPr>
          <p:cNvPr id="3" name="Title 2"/>
          <p:cNvSpPr>
            <a:spLocks noGrp="1"/>
          </p:cNvSpPr>
          <p:nvPr>
            <p:ph type="title"/>
          </p:nvPr>
        </p:nvSpPr>
        <p:spPr>
          <a:xfrm>
            <a:off x="762000" y="290459"/>
            <a:ext cx="8026400" cy="527837"/>
          </a:xfrm>
        </p:spPr>
        <p:txBody>
          <a:bodyPr/>
          <a:lstStyle/>
          <a:p>
            <a:r>
              <a:rPr lang="en-US" sz="4000" dirty="0"/>
              <a:t>SLAPP Lawsuits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39055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275290"/>
          </a:xfrm>
        </p:spPr>
        <p:txBody>
          <a:bodyPr/>
          <a:lstStyle/>
          <a:p>
            <a:pPr marL="171450" lvl="1">
              <a:spcBef>
                <a:spcPts val="1200"/>
              </a:spcBef>
              <a:buClr>
                <a:schemeClr val="accent2"/>
              </a:buClr>
            </a:pPr>
            <a:r>
              <a:rPr lang="en-US" sz="2800" b="1" dirty="0"/>
              <a:t>Anonymous expression: </a:t>
            </a:r>
            <a:r>
              <a:rPr lang="en-US" sz="2800" dirty="0"/>
              <a:t>Opinions expressed by people who do not reveal their identity</a:t>
            </a:r>
          </a:p>
          <a:p>
            <a:pPr marL="171450" lvl="1">
              <a:spcBef>
                <a:spcPts val="1200"/>
              </a:spcBef>
              <a:buClr>
                <a:schemeClr val="accent2"/>
              </a:buClr>
            </a:pPr>
            <a:r>
              <a:rPr lang="en-US" sz="2800" b="1" dirty="0"/>
              <a:t>Doxing: </a:t>
            </a:r>
            <a:r>
              <a:rPr lang="en-US" sz="2800" dirty="0"/>
              <a:t>Doing research online to obtain someone’s private personal information—such as home address, email address, phone numbers, and place of employment and then posting that information online</a:t>
            </a:r>
          </a:p>
          <a:p>
            <a:pPr lvl="1">
              <a:buClr>
                <a:schemeClr val="accent2"/>
              </a:buClr>
            </a:pPr>
            <a:r>
              <a:rPr lang="en-US" sz="2600" dirty="0"/>
              <a:t>May be done as an act of revenge or to publicly shame someone who has been operating anonymously online</a:t>
            </a:r>
          </a:p>
          <a:p>
            <a:pPr marL="171450" lvl="1">
              <a:spcBef>
                <a:spcPts val="1200"/>
              </a:spcBef>
              <a:buClr>
                <a:schemeClr val="accent2"/>
              </a:buClr>
            </a:pPr>
            <a:r>
              <a:rPr lang="en-US" sz="2800" b="1" dirty="0"/>
              <a:t>Anonymous remailer service: </a:t>
            </a:r>
            <a:r>
              <a:rPr lang="en-US" sz="2800" dirty="0"/>
              <a:t>Strips originating header and/or IP number from emails before sending the message to its intended recipient</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Anonymity on the Internet</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02339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244239"/>
          </a:xfrm>
        </p:spPr>
        <p:txBody>
          <a:bodyPr/>
          <a:lstStyle/>
          <a:p>
            <a:r>
              <a:rPr lang="en-US" sz="2800" b="1" dirty="0"/>
              <a:t>John Doe lawsuit: </a:t>
            </a:r>
            <a:r>
              <a:rPr lang="en-US" sz="2800" dirty="0"/>
              <a:t>A lawsuit filed by an aggrieved party against a defendant whose identity is temporarily unknown because the person is communicating anonymously or using a pseudonym</a:t>
            </a:r>
          </a:p>
          <a:p>
            <a:r>
              <a:rPr lang="en-US" sz="2800" dirty="0"/>
              <a:t>Plaintiff can request court permission to issue subpoenas to command a person to appear</a:t>
            </a:r>
          </a:p>
          <a:p>
            <a:pPr lvl="1">
              <a:buClr>
                <a:schemeClr val="accent2"/>
              </a:buClr>
            </a:pPr>
            <a:r>
              <a:rPr lang="en-US" sz="2600" dirty="0"/>
              <a:t>If permission is granted, subpoenas can be served on any third party that may have information about the true identity of the defendant</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John Doe Lawsuits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41956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5001369"/>
          </a:xfrm>
        </p:spPr>
        <p:txBody>
          <a:bodyPr/>
          <a:lstStyle/>
          <a:p>
            <a:r>
              <a:rPr lang="en-US" altLang="en-US" sz="2800" b="1" dirty="0"/>
              <a:t>Hate speech: </a:t>
            </a:r>
            <a:r>
              <a:rPr lang="en-US" altLang="en-US" sz="2800" dirty="0"/>
              <a:t>Persistent or malicious harassment aimed at a specific person</a:t>
            </a:r>
          </a:p>
          <a:p>
            <a:r>
              <a:rPr lang="en-US" altLang="en-US" sz="2800" dirty="0"/>
              <a:t>Most ISPs reserve the right to remove content that does not meet their standards</a:t>
            </a:r>
          </a:p>
          <a:p>
            <a:r>
              <a:rPr lang="en-US" altLang="en-US" sz="2800" dirty="0"/>
              <a:t>Public schools and universities must follow the First Amendment’s prohibition against speech restrictions.</a:t>
            </a:r>
          </a:p>
          <a:p>
            <a:r>
              <a:rPr lang="en-US" sz="2800" dirty="0"/>
              <a:t>Corporations and private schools/universities may prohibit employees and students from engaging in offensive speech using corporate- or school-owned computers, networks, or email services.</a:t>
            </a:r>
            <a:endParaRPr lang="en-US" altLang="en-US" sz="2800" dirty="0"/>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Hate Speech</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73681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5129096"/>
          </a:xfrm>
        </p:spPr>
        <p:txBody>
          <a:bodyPr/>
          <a:lstStyle/>
          <a:p>
            <a:r>
              <a:rPr lang="en-US" sz="2800" dirty="0"/>
              <a:t>Key question in deciding what Internet material is obscene is: “Whose community standards are used?”</a:t>
            </a:r>
          </a:p>
          <a:p>
            <a:pPr lvl="1">
              <a:buClr>
                <a:schemeClr val="accent2"/>
              </a:buClr>
            </a:pPr>
            <a:r>
              <a:rPr lang="en-US" sz="2600" dirty="0"/>
              <a:t>Currently, no clear judicial agreement on whether local or national community standards are to be used to judge obscenity</a:t>
            </a:r>
          </a:p>
          <a:p>
            <a:r>
              <a:rPr lang="en-US" sz="2800" dirty="0"/>
              <a:t>Companies must take reasonable steps to prevent pornography in the workplace</a:t>
            </a:r>
          </a:p>
          <a:p>
            <a:pPr lvl="1">
              <a:buClr>
                <a:schemeClr val="accent2"/>
              </a:buClr>
            </a:pPr>
            <a:r>
              <a:rPr lang="en-US" sz="2600" dirty="0"/>
              <a:t>Establish and communicate an AUP that prohibits access to pornography sites</a:t>
            </a:r>
          </a:p>
          <a:p>
            <a:pPr lvl="1">
              <a:buClr>
                <a:schemeClr val="accent2"/>
              </a:buClr>
            </a:pPr>
            <a:r>
              <a:rPr lang="en-US" sz="2600" dirty="0"/>
              <a:t>Identify and take disciplinary action against those who violate the policy</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Pornography on the Internet,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1030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018023"/>
          </a:xfrm>
        </p:spPr>
        <p:txBody>
          <a:bodyPr/>
          <a:lstStyle/>
          <a:p>
            <a:r>
              <a:rPr lang="en-US" sz="2800" dirty="0"/>
              <a:t>Possession of child pornography is a federal offense punishable by up to five years in prison</a:t>
            </a:r>
          </a:p>
          <a:p>
            <a:pPr lvl="1">
              <a:buClr>
                <a:schemeClr val="accent2"/>
              </a:buClr>
            </a:pPr>
            <a:r>
              <a:rPr lang="en-US" sz="2600" dirty="0"/>
              <a:t>Some states require computer technicians who discover child pornography on clients’ computers to report it to law enforcement officials</a:t>
            </a:r>
          </a:p>
          <a:p>
            <a:r>
              <a:rPr lang="en-US" sz="2800" b="1" dirty="0"/>
              <a:t>Sexting: </a:t>
            </a:r>
            <a:r>
              <a:rPr lang="en-US" sz="2800" dirty="0"/>
              <a:t>Sending sexual messages, nude, or seminude photos, or sexually explicit videos over a cell phone</a:t>
            </a:r>
          </a:p>
          <a:p>
            <a:pPr lvl="1">
              <a:buClr>
                <a:schemeClr val="accent2"/>
              </a:buClr>
            </a:pPr>
            <a:r>
              <a:rPr lang="en-US" sz="2600" dirty="0"/>
              <a:t>Sexters may face prosecution for child pornography</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Pornography on the Internet,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4583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362733"/>
          </a:xfrm>
        </p:spPr>
        <p:txBody>
          <a:bodyPr/>
          <a:lstStyle/>
          <a:p>
            <a:r>
              <a:rPr lang="en-US" altLang="en-US" sz="2700" b="1" dirty="0"/>
              <a:t>Controlling the Assault of Non-Solicited Pornography and Marketing (CAN-SPAM) Act: </a:t>
            </a:r>
            <a:r>
              <a:rPr lang="en-US" sz="2700" dirty="0"/>
              <a:t>Specifies requirements that commercial emailers must follow when sending messages to advertise or promote a commercial product or service</a:t>
            </a:r>
          </a:p>
          <a:p>
            <a:pPr lvl="1">
              <a:buClr>
                <a:schemeClr val="accent2"/>
              </a:buClr>
            </a:pPr>
            <a:r>
              <a:rPr lang="en-US" sz="2600" dirty="0"/>
              <a:t>Key requirements</a:t>
            </a:r>
          </a:p>
          <a:p>
            <a:pPr lvl="2"/>
            <a:r>
              <a:rPr lang="en-US" sz="2400" dirty="0"/>
              <a:t>From and To fields in the email and the originating domain name and email address must be accurate</a:t>
            </a:r>
          </a:p>
          <a:p>
            <a:pPr lvl="2"/>
            <a:r>
              <a:rPr lang="en-US" sz="2400" dirty="0"/>
              <a:t>Subject line of the email cannot mislead the recipient as to the contents or subject matter of the message</a:t>
            </a:r>
          </a:p>
          <a:p>
            <a:pPr lvl="2"/>
            <a:r>
              <a:rPr lang="en-US" sz="2400" dirty="0"/>
              <a:t>If the message contains sexually-oriented material, the phrase “SEXUALLY-EXPLICIT” must appear in the subject line</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a:t>Pornography on the Internet,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49077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3019288"/>
          </a:xfrm>
        </p:spPr>
        <p:txBody>
          <a:bodyPr/>
          <a:lstStyle/>
          <a:p>
            <a:r>
              <a:rPr lang="en-US" sz="2800" dirty="0"/>
              <a:t>Journalism, including the ways in which people get their news, is going through a period of rapid change.</a:t>
            </a:r>
          </a:p>
          <a:p>
            <a:r>
              <a:rPr lang="en-US" sz="2800" dirty="0"/>
              <a:t>The proliferation of online sources of information and opinion means that the Internet is full of “news” accounts that are, in fact, highly opinionated, fictionalized, or satirical accounts of current events presented in journalistic style.</a:t>
            </a:r>
          </a:p>
        </p:txBody>
      </p:sp>
      <p:sp>
        <p:nvSpPr>
          <p:cNvPr id="3" name="Title 2"/>
          <p:cNvSpPr>
            <a:spLocks noGrp="1"/>
          </p:cNvSpPr>
          <p:nvPr>
            <p:ph type="title"/>
          </p:nvPr>
        </p:nvSpPr>
        <p:spPr>
          <a:xfrm>
            <a:off x="762000" y="290459"/>
            <a:ext cx="8026400" cy="527837"/>
          </a:xfrm>
        </p:spPr>
        <p:txBody>
          <a:bodyPr/>
          <a:lstStyle/>
          <a:p>
            <a:r>
              <a:rPr lang="en-US" sz="4000" dirty="0"/>
              <a:t>Fake News,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44665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441216"/>
          </a:xfrm>
        </p:spPr>
        <p:txBody>
          <a:bodyPr/>
          <a:lstStyle/>
          <a:p>
            <a:r>
              <a:rPr lang="en-US" sz="2800" dirty="0"/>
              <a:t>Nontraditional sources of news and information:</a:t>
            </a:r>
          </a:p>
          <a:p>
            <a:pPr lvl="1">
              <a:buClr>
                <a:schemeClr val="accent2"/>
              </a:buClr>
            </a:pPr>
            <a:r>
              <a:rPr lang="en-US" sz="2600" dirty="0"/>
              <a:t>Blogs—Some bloggers report on things about which they are very passionate. As a result, they may be less likely to remain unbiased.</a:t>
            </a:r>
          </a:p>
          <a:p>
            <a:pPr lvl="1">
              <a:buClr>
                <a:schemeClr val="accent2"/>
              </a:buClr>
            </a:pPr>
            <a:r>
              <a:rPr lang="en-US" sz="2600" dirty="0"/>
              <a:t>Fake news sites—Some sites modify real news stories to entice viewers to click on them. Others create entirely fictitious “news” stories and present them as fact.</a:t>
            </a:r>
          </a:p>
          <a:p>
            <a:pPr lvl="1">
              <a:buClr>
                <a:schemeClr val="accent2"/>
              </a:buClr>
            </a:pPr>
            <a:r>
              <a:rPr lang="en-US" sz="2600" dirty="0"/>
              <a:t>Social media sites—Because reports, images, opinions, and videos shared via social media often spread like wildfire, they can sometimes cause confusion, misunderstanding, and controversy, rather than bringing clarity to a situation</a:t>
            </a:r>
            <a:r>
              <a:rPr lang="en-US" dirty="0"/>
              <a:t>.</a:t>
            </a:r>
            <a:endParaRPr lang="en-US" sz="6400" dirty="0"/>
          </a:p>
        </p:txBody>
      </p:sp>
      <p:sp>
        <p:nvSpPr>
          <p:cNvPr id="3" name="Title 2"/>
          <p:cNvSpPr>
            <a:spLocks noGrp="1"/>
          </p:cNvSpPr>
          <p:nvPr>
            <p:ph type="title"/>
          </p:nvPr>
        </p:nvSpPr>
        <p:spPr>
          <a:xfrm>
            <a:off x="762000" y="290459"/>
            <a:ext cx="8026400" cy="527837"/>
          </a:xfrm>
        </p:spPr>
        <p:txBody>
          <a:bodyPr/>
          <a:lstStyle/>
          <a:p>
            <a:r>
              <a:rPr lang="en-US" sz="4000" dirty="0"/>
              <a:t>Fake News,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10314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5-2 (part 1): This table presents a checklist of questions a manager should ask when handling freedom of expression issues in the workplace: &#10;Do you have a written data privacy policy that is followed?&#10;Does your corporate IT usage policy discuss the need to conserve corporate network capacity, avoid legal liability, and improve worker productivity by limiting the nonbusiness use of information resources?&#10;Did the developers of your policy consider the need to limit employee access to nonbusiness-related websites (e.g., Internet filters, firewall configurations, or the use of an ISP that blocks access to such sites)?&#10;Does your corporate IT usage policy discuss the inappropriate use of anonymous remailers?&#10;Has your corporate firewall been set to detect the use of anonymous remailers?&#10;"/>
          <p:cNvGraphicFramePr>
            <a:graphicFrameLocks noGrp="1"/>
          </p:cNvGraphicFramePr>
          <p:nvPr>
            <p:ph idx="1"/>
            <p:extLst>
              <p:ext uri="{D42A27DB-BD31-4B8C-83A1-F6EECF244321}">
                <p14:modId xmlns:p14="http://schemas.microsoft.com/office/powerpoint/2010/main" val="3564322198"/>
              </p:ext>
            </p:extLst>
          </p:nvPr>
        </p:nvGraphicFramePr>
        <p:xfrm>
          <a:off x="365125" y="1219200"/>
          <a:ext cx="8415339" cy="5551043"/>
        </p:xfrm>
        <a:graphic>
          <a:graphicData uri="http://schemas.openxmlformats.org/drawingml/2006/table">
            <a:tbl>
              <a:tblPr firstRow="1" bandRow="1">
                <a:tableStyleId>{5C22544A-7EE6-4342-B048-85BDC9FD1C3A}</a:tableStyleId>
              </a:tblPr>
              <a:tblGrid>
                <a:gridCol w="7102475">
                  <a:extLst>
                    <a:ext uri="{9D8B030D-6E8A-4147-A177-3AD203B41FA5}">
                      <a16:colId xmlns:a16="http://schemas.microsoft.com/office/drawing/2014/main" val="3778068355"/>
                    </a:ext>
                  </a:extLst>
                </a:gridCol>
                <a:gridCol w="685800">
                  <a:extLst>
                    <a:ext uri="{9D8B030D-6E8A-4147-A177-3AD203B41FA5}">
                      <a16:colId xmlns:a16="http://schemas.microsoft.com/office/drawing/2014/main" val="2852991424"/>
                    </a:ext>
                  </a:extLst>
                </a:gridCol>
                <a:gridCol w="627064">
                  <a:extLst>
                    <a:ext uri="{9D8B030D-6E8A-4147-A177-3AD203B41FA5}">
                      <a16:colId xmlns:a16="http://schemas.microsoft.com/office/drawing/2014/main" val="3611693267"/>
                    </a:ext>
                  </a:extLst>
                </a:gridCol>
              </a:tblGrid>
              <a:tr h="370840">
                <a:tc>
                  <a:txBody>
                    <a:bodyPr/>
                    <a:lstStyle/>
                    <a:p>
                      <a:r>
                        <a:rPr lang="en-US" sz="2000" dirty="0"/>
                        <a:t>QUESTION</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3557689173"/>
                  </a:ext>
                </a:extLst>
              </a:tr>
              <a:tr h="370840">
                <a:tc>
                  <a:txBody>
                    <a:bodyPr/>
                    <a:lstStyle/>
                    <a:p>
                      <a:pPr marL="342900" indent="-342900">
                        <a:lnSpc>
                          <a:spcPct val="114000"/>
                        </a:lnSpc>
                        <a:buClr>
                          <a:schemeClr val="accent2"/>
                        </a:buClr>
                        <a:buFont typeface="Arial" panose="020B0604020202020204" pitchFamily="34" charset="0"/>
                        <a:buChar char="•"/>
                      </a:pPr>
                      <a:r>
                        <a:rPr lang="en-US" sz="2100" dirty="0"/>
                        <a:t>Do you have a written data privacy policy that is followed?</a:t>
                      </a:r>
                    </a:p>
                    <a:p>
                      <a:pPr marL="342900" indent="-342900">
                        <a:lnSpc>
                          <a:spcPct val="114000"/>
                        </a:lnSpc>
                        <a:buClr>
                          <a:schemeClr val="accent2"/>
                        </a:buClr>
                        <a:buFont typeface="Arial" panose="020B0604020202020204" pitchFamily="34" charset="0"/>
                        <a:buChar char="•"/>
                      </a:pPr>
                      <a:r>
                        <a:rPr lang="en-US" sz="2100" dirty="0"/>
                        <a:t>Does your corporate IT usage policy discuss the need to conserve</a:t>
                      </a:r>
                      <a:r>
                        <a:rPr lang="en-US" sz="2100" baseline="0" dirty="0"/>
                        <a:t> </a:t>
                      </a:r>
                      <a:r>
                        <a:rPr lang="en-US" sz="2100" dirty="0"/>
                        <a:t>corporate</a:t>
                      </a:r>
                      <a:r>
                        <a:rPr lang="en-US" sz="2100" baseline="0" dirty="0"/>
                        <a:t> </a:t>
                      </a:r>
                      <a:r>
                        <a:rPr lang="en-US" sz="2100" dirty="0"/>
                        <a:t>network capacity, avoid legal liability, and improve worker productivity by</a:t>
                      </a:r>
                      <a:r>
                        <a:rPr lang="en-US" sz="2100" baseline="0" dirty="0"/>
                        <a:t> </a:t>
                      </a:r>
                      <a:r>
                        <a:rPr lang="en-US" sz="2100" dirty="0"/>
                        <a:t>limiting the nonbusiness use of information resources?</a:t>
                      </a:r>
                    </a:p>
                    <a:p>
                      <a:pPr marL="342900" indent="-342900">
                        <a:lnSpc>
                          <a:spcPct val="114000"/>
                        </a:lnSpc>
                        <a:buClr>
                          <a:schemeClr val="accent2"/>
                        </a:buClr>
                        <a:buFont typeface="Arial" panose="020B0604020202020204" pitchFamily="34" charset="0"/>
                        <a:buChar char="•"/>
                      </a:pPr>
                      <a:r>
                        <a:rPr lang="en-US" sz="2100" dirty="0"/>
                        <a:t>Did the developers of your policy consider the need to limit employee access to</a:t>
                      </a:r>
                      <a:r>
                        <a:rPr lang="en-US" sz="2100" baseline="0" dirty="0"/>
                        <a:t> </a:t>
                      </a:r>
                      <a:r>
                        <a:rPr lang="en-US" sz="2100" dirty="0"/>
                        <a:t>nonbusiness-related websites (e.g., Internet filters, firewall configurations, or</a:t>
                      </a:r>
                      <a:r>
                        <a:rPr lang="en-US" sz="2100" baseline="0" dirty="0"/>
                        <a:t> </a:t>
                      </a:r>
                      <a:r>
                        <a:rPr lang="en-US" sz="2100" dirty="0"/>
                        <a:t>the use of an ISP that blocks access to such sites)?</a:t>
                      </a:r>
                    </a:p>
                    <a:p>
                      <a:pPr marL="342900" indent="-342900">
                        <a:lnSpc>
                          <a:spcPct val="114000"/>
                        </a:lnSpc>
                        <a:buClr>
                          <a:schemeClr val="accent2"/>
                        </a:buClr>
                        <a:buFont typeface="Arial" panose="020B0604020202020204" pitchFamily="34" charset="0"/>
                        <a:buChar char="•"/>
                      </a:pPr>
                      <a:r>
                        <a:rPr lang="en-US" sz="2100" dirty="0"/>
                        <a:t>Does your corporate IT usage policy discuss the inappropriate use of anonymous</a:t>
                      </a:r>
                      <a:r>
                        <a:rPr lang="en-US" sz="2100" baseline="0" dirty="0"/>
                        <a:t> </a:t>
                      </a:r>
                      <a:r>
                        <a:rPr lang="en-US" sz="2100" dirty="0"/>
                        <a:t>remailers?</a:t>
                      </a:r>
                    </a:p>
                    <a:p>
                      <a:pPr marL="342900" indent="-342900">
                        <a:lnSpc>
                          <a:spcPct val="114000"/>
                        </a:lnSpc>
                        <a:buClr>
                          <a:schemeClr val="accent2"/>
                        </a:buClr>
                        <a:buFont typeface="Arial" panose="020B0604020202020204" pitchFamily="34" charset="0"/>
                        <a:buChar char="•"/>
                      </a:pPr>
                      <a:r>
                        <a:rPr lang="en-US" sz="2100" dirty="0"/>
                        <a:t>Has your corporate firewall been set to detect the use of anonymous</a:t>
                      </a:r>
                      <a:r>
                        <a:rPr lang="en-US" sz="2100" baseline="0" dirty="0"/>
                        <a:t> </a:t>
                      </a:r>
                      <a:r>
                        <a:rPr lang="en-US" sz="2100" dirty="0"/>
                        <a:t>remailers?</a:t>
                      </a:r>
                    </a:p>
                    <a:p>
                      <a:pPr marL="342900" indent="-342900">
                        <a:buClr>
                          <a:schemeClr val="accent2"/>
                        </a:buClr>
                        <a:buFont typeface="Arial" panose="020B0604020202020204" pitchFamily="34" charset="0"/>
                        <a:buChar char="•"/>
                      </a:pPr>
                      <a:endParaRPr lang="en-US" sz="21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97846982"/>
                  </a:ext>
                </a:extLst>
              </a:tr>
            </a:tbl>
          </a:graphicData>
        </a:graphic>
      </p:graphicFrame>
      <p:sp>
        <p:nvSpPr>
          <p:cNvPr id="3" name="Title 2"/>
          <p:cNvSpPr>
            <a:spLocks noGrp="1"/>
          </p:cNvSpPr>
          <p:nvPr>
            <p:ph type="title"/>
          </p:nvPr>
        </p:nvSpPr>
        <p:spPr>
          <a:xfrm>
            <a:off x="762000" y="225921"/>
            <a:ext cx="8026400" cy="656911"/>
          </a:xfrm>
        </p:spPr>
        <p:txBody>
          <a:bodyPr/>
          <a:lstStyle/>
          <a:p>
            <a:r>
              <a:rPr lang="en-US" sz="2500" dirty="0"/>
              <a:t>Manager’s Checklist For Handling Freedom of Expression Issues in the Workplace,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8514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5-2 (part 2): This table presents a checklist of questions a manager should ask when handling freedom of expression issues in the workplace: &#10;Has your company (in cooperation with legal counsel) formed a policy on the use of John Doe lawsuits to identify the authors of libelous, anonymous email?&#10;Does your corporate IT usage policy make it clear that defamation and hate speech have no place in the business setting?&#10;Does your corporate IT usage policy prohibit the viewing and sending of pornography?&#10;Does your corporate acceptable use policy communicate that employee email is regularly monitored for defamatory, hateful, and pornographic material?&#10;Does your corporate IT usage policy tell employees what to do if they receive hate mail or pornography?&#10;"/>
          <p:cNvGraphicFramePr>
            <a:graphicFrameLocks noGrp="1"/>
          </p:cNvGraphicFramePr>
          <p:nvPr>
            <p:ph idx="1"/>
            <p:extLst>
              <p:ext uri="{D42A27DB-BD31-4B8C-83A1-F6EECF244321}">
                <p14:modId xmlns:p14="http://schemas.microsoft.com/office/powerpoint/2010/main" val="1313776668"/>
              </p:ext>
            </p:extLst>
          </p:nvPr>
        </p:nvGraphicFramePr>
        <p:xfrm>
          <a:off x="365125" y="1143000"/>
          <a:ext cx="8415339" cy="5231003"/>
        </p:xfrm>
        <a:graphic>
          <a:graphicData uri="http://schemas.openxmlformats.org/drawingml/2006/table">
            <a:tbl>
              <a:tblPr firstRow="1" bandRow="1">
                <a:tableStyleId>{5C22544A-7EE6-4342-B048-85BDC9FD1C3A}</a:tableStyleId>
              </a:tblPr>
              <a:tblGrid>
                <a:gridCol w="7102475">
                  <a:extLst>
                    <a:ext uri="{9D8B030D-6E8A-4147-A177-3AD203B41FA5}">
                      <a16:colId xmlns:a16="http://schemas.microsoft.com/office/drawing/2014/main" val="3778068355"/>
                    </a:ext>
                  </a:extLst>
                </a:gridCol>
                <a:gridCol w="685800">
                  <a:extLst>
                    <a:ext uri="{9D8B030D-6E8A-4147-A177-3AD203B41FA5}">
                      <a16:colId xmlns:a16="http://schemas.microsoft.com/office/drawing/2014/main" val="2852991424"/>
                    </a:ext>
                  </a:extLst>
                </a:gridCol>
                <a:gridCol w="627064">
                  <a:extLst>
                    <a:ext uri="{9D8B030D-6E8A-4147-A177-3AD203B41FA5}">
                      <a16:colId xmlns:a16="http://schemas.microsoft.com/office/drawing/2014/main" val="3611693267"/>
                    </a:ext>
                  </a:extLst>
                </a:gridCol>
              </a:tblGrid>
              <a:tr h="370840">
                <a:tc>
                  <a:txBody>
                    <a:bodyPr/>
                    <a:lstStyle/>
                    <a:p>
                      <a:r>
                        <a:rPr lang="en-US" sz="2000" dirty="0"/>
                        <a:t>QUESTION</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3557689173"/>
                  </a:ext>
                </a:extLst>
              </a:tr>
              <a:tr h="370840">
                <a:tc>
                  <a:txBody>
                    <a:bodyPr/>
                    <a:lstStyle/>
                    <a:p>
                      <a:pPr marL="342900" indent="-342900">
                        <a:lnSpc>
                          <a:spcPct val="114000"/>
                        </a:lnSpc>
                        <a:buClr>
                          <a:schemeClr val="accent2"/>
                        </a:buClr>
                        <a:buFont typeface="Arial" panose="020B0604020202020204" pitchFamily="34" charset="0"/>
                        <a:buChar char="•"/>
                      </a:pPr>
                      <a:r>
                        <a:rPr lang="en-US" sz="2100" dirty="0"/>
                        <a:t>Has your company (in cooperation with legal counsel) formed a policy on the</a:t>
                      </a:r>
                      <a:r>
                        <a:rPr lang="en-US" sz="2100" baseline="0" dirty="0"/>
                        <a:t> </a:t>
                      </a:r>
                      <a:r>
                        <a:rPr lang="en-US" sz="2100" dirty="0"/>
                        <a:t>use of John Doe lawsuits to identify the authors of libelous, anonymous email?</a:t>
                      </a:r>
                    </a:p>
                    <a:p>
                      <a:pPr marL="342900" indent="-342900">
                        <a:lnSpc>
                          <a:spcPct val="114000"/>
                        </a:lnSpc>
                        <a:buClr>
                          <a:schemeClr val="accent2"/>
                        </a:buClr>
                        <a:buFont typeface="Arial" panose="020B0604020202020204" pitchFamily="34" charset="0"/>
                        <a:buChar char="•"/>
                      </a:pPr>
                      <a:r>
                        <a:rPr lang="en-US" sz="2100" dirty="0"/>
                        <a:t>Does your corporate IT usage policy make it clear that defamation and hate</a:t>
                      </a:r>
                      <a:r>
                        <a:rPr lang="en-US" sz="2100" baseline="0" dirty="0"/>
                        <a:t> </a:t>
                      </a:r>
                      <a:r>
                        <a:rPr lang="en-US" sz="2100" dirty="0"/>
                        <a:t>speech have no place in the business setting?</a:t>
                      </a:r>
                    </a:p>
                    <a:p>
                      <a:pPr marL="342900" indent="-342900">
                        <a:lnSpc>
                          <a:spcPct val="114000"/>
                        </a:lnSpc>
                        <a:buClr>
                          <a:schemeClr val="accent2"/>
                        </a:buClr>
                        <a:buFont typeface="Arial" panose="020B0604020202020204" pitchFamily="34" charset="0"/>
                        <a:buChar char="•"/>
                      </a:pPr>
                      <a:r>
                        <a:rPr lang="en-US" sz="2100" dirty="0"/>
                        <a:t>Does your corporate IT usage policy prohibit the viewing and sending of pornography?</a:t>
                      </a:r>
                    </a:p>
                    <a:p>
                      <a:pPr marL="342900" indent="-342900">
                        <a:lnSpc>
                          <a:spcPct val="114000"/>
                        </a:lnSpc>
                        <a:buClr>
                          <a:schemeClr val="accent2"/>
                        </a:buClr>
                        <a:buFont typeface="Arial" panose="020B0604020202020204" pitchFamily="34" charset="0"/>
                        <a:buChar char="•"/>
                      </a:pPr>
                      <a:r>
                        <a:rPr lang="en-US" sz="2100" dirty="0"/>
                        <a:t>Does your corporate acceptable use policy communicate that employee email is</a:t>
                      </a:r>
                      <a:r>
                        <a:rPr lang="en-US" sz="2100" baseline="0" dirty="0"/>
                        <a:t> </a:t>
                      </a:r>
                      <a:r>
                        <a:rPr lang="en-US" sz="2100" dirty="0"/>
                        <a:t>regularly monitored for defamatory, hateful, and pornographic material?</a:t>
                      </a:r>
                    </a:p>
                    <a:p>
                      <a:pPr marL="342900" indent="-342900">
                        <a:lnSpc>
                          <a:spcPct val="114000"/>
                        </a:lnSpc>
                        <a:buClr>
                          <a:schemeClr val="accent2"/>
                        </a:buClr>
                        <a:buFont typeface="Arial" panose="020B0604020202020204" pitchFamily="34" charset="0"/>
                        <a:buChar char="•"/>
                      </a:pPr>
                      <a:r>
                        <a:rPr lang="en-US" sz="2100" dirty="0"/>
                        <a:t>Does your corporate IT usage policy tell employees what to do if they receive</a:t>
                      </a:r>
                      <a:r>
                        <a:rPr lang="en-US" sz="2100" baseline="0" dirty="0"/>
                        <a:t> </a:t>
                      </a:r>
                      <a:r>
                        <a:rPr lang="en-US" sz="2100" dirty="0"/>
                        <a:t>hate mail or pornography?</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97846982"/>
                  </a:ext>
                </a:extLst>
              </a:tr>
            </a:tbl>
          </a:graphicData>
        </a:graphic>
      </p:graphicFrame>
      <p:sp>
        <p:nvSpPr>
          <p:cNvPr id="3" name="Title 2"/>
          <p:cNvSpPr>
            <a:spLocks noGrp="1"/>
          </p:cNvSpPr>
          <p:nvPr>
            <p:ph type="title"/>
          </p:nvPr>
        </p:nvSpPr>
        <p:spPr>
          <a:xfrm>
            <a:off x="762000" y="225921"/>
            <a:ext cx="8026400" cy="656911"/>
          </a:xfrm>
        </p:spPr>
        <p:txBody>
          <a:bodyPr/>
          <a:lstStyle/>
          <a:p>
            <a:r>
              <a:rPr lang="en-US" sz="2500" dirty="0"/>
              <a:t>Manager’s Checklist For Handling Freedom of Expression Issues in the Workplace,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35323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3721019"/>
          </a:xfrm>
        </p:spPr>
        <p:txBody>
          <a:bodyPr/>
          <a:lstStyle/>
          <a:p>
            <a:r>
              <a:rPr lang="en-US" sz="2800" b="1" dirty="0"/>
              <a:t>What is the basis for the protection of freedom of expression in the United States, and what types of expressions are not protected under the law?</a:t>
            </a:r>
          </a:p>
          <a:p>
            <a:pPr lvl="1">
              <a:buClr>
                <a:schemeClr val="accent2"/>
              </a:buClr>
            </a:pPr>
            <a:r>
              <a:rPr lang="en-US" sz="2600" dirty="0"/>
              <a:t>First Amendment protects Americans’ rights to freedom </a:t>
            </a:r>
            <a:br>
              <a:rPr lang="en-US" sz="2600" dirty="0"/>
            </a:br>
            <a:r>
              <a:rPr lang="en-US" sz="2600" dirty="0"/>
              <a:t>of religion, freedom of expression, freedom to assemble peaceably, and freedom to speak anonymously.</a:t>
            </a:r>
          </a:p>
          <a:p>
            <a:pPr lvl="1">
              <a:buClr>
                <a:schemeClr val="accent2"/>
              </a:buClr>
            </a:pPr>
            <a:r>
              <a:rPr lang="en-US" sz="2600" dirty="0"/>
              <a:t>Obscene speech, defamation, incitement of panic, incitement to crime, “fighting words,” and sedition are </a:t>
            </a:r>
            <a:br>
              <a:rPr lang="en-US" sz="2600" dirty="0"/>
            </a:br>
            <a:r>
              <a:rPr lang="en-US" sz="2600" dirty="0"/>
              <a:t>not protected by the First Amendment</a:t>
            </a:r>
          </a:p>
        </p:txBody>
      </p:sp>
      <p:sp>
        <p:nvSpPr>
          <p:cNvPr id="3" name="Title 2"/>
          <p:cNvSpPr>
            <a:spLocks noGrp="1"/>
          </p:cNvSpPr>
          <p:nvPr>
            <p:ph type="title"/>
          </p:nvPr>
        </p:nvSpPr>
        <p:spPr>
          <a:xfrm>
            <a:off x="762000" y="290459"/>
            <a:ext cx="8026400" cy="527837"/>
          </a:xfrm>
        </p:spPr>
        <p:txBody>
          <a:bodyPr/>
          <a:lstStyle/>
          <a:p>
            <a:r>
              <a:rPr lang="en-US" sz="4000" dirty="0"/>
              <a:t>Summary,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59937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035225"/>
          </a:xfrm>
        </p:spPr>
        <p:txBody>
          <a:bodyPr/>
          <a:lstStyle/>
          <a:p>
            <a:r>
              <a:rPr lang="en-US" sz="2800" b="1" dirty="0"/>
              <a:t>What are some key federal laws that affect online freedom of expression, and how do they impact organizations?</a:t>
            </a:r>
            <a:endParaRPr lang="en-US" sz="2600" dirty="0"/>
          </a:p>
          <a:p>
            <a:pPr lvl="1">
              <a:spcBef>
                <a:spcPts val="300"/>
              </a:spcBef>
              <a:buClr>
                <a:schemeClr val="accent2"/>
              </a:buClr>
            </a:pPr>
            <a:r>
              <a:rPr lang="en-US" sz="2600" dirty="0"/>
              <a:t>Challenge: Restrict children’s access to inappropriate material online without also restricting adults’ access</a:t>
            </a:r>
          </a:p>
          <a:p>
            <a:pPr lvl="1">
              <a:spcBef>
                <a:spcPts val="300"/>
              </a:spcBef>
              <a:buClr>
                <a:schemeClr val="accent2"/>
              </a:buClr>
            </a:pPr>
            <a:r>
              <a:rPr lang="en-US" sz="2600" dirty="0"/>
              <a:t>Key federal laws: </a:t>
            </a:r>
          </a:p>
          <a:p>
            <a:pPr lvl="2">
              <a:spcBef>
                <a:spcPts val="300"/>
              </a:spcBef>
            </a:pPr>
            <a:r>
              <a:rPr lang="en-US" sz="2400" dirty="0"/>
              <a:t>Communications Decency Act (CDA)</a:t>
            </a:r>
          </a:p>
          <a:p>
            <a:pPr lvl="3"/>
            <a:r>
              <a:rPr lang="en-US" sz="2200" dirty="0"/>
              <a:t>Section 230 of the CDA: Provides immunity to ISPs that publish user-generated content, as long as they do not also serve as a content provider</a:t>
            </a:r>
          </a:p>
          <a:p>
            <a:pPr lvl="2">
              <a:spcBef>
                <a:spcPts val="300"/>
              </a:spcBef>
            </a:pPr>
            <a:r>
              <a:rPr lang="en-US" sz="2400" dirty="0"/>
              <a:t>Child Online Protection Act (COPA)</a:t>
            </a:r>
          </a:p>
          <a:p>
            <a:pPr lvl="2">
              <a:spcBef>
                <a:spcPts val="300"/>
              </a:spcBef>
            </a:pPr>
            <a:r>
              <a:rPr lang="en-US" sz="2400" dirty="0"/>
              <a:t>Children’s Internet Protection Act (CIPA)</a:t>
            </a:r>
          </a:p>
          <a:p>
            <a:pPr lvl="2">
              <a:spcBef>
                <a:spcPts val="300"/>
              </a:spcBef>
            </a:pPr>
            <a:r>
              <a:rPr lang="en-US" sz="2400" dirty="0"/>
              <a:t>Digital Millennium Copyright Act (DMCA)</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a:t>Summary,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18274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607415"/>
          </a:xfrm>
        </p:spPr>
        <p:txBody>
          <a:bodyPr/>
          <a:lstStyle/>
          <a:p>
            <a:r>
              <a:rPr lang="en-US" sz="2800" b="1" dirty="0"/>
              <a:t>What important freedom of expression issues relate to the use of information technology?</a:t>
            </a:r>
          </a:p>
          <a:p>
            <a:pPr lvl="1">
              <a:buClr>
                <a:schemeClr val="accent2"/>
              </a:buClr>
            </a:pPr>
            <a:r>
              <a:rPr lang="en-US" sz="2600" dirty="0"/>
              <a:t>Internet censorship: The control or suppression of the publishing or accessing of information online</a:t>
            </a:r>
          </a:p>
          <a:p>
            <a:pPr lvl="1">
              <a:buClr>
                <a:schemeClr val="accent2"/>
              </a:buClr>
            </a:pPr>
            <a:r>
              <a:rPr lang="en-US" sz="2600" dirty="0"/>
              <a:t>Strategic lawsuit against public participation (SLAPP)</a:t>
            </a:r>
          </a:p>
          <a:p>
            <a:pPr lvl="2"/>
            <a:r>
              <a:rPr lang="en-US" sz="2400" dirty="0"/>
              <a:t>Anti-SLAPP laws are designed to reduce frivolous SLAPPs</a:t>
            </a:r>
          </a:p>
          <a:p>
            <a:pPr lvl="1">
              <a:buClr>
                <a:schemeClr val="accent2"/>
              </a:buClr>
            </a:pPr>
            <a:r>
              <a:rPr lang="en-US" sz="2600" dirty="0"/>
              <a:t>Anonymous expression</a:t>
            </a:r>
          </a:p>
          <a:p>
            <a:pPr lvl="2"/>
            <a:r>
              <a:rPr lang="en-US" sz="2400" dirty="0"/>
              <a:t>Doxing: Researching and posting someone’s personal information online</a:t>
            </a:r>
          </a:p>
          <a:p>
            <a:pPr lvl="2"/>
            <a:r>
              <a:rPr lang="en-US" sz="2400" dirty="0"/>
              <a:t>John Doe lawsuit: Used to gain subpoena power in an effort </a:t>
            </a:r>
            <a:br>
              <a:rPr lang="en-US" sz="2400" dirty="0"/>
            </a:br>
            <a:r>
              <a:rPr lang="en-US" sz="2400" dirty="0"/>
              <a:t>to learn the identify of anonymous Internet users</a:t>
            </a:r>
          </a:p>
        </p:txBody>
      </p:sp>
      <p:sp>
        <p:nvSpPr>
          <p:cNvPr id="3" name="Title 2"/>
          <p:cNvSpPr>
            <a:spLocks noGrp="1"/>
          </p:cNvSpPr>
          <p:nvPr>
            <p:ph type="title"/>
          </p:nvPr>
        </p:nvSpPr>
        <p:spPr>
          <a:xfrm>
            <a:off x="762000" y="290459"/>
            <a:ext cx="8026400" cy="527837"/>
          </a:xfrm>
        </p:spPr>
        <p:txBody>
          <a:bodyPr/>
          <a:lstStyle/>
          <a:p>
            <a:r>
              <a:rPr lang="en-US" sz="4000" dirty="0"/>
              <a:t>Summary,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453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824911"/>
          </a:xfrm>
        </p:spPr>
        <p:txBody>
          <a:bodyPr/>
          <a:lstStyle/>
          <a:p>
            <a:r>
              <a:rPr lang="en-US" sz="2800" b="1" dirty="0"/>
              <a:t>What important freedom of expression issues relate to the use of information technology?</a:t>
            </a:r>
          </a:p>
          <a:p>
            <a:pPr lvl="1">
              <a:spcBef>
                <a:spcPts val="400"/>
              </a:spcBef>
              <a:buClr>
                <a:schemeClr val="accent2"/>
              </a:buClr>
            </a:pPr>
            <a:r>
              <a:rPr lang="en-US" sz="2600" dirty="0"/>
              <a:t>Speech that is merely annoying, critical, demeaning, or offensive is protected by the First Amendment.</a:t>
            </a:r>
          </a:p>
          <a:p>
            <a:pPr lvl="1">
              <a:spcBef>
                <a:spcPts val="400"/>
              </a:spcBef>
              <a:buClr>
                <a:schemeClr val="accent2"/>
              </a:buClr>
            </a:pPr>
            <a:r>
              <a:rPr lang="en-US" sz="2600" dirty="0"/>
              <a:t>Hate speech involves threats and intimidations against specific citizens.</a:t>
            </a:r>
          </a:p>
          <a:p>
            <a:pPr lvl="1">
              <a:spcBef>
                <a:spcPts val="400"/>
              </a:spcBef>
              <a:buClr>
                <a:schemeClr val="accent2"/>
              </a:buClr>
            </a:pPr>
            <a:r>
              <a:rPr lang="en-US" sz="2600" dirty="0"/>
              <a:t>Some ISPs and social networking sites prohibit hate speech as part of their service agreements; such restrictions do </a:t>
            </a:r>
            <a:br>
              <a:rPr lang="en-US" sz="2600" dirty="0"/>
            </a:br>
            <a:r>
              <a:rPr lang="en-US" sz="2600" dirty="0"/>
              <a:t>not violate the First Amendment</a:t>
            </a:r>
          </a:p>
          <a:p>
            <a:pPr lvl="1">
              <a:spcBef>
                <a:spcPts val="400"/>
              </a:spcBef>
              <a:buClr>
                <a:schemeClr val="accent2"/>
              </a:buClr>
            </a:pPr>
            <a:r>
              <a:rPr lang="en-US" sz="2600" dirty="0"/>
              <a:t>Companies must show that they took reasonable steps to prevent pornography in the workplace to have a valid defense against a sexual harassment lawsuit</a:t>
            </a:r>
          </a:p>
        </p:txBody>
      </p:sp>
      <p:sp>
        <p:nvSpPr>
          <p:cNvPr id="3" name="Title 2"/>
          <p:cNvSpPr>
            <a:spLocks noGrp="1"/>
          </p:cNvSpPr>
          <p:nvPr>
            <p:ph type="title"/>
          </p:nvPr>
        </p:nvSpPr>
        <p:spPr>
          <a:xfrm>
            <a:off x="762000" y="290459"/>
            <a:ext cx="8026400" cy="527837"/>
          </a:xfrm>
        </p:spPr>
        <p:txBody>
          <a:bodyPr/>
          <a:lstStyle/>
          <a:p>
            <a:r>
              <a:rPr lang="en-US" sz="4000" dirty="0"/>
              <a:t>Summary,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27166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773614"/>
          </a:xfrm>
        </p:spPr>
        <p:txBody>
          <a:bodyPr/>
          <a:lstStyle/>
          <a:p>
            <a:r>
              <a:rPr lang="en-US" sz="2800" b="1" dirty="0"/>
              <a:t>What important freedom of expression issues relate to the use of information technology?</a:t>
            </a:r>
          </a:p>
          <a:p>
            <a:pPr lvl="1">
              <a:spcBef>
                <a:spcPts val="400"/>
              </a:spcBef>
              <a:buClr>
                <a:schemeClr val="accent2"/>
              </a:buClr>
            </a:pPr>
            <a:r>
              <a:rPr lang="en-US" sz="2600" dirty="0"/>
              <a:t>Sexting: Sending sexual messages, nude or seminude photos, or sexually explicit videos over a cell phone can lead to problems for both senders and receivers.</a:t>
            </a:r>
          </a:p>
          <a:p>
            <a:pPr lvl="1">
              <a:spcBef>
                <a:spcPts val="400"/>
              </a:spcBef>
              <a:buClr>
                <a:schemeClr val="accent2"/>
              </a:buClr>
            </a:pPr>
            <a:r>
              <a:rPr lang="en-US" sz="2600" dirty="0"/>
              <a:t>CAN-SPAM Act: Specifies requirements that commercial emailers must follow when sending out promotional messages; it is also sometimes used in the fight against </a:t>
            </a:r>
            <a:br>
              <a:rPr lang="en-US" sz="2600" dirty="0"/>
            </a:br>
            <a:r>
              <a:rPr lang="en-US" sz="2600" dirty="0"/>
              <a:t>the pornography.</a:t>
            </a:r>
          </a:p>
          <a:p>
            <a:pPr lvl="1">
              <a:spcBef>
                <a:spcPts val="400"/>
              </a:spcBef>
              <a:buClr>
                <a:schemeClr val="accent2"/>
              </a:buClr>
            </a:pPr>
            <a:r>
              <a:rPr lang="en-US" sz="2600" dirty="0"/>
              <a:t>Fake news: The Internet is full of “news” accounts that are really just highly opinionated, fictionalized, or satirical accounts of current events presented in journalistic style.</a:t>
            </a:r>
          </a:p>
        </p:txBody>
      </p:sp>
      <p:sp>
        <p:nvSpPr>
          <p:cNvPr id="3" name="Title 2"/>
          <p:cNvSpPr>
            <a:spLocks noGrp="1"/>
          </p:cNvSpPr>
          <p:nvPr>
            <p:ph type="title"/>
          </p:nvPr>
        </p:nvSpPr>
        <p:spPr>
          <a:xfrm>
            <a:off x="762000" y="290459"/>
            <a:ext cx="8026400" cy="527837"/>
          </a:xfrm>
        </p:spPr>
        <p:txBody>
          <a:bodyPr/>
          <a:lstStyle/>
          <a:p>
            <a:r>
              <a:rPr lang="en-US" sz="4000" dirty="0"/>
              <a:t>Summary, Part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77506406"/>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5749</TotalTime>
  <Words>3380</Words>
  <Application>Microsoft Office PowerPoint</Application>
  <PresentationFormat>On-screen Show (4:3)</PresentationFormat>
  <Paragraphs>202</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Ethics in Information Technology</vt:lpstr>
      <vt:lpstr>Learning Objectives</vt:lpstr>
      <vt:lpstr>First Amendment Rights, Part 1 </vt:lpstr>
      <vt:lpstr>First Amendment Rights, Part 2</vt:lpstr>
      <vt:lpstr>Obscene Speech</vt:lpstr>
      <vt:lpstr>Defamation</vt:lpstr>
      <vt:lpstr>Freedom of Expression: Key Issues</vt:lpstr>
      <vt:lpstr>Controlling Access to Information on the Internet, Part 1</vt:lpstr>
      <vt:lpstr>Controlling Access to Information on the Internet, Part 2</vt:lpstr>
      <vt:lpstr>Controlling Access to Information on the Internet, Part 3</vt:lpstr>
      <vt:lpstr>Controlling Access to Information on the Internet, Part 4</vt:lpstr>
      <vt:lpstr>Internet Censorship, Part 1</vt:lpstr>
      <vt:lpstr>Internet Censorship, Part 2</vt:lpstr>
      <vt:lpstr>Internet Censorship, Part 3</vt:lpstr>
      <vt:lpstr>SLAPP Lawsuits</vt:lpstr>
      <vt:lpstr>Anonymity on the Internet</vt:lpstr>
      <vt:lpstr>John Doe Lawsuits</vt:lpstr>
      <vt:lpstr>Hate Speech</vt:lpstr>
      <vt:lpstr>Pornography on the Internet, Part 1</vt:lpstr>
      <vt:lpstr>Pornography on the Internet, Part 2</vt:lpstr>
      <vt:lpstr>Pornography on the Internet, Part 3</vt:lpstr>
      <vt:lpstr>Fake News, Part 1</vt:lpstr>
      <vt:lpstr>Fake News, Part 2</vt:lpstr>
      <vt:lpstr>Manager’s Checklist For Handling Freedom of Expression Issues in the Workplace, Part 1</vt:lpstr>
      <vt:lpstr>Manager’s Checklist For Handling Freedom of Expression Issues in the Workplace, Part 2</vt:lpstr>
      <vt:lpstr>Summary, Part 1</vt:lpstr>
      <vt:lpstr>Summary, Part 2</vt:lpstr>
      <vt:lpstr>Summary, Part 3</vt:lpstr>
      <vt:lpstr>Summary, Part 4</vt:lpstr>
      <vt:lpstr>Summary, Part 5</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Mary Pat Shaffer</cp:lastModifiedBy>
  <cp:revision>308</cp:revision>
  <cp:lastPrinted>2010-11-12T17:54:40Z</cp:lastPrinted>
  <dcterms:created xsi:type="dcterms:W3CDTF">2007-02-15T20:50:52Z</dcterms:created>
  <dcterms:modified xsi:type="dcterms:W3CDTF">2017-08-17T01:57:34Z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