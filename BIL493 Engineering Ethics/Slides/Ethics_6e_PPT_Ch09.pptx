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29"/>
  </p:notesMasterIdLst>
  <p:handoutMasterIdLst>
    <p:handoutMasterId r:id="rId30"/>
  </p:handoutMasterIdLst>
  <p:sldIdLst>
    <p:sldId id="264" r:id="rId2"/>
    <p:sldId id="261"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86" autoAdjust="0"/>
    <p:restoredTop sz="99857" autoAdjust="0"/>
  </p:normalViewPr>
  <p:slideViewPr>
    <p:cSldViewPr>
      <p:cViewPr>
        <p:scale>
          <a:sx n="70" d="100"/>
          <a:sy n="70" d="100"/>
        </p:scale>
        <p:origin x="1554" y="1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8/16/2017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8/16/2017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472215"/>
          </a:xfrm>
        </p:spPr>
        <p:txBody>
          <a:bodyPr/>
          <a:lstStyle/>
          <a:p>
            <a:r>
              <a:rPr lang="en-US" sz="3400" dirty="0"/>
              <a:t>Chapter 9</a:t>
            </a:r>
          </a:p>
          <a:p>
            <a:r>
              <a:rPr lang="en-US" sz="4800" b="1" dirty="0"/>
              <a:t>Social Media</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a:t>
            </a:r>
          </a:p>
        </p:txBody>
      </p:sp>
      <p:sp>
        <p:nvSpPr>
          <p:cNvPr id="4" name="Content Placeholder 3"/>
          <p:cNvSpPr>
            <a:spLocks noGrp="1"/>
          </p:cNvSpPr>
          <p:nvPr>
            <p:ph type="body" idx="1"/>
          </p:nvPr>
        </p:nvSpPr>
        <p:spPr>
          <a:xfrm>
            <a:off x="2425131" y="1143000"/>
            <a:ext cx="6337869" cy="3170099"/>
          </a:xfrm>
        </p:spPr>
        <p:txBody>
          <a:bodyPr/>
          <a:lstStyle/>
          <a:p>
            <a:pPr marL="457200" indent="-457200">
              <a:lnSpc>
                <a:spcPct val="100000"/>
              </a:lnSpc>
              <a:buFont typeface="Arial" panose="020B0604020202020204" pitchFamily="34" charset="0"/>
              <a:buChar char="•"/>
            </a:pPr>
            <a:r>
              <a:rPr lang="en-US" sz="2800" dirty="0">
                <a:solidFill>
                  <a:schemeClr val="tx1"/>
                </a:solidFill>
              </a:rPr>
              <a:t>How do individuals use social networks, and what are some practical business uses of social networking and other social media tools?</a:t>
            </a:r>
          </a:p>
          <a:p>
            <a:pPr marL="457200" indent="-457200">
              <a:lnSpc>
                <a:spcPct val="100000"/>
              </a:lnSpc>
              <a:buFont typeface="Arial" panose="020B0604020202020204" pitchFamily="34" charset="0"/>
              <a:buChar char="•"/>
            </a:pPr>
            <a:r>
              <a:rPr lang="en-US" sz="2800" dirty="0">
                <a:solidFill>
                  <a:schemeClr val="tx1"/>
                </a:solidFill>
              </a:rPr>
              <a:t>What are some of the key ethical issues associated with the use of social networks and other social media?</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792081"/>
          </a:xfrm>
        </p:spPr>
        <p:txBody>
          <a:bodyPr/>
          <a:lstStyle/>
          <a:p>
            <a:r>
              <a:rPr lang="en-US" sz="2700" b="1" dirty="0"/>
              <a:t>Social media: </a:t>
            </a:r>
            <a:r>
              <a:rPr lang="en-US" sz="2700" dirty="0"/>
              <a:t>Web-based communication tools that </a:t>
            </a:r>
            <a:br>
              <a:rPr lang="en-US" sz="2700" dirty="0"/>
            </a:br>
            <a:r>
              <a:rPr lang="en-US" sz="2700" dirty="0"/>
              <a:t>enable people to interact in online communities where they can share ideas, messages, images, audio, and video</a:t>
            </a:r>
          </a:p>
          <a:p>
            <a:pPr lvl="1">
              <a:buClr>
                <a:schemeClr val="accent2"/>
              </a:buClr>
            </a:pPr>
            <a:r>
              <a:rPr lang="en-US" sz="2500" dirty="0"/>
              <a:t>Common features: User accounts, profile pages, friends </a:t>
            </a:r>
            <a:br>
              <a:rPr lang="en-US" sz="2500" dirty="0"/>
            </a:br>
            <a:r>
              <a:rPr lang="en-US" sz="2500" dirty="0"/>
              <a:t>or followers, event pages, news feeds, media-sharing features, like buttons, and comments sections</a:t>
            </a:r>
          </a:p>
          <a:p>
            <a:pPr lvl="1">
              <a:buClr>
                <a:schemeClr val="accent2"/>
              </a:buClr>
            </a:pPr>
            <a:r>
              <a:rPr lang="en-US" sz="2500" dirty="0"/>
              <a:t>Types: Blogs, discussion forums, media-sharing networks, wikis, social messaging apps, social networking sites, and social shopping platforms</a:t>
            </a:r>
          </a:p>
          <a:p>
            <a:pPr lvl="1">
              <a:buClr>
                <a:schemeClr val="accent2"/>
              </a:buClr>
            </a:pPr>
            <a:r>
              <a:rPr lang="en-US" sz="2700" b="1" dirty="0"/>
              <a:t>Social networking platform: </a:t>
            </a:r>
            <a:r>
              <a:rPr lang="en-US" sz="2700" dirty="0"/>
              <a:t>Creates an online community of Internet users that breaks down barriers created by time, distance, and cultural differences</a:t>
            </a:r>
          </a:p>
        </p:txBody>
      </p:sp>
      <p:sp>
        <p:nvSpPr>
          <p:cNvPr id="3" name="Title 2"/>
          <p:cNvSpPr>
            <a:spLocks noGrp="1"/>
          </p:cNvSpPr>
          <p:nvPr>
            <p:ph type="title"/>
          </p:nvPr>
        </p:nvSpPr>
        <p:spPr>
          <a:xfrm>
            <a:off x="762000" y="290459"/>
            <a:ext cx="8026400" cy="527837"/>
          </a:xfrm>
        </p:spPr>
        <p:txBody>
          <a:bodyPr/>
          <a:lstStyle/>
          <a:p>
            <a:r>
              <a:rPr lang="en-US" sz="4000" dirty="0"/>
              <a:t>What is Social Media?</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9-1: This table lists some of the most popular social networking platforms, along with their estimated unique monthly visitors (in millions). &#10;Facebook: 1,100&#10;YouTube: 1,000&#10;Twitter: 310&#10;LinkedIn: 255&#10;Pinterest: 250&#10;Google Plus+: 120&#10;Tumblr: 110&#10;Instagram: 100&#10;Reddit: 85"/>
          <p:cNvGraphicFramePr>
            <a:graphicFrameLocks noGrp="1"/>
          </p:cNvGraphicFramePr>
          <p:nvPr>
            <p:ph idx="1"/>
            <p:extLst>
              <p:ext uri="{D42A27DB-BD31-4B8C-83A1-F6EECF244321}">
                <p14:modId xmlns:p14="http://schemas.microsoft.com/office/powerpoint/2010/main" val="4029701768"/>
              </p:ext>
            </p:extLst>
          </p:nvPr>
        </p:nvGraphicFramePr>
        <p:xfrm>
          <a:off x="2176462" y="1397140"/>
          <a:ext cx="5197475" cy="4739640"/>
        </p:xfrm>
        <a:graphic>
          <a:graphicData uri="http://schemas.openxmlformats.org/drawingml/2006/table">
            <a:tbl>
              <a:tblPr firstRow="1" bandRow="1">
                <a:tableStyleId>{5C22544A-7EE6-4342-B048-85BDC9FD1C3A}</a:tableStyleId>
              </a:tblPr>
              <a:tblGrid>
                <a:gridCol w="2624138">
                  <a:extLst>
                    <a:ext uri="{9D8B030D-6E8A-4147-A177-3AD203B41FA5}">
                      <a16:colId xmlns:a16="http://schemas.microsoft.com/office/drawing/2014/main" val="589631962"/>
                    </a:ext>
                  </a:extLst>
                </a:gridCol>
                <a:gridCol w="2573337">
                  <a:extLst>
                    <a:ext uri="{9D8B030D-6E8A-4147-A177-3AD203B41FA5}">
                      <a16:colId xmlns:a16="http://schemas.microsoft.com/office/drawing/2014/main" val="941156520"/>
                    </a:ext>
                  </a:extLst>
                </a:gridCol>
              </a:tblGrid>
              <a:tr h="430283">
                <a:tc>
                  <a:txBody>
                    <a:bodyPr/>
                    <a:lstStyle/>
                    <a:p>
                      <a:pPr algn="ctr"/>
                      <a:r>
                        <a:rPr lang="en-US" sz="2200" dirty="0"/>
                        <a:t>Social Networking</a:t>
                      </a:r>
                      <a:r>
                        <a:rPr lang="en-US" sz="2200" baseline="0" dirty="0"/>
                        <a:t> Platform</a:t>
                      </a:r>
                      <a:endParaRPr lang="en-US" sz="2200" dirty="0"/>
                    </a:p>
                  </a:txBody>
                  <a:tcPr/>
                </a:tc>
                <a:tc>
                  <a:txBody>
                    <a:bodyPr/>
                    <a:lstStyle/>
                    <a:p>
                      <a:pPr algn="ctr"/>
                      <a:r>
                        <a:rPr lang="en-US" sz="2200" dirty="0"/>
                        <a:t>Unique Monthly Visitors (Millions)</a:t>
                      </a:r>
                    </a:p>
                  </a:txBody>
                  <a:tcPr/>
                </a:tc>
                <a:extLst>
                  <a:ext uri="{0D108BD9-81ED-4DB2-BD59-A6C34878D82A}">
                    <a16:rowId xmlns:a16="http://schemas.microsoft.com/office/drawing/2014/main" val="2818124517"/>
                  </a:ext>
                </a:extLst>
              </a:tr>
              <a:tr h="373937">
                <a:tc>
                  <a:txBody>
                    <a:bodyPr/>
                    <a:lstStyle/>
                    <a:p>
                      <a:r>
                        <a:rPr lang="en-US" sz="2300" dirty="0"/>
                        <a:t>Facebook</a:t>
                      </a:r>
                    </a:p>
                  </a:txBody>
                  <a:tcPr/>
                </a:tc>
                <a:tc>
                  <a:txBody>
                    <a:bodyPr/>
                    <a:lstStyle/>
                    <a:p>
                      <a:pPr algn="r"/>
                      <a:r>
                        <a:rPr lang="en-US" sz="2300" dirty="0"/>
                        <a:t>1,100</a:t>
                      </a:r>
                    </a:p>
                  </a:txBody>
                  <a:tcPr/>
                </a:tc>
                <a:extLst>
                  <a:ext uri="{0D108BD9-81ED-4DB2-BD59-A6C34878D82A}">
                    <a16:rowId xmlns:a16="http://schemas.microsoft.com/office/drawing/2014/main" val="2940355964"/>
                  </a:ext>
                </a:extLst>
              </a:tr>
              <a:tr h="373937">
                <a:tc>
                  <a:txBody>
                    <a:bodyPr/>
                    <a:lstStyle/>
                    <a:p>
                      <a:r>
                        <a:rPr lang="en-US" sz="2300" dirty="0"/>
                        <a:t>YouTube</a:t>
                      </a:r>
                    </a:p>
                  </a:txBody>
                  <a:tcPr/>
                </a:tc>
                <a:tc>
                  <a:txBody>
                    <a:bodyPr/>
                    <a:lstStyle/>
                    <a:p>
                      <a:pPr algn="r"/>
                      <a:r>
                        <a:rPr lang="en-US" sz="2300" dirty="0"/>
                        <a:t>1,000</a:t>
                      </a:r>
                    </a:p>
                  </a:txBody>
                  <a:tcPr/>
                </a:tc>
                <a:extLst>
                  <a:ext uri="{0D108BD9-81ED-4DB2-BD59-A6C34878D82A}">
                    <a16:rowId xmlns:a16="http://schemas.microsoft.com/office/drawing/2014/main" val="1068795155"/>
                  </a:ext>
                </a:extLst>
              </a:tr>
              <a:tr h="373937">
                <a:tc>
                  <a:txBody>
                    <a:bodyPr/>
                    <a:lstStyle/>
                    <a:p>
                      <a:r>
                        <a:rPr lang="en-US" sz="2300" dirty="0"/>
                        <a:t>Twitter</a:t>
                      </a:r>
                    </a:p>
                  </a:txBody>
                  <a:tcPr/>
                </a:tc>
                <a:tc>
                  <a:txBody>
                    <a:bodyPr/>
                    <a:lstStyle/>
                    <a:p>
                      <a:pPr algn="r"/>
                      <a:r>
                        <a:rPr lang="en-US" sz="2300" dirty="0"/>
                        <a:t>310</a:t>
                      </a:r>
                    </a:p>
                  </a:txBody>
                  <a:tcPr/>
                </a:tc>
                <a:extLst>
                  <a:ext uri="{0D108BD9-81ED-4DB2-BD59-A6C34878D82A}">
                    <a16:rowId xmlns:a16="http://schemas.microsoft.com/office/drawing/2014/main" val="860999432"/>
                  </a:ext>
                </a:extLst>
              </a:tr>
              <a:tr h="373937">
                <a:tc>
                  <a:txBody>
                    <a:bodyPr/>
                    <a:lstStyle/>
                    <a:p>
                      <a:r>
                        <a:rPr lang="en-US" sz="2300" dirty="0"/>
                        <a:t>LinkedIn</a:t>
                      </a:r>
                    </a:p>
                  </a:txBody>
                  <a:tcPr/>
                </a:tc>
                <a:tc>
                  <a:txBody>
                    <a:bodyPr/>
                    <a:lstStyle/>
                    <a:p>
                      <a:pPr algn="r"/>
                      <a:r>
                        <a:rPr lang="en-US" sz="2300" dirty="0"/>
                        <a:t>255</a:t>
                      </a:r>
                    </a:p>
                  </a:txBody>
                  <a:tcPr/>
                </a:tc>
                <a:extLst>
                  <a:ext uri="{0D108BD9-81ED-4DB2-BD59-A6C34878D82A}">
                    <a16:rowId xmlns:a16="http://schemas.microsoft.com/office/drawing/2014/main" val="2530045482"/>
                  </a:ext>
                </a:extLst>
              </a:tr>
              <a:tr h="373937">
                <a:tc>
                  <a:txBody>
                    <a:bodyPr/>
                    <a:lstStyle/>
                    <a:p>
                      <a:r>
                        <a:rPr lang="en-US" sz="2300" dirty="0"/>
                        <a:t>Pinterest</a:t>
                      </a:r>
                    </a:p>
                  </a:txBody>
                  <a:tcPr/>
                </a:tc>
                <a:tc>
                  <a:txBody>
                    <a:bodyPr/>
                    <a:lstStyle/>
                    <a:p>
                      <a:pPr algn="r"/>
                      <a:r>
                        <a:rPr lang="en-US" sz="2300" dirty="0"/>
                        <a:t>250</a:t>
                      </a:r>
                    </a:p>
                  </a:txBody>
                  <a:tcPr/>
                </a:tc>
                <a:extLst>
                  <a:ext uri="{0D108BD9-81ED-4DB2-BD59-A6C34878D82A}">
                    <a16:rowId xmlns:a16="http://schemas.microsoft.com/office/drawing/2014/main" val="65965508"/>
                  </a:ext>
                </a:extLst>
              </a:tr>
              <a:tr h="373937">
                <a:tc>
                  <a:txBody>
                    <a:bodyPr/>
                    <a:lstStyle/>
                    <a:p>
                      <a:r>
                        <a:rPr lang="en-US" sz="2300" dirty="0"/>
                        <a:t>Google Plus+</a:t>
                      </a:r>
                    </a:p>
                  </a:txBody>
                  <a:tcPr/>
                </a:tc>
                <a:tc>
                  <a:txBody>
                    <a:bodyPr/>
                    <a:lstStyle/>
                    <a:p>
                      <a:pPr algn="r"/>
                      <a:r>
                        <a:rPr lang="en-US" sz="2300" dirty="0"/>
                        <a:t>120</a:t>
                      </a:r>
                    </a:p>
                  </a:txBody>
                  <a:tcPr/>
                </a:tc>
                <a:extLst>
                  <a:ext uri="{0D108BD9-81ED-4DB2-BD59-A6C34878D82A}">
                    <a16:rowId xmlns:a16="http://schemas.microsoft.com/office/drawing/2014/main" val="2313669018"/>
                  </a:ext>
                </a:extLst>
              </a:tr>
              <a:tr h="373937">
                <a:tc>
                  <a:txBody>
                    <a:bodyPr/>
                    <a:lstStyle/>
                    <a:p>
                      <a:r>
                        <a:rPr lang="en-US" sz="2300" dirty="0"/>
                        <a:t>Tumblr</a:t>
                      </a:r>
                    </a:p>
                  </a:txBody>
                  <a:tcPr/>
                </a:tc>
                <a:tc>
                  <a:txBody>
                    <a:bodyPr/>
                    <a:lstStyle/>
                    <a:p>
                      <a:pPr algn="r"/>
                      <a:r>
                        <a:rPr lang="en-US" sz="2300" dirty="0"/>
                        <a:t>110</a:t>
                      </a:r>
                    </a:p>
                  </a:txBody>
                  <a:tcPr/>
                </a:tc>
                <a:extLst>
                  <a:ext uri="{0D108BD9-81ED-4DB2-BD59-A6C34878D82A}">
                    <a16:rowId xmlns:a16="http://schemas.microsoft.com/office/drawing/2014/main" val="926690424"/>
                  </a:ext>
                </a:extLst>
              </a:tr>
              <a:tr h="373937">
                <a:tc>
                  <a:txBody>
                    <a:bodyPr/>
                    <a:lstStyle/>
                    <a:p>
                      <a:r>
                        <a:rPr lang="en-US" sz="2300" dirty="0"/>
                        <a:t>Instagram</a:t>
                      </a:r>
                    </a:p>
                  </a:txBody>
                  <a:tcPr/>
                </a:tc>
                <a:tc>
                  <a:txBody>
                    <a:bodyPr/>
                    <a:lstStyle/>
                    <a:p>
                      <a:pPr algn="r"/>
                      <a:r>
                        <a:rPr lang="en-US" sz="2300" dirty="0"/>
                        <a:t>100</a:t>
                      </a:r>
                    </a:p>
                  </a:txBody>
                  <a:tcPr/>
                </a:tc>
                <a:extLst>
                  <a:ext uri="{0D108BD9-81ED-4DB2-BD59-A6C34878D82A}">
                    <a16:rowId xmlns:a16="http://schemas.microsoft.com/office/drawing/2014/main" val="466439117"/>
                  </a:ext>
                </a:extLst>
              </a:tr>
              <a:tr h="373937">
                <a:tc>
                  <a:txBody>
                    <a:bodyPr/>
                    <a:lstStyle/>
                    <a:p>
                      <a:r>
                        <a:rPr lang="en-US" sz="2300" dirty="0"/>
                        <a:t>Reddit</a:t>
                      </a:r>
                    </a:p>
                  </a:txBody>
                  <a:tcPr/>
                </a:tc>
                <a:tc>
                  <a:txBody>
                    <a:bodyPr/>
                    <a:lstStyle/>
                    <a:p>
                      <a:pPr algn="r"/>
                      <a:r>
                        <a:rPr lang="en-US" sz="2300" dirty="0"/>
                        <a:t>85</a:t>
                      </a:r>
                    </a:p>
                  </a:txBody>
                  <a:tcPr/>
                </a:tc>
                <a:extLst>
                  <a:ext uri="{0D108BD9-81ED-4DB2-BD59-A6C34878D82A}">
                    <a16:rowId xmlns:a16="http://schemas.microsoft.com/office/drawing/2014/main" val="4068466506"/>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a:t>Popular Social Networking Platforms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59279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95186"/>
          </a:xfrm>
        </p:spPr>
        <p:txBody>
          <a:bodyPr/>
          <a:lstStyle/>
          <a:p>
            <a:r>
              <a:rPr lang="en-US" sz="2800" dirty="0"/>
              <a:t>S</a:t>
            </a:r>
            <a:r>
              <a:rPr lang="en-US" sz="2800" b="1" dirty="0"/>
              <a:t>ocial network marketing: </a:t>
            </a:r>
            <a:r>
              <a:rPr lang="en-US" sz="2800" dirty="0"/>
              <a:t>The use of social networks </a:t>
            </a:r>
            <a:br>
              <a:rPr lang="en-US" sz="2800" dirty="0"/>
            </a:br>
            <a:r>
              <a:rPr lang="en-US" sz="2800" dirty="0"/>
              <a:t>to communicate and promote the benefits of products and services</a:t>
            </a:r>
          </a:p>
          <a:p>
            <a:pPr lvl="1">
              <a:buClr>
                <a:schemeClr val="accent2"/>
              </a:buClr>
            </a:pPr>
            <a:r>
              <a:rPr lang="en-US" sz="2600" dirty="0"/>
              <a:t>37% of consumers say they use social media to </a:t>
            </a:r>
            <a:br>
              <a:rPr lang="en-US" sz="2600" dirty="0"/>
            </a:br>
            <a:r>
              <a:rPr lang="en-US" sz="2600" dirty="0"/>
              <a:t>find out about products and services</a:t>
            </a:r>
          </a:p>
          <a:p>
            <a:r>
              <a:rPr lang="en-US" sz="2800" dirty="0"/>
              <a:t>Two primary objectives of social media marketers:</a:t>
            </a:r>
          </a:p>
          <a:p>
            <a:pPr lvl="1">
              <a:buClr>
                <a:schemeClr val="accent2"/>
              </a:buClr>
            </a:pPr>
            <a:r>
              <a:rPr lang="en-US" sz="2600" dirty="0"/>
              <a:t>Raise brand awareness</a:t>
            </a:r>
          </a:p>
          <a:p>
            <a:pPr lvl="1">
              <a:buClr>
                <a:schemeClr val="accent2"/>
              </a:buClr>
            </a:pPr>
            <a:r>
              <a:rPr lang="en-US" sz="2600" dirty="0"/>
              <a:t>Drive traffic to a website to increase sales</a:t>
            </a:r>
          </a:p>
          <a:p>
            <a:r>
              <a:rPr lang="en-US" sz="2800" dirty="0"/>
              <a:t>Global social media marketing spending nearly </a:t>
            </a:r>
            <a:br>
              <a:rPr lang="en-US" sz="2800" dirty="0"/>
            </a:br>
            <a:r>
              <a:rPr lang="en-US" sz="2800" dirty="0"/>
              <a:t>doubled from 2014 to 2016, increasing from </a:t>
            </a:r>
            <a:br>
              <a:rPr lang="en-US" sz="2800" dirty="0"/>
            </a:br>
            <a:r>
              <a:rPr lang="en-US" sz="2800" dirty="0"/>
              <a:t>$16 billion to $31 billion</a:t>
            </a:r>
          </a:p>
        </p:txBody>
      </p:sp>
      <p:sp>
        <p:nvSpPr>
          <p:cNvPr id="3" name="Title 2"/>
          <p:cNvSpPr>
            <a:spLocks noGrp="1"/>
          </p:cNvSpPr>
          <p:nvPr>
            <p:ph type="title"/>
          </p:nvPr>
        </p:nvSpPr>
        <p:spPr>
          <a:xfrm>
            <a:off x="762000" y="290459"/>
            <a:ext cx="8026400" cy="527837"/>
          </a:xfrm>
        </p:spPr>
        <p:txBody>
          <a:bodyPr/>
          <a:lstStyle/>
          <a:p>
            <a:r>
              <a:rPr lang="en-US" altLang="en-US" sz="4000" dirty="0"/>
              <a:t>Social Media Marketing, Part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19702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745145"/>
          </a:xfrm>
        </p:spPr>
        <p:txBody>
          <a:bodyPr/>
          <a:lstStyle/>
          <a:p>
            <a:r>
              <a:rPr lang="en-US" sz="2800" dirty="0"/>
              <a:t>Advantages of social media marketing:</a:t>
            </a:r>
          </a:p>
          <a:p>
            <a:pPr lvl="1">
              <a:buClr>
                <a:schemeClr val="accent2"/>
              </a:buClr>
            </a:pPr>
            <a:r>
              <a:rPr lang="en-US" sz="2600" dirty="0"/>
              <a:t>Marketers can create an opportunity to generate a conversation with viewers of the message</a:t>
            </a:r>
          </a:p>
          <a:p>
            <a:pPr lvl="1">
              <a:buClr>
                <a:schemeClr val="accent2"/>
              </a:buClr>
            </a:pPr>
            <a:r>
              <a:rPr lang="en-US" sz="2600" dirty="0"/>
              <a:t>Messages can be targeted to reach a specific </a:t>
            </a:r>
            <a:br>
              <a:rPr lang="en-US" sz="2600" dirty="0"/>
            </a:br>
            <a:r>
              <a:rPr lang="en-US" sz="2600" dirty="0"/>
              <a:t>demographic group</a:t>
            </a:r>
          </a:p>
          <a:p>
            <a:r>
              <a:rPr lang="en-US" sz="2700" dirty="0"/>
              <a:t>Organic media marketing: Employs tools tailored for a particular social media platform to build a social community and interact with it</a:t>
            </a:r>
            <a:endParaRPr lang="en-US" sz="2600" dirty="0"/>
          </a:p>
          <a:p>
            <a:r>
              <a:rPr lang="en-US" sz="2700" dirty="0"/>
              <a:t>Viral marketing: An approach to social media marketing that encourages individuals to pass along a marketing message to others</a:t>
            </a:r>
          </a:p>
        </p:txBody>
      </p:sp>
      <p:sp>
        <p:nvSpPr>
          <p:cNvPr id="3" name="Title 2"/>
          <p:cNvSpPr>
            <a:spLocks noGrp="1"/>
          </p:cNvSpPr>
          <p:nvPr>
            <p:ph type="title"/>
          </p:nvPr>
        </p:nvSpPr>
        <p:spPr>
          <a:xfrm>
            <a:off x="762000" y="290459"/>
            <a:ext cx="8026400" cy="527837"/>
          </a:xfrm>
        </p:spPr>
        <p:txBody>
          <a:bodyPr/>
          <a:lstStyle/>
          <a:p>
            <a:r>
              <a:rPr lang="en-US" altLang="en-US" sz="4000" dirty="0"/>
              <a:t>Social Media Marketing, Part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13695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682820"/>
          </a:xfrm>
        </p:spPr>
        <p:txBody>
          <a:bodyPr/>
          <a:lstStyle/>
          <a:p>
            <a:r>
              <a:rPr lang="en-US" sz="2800" dirty="0"/>
              <a:t>Paid media marketing: Involves paying a third party to broadcast an organization’s display ads or sponsored messages to social media users</a:t>
            </a:r>
          </a:p>
          <a:p>
            <a:pPr lvl="1">
              <a:buClr>
                <a:schemeClr val="accent2"/>
              </a:buClr>
            </a:pPr>
            <a:r>
              <a:rPr lang="en-US" sz="2600" dirty="0"/>
              <a:t>Can be targeted to specific demographic groups on </a:t>
            </a:r>
            <a:br>
              <a:rPr lang="en-US" sz="2600" dirty="0"/>
            </a:br>
            <a:r>
              <a:rPr lang="en-US" sz="2600" dirty="0"/>
              <a:t>a social network</a:t>
            </a:r>
          </a:p>
          <a:p>
            <a:r>
              <a:rPr lang="en-US" sz="2800" dirty="0"/>
              <a:t>Two common methods of charging for paid media: </a:t>
            </a:r>
          </a:p>
          <a:p>
            <a:pPr lvl="1">
              <a:buClr>
                <a:schemeClr val="accent2"/>
              </a:buClr>
            </a:pPr>
            <a:r>
              <a:rPr lang="en-US" sz="2600" b="1" dirty="0"/>
              <a:t>Cost per thousand impressions (CPM): </a:t>
            </a:r>
            <a:r>
              <a:rPr lang="en-US" sz="2600" dirty="0"/>
              <a:t>Billed at a flat rate per 1,000 impressions (a measure of the number of times an ad is displayed)—whether or not it  was clicked</a:t>
            </a:r>
          </a:p>
          <a:p>
            <a:pPr lvl="1">
              <a:buClr>
                <a:schemeClr val="accent2"/>
              </a:buClr>
            </a:pPr>
            <a:r>
              <a:rPr lang="en-US" sz="2600" b="1" dirty="0"/>
              <a:t>Cost per click</a:t>
            </a:r>
            <a:r>
              <a:rPr lang="en-US" sz="2600" dirty="0"/>
              <a:t>: Billed on a per click basis; no charge when </a:t>
            </a:r>
            <a:br>
              <a:rPr lang="en-US" sz="2600" dirty="0"/>
            </a:br>
            <a:r>
              <a:rPr lang="en-US" sz="2600" dirty="0"/>
              <a:t>an ad is displayed but not clicked on</a:t>
            </a:r>
          </a:p>
        </p:txBody>
      </p:sp>
      <p:sp>
        <p:nvSpPr>
          <p:cNvPr id="3" name="Title 2"/>
          <p:cNvSpPr>
            <a:spLocks noGrp="1"/>
          </p:cNvSpPr>
          <p:nvPr>
            <p:ph type="title"/>
          </p:nvPr>
        </p:nvSpPr>
        <p:spPr>
          <a:xfrm>
            <a:off x="762000" y="290459"/>
            <a:ext cx="8026400" cy="527837"/>
          </a:xfrm>
        </p:spPr>
        <p:txBody>
          <a:bodyPr/>
          <a:lstStyle/>
          <a:p>
            <a:r>
              <a:rPr lang="en-US" sz="4000" dirty="0"/>
              <a:t>Paid Media Marketing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0875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997744"/>
          </a:xfrm>
        </p:spPr>
        <p:txBody>
          <a:bodyPr/>
          <a:lstStyle/>
          <a:p>
            <a:r>
              <a:rPr lang="en-US" sz="2800" b="1" dirty="0"/>
              <a:t>Earned media: </a:t>
            </a:r>
            <a:r>
              <a:rPr lang="en-US" sz="2800" dirty="0"/>
              <a:t>Refers to  the media exposure an organization gets through press and social media mentions, positive online ratings and reviews, tweets and retweets, and reposts (or “shares”)</a:t>
            </a:r>
          </a:p>
          <a:p>
            <a:pPr lvl="1">
              <a:spcBef>
                <a:spcPts val="1200"/>
              </a:spcBef>
              <a:buClr>
                <a:schemeClr val="accent2"/>
              </a:buClr>
            </a:pPr>
            <a:r>
              <a:rPr lang="en-US" sz="2600" dirty="0"/>
              <a:t>Volume of earned media is a factor in determining how high an organization ranks in Google’s search engine</a:t>
            </a:r>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Earned Media</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325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562788"/>
          </a:xfrm>
        </p:spPr>
        <p:txBody>
          <a:bodyPr/>
          <a:lstStyle/>
          <a:p>
            <a:r>
              <a:rPr lang="en-US" sz="2800" dirty="0"/>
              <a:t>Employers look at the social media profiles of job candidates when hiring</a:t>
            </a:r>
          </a:p>
          <a:p>
            <a:r>
              <a:rPr lang="en-US" sz="2800" dirty="0"/>
              <a:t>Companies may reject candidates who post:</a:t>
            </a:r>
          </a:p>
          <a:p>
            <a:pPr lvl="1">
              <a:buClr>
                <a:schemeClr val="accent2"/>
              </a:buClr>
            </a:pPr>
            <a:r>
              <a:rPr lang="en-US" sz="2600" dirty="0"/>
              <a:t>Information about their drinking or drug use</a:t>
            </a:r>
          </a:p>
          <a:p>
            <a:pPr lvl="1">
              <a:buClr>
                <a:schemeClr val="accent2"/>
              </a:buClr>
            </a:pPr>
            <a:r>
              <a:rPr lang="en-US" sz="2600" dirty="0"/>
              <a:t>Provocative or inappropriate photos</a:t>
            </a:r>
          </a:p>
          <a:p>
            <a:pPr lvl="1">
              <a:buClr>
                <a:schemeClr val="accent2"/>
              </a:buClr>
            </a:pPr>
            <a:r>
              <a:rPr lang="en-US" sz="2600" dirty="0"/>
              <a:t>Discriminatory remarks relating to race, gender,</a:t>
            </a:r>
            <a:br>
              <a:rPr lang="en-US" sz="2600" dirty="0"/>
            </a:br>
            <a:r>
              <a:rPr lang="en-US" sz="2600" dirty="0"/>
              <a:t>or religion </a:t>
            </a:r>
          </a:p>
          <a:p>
            <a:pPr lvl="1">
              <a:buClr>
                <a:schemeClr val="accent2"/>
              </a:buClr>
            </a:pPr>
            <a:r>
              <a:rPr lang="en-US" sz="2600" dirty="0"/>
              <a:t>Confidential information</a:t>
            </a:r>
          </a:p>
          <a:p>
            <a:r>
              <a:rPr lang="en-US" sz="2800" dirty="0"/>
              <a:t>Job-seeking candidates should review their presence </a:t>
            </a:r>
            <a:br>
              <a:rPr lang="en-US" sz="2800" dirty="0"/>
            </a:br>
            <a:r>
              <a:rPr lang="en-US" sz="2800" dirty="0"/>
              <a:t>on social media</a:t>
            </a:r>
          </a:p>
        </p:txBody>
      </p:sp>
      <p:sp>
        <p:nvSpPr>
          <p:cNvPr id="3" name="Title 2"/>
          <p:cNvSpPr>
            <a:spLocks noGrp="1"/>
          </p:cNvSpPr>
          <p:nvPr>
            <p:ph type="title"/>
          </p:nvPr>
        </p:nvSpPr>
        <p:spPr>
          <a:xfrm>
            <a:off x="762000" y="290459"/>
            <a:ext cx="8026400" cy="527837"/>
          </a:xfrm>
        </p:spPr>
        <p:txBody>
          <a:bodyPr/>
          <a:lstStyle/>
          <a:p>
            <a:r>
              <a:rPr lang="en-US" sz="4000" dirty="0"/>
              <a:t>Social Media in the Hiring Process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9726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744102"/>
          </a:xfrm>
        </p:spPr>
        <p:txBody>
          <a:bodyPr/>
          <a:lstStyle/>
          <a:p>
            <a:r>
              <a:rPr lang="en-US" sz="2800" dirty="0"/>
              <a:t>Consumers use social networks to: </a:t>
            </a:r>
          </a:p>
          <a:p>
            <a:pPr lvl="1">
              <a:buClr>
                <a:schemeClr val="accent2"/>
              </a:buClr>
            </a:pPr>
            <a:r>
              <a:rPr lang="en-US" sz="2700" dirty="0"/>
              <a:t>Share their experiences, both good and bad, with others</a:t>
            </a:r>
          </a:p>
          <a:p>
            <a:pPr lvl="1">
              <a:buClr>
                <a:schemeClr val="accent2"/>
              </a:buClr>
            </a:pPr>
            <a:r>
              <a:rPr lang="en-US" sz="2700" dirty="0"/>
              <a:t>Seek advice on how to use products more effectively</a:t>
            </a:r>
          </a:p>
          <a:p>
            <a:r>
              <a:rPr lang="en-US" sz="2800" dirty="0"/>
              <a:t>Unless organizations monitor social media, customers may be left to resolve questions and issues on their own, which can lead to a loss of customers and future sales</a:t>
            </a:r>
          </a:p>
          <a:p>
            <a:pPr marL="0" indent="0">
              <a:buNone/>
            </a:pPr>
            <a:endParaRPr lang="en-US" sz="2800" dirty="0"/>
          </a:p>
          <a:p>
            <a:endParaRPr lang="en-US" dirty="0"/>
          </a:p>
        </p:txBody>
      </p:sp>
      <p:sp>
        <p:nvSpPr>
          <p:cNvPr id="3" name="Title 2"/>
          <p:cNvSpPr>
            <a:spLocks noGrp="1"/>
          </p:cNvSpPr>
          <p:nvPr>
            <p:ph type="title"/>
          </p:nvPr>
        </p:nvSpPr>
        <p:spPr>
          <a:xfrm>
            <a:off x="762000" y="343229"/>
            <a:ext cx="8026400" cy="422295"/>
          </a:xfrm>
        </p:spPr>
        <p:txBody>
          <a:bodyPr/>
          <a:lstStyle/>
          <a:p>
            <a:r>
              <a:rPr lang="en-US" sz="3200" dirty="0"/>
              <a:t>Improving Customer Service Using Social Media</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7826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668970"/>
          </a:xfrm>
        </p:spPr>
        <p:txBody>
          <a:bodyPr/>
          <a:lstStyle/>
          <a:p>
            <a:r>
              <a:rPr lang="en-US" sz="2800" b="1" dirty="0"/>
              <a:t>Social shopping platforms: </a:t>
            </a:r>
            <a:r>
              <a:rPr lang="en-US" sz="2800" dirty="0"/>
              <a:t>Combine two highly popular online activities—shopping and social networking</a:t>
            </a:r>
          </a:p>
          <a:p>
            <a:r>
              <a:rPr lang="en-US" sz="2800" dirty="0"/>
              <a:t>Shoppers and sellers share information and make recommendations </a:t>
            </a:r>
          </a:p>
          <a:p>
            <a:r>
              <a:rPr lang="en-US" sz="2800" dirty="0"/>
              <a:t>Revenue is generated through:</a:t>
            </a:r>
          </a:p>
          <a:p>
            <a:pPr lvl="1">
              <a:buClr>
                <a:schemeClr val="accent2"/>
              </a:buClr>
            </a:pPr>
            <a:r>
              <a:rPr lang="en-US" sz="2600" dirty="0"/>
              <a:t>Retailer advertising </a:t>
            </a:r>
          </a:p>
          <a:p>
            <a:pPr lvl="1">
              <a:buClr>
                <a:schemeClr val="accent2"/>
              </a:buClr>
            </a:pPr>
            <a:r>
              <a:rPr lang="en-US" sz="2600" dirty="0"/>
              <a:t>Sharing data about their members’ likes and dislikes </a:t>
            </a:r>
            <a:br>
              <a:rPr lang="en-US" sz="2600" dirty="0"/>
            </a:br>
            <a:r>
              <a:rPr lang="en-US" sz="2600" dirty="0"/>
              <a:t>with retailers </a:t>
            </a:r>
          </a:p>
          <a:p>
            <a:r>
              <a:rPr lang="en-US" sz="2800" dirty="0"/>
              <a:t>Popular social shopping platforms:</a:t>
            </a:r>
          </a:p>
          <a:p>
            <a:pPr lvl="1">
              <a:buClr>
                <a:schemeClr val="accent2"/>
              </a:buClr>
            </a:pPr>
            <a:r>
              <a:rPr lang="en-US" sz="2600" dirty="0"/>
              <a:t>Fancy, MyDeco, Pinterest, Polyvore, and Wanelo</a:t>
            </a:r>
          </a:p>
        </p:txBody>
      </p:sp>
      <p:sp>
        <p:nvSpPr>
          <p:cNvPr id="3" name="Title 2"/>
          <p:cNvSpPr>
            <a:spLocks noGrp="1"/>
          </p:cNvSpPr>
          <p:nvPr>
            <p:ph type="title"/>
          </p:nvPr>
        </p:nvSpPr>
        <p:spPr>
          <a:xfrm>
            <a:off x="762000" y="290458"/>
            <a:ext cx="8026400" cy="527837"/>
          </a:xfrm>
        </p:spPr>
        <p:txBody>
          <a:bodyPr/>
          <a:lstStyle/>
          <a:p>
            <a:r>
              <a:rPr lang="en-US" sz="4000" dirty="0"/>
              <a:t>Social Shopping Platforms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0463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649734"/>
          </a:xfrm>
        </p:spPr>
        <p:txBody>
          <a:bodyPr/>
          <a:lstStyle/>
          <a:p>
            <a:r>
              <a:rPr lang="en-US" altLang="en-US" sz="2700" b="1" dirty="0"/>
              <a:t>Cyberabuse: </a:t>
            </a:r>
            <a:r>
              <a:rPr lang="en-US" altLang="en-US" sz="2700" dirty="0"/>
              <a:t>Any form of mistreatment, both physical and mental, based on the use of an electronic communications device, that causes harm and distress to others </a:t>
            </a:r>
          </a:p>
          <a:p>
            <a:r>
              <a:rPr lang="en-US" altLang="en-US" sz="2700" b="1" dirty="0"/>
              <a:t>Cyberbullying: </a:t>
            </a:r>
            <a:r>
              <a:rPr lang="en-US" altLang="en-US" sz="2700" dirty="0"/>
              <a:t>A form of cyberabuse in which the abusive behavior is</a:t>
            </a:r>
            <a:r>
              <a:rPr lang="en-US" sz="2700" dirty="0"/>
              <a:t> humiliating, hurtful, intimidating, malicious, </a:t>
            </a:r>
            <a:br>
              <a:rPr lang="en-US" sz="2700" dirty="0"/>
            </a:br>
            <a:r>
              <a:rPr lang="en-US" sz="2700" dirty="0"/>
              <a:t>or otherwise offensive to an individual or group of individual and causes substantial emotional distress</a:t>
            </a:r>
            <a:endParaRPr lang="en-US" altLang="en-US" sz="2700" dirty="0"/>
          </a:p>
          <a:p>
            <a:r>
              <a:rPr lang="en-US" altLang="en-US" sz="2700" b="1" dirty="0"/>
              <a:t>Cyberstalking</a:t>
            </a:r>
            <a:r>
              <a:rPr lang="en-US" altLang="en-US" sz="2700" dirty="0"/>
              <a:t>: A form of cyberabuse that consists of a long-term pattern of unwanted, persistent pursuit and intrusive behavior that is directed by one person against another and that causes fear and distress in the victim </a:t>
            </a:r>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dirty="0"/>
              <a:t>Social Networking Ethical Issues</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81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197542"/>
            <a:ext cx="8636000" cy="4811317"/>
          </a:xfrm>
        </p:spPr>
        <p:txBody>
          <a:bodyPr/>
          <a:lstStyle/>
          <a:p>
            <a:r>
              <a:rPr lang="en-US" sz="2700" dirty="0"/>
              <a:t>Tips to help you avoid becoming a victim of cyberabuse:</a:t>
            </a:r>
          </a:p>
          <a:p>
            <a:pPr lvl="1">
              <a:buClr>
                <a:schemeClr val="accent2"/>
              </a:buClr>
            </a:pPr>
            <a:r>
              <a:rPr lang="en-US" sz="2600" dirty="0"/>
              <a:t>Use a strong, unique password for each social media site.</a:t>
            </a:r>
          </a:p>
          <a:p>
            <a:pPr lvl="1">
              <a:buClr>
                <a:schemeClr val="accent2"/>
              </a:buClr>
            </a:pPr>
            <a:r>
              <a:rPr lang="en-US" sz="2600" dirty="0"/>
              <a:t>If you break up with an intimate partner, reset the </a:t>
            </a:r>
            <a:br>
              <a:rPr lang="en-US" sz="2600" dirty="0"/>
            </a:br>
            <a:r>
              <a:rPr lang="en-US" sz="2600" dirty="0"/>
              <a:t>passwords on all of your accounts.</a:t>
            </a:r>
          </a:p>
          <a:p>
            <a:pPr lvl="1">
              <a:buClr>
                <a:schemeClr val="accent2"/>
              </a:buClr>
            </a:pPr>
            <a:r>
              <a:rPr lang="en-US" sz="2600" dirty="0"/>
              <a:t>Check your privacy settings.</a:t>
            </a:r>
          </a:p>
          <a:p>
            <a:pPr lvl="1">
              <a:buClr>
                <a:schemeClr val="accent2"/>
              </a:buClr>
            </a:pPr>
            <a:r>
              <a:rPr lang="en-US" sz="2600" dirty="0"/>
              <a:t>Ask friends not to post personal information about you.</a:t>
            </a:r>
          </a:p>
          <a:p>
            <a:pPr lvl="1">
              <a:buClr>
                <a:schemeClr val="accent2"/>
              </a:buClr>
            </a:pPr>
            <a:r>
              <a:rPr lang="en-US" sz="2600" dirty="0"/>
              <a:t>Don’t post photos of your home that indicate its location. </a:t>
            </a:r>
          </a:p>
          <a:p>
            <a:pPr lvl="1">
              <a:buClr>
                <a:schemeClr val="accent2"/>
              </a:buClr>
            </a:pPr>
            <a:r>
              <a:rPr lang="en-US" sz="2600" dirty="0"/>
              <a:t>Avoid posting information about your current or future locations/activities.</a:t>
            </a:r>
          </a:p>
          <a:p>
            <a:pPr lvl="1">
              <a:buClr>
                <a:schemeClr val="accent2"/>
              </a:buClr>
            </a:pPr>
            <a:r>
              <a:rPr lang="en-US" sz="2600" dirty="0"/>
              <a:t>Do not accept “friend requests” from strangers.</a:t>
            </a:r>
          </a:p>
          <a:p>
            <a:pPr lvl="1">
              <a:buClr>
                <a:schemeClr val="accent2"/>
              </a:buClr>
            </a:pPr>
            <a:r>
              <a:rPr lang="en-US" sz="2600" dirty="0"/>
              <a:t>Avoid online surveys that ask for personal information.</a:t>
            </a:r>
          </a:p>
        </p:txBody>
      </p:sp>
      <p:sp>
        <p:nvSpPr>
          <p:cNvPr id="3" name="Title 2"/>
          <p:cNvSpPr>
            <a:spLocks noGrp="1"/>
          </p:cNvSpPr>
          <p:nvPr>
            <p:ph type="title"/>
          </p:nvPr>
        </p:nvSpPr>
        <p:spPr>
          <a:xfrm>
            <a:off x="762000" y="290459"/>
            <a:ext cx="8026400" cy="527837"/>
          </a:xfrm>
        </p:spPr>
        <p:txBody>
          <a:bodyPr/>
          <a:lstStyle/>
          <a:p>
            <a:r>
              <a:rPr lang="en-US" sz="4000" dirty="0"/>
              <a:t>Tips for Avoiding Cyberabuse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1555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001095"/>
          </a:xfrm>
        </p:spPr>
        <p:txBody>
          <a:bodyPr/>
          <a:lstStyle/>
          <a:p>
            <a:r>
              <a:rPr lang="en-US" sz="2800" dirty="0"/>
              <a:t>The National Center for Victims of Crime</a:t>
            </a:r>
          </a:p>
          <a:p>
            <a:pPr lvl="2">
              <a:buClr>
                <a:schemeClr val="accent2"/>
              </a:buClr>
            </a:pPr>
            <a:r>
              <a:rPr lang="en-US" sz="2400" dirty="0"/>
              <a:t>Offers a detailed set of recommended actions to </a:t>
            </a:r>
            <a:br>
              <a:rPr lang="en-US" sz="2400" dirty="0"/>
            </a:br>
            <a:r>
              <a:rPr lang="en-US" sz="2400" dirty="0"/>
              <a:t>combat cyberstalking</a:t>
            </a:r>
          </a:p>
          <a:p>
            <a:r>
              <a:rPr lang="en-US" sz="2800" dirty="0"/>
              <a:t>Association for Progressive Communications</a:t>
            </a:r>
          </a:p>
          <a:p>
            <a:r>
              <a:rPr lang="en-US" sz="2800" dirty="0"/>
              <a:t>FightCyberstalking</a:t>
            </a:r>
          </a:p>
          <a:p>
            <a:r>
              <a:rPr lang="en-US" sz="2800" dirty="0"/>
              <a:t>Privacy Rights Clearinghouse</a:t>
            </a:r>
          </a:p>
          <a:p>
            <a:r>
              <a:rPr lang="en-US" sz="2800" dirty="0"/>
              <a:t>Working to Halt Online Abuse</a:t>
            </a:r>
          </a:p>
          <a:p>
            <a:r>
              <a:rPr lang="en-US" sz="2800" dirty="0"/>
              <a:t>Stalking Risk Profile</a:t>
            </a:r>
          </a:p>
        </p:txBody>
      </p:sp>
      <p:sp>
        <p:nvSpPr>
          <p:cNvPr id="3" name="Title 2"/>
          <p:cNvSpPr>
            <a:spLocks noGrp="1"/>
          </p:cNvSpPr>
          <p:nvPr>
            <p:ph type="title"/>
          </p:nvPr>
        </p:nvSpPr>
        <p:spPr>
          <a:xfrm>
            <a:off x="762000" y="135801"/>
            <a:ext cx="8026400" cy="837152"/>
          </a:xfrm>
        </p:spPr>
        <p:txBody>
          <a:bodyPr/>
          <a:lstStyle/>
          <a:p>
            <a:r>
              <a:rPr lang="en-US" sz="3200" dirty="0"/>
              <a:t>Organizations That Offer Information Resources Related to Cyberabuse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97565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219200"/>
            <a:ext cx="8415338" cy="5198346"/>
          </a:xfrm>
        </p:spPr>
        <p:txBody>
          <a:bodyPr/>
          <a:lstStyle/>
          <a:p>
            <a:r>
              <a:rPr lang="en-US" sz="2700" dirty="0"/>
              <a:t>Some social networking platforms, law enforcement, and the courts have been criticized for not protecting minors from sexual predators</a:t>
            </a:r>
          </a:p>
          <a:p>
            <a:r>
              <a:rPr lang="en-US" sz="2700" dirty="0"/>
              <a:t>The 1994 Jacob Wetterling Crimes Against Children and Sexually Violent Offender Registration Act set initial requirements for sex offender registration and notification</a:t>
            </a:r>
          </a:p>
          <a:p>
            <a:pPr lvl="1">
              <a:buClr>
                <a:schemeClr val="accent2"/>
              </a:buClr>
            </a:pPr>
            <a:r>
              <a:rPr lang="en-US" sz="2500" dirty="0"/>
              <a:t>Required sex offenders to register their residence with </a:t>
            </a:r>
            <a:br>
              <a:rPr lang="en-US" sz="2500" dirty="0"/>
            </a:br>
            <a:r>
              <a:rPr lang="en-US" sz="2500" dirty="0"/>
              <a:t>local law enforcement agencies</a:t>
            </a:r>
          </a:p>
          <a:p>
            <a:r>
              <a:rPr lang="en-US" sz="2700" dirty="0"/>
              <a:t>The Sex Offender Registration and Notification Provisions (SORNA) of the Adam Walsh Child Protection and Safety Act of 2006 set national standards that govern which sex offenders must register and what data must be captured</a:t>
            </a:r>
          </a:p>
        </p:txBody>
      </p:sp>
      <p:sp>
        <p:nvSpPr>
          <p:cNvPr id="3" name="Title 2"/>
          <p:cNvSpPr>
            <a:spLocks noGrp="1"/>
          </p:cNvSpPr>
          <p:nvPr>
            <p:ph type="title"/>
          </p:nvPr>
        </p:nvSpPr>
        <p:spPr>
          <a:xfrm>
            <a:off x="762000" y="290459"/>
            <a:ext cx="8026400" cy="527837"/>
          </a:xfrm>
        </p:spPr>
        <p:txBody>
          <a:bodyPr/>
          <a:lstStyle/>
          <a:p>
            <a:r>
              <a:rPr lang="en-US" sz="4000" dirty="0"/>
              <a:t>Encounters with Sexual Predators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3975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562018"/>
          </a:xfrm>
        </p:spPr>
        <p:txBody>
          <a:bodyPr/>
          <a:lstStyle/>
          <a:p>
            <a:r>
              <a:rPr lang="en-US" altLang="en-US" sz="2700" dirty="0"/>
              <a:t>Most social media sites have terms of use agreements and policies that give them the right to delete inappropriate material and terminate user accounts</a:t>
            </a:r>
          </a:p>
          <a:p>
            <a:pPr lvl="1">
              <a:buClr>
                <a:schemeClr val="accent2"/>
              </a:buClr>
            </a:pPr>
            <a:r>
              <a:rPr lang="en-US" altLang="en-US" sz="2500" dirty="0"/>
              <a:t>Limits on content that is sexually explicit, defamatory, </a:t>
            </a:r>
            <a:br>
              <a:rPr lang="en-US" altLang="en-US" sz="2500" dirty="0"/>
            </a:br>
            <a:r>
              <a:rPr lang="en-US" altLang="en-US" sz="2500" dirty="0"/>
              <a:t>hateful, violent, or that promotes illegal activity</a:t>
            </a:r>
          </a:p>
          <a:p>
            <a:pPr lvl="1">
              <a:buClr>
                <a:schemeClr val="accent2"/>
              </a:buClr>
            </a:pPr>
            <a:r>
              <a:rPr lang="en-US" altLang="en-US" sz="2500" dirty="0"/>
              <a:t>Revenge porn: Intimate photos/videos posted online without </a:t>
            </a:r>
            <a:br>
              <a:rPr lang="en-US" altLang="en-US" sz="2500" dirty="0"/>
            </a:br>
            <a:r>
              <a:rPr lang="en-US" altLang="en-US" sz="2500" dirty="0"/>
              <a:t>the permission of the person shown; often uploaded by </a:t>
            </a:r>
            <a:br>
              <a:rPr lang="en-US" altLang="en-US" sz="2500" dirty="0"/>
            </a:br>
            <a:r>
              <a:rPr lang="en-US" altLang="en-US" sz="2500" dirty="0"/>
              <a:t>ex-partners with an intent to shame and/or harass their former partner</a:t>
            </a:r>
          </a:p>
          <a:p>
            <a:r>
              <a:rPr lang="en-US" altLang="en-US" sz="2700" dirty="0"/>
              <a:t>Most sites do not have sufficient resources to review all material posted.</a:t>
            </a:r>
            <a:endParaRPr lang="en-US" dirty="0"/>
          </a:p>
        </p:txBody>
      </p:sp>
      <p:sp>
        <p:nvSpPr>
          <p:cNvPr id="3" name="Title 2"/>
          <p:cNvSpPr>
            <a:spLocks noGrp="1"/>
          </p:cNvSpPr>
          <p:nvPr>
            <p:ph type="title"/>
          </p:nvPr>
        </p:nvSpPr>
        <p:spPr>
          <a:xfrm>
            <a:off x="762000" y="290458"/>
            <a:ext cx="8026400" cy="527837"/>
          </a:xfrm>
        </p:spPr>
        <p:txBody>
          <a:bodyPr/>
          <a:lstStyle/>
          <a:p>
            <a:r>
              <a:rPr lang="en-US" sz="4000" dirty="0"/>
              <a:t>Uploading of Inappropriate Material</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867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438138"/>
          </a:xfrm>
        </p:spPr>
        <p:txBody>
          <a:bodyPr/>
          <a:lstStyle/>
          <a:p>
            <a:r>
              <a:rPr lang="en-US" sz="2800" dirty="0"/>
              <a:t>The First Amendment of the U.S. Constitution protects the right of freedom of expression from government interference but does not prohibit free speech interference by private employers.</a:t>
            </a:r>
          </a:p>
          <a:p>
            <a:pPr lvl="1">
              <a:buClr>
                <a:schemeClr val="accent2"/>
              </a:buClr>
            </a:pPr>
            <a:r>
              <a:rPr lang="en-US" sz="2600" dirty="0"/>
              <a:t>Approx. 18% of private employers surveyed have </a:t>
            </a:r>
            <a:br>
              <a:rPr lang="en-US" sz="2600" dirty="0"/>
            </a:br>
            <a:r>
              <a:rPr lang="en-US" sz="2600" dirty="0"/>
              <a:t>dismissed employees because of a social media post</a:t>
            </a:r>
          </a:p>
          <a:p>
            <a:r>
              <a:rPr lang="en-US" sz="2800" dirty="0"/>
              <a:t>Organizations should put in place a social media policy </a:t>
            </a:r>
            <a:br>
              <a:rPr lang="en-US" sz="2800" dirty="0"/>
            </a:br>
            <a:r>
              <a:rPr lang="en-US" sz="2800" dirty="0"/>
              <a:t>to avoid legal issues and set clear guidelines and expectations for employees.</a:t>
            </a:r>
          </a:p>
          <a:p>
            <a:endParaRPr lang="en-US" dirty="0"/>
          </a:p>
        </p:txBody>
      </p:sp>
      <p:sp>
        <p:nvSpPr>
          <p:cNvPr id="3" name="Title 2"/>
          <p:cNvSpPr>
            <a:spLocks noGrp="1"/>
          </p:cNvSpPr>
          <p:nvPr>
            <p:ph type="title"/>
          </p:nvPr>
        </p:nvSpPr>
        <p:spPr>
          <a:xfrm>
            <a:off x="762000" y="81393"/>
            <a:ext cx="8026400" cy="945965"/>
          </a:xfrm>
        </p:spPr>
        <p:txBody>
          <a:bodyPr/>
          <a:lstStyle/>
          <a:p>
            <a:r>
              <a:rPr lang="en-US" sz="3600" dirty="0"/>
              <a:t>Employee Participation on </a:t>
            </a:r>
            <a:br>
              <a:rPr lang="en-US" sz="3600" dirty="0"/>
            </a:br>
            <a:r>
              <a:rPr lang="en-US" sz="3600" dirty="0"/>
              <a:t>Social Media Networks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6626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609945"/>
          </a:xfrm>
        </p:spPr>
        <p:txBody>
          <a:bodyPr/>
          <a:lstStyle/>
          <a:p>
            <a:r>
              <a:rPr lang="en-US" sz="2800" dirty="0"/>
              <a:t>The risk of being involved in an accident is eight times higher if you are texting or using social media while driving.</a:t>
            </a:r>
          </a:p>
          <a:p>
            <a:r>
              <a:rPr lang="en-US" sz="2800" dirty="0"/>
              <a:t>Social media platforms enable a degree of self-image manipulation both in terms of physical appearance </a:t>
            </a:r>
            <a:br>
              <a:rPr lang="en-US" sz="2800" dirty="0"/>
            </a:br>
            <a:r>
              <a:rPr lang="en-US" sz="2800" dirty="0"/>
              <a:t>and overall quality of life.</a:t>
            </a:r>
          </a:p>
        </p:txBody>
      </p:sp>
      <p:sp>
        <p:nvSpPr>
          <p:cNvPr id="3" name="Title 2"/>
          <p:cNvSpPr>
            <a:spLocks noGrp="1"/>
          </p:cNvSpPr>
          <p:nvPr>
            <p:ph type="title"/>
          </p:nvPr>
        </p:nvSpPr>
        <p:spPr>
          <a:xfrm>
            <a:off x="762000" y="290459"/>
            <a:ext cx="8026400" cy="527837"/>
          </a:xfrm>
        </p:spPr>
        <p:txBody>
          <a:bodyPr/>
          <a:lstStyle/>
          <a:p>
            <a:r>
              <a:rPr lang="en-US" sz="4000" dirty="0"/>
              <a:t>Additional Social Media Issues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5485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169275" cy="4876800"/>
          </a:xfrm>
        </p:spPr>
        <p:txBody>
          <a:bodyPr/>
          <a:lstStyle/>
          <a:p>
            <a:r>
              <a:rPr lang="en-US" sz="2700" b="1" dirty="0"/>
              <a:t>How do individuals use social networks, and what are some practical business uses of social networking and other social media tools? </a:t>
            </a:r>
          </a:p>
          <a:p>
            <a:pPr lvl="1">
              <a:spcBef>
                <a:spcPts val="800"/>
              </a:spcBef>
              <a:buClr>
                <a:schemeClr val="accent2"/>
              </a:buClr>
            </a:pPr>
            <a:r>
              <a:rPr lang="en-US" sz="2600" dirty="0"/>
              <a:t>Social media: Web-based communication tools that enable people to interact in online communities by sharing ideas,  information, images, audio, and video</a:t>
            </a:r>
          </a:p>
          <a:p>
            <a:pPr lvl="1">
              <a:spcBef>
                <a:spcPts val="800"/>
              </a:spcBef>
              <a:buClr>
                <a:schemeClr val="accent2"/>
              </a:buClr>
            </a:pPr>
            <a:r>
              <a:rPr lang="en-US" sz="2600" dirty="0"/>
              <a:t>Social networking platform: Creates an online community of Internet users that enables members to break down barriers created by time, distance, and cultural differences</a:t>
            </a:r>
          </a:p>
          <a:p>
            <a:pPr lvl="1">
              <a:spcBef>
                <a:spcPts val="800"/>
              </a:spcBef>
              <a:buClr>
                <a:schemeClr val="accent2"/>
              </a:buClr>
            </a:pPr>
            <a:r>
              <a:rPr lang="en-US" sz="2600" dirty="0"/>
              <a:t>The number of Internet users worldwide is approaching </a:t>
            </a:r>
            <a:br>
              <a:rPr lang="en-US" sz="2600" dirty="0"/>
            </a:br>
            <a:r>
              <a:rPr lang="en-US" sz="2600" dirty="0"/>
              <a:t>4 billion.</a:t>
            </a:r>
          </a:p>
        </p:txBody>
      </p:sp>
      <p:sp>
        <p:nvSpPr>
          <p:cNvPr id="3" name="Title 2"/>
          <p:cNvSpPr>
            <a:spLocks noGrp="1"/>
          </p:cNvSpPr>
          <p:nvPr>
            <p:ph type="title"/>
          </p:nvPr>
        </p:nvSpPr>
        <p:spPr>
          <a:xfrm>
            <a:off x="762000" y="290459"/>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263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21200"/>
            <a:ext cx="8415338" cy="5432000"/>
          </a:xfrm>
        </p:spPr>
        <p:txBody>
          <a:bodyPr/>
          <a:lstStyle/>
          <a:p>
            <a:pPr>
              <a:spcBef>
                <a:spcPts val="600"/>
              </a:spcBef>
            </a:pPr>
            <a:r>
              <a:rPr lang="en-US" sz="2700" b="1" dirty="0"/>
              <a:t>How do individuals use social networks, and what are some practical business uses of social networking and other social media tools? </a:t>
            </a:r>
          </a:p>
          <a:p>
            <a:pPr lvl="1">
              <a:spcBef>
                <a:spcPts val="300"/>
              </a:spcBef>
              <a:buClr>
                <a:schemeClr val="accent2"/>
              </a:buClr>
            </a:pPr>
            <a:r>
              <a:rPr lang="en-US" sz="2600" dirty="0"/>
              <a:t>Organizations use social media to advertise, identify job candidates, improve customer service, connect with suppliers, and sell products and services.</a:t>
            </a:r>
          </a:p>
          <a:p>
            <a:pPr lvl="1">
              <a:spcBef>
                <a:spcPts val="300"/>
              </a:spcBef>
              <a:buClr>
                <a:schemeClr val="accent2"/>
              </a:buClr>
            </a:pPr>
            <a:r>
              <a:rPr lang="en-US" sz="2600" dirty="0"/>
              <a:t>Social media marketing: The use of social media to </a:t>
            </a:r>
            <a:br>
              <a:rPr lang="en-US" sz="2600" dirty="0"/>
            </a:br>
            <a:r>
              <a:rPr lang="en-US" sz="2600" dirty="0"/>
              <a:t>promote products and services</a:t>
            </a:r>
          </a:p>
          <a:p>
            <a:pPr lvl="2">
              <a:spcBef>
                <a:spcPts val="200"/>
              </a:spcBef>
            </a:pPr>
            <a:r>
              <a:rPr lang="en-US" sz="2400" dirty="0"/>
              <a:t>Advantages: </a:t>
            </a:r>
          </a:p>
          <a:p>
            <a:pPr lvl="3">
              <a:spcBef>
                <a:spcPts val="200"/>
              </a:spcBef>
            </a:pPr>
            <a:r>
              <a:rPr lang="en-US" sz="2200" dirty="0"/>
              <a:t>Create a conversation with viewers of the message</a:t>
            </a:r>
          </a:p>
          <a:p>
            <a:pPr lvl="3">
              <a:spcBef>
                <a:spcPts val="200"/>
              </a:spcBef>
            </a:pPr>
            <a:r>
              <a:rPr lang="en-US" sz="2200" dirty="0"/>
              <a:t>Target ads at specific demographic groups</a:t>
            </a:r>
          </a:p>
          <a:p>
            <a:pPr lvl="2">
              <a:spcBef>
                <a:spcPts val="200"/>
              </a:spcBef>
            </a:pPr>
            <a:r>
              <a:rPr lang="en-US" sz="2400" dirty="0"/>
              <a:t>Objectives: </a:t>
            </a:r>
          </a:p>
          <a:p>
            <a:pPr lvl="3">
              <a:spcBef>
                <a:spcPts val="200"/>
              </a:spcBef>
            </a:pPr>
            <a:r>
              <a:rPr lang="en-US" sz="2200" dirty="0"/>
              <a:t>Raise brand awareness</a:t>
            </a:r>
          </a:p>
          <a:p>
            <a:pPr lvl="3">
              <a:spcBef>
                <a:spcPts val="200"/>
              </a:spcBef>
            </a:pPr>
            <a:r>
              <a:rPr lang="en-US" sz="2200" dirty="0"/>
              <a:t>Drive traffic to a website to increase sales</a:t>
            </a:r>
          </a:p>
        </p:txBody>
      </p:sp>
      <p:sp>
        <p:nvSpPr>
          <p:cNvPr id="3" name="Title 2"/>
          <p:cNvSpPr>
            <a:spLocks noGrp="1"/>
          </p:cNvSpPr>
          <p:nvPr>
            <p:ph type="title"/>
          </p:nvPr>
        </p:nvSpPr>
        <p:spPr>
          <a:xfrm>
            <a:off x="762000" y="290459"/>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7097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292987"/>
          </a:xfrm>
        </p:spPr>
        <p:txBody>
          <a:bodyPr/>
          <a:lstStyle/>
          <a:p>
            <a:r>
              <a:rPr lang="en-US" sz="2700" b="1" dirty="0"/>
              <a:t>How do individuals use social networks, and what are some practical business uses of social networking and other social media tools? </a:t>
            </a:r>
          </a:p>
          <a:p>
            <a:pPr lvl="1">
              <a:spcBef>
                <a:spcPts val="300"/>
              </a:spcBef>
              <a:buClr>
                <a:schemeClr val="accent2"/>
              </a:buClr>
            </a:pPr>
            <a:r>
              <a:rPr lang="en-US" sz="2600" dirty="0"/>
              <a:t>Organic media marketing: The use of tools tailored for a particular social media platform to build a social community and interact with it </a:t>
            </a:r>
          </a:p>
          <a:p>
            <a:pPr lvl="1">
              <a:spcBef>
                <a:spcPts val="300"/>
              </a:spcBef>
              <a:buClr>
                <a:schemeClr val="accent2"/>
              </a:buClr>
            </a:pPr>
            <a:r>
              <a:rPr lang="en-US" sz="2600" dirty="0"/>
              <a:t>Paid media marketing: Paying a third party to broadcast </a:t>
            </a:r>
            <a:br>
              <a:rPr lang="en-US" sz="2600" dirty="0"/>
            </a:br>
            <a:r>
              <a:rPr lang="en-US" sz="2600" dirty="0"/>
              <a:t>an organization’s display ads or sponsored messages to social media users </a:t>
            </a:r>
          </a:p>
          <a:p>
            <a:pPr lvl="2"/>
            <a:r>
              <a:rPr lang="en-US" sz="2400" dirty="0"/>
              <a:t>Cost per thousand impressions and cost per click</a:t>
            </a:r>
          </a:p>
          <a:p>
            <a:pPr lvl="1">
              <a:spcBef>
                <a:spcPts val="300"/>
              </a:spcBef>
              <a:buClr>
                <a:schemeClr val="accent2"/>
              </a:buClr>
            </a:pPr>
            <a:r>
              <a:rPr lang="en-US" sz="2600" dirty="0"/>
              <a:t>Earned media: Media exposure gained through press and social media mentions, positive reviews, tweets and retweets, and reposts (or “shares”)</a:t>
            </a:r>
          </a:p>
        </p:txBody>
      </p:sp>
      <p:sp>
        <p:nvSpPr>
          <p:cNvPr id="3" name="Title 2"/>
          <p:cNvSpPr>
            <a:spLocks noGrp="1"/>
          </p:cNvSpPr>
          <p:nvPr>
            <p:ph type="title"/>
          </p:nvPr>
        </p:nvSpPr>
        <p:spPr>
          <a:xfrm>
            <a:off x="762000" y="290459"/>
            <a:ext cx="8026400" cy="527837"/>
          </a:xfrm>
        </p:spPr>
        <p:txBody>
          <a:bodyPr/>
          <a:lstStyle/>
          <a:p>
            <a:r>
              <a:rPr lang="en-US" sz="4000" dirty="0"/>
              <a:t>Summary,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9804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139099"/>
          </a:xfrm>
        </p:spPr>
        <p:txBody>
          <a:bodyPr/>
          <a:lstStyle/>
          <a:p>
            <a:r>
              <a:rPr lang="en-US" sz="2700" b="1" dirty="0"/>
              <a:t>How do individuals use social networks, and what are some practical business uses of social networking and other social media tools? </a:t>
            </a:r>
          </a:p>
          <a:p>
            <a:pPr lvl="1">
              <a:spcBef>
                <a:spcPts val="300"/>
              </a:spcBef>
              <a:buClr>
                <a:schemeClr val="accent2"/>
              </a:buClr>
            </a:pPr>
            <a:r>
              <a:rPr lang="en-US" sz="2600" dirty="0"/>
              <a:t>Viral marketing: An approach to social media marketing that encourages individuals to pass along a marketing message </a:t>
            </a:r>
          </a:p>
          <a:p>
            <a:pPr lvl="1">
              <a:spcBef>
                <a:spcPts val="300"/>
              </a:spcBef>
              <a:buClr>
                <a:schemeClr val="accent2"/>
              </a:buClr>
            </a:pPr>
            <a:r>
              <a:rPr lang="en-US" sz="2600" dirty="0"/>
              <a:t>Approx. 60% of employers have used social media to research job candidates</a:t>
            </a:r>
          </a:p>
          <a:p>
            <a:pPr lvl="1">
              <a:spcBef>
                <a:spcPts val="300"/>
              </a:spcBef>
              <a:buClr>
                <a:schemeClr val="accent2"/>
              </a:buClr>
            </a:pPr>
            <a:r>
              <a:rPr lang="en-US" sz="2600" dirty="0"/>
              <a:t>Employers can legally reject a job applicant based on the person’s social media activity as long as the company does not violate discrimination laws.</a:t>
            </a:r>
          </a:p>
          <a:p>
            <a:pPr lvl="1">
              <a:spcBef>
                <a:spcPts val="300"/>
              </a:spcBef>
              <a:buClr>
                <a:schemeClr val="accent2"/>
              </a:buClr>
            </a:pPr>
            <a:r>
              <a:rPr lang="en-US" sz="2600" dirty="0"/>
              <a:t>Job seeking candidates should review their presence on social media.</a:t>
            </a:r>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69066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426596"/>
          </a:xfrm>
        </p:spPr>
        <p:txBody>
          <a:bodyPr/>
          <a:lstStyle/>
          <a:p>
            <a:r>
              <a:rPr lang="en-US" sz="2700" b="1" dirty="0"/>
              <a:t>How do individuals use social networks, and what are some practical business uses of social networking and other social media tools? </a:t>
            </a:r>
          </a:p>
          <a:p>
            <a:pPr lvl="1">
              <a:buClr>
                <a:schemeClr val="accent2"/>
              </a:buClr>
            </a:pPr>
            <a:r>
              <a:rPr lang="en-US" sz="2600" dirty="0"/>
              <a:t>Consumers use social networks to share their experiences, both good and bad, with others.</a:t>
            </a:r>
          </a:p>
          <a:p>
            <a:pPr lvl="1">
              <a:buClr>
                <a:schemeClr val="accent2"/>
              </a:buClr>
            </a:pPr>
            <a:r>
              <a:rPr lang="en-US" sz="2600" dirty="0"/>
              <a:t>Many organizations actively monitor social media to improve customer service, retain customers, and </a:t>
            </a:r>
            <a:br>
              <a:rPr lang="en-US" sz="2600" dirty="0"/>
            </a:br>
            <a:r>
              <a:rPr lang="en-US" sz="2600" dirty="0"/>
              <a:t>increase sales.</a:t>
            </a:r>
          </a:p>
          <a:p>
            <a:pPr lvl="1">
              <a:buClr>
                <a:schemeClr val="accent2"/>
              </a:buClr>
            </a:pPr>
            <a:r>
              <a:rPr lang="en-US" sz="2600" dirty="0"/>
              <a:t>Social shopping platform: Brings shoppers and sellers together; members share information and make recommendations while shopping online</a:t>
            </a:r>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0276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5096780"/>
          </a:xfrm>
        </p:spPr>
        <p:txBody>
          <a:bodyPr/>
          <a:lstStyle/>
          <a:p>
            <a:r>
              <a:rPr lang="en-US" sz="2700" b="1" dirty="0"/>
              <a:t>What are some of the key ethical issues associated with the use of social networks and other social media?</a:t>
            </a:r>
          </a:p>
          <a:p>
            <a:pPr lvl="1">
              <a:buClr>
                <a:schemeClr val="accent2"/>
              </a:buClr>
            </a:pPr>
            <a:r>
              <a:rPr lang="en-US" sz="2600" dirty="0"/>
              <a:t>Cyberabuse: Any form of mistreatment that uses an electronic communications device to cause harm and distress to others</a:t>
            </a:r>
          </a:p>
          <a:p>
            <a:pPr lvl="2"/>
            <a:r>
              <a:rPr lang="en-US" sz="2400" dirty="0"/>
              <a:t>Cyberharassment: Abusive behavior that is humiliating, intimidating, hurtful, malicious, or otherwise offensive to an individual or group of individuals</a:t>
            </a:r>
          </a:p>
          <a:p>
            <a:pPr lvl="2"/>
            <a:r>
              <a:rPr lang="en-US" sz="2400" dirty="0"/>
              <a:t>Cyberstalking: A long-term pattern of unwanted persistent pursuit and intrusive behavior directed by one person against another that causes fear and distress in the victim</a:t>
            </a:r>
          </a:p>
          <a:p>
            <a:pPr lvl="1">
              <a:buClr>
                <a:schemeClr val="accent2"/>
              </a:buClr>
            </a:pPr>
            <a:r>
              <a:rPr lang="en-US" sz="2600" dirty="0"/>
              <a:t>Nearly three-quarters of U.S. Internet users have witnessed cyberabuse and almost half have personally experienced it</a:t>
            </a:r>
            <a:r>
              <a:rPr lang="en-US" sz="2500" dirty="0"/>
              <a:t>.</a:t>
            </a:r>
          </a:p>
        </p:txBody>
      </p:sp>
      <p:sp>
        <p:nvSpPr>
          <p:cNvPr id="3" name="Title 2"/>
          <p:cNvSpPr>
            <a:spLocks noGrp="1"/>
          </p:cNvSpPr>
          <p:nvPr>
            <p:ph type="title"/>
          </p:nvPr>
        </p:nvSpPr>
        <p:spPr>
          <a:xfrm>
            <a:off x="762000" y="290459"/>
            <a:ext cx="8026400" cy="527837"/>
          </a:xfrm>
        </p:spPr>
        <p:txBody>
          <a:bodyPr/>
          <a:lstStyle/>
          <a:p>
            <a:r>
              <a:rPr lang="en-US" sz="4000" dirty="0"/>
              <a:t>Summary,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26514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4896725"/>
          </a:xfrm>
        </p:spPr>
        <p:txBody>
          <a:bodyPr/>
          <a:lstStyle/>
          <a:p>
            <a:r>
              <a:rPr lang="en-US" sz="2700" b="1" dirty="0"/>
              <a:t>What are some of the key ethical issues associated with the use of social networks and other social media?</a:t>
            </a:r>
          </a:p>
          <a:p>
            <a:pPr lvl="1">
              <a:spcBef>
                <a:spcPts val="1200"/>
              </a:spcBef>
              <a:buClr>
                <a:schemeClr val="accent2"/>
              </a:buClr>
            </a:pPr>
            <a:r>
              <a:rPr lang="en-US" sz="2600" dirty="0"/>
              <a:t>The 1994 Jacob Wetterling Crimes Against Children and Sexually Violent Offender Registration Act: </a:t>
            </a:r>
          </a:p>
          <a:p>
            <a:pPr lvl="2"/>
            <a:r>
              <a:rPr lang="en-US" sz="2400" dirty="0"/>
              <a:t>Set requirements for sex offender registration/notification</a:t>
            </a:r>
          </a:p>
          <a:p>
            <a:pPr lvl="2"/>
            <a:r>
              <a:rPr lang="en-US" sz="2400" dirty="0"/>
              <a:t>Required states to create websites with information on </a:t>
            </a:r>
            <a:br>
              <a:rPr lang="en-US" sz="2400" dirty="0"/>
            </a:br>
            <a:r>
              <a:rPr lang="en-US" sz="2400" dirty="0"/>
              <a:t>sex offenders residing in the state</a:t>
            </a:r>
          </a:p>
          <a:p>
            <a:pPr lvl="1">
              <a:buClr>
                <a:schemeClr val="accent2"/>
              </a:buClr>
            </a:pPr>
            <a:r>
              <a:rPr lang="en-US" sz="2600" dirty="0"/>
              <a:t>The Sex Offender Registration and Notification Provisions (SORNA) of the Adam Walsh Child Protection and Safety </a:t>
            </a:r>
            <a:br>
              <a:rPr lang="en-US" sz="2600" dirty="0"/>
            </a:br>
            <a:r>
              <a:rPr lang="en-US" sz="2600" dirty="0"/>
              <a:t>Act of 2006: </a:t>
            </a:r>
          </a:p>
          <a:p>
            <a:pPr lvl="2"/>
            <a:r>
              <a:rPr lang="en-US" sz="2400" dirty="0"/>
              <a:t>Set national standards that govern which sex offenders must register and what data must be captured</a:t>
            </a:r>
          </a:p>
        </p:txBody>
      </p:sp>
      <p:sp>
        <p:nvSpPr>
          <p:cNvPr id="3" name="Title 2"/>
          <p:cNvSpPr>
            <a:spLocks noGrp="1"/>
          </p:cNvSpPr>
          <p:nvPr>
            <p:ph type="title"/>
          </p:nvPr>
        </p:nvSpPr>
        <p:spPr>
          <a:xfrm>
            <a:off x="762000" y="290459"/>
            <a:ext cx="8026400" cy="527837"/>
          </a:xfrm>
        </p:spPr>
        <p:txBody>
          <a:bodyPr/>
          <a:lstStyle/>
          <a:p>
            <a:r>
              <a:rPr lang="en-US" sz="4000" dirty="0"/>
              <a:t>Summary, Part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86116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4291944"/>
          </a:xfrm>
        </p:spPr>
        <p:txBody>
          <a:bodyPr/>
          <a:lstStyle/>
          <a:p>
            <a:r>
              <a:rPr lang="en-US" sz="2700" b="1" dirty="0"/>
              <a:t>What are some of the key ethical issues associated with the use of social networks and other social media?</a:t>
            </a:r>
          </a:p>
          <a:p>
            <a:pPr lvl="1">
              <a:spcBef>
                <a:spcPts val="1200"/>
              </a:spcBef>
              <a:buClr>
                <a:schemeClr val="accent2"/>
              </a:buClr>
            </a:pPr>
            <a:r>
              <a:rPr lang="en-US" sz="2600" dirty="0"/>
              <a:t>Most social networking platforms have terms of use agreements and policies that state that the site has the </a:t>
            </a:r>
            <a:br>
              <a:rPr lang="en-US" sz="2600" dirty="0"/>
            </a:br>
            <a:r>
              <a:rPr lang="en-US" sz="2600" dirty="0"/>
              <a:t>right to delete inappropriate material and terminate user accounts. </a:t>
            </a:r>
          </a:p>
          <a:p>
            <a:pPr lvl="1">
              <a:spcBef>
                <a:spcPts val="1200"/>
              </a:spcBef>
              <a:buClr>
                <a:schemeClr val="accent2"/>
              </a:buClr>
            </a:pPr>
            <a:r>
              <a:rPr lang="en-US" sz="2600" dirty="0"/>
              <a:t>Inappropriate material posted online includes intimate photos/videos of people—posted without their permission</a:t>
            </a:r>
          </a:p>
          <a:p>
            <a:pPr lvl="2">
              <a:spcBef>
                <a:spcPts val="1200"/>
              </a:spcBef>
            </a:pPr>
            <a:r>
              <a:rPr lang="en-US" sz="2400" dirty="0"/>
              <a:t>Such posts are often referred to as “revenge porn” and are used to shame, embarrass, and/or harass a former partner</a:t>
            </a:r>
            <a:endParaRPr lang="en-US" sz="2200" dirty="0"/>
          </a:p>
        </p:txBody>
      </p:sp>
      <p:sp>
        <p:nvSpPr>
          <p:cNvPr id="3" name="Title 2"/>
          <p:cNvSpPr>
            <a:spLocks noGrp="1"/>
          </p:cNvSpPr>
          <p:nvPr>
            <p:ph type="title"/>
          </p:nvPr>
        </p:nvSpPr>
        <p:spPr>
          <a:xfrm>
            <a:off x="762000" y="290459"/>
            <a:ext cx="8026400" cy="527837"/>
          </a:xfrm>
        </p:spPr>
        <p:txBody>
          <a:bodyPr/>
          <a:lstStyle/>
          <a:p>
            <a:r>
              <a:rPr lang="en-US" sz="4000" dirty="0"/>
              <a:t>Summary, Part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336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4672048"/>
          </a:xfrm>
        </p:spPr>
        <p:txBody>
          <a:bodyPr/>
          <a:lstStyle/>
          <a:p>
            <a:r>
              <a:rPr lang="en-US" sz="2700" b="1" dirty="0"/>
              <a:t>What are some of the key ethical issues associated with the use of social networks and other social media?</a:t>
            </a:r>
          </a:p>
          <a:p>
            <a:pPr lvl="1">
              <a:spcBef>
                <a:spcPts val="1200"/>
              </a:spcBef>
              <a:buClr>
                <a:schemeClr val="accent2"/>
              </a:buClr>
            </a:pPr>
            <a:r>
              <a:rPr lang="en-US" sz="2600" dirty="0"/>
              <a:t>The First Amendment protects the right of freedom of expression from government interference but does not prohibit free speech interference by private employers.</a:t>
            </a:r>
          </a:p>
          <a:p>
            <a:pPr lvl="1">
              <a:spcBef>
                <a:spcPts val="1200"/>
              </a:spcBef>
              <a:buClr>
                <a:schemeClr val="accent2"/>
              </a:buClr>
            </a:pPr>
            <a:r>
              <a:rPr lang="en-US" sz="2600" dirty="0"/>
              <a:t>Organizations should put in place a social media policy to avoid legal issues and set clear expectations for employees.</a:t>
            </a:r>
          </a:p>
          <a:p>
            <a:pPr lvl="1">
              <a:spcBef>
                <a:spcPts val="1200"/>
              </a:spcBef>
              <a:buClr>
                <a:schemeClr val="accent2"/>
              </a:buClr>
            </a:pPr>
            <a:r>
              <a:rPr lang="en-US" sz="2600" dirty="0"/>
              <a:t>Additional social media issues include the increased risk of car accidents caused by the use of social media while driving and the tendencies of social media users towards narcissism and self-image manipulation.</a:t>
            </a:r>
            <a:endParaRPr lang="en-US" sz="2600" b="1" dirty="0"/>
          </a:p>
        </p:txBody>
      </p:sp>
      <p:sp>
        <p:nvSpPr>
          <p:cNvPr id="3" name="Title 2"/>
          <p:cNvSpPr>
            <a:spLocks noGrp="1"/>
          </p:cNvSpPr>
          <p:nvPr>
            <p:ph type="title"/>
          </p:nvPr>
        </p:nvSpPr>
        <p:spPr>
          <a:xfrm>
            <a:off x="762000" y="290459"/>
            <a:ext cx="8026400" cy="527837"/>
          </a:xfrm>
        </p:spPr>
        <p:txBody>
          <a:bodyPr/>
          <a:lstStyle/>
          <a:p>
            <a:r>
              <a:rPr lang="en-US" sz="4000" dirty="0"/>
              <a:t>Summary, Part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6440182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6964</TotalTime>
  <Words>2669</Words>
  <Application>Microsoft Office PowerPoint</Application>
  <PresentationFormat>On-screen Show (4:3)</PresentationFormat>
  <Paragraphs>199</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Ethics in Information Technology</vt:lpstr>
      <vt:lpstr>Learning Objectives</vt:lpstr>
      <vt:lpstr>What is Social Media?</vt:lpstr>
      <vt:lpstr>Popular Social Networking Platforms</vt:lpstr>
      <vt:lpstr>Social Media Marketing, Part 1</vt:lpstr>
      <vt:lpstr>Social Media Marketing, Part 2</vt:lpstr>
      <vt:lpstr>Paid Media Marketing</vt:lpstr>
      <vt:lpstr>Earned Media</vt:lpstr>
      <vt:lpstr>Social Media in the Hiring Process</vt:lpstr>
      <vt:lpstr>Improving Customer Service Using Social Media</vt:lpstr>
      <vt:lpstr>Social Shopping Platforms</vt:lpstr>
      <vt:lpstr>Social Networking Ethical Issues</vt:lpstr>
      <vt:lpstr>Tips for Avoiding Cyberabuse</vt:lpstr>
      <vt:lpstr>Organizations That Offer Information Resources Related to Cyberabuse</vt:lpstr>
      <vt:lpstr>Encounters with Sexual Predators</vt:lpstr>
      <vt:lpstr>Uploading of Inappropriate Material</vt:lpstr>
      <vt:lpstr>Employee Participation on  Social Media Networks</vt:lpstr>
      <vt:lpstr>Additional Social Media Issues</vt:lpstr>
      <vt:lpstr>Summary, Part 1</vt:lpstr>
      <vt:lpstr>Summary, Part 2</vt:lpstr>
      <vt:lpstr>Summary, Part 3</vt:lpstr>
      <vt:lpstr>Summary, Part 4</vt:lpstr>
      <vt:lpstr>Summary, Part 5</vt:lpstr>
      <vt:lpstr>Summary, Part 6</vt:lpstr>
      <vt:lpstr>Summary, Part 7</vt:lpstr>
      <vt:lpstr>Summary, Part 8</vt:lpstr>
      <vt:lpstr>Summary, Part 9</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303</cp:revision>
  <cp:lastPrinted>2010-11-12T17:54:40Z</cp:lastPrinted>
  <dcterms:created xsi:type="dcterms:W3CDTF">2007-02-15T20:50:52Z</dcterms:created>
  <dcterms:modified xsi:type="dcterms:W3CDTF">2017-08-17T02:19:55Z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