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2"/>
  </p:notesMasterIdLst>
  <p:handoutMasterIdLst>
    <p:handoutMasterId r:id="rId33"/>
  </p:handoutMasterIdLst>
  <p:sldIdLst>
    <p:sldId id="291" r:id="rId2"/>
    <p:sldId id="289" r:id="rId3"/>
    <p:sldId id="259" r:id="rId4"/>
    <p:sldId id="262" r:id="rId5"/>
    <p:sldId id="260" r:id="rId6"/>
    <p:sldId id="257" r:id="rId7"/>
    <p:sldId id="263" r:id="rId8"/>
    <p:sldId id="264" r:id="rId9"/>
    <p:sldId id="265" r:id="rId10"/>
    <p:sldId id="266" r:id="rId11"/>
    <p:sldId id="288"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06" autoAdjust="0"/>
    <p:restoredTop sz="94210" autoAdjust="0"/>
  </p:normalViewPr>
  <p:slideViewPr>
    <p:cSldViewPr>
      <p:cViewPr varScale="1">
        <p:scale>
          <a:sx n="63" d="100"/>
          <a:sy n="63" d="100"/>
        </p:scale>
        <p:origin x="176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8/16/2017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8/16/2017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326021"/>
          </a:xfrm>
        </p:spPr>
        <p:txBody>
          <a:bodyPr/>
          <a:lstStyle/>
          <a:p>
            <a:r>
              <a:rPr lang="en-US" sz="3400" dirty="0"/>
              <a:t>Chapter 1</a:t>
            </a:r>
          </a:p>
          <a:p>
            <a:r>
              <a:rPr lang="en-US" sz="3800" b="1" dirty="0"/>
              <a:t>An Overview of Ethics</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70757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533400"/>
            <a:ext cx="5528860" cy="377026"/>
          </a:xfrm>
        </p:spPr>
        <p:txBody>
          <a:bodyPr/>
          <a:lstStyle/>
          <a:p>
            <a:r>
              <a:rPr lang="en-US" sz="4000" dirty="0"/>
              <a:t>Learning Objectives, Part 1</a:t>
            </a:r>
          </a:p>
        </p:txBody>
      </p:sp>
      <p:sp>
        <p:nvSpPr>
          <p:cNvPr id="4" name="Content Placeholder 3"/>
          <p:cNvSpPr>
            <a:spLocks noGrp="1"/>
          </p:cNvSpPr>
          <p:nvPr>
            <p:ph type="body" idx="1"/>
          </p:nvPr>
        </p:nvSpPr>
        <p:spPr>
          <a:xfrm>
            <a:off x="2425131" y="1143000"/>
            <a:ext cx="6337869" cy="3108543"/>
          </a:xfrm>
        </p:spPr>
        <p:txBody>
          <a:bodyPr/>
          <a:lstStyle/>
          <a:p>
            <a:pPr marL="457200" indent="-457200">
              <a:lnSpc>
                <a:spcPct val="150000"/>
              </a:lnSpc>
              <a:buFont typeface="Arial" panose="020B0604020202020204" pitchFamily="34" charset="0"/>
              <a:buChar char="•"/>
            </a:pPr>
            <a:r>
              <a:rPr lang="en-US" sz="2800" dirty="0">
                <a:solidFill>
                  <a:schemeClr val="tx1"/>
                </a:solidFill>
              </a:rPr>
              <a:t>What is ethics?</a:t>
            </a:r>
          </a:p>
          <a:p>
            <a:pPr marL="457200" indent="-457200">
              <a:lnSpc>
                <a:spcPct val="100000"/>
              </a:lnSpc>
              <a:buFont typeface="Arial" panose="020B0604020202020204" pitchFamily="34" charset="0"/>
              <a:buChar char="•"/>
            </a:pPr>
            <a:r>
              <a:rPr lang="en-US" sz="2800" dirty="0">
                <a:solidFill>
                  <a:schemeClr val="tx1"/>
                </a:solidFill>
              </a:rPr>
              <a:t>What trends have increased the likelihood of unethical behavior?</a:t>
            </a:r>
          </a:p>
          <a:p>
            <a:pPr marL="457200" indent="-457200">
              <a:lnSpc>
                <a:spcPct val="100000"/>
              </a:lnSpc>
              <a:buFont typeface="Arial" panose="020B0604020202020204" pitchFamily="34" charset="0"/>
              <a:buChar char="•"/>
            </a:pPr>
            <a:r>
              <a:rPr lang="en-US" sz="2800" dirty="0">
                <a:solidFill>
                  <a:schemeClr val="tx1"/>
                </a:solidFill>
              </a:rPr>
              <a:t>What is corporate social responsibility, and why is fostering good business ethics important?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1880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7170" y="500527"/>
            <a:ext cx="5754835" cy="523220"/>
          </a:xfrm>
        </p:spPr>
        <p:txBody>
          <a:bodyPr/>
          <a:lstStyle/>
          <a:p>
            <a:r>
              <a:rPr lang="en-US" sz="4000" dirty="0"/>
              <a:t>Learning Objectives, Part 2</a:t>
            </a:r>
          </a:p>
        </p:txBody>
      </p:sp>
      <p:sp>
        <p:nvSpPr>
          <p:cNvPr id="4" name="Content Placeholder 3"/>
          <p:cNvSpPr>
            <a:spLocks noGrp="1"/>
          </p:cNvSpPr>
          <p:nvPr>
            <p:ph type="body" idx="1"/>
          </p:nvPr>
        </p:nvSpPr>
        <p:spPr>
          <a:xfrm>
            <a:off x="2417170" y="1295400"/>
            <a:ext cx="6345830" cy="3323987"/>
          </a:xfrm>
        </p:spPr>
        <p:txBody>
          <a:bodyPr/>
          <a:lstStyle/>
          <a:p>
            <a:pPr marL="457200" indent="-457200">
              <a:lnSpc>
                <a:spcPct val="100000"/>
              </a:lnSpc>
              <a:buFont typeface="Arial" panose="020B0604020202020204" pitchFamily="34" charset="0"/>
              <a:buChar char="•"/>
            </a:pPr>
            <a:r>
              <a:rPr lang="en-US" sz="2800" dirty="0">
                <a:solidFill>
                  <a:schemeClr val="tx1"/>
                </a:solidFill>
              </a:rPr>
              <a:t>What measures can organizations take to improve their business ethics?</a:t>
            </a:r>
          </a:p>
          <a:p>
            <a:pPr marL="457200" indent="-457200">
              <a:lnSpc>
                <a:spcPct val="100000"/>
              </a:lnSpc>
              <a:buFont typeface="Arial" panose="020B0604020202020204" pitchFamily="34" charset="0"/>
              <a:buChar char="•"/>
            </a:pPr>
            <a:r>
              <a:rPr lang="en-US" sz="2800" dirty="0">
                <a:solidFill>
                  <a:schemeClr val="tx1"/>
                </a:solidFill>
              </a:rPr>
              <a:t>How can you include ethical considerations in your decision making?</a:t>
            </a:r>
          </a:p>
          <a:p>
            <a:pPr marL="457200" indent="-457200">
              <a:lnSpc>
                <a:spcPct val="100000"/>
              </a:lnSpc>
              <a:buFont typeface="Arial" panose="020B0604020202020204" pitchFamily="34" charset="0"/>
              <a:buChar char="•"/>
            </a:pPr>
            <a:r>
              <a:rPr lang="en-US" sz="2800" dirty="0">
                <a:solidFill>
                  <a:schemeClr val="tx1"/>
                </a:solidFill>
              </a:rPr>
              <a:t>What trends have increased the risk that information technology will be used in an unethical manner?</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3348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65125" y="1538818"/>
            <a:ext cx="8415338" cy="3908762"/>
          </a:xfrm>
        </p:spPr>
        <p:txBody>
          <a:bodyPr/>
          <a:lstStyle/>
          <a:p>
            <a:pPr>
              <a:lnSpc>
                <a:spcPct val="100000"/>
              </a:lnSpc>
            </a:pPr>
            <a:r>
              <a:rPr lang="en-US" sz="2800" b="1" dirty="0">
                <a:solidFill>
                  <a:schemeClr val="tx2">
                    <a:lumMod val="75000"/>
                    <a:lumOff val="25000"/>
                  </a:schemeClr>
                </a:solidFill>
              </a:rPr>
              <a:t>Ethics:</a:t>
            </a:r>
            <a:r>
              <a:rPr lang="en-US" sz="2800" dirty="0">
                <a:solidFill>
                  <a:schemeClr val="tx2">
                    <a:lumMod val="75000"/>
                    <a:lumOff val="25000"/>
                  </a:schemeClr>
                </a:solidFill>
              </a:rPr>
              <a:t> A</a:t>
            </a:r>
            <a:r>
              <a:rPr lang="en-US" sz="2800" dirty="0"/>
              <a:t> code of behavior defined by the group to which an individual belongs</a:t>
            </a:r>
          </a:p>
          <a:p>
            <a:pPr>
              <a:lnSpc>
                <a:spcPct val="100000"/>
              </a:lnSpc>
            </a:pPr>
            <a:r>
              <a:rPr lang="en-US" sz="2800" b="1" dirty="0"/>
              <a:t>Morals: </a:t>
            </a:r>
            <a:r>
              <a:rPr lang="en-US" sz="2800" dirty="0"/>
              <a:t>Personal principles upon which an individual bases his or her decisions about what is right and what is wrong </a:t>
            </a:r>
          </a:p>
          <a:p>
            <a:pPr>
              <a:lnSpc>
                <a:spcPct val="100000"/>
              </a:lnSpc>
            </a:pPr>
            <a:r>
              <a:rPr lang="en-US" sz="2800" b="1" dirty="0"/>
              <a:t>Virtue:</a:t>
            </a:r>
            <a:r>
              <a:rPr lang="en-US" sz="2800" dirty="0"/>
              <a:t> A habit that inclines people to do what is acceptable</a:t>
            </a:r>
          </a:p>
          <a:p>
            <a:pPr>
              <a:lnSpc>
                <a:spcPct val="100000"/>
              </a:lnSpc>
            </a:pPr>
            <a:r>
              <a:rPr lang="en-US" sz="2800" b="1" dirty="0"/>
              <a:t>Vice</a:t>
            </a:r>
            <a:r>
              <a:rPr lang="en-US" sz="2800" dirty="0"/>
              <a:t>: A habit of unacceptable behavior</a:t>
            </a:r>
          </a:p>
        </p:txBody>
      </p:sp>
      <p:sp>
        <p:nvSpPr>
          <p:cNvPr id="2" name="Title 1"/>
          <p:cNvSpPr>
            <a:spLocks noGrp="1"/>
          </p:cNvSpPr>
          <p:nvPr>
            <p:ph type="title"/>
          </p:nvPr>
        </p:nvSpPr>
        <p:spPr>
          <a:xfrm>
            <a:off x="762000" y="290457"/>
            <a:ext cx="8026400" cy="527837"/>
          </a:xfrm>
        </p:spPr>
        <p:txBody>
          <a:bodyPr/>
          <a:lstStyle/>
          <a:p>
            <a:r>
              <a:rPr lang="en-US" sz="4000" dirty="0"/>
              <a:t>What is Ethics?</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8866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Relationship Between Ethics and Morals</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Content Placeholder 8" descr="Figure 1-1: This circular graphic illustrates that at a person's core are their personal beliefs, which are part of their morals. The group code of ethics has an impact on a person's morals and core personal beliefs. Ethics, morals, and core personal beliefs are defined by many factors, including: life experiences, culture, virtues, vices, religion, gender, age, beliefs, education, and traditions.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132165"/>
            <a:ext cx="6159500" cy="5016627"/>
          </a:xfrm>
          <a:prstGeom prst="rect">
            <a:avLst/>
          </a:prstGeom>
        </p:spPr>
      </p:pic>
    </p:spTree>
    <p:extLst>
      <p:ext uri="{BB962C8B-B14F-4D97-AF65-F5344CB8AC3E}">
        <p14:creationId xmlns:p14="http://schemas.microsoft.com/office/powerpoint/2010/main" val="279061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73062" y="1325422"/>
            <a:ext cx="8415338" cy="4745915"/>
          </a:xfrm>
        </p:spPr>
        <p:txBody>
          <a:bodyPr/>
          <a:lstStyle/>
          <a:p>
            <a:r>
              <a:rPr lang="en-US" sz="2800" dirty="0"/>
              <a:t>Acting in accordance with a personal code of principles</a:t>
            </a:r>
          </a:p>
          <a:p>
            <a:r>
              <a:rPr lang="en-US" sz="2800" dirty="0"/>
              <a:t>Extending the same respect and consideration that one expects to receive from others</a:t>
            </a:r>
          </a:p>
          <a:p>
            <a:r>
              <a:rPr lang="en-US" sz="2800" dirty="0"/>
              <a:t>Applying the same moral codes in all situations</a:t>
            </a:r>
          </a:p>
          <a:p>
            <a:r>
              <a:rPr lang="en-US" sz="2800" dirty="0"/>
              <a:t>Consistency can be difficult to achieve in situations that conflict with one’s moral standards. </a:t>
            </a:r>
          </a:p>
          <a:p>
            <a:r>
              <a:rPr lang="en-US" sz="2800" dirty="0"/>
              <a:t>Inconsistency also occurs if one applies moral standards differently depending on the situation or people involved.</a:t>
            </a:r>
          </a:p>
          <a:p>
            <a:endParaRPr lang="en-US" dirty="0"/>
          </a:p>
        </p:txBody>
      </p:sp>
      <p:sp>
        <p:nvSpPr>
          <p:cNvPr id="5" name="Title 4"/>
          <p:cNvSpPr>
            <a:spLocks noGrp="1"/>
          </p:cNvSpPr>
          <p:nvPr>
            <p:ph type="title"/>
          </p:nvPr>
        </p:nvSpPr>
        <p:spPr>
          <a:xfrm>
            <a:off x="762000" y="290457"/>
            <a:ext cx="8026400" cy="527837"/>
          </a:xfrm>
        </p:spPr>
        <p:txBody>
          <a:bodyPr/>
          <a:lstStyle/>
          <a:p>
            <a:r>
              <a:rPr lang="en-US" sz="4000" dirty="0"/>
              <a:t>Integrity</a:t>
            </a:r>
          </a:p>
        </p:txBody>
      </p:sp>
      <p:sp>
        <p:nvSpPr>
          <p:cNvPr id="4" name="Footer Placeholder 3"/>
          <p:cNvSpPr>
            <a:spLocks noGrp="1"/>
          </p:cNvSpPr>
          <p:nvPr>
            <p:ph type="ftr" sz="quarter" idx="10"/>
          </p:nvPr>
        </p:nvSpPr>
        <p:spPr/>
        <p:txBody>
          <a:body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584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descr="Morals are personal principles an individual uses to determine what is right and what is wrong. Moral acts conform to what an individual believes to be the right thing to do. Ethics are a code of behavior that is defined by the group to which an individual belongs. Law is a system of rules, enforced by a set of institutions, that tells us what we can and cannot do. Legal acts are acts that conform to the law.&#10;&#10;&#10;&#10; &#10;"/>
          <p:cNvGraphicFramePr>
            <a:graphicFrameLocks noGrp="1"/>
          </p:cNvGraphicFramePr>
          <p:nvPr>
            <p:ph idx="1"/>
            <p:extLst>
              <p:ext uri="{D42A27DB-BD31-4B8C-83A1-F6EECF244321}">
                <p14:modId xmlns:p14="http://schemas.microsoft.com/office/powerpoint/2010/main" val="1609765371"/>
              </p:ext>
            </p:extLst>
          </p:nvPr>
        </p:nvGraphicFramePr>
        <p:xfrm>
          <a:off x="378748" y="1189232"/>
          <a:ext cx="8415339" cy="4902493"/>
        </p:xfrm>
        <a:graphic>
          <a:graphicData uri="http://schemas.openxmlformats.org/drawingml/2006/table">
            <a:tbl>
              <a:tblPr firstRow="1" bandRow="1">
                <a:tableStyleId>{5C22544A-7EE6-4342-B048-85BDC9FD1C3A}</a:tableStyleId>
              </a:tblPr>
              <a:tblGrid>
                <a:gridCol w="2897852">
                  <a:extLst>
                    <a:ext uri="{9D8B030D-6E8A-4147-A177-3AD203B41FA5}">
                      <a16:colId xmlns:a16="http://schemas.microsoft.com/office/drawing/2014/main" val="2711336738"/>
                    </a:ext>
                  </a:extLst>
                </a:gridCol>
                <a:gridCol w="2712374">
                  <a:extLst>
                    <a:ext uri="{9D8B030D-6E8A-4147-A177-3AD203B41FA5}">
                      <a16:colId xmlns:a16="http://schemas.microsoft.com/office/drawing/2014/main" val="3420904493"/>
                    </a:ext>
                  </a:extLst>
                </a:gridCol>
                <a:gridCol w="2805113">
                  <a:extLst>
                    <a:ext uri="{9D8B030D-6E8A-4147-A177-3AD203B41FA5}">
                      <a16:colId xmlns:a16="http://schemas.microsoft.com/office/drawing/2014/main" val="1739281648"/>
                    </a:ext>
                  </a:extLst>
                </a:gridCol>
              </a:tblGrid>
              <a:tr h="787693">
                <a:tc>
                  <a:txBody>
                    <a:bodyPr/>
                    <a:lstStyle/>
                    <a:p>
                      <a:pPr algn="ctr"/>
                      <a:r>
                        <a:rPr lang="en-US" sz="3600" dirty="0"/>
                        <a:t>Morals</a:t>
                      </a:r>
                    </a:p>
                  </a:txBody>
                  <a:tcPr/>
                </a:tc>
                <a:tc>
                  <a:txBody>
                    <a:bodyPr/>
                    <a:lstStyle/>
                    <a:p>
                      <a:pPr algn="ctr"/>
                      <a:r>
                        <a:rPr lang="en-US" sz="3600" dirty="0"/>
                        <a:t>Ethics</a:t>
                      </a:r>
                    </a:p>
                  </a:txBody>
                  <a:tcPr/>
                </a:tc>
                <a:tc>
                  <a:txBody>
                    <a:bodyPr/>
                    <a:lstStyle/>
                    <a:p>
                      <a:pPr algn="ctr"/>
                      <a:r>
                        <a:rPr lang="en-US" sz="3600" dirty="0"/>
                        <a:t>Law</a:t>
                      </a:r>
                    </a:p>
                  </a:txBody>
                  <a:tcPr/>
                </a:tc>
                <a:extLst>
                  <a:ext uri="{0D108BD9-81ED-4DB2-BD59-A6C34878D82A}">
                    <a16:rowId xmlns:a16="http://schemas.microsoft.com/office/drawing/2014/main" val="842316945"/>
                  </a:ext>
                </a:extLst>
              </a:tr>
              <a:tr h="3860507">
                <a:tc>
                  <a:txBody>
                    <a:bodyPr/>
                    <a:lstStyle/>
                    <a:p>
                      <a:pPr marL="285750" indent="-285750">
                        <a:buFont typeface="Arial" panose="020B0604020202020204" pitchFamily="34" charset="0"/>
                        <a:buChar char="•"/>
                      </a:pPr>
                      <a:r>
                        <a:rPr lang="en-US" sz="2400" dirty="0"/>
                        <a:t>Personal principles an individual</a:t>
                      </a:r>
                      <a:r>
                        <a:rPr lang="en-US" sz="2400" baseline="0" dirty="0"/>
                        <a:t> uses to determine </a:t>
                      </a:r>
                      <a:r>
                        <a:rPr lang="en-US" sz="2400" dirty="0"/>
                        <a:t>what is right and what is wrong</a:t>
                      </a:r>
                    </a:p>
                    <a:p>
                      <a:pPr marL="285750" indent="-285750">
                        <a:buFont typeface="Arial" panose="020B0604020202020204" pitchFamily="34" charset="0"/>
                        <a:buChar char="•"/>
                      </a:pPr>
                      <a:r>
                        <a:rPr lang="en-US" sz="2400" dirty="0"/>
                        <a:t>Moral acts conform to what an individual believes to be the right thing to do</a:t>
                      </a:r>
                    </a:p>
                    <a:p>
                      <a:pPr marL="285750" indent="-285750">
                        <a:buFont typeface="Arial" panose="020B0604020202020204" pitchFamily="34" charset="0"/>
                        <a:buChar char="•"/>
                      </a:pPr>
                      <a:endParaRPr lang="en-US" sz="2400" dirty="0"/>
                    </a:p>
                  </a:txBody>
                  <a:tcPr/>
                </a:tc>
                <a:tc>
                  <a:txBody>
                    <a:bodyPr/>
                    <a:lstStyle/>
                    <a:p>
                      <a:pPr marL="285750" indent="-285750">
                        <a:buFont typeface="Arial" panose="020B0604020202020204" pitchFamily="34" charset="0"/>
                        <a:buChar char="•"/>
                      </a:pPr>
                      <a:r>
                        <a:rPr lang="en-US" sz="2400" dirty="0"/>
                        <a:t>Code of behavior that is defined by the group to which an individual belongs</a:t>
                      </a:r>
                    </a:p>
                  </a:txBody>
                  <a:tcPr/>
                </a:tc>
                <a:tc>
                  <a:txBody>
                    <a:bodyPr/>
                    <a:lstStyle/>
                    <a:p>
                      <a:pPr marL="285750" indent="-285750">
                        <a:buFont typeface="Arial" panose="020B0604020202020204" pitchFamily="34" charset="0"/>
                        <a:buChar char="•"/>
                      </a:pPr>
                      <a:r>
                        <a:rPr lang="en-US" sz="2400" dirty="0"/>
                        <a:t>System of rules, enforced by a set of institutions, that tells us what we can and cannot do</a:t>
                      </a:r>
                    </a:p>
                    <a:p>
                      <a:pPr marL="285750" indent="-285750">
                        <a:buFont typeface="Arial" panose="020B0604020202020204" pitchFamily="34" charset="0"/>
                        <a:buChar char="•"/>
                      </a:pPr>
                      <a:r>
                        <a:rPr lang="en-US" sz="2400" dirty="0"/>
                        <a:t>Legal acts are acts that conform to the law</a:t>
                      </a:r>
                    </a:p>
                    <a:p>
                      <a:endParaRPr lang="en-US" sz="2400" dirty="0"/>
                    </a:p>
                  </a:txBody>
                  <a:tcPr/>
                </a:tc>
                <a:extLst>
                  <a:ext uri="{0D108BD9-81ED-4DB2-BD59-A6C34878D82A}">
                    <a16:rowId xmlns:a16="http://schemas.microsoft.com/office/drawing/2014/main" val="75994208"/>
                  </a:ext>
                </a:extLst>
              </a:tr>
            </a:tbl>
          </a:graphicData>
        </a:graphic>
      </p:graphicFrame>
      <p:sp>
        <p:nvSpPr>
          <p:cNvPr id="4" name="Title 3"/>
          <p:cNvSpPr>
            <a:spLocks noGrp="1"/>
          </p:cNvSpPr>
          <p:nvPr>
            <p:ph type="title"/>
          </p:nvPr>
        </p:nvSpPr>
        <p:spPr>
          <a:xfrm>
            <a:off x="838200" y="330051"/>
            <a:ext cx="7950200" cy="448649"/>
          </a:xfrm>
        </p:spPr>
        <p:txBody>
          <a:bodyPr/>
          <a:lstStyle/>
          <a:p>
            <a:r>
              <a:rPr lang="en-US" sz="3400" dirty="0"/>
              <a:t>Difference Between Morals, Ethics, and Laws</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537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Figure 1-2: The grid shows the spectrum of ethical and legal behavior. On the vertical axis, behavior ranges from ethical to unethical. On the horizontal axis, behavior ranges from illegal to legal. Starting at the upper-left and working clockwise, the quadrants show the various combinations of behavior: ethical and illegal; ethical and legal; unethical and legal; and unethical and illegal.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143000"/>
            <a:ext cx="6172200" cy="5058970"/>
          </a:xfrm>
        </p:spPr>
      </p:pic>
      <p:sp>
        <p:nvSpPr>
          <p:cNvPr id="3" name="Title 2"/>
          <p:cNvSpPr>
            <a:spLocks noGrp="1"/>
          </p:cNvSpPr>
          <p:nvPr>
            <p:ph type="title"/>
          </p:nvPr>
        </p:nvSpPr>
        <p:spPr>
          <a:xfrm>
            <a:off x="762000" y="290459"/>
            <a:ext cx="8026400" cy="527837"/>
          </a:xfrm>
        </p:spPr>
        <p:txBody>
          <a:bodyPr/>
          <a:lstStyle/>
          <a:p>
            <a:r>
              <a:rPr lang="en-US" sz="4000" dirty="0"/>
              <a:t>Legal versus Ethical</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4657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32641"/>
            <a:ext cx="8415338" cy="5050613"/>
          </a:xfrm>
        </p:spPr>
        <p:txBody>
          <a:bodyPr/>
          <a:lstStyle/>
          <a:p>
            <a:pPr>
              <a:spcAft>
                <a:spcPts val="600"/>
              </a:spcAft>
            </a:pPr>
            <a:r>
              <a:rPr lang="en-US" sz="2800" dirty="0"/>
              <a:t>Trends that have increased the risk of unethical behavior:</a:t>
            </a:r>
          </a:p>
          <a:p>
            <a:pPr lvl="1">
              <a:spcBef>
                <a:spcPts val="300"/>
              </a:spcBef>
              <a:spcAft>
                <a:spcPts val="300"/>
              </a:spcAft>
              <a:buClr>
                <a:schemeClr val="accent2"/>
              </a:buClr>
            </a:pPr>
            <a:r>
              <a:rPr lang="en-US" sz="2600" dirty="0"/>
              <a:t>More complex work environments spanning diverse cultures make it more difficult to apply principles and </a:t>
            </a:r>
            <a:br>
              <a:rPr lang="en-US" sz="2600" dirty="0"/>
            </a:br>
            <a:r>
              <a:rPr lang="en-US" sz="2600" dirty="0"/>
              <a:t>codes of ethics consistently.</a:t>
            </a:r>
          </a:p>
          <a:p>
            <a:pPr lvl="1">
              <a:spcBef>
                <a:spcPts val="300"/>
              </a:spcBef>
              <a:spcAft>
                <a:spcPts val="600"/>
              </a:spcAft>
              <a:buClr>
                <a:schemeClr val="accent2"/>
              </a:buClr>
            </a:pPr>
            <a:r>
              <a:rPr lang="en-US" sz="2600" dirty="0"/>
              <a:t>Today’s challenging economic climate has increased the pressure on organizations to maintain revenue and profits.</a:t>
            </a:r>
          </a:p>
          <a:p>
            <a:pPr marL="171450" lvl="1">
              <a:spcBef>
                <a:spcPts val="1200"/>
              </a:spcBef>
              <a:buClr>
                <a:schemeClr val="accent2"/>
              </a:buClr>
            </a:pPr>
            <a:r>
              <a:rPr lang="en-US" sz="2800" dirty="0"/>
              <a:t>Heightened vigilance by employees, shareholders, and regulatory agencies has increased the risk of financial loss and lawsuits for businesses that act unethically</a:t>
            </a:r>
            <a:r>
              <a:rPr lang="en-US" sz="2600" dirty="0"/>
              <a:t>. </a:t>
            </a:r>
          </a:p>
          <a:p>
            <a:pPr lvl="1"/>
            <a:endParaRPr lang="en-US" dirty="0"/>
          </a:p>
          <a:p>
            <a:pPr marL="228600" lvl="1" indent="0">
              <a:buNone/>
            </a:pPr>
            <a:endParaRPr lang="en-US" dirty="0"/>
          </a:p>
        </p:txBody>
      </p:sp>
      <p:sp>
        <p:nvSpPr>
          <p:cNvPr id="3" name="Title 2"/>
          <p:cNvSpPr>
            <a:spLocks noGrp="1"/>
          </p:cNvSpPr>
          <p:nvPr>
            <p:ph type="title"/>
          </p:nvPr>
        </p:nvSpPr>
        <p:spPr>
          <a:xfrm>
            <a:off x="762000" y="290457"/>
            <a:ext cx="8026400" cy="527837"/>
          </a:xfrm>
        </p:spPr>
        <p:txBody>
          <a:bodyPr/>
          <a:lstStyle/>
          <a:p>
            <a:r>
              <a:rPr lang="en-US" sz="4000" dirty="0"/>
              <a:t>Ethics in the Business World</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034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6238" y="1524000"/>
            <a:ext cx="8415338" cy="4628960"/>
          </a:xfrm>
        </p:spPr>
        <p:txBody>
          <a:bodyPr/>
          <a:lstStyle/>
          <a:p>
            <a:r>
              <a:rPr lang="en-US" altLang="en-US" sz="2800" dirty="0"/>
              <a:t>Term used to describe the moral corruption of those in power </a:t>
            </a:r>
          </a:p>
          <a:p>
            <a:r>
              <a:rPr lang="en-US" altLang="en-US" sz="2800" dirty="0"/>
              <a:t>Refers to the biblical story of King David, who became corrupted by his power and success</a:t>
            </a:r>
          </a:p>
          <a:p>
            <a:r>
              <a:rPr lang="en-US" altLang="en-US" sz="2800" dirty="0"/>
              <a:t>Moral corruption of people in power is often facilitated by a tendency for people to look the other way when their leaders behave inappropriately </a:t>
            </a:r>
          </a:p>
          <a:p>
            <a:endParaRPr lang="en-US" altLang="en-US" sz="2800" dirty="0"/>
          </a:p>
          <a:p>
            <a:pPr marL="0" indent="0">
              <a:buNone/>
            </a:pPr>
            <a:endParaRPr lang="en-US" altLang="en-US" dirty="0"/>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Bathsheba Syndrome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6954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04800"/>
            <a:ext cx="8026400" cy="422295"/>
          </a:xfrm>
        </p:spPr>
        <p:txBody>
          <a:bodyPr/>
          <a:lstStyle/>
          <a:p>
            <a:r>
              <a:rPr lang="en-US" sz="3200" dirty="0"/>
              <a:t>Who Is Responsible for Instances of Misconduct?</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Content Placeholder 4" descr="Figure 1-3: This pie chart shows the breakdown of reported workplace misconduct by employee type. First-line managers: 17%; middle managers: 19%; senior managers: 24%; and non-managers: 4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0416" y="1366736"/>
            <a:ext cx="4569568" cy="4557712"/>
          </a:xfrm>
          <a:prstGeom prst="rect">
            <a:avLst/>
          </a:prstGeom>
        </p:spPr>
      </p:pic>
    </p:spTree>
    <p:extLst>
      <p:ext uri="{BB962C8B-B14F-4D97-AF65-F5344CB8AC3E}">
        <p14:creationId xmlns:p14="http://schemas.microsoft.com/office/powerpoint/2010/main" val="52331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8809" y="1234922"/>
            <a:ext cx="8534400" cy="5216813"/>
          </a:xfrm>
        </p:spPr>
        <p:txBody>
          <a:bodyPr/>
          <a:lstStyle/>
          <a:p>
            <a:r>
              <a:rPr lang="en-US" sz="2600" dirty="0"/>
              <a:t>Organization takes responsibility for the impact of its </a:t>
            </a:r>
            <a:br>
              <a:rPr lang="en-US" sz="2600" dirty="0"/>
            </a:br>
            <a:r>
              <a:rPr lang="en-US" sz="2600" dirty="0"/>
              <a:t>actions on:</a:t>
            </a:r>
          </a:p>
          <a:p>
            <a:pPr lvl="2">
              <a:spcBef>
                <a:spcPts val="300"/>
              </a:spcBef>
              <a:buClr>
                <a:schemeClr val="accent2"/>
              </a:buClr>
              <a:buFont typeface="Arial" panose="020B0604020202020204" pitchFamily="34" charset="0"/>
              <a:buChar char="•"/>
            </a:pPr>
            <a:r>
              <a:rPr lang="en-US" sz="2400" dirty="0"/>
              <a:t>Shareholders</a:t>
            </a:r>
          </a:p>
          <a:p>
            <a:pPr lvl="2">
              <a:spcBef>
                <a:spcPts val="300"/>
              </a:spcBef>
              <a:buClr>
                <a:schemeClr val="accent2"/>
              </a:buClr>
              <a:buFont typeface="Arial" panose="020B0604020202020204" pitchFamily="34" charset="0"/>
              <a:buChar char="•"/>
            </a:pPr>
            <a:r>
              <a:rPr lang="en-US" sz="2400" dirty="0"/>
              <a:t>Consumers</a:t>
            </a:r>
          </a:p>
          <a:p>
            <a:pPr lvl="2">
              <a:spcBef>
                <a:spcPts val="300"/>
              </a:spcBef>
              <a:buClr>
                <a:schemeClr val="accent2"/>
              </a:buClr>
              <a:buFont typeface="Arial" panose="020B0604020202020204" pitchFamily="34" charset="0"/>
              <a:buChar char="•"/>
            </a:pPr>
            <a:r>
              <a:rPr lang="en-US" sz="2400" dirty="0"/>
              <a:t>Employees</a:t>
            </a:r>
          </a:p>
          <a:p>
            <a:pPr lvl="2">
              <a:spcBef>
                <a:spcPts val="300"/>
              </a:spcBef>
              <a:buClr>
                <a:schemeClr val="accent2"/>
              </a:buClr>
              <a:buFont typeface="Arial" panose="020B0604020202020204" pitchFamily="34" charset="0"/>
              <a:buChar char="•"/>
            </a:pPr>
            <a:r>
              <a:rPr lang="en-US" sz="2400" dirty="0"/>
              <a:t>Community</a:t>
            </a:r>
          </a:p>
          <a:p>
            <a:pPr lvl="2">
              <a:spcBef>
                <a:spcPts val="300"/>
              </a:spcBef>
              <a:buClr>
                <a:schemeClr val="accent2"/>
              </a:buClr>
              <a:buFont typeface="Arial" panose="020B0604020202020204" pitchFamily="34" charset="0"/>
              <a:buChar char="•"/>
            </a:pPr>
            <a:r>
              <a:rPr lang="en-US" sz="2400" dirty="0"/>
              <a:t>Environment</a:t>
            </a:r>
          </a:p>
          <a:p>
            <a:pPr lvl="2">
              <a:spcBef>
                <a:spcPts val="300"/>
              </a:spcBef>
              <a:buClr>
                <a:schemeClr val="accent2"/>
              </a:buClr>
              <a:buFont typeface="Arial" panose="020B0604020202020204" pitchFamily="34" charset="0"/>
              <a:buChar char="•"/>
            </a:pPr>
            <a:r>
              <a:rPr lang="en-US" sz="2400" dirty="0"/>
              <a:t>Suppliers</a:t>
            </a:r>
          </a:p>
          <a:p>
            <a:r>
              <a:rPr lang="en-US" sz="2600" b="1" dirty="0"/>
              <a:t>Supply chain sustainability</a:t>
            </a:r>
            <a:r>
              <a:rPr lang="en-US" sz="2600" dirty="0"/>
              <a:t>: A component of CSR focused on developing and maintaining a supply chain that meets the needs of the present without compromising the ability of future generations to meet their needs</a:t>
            </a:r>
          </a:p>
          <a:p>
            <a:endParaRPr lang="en-US" dirty="0"/>
          </a:p>
        </p:txBody>
      </p:sp>
      <p:sp>
        <p:nvSpPr>
          <p:cNvPr id="3" name="Title 2"/>
          <p:cNvSpPr>
            <a:spLocks noGrp="1"/>
          </p:cNvSpPr>
          <p:nvPr>
            <p:ph type="title"/>
          </p:nvPr>
        </p:nvSpPr>
        <p:spPr>
          <a:xfrm>
            <a:off x="776809" y="609600"/>
            <a:ext cx="8026400" cy="457200"/>
          </a:xfrm>
        </p:spPr>
        <p:txBody>
          <a:bodyPr/>
          <a:lstStyle/>
          <a:p>
            <a:r>
              <a:rPr lang="en-US" sz="4000" dirty="0"/>
              <a:t>Corporate Social Responsibility (CSR)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7523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071610"/>
          </a:xfrm>
        </p:spPr>
        <p:txBody>
          <a:bodyPr/>
          <a:lstStyle/>
          <a:p>
            <a:r>
              <a:rPr lang="en-US" sz="2800" dirty="0"/>
              <a:t>Gain the goodwill of the community</a:t>
            </a:r>
          </a:p>
          <a:p>
            <a:r>
              <a:rPr lang="en-US" sz="2800" dirty="0"/>
              <a:t>Create an organization that operates consistently</a:t>
            </a:r>
          </a:p>
          <a:p>
            <a:r>
              <a:rPr lang="en-US" sz="2800" dirty="0"/>
              <a:t>Foster good business practices</a:t>
            </a:r>
          </a:p>
          <a:p>
            <a:r>
              <a:rPr lang="en-US" sz="2800" dirty="0"/>
              <a:t>Protect the organization and its employees from </a:t>
            </a:r>
            <a:br>
              <a:rPr lang="en-US" sz="2800" dirty="0"/>
            </a:br>
            <a:r>
              <a:rPr lang="en-US" sz="2800" dirty="0"/>
              <a:t>legal action</a:t>
            </a:r>
          </a:p>
          <a:p>
            <a:r>
              <a:rPr lang="en-US" sz="2800" dirty="0"/>
              <a:t>Avoid unfavorable publicity</a:t>
            </a:r>
          </a:p>
        </p:txBody>
      </p:sp>
      <p:sp>
        <p:nvSpPr>
          <p:cNvPr id="3" name="Title 2"/>
          <p:cNvSpPr>
            <a:spLocks noGrp="1"/>
          </p:cNvSpPr>
          <p:nvPr>
            <p:ph type="title"/>
          </p:nvPr>
        </p:nvSpPr>
        <p:spPr>
          <a:xfrm>
            <a:off x="780221" y="173756"/>
            <a:ext cx="8026400" cy="837152"/>
          </a:xfrm>
        </p:spPr>
        <p:txBody>
          <a:bodyPr/>
          <a:lstStyle/>
          <a:p>
            <a:r>
              <a:rPr lang="en-US" altLang="en-US" sz="3200" dirty="0"/>
              <a:t>Reasons to Foster Corporate Social</a:t>
            </a:r>
            <a:br>
              <a:rPr lang="en-US" altLang="en-US" sz="3200" dirty="0"/>
            </a:br>
            <a:r>
              <a:rPr lang="en-US" altLang="en-US" sz="3200" dirty="0"/>
              <a:t>Responsibility and Good Business Ethics</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7136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1-5: This flowchart shows that there are two main drivers an organization can use to reduce the risk of unethical behavior. The first driver is a well-implemented ethics program. The second driver is a strong ethical culture. These two drivers produce the following outcomes: reduced pressure for misconduct, a decrease in observed misconduct, increased reporting of misconduct, and reduced retaliation for reporting. The overall goal is a reduced ethics risk.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5837" y="1143000"/>
            <a:ext cx="5715000" cy="5163674"/>
          </a:xfrm>
        </p:spPr>
      </p:pic>
      <p:sp>
        <p:nvSpPr>
          <p:cNvPr id="3" name="Title 2"/>
          <p:cNvSpPr>
            <a:spLocks noGrp="1"/>
          </p:cNvSpPr>
          <p:nvPr>
            <p:ph type="title"/>
          </p:nvPr>
        </p:nvSpPr>
        <p:spPr>
          <a:xfrm>
            <a:off x="762000" y="316843"/>
            <a:ext cx="8026400" cy="475066"/>
          </a:xfrm>
        </p:spPr>
        <p:txBody>
          <a:bodyPr/>
          <a:lstStyle/>
          <a:p>
            <a:r>
              <a:rPr lang="en-US" sz="3600" dirty="0"/>
              <a:t>Reducing the Risk of Unethical Behavior</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339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5229124"/>
          </a:xfrm>
        </p:spPr>
        <p:txBody>
          <a:bodyPr/>
          <a:lstStyle/>
          <a:p>
            <a:r>
              <a:rPr lang="en-US" altLang="en-US" sz="2800" dirty="0"/>
              <a:t>Employees are willing to seek advice about ethics-related issues.</a:t>
            </a:r>
          </a:p>
          <a:p>
            <a:r>
              <a:rPr lang="en-US" sz="2800" dirty="0"/>
              <a:t>Employees feel prepared to handle situations that could lead to misconduct.</a:t>
            </a:r>
          </a:p>
          <a:p>
            <a:r>
              <a:rPr lang="en-US" altLang="en-US" sz="2800" dirty="0"/>
              <a:t>Employees are rewarded for ethical behavior.</a:t>
            </a:r>
          </a:p>
          <a:p>
            <a:r>
              <a:rPr lang="en-US" altLang="en-US" sz="2800" dirty="0"/>
              <a:t>The organization does not reward success obtained through questionable means.</a:t>
            </a:r>
          </a:p>
          <a:p>
            <a:r>
              <a:rPr lang="en-US" altLang="en-US" sz="2800" dirty="0"/>
              <a:t>Employees feel positively about their company.</a:t>
            </a:r>
          </a:p>
          <a:p>
            <a:endParaRPr lang="en-US" altLang="en-US" dirty="0"/>
          </a:p>
          <a:p>
            <a:endParaRPr lang="en-US" altLang="en-US" dirty="0"/>
          </a:p>
          <a:p>
            <a:endParaRPr lang="en-US" dirty="0"/>
          </a:p>
        </p:txBody>
      </p:sp>
      <p:sp>
        <p:nvSpPr>
          <p:cNvPr id="3" name="Title 2"/>
          <p:cNvSpPr>
            <a:spLocks noGrp="1"/>
          </p:cNvSpPr>
          <p:nvPr>
            <p:ph type="title"/>
          </p:nvPr>
        </p:nvSpPr>
        <p:spPr>
          <a:xfrm>
            <a:off x="762000" y="343229"/>
            <a:ext cx="8026400" cy="422295"/>
          </a:xfrm>
        </p:spPr>
        <p:txBody>
          <a:bodyPr/>
          <a:lstStyle/>
          <a:p>
            <a:r>
              <a:rPr lang="en-US" altLang="en-US" sz="3200" dirty="0"/>
              <a:t>Characteristics of a Successful Ethics Program</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5652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5763116"/>
          </a:xfrm>
        </p:spPr>
        <p:txBody>
          <a:bodyPr/>
          <a:lstStyle/>
          <a:p>
            <a:r>
              <a:rPr lang="en-US" sz="2800" dirty="0"/>
              <a:t>Also called a </a:t>
            </a:r>
            <a:r>
              <a:rPr lang="en-US" sz="2800" b="1" dirty="0"/>
              <a:t>corporate compliance officer</a:t>
            </a:r>
            <a:endParaRPr lang="en-US" sz="2800" dirty="0"/>
          </a:p>
          <a:p>
            <a:r>
              <a:rPr lang="en-US" altLang="en-US" sz="2800" dirty="0"/>
              <a:t>Provides an organization with vision and leadership in the area of business conduct</a:t>
            </a:r>
          </a:p>
          <a:p>
            <a:r>
              <a:rPr lang="en-US" altLang="en-US" sz="2800" dirty="0"/>
              <a:t>Ideally a senior-level manager who reports directly to the CEO</a:t>
            </a:r>
          </a:p>
          <a:p>
            <a:r>
              <a:rPr lang="en-US" sz="2800" dirty="0"/>
              <a:t>Responsibilities:</a:t>
            </a:r>
          </a:p>
          <a:p>
            <a:pPr marL="685800" lvl="2" indent="-457200">
              <a:spcBef>
                <a:spcPts val="1200"/>
              </a:spcBef>
              <a:buClr>
                <a:schemeClr val="accent2"/>
              </a:buClr>
              <a:buFont typeface="Arial" panose="020B0604020202020204" pitchFamily="34" charset="0"/>
              <a:buChar char="•"/>
            </a:pPr>
            <a:r>
              <a:rPr lang="en-US" altLang="en-US" sz="2600" dirty="0"/>
              <a:t>Ensuring compliance with ethical procedures </a:t>
            </a:r>
          </a:p>
          <a:p>
            <a:pPr marL="685800" lvl="2" indent="-457200">
              <a:spcBef>
                <a:spcPts val="1200"/>
              </a:spcBef>
              <a:buClr>
                <a:schemeClr val="accent2"/>
              </a:buClr>
              <a:buFont typeface="Arial" panose="020B0604020202020204" pitchFamily="34" charset="0"/>
              <a:buChar char="•"/>
            </a:pPr>
            <a:r>
              <a:rPr lang="en-US" altLang="en-US" sz="2600" dirty="0"/>
              <a:t>Creating and maintaining the ethics culture envisioned </a:t>
            </a:r>
            <a:br>
              <a:rPr lang="en-US" altLang="en-US" sz="2600" dirty="0"/>
            </a:br>
            <a:r>
              <a:rPr lang="en-US" altLang="en-US" sz="2600" dirty="0"/>
              <a:t>by the highest level of corporate authority</a:t>
            </a:r>
          </a:p>
          <a:p>
            <a:pPr marL="685800" lvl="2" indent="-457200">
              <a:spcBef>
                <a:spcPts val="1200"/>
              </a:spcBef>
              <a:buClr>
                <a:schemeClr val="accent2"/>
              </a:buClr>
              <a:buFont typeface="Arial" panose="020B0604020202020204" pitchFamily="34" charset="0"/>
              <a:buChar char="•"/>
            </a:pPr>
            <a:r>
              <a:rPr lang="en-US" altLang="en-US" sz="2600" dirty="0"/>
              <a:t>Serving as the key contact person for ethics issues</a:t>
            </a:r>
            <a:endParaRPr lang="en-GB" altLang="en-US" sz="2600" dirty="0"/>
          </a:p>
          <a:p>
            <a:pPr marL="171450" lvl="1">
              <a:spcBef>
                <a:spcPts val="1200"/>
              </a:spcBef>
              <a:buClr>
                <a:schemeClr val="accent2"/>
              </a:buClr>
            </a:pPr>
            <a:endParaRPr lang="en-US" altLang="en-US" dirty="0"/>
          </a:p>
          <a:p>
            <a:endParaRPr lang="en-US" dirty="0"/>
          </a:p>
        </p:txBody>
      </p:sp>
      <p:sp>
        <p:nvSpPr>
          <p:cNvPr id="3" name="Title 2"/>
          <p:cNvSpPr>
            <a:spLocks noGrp="1"/>
          </p:cNvSpPr>
          <p:nvPr>
            <p:ph type="title"/>
          </p:nvPr>
        </p:nvSpPr>
        <p:spPr>
          <a:xfrm>
            <a:off x="762000" y="290459"/>
            <a:ext cx="8026400" cy="527837"/>
          </a:xfrm>
        </p:spPr>
        <p:txBody>
          <a:bodyPr/>
          <a:lstStyle/>
          <a:p>
            <a:r>
              <a:rPr lang="en-GB" altLang="en-US" sz="4000" dirty="0"/>
              <a:t>Corporate Ethics Officer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2037057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5002908"/>
          </a:xfrm>
        </p:spPr>
        <p:txBody>
          <a:bodyPr/>
          <a:lstStyle/>
          <a:p>
            <a:r>
              <a:rPr lang="en-GB" altLang="en-US" sz="2800" dirty="0"/>
              <a:t>Conduct themselves according to the highest standards of personal and professional integrity</a:t>
            </a:r>
          </a:p>
          <a:p>
            <a:r>
              <a:rPr lang="en-GB" altLang="en-US" sz="2800" dirty="0"/>
              <a:t>Set the standard for company-wide ethical conduct </a:t>
            </a:r>
          </a:p>
          <a:p>
            <a:r>
              <a:rPr lang="en-GB" altLang="en-US" sz="2800" dirty="0"/>
              <a:t>Ensure compliance with laws and regulations</a:t>
            </a:r>
          </a:p>
          <a:p>
            <a:r>
              <a:rPr lang="en-GB" altLang="en-US" sz="2800" dirty="0"/>
              <a:t>Create an environment in which employees can:</a:t>
            </a:r>
          </a:p>
          <a:p>
            <a:pPr marL="685800" lvl="2" indent="-457200">
              <a:spcBef>
                <a:spcPts val="1200"/>
              </a:spcBef>
              <a:buClr>
                <a:schemeClr val="accent2"/>
              </a:buClr>
              <a:buFont typeface="Arial" panose="020B0604020202020204" pitchFamily="34" charset="0"/>
              <a:buChar char="•"/>
            </a:pPr>
            <a:r>
              <a:rPr lang="en-GB" altLang="en-US" sz="2600" dirty="0"/>
              <a:t>Seek advice about business conduct</a:t>
            </a:r>
          </a:p>
          <a:p>
            <a:pPr marL="685800" lvl="2" indent="-457200">
              <a:spcBef>
                <a:spcPts val="1200"/>
              </a:spcBef>
              <a:buClr>
                <a:schemeClr val="accent2"/>
              </a:buClr>
              <a:buFont typeface="Arial" panose="020B0604020202020204" pitchFamily="34" charset="0"/>
              <a:buChar char="•"/>
            </a:pPr>
            <a:r>
              <a:rPr lang="en-GB" altLang="en-US" sz="2600" dirty="0"/>
              <a:t>Raise issues</a:t>
            </a:r>
          </a:p>
          <a:p>
            <a:pPr marL="685800" lvl="2" indent="-457200">
              <a:spcBef>
                <a:spcPts val="1200"/>
              </a:spcBef>
              <a:buClr>
                <a:schemeClr val="accent2"/>
              </a:buClr>
              <a:buFont typeface="Arial" panose="020B0604020202020204" pitchFamily="34" charset="0"/>
              <a:buChar char="•"/>
            </a:pPr>
            <a:r>
              <a:rPr lang="en-GB" altLang="en-US" sz="2600" dirty="0"/>
              <a:t>Report misconduct</a:t>
            </a:r>
          </a:p>
          <a:p>
            <a:endParaRPr lang="en-GB" altLang="en-US" dirty="0"/>
          </a:p>
          <a:p>
            <a:endParaRPr lang="en-US" dirty="0"/>
          </a:p>
        </p:txBody>
      </p:sp>
      <p:sp>
        <p:nvSpPr>
          <p:cNvPr id="3" name="Title 2"/>
          <p:cNvSpPr>
            <a:spLocks noGrp="1"/>
          </p:cNvSpPr>
          <p:nvPr>
            <p:ph type="title"/>
          </p:nvPr>
        </p:nvSpPr>
        <p:spPr>
          <a:xfrm>
            <a:off x="762000" y="316844"/>
            <a:ext cx="8026400" cy="475066"/>
          </a:xfrm>
        </p:spPr>
        <p:txBody>
          <a:bodyPr/>
          <a:lstStyle/>
          <a:p>
            <a:r>
              <a:rPr lang="en-GB" altLang="en-US" sz="3600" dirty="0"/>
              <a:t>Ethical Standards Set by Board of Directors</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2661865"/>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1"/>
            <a:ext cx="8415338" cy="5720027"/>
          </a:xfrm>
        </p:spPr>
        <p:txBody>
          <a:bodyPr/>
          <a:lstStyle/>
          <a:p>
            <a:r>
              <a:rPr lang="en-US" sz="2800" dirty="0"/>
              <a:t>A </a:t>
            </a:r>
            <a:r>
              <a:rPr lang="en-US" sz="2800" b="1" dirty="0"/>
              <a:t>code of ethics</a:t>
            </a:r>
            <a:r>
              <a:rPr lang="en-US" sz="2800" dirty="0"/>
              <a:t>:</a:t>
            </a:r>
          </a:p>
          <a:p>
            <a:pPr lvl="1">
              <a:buClr>
                <a:schemeClr val="accent2"/>
              </a:buClr>
            </a:pPr>
            <a:r>
              <a:rPr lang="en-US" altLang="en-US" sz="2800" dirty="0"/>
              <a:t>Highlights an organization’s key ethical issues</a:t>
            </a:r>
          </a:p>
          <a:p>
            <a:pPr lvl="1">
              <a:buClr>
                <a:schemeClr val="accent2"/>
              </a:buClr>
            </a:pPr>
            <a:r>
              <a:rPr lang="en-US" altLang="en-US" sz="2800" dirty="0"/>
              <a:t>Identifies the overarching values and principles important to the organization and its decision making</a:t>
            </a:r>
          </a:p>
          <a:p>
            <a:r>
              <a:rPr lang="en-US" altLang="en-US" sz="2800" dirty="0"/>
              <a:t>Organizational code of ethics should: </a:t>
            </a:r>
          </a:p>
          <a:p>
            <a:pPr marL="685800" lvl="2" indent="-457200">
              <a:spcBef>
                <a:spcPts val="300"/>
              </a:spcBef>
              <a:buClr>
                <a:schemeClr val="accent2"/>
              </a:buClr>
              <a:buFont typeface="Arial" panose="020B0604020202020204" pitchFamily="34" charset="0"/>
              <a:buChar char="•"/>
            </a:pPr>
            <a:r>
              <a:rPr lang="en-US" altLang="en-US" sz="2600" dirty="0"/>
              <a:t>Apply to directors, officers, and employees</a:t>
            </a:r>
          </a:p>
          <a:p>
            <a:pPr marL="685800" lvl="2" indent="-457200">
              <a:spcBef>
                <a:spcPts val="300"/>
              </a:spcBef>
              <a:buClr>
                <a:schemeClr val="accent2"/>
              </a:buClr>
              <a:buFont typeface="Arial" panose="020B0604020202020204" pitchFamily="34" charset="0"/>
              <a:buChar char="•"/>
            </a:pPr>
            <a:r>
              <a:rPr lang="en-US" altLang="en-US" sz="2600" dirty="0"/>
              <a:t>Focus employees on areas of ethical risk</a:t>
            </a:r>
          </a:p>
          <a:p>
            <a:pPr marL="685800" lvl="2" indent="-457200">
              <a:spcBef>
                <a:spcPts val="300"/>
              </a:spcBef>
              <a:buClr>
                <a:schemeClr val="accent2"/>
              </a:buClr>
              <a:buFont typeface="Arial" panose="020B0604020202020204" pitchFamily="34" charset="0"/>
              <a:buChar char="•"/>
            </a:pPr>
            <a:r>
              <a:rPr lang="en-US" sz="2600" dirty="0"/>
              <a:t>Offer guidance to help employees recognize and deal with ethical issues</a:t>
            </a:r>
          </a:p>
          <a:p>
            <a:pPr marL="685800" lvl="2" indent="-457200">
              <a:spcBef>
                <a:spcPts val="300"/>
              </a:spcBef>
              <a:buClr>
                <a:schemeClr val="accent2"/>
              </a:buClr>
              <a:buFont typeface="Arial" panose="020B0604020202020204" pitchFamily="34" charset="0"/>
              <a:buChar char="•"/>
            </a:pPr>
            <a:r>
              <a:rPr lang="en-US" altLang="en-US" sz="2600" dirty="0"/>
              <a:t>Provide mechanisms for reporting unethical conduct</a:t>
            </a:r>
          </a:p>
          <a:p>
            <a:pPr marL="685800" lvl="2" indent="-457200">
              <a:spcBef>
                <a:spcPts val="300"/>
              </a:spcBef>
              <a:buClr>
                <a:schemeClr val="accent2"/>
              </a:buClr>
              <a:buFont typeface="Arial" panose="020B0604020202020204" pitchFamily="34" charset="0"/>
              <a:buChar char="•"/>
            </a:pPr>
            <a:r>
              <a:rPr lang="en-US" altLang="en-US" sz="2600" dirty="0"/>
              <a:t>Foster a culture of honesty and accountability</a:t>
            </a:r>
          </a:p>
          <a:p>
            <a:endParaRPr lang="en-US" altLang="en-US" dirty="0"/>
          </a:p>
          <a:p>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dirty="0"/>
              <a:t>Corporate Code of Ethics</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12523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355" y="1373963"/>
            <a:ext cx="8415338" cy="5204502"/>
          </a:xfrm>
        </p:spPr>
        <p:txBody>
          <a:bodyPr/>
          <a:lstStyle/>
          <a:p>
            <a:r>
              <a:rPr lang="en-US" altLang="en-US" sz="2800" dirty="0"/>
              <a:t>Organization reviews its ethical and social responsibility goals, and communicates its goals for the upcoming year.</a:t>
            </a:r>
          </a:p>
          <a:p>
            <a:pPr>
              <a:defRPr/>
            </a:pPr>
            <a:r>
              <a:rPr lang="en-US" altLang="en-US" sz="2800" dirty="0"/>
              <a:t>Information is shared with: </a:t>
            </a:r>
          </a:p>
          <a:p>
            <a:pPr marL="685800" lvl="2" indent="-457200">
              <a:spcBef>
                <a:spcPts val="300"/>
              </a:spcBef>
              <a:buClr>
                <a:schemeClr val="accent2"/>
              </a:buClr>
              <a:buFont typeface="Arial" panose="020B0604020202020204" pitchFamily="34" charset="0"/>
              <a:buChar char="•"/>
              <a:defRPr/>
            </a:pPr>
            <a:r>
              <a:rPr lang="en-US" altLang="en-US" sz="2600" dirty="0"/>
              <a:t>Employees</a:t>
            </a:r>
          </a:p>
          <a:p>
            <a:pPr marL="685800" lvl="2" indent="-457200">
              <a:spcBef>
                <a:spcPts val="300"/>
              </a:spcBef>
              <a:buClr>
                <a:schemeClr val="accent2"/>
              </a:buClr>
              <a:buFont typeface="Arial" panose="020B0604020202020204" pitchFamily="34" charset="0"/>
              <a:buChar char="•"/>
              <a:defRPr/>
            </a:pPr>
            <a:r>
              <a:rPr lang="en-US" altLang="en-US" sz="2600" dirty="0"/>
              <a:t>Investors</a:t>
            </a:r>
          </a:p>
          <a:p>
            <a:pPr marL="685800" lvl="2" indent="-457200">
              <a:spcBef>
                <a:spcPts val="300"/>
              </a:spcBef>
              <a:buClr>
                <a:schemeClr val="accent2"/>
              </a:buClr>
              <a:buFont typeface="Arial" panose="020B0604020202020204" pitchFamily="34" charset="0"/>
              <a:buChar char="•"/>
              <a:defRPr/>
            </a:pPr>
            <a:r>
              <a:rPr lang="en-US" altLang="en-US" sz="2600" dirty="0"/>
              <a:t>Market analysts</a:t>
            </a:r>
          </a:p>
          <a:p>
            <a:pPr marL="685800" lvl="2" indent="-457200">
              <a:spcBef>
                <a:spcPts val="300"/>
              </a:spcBef>
              <a:buClr>
                <a:schemeClr val="accent2"/>
              </a:buClr>
              <a:buFont typeface="Arial" panose="020B0604020202020204" pitchFamily="34" charset="0"/>
              <a:buChar char="•"/>
              <a:defRPr/>
            </a:pPr>
            <a:r>
              <a:rPr lang="en-US" altLang="en-US" sz="2600" dirty="0"/>
              <a:t>Customers</a:t>
            </a:r>
          </a:p>
          <a:p>
            <a:pPr marL="685800" lvl="2" indent="-457200">
              <a:spcBef>
                <a:spcPts val="300"/>
              </a:spcBef>
              <a:buClr>
                <a:schemeClr val="accent2"/>
              </a:buClr>
              <a:buFont typeface="Arial" panose="020B0604020202020204" pitchFamily="34" charset="0"/>
              <a:buChar char="•"/>
              <a:defRPr/>
            </a:pPr>
            <a:r>
              <a:rPr lang="en-US" altLang="en-US" sz="2600" dirty="0"/>
              <a:t>Suppliers</a:t>
            </a:r>
          </a:p>
          <a:p>
            <a:pPr marL="685800" lvl="2" indent="-457200">
              <a:spcBef>
                <a:spcPts val="300"/>
              </a:spcBef>
              <a:buClr>
                <a:schemeClr val="accent2"/>
              </a:buClr>
              <a:buFont typeface="Arial" panose="020B0604020202020204" pitchFamily="34" charset="0"/>
              <a:buChar char="•"/>
              <a:defRPr/>
            </a:pPr>
            <a:r>
              <a:rPr lang="en-US" altLang="en-US" sz="2600" dirty="0"/>
              <a:t>G</a:t>
            </a:r>
            <a:r>
              <a:rPr lang="en-GB" altLang="en-US" sz="2600" dirty="0"/>
              <a:t>overnment agencies</a:t>
            </a:r>
          </a:p>
          <a:p>
            <a:pPr marL="685800" lvl="2" indent="-457200">
              <a:spcBef>
                <a:spcPts val="300"/>
              </a:spcBef>
              <a:buClr>
                <a:schemeClr val="accent2"/>
              </a:buClr>
              <a:buFont typeface="Arial" panose="020B0604020202020204" pitchFamily="34" charset="0"/>
              <a:buChar char="•"/>
              <a:defRPr/>
            </a:pPr>
            <a:r>
              <a:rPr lang="en-GB" altLang="en-US" sz="2600" dirty="0"/>
              <a:t>C</a:t>
            </a:r>
            <a:r>
              <a:rPr lang="en-US" altLang="en-US" sz="2600" dirty="0"/>
              <a:t>ommunity</a:t>
            </a:r>
          </a:p>
          <a:p>
            <a:endParaRPr lang="en-US" altLang="en-US" dirty="0"/>
          </a:p>
          <a:p>
            <a:endParaRPr lang="en-US" dirty="0"/>
          </a:p>
        </p:txBody>
      </p:sp>
      <p:sp>
        <p:nvSpPr>
          <p:cNvPr id="3" name="Title 2"/>
          <p:cNvSpPr>
            <a:spLocks noGrp="1"/>
          </p:cNvSpPr>
          <p:nvPr>
            <p:ph type="title"/>
          </p:nvPr>
        </p:nvSpPr>
        <p:spPr>
          <a:xfrm>
            <a:off x="762000" y="290457"/>
            <a:ext cx="8026400" cy="527837"/>
          </a:xfrm>
        </p:spPr>
        <p:txBody>
          <a:bodyPr/>
          <a:lstStyle/>
          <a:p>
            <a:r>
              <a:rPr lang="en-US" altLang="en-US" sz="4000" dirty="0"/>
              <a:t>Social Audit</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72833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407360"/>
          </a:xfrm>
        </p:spPr>
        <p:txBody>
          <a:bodyPr/>
          <a:lstStyle/>
          <a:p>
            <a:r>
              <a:rPr lang="en-US" altLang="en-US" sz="2800" dirty="0"/>
              <a:t>A comprehensive ethics education program:</a:t>
            </a:r>
          </a:p>
          <a:p>
            <a:pPr lvl="1">
              <a:buClr>
                <a:schemeClr val="accent2"/>
              </a:buClr>
            </a:pPr>
            <a:r>
              <a:rPr lang="en-US" altLang="en-US" sz="2600" dirty="0"/>
              <a:t>Encourages employees to act ethically</a:t>
            </a:r>
          </a:p>
          <a:p>
            <a:pPr lvl="1">
              <a:buClr>
                <a:schemeClr val="accent2"/>
              </a:buClr>
            </a:pPr>
            <a:r>
              <a:rPr lang="en-US" altLang="en-US" sz="2600" dirty="0"/>
              <a:t>Shows employees examples of how to apply the code of ethics in real life </a:t>
            </a:r>
          </a:p>
          <a:p>
            <a:r>
              <a:rPr lang="en-US" altLang="en-US" sz="2800" dirty="0"/>
              <a:t>Goals of ethics training:</a:t>
            </a:r>
          </a:p>
          <a:p>
            <a:pPr marL="685800" lvl="2" indent="-457200">
              <a:spcBef>
                <a:spcPts val="300"/>
              </a:spcBef>
              <a:buClr>
                <a:schemeClr val="accent2"/>
              </a:buClr>
              <a:buFont typeface="Arial" panose="020B0604020202020204" pitchFamily="34" charset="0"/>
              <a:buChar char="•"/>
              <a:defRPr/>
            </a:pPr>
            <a:r>
              <a:rPr lang="en-US" altLang="en-US" sz="2600" dirty="0"/>
              <a:t>Encourage employees to report any misconduct</a:t>
            </a:r>
          </a:p>
          <a:p>
            <a:pPr marL="685800" lvl="2" indent="-457200">
              <a:spcBef>
                <a:spcPts val="300"/>
              </a:spcBef>
              <a:buClr>
                <a:schemeClr val="accent2"/>
              </a:buClr>
              <a:buFont typeface="Arial" panose="020B0604020202020204" pitchFamily="34" charset="0"/>
              <a:buChar char="•"/>
              <a:defRPr/>
            </a:pPr>
            <a:r>
              <a:rPr lang="en-US" altLang="en-US" sz="2600" dirty="0"/>
              <a:t>Show employees effective ways of reporting incidents</a:t>
            </a:r>
          </a:p>
          <a:p>
            <a:pPr marL="685800" lvl="2" indent="-457200">
              <a:spcBef>
                <a:spcPts val="300"/>
              </a:spcBef>
              <a:buClr>
                <a:schemeClr val="accent2"/>
              </a:buClr>
              <a:buFont typeface="Arial" panose="020B0604020202020204" pitchFamily="34" charset="0"/>
              <a:buChar char="•"/>
              <a:defRPr/>
            </a:pPr>
            <a:r>
              <a:rPr lang="en-US" altLang="en-US" sz="2600" dirty="0"/>
              <a:t>Reassure employees that such feedback will be acted on and that they will not be subjected to retaliation</a:t>
            </a:r>
          </a:p>
          <a:p>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dirty="0"/>
              <a:t>Ethics Training for Employees</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83558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927229"/>
          </a:xfrm>
        </p:spPr>
        <p:txBody>
          <a:bodyPr/>
          <a:lstStyle/>
          <a:p>
            <a:r>
              <a:rPr lang="en-US" altLang="en-US" sz="2800" dirty="0"/>
              <a:t>Treating others fairly and with respect</a:t>
            </a:r>
          </a:p>
          <a:p>
            <a:r>
              <a:rPr lang="en-US" altLang="en-US" sz="2800" dirty="0"/>
              <a:t>Operating effectively in a multicultural environment</a:t>
            </a:r>
          </a:p>
          <a:p>
            <a:r>
              <a:rPr lang="en-US" altLang="en-US" sz="2800" dirty="0"/>
              <a:t>Accepting personal accountability for meeting business needs</a:t>
            </a:r>
          </a:p>
          <a:p>
            <a:r>
              <a:rPr lang="en-US" altLang="en-US" sz="2800" dirty="0"/>
              <a:t>Continually developing others and themselves</a:t>
            </a:r>
          </a:p>
          <a:p>
            <a:r>
              <a:rPr lang="en-US" altLang="en-US" sz="2800" dirty="0"/>
              <a:t>Operating openly and honestly with suppliers, customers, and other employees</a:t>
            </a:r>
          </a:p>
          <a:p>
            <a:endParaRPr lang="en-US" dirty="0"/>
          </a:p>
        </p:txBody>
      </p:sp>
      <p:sp>
        <p:nvSpPr>
          <p:cNvPr id="3" name="Title 2"/>
          <p:cNvSpPr>
            <a:spLocks noGrp="1"/>
          </p:cNvSpPr>
          <p:nvPr>
            <p:ph type="title"/>
          </p:nvPr>
        </p:nvSpPr>
        <p:spPr>
          <a:xfrm>
            <a:off x="762000" y="290457"/>
            <a:ext cx="8026400" cy="527837"/>
          </a:xfrm>
        </p:spPr>
        <p:txBody>
          <a:bodyPr/>
          <a:lstStyle/>
          <a:p>
            <a:r>
              <a:rPr lang="en-US" altLang="en-US" sz="4000" dirty="0"/>
              <a:t>Ethical Criteria in Employee Appraisals</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29284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1-5: This table presents a checklist of questions a manager should ask when trying to establish an ethical work environment:&#10;Does your organization have a code of ethics?&#10;Do employees know how and to whom to report any infractions of the code of ethics?&#10;Do employees feel that they can report violations of the code of ethics safely and without fear of retaliation?&#10;Do employees feel that action will be taken against those who violate the code of ethics?&#10;Do senior managers set an example by communicating the code of ethics and using it in their own decision making?&#10;Do managers evaluate and provide feedback to employees on how they operate with respect to the values and principles in the code of ethics?&#10;Are employees aware of sanctions for breaching the code of ethics?&#10;Do employees use the code of ethics in their decision making?&#10;"/>
          <p:cNvGraphicFramePr>
            <a:graphicFrameLocks noGrp="1"/>
          </p:cNvGraphicFramePr>
          <p:nvPr>
            <p:ph idx="1"/>
            <p:extLst>
              <p:ext uri="{D42A27DB-BD31-4B8C-83A1-F6EECF244321}">
                <p14:modId xmlns:p14="http://schemas.microsoft.com/office/powerpoint/2010/main" val="2954981354"/>
              </p:ext>
            </p:extLst>
          </p:nvPr>
        </p:nvGraphicFramePr>
        <p:xfrm>
          <a:off x="228600" y="1219200"/>
          <a:ext cx="8559800" cy="5466080"/>
        </p:xfrm>
        <a:graphic>
          <a:graphicData uri="http://schemas.openxmlformats.org/drawingml/2006/table">
            <a:tbl>
              <a:tblPr firstRow="1" bandRow="1">
                <a:tableStyleId>{5C22544A-7EE6-4342-B048-85BDC9FD1C3A}</a:tableStyleId>
              </a:tblPr>
              <a:tblGrid>
                <a:gridCol w="7391400">
                  <a:extLst>
                    <a:ext uri="{9D8B030D-6E8A-4147-A177-3AD203B41FA5}">
                      <a16:colId xmlns:a16="http://schemas.microsoft.com/office/drawing/2014/main" val="2523984613"/>
                    </a:ext>
                  </a:extLst>
                </a:gridCol>
                <a:gridCol w="609600">
                  <a:extLst>
                    <a:ext uri="{9D8B030D-6E8A-4147-A177-3AD203B41FA5}">
                      <a16:colId xmlns:a16="http://schemas.microsoft.com/office/drawing/2014/main" val="3826554217"/>
                    </a:ext>
                  </a:extLst>
                </a:gridCol>
                <a:gridCol w="558800">
                  <a:extLst>
                    <a:ext uri="{9D8B030D-6E8A-4147-A177-3AD203B41FA5}">
                      <a16:colId xmlns:a16="http://schemas.microsoft.com/office/drawing/2014/main" val="1118247502"/>
                    </a:ext>
                  </a:extLst>
                </a:gridCol>
              </a:tblGrid>
              <a:tr h="305884">
                <a:tc>
                  <a:txBody>
                    <a:bodyPr/>
                    <a:lstStyle/>
                    <a:p>
                      <a:r>
                        <a:rPr lang="en-US" sz="2000" dirty="0"/>
                        <a:t>QUESTION</a:t>
                      </a:r>
                    </a:p>
                  </a:txBody>
                  <a:tcPr/>
                </a:tc>
                <a:tc>
                  <a:txBody>
                    <a:bodyPr/>
                    <a:lstStyle/>
                    <a:p>
                      <a:r>
                        <a:rPr lang="en-US" sz="2000" dirty="0"/>
                        <a:t>YES</a:t>
                      </a:r>
                    </a:p>
                  </a:txBody>
                  <a:tcPr/>
                </a:tc>
                <a:tc>
                  <a:txBody>
                    <a:bodyPr/>
                    <a:lstStyle/>
                    <a:p>
                      <a:r>
                        <a:rPr lang="en-US" sz="2000" dirty="0"/>
                        <a:t>NO</a:t>
                      </a:r>
                    </a:p>
                  </a:txBody>
                  <a:tcPr/>
                </a:tc>
                <a:extLst>
                  <a:ext uri="{0D108BD9-81ED-4DB2-BD59-A6C34878D82A}">
                    <a16:rowId xmlns:a16="http://schemas.microsoft.com/office/drawing/2014/main" val="2834287682"/>
                  </a:ext>
                </a:extLst>
              </a:tr>
              <a:tr h="5053381">
                <a:tc>
                  <a:txBody>
                    <a:bodyPr/>
                    <a:lstStyle/>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Does your organization have a code of ethics?</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employees know how and to whom to report any infractions of the code of ethics?</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employees feel that they can report violations of the code of ethics safely and without fear of retaliation?</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employees feel that action will be taken against those who violate the code of ethics?</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senior managers set an example by communicating the code of ethics and using it in their own decision making?</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managers evaluate and provide feedback to employees on how they operate with respect to the values and principles in the code of ethics?</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Are employees aware of sanctions for breaching the code of ethics?</a:t>
                      </a:r>
                    </a:p>
                    <a:p>
                      <a:pPr marL="285750" indent="-285750">
                        <a:spcAft>
                          <a:spcPts val="200"/>
                        </a:spcAft>
                        <a:buClr>
                          <a:schemeClr val="accent2"/>
                        </a:buClr>
                        <a:buFont typeface="Arial" panose="020B0604020202020204" pitchFamily="34" charset="0"/>
                        <a:buChar char="•"/>
                      </a:pPr>
                      <a:r>
                        <a:rPr lang="en-US" sz="2100" b="0" i="0" u="none" strike="noStrike" kern="1200" baseline="0" dirty="0">
                          <a:solidFill>
                            <a:schemeClr val="dk1"/>
                          </a:solidFill>
                          <a:latin typeface="+mn-lt"/>
                          <a:ea typeface="+mn-ea"/>
                          <a:cs typeface="+mn-cs"/>
                        </a:rPr>
                        <a:t>Do employees use the code of ethics in their decision making?</a:t>
                      </a:r>
                      <a:endParaRPr lang="en-US" sz="21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90180411"/>
                  </a:ext>
                </a:extLst>
              </a:tr>
            </a:tbl>
          </a:graphicData>
        </a:graphic>
      </p:graphicFrame>
      <p:sp>
        <p:nvSpPr>
          <p:cNvPr id="3" name="Title 2"/>
          <p:cNvSpPr>
            <a:spLocks noGrp="1"/>
          </p:cNvSpPr>
          <p:nvPr>
            <p:ph type="title"/>
          </p:nvPr>
        </p:nvSpPr>
        <p:spPr>
          <a:xfrm>
            <a:off x="838200" y="133940"/>
            <a:ext cx="7950200" cy="840871"/>
          </a:xfrm>
        </p:spPr>
        <p:txBody>
          <a:bodyPr/>
          <a:lstStyle/>
          <a:p>
            <a:r>
              <a:rPr lang="en-US" sz="3200" dirty="0"/>
              <a:t>Manager’s Checklist for Establishing an </a:t>
            </a:r>
            <a:br>
              <a:rPr lang="en-US" sz="3200" dirty="0"/>
            </a:br>
            <a:r>
              <a:rPr lang="en-US" sz="3200" dirty="0"/>
              <a:t>Ethical Work Environment</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10920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33400" y="1295400"/>
            <a:ext cx="8331200" cy="5652317"/>
          </a:xfrm>
        </p:spPr>
        <p:txBody>
          <a:bodyPr/>
          <a:lstStyle/>
          <a:p>
            <a:pPr marL="457200" indent="-457200">
              <a:buFont typeface="+mj-lt"/>
              <a:buAutoNum type="arabicPeriod"/>
            </a:pPr>
            <a:r>
              <a:rPr lang="en-US" sz="2800" dirty="0"/>
              <a:t>Develop a problem statement</a:t>
            </a:r>
          </a:p>
          <a:p>
            <a:pPr lvl="3">
              <a:spcBef>
                <a:spcPts val="0"/>
              </a:spcBef>
              <a:buClr>
                <a:schemeClr val="accent2"/>
              </a:buClr>
            </a:pPr>
            <a:r>
              <a:rPr lang="en-US" sz="2400" dirty="0"/>
              <a:t>A clear, concise description of the issue</a:t>
            </a:r>
          </a:p>
          <a:p>
            <a:pPr lvl="3">
              <a:spcBef>
                <a:spcPts val="0"/>
              </a:spcBef>
              <a:buClr>
                <a:schemeClr val="accent2"/>
              </a:buClr>
            </a:pPr>
            <a:r>
              <a:rPr lang="en-US" sz="2400" dirty="0"/>
              <a:t>Don’t make assumptions; verify “facts”</a:t>
            </a:r>
          </a:p>
          <a:p>
            <a:pPr marL="457200" indent="-457200">
              <a:buFont typeface="+mj-lt"/>
              <a:buAutoNum type="arabicPeriod"/>
            </a:pPr>
            <a:r>
              <a:rPr lang="en-US" sz="2800" dirty="0"/>
              <a:t>Identify alternatives</a:t>
            </a:r>
          </a:p>
          <a:p>
            <a:pPr lvl="3">
              <a:spcBef>
                <a:spcPts val="0"/>
              </a:spcBef>
              <a:buClr>
                <a:schemeClr val="accent2"/>
              </a:buClr>
            </a:pPr>
            <a:r>
              <a:rPr lang="en-US" sz="2400" dirty="0"/>
              <a:t>Enlist help of others</a:t>
            </a:r>
          </a:p>
          <a:p>
            <a:pPr marL="457200" indent="-457200">
              <a:buFont typeface="+mj-lt"/>
              <a:buAutoNum type="arabicPeriod"/>
            </a:pPr>
            <a:r>
              <a:rPr lang="en-US" sz="2800" dirty="0"/>
              <a:t>Choose alternative</a:t>
            </a:r>
          </a:p>
          <a:p>
            <a:pPr lvl="3">
              <a:spcBef>
                <a:spcPts val="0"/>
              </a:spcBef>
              <a:buClr>
                <a:schemeClr val="accent2"/>
              </a:buClr>
            </a:pPr>
            <a:r>
              <a:rPr lang="en-US" sz="2400" dirty="0"/>
              <a:t>Defensible and consistent; consider impact on others</a:t>
            </a:r>
          </a:p>
          <a:p>
            <a:pPr marL="457200" indent="-457200">
              <a:buFont typeface="+mj-lt"/>
              <a:buAutoNum type="arabicPeriod"/>
            </a:pPr>
            <a:r>
              <a:rPr lang="en-US" sz="2800" dirty="0"/>
              <a:t>Implement decision</a:t>
            </a:r>
          </a:p>
          <a:p>
            <a:pPr lvl="3">
              <a:spcBef>
                <a:spcPts val="0"/>
              </a:spcBef>
              <a:buClr>
                <a:schemeClr val="accent2"/>
              </a:buClr>
            </a:pPr>
            <a:r>
              <a:rPr lang="en-US" sz="2400" dirty="0"/>
              <a:t>Transition plan</a:t>
            </a:r>
          </a:p>
          <a:p>
            <a:pPr marL="457200" indent="-457200">
              <a:buFont typeface="+mj-lt"/>
              <a:buAutoNum type="arabicPeriod"/>
            </a:pPr>
            <a:r>
              <a:rPr lang="en-US" sz="2800" dirty="0"/>
              <a:t>Evaluate results</a:t>
            </a:r>
          </a:p>
          <a:p>
            <a:pPr lvl="3">
              <a:spcBef>
                <a:spcPts val="0"/>
              </a:spcBef>
              <a:buClr>
                <a:schemeClr val="accent2"/>
              </a:buClr>
            </a:pPr>
            <a:r>
              <a:rPr lang="en-US" sz="2400" dirty="0"/>
              <a:t>Poor alternative?</a:t>
            </a:r>
          </a:p>
          <a:p>
            <a:pPr lvl="3">
              <a:spcBef>
                <a:spcPts val="0"/>
              </a:spcBef>
              <a:buClr>
                <a:schemeClr val="accent2"/>
              </a:buClr>
            </a:pPr>
            <a:r>
              <a:rPr lang="en-US" sz="2400" dirty="0"/>
              <a:t>Bad implementation?</a:t>
            </a:r>
          </a:p>
          <a:p>
            <a:endParaRPr lang="en-US" dirty="0"/>
          </a:p>
        </p:txBody>
      </p:sp>
      <p:sp>
        <p:nvSpPr>
          <p:cNvPr id="7" name="Title 6"/>
          <p:cNvSpPr>
            <a:spLocks noGrp="1"/>
          </p:cNvSpPr>
          <p:nvPr>
            <p:ph type="title"/>
          </p:nvPr>
        </p:nvSpPr>
        <p:spPr>
          <a:xfrm>
            <a:off x="838200" y="304800"/>
            <a:ext cx="8026400" cy="475066"/>
          </a:xfrm>
        </p:spPr>
        <p:txBody>
          <a:bodyPr/>
          <a:lstStyle/>
          <a:p>
            <a:r>
              <a:rPr lang="en-US" sz="3600" dirty="0"/>
              <a:t>Five-Step Ethical Decision-Making Process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9229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5307607"/>
          </a:xfrm>
        </p:spPr>
        <p:txBody>
          <a:bodyPr/>
          <a:lstStyle/>
          <a:p>
            <a:pPr>
              <a:spcBef>
                <a:spcPts val="600"/>
              </a:spcBef>
              <a:spcAft>
                <a:spcPts val="300"/>
              </a:spcAft>
            </a:pPr>
            <a:r>
              <a:rPr lang="en-US" altLang="en-US" sz="2800" dirty="0"/>
              <a:t>Surveillance of citizens by governments</a:t>
            </a:r>
          </a:p>
          <a:p>
            <a:pPr>
              <a:spcBef>
                <a:spcPts val="600"/>
              </a:spcBef>
              <a:spcAft>
                <a:spcPts val="300"/>
              </a:spcAft>
            </a:pPr>
            <a:r>
              <a:rPr lang="en-US" altLang="en-US" sz="2800" dirty="0"/>
              <a:t>Email and Internet access monitoring at work</a:t>
            </a:r>
          </a:p>
          <a:p>
            <a:pPr>
              <a:spcBef>
                <a:spcPts val="600"/>
              </a:spcBef>
              <a:spcAft>
                <a:spcPts val="300"/>
              </a:spcAft>
            </a:pPr>
            <a:r>
              <a:rPr lang="en-US" altLang="en-US" sz="2800" dirty="0"/>
              <a:t>Music and movies downloaded in violation of </a:t>
            </a:r>
            <a:br>
              <a:rPr lang="en-US" altLang="en-US" sz="2800" dirty="0"/>
            </a:br>
            <a:r>
              <a:rPr lang="en-US" altLang="en-US" sz="2800" dirty="0"/>
              <a:t>copyright laws</a:t>
            </a:r>
          </a:p>
          <a:p>
            <a:pPr>
              <a:spcBef>
                <a:spcPts val="600"/>
              </a:spcBef>
              <a:spcAft>
                <a:spcPts val="300"/>
              </a:spcAft>
            </a:pPr>
            <a:r>
              <a:rPr lang="en-US" altLang="en-US" sz="2800" dirty="0"/>
              <a:t>Unsolicited email and text messages</a:t>
            </a:r>
          </a:p>
          <a:p>
            <a:pPr>
              <a:spcBef>
                <a:spcPts val="600"/>
              </a:spcBef>
              <a:spcAft>
                <a:spcPts val="300"/>
              </a:spcAft>
            </a:pPr>
            <a:r>
              <a:rPr lang="en-US" altLang="en-US" sz="2800" dirty="0"/>
              <a:t>Identify theft by hackers</a:t>
            </a:r>
          </a:p>
          <a:p>
            <a:pPr>
              <a:spcBef>
                <a:spcPts val="600"/>
              </a:spcBef>
              <a:spcAft>
                <a:spcPts val="300"/>
              </a:spcAft>
            </a:pPr>
            <a:r>
              <a:rPr lang="en-US" altLang="en-US" sz="2800" dirty="0"/>
              <a:t>Plagiarism by students</a:t>
            </a:r>
          </a:p>
          <a:p>
            <a:pPr>
              <a:spcBef>
                <a:spcPts val="600"/>
              </a:spcBef>
              <a:spcAft>
                <a:spcPts val="300"/>
              </a:spcAft>
            </a:pPr>
            <a:r>
              <a:rPr lang="en-US" altLang="en-US" sz="2800" dirty="0"/>
              <a:t>Cookies and spyware used to track users’ online purchases and activities</a:t>
            </a:r>
          </a:p>
          <a:p>
            <a:endParaRPr lang="en-US" altLang="en-US" dirty="0"/>
          </a:p>
          <a:p>
            <a:endParaRPr lang="en-US" dirty="0"/>
          </a:p>
        </p:txBody>
      </p:sp>
      <p:sp>
        <p:nvSpPr>
          <p:cNvPr id="3" name="Title 2"/>
          <p:cNvSpPr>
            <a:spLocks noGrp="1"/>
          </p:cNvSpPr>
          <p:nvPr>
            <p:ph type="title"/>
          </p:nvPr>
        </p:nvSpPr>
        <p:spPr>
          <a:xfrm>
            <a:off x="762000" y="55139"/>
            <a:ext cx="8026400" cy="998478"/>
          </a:xfrm>
        </p:spPr>
        <p:txBody>
          <a:bodyPr/>
          <a:lstStyle/>
          <a:p>
            <a:r>
              <a:rPr lang="en-US" altLang="en-US" sz="3800" dirty="0"/>
              <a:t>Concerns About the Ethical Use of Information Technology</a:t>
            </a:r>
            <a:endParaRPr lang="en-US" sz="3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672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01" y="1104878"/>
            <a:ext cx="8415338" cy="5129096"/>
          </a:xfrm>
        </p:spPr>
        <p:txBody>
          <a:bodyPr/>
          <a:lstStyle/>
          <a:p>
            <a:pPr>
              <a:spcAft>
                <a:spcPts val="600"/>
              </a:spcAft>
            </a:pPr>
            <a:r>
              <a:rPr lang="en-US" sz="2800" b="1" dirty="0"/>
              <a:t>What is ethics?</a:t>
            </a:r>
          </a:p>
          <a:p>
            <a:pPr lvl="1">
              <a:buClr>
                <a:schemeClr val="accent2"/>
              </a:buClr>
            </a:pPr>
            <a:r>
              <a:rPr lang="en-US" sz="2600" dirty="0"/>
              <a:t>Ethics: A code of behavior defined by the group to which one belongs</a:t>
            </a:r>
          </a:p>
          <a:p>
            <a:pPr lvl="1">
              <a:buClr>
                <a:schemeClr val="accent2"/>
              </a:buClr>
            </a:pPr>
            <a:r>
              <a:rPr lang="en-US" sz="2600" dirty="0"/>
              <a:t>Morals: Personal principles upon which an individual bases decisions about right and wrong</a:t>
            </a:r>
          </a:p>
          <a:p>
            <a:pPr lvl="1">
              <a:buClr>
                <a:schemeClr val="accent2"/>
              </a:buClr>
            </a:pPr>
            <a:r>
              <a:rPr lang="en-US" sz="2600" dirty="0"/>
              <a:t>A person who acts with integrity acts in accordance with a personal code of principles.</a:t>
            </a:r>
          </a:p>
          <a:p>
            <a:pPr lvl="1">
              <a:buClr>
                <a:schemeClr val="accent2"/>
              </a:buClr>
            </a:pPr>
            <a:r>
              <a:rPr lang="en-US" sz="2600" dirty="0"/>
              <a:t>Law: A system of rules that tells us what we can and </a:t>
            </a:r>
            <a:br>
              <a:rPr lang="en-US" sz="2600" dirty="0"/>
            </a:br>
            <a:r>
              <a:rPr lang="en-US" sz="2600" dirty="0"/>
              <a:t>cannot do </a:t>
            </a:r>
          </a:p>
          <a:p>
            <a:pPr lvl="1">
              <a:buClr>
                <a:schemeClr val="accent2"/>
              </a:buClr>
            </a:pPr>
            <a:r>
              <a:rPr lang="en-US" sz="2600" dirty="0"/>
              <a:t>Code of ethics: States the principles and core values essential to one’s work</a:t>
            </a:r>
          </a:p>
          <a:p>
            <a:pPr lvl="1">
              <a:buClr>
                <a:schemeClr val="accent2"/>
              </a:buClr>
            </a:pPr>
            <a:r>
              <a:rPr lang="en-US" sz="2600" dirty="0"/>
              <a:t>An activity may be legal but still not be ethical.</a:t>
            </a:r>
          </a:p>
        </p:txBody>
      </p:sp>
      <p:sp>
        <p:nvSpPr>
          <p:cNvPr id="3" name="Title 2"/>
          <p:cNvSpPr>
            <a:spLocks noGrp="1"/>
          </p:cNvSpPr>
          <p:nvPr>
            <p:ph type="title"/>
          </p:nvPr>
        </p:nvSpPr>
        <p:spPr>
          <a:xfrm>
            <a:off x="762000" y="290457"/>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26636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3853363"/>
          </a:xfrm>
        </p:spPr>
        <p:txBody>
          <a:bodyPr/>
          <a:lstStyle/>
          <a:p>
            <a:pPr>
              <a:spcAft>
                <a:spcPts val="600"/>
              </a:spcAft>
            </a:pPr>
            <a:r>
              <a:rPr lang="en-US" sz="2800" b="1" dirty="0"/>
              <a:t>What trends have increased the likelihood of unethical behavior?</a:t>
            </a:r>
          </a:p>
          <a:p>
            <a:pPr lvl="1">
              <a:buClr>
                <a:schemeClr val="accent2"/>
              </a:buClr>
            </a:pPr>
            <a:r>
              <a:rPr lang="en-US" sz="2600" dirty="0"/>
              <a:t>More complex work environments make it more difficult to apply principles and codes of ethics consistently.</a:t>
            </a:r>
          </a:p>
          <a:p>
            <a:pPr lvl="1">
              <a:buClr>
                <a:schemeClr val="accent2"/>
              </a:buClr>
            </a:pPr>
            <a:r>
              <a:rPr lang="en-US" sz="2600" dirty="0"/>
              <a:t>Organizations may resort to unethical behavior to maintain profits in an uncertain economic climate.</a:t>
            </a:r>
          </a:p>
          <a:p>
            <a:pPr lvl="1">
              <a:buClr>
                <a:schemeClr val="accent2"/>
              </a:buClr>
            </a:pPr>
            <a:r>
              <a:rPr lang="en-US" sz="2600" dirty="0"/>
              <a:t>Highly successful individuals may fail to act in morally appropriate ways.</a:t>
            </a:r>
          </a:p>
          <a:p>
            <a:pPr marL="0" indent="0">
              <a:buNone/>
            </a:pPr>
            <a:endParaRPr lang="en-US" dirty="0"/>
          </a:p>
        </p:txBody>
      </p:sp>
      <p:sp>
        <p:nvSpPr>
          <p:cNvPr id="3" name="Title 2"/>
          <p:cNvSpPr>
            <a:spLocks noGrp="1"/>
          </p:cNvSpPr>
          <p:nvPr>
            <p:ph type="title"/>
          </p:nvPr>
        </p:nvSpPr>
        <p:spPr>
          <a:xfrm>
            <a:off x="762000" y="290457"/>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416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066800"/>
            <a:ext cx="8559800" cy="6204006"/>
          </a:xfrm>
        </p:spPr>
        <p:txBody>
          <a:bodyPr/>
          <a:lstStyle/>
          <a:p>
            <a:pPr>
              <a:spcAft>
                <a:spcPts val="600"/>
              </a:spcAft>
            </a:pPr>
            <a:r>
              <a:rPr lang="en-US" sz="2800" b="1" dirty="0"/>
              <a:t>What is corporate social responsibility (CSR), and why is fostering good business ethics important?</a:t>
            </a:r>
          </a:p>
          <a:p>
            <a:pPr lvl="1">
              <a:spcBef>
                <a:spcPts val="300"/>
              </a:spcBef>
              <a:spcAft>
                <a:spcPts val="300"/>
              </a:spcAft>
              <a:buClr>
                <a:schemeClr val="accent2"/>
              </a:buClr>
            </a:pPr>
            <a:r>
              <a:rPr lang="en-US" sz="2600" dirty="0"/>
              <a:t>CSR: An organization takes responsibility for the impact </a:t>
            </a:r>
            <a:br>
              <a:rPr lang="en-US" sz="2600" dirty="0"/>
            </a:br>
            <a:r>
              <a:rPr lang="en-US" sz="2600" dirty="0"/>
              <a:t>of its actions </a:t>
            </a:r>
          </a:p>
          <a:p>
            <a:pPr lvl="1">
              <a:spcBef>
                <a:spcPts val="300"/>
              </a:spcBef>
              <a:spcAft>
                <a:spcPts val="300"/>
              </a:spcAft>
              <a:buClr>
                <a:schemeClr val="accent2"/>
              </a:buClr>
            </a:pPr>
            <a:r>
              <a:rPr lang="en-US" sz="2600" dirty="0"/>
              <a:t>Supply chain sustainability: Meets current needs without compromising the ability of future generations to meet</a:t>
            </a:r>
            <a:br>
              <a:rPr lang="en-US" sz="2600" dirty="0"/>
            </a:br>
            <a:r>
              <a:rPr lang="en-US" sz="2600" dirty="0"/>
              <a:t>their needs</a:t>
            </a:r>
          </a:p>
          <a:p>
            <a:pPr lvl="1">
              <a:buClr>
                <a:schemeClr val="accent2"/>
              </a:buClr>
            </a:pPr>
            <a:r>
              <a:rPr lang="en-US" sz="2600" dirty="0"/>
              <a:t>Reasons to foster CSR and good business ethics:</a:t>
            </a:r>
          </a:p>
          <a:p>
            <a:pPr lvl="2">
              <a:spcBef>
                <a:spcPts val="0"/>
              </a:spcBef>
            </a:pPr>
            <a:r>
              <a:rPr lang="en-US" sz="2500" dirty="0"/>
              <a:t>Gain the goodwill of the community</a:t>
            </a:r>
          </a:p>
          <a:p>
            <a:pPr lvl="2">
              <a:spcBef>
                <a:spcPts val="0"/>
              </a:spcBef>
            </a:pPr>
            <a:r>
              <a:rPr lang="en-US" sz="2500" dirty="0"/>
              <a:t>Create an organization that operates consistently</a:t>
            </a:r>
          </a:p>
          <a:p>
            <a:pPr lvl="2">
              <a:spcBef>
                <a:spcPts val="0"/>
              </a:spcBef>
            </a:pPr>
            <a:r>
              <a:rPr lang="en-US" sz="2500" dirty="0"/>
              <a:t>Foster good business practices</a:t>
            </a:r>
          </a:p>
          <a:p>
            <a:pPr lvl="2">
              <a:spcBef>
                <a:spcPts val="0"/>
              </a:spcBef>
            </a:pPr>
            <a:r>
              <a:rPr lang="en-US" sz="2500" dirty="0"/>
              <a:t>Protect the organization and employees from legal action</a:t>
            </a:r>
          </a:p>
          <a:p>
            <a:pPr lvl="2">
              <a:spcBef>
                <a:spcPts val="0"/>
              </a:spcBef>
            </a:pPr>
            <a:r>
              <a:rPr lang="en-US" sz="2500" dirty="0"/>
              <a:t>Avoid unfavorable publicity</a:t>
            </a:r>
          </a:p>
          <a:p>
            <a:endParaRPr lang="en-US" dirty="0"/>
          </a:p>
          <a:p>
            <a:endParaRPr lang="en-US" dirty="0"/>
          </a:p>
        </p:txBody>
      </p:sp>
      <p:sp>
        <p:nvSpPr>
          <p:cNvPr id="3" name="Title 2"/>
          <p:cNvSpPr>
            <a:spLocks noGrp="1"/>
          </p:cNvSpPr>
          <p:nvPr>
            <p:ph type="title"/>
          </p:nvPr>
        </p:nvSpPr>
        <p:spPr>
          <a:xfrm>
            <a:off x="762000" y="290458"/>
            <a:ext cx="8026400" cy="527837"/>
          </a:xfrm>
        </p:spPr>
        <p:txBody>
          <a:bodyPr/>
          <a:lstStyle/>
          <a:p>
            <a:r>
              <a:rPr lang="en-US" sz="4000" dirty="0"/>
              <a:t>Summary, Part 3</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4312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58547"/>
            <a:ext cx="8415338" cy="5444567"/>
          </a:xfrm>
        </p:spPr>
        <p:txBody>
          <a:bodyPr/>
          <a:lstStyle/>
          <a:p>
            <a:pPr>
              <a:spcAft>
                <a:spcPts val="600"/>
              </a:spcAft>
            </a:pPr>
            <a:r>
              <a:rPr lang="en-US" sz="2800" b="1" dirty="0"/>
              <a:t>What measures can organizations take to improve their business ethics?</a:t>
            </a:r>
          </a:p>
          <a:p>
            <a:pPr lvl="1">
              <a:buClr>
                <a:schemeClr val="accent2"/>
              </a:buClr>
            </a:pPr>
            <a:r>
              <a:rPr lang="en-US" sz="2600" dirty="0"/>
              <a:t>Appoint a corporate ethics officer.</a:t>
            </a:r>
          </a:p>
          <a:p>
            <a:pPr lvl="1">
              <a:buClr>
                <a:schemeClr val="accent2"/>
              </a:buClr>
            </a:pPr>
            <a:r>
              <a:rPr lang="en-US" sz="2600" dirty="0"/>
              <a:t>Require the board of directors to set and model high </a:t>
            </a:r>
            <a:br>
              <a:rPr lang="en-US" sz="2600" dirty="0"/>
            </a:br>
            <a:r>
              <a:rPr lang="en-US" sz="2600" dirty="0"/>
              <a:t>ethical standards.</a:t>
            </a:r>
          </a:p>
          <a:p>
            <a:pPr lvl="1">
              <a:buClr>
                <a:schemeClr val="accent2"/>
              </a:buClr>
            </a:pPr>
            <a:r>
              <a:rPr lang="en-US" sz="2600" dirty="0"/>
              <a:t>Establish a corporate code of ethics.</a:t>
            </a:r>
          </a:p>
          <a:p>
            <a:pPr lvl="1">
              <a:buClr>
                <a:schemeClr val="accent2"/>
              </a:buClr>
            </a:pPr>
            <a:r>
              <a:rPr lang="en-US" sz="2600" dirty="0"/>
              <a:t>Conduct social audits.</a:t>
            </a:r>
          </a:p>
          <a:p>
            <a:pPr lvl="1">
              <a:buClr>
                <a:schemeClr val="accent2"/>
              </a:buClr>
            </a:pPr>
            <a:r>
              <a:rPr lang="en-US" sz="2600" dirty="0"/>
              <a:t>Require employees to take ethics training.</a:t>
            </a:r>
          </a:p>
          <a:p>
            <a:pPr lvl="1">
              <a:buClr>
                <a:schemeClr val="accent2"/>
              </a:buClr>
            </a:pPr>
            <a:r>
              <a:rPr lang="en-US" sz="2600" dirty="0"/>
              <a:t>Include ethical criteria in employee appraisals.</a:t>
            </a:r>
          </a:p>
          <a:p>
            <a:pPr lvl="1">
              <a:buClr>
                <a:schemeClr val="accent2"/>
              </a:buClr>
            </a:pPr>
            <a:r>
              <a:rPr lang="en-US" sz="2600" dirty="0"/>
              <a:t>Create and ethical work environment.</a:t>
            </a:r>
          </a:p>
          <a:p>
            <a:endParaRPr lang="en-US" dirty="0"/>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75194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738220"/>
          </a:xfrm>
        </p:spPr>
        <p:txBody>
          <a:bodyPr/>
          <a:lstStyle/>
          <a:p>
            <a:r>
              <a:rPr lang="en-US" sz="2800" b="1" dirty="0"/>
              <a:t>How can you include ethical considerations in your decision making?</a:t>
            </a:r>
          </a:p>
          <a:p>
            <a:pPr lvl="1">
              <a:buClr>
                <a:schemeClr val="accent2"/>
              </a:buClr>
            </a:pPr>
            <a:r>
              <a:rPr lang="en-US" sz="2600" dirty="0"/>
              <a:t>Use a five-step model for decision making:</a:t>
            </a:r>
          </a:p>
          <a:p>
            <a:pPr marL="857250" lvl="2" indent="-457200">
              <a:buClr>
                <a:schemeClr val="accent1"/>
              </a:buClr>
              <a:buFont typeface="+mj-lt"/>
              <a:buAutoNum type="arabicPeriod"/>
            </a:pPr>
            <a:r>
              <a:rPr lang="en-US" sz="2400" dirty="0"/>
              <a:t>Define the problem</a:t>
            </a:r>
          </a:p>
          <a:p>
            <a:pPr marL="857250" lvl="2" indent="-457200">
              <a:buClr>
                <a:schemeClr val="accent1"/>
              </a:buClr>
              <a:buFont typeface="+mj-lt"/>
              <a:buAutoNum type="arabicPeriod"/>
            </a:pPr>
            <a:r>
              <a:rPr lang="en-US" sz="2400" dirty="0"/>
              <a:t>Identify alternatives</a:t>
            </a:r>
          </a:p>
          <a:p>
            <a:pPr marL="857250" lvl="2" indent="-457200">
              <a:buClr>
                <a:schemeClr val="accent1"/>
              </a:buClr>
              <a:buFont typeface="+mj-lt"/>
              <a:buAutoNum type="arabicPeriod"/>
            </a:pPr>
            <a:r>
              <a:rPr lang="en-US" sz="2400" dirty="0"/>
              <a:t>Choose an alternative</a:t>
            </a:r>
          </a:p>
          <a:p>
            <a:pPr marL="857250" lvl="2" indent="-457200">
              <a:buClr>
                <a:schemeClr val="accent1"/>
              </a:buClr>
              <a:buFont typeface="+mj-lt"/>
              <a:buAutoNum type="arabicPeriod"/>
            </a:pPr>
            <a:r>
              <a:rPr lang="en-US" sz="2400" dirty="0"/>
              <a:t>Implement the decision</a:t>
            </a:r>
          </a:p>
          <a:p>
            <a:pPr marL="857250" lvl="2" indent="-457200">
              <a:buClr>
                <a:schemeClr val="accent1"/>
              </a:buClr>
              <a:buFont typeface="+mj-lt"/>
              <a:buAutoNum type="arabicPeriod"/>
            </a:pPr>
            <a:r>
              <a:rPr lang="en-US" sz="2400" dirty="0"/>
              <a:t>Monitor the results</a:t>
            </a:r>
          </a:p>
          <a:p>
            <a:pPr lvl="1">
              <a:buClr>
                <a:schemeClr val="accent2"/>
              </a:buClr>
            </a:pPr>
            <a:r>
              <a:rPr lang="en-US" sz="2400" dirty="0"/>
              <a:t>Incorporate</a:t>
            </a:r>
            <a:r>
              <a:rPr lang="en-US" sz="2600" dirty="0"/>
              <a:t> ethical considerations into decision making:</a:t>
            </a:r>
          </a:p>
          <a:p>
            <a:pPr lvl="2"/>
            <a:r>
              <a:rPr lang="en-US" sz="2400" dirty="0"/>
              <a:t>Weigh laws, guidelines, and principals.</a:t>
            </a:r>
          </a:p>
          <a:p>
            <a:pPr lvl="2"/>
            <a:r>
              <a:rPr lang="en-US" sz="2400" dirty="0"/>
              <a:t>Consider the impact of the decision.</a:t>
            </a:r>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30032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3539"/>
            <a:ext cx="8415338" cy="4855175"/>
          </a:xfrm>
        </p:spPr>
        <p:txBody>
          <a:bodyPr/>
          <a:lstStyle/>
          <a:p>
            <a:pPr>
              <a:spcAft>
                <a:spcPts val="600"/>
              </a:spcAft>
            </a:pPr>
            <a:r>
              <a:rPr lang="en-US" sz="2800" b="1" dirty="0"/>
              <a:t>What trends have increased the risk that information technology will be used in an unethical manner?</a:t>
            </a:r>
          </a:p>
          <a:p>
            <a:pPr lvl="1">
              <a:buClr>
                <a:schemeClr val="accent2"/>
              </a:buClr>
            </a:pPr>
            <a:r>
              <a:rPr lang="en-US" sz="2600" dirty="0"/>
              <a:t> The growth of the Internet and social networks</a:t>
            </a:r>
          </a:p>
          <a:p>
            <a:pPr lvl="1">
              <a:buClr>
                <a:schemeClr val="accent2"/>
              </a:buClr>
            </a:pPr>
            <a:r>
              <a:rPr lang="en-US" sz="2600" dirty="0"/>
              <a:t>The ability to capture, store, and analyze vast amounts </a:t>
            </a:r>
            <a:br>
              <a:rPr lang="en-US" sz="2600" dirty="0"/>
            </a:br>
            <a:r>
              <a:rPr lang="en-US" sz="2600" dirty="0"/>
              <a:t>of personal data</a:t>
            </a:r>
          </a:p>
          <a:p>
            <a:pPr lvl="1">
              <a:buClr>
                <a:schemeClr val="accent2"/>
              </a:buClr>
            </a:pPr>
            <a:r>
              <a:rPr lang="en-US" sz="2600" dirty="0"/>
              <a:t>A greater reliance on information systems in all aspects</a:t>
            </a:r>
            <a:br>
              <a:rPr lang="en-US" sz="2600" dirty="0"/>
            </a:br>
            <a:r>
              <a:rPr lang="en-US" sz="2600" dirty="0"/>
              <a:t>of life</a:t>
            </a:r>
          </a:p>
          <a:p>
            <a:pPr lvl="1">
              <a:buClr>
                <a:schemeClr val="accent2"/>
              </a:buClr>
            </a:pPr>
            <a:r>
              <a:rPr lang="en-US" sz="2600" dirty="0"/>
              <a:t>The importance of ethics and human values has been underemphasized</a:t>
            </a:r>
          </a:p>
          <a:p>
            <a:endParaRPr lang="en-US" sz="2800" dirty="0"/>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Summary,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20037807"/>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themeOverride>
</file>

<file path=ppt/theme/themeOverride2.xml><?xml version="1.0" encoding="utf-8"?>
<a:themeOverride xmlns:a="http://schemas.openxmlformats.org/drawingml/2006/main">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themeOverride>
</file>

<file path=docProps/app.xml><?xml version="1.0" encoding="utf-8"?>
<Properties xmlns="http://schemas.openxmlformats.org/officeDocument/2006/extended-properties" xmlns:vt="http://schemas.openxmlformats.org/officeDocument/2006/docPropsVTypes">
  <Template/>
  <TotalTime>11026</TotalTime>
  <Words>2780</Words>
  <Application>Microsoft Office PowerPoint</Application>
  <PresentationFormat>On-screen Show (4:3)</PresentationFormat>
  <Paragraphs>232</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Ethics in Information Technology</vt:lpstr>
      <vt:lpstr>Learning Objectives, Part 1</vt:lpstr>
      <vt:lpstr>Learning Objectives, Part 2</vt:lpstr>
      <vt:lpstr>What is Ethics?</vt:lpstr>
      <vt:lpstr>The Relationship Between Ethics and Morals</vt:lpstr>
      <vt:lpstr>Integrity</vt:lpstr>
      <vt:lpstr>Difference Between Morals, Ethics, and Laws</vt:lpstr>
      <vt:lpstr>Legal versus Ethical</vt:lpstr>
      <vt:lpstr>Ethics in the Business World</vt:lpstr>
      <vt:lpstr>Bathsheba Syndrome</vt:lpstr>
      <vt:lpstr>Who Is Responsible for Instances of Misconduct?</vt:lpstr>
      <vt:lpstr>Corporate Social Responsibility (CSR) </vt:lpstr>
      <vt:lpstr>Reasons to Foster Corporate Social Responsibility and Good Business Ethics</vt:lpstr>
      <vt:lpstr>Reducing the Risk of Unethical Behavior</vt:lpstr>
      <vt:lpstr>Characteristics of a Successful Ethics Program</vt:lpstr>
      <vt:lpstr>Corporate Ethics Officer</vt:lpstr>
      <vt:lpstr>Ethical Standards Set by Board of Directors</vt:lpstr>
      <vt:lpstr>Corporate Code of Ethics</vt:lpstr>
      <vt:lpstr>Social Audit</vt:lpstr>
      <vt:lpstr>Ethics Training for Employees</vt:lpstr>
      <vt:lpstr>Ethical Criteria in Employee Appraisals</vt:lpstr>
      <vt:lpstr>Manager’s Checklist for Establishing an  Ethical Work Environment</vt:lpstr>
      <vt:lpstr>Five-Step Ethical Decision-Making Process</vt:lpstr>
      <vt:lpstr>Concerns About the Ethical Use of Information Technology</vt:lpstr>
      <vt:lpstr>Summary, Part 1</vt:lpstr>
      <vt:lpstr>Summary, Part 2</vt:lpstr>
      <vt:lpstr>Summary, Part 3</vt:lpstr>
      <vt:lpstr>Summary, Part 4</vt:lpstr>
      <vt:lpstr>Summary, Part 5</vt:lpstr>
      <vt:lpstr>Summary, Part 6</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330</cp:revision>
  <cp:lastPrinted>2010-11-12T17:54:40Z</cp:lastPrinted>
  <dcterms:created xsi:type="dcterms:W3CDTF">2007-02-15T20:50:52Z</dcterms:created>
  <dcterms:modified xsi:type="dcterms:W3CDTF">2017-08-17T01:36:22Z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