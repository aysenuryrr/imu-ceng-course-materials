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41"/>
  </p:notesMasterIdLst>
  <p:handoutMasterIdLst>
    <p:handoutMasterId r:id="rId42"/>
  </p:handoutMasterIdLst>
  <p:sldIdLst>
    <p:sldId id="264" r:id="rId2"/>
    <p:sldId id="261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86" autoAdjust="0"/>
    <p:restoredTop sz="99857" autoAdjust="0"/>
  </p:normalViewPr>
  <p:slideViewPr>
    <p:cSldViewPr>
      <p:cViewPr varScale="1">
        <p:scale>
          <a:sx n="40" d="100"/>
          <a:sy n="40" d="100"/>
        </p:scale>
        <p:origin x="151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8/16/2017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8/16/2017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47000" cy="620170"/>
          </a:xfrm>
        </p:spPr>
        <p:txBody>
          <a:bodyPr anchor="ctr"/>
          <a:lstStyle/>
          <a:p>
            <a:r>
              <a:rPr lang="en-US" sz="4700" b="1" dirty="0"/>
              <a:t>Ethics in Information Technology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2881558"/>
          </a:xfrm>
        </p:spPr>
        <p:txBody>
          <a:bodyPr/>
          <a:lstStyle/>
          <a:p>
            <a:r>
              <a:rPr lang="en-US" sz="3400" dirty="0"/>
              <a:t>Chapter 7</a:t>
            </a:r>
          </a:p>
          <a:p>
            <a:r>
              <a:rPr lang="en-US" sz="3800" b="1" dirty="0"/>
              <a:t>Ethical Decisions in </a:t>
            </a:r>
            <a:br>
              <a:rPr lang="en-US" sz="3800" b="1" dirty="0"/>
            </a:br>
            <a:r>
              <a:rPr lang="en-US" sz="3800" b="1" dirty="0"/>
              <a:t>Software Development</a:t>
            </a:r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604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1" y="460303"/>
            <a:ext cx="5528860" cy="523220"/>
          </a:xfrm>
        </p:spPr>
        <p:txBody>
          <a:bodyPr/>
          <a:lstStyle/>
          <a:p>
            <a:r>
              <a:rPr lang="en-US" sz="4000" dirty="0"/>
              <a:t>Learning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302127"/>
            <a:ext cx="6337869" cy="4031873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is meant by software quality, why is it so important, and what potential ethical issues do software manufacturers face when making decisions that involve trade-offs between project schedules, project costs, and software quality?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What are some effective strategies for developing quality systems?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28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64833"/>
            <a:ext cx="8415338" cy="4731552"/>
          </a:xfrm>
        </p:spPr>
        <p:txBody>
          <a:bodyPr/>
          <a:lstStyle/>
          <a:p>
            <a:pPr marL="171450" lvl="1">
              <a:spcBef>
                <a:spcPts val="800"/>
              </a:spcBef>
              <a:buClr>
                <a:schemeClr val="accent2"/>
              </a:buClr>
            </a:pPr>
            <a:r>
              <a:rPr lang="en-US" sz="2700" b="1" dirty="0"/>
              <a:t>High-quality software systems: </a:t>
            </a:r>
            <a:r>
              <a:rPr lang="en-US" sz="2700" dirty="0"/>
              <a:t>Easy to learn and use; perform quickly and efficiently, meet users’ needs; and operate safely and reliably, with minimal system downtime</a:t>
            </a:r>
          </a:p>
          <a:p>
            <a:pPr marL="171450" lvl="1">
              <a:spcBef>
                <a:spcPts val="800"/>
              </a:spcBef>
              <a:buClr>
                <a:schemeClr val="accent2"/>
              </a:buClr>
            </a:pPr>
            <a:r>
              <a:rPr lang="en-US" sz="2700" b="1" dirty="0"/>
              <a:t>Software defect: </a:t>
            </a:r>
            <a:r>
              <a:rPr lang="en-US" sz="2700" dirty="0"/>
              <a:t>Any error that, if not removed, could cause a software system to fail to meet its users’ needs</a:t>
            </a:r>
          </a:p>
          <a:p>
            <a:pPr marL="171450" lvl="1">
              <a:spcBef>
                <a:spcPts val="800"/>
              </a:spcBef>
              <a:buClr>
                <a:schemeClr val="accent2"/>
              </a:buClr>
            </a:pPr>
            <a:r>
              <a:rPr lang="en-US" sz="2700" b="1" dirty="0"/>
              <a:t>Software quality: </a:t>
            </a:r>
            <a:r>
              <a:rPr lang="en-US" sz="2700" dirty="0"/>
              <a:t>The degree to which a software product meets the needs of its users</a:t>
            </a:r>
          </a:p>
          <a:p>
            <a:pPr marL="171450" lvl="1" defTabSz="711200">
              <a:lnSpc>
                <a:spcPct val="90000"/>
              </a:lnSpc>
              <a:spcBef>
                <a:spcPts val="800"/>
              </a:spcBef>
              <a:spcAft>
                <a:spcPct val="15000"/>
              </a:spcAft>
              <a:buClr>
                <a:schemeClr val="accent2"/>
              </a:buClr>
              <a:buFontTx/>
              <a:buChar char="••"/>
              <a:defRPr/>
            </a:pPr>
            <a:r>
              <a:rPr lang="en-US" sz="2700" b="1" dirty="0"/>
              <a:t>Quality management: </a:t>
            </a:r>
            <a:r>
              <a:rPr lang="en-US" sz="2700" dirty="0"/>
              <a:t>Defining, measuring, and refining the quality of products and the development process</a:t>
            </a:r>
          </a:p>
          <a:p>
            <a:pPr marL="171450" lvl="1" defTabSz="711200">
              <a:lnSpc>
                <a:spcPct val="90000"/>
              </a:lnSpc>
              <a:spcBef>
                <a:spcPts val="800"/>
              </a:spcBef>
              <a:spcAft>
                <a:spcPct val="15000"/>
              </a:spcAft>
              <a:buClr>
                <a:schemeClr val="accent2"/>
              </a:buClr>
              <a:buFontTx/>
              <a:buChar char="••"/>
              <a:defRPr/>
            </a:pPr>
            <a:r>
              <a:rPr lang="en-US" sz="2700" b="1" dirty="0"/>
              <a:t>Deliverables</a:t>
            </a:r>
            <a:r>
              <a:rPr lang="en-US" sz="2700" dirty="0"/>
              <a:t>: Products of the development process, such as statements of requirements and flowcharts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Software Quality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2797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498172"/>
          </a:xfrm>
        </p:spPr>
        <p:txBody>
          <a:bodyPr/>
          <a:lstStyle/>
          <a:p>
            <a:r>
              <a:rPr lang="en-US" sz="2700" dirty="0"/>
              <a:t>Many developers do not know how to design quality into software; others do not take the time to do so.</a:t>
            </a:r>
          </a:p>
          <a:p>
            <a:pPr lvl="1">
              <a:buClr>
                <a:schemeClr val="accent2"/>
              </a:buClr>
            </a:pPr>
            <a:r>
              <a:rPr lang="en-US" altLang="en-US" sz="2500" dirty="0"/>
              <a:t>Developers must define and follow a set of software engineering principles and be committed to learning </a:t>
            </a:r>
            <a:br>
              <a:rPr lang="en-US" altLang="en-US" sz="2500" dirty="0"/>
            </a:br>
            <a:r>
              <a:rPr lang="en-US" altLang="en-US" sz="2500" dirty="0"/>
              <a:t>from mistakes.</a:t>
            </a:r>
          </a:p>
          <a:p>
            <a:pPr lvl="1">
              <a:buClr>
                <a:schemeClr val="accent2"/>
              </a:buClr>
            </a:pPr>
            <a:r>
              <a:rPr lang="en-US" altLang="en-US" sz="2500" dirty="0"/>
              <a:t>Developers must understand the environment in which </a:t>
            </a:r>
            <a:br>
              <a:rPr lang="en-US" altLang="en-US" sz="2500" dirty="0"/>
            </a:br>
            <a:r>
              <a:rPr lang="en-US" altLang="en-US" sz="2500" dirty="0"/>
              <a:t>their systems will operate and design systems immune to human error.</a:t>
            </a:r>
          </a:p>
          <a:p>
            <a:r>
              <a:rPr lang="en-US" altLang="en-US" sz="2700" dirty="0"/>
              <a:t>Extreme pressure that software companies feel to reduce the time to market for their products</a:t>
            </a:r>
          </a:p>
          <a:p>
            <a:pPr lvl="1">
              <a:buClr>
                <a:schemeClr val="accent2"/>
              </a:buClr>
            </a:pPr>
            <a:r>
              <a:rPr lang="en-US" altLang="en-US" sz="2500" dirty="0"/>
              <a:t>Resources and time needed to ensure quality are often </a:t>
            </a:r>
            <a:br>
              <a:rPr lang="en-US" altLang="en-US" sz="2500" dirty="0"/>
            </a:br>
            <a:r>
              <a:rPr lang="en-US" altLang="en-US" sz="2500" dirty="0"/>
              <a:t>cut under the pressure to ship a new product</a:t>
            </a:r>
          </a:p>
          <a:p>
            <a:pPr marL="171450" lvl="1">
              <a:spcBef>
                <a:spcPts val="400"/>
              </a:spcBef>
              <a:buClr>
                <a:schemeClr val="accent2"/>
              </a:buClr>
            </a:pPr>
            <a:endParaRPr lang="en-US" sz="2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Causes of Poor Quality 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0436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05638"/>
            <a:ext cx="8415338" cy="4561762"/>
          </a:xfrm>
        </p:spPr>
        <p:txBody>
          <a:bodyPr/>
          <a:lstStyle/>
          <a:p>
            <a:pPr marL="171450" lvl="1">
              <a:spcBef>
                <a:spcPts val="400"/>
              </a:spcBef>
              <a:buClr>
                <a:schemeClr val="accent2"/>
              </a:buClr>
            </a:pPr>
            <a:r>
              <a:rPr lang="en-US" sz="2800" b="1" dirty="0"/>
              <a:t>Business information system: </a:t>
            </a:r>
            <a:r>
              <a:rPr lang="en-US" sz="2800" dirty="0"/>
              <a:t>A set of interrelated components that collects and processes data and disseminates the output</a:t>
            </a:r>
          </a:p>
          <a:p>
            <a:pPr marL="685800" lvl="2" indent="-457200">
              <a:spcBef>
                <a:spcPts val="4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Captures and records business transactions</a:t>
            </a:r>
          </a:p>
          <a:p>
            <a:pPr marL="685800" lvl="2" indent="-457200">
              <a:spcBef>
                <a:spcPts val="4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Controls industrial processes and the operation of industrial and consumer products</a:t>
            </a:r>
          </a:p>
          <a:p>
            <a:pPr marL="685800" lvl="2" indent="-457200">
              <a:spcBef>
                <a:spcPts val="4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Decision support system (DSS): </a:t>
            </a:r>
            <a:r>
              <a:rPr lang="en-US" sz="2600" dirty="0"/>
              <a:t>Used to improve </a:t>
            </a:r>
            <a:br>
              <a:rPr lang="en-US" sz="2600" dirty="0"/>
            </a:br>
            <a:r>
              <a:rPr lang="en-US" sz="2600" dirty="0"/>
              <a:t>decision making</a:t>
            </a:r>
          </a:p>
          <a:p>
            <a:pPr marL="171450" lvl="1">
              <a:spcBef>
                <a:spcPts val="400"/>
              </a:spcBef>
              <a:buClr>
                <a:schemeClr val="accent2"/>
              </a:buClr>
            </a:pPr>
            <a:r>
              <a:rPr lang="en-US" sz="2800" dirty="0"/>
              <a:t>Mismanaged software can cause missed product deadlines, increased product development costs, and delivery of low-quality products.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The Importance of Software Quality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18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5264518"/>
          </a:xfrm>
        </p:spPr>
        <p:txBody>
          <a:bodyPr/>
          <a:lstStyle/>
          <a:p>
            <a:pPr marL="171450" lvl="1">
              <a:spcBef>
                <a:spcPts val="1200"/>
              </a:spcBef>
              <a:buClr>
                <a:schemeClr val="accent2"/>
              </a:buClr>
            </a:pPr>
            <a:r>
              <a:rPr lang="en-US" sz="2800" dirty="0"/>
              <a:t>Use of software introduces product liability issues</a:t>
            </a:r>
          </a:p>
          <a:p>
            <a:r>
              <a:rPr lang="en-US" sz="2800" b="1" dirty="0"/>
              <a:t>Product liability: </a:t>
            </a:r>
            <a:r>
              <a:rPr lang="en-US" sz="2800" dirty="0"/>
              <a:t>The liability of manufacturers, sellers, lessors, and others for injuries caused by defective products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Claims are based on strict liability, negligence, breach of warranty, or misrepresentation.</a:t>
            </a:r>
          </a:p>
          <a:p>
            <a:r>
              <a:rPr lang="en-US" sz="2800" b="1" dirty="0"/>
              <a:t>Strict liability: </a:t>
            </a:r>
            <a:r>
              <a:rPr lang="en-US" sz="2800" dirty="0"/>
              <a:t>The defendant is held responsible for injury, regardless of negligence or intent.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Plaintiff must prove only that the software product is defective or unreasonably dangerous and that the defect caused the injury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altLang="en-US" sz="4000" dirty="0"/>
              <a:t>Software Product Liability, Part 1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61380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965975"/>
          </a:xfrm>
        </p:spPr>
        <p:txBody>
          <a:bodyPr/>
          <a:lstStyle/>
          <a:p>
            <a:r>
              <a:rPr lang="en-US" sz="3000" dirty="0"/>
              <a:t>Legal defenses used against strict liability</a:t>
            </a:r>
          </a:p>
          <a:p>
            <a:pPr marL="685800" lvl="2" indent="-45720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Doctrine of supervening event</a:t>
            </a:r>
          </a:p>
          <a:p>
            <a:pPr marL="685800" lvl="2" indent="-45720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Government contractor defense</a:t>
            </a:r>
          </a:p>
          <a:p>
            <a:pPr marL="685800" lvl="2" indent="-45720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Expired statute of limitations</a:t>
            </a:r>
          </a:p>
          <a:p>
            <a:r>
              <a:rPr lang="en-US" sz="3000" dirty="0"/>
              <a:t>Negligence</a:t>
            </a:r>
          </a:p>
          <a:p>
            <a:pPr marL="685800" lvl="2" indent="-45720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dirty="0"/>
              <a:t>Failure to do what a reasonable person would do, or doing something that a reasonable person would not do</a:t>
            </a:r>
          </a:p>
          <a:p>
            <a:pPr marL="685800" lvl="2" indent="-457200">
              <a:spcBef>
                <a:spcPts val="12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600" b="1" dirty="0"/>
              <a:t>Contributory negligence: </a:t>
            </a:r>
            <a:r>
              <a:rPr lang="en-US" sz="2600" dirty="0"/>
              <a:t>Plaintiffs’ own actions contributes to their injuries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altLang="en-US" sz="4000" dirty="0"/>
              <a:t>Software Product Liability, Part 2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727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398079"/>
            <a:ext cx="8415338" cy="3688702"/>
          </a:xfrm>
        </p:spPr>
        <p:txBody>
          <a:bodyPr/>
          <a:lstStyle/>
          <a:p>
            <a:r>
              <a:rPr lang="en-US" sz="3000" b="1" dirty="0"/>
              <a:t>Warranty: </a:t>
            </a:r>
            <a:r>
              <a:rPr lang="en-US" sz="3000" dirty="0"/>
              <a:t>Assures buyers or lessees that a product meets certain standards of quality</a:t>
            </a:r>
          </a:p>
          <a:p>
            <a:r>
              <a:rPr lang="en-US" sz="3000" b="1" dirty="0"/>
              <a:t>Breach of warranty: </a:t>
            </a:r>
            <a:r>
              <a:rPr lang="en-US" sz="3000" dirty="0"/>
              <a:t>Buyer or lessee can sue the seller or lessor if the product fails to meet the terms of its warranty</a:t>
            </a:r>
          </a:p>
          <a:p>
            <a:pPr lvl="1">
              <a:buClr>
                <a:schemeClr val="accent2"/>
              </a:buClr>
            </a:pPr>
            <a:r>
              <a:rPr lang="en-US" sz="2800" dirty="0"/>
              <a:t>Difficult to prove because the software supplier writes the warranty to limit liability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altLang="en-US" sz="4000" dirty="0"/>
              <a:t>Software Product Liability, Part 3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85705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422475"/>
          </a:xfrm>
        </p:spPr>
        <p:txBody>
          <a:bodyPr/>
          <a:lstStyle/>
          <a:p>
            <a:r>
              <a:rPr lang="en-US" sz="3200" dirty="0"/>
              <a:t>Software development methodologies</a:t>
            </a:r>
          </a:p>
          <a:p>
            <a:r>
              <a:rPr lang="en-US" sz="3200" dirty="0"/>
              <a:t>Capability Maturity Model Integration (CMMI) process-improvement model</a:t>
            </a:r>
          </a:p>
          <a:p>
            <a:r>
              <a:rPr lang="en-US" sz="3200" dirty="0"/>
              <a:t>Special techniques for safety-critical systems</a:t>
            </a:r>
          </a:p>
          <a:p>
            <a:r>
              <a:rPr lang="en-US" sz="3200" dirty="0"/>
              <a:t>Risk management processes</a:t>
            </a:r>
          </a:p>
          <a:p>
            <a:r>
              <a:rPr lang="en-US" sz="3200" dirty="0"/>
              <a:t>Quality management standards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79"/>
            <a:ext cx="8026400" cy="941796"/>
          </a:xfrm>
        </p:spPr>
        <p:txBody>
          <a:bodyPr/>
          <a:lstStyle/>
          <a:p>
            <a:r>
              <a:rPr lang="en-US" sz="3600" dirty="0"/>
              <a:t>Strategies and Tools for Developing </a:t>
            </a:r>
            <a:br>
              <a:rPr lang="en-US" sz="3600" dirty="0"/>
            </a:br>
            <a:r>
              <a:rPr lang="en-US" sz="3600" dirty="0"/>
              <a:t>Quality 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0146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600986"/>
          </a:xfrm>
        </p:spPr>
        <p:txBody>
          <a:bodyPr/>
          <a:lstStyle/>
          <a:p>
            <a:r>
              <a:rPr lang="en-US" sz="2800" b="1" dirty="0"/>
              <a:t>Software development methodology: </a:t>
            </a:r>
            <a:r>
              <a:rPr lang="en-US" sz="2800" dirty="0"/>
              <a:t>Standard, proven  work process that enables controlled progress while developing high-quality software</a:t>
            </a:r>
          </a:p>
          <a:p>
            <a:pPr lvl="1">
              <a:buClr>
                <a:schemeClr val="accent2"/>
              </a:buClr>
            </a:pPr>
            <a:r>
              <a:rPr lang="en-US" sz="2700" dirty="0"/>
              <a:t>Use of an effective methodology can protect software manufacturers from legal liability </a:t>
            </a:r>
          </a:p>
          <a:p>
            <a:pPr lvl="2"/>
            <a:r>
              <a:rPr lang="en-US" sz="2500" dirty="0"/>
              <a:t>Reduces the number of software errors </a:t>
            </a:r>
          </a:p>
          <a:p>
            <a:pPr lvl="2"/>
            <a:r>
              <a:rPr lang="en-US" sz="2500" dirty="0"/>
              <a:t>Makes negligence harder to prove</a:t>
            </a:r>
          </a:p>
          <a:p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Software Development Methodologies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4163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ure 7-1: This diagram illustrates the components of a software development methodology. A methodology defines activities as well as the responsibilities, techniques, and  quality guidelines necessary for accomplishing those activities. 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63" y="1752600"/>
            <a:ext cx="8803248" cy="3352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5"/>
            <a:ext cx="8026400" cy="945965"/>
          </a:xfrm>
        </p:spPr>
        <p:txBody>
          <a:bodyPr/>
          <a:lstStyle/>
          <a:p>
            <a:r>
              <a:rPr lang="en-US" sz="3600" dirty="0"/>
              <a:t>Components of a Software </a:t>
            </a:r>
            <a:br>
              <a:rPr lang="en-US" sz="3600" dirty="0"/>
            </a:br>
            <a:r>
              <a:rPr lang="en-US" sz="3600" dirty="0"/>
              <a:t>Development Methodology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54048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Waterfall System Development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584332"/>
          </a:xfrm>
        </p:spPr>
        <p:txBody>
          <a:bodyPr/>
          <a:lstStyle/>
          <a:p>
            <a:r>
              <a:rPr lang="en-US" sz="2700" b="1" dirty="0"/>
              <a:t>Waterfall system development model</a:t>
            </a:r>
            <a:r>
              <a:rPr lang="en-US" sz="2700" dirty="0"/>
              <a:t>: A sequential, multistage system development process in which development of the next stage cannot begin until the results of the current stage are approved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Stages of waterfall development:</a:t>
            </a:r>
          </a:p>
          <a:p>
            <a:pPr lvl="2"/>
            <a:r>
              <a:rPr lang="en-US" sz="2400" dirty="0"/>
              <a:t>Investigation</a:t>
            </a:r>
          </a:p>
          <a:p>
            <a:pPr lvl="2"/>
            <a:r>
              <a:rPr lang="en-US" sz="2400" dirty="0"/>
              <a:t>Analysis</a:t>
            </a:r>
          </a:p>
          <a:p>
            <a:pPr lvl="2"/>
            <a:r>
              <a:rPr lang="en-US" sz="2400" dirty="0"/>
              <a:t>Design</a:t>
            </a:r>
          </a:p>
          <a:p>
            <a:pPr lvl="2"/>
            <a:r>
              <a:rPr lang="en-US" sz="2400" dirty="0"/>
              <a:t>Construction</a:t>
            </a:r>
          </a:p>
          <a:p>
            <a:pPr lvl="2"/>
            <a:r>
              <a:rPr lang="en-US" sz="2400" dirty="0"/>
              <a:t>Integration and testing</a:t>
            </a:r>
          </a:p>
          <a:p>
            <a:pPr lvl="2"/>
            <a:r>
              <a:rPr lang="en-US" sz="2400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93492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16844"/>
            <a:ext cx="8026400" cy="475066"/>
          </a:xfrm>
        </p:spPr>
        <p:txBody>
          <a:bodyPr/>
          <a:lstStyle/>
          <a:p>
            <a:r>
              <a:rPr lang="en-US" sz="3600" dirty="0"/>
              <a:t>Agile Development Methodology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3827202"/>
          </a:xfrm>
        </p:spPr>
        <p:txBody>
          <a:bodyPr/>
          <a:lstStyle/>
          <a:p>
            <a:r>
              <a:rPr lang="en-US" sz="2800" b="1" dirty="0"/>
              <a:t>Agile development: </a:t>
            </a:r>
            <a:r>
              <a:rPr lang="en-US" sz="2800" dirty="0"/>
              <a:t>A methodology under which a system is developed in iterations (often called sprints) lasting from one to four weeks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Accepts the fact that system requirements are evolving </a:t>
            </a:r>
            <a:br>
              <a:rPr lang="en-US" sz="2600" dirty="0"/>
            </a:br>
            <a:r>
              <a:rPr lang="en-US" sz="2600" dirty="0"/>
              <a:t>and cannot be fully understood or defined at the start of the project.</a:t>
            </a:r>
          </a:p>
          <a:p>
            <a:r>
              <a:rPr lang="en-US" sz="2800" dirty="0"/>
              <a:t>In an agile project, the team evaluates the system every one to four weeks, giving it ample opportunity to identify and implement new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897988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7-1 (part 1): This table presents the pros and cons of the waterfall methodology. &#10;&#10;Pro: Formal review at end of each stage allows maximum management control.&#10;&#10;Pro: Structured processes produce many intermediate products that can be used to measure progress toward developing the system.&#10;&#10;Con: Users’ needs may go unstated or be miscommunicated. Users may end up with a system that meets those needs as understood by the developers; however, this might not be what the users really needed.&#10;&#10;Con: Users can’t easily review intermediate products and evaluate whether a particular product will lead to a system that meets their business requirement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805822"/>
              </p:ext>
            </p:extLst>
          </p:nvPr>
        </p:nvGraphicFramePr>
        <p:xfrm>
          <a:off x="152398" y="1219200"/>
          <a:ext cx="8226976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3488">
                  <a:extLst>
                    <a:ext uri="{9D8B030D-6E8A-4147-A177-3AD203B41FA5}">
                      <a16:colId xmlns:a16="http://schemas.microsoft.com/office/drawing/2014/main" val="638234595"/>
                    </a:ext>
                  </a:extLst>
                </a:gridCol>
                <a:gridCol w="4113488">
                  <a:extLst>
                    <a:ext uri="{9D8B030D-6E8A-4147-A177-3AD203B41FA5}">
                      <a16:colId xmlns:a16="http://schemas.microsoft.com/office/drawing/2014/main" val="4173410166"/>
                    </a:ext>
                  </a:extLst>
                </a:gridCol>
              </a:tblGrid>
              <a:tr h="266668">
                <a:tc>
                  <a:txBody>
                    <a:bodyPr/>
                    <a:lstStyle/>
                    <a:p>
                      <a:r>
                        <a:rPr lang="en-US" sz="24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86059"/>
                  </a:ext>
                </a:extLst>
              </a:tr>
              <a:tr h="2235627">
                <a:tc>
                  <a:txBody>
                    <a:bodyPr/>
                    <a:lstStyle/>
                    <a:p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Formal review at end of each stage allows maximum management control.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Users’ needs may go unstated or be miscommunicated. Users may end up with a system that meets those needs as understood by the developers; however, this might not be what the users really needed.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22514"/>
                  </a:ext>
                </a:extLst>
              </a:tr>
              <a:tr h="1841105">
                <a:tc>
                  <a:txBody>
                    <a:bodyPr/>
                    <a:lstStyle/>
                    <a:p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Structured processes produce many intermediate products that can be used to measure progress toward developing the system.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 can’t easily review intermediate products and evaluate whether a particular product will lead to a system that meets their business requirements.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8864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Pros and Cons of Waterfall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21755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7-1 (part 2): This table presents the pros and cons of the agile methodology. &#10;&#10;Pro: For appropriate projects, this approach puts an application into production sooner.&#10;&#10;Pro: Forces teamwork and lots of interaction between users and project stakeholders so that users are more likely to get a system that meets their needs. &#10;&#10;Con: It is an intense process that takes considerable time and effort on the part of project members and can result in burnout for system developers and other project participants.&#10;&#10;Con: Requires stakeholders and users to spend more time working together on the project.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7847011"/>
              </p:ext>
            </p:extLst>
          </p:nvPr>
        </p:nvGraphicFramePr>
        <p:xfrm>
          <a:off x="152400" y="1295400"/>
          <a:ext cx="8636000" cy="4507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340913115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652434856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r>
                        <a:rPr lang="en-US" sz="2400" baseline="0" dirty="0"/>
                        <a:t>Pros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86059"/>
                  </a:ext>
                </a:extLst>
              </a:tr>
              <a:tr h="2242014">
                <a:tc>
                  <a:txBody>
                    <a:bodyPr/>
                    <a:lstStyle/>
                    <a:p>
                      <a:r>
                        <a:rPr lang="en-US" sz="2200" dirty="0"/>
                        <a:t>For appropriate projects, this approach puts an application into production sooner.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It is an intense process that takes considerable time and effort on the part of project members and can result in burnout for system developers and other project participants.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22514"/>
                  </a:ext>
                </a:extLst>
              </a:tr>
              <a:tr h="1808076">
                <a:tc>
                  <a:txBody>
                    <a:bodyPr/>
                    <a:lstStyle/>
                    <a:p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Forces teamwork and lots of interaction between users and project stakeholders so that users are more likely to get a system that meets their needs. 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Requires stakeholders and users to spend more time working together on the project.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886405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Pros and Cons of Agile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75934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5012141"/>
          </a:xfrm>
        </p:spPr>
        <p:txBody>
          <a:bodyPr/>
          <a:lstStyle/>
          <a:p>
            <a:r>
              <a:rPr lang="en-US" sz="2800" dirty="0"/>
              <a:t>The cost to remove a defect in an early stage of software development can be up to 100 times less than removing a defect in software that has been distributed to customers.</a:t>
            </a:r>
          </a:p>
          <a:p>
            <a:r>
              <a:rPr lang="en-US" sz="2800" dirty="0"/>
              <a:t>A product containing inherent defects that harm the </a:t>
            </a:r>
            <a:br>
              <a:rPr lang="en-US" sz="2800" dirty="0"/>
            </a:br>
            <a:r>
              <a:rPr lang="en-US" sz="2800" dirty="0"/>
              <a:t>user may be the subject of a product liability suit.</a:t>
            </a:r>
          </a:p>
          <a:p>
            <a:r>
              <a:rPr lang="en-US" sz="2800" b="1" dirty="0"/>
              <a:t>Quality assurance (QA): </a:t>
            </a:r>
            <a:r>
              <a:rPr lang="en-US" sz="2800" dirty="0"/>
              <a:t>Methods within the development process designed to guarantee reliable operation of a product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Should be applied at each stage of development</a:t>
            </a:r>
          </a:p>
          <a:p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The Cost of Removing Defects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76116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3407087"/>
          </a:xfrm>
        </p:spPr>
        <p:txBody>
          <a:bodyPr/>
          <a:lstStyle/>
          <a:p>
            <a:r>
              <a:rPr lang="en-US" sz="2800" b="1" dirty="0"/>
              <a:t>Dynamic testing: </a:t>
            </a:r>
            <a:r>
              <a:rPr lang="en-US" sz="2800" dirty="0"/>
              <a:t>Entering test data and comparing the results with the expected results in a process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b="1" dirty="0"/>
              <a:t>Black-box testing: </a:t>
            </a:r>
            <a:r>
              <a:rPr lang="en-US" sz="2600" dirty="0"/>
              <a:t>Views the software unit as a device that has expected input and output behaviors but whose internal workings are unknown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b="1" dirty="0"/>
              <a:t>White-box testing</a:t>
            </a:r>
            <a:r>
              <a:rPr lang="en-US" sz="2600" dirty="0"/>
              <a:t>: Treats the software unit as a device </a:t>
            </a:r>
            <a:br>
              <a:rPr lang="en-US" sz="2600" dirty="0"/>
            </a:br>
            <a:r>
              <a:rPr lang="en-US" sz="2600" dirty="0"/>
              <a:t>that has expected input and output behaviors but whose internal workings are known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Software Testing,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97234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118324"/>
          </a:xfrm>
        </p:spPr>
        <p:txBody>
          <a:bodyPr/>
          <a:lstStyle/>
          <a:p>
            <a:r>
              <a:rPr lang="en-US" sz="2800" b="1" dirty="0"/>
              <a:t>Static testing: </a:t>
            </a:r>
            <a:r>
              <a:rPr lang="en-US" sz="2800" dirty="0"/>
              <a:t>Software-testing technique in which software is tested without actually executing the code</a:t>
            </a:r>
          </a:p>
          <a:p>
            <a:r>
              <a:rPr lang="en-US" sz="2800" b="1" dirty="0"/>
              <a:t>Unit testing: </a:t>
            </a:r>
            <a:r>
              <a:rPr lang="en-US" sz="2800" dirty="0"/>
              <a:t>Individual components of code (subroutines, modules, and programs) are tested</a:t>
            </a:r>
            <a:endParaRPr lang="en-US" sz="2800" b="1" dirty="0"/>
          </a:p>
          <a:p>
            <a:r>
              <a:rPr lang="en-US" sz="2800" b="1" dirty="0"/>
              <a:t>Integration testing: </a:t>
            </a:r>
            <a:r>
              <a:rPr lang="en-US" sz="2800" dirty="0"/>
              <a:t>Software units are combined into an integrated subsystem and tested to ensure the linkages among the various subsystems work</a:t>
            </a:r>
          </a:p>
          <a:p>
            <a:r>
              <a:rPr lang="en-US" sz="2800" b="1" dirty="0"/>
              <a:t>System testing: </a:t>
            </a:r>
            <a:r>
              <a:rPr lang="en-US" sz="2800" dirty="0"/>
              <a:t>Various subsystems are combined to </a:t>
            </a:r>
            <a:br>
              <a:rPr lang="en-US" sz="2800" dirty="0"/>
            </a:br>
            <a:r>
              <a:rPr lang="en-US" sz="2800" dirty="0"/>
              <a:t>test the entire system</a:t>
            </a:r>
          </a:p>
          <a:p>
            <a:r>
              <a:rPr lang="en-US" sz="2800" b="1" dirty="0"/>
              <a:t>User acceptance testing: </a:t>
            </a:r>
            <a:r>
              <a:rPr lang="en-US" sz="2800" dirty="0"/>
              <a:t>Trained end users conduct independent testing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Software Testing,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87489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911344"/>
          </a:xfrm>
        </p:spPr>
        <p:txBody>
          <a:bodyPr/>
          <a:lstStyle/>
          <a:p>
            <a:r>
              <a:rPr lang="en-US" sz="2700" b="1" dirty="0"/>
              <a:t>CMMI models: </a:t>
            </a:r>
            <a:r>
              <a:rPr lang="en-US" sz="2700" dirty="0"/>
              <a:t>Collections of best practices that help organizations improve processes</a:t>
            </a:r>
          </a:p>
          <a:p>
            <a:pPr lvl="1">
              <a:buClr>
                <a:schemeClr val="accent2"/>
              </a:buClr>
            </a:pPr>
            <a:r>
              <a:rPr lang="en-US" sz="2600" b="1" dirty="0"/>
              <a:t>Best practice: </a:t>
            </a:r>
            <a:r>
              <a:rPr lang="en-US" sz="2600" dirty="0"/>
              <a:t>A method that has consistently shown </a:t>
            </a:r>
            <a:br>
              <a:rPr lang="en-US" sz="2600" dirty="0"/>
            </a:br>
            <a:r>
              <a:rPr lang="en-US" sz="2600" dirty="0"/>
              <a:t>results superior to those achieved with other means</a:t>
            </a:r>
          </a:p>
          <a:p>
            <a:pPr lvl="1">
              <a:buClr>
                <a:schemeClr val="accent2"/>
              </a:buClr>
            </a:pPr>
            <a:r>
              <a:rPr lang="en-US" sz="2700" b="1" dirty="0"/>
              <a:t>CMMI-Development (CMMI-DEV): </a:t>
            </a:r>
            <a:r>
              <a:rPr lang="en-US" sz="2700" dirty="0"/>
              <a:t>Frequently used to assess and improve software development processes</a:t>
            </a:r>
          </a:p>
          <a:p>
            <a:pPr lvl="2"/>
            <a:r>
              <a:rPr lang="en-US" sz="2500" dirty="0"/>
              <a:t>D</a:t>
            </a:r>
            <a:r>
              <a:rPr lang="en-US" altLang="en-US" sz="2400" dirty="0"/>
              <a:t>efines five levels of software development maturity: </a:t>
            </a:r>
          </a:p>
          <a:p>
            <a:pPr lvl="3">
              <a:spcBef>
                <a:spcPts val="300"/>
              </a:spcBef>
            </a:pPr>
            <a:r>
              <a:rPr lang="en-US" altLang="en-US" sz="2300" dirty="0"/>
              <a:t>Initial</a:t>
            </a:r>
          </a:p>
          <a:p>
            <a:pPr lvl="3">
              <a:spcBef>
                <a:spcPts val="300"/>
              </a:spcBef>
            </a:pPr>
            <a:r>
              <a:rPr lang="en-US" altLang="en-US" sz="2300" dirty="0"/>
              <a:t>Managed</a:t>
            </a:r>
          </a:p>
          <a:p>
            <a:pPr lvl="3">
              <a:spcBef>
                <a:spcPts val="300"/>
              </a:spcBef>
            </a:pPr>
            <a:r>
              <a:rPr lang="en-US" altLang="en-US" sz="2300" dirty="0"/>
              <a:t>Defined</a:t>
            </a:r>
          </a:p>
          <a:p>
            <a:pPr lvl="3">
              <a:spcBef>
                <a:spcPts val="300"/>
              </a:spcBef>
            </a:pPr>
            <a:r>
              <a:rPr lang="en-US" altLang="en-US" sz="2300" dirty="0"/>
              <a:t>Quantitatively managed</a:t>
            </a:r>
          </a:p>
          <a:p>
            <a:pPr lvl="3">
              <a:spcBef>
                <a:spcPts val="300"/>
              </a:spcBef>
            </a:pPr>
            <a:r>
              <a:rPr lang="en-US" altLang="en-US" sz="2300" dirty="0"/>
              <a:t>Optimizing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4"/>
            <a:ext cx="8026400" cy="945965"/>
          </a:xfrm>
        </p:spPr>
        <p:txBody>
          <a:bodyPr/>
          <a:lstStyle/>
          <a:p>
            <a:r>
              <a:rPr lang="en-US" sz="3600" dirty="0"/>
              <a:t>Capability Maturity Model Integration (CMMI)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45579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646657"/>
          </a:xfrm>
        </p:spPr>
        <p:txBody>
          <a:bodyPr/>
          <a:lstStyle/>
          <a:p>
            <a:r>
              <a:rPr lang="en-US" sz="2700" b="1" dirty="0"/>
              <a:t>Safety-critical system: </a:t>
            </a:r>
            <a:r>
              <a:rPr lang="en-US" sz="2700" dirty="0"/>
              <a:t>A system w</a:t>
            </a:r>
            <a:r>
              <a:rPr lang="en-US" altLang="en-US" sz="2700" dirty="0"/>
              <a:t>hose failure may cause injury or death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Safe operation relies on the flawless performance </a:t>
            </a:r>
            <a:br>
              <a:rPr lang="en-US" altLang="en-US" sz="2600" dirty="0"/>
            </a:br>
            <a:r>
              <a:rPr lang="en-US" altLang="en-US" sz="2600" dirty="0"/>
              <a:t>of software</a:t>
            </a:r>
          </a:p>
          <a:p>
            <a:r>
              <a:rPr lang="en-US" altLang="en-US" sz="2700" dirty="0"/>
              <a:t>Key assumption when developing safety-critical systems:</a:t>
            </a:r>
          </a:p>
          <a:p>
            <a:pPr lvl="1">
              <a:buClr>
                <a:schemeClr val="accent2"/>
              </a:buClr>
            </a:pPr>
            <a:r>
              <a:rPr lang="en-US" altLang="en-US" sz="2500" dirty="0"/>
              <a:t>Safety will not automatically result from following the organization’s standard development methodology</a:t>
            </a:r>
          </a:p>
          <a:p>
            <a:pPr lvl="2"/>
            <a:r>
              <a:rPr lang="en-US" altLang="en-US" sz="2400" dirty="0"/>
              <a:t>All development tasks require:</a:t>
            </a:r>
          </a:p>
          <a:p>
            <a:pPr lvl="3"/>
            <a:r>
              <a:rPr lang="en-US" altLang="en-US" sz="2300" dirty="0"/>
              <a:t>Additional steps</a:t>
            </a:r>
          </a:p>
          <a:p>
            <a:pPr lvl="3"/>
            <a:r>
              <a:rPr lang="en-US" altLang="en-US" sz="2300" dirty="0"/>
              <a:t>More thorough documentation </a:t>
            </a:r>
          </a:p>
          <a:p>
            <a:pPr lvl="3"/>
            <a:r>
              <a:rPr lang="en-US" altLang="en-US" sz="2300" dirty="0"/>
              <a:t>Vigilant checking and rechecking</a:t>
            </a:r>
            <a:endParaRPr lang="en-US" sz="23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3668"/>
            <a:ext cx="8026400" cy="501419"/>
          </a:xfrm>
        </p:spPr>
        <p:txBody>
          <a:bodyPr/>
          <a:lstStyle/>
          <a:p>
            <a:r>
              <a:rPr lang="en-US" sz="3800" dirty="0"/>
              <a:t>Developing Safety Critical Systems,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76554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681555"/>
          </a:xfrm>
        </p:spPr>
        <p:txBody>
          <a:bodyPr/>
          <a:lstStyle/>
          <a:p>
            <a:r>
              <a:rPr lang="en-US" sz="2800" b="1" dirty="0"/>
              <a:t>System safety engineer: </a:t>
            </a:r>
            <a:r>
              <a:rPr lang="en-US" sz="2800" dirty="0"/>
              <a:t>Has responsibility for system’s safety; uses a logging and monitoring system to track hazards from a project’s start to its finish</a:t>
            </a:r>
          </a:p>
          <a:p>
            <a:r>
              <a:rPr lang="en-US" sz="2800" dirty="0"/>
              <a:t>When designing, building, and operating a safety-critical system, a formal risk analysis must be conducted</a:t>
            </a:r>
          </a:p>
          <a:p>
            <a:r>
              <a:rPr lang="en-US" sz="2800" b="1" dirty="0"/>
              <a:t>Reliability: </a:t>
            </a:r>
            <a:r>
              <a:rPr lang="en-US" sz="2800" dirty="0"/>
              <a:t>A measure of the rate of failure in a system that would render it unusable over its expected lifetime</a:t>
            </a:r>
          </a:p>
          <a:p>
            <a:r>
              <a:rPr lang="en-US" altLang="en-US" sz="2800" dirty="0"/>
              <a:t>System-human interface: One of the most important and difficult areas of safety-critical system design </a:t>
            </a:r>
          </a:p>
          <a:p>
            <a:pPr lvl="1">
              <a:buClr>
                <a:schemeClr val="accent2"/>
              </a:buClr>
            </a:pPr>
            <a:r>
              <a:rPr lang="en-US" altLang="en-US" sz="2600" dirty="0"/>
              <a:t>Design of the system should not allow for </a:t>
            </a:r>
            <a:br>
              <a:rPr lang="en-US" altLang="en-US" sz="2600" dirty="0"/>
            </a:br>
            <a:r>
              <a:rPr lang="en-US" altLang="en-US" sz="2600" dirty="0"/>
              <a:t>erroneous judgment on the part of the operator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03668"/>
            <a:ext cx="8026400" cy="501419"/>
          </a:xfrm>
        </p:spPr>
        <p:txBody>
          <a:bodyPr/>
          <a:lstStyle/>
          <a:p>
            <a:r>
              <a:rPr lang="en-US" sz="3800" dirty="0"/>
              <a:t>Developing Safety Critical Systems,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6033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093154"/>
          </a:xfrm>
        </p:spPr>
        <p:txBody>
          <a:bodyPr/>
          <a:lstStyle/>
          <a:p>
            <a:r>
              <a:rPr lang="en-US" sz="2800" b="1" dirty="0"/>
              <a:t>Risk: </a:t>
            </a:r>
            <a:r>
              <a:rPr lang="en-US" sz="2800" dirty="0"/>
              <a:t>The potential of gaining or losing something of value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Quantified by three elements:</a:t>
            </a:r>
          </a:p>
          <a:p>
            <a:pPr lvl="2"/>
            <a:r>
              <a:rPr lang="en-US" sz="2400" dirty="0"/>
              <a:t>A risk event</a:t>
            </a:r>
          </a:p>
          <a:p>
            <a:pPr lvl="2"/>
            <a:r>
              <a:rPr lang="en-US" sz="2400" dirty="0"/>
              <a:t>The probability of the event happening</a:t>
            </a:r>
          </a:p>
          <a:p>
            <a:pPr lvl="2"/>
            <a:r>
              <a:rPr lang="en-US" sz="2400" dirty="0"/>
              <a:t>The impact (positive or negative) on the business outcome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Risk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34848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736407"/>
          </a:xfrm>
        </p:spPr>
        <p:txBody>
          <a:bodyPr/>
          <a:lstStyle/>
          <a:p>
            <a:r>
              <a:rPr lang="en-US" sz="2800" b="1" dirty="0"/>
              <a:t>Annualized rate of occurrence (ARO): </a:t>
            </a:r>
            <a:r>
              <a:rPr lang="en-US" sz="2800" dirty="0"/>
              <a:t>An estimate of the probability that this event will occur over the course of a year</a:t>
            </a:r>
          </a:p>
          <a:p>
            <a:r>
              <a:rPr lang="en-US" sz="2800" b="1" dirty="0"/>
              <a:t>Single loss expectancy (SLE): </a:t>
            </a:r>
            <a:r>
              <a:rPr lang="en-US" sz="2800" dirty="0"/>
              <a:t>The estimated loss that would be incurred if the event happens</a:t>
            </a:r>
          </a:p>
          <a:p>
            <a:r>
              <a:rPr lang="en-US" sz="2800" b="1" dirty="0"/>
              <a:t>Annualized loss expectancy: </a:t>
            </a:r>
            <a:r>
              <a:rPr lang="en-US" sz="2800" dirty="0"/>
              <a:t>The estimated loss from this risk over the course of a year</a:t>
            </a:r>
          </a:p>
          <a:p>
            <a:r>
              <a:rPr lang="en-US" sz="2800" dirty="0"/>
              <a:t>ARO × SLE = ALE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Annualized Loss Expectancy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959421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4927" y="1295400"/>
            <a:ext cx="8415338" cy="3982629"/>
          </a:xfrm>
        </p:spPr>
        <p:txBody>
          <a:bodyPr/>
          <a:lstStyle/>
          <a:p>
            <a:r>
              <a:rPr lang="en-US" sz="2700" b="1" dirty="0"/>
              <a:t>Risk management: </a:t>
            </a:r>
            <a:r>
              <a:rPr lang="en-US" sz="2700" dirty="0"/>
              <a:t>The process of identifying, monitoring, and limiting risks to a level that an organization is willing to accept; the level of risk that remains after managing risk is called residual risk.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Strategies for addressing a particular risk: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Acceptance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Avoidance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Mitigation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Redundancy</a:t>
            </a:r>
          </a:p>
          <a:p>
            <a:pPr lvl="2">
              <a:spcBef>
                <a:spcPts val="300"/>
              </a:spcBef>
            </a:pPr>
            <a:r>
              <a:rPr lang="en-US" sz="2400" dirty="0"/>
              <a:t>Transference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Risk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0369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5139869"/>
          </a:xfrm>
        </p:spPr>
        <p:txBody>
          <a:bodyPr/>
          <a:lstStyle/>
          <a:p>
            <a:r>
              <a:rPr lang="en-US" sz="2800" b="1" dirty="0"/>
              <a:t>ISO 9001 family of standards: </a:t>
            </a:r>
            <a:r>
              <a:rPr lang="en-US" sz="2800" dirty="0"/>
              <a:t>A set of standards that serves as a guide to quality products, services, and management; updated every five years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To become ISO 9001 certified, an organization must submit to an examination by an external assessor </a:t>
            </a:r>
          </a:p>
          <a:p>
            <a:pPr>
              <a:spcBef>
                <a:spcPts val="600"/>
              </a:spcBef>
            </a:pPr>
            <a:r>
              <a:rPr lang="en-US" sz="2800" b="1" dirty="0"/>
              <a:t>Failure mode and effects analysis (FMEA): </a:t>
            </a:r>
            <a:r>
              <a:rPr lang="en-US" sz="2800" dirty="0"/>
              <a:t>A technique used to develop ISO 9001-compliant quality systems </a:t>
            </a:r>
          </a:p>
          <a:p>
            <a:pPr lvl="1">
              <a:buClr>
                <a:schemeClr val="accent2"/>
              </a:buClr>
            </a:pPr>
            <a:r>
              <a:rPr lang="en-US" sz="2600" dirty="0"/>
              <a:t>Evaluates reliability and determines the effects of system and equipment failures</a:t>
            </a:r>
          </a:p>
          <a:p>
            <a:pPr>
              <a:spcBef>
                <a:spcPts val="600"/>
              </a:spcBef>
            </a:pPr>
            <a:r>
              <a:rPr lang="en-US" sz="2800" b="1" dirty="0"/>
              <a:t>Failure mode: </a:t>
            </a:r>
            <a:r>
              <a:rPr lang="en-US" sz="2800" dirty="0"/>
              <a:t>Describes how a product or process could fail to perform the functions described by the customer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4063" y="341401"/>
            <a:ext cx="8026400" cy="527837"/>
          </a:xfrm>
        </p:spPr>
        <p:txBody>
          <a:bodyPr/>
          <a:lstStyle/>
          <a:p>
            <a:r>
              <a:rPr lang="en-US" sz="4000" dirty="0"/>
              <a:t>Quality Management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74097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7-4 (part 1): This table presents a checklist of questions a manager should ask when trying to improve software quality.&#10;&#10;Has senior management made a commitment to develop quality software?&#10;Have you used CMMI to evaluate your organization’s software development process?&#10;Has your company adopted a standard software development methodology?&#10;Does the methodology place a heavy emphasis on quality management and address how to define, measure, and refine the quality of the software development process and its products?&#10;Are software project managers and team members trained in the use of this methodology?&#10;Are software project managers and team members held accountable for following this methodology?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2589679"/>
              </p:ext>
            </p:extLst>
          </p:nvPr>
        </p:nvGraphicFramePr>
        <p:xfrm>
          <a:off x="347270" y="1219200"/>
          <a:ext cx="8403971" cy="5158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Has senior management made a commitment to develop quality software?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Have you used CMMI to evaluate your organization’s software development process?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Has your company adopted a standard software development methodology?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Does the methodology place a heavy emphasis on quality management and address how to define, measure, and refine the quality of the software development process and its products?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Are software project managers and team members trained in the use of this methodology?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Are software project managers and team members held accountable for following this methodology?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90869"/>
            <a:ext cx="8026400" cy="327013"/>
          </a:xfrm>
        </p:spPr>
        <p:txBody>
          <a:bodyPr/>
          <a:lstStyle/>
          <a:p>
            <a:r>
              <a:rPr lang="en-US" sz="2500" dirty="0"/>
              <a:t>Manager’s Checklist For Improving Software Quality,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052479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 descr="Table 7-4 (part 2): This table presents a checklist of questions a manager should ask when trying to improve software quality.&#10;&#10;Is a strong effort made to identify and remove errors as early as possible in the software development process?&#10;Are both static and dynamic software testing methods used?&#10;Are white-box testing and black-box testing methods used?&#10;Has an honest assessment been made to determine if the software being developed is safety critical?&#10;If the software is safety critical, are additional tools and methods employed, and do they include the following: a project safety engineer, hazard logs, safety reviews, formal configuration management systems, rigorous documentation, risk analysis processes, and the FMEA technique?&#10;&#10;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079489"/>
              </p:ext>
            </p:extLst>
          </p:nvPr>
        </p:nvGraphicFramePr>
        <p:xfrm>
          <a:off x="347270" y="1219200"/>
          <a:ext cx="8403971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75">
                  <a:extLst>
                    <a:ext uri="{9D8B030D-6E8A-4147-A177-3AD203B41FA5}">
                      <a16:colId xmlns:a16="http://schemas.microsoft.com/office/drawing/2014/main" val="2363978071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696727545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640755802"/>
                    </a:ext>
                  </a:extLst>
                </a:gridCol>
              </a:tblGrid>
              <a:tr h="334328">
                <a:tc>
                  <a:txBody>
                    <a:bodyPr/>
                    <a:lstStyle/>
                    <a:p>
                      <a:r>
                        <a:rPr lang="en-US" sz="2000" dirty="0"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63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Is a strong effort made to identify and remove errors as early as possible in the software development process?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Are both static and dynamic software testing methods used?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Are white-box testing and black-box testing methods used?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Has an honest assessment been made to determine if the software being developed is safety critical?</a:t>
                      </a:r>
                    </a:p>
                    <a:p>
                      <a:pPr marL="285750" indent="-285750">
                        <a:spcBef>
                          <a:spcPts val="300"/>
                        </a:spcBef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2100" dirty="0"/>
                        <a:t>If the software is safety critical, are additional tools and methods employed, and do they include the following: a project safety engineer, hazard logs, safety reviews, formal configuration management systems, rigorous documentation, risk analysis processes, and the FMEA technique?</a:t>
                      </a:r>
                    </a:p>
                    <a:p>
                      <a:pPr marL="285750" indent="-285750">
                        <a:buClr>
                          <a:schemeClr val="accent2"/>
                        </a:buClr>
                        <a:buFont typeface="Arial" panose="020B0604020202020204" pitchFamily="34" charset="0"/>
                        <a:buChar char="•"/>
                      </a:pPr>
                      <a:endParaRPr lang="en-US" sz="2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021227"/>
                  </a:ext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90869"/>
            <a:ext cx="8026400" cy="327013"/>
          </a:xfrm>
        </p:spPr>
        <p:txBody>
          <a:bodyPr/>
          <a:lstStyle/>
          <a:p>
            <a:r>
              <a:rPr lang="en-US" sz="2500" dirty="0"/>
              <a:t>Manager’s Checklist For Improving Software Quality,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36996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476114"/>
          </a:xfrm>
        </p:spPr>
        <p:txBody>
          <a:bodyPr/>
          <a:lstStyle/>
          <a:p>
            <a:r>
              <a:rPr lang="en-US" sz="2700" b="1" dirty="0"/>
              <a:t>What is meant by software quality, why is it so important, and what potential ethical issues do software manufacturers face when making decisions that involve trade-offs between project schedules, project costs, and software quality?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High-quality systems: Easy to learn and use; perform quickly and efficiently; and operate safely and reliably, </a:t>
            </a:r>
            <a:br>
              <a:rPr lang="en-US" sz="2600" dirty="0"/>
            </a:br>
            <a:r>
              <a:rPr lang="en-US" sz="2600" dirty="0"/>
              <a:t>with minimal downtime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Software defect: Any error that, if not removed, could cause a software system to fail to meet users’ needs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600" dirty="0"/>
              <a:t>Software quality: The degree to which a software </a:t>
            </a:r>
            <a:br>
              <a:rPr lang="en-US" sz="2600" dirty="0"/>
            </a:br>
            <a:r>
              <a:rPr lang="en-US" sz="2600" dirty="0"/>
              <a:t>product meets the needs of its users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25873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0352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700" b="1" dirty="0"/>
              <a:t>What is meant by software quality, why is it so important, and what potential ethical issues do software manufacturers face when making decisions that involve trade-offs between project schedules, project costs, and software quality?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600" dirty="0"/>
              <a:t>Quality management: Defining, measuring, and refining the quality of products and the development process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Resources and time needed to develop high-quality software are often cut under pressure to ship new product </a:t>
            </a:r>
          </a:p>
          <a:p>
            <a:pPr lvl="1">
              <a:spcBef>
                <a:spcPts val="300"/>
              </a:spcBef>
              <a:buClr>
                <a:schemeClr val="accent2"/>
              </a:buClr>
            </a:pPr>
            <a:r>
              <a:rPr lang="en-US" sz="2600" dirty="0"/>
              <a:t>High-quality software: Required in fields such as air traffic control, automobile safety, and health care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8075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781309"/>
          </a:xfrm>
        </p:spPr>
        <p:txBody>
          <a:bodyPr/>
          <a:lstStyle/>
          <a:p>
            <a:r>
              <a:rPr lang="en-US" sz="2700" b="1" dirty="0"/>
              <a:t>What is meant by software quality, why is it so important, and what potential ethical issues do software manufacturers face when making decisions that involve trade-offs between project schedules, project costs, and software quality?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 business information system: A set of interrelated components that collects and processes data and disseminates the output.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Software product liability claims are based on strict liability, negligence, breach of warranty, or misrepresentation.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Strict liability: The defendant is held responsible for injury regardless of negligence or intent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29820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050340"/>
          </a:xfrm>
        </p:spPr>
        <p:txBody>
          <a:bodyPr/>
          <a:lstStyle/>
          <a:p>
            <a:r>
              <a:rPr lang="en-US" sz="2700" b="1" dirty="0"/>
              <a:t>What is meant by software quality, why is it so important, and what potential ethical issues do software manufacturers face when making decisions that involve trade-offs between project schedules, project costs, and software quality?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Warranty: Assures buyers or lessees that a product meets certain standards of quality; it may be either expressly stated or implied by law. 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If the product fails to meet the terms of its warranty, the buyer or lessee can sue for breach of warranty.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17170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3765646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Software development methodology: A standard, proven, work process that enables a team to make controlled and orderly progress in developing high-quality software</a:t>
            </a:r>
          </a:p>
          <a:p>
            <a:pPr lvl="2">
              <a:spcBef>
                <a:spcPts val="1200"/>
              </a:spcBef>
            </a:pPr>
            <a:r>
              <a:rPr lang="en-US" sz="2400" dirty="0"/>
              <a:t>Defines activities and responsibilities; recommends specific techniques; and offers guidelines for managing the quality of the products during the various development stages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14861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957511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Waterfall system development model: A sequential, multistage system process in which development of the next stage cannot begin until the results of the current stage are approved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Agile development methodology: A development process in which a system is developed in iterations (aka sprints), lasting from one to four weeks</a:t>
            </a:r>
          </a:p>
          <a:p>
            <a:pPr lvl="2">
              <a:spcBef>
                <a:spcPts val="400"/>
              </a:spcBef>
            </a:pPr>
            <a:r>
              <a:rPr lang="en-US" sz="2400" dirty="0"/>
              <a:t>Accepts that system requirements are evolving and cannot </a:t>
            </a:r>
            <a:br>
              <a:rPr lang="en-US" sz="2400" dirty="0"/>
            </a:br>
            <a:r>
              <a:rPr lang="en-US" sz="2400" dirty="0"/>
              <a:t>be fully understood at the start of the project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986967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456605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An effective development methodology: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Enables a manufacturer to produce high-quality software, forecast project-completion milestones, and reduce </a:t>
            </a:r>
            <a:br>
              <a:rPr lang="en-US" sz="2400" dirty="0"/>
            </a:br>
            <a:r>
              <a:rPr lang="en-US" sz="2400" dirty="0"/>
              <a:t>development and support costs</a:t>
            </a:r>
          </a:p>
          <a:p>
            <a:pPr lvl="2">
              <a:spcBef>
                <a:spcPts val="1200"/>
              </a:spcBef>
            </a:pPr>
            <a:r>
              <a:rPr lang="en-US" sz="2400" dirty="0"/>
              <a:t>Helps protect software manufacturers from legal liability </a:t>
            </a:r>
            <a:br>
              <a:rPr lang="en-US" sz="2400" dirty="0"/>
            </a:br>
            <a:r>
              <a:rPr lang="en-US" sz="2400" dirty="0"/>
              <a:t>for defective software by:</a:t>
            </a:r>
          </a:p>
          <a:p>
            <a:pPr lvl="3">
              <a:spcBef>
                <a:spcPts val="600"/>
              </a:spcBef>
              <a:buClr>
                <a:schemeClr val="accent2"/>
              </a:buClr>
            </a:pPr>
            <a:r>
              <a:rPr lang="en-US" sz="2300" dirty="0"/>
              <a:t>Reducing the number of software errors that could </a:t>
            </a:r>
            <a:br>
              <a:rPr lang="en-US" sz="2300" dirty="0"/>
            </a:br>
            <a:r>
              <a:rPr lang="en-US" sz="2300" dirty="0"/>
              <a:t>cause damage</a:t>
            </a:r>
          </a:p>
          <a:p>
            <a:pPr lvl="3">
              <a:spcBef>
                <a:spcPts val="600"/>
              </a:spcBef>
              <a:buClr>
                <a:schemeClr val="accent2"/>
              </a:buClr>
            </a:pPr>
            <a:r>
              <a:rPr lang="en-US" sz="2300" dirty="0"/>
              <a:t>Making negligence more difficult to prove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233585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498685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Cost to remove a defect early in the development process can be up to 100 times less than removing a defect in software that has been distributed to customers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Quality assurance (QA): Methods within the development process designed to guarantee reliable operation of a product</a:t>
            </a:r>
          </a:p>
          <a:p>
            <a:pPr lvl="2">
              <a:spcBef>
                <a:spcPts val="800"/>
              </a:spcBef>
            </a:pPr>
            <a:r>
              <a:rPr lang="en-US" sz="2400" dirty="0"/>
              <a:t>Should be applied at each stage of the development cycle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500" dirty="0"/>
              <a:t>Types of software testing: </a:t>
            </a:r>
          </a:p>
          <a:p>
            <a:pPr lvl="2">
              <a:spcBef>
                <a:spcPts val="800"/>
              </a:spcBef>
            </a:pPr>
            <a:r>
              <a:rPr lang="en-US" sz="2400" dirty="0"/>
              <a:t>Black-box and white-box dynamic testing, static testing, </a:t>
            </a:r>
            <a:br>
              <a:rPr lang="en-US" sz="2400" dirty="0"/>
            </a:br>
            <a:r>
              <a:rPr lang="en-US" sz="2400" dirty="0"/>
              <a:t>unit testing, integration testing, system testing, and user acceptance testing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894817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363263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Capability Maturity Model Integration (CMMI) models: Collections of best practices that help organizations </a:t>
            </a:r>
            <a:br>
              <a:rPr lang="en-US" sz="2500" dirty="0"/>
            </a:br>
            <a:r>
              <a:rPr lang="en-US" sz="2500" dirty="0"/>
              <a:t>improve their processes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Best practice: A method or technique that has consistently </a:t>
            </a:r>
            <a:br>
              <a:rPr lang="en-US" sz="2400" dirty="0"/>
            </a:br>
            <a:r>
              <a:rPr lang="en-US" sz="2400" dirty="0"/>
              <a:t>shown results superior to those achieved with other means</a:t>
            </a:r>
          </a:p>
          <a:p>
            <a:pPr lvl="1">
              <a:buClr>
                <a:schemeClr val="accent2"/>
              </a:buClr>
            </a:pPr>
            <a:r>
              <a:rPr lang="en-US" sz="2500" dirty="0"/>
              <a:t>CMMI-Development (CMMI-DEV): Used to assess and improve software development practices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Defines five levels of software development maturity: initial, managed, defined, quantitatively managed, and optimizing</a:t>
            </a:r>
          </a:p>
          <a:p>
            <a:pPr lvl="2">
              <a:spcBef>
                <a:spcPts val="1200"/>
              </a:spcBef>
            </a:pPr>
            <a:endParaRPr lang="en-US" sz="2300" dirty="0"/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endParaRPr lang="en-US" sz="25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74027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825680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500" dirty="0"/>
              <a:t>Safety-critical system: One whose failure may cause human injury or death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Key assumption: Safety will not automatically result from following an organization’s standard software development methodology.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Must go through much more rigorous development and testing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Project safety engineer, a hazard log, and risk analysis</a:t>
            </a:r>
          </a:p>
          <a:p>
            <a:pPr lvl="1">
              <a:spcBef>
                <a:spcPts val="800"/>
              </a:spcBef>
              <a:buClr>
                <a:schemeClr val="accent2"/>
              </a:buClr>
            </a:pPr>
            <a:r>
              <a:rPr lang="en-US" sz="2500" dirty="0"/>
              <a:t>Risk: The potential of gaining or losing something of value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Quantified by three elements: a risk event, the probability of </a:t>
            </a:r>
            <a:br>
              <a:rPr lang="en-US" sz="2400" dirty="0"/>
            </a:br>
            <a:r>
              <a:rPr lang="en-US" sz="2400" dirty="0"/>
              <a:t>the event happening, and the impact if the risk occurs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51451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4512004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Annualized rate of occurrence (ARO): An estimate of the probability that an event will occur over the course of a year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Single loss expectancy (SLE): The estimated loss that would </a:t>
            </a:r>
            <a:br>
              <a:rPr lang="en-US" sz="2500" dirty="0"/>
            </a:br>
            <a:r>
              <a:rPr lang="en-US" sz="2500" dirty="0"/>
              <a:t>be incurred if the event happens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Annualized loss expectancy (ALE): The estimated loss from this risk over the course of a year</a:t>
            </a:r>
          </a:p>
          <a:p>
            <a:pPr lvl="1">
              <a:spcBef>
                <a:spcPts val="1200"/>
              </a:spcBef>
              <a:buClr>
                <a:schemeClr val="accent2"/>
              </a:buClr>
            </a:pPr>
            <a:r>
              <a:rPr lang="en-US" sz="2500" dirty="0"/>
              <a:t>ARO × SLE = ALE</a:t>
            </a:r>
          </a:p>
          <a:p>
            <a:pPr marL="0" indent="0">
              <a:buNone/>
            </a:pPr>
            <a:endParaRPr lang="en-US" sz="27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48287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143000"/>
            <a:ext cx="8415338" cy="5260671"/>
          </a:xfrm>
        </p:spPr>
        <p:txBody>
          <a:bodyPr/>
          <a:lstStyle/>
          <a:p>
            <a:r>
              <a:rPr lang="en-US" sz="2700" b="1" dirty="0"/>
              <a:t>What are some effective strategies for developing quality systems?</a:t>
            </a:r>
          </a:p>
          <a:p>
            <a:pPr lvl="1">
              <a:spcBef>
                <a:spcPts val="1000"/>
              </a:spcBef>
              <a:buClr>
                <a:schemeClr val="accent2"/>
              </a:buClr>
            </a:pPr>
            <a:r>
              <a:rPr lang="en-US" sz="2500" dirty="0"/>
              <a:t>ISO standards: Require organizations to develop formal quality management systems focused on identifying and meeting the needs of customers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The ISO 9001 standards serve as a guide to quality products, services, and management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Many businesses and government agencies specify that </a:t>
            </a:r>
            <a:br>
              <a:rPr lang="en-US" sz="2400" dirty="0"/>
            </a:br>
            <a:r>
              <a:rPr lang="en-US" sz="2400" dirty="0"/>
              <a:t>vendors must be ISO 9001 certified</a:t>
            </a:r>
          </a:p>
          <a:p>
            <a:pPr lvl="1">
              <a:spcBef>
                <a:spcPts val="1000"/>
              </a:spcBef>
              <a:buClr>
                <a:schemeClr val="accent2"/>
              </a:buClr>
            </a:pPr>
            <a:r>
              <a:rPr lang="en-US" sz="2500" dirty="0"/>
              <a:t>Failure mode and effects analysis (FMEA): A technique used </a:t>
            </a:r>
            <a:br>
              <a:rPr lang="en-US" sz="2500" dirty="0"/>
            </a:br>
            <a:r>
              <a:rPr lang="en-US" sz="2500" dirty="0"/>
              <a:t>to develop ISO 9001–compliant quality systems</a:t>
            </a:r>
          </a:p>
          <a:p>
            <a:pPr lvl="2">
              <a:spcBef>
                <a:spcPts val="600"/>
              </a:spcBef>
            </a:pPr>
            <a:r>
              <a:rPr lang="en-US" sz="2400" dirty="0"/>
              <a:t>Evaluates reliability and determines the effects of system and equipment failures</a:t>
            </a:r>
            <a:endParaRPr lang="en-US" sz="24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23910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6573</TotalTime>
  <Words>4322</Words>
  <Application>Microsoft Office PowerPoint</Application>
  <PresentationFormat>On-screen Show (4:3)</PresentationFormat>
  <Paragraphs>276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Ethics in Information Technology</vt:lpstr>
      <vt:lpstr>Learning Objectives</vt:lpstr>
      <vt:lpstr>Software Quality</vt:lpstr>
      <vt:lpstr>Causes of Poor Quality Software</vt:lpstr>
      <vt:lpstr>The Importance of Software Quality</vt:lpstr>
      <vt:lpstr>Software Product Liability, Part 1</vt:lpstr>
      <vt:lpstr>Software Product Liability, Part 2</vt:lpstr>
      <vt:lpstr>Software Product Liability, Part 3</vt:lpstr>
      <vt:lpstr>Strategies and Tools for Developing  Quality Software</vt:lpstr>
      <vt:lpstr>Software Development Methodologies</vt:lpstr>
      <vt:lpstr>Components of a Software  Development Methodology</vt:lpstr>
      <vt:lpstr>Waterfall System Development Model</vt:lpstr>
      <vt:lpstr>Agile Development Methodology</vt:lpstr>
      <vt:lpstr>Pros and Cons of Waterfall</vt:lpstr>
      <vt:lpstr>Pros and Cons of Agile</vt:lpstr>
      <vt:lpstr>The Cost of Removing Defects</vt:lpstr>
      <vt:lpstr>Software Testing, Part 1</vt:lpstr>
      <vt:lpstr>Software Testing, Part 2</vt:lpstr>
      <vt:lpstr>Capability Maturity Model Integration (CMMI)</vt:lpstr>
      <vt:lpstr>Developing Safety Critical Systems, Part 1</vt:lpstr>
      <vt:lpstr>Developing Safety Critical Systems, Part 2</vt:lpstr>
      <vt:lpstr>Risk</vt:lpstr>
      <vt:lpstr>Annualized Loss Expectancy</vt:lpstr>
      <vt:lpstr>Risk Management</vt:lpstr>
      <vt:lpstr>Quality Management Standards</vt:lpstr>
      <vt:lpstr>Manager’s Checklist For Improving Software Quality, Part 1</vt:lpstr>
      <vt:lpstr>Manager’s Checklist For Improving Software Quality, Part 2</vt:lpstr>
      <vt:lpstr>Summary, Part 1</vt:lpstr>
      <vt:lpstr>Summary, Part 2</vt:lpstr>
      <vt:lpstr>Summary, Part 3</vt:lpstr>
      <vt:lpstr>Summary, Part 4</vt:lpstr>
      <vt:lpstr>Summary, Part 5</vt:lpstr>
      <vt:lpstr>Summary, Part 6</vt:lpstr>
      <vt:lpstr>Summary, Part 7</vt:lpstr>
      <vt:lpstr>Summary, Part 8</vt:lpstr>
      <vt:lpstr>Summary, Part 9</vt:lpstr>
      <vt:lpstr>Summary, Part 10</vt:lpstr>
      <vt:lpstr>Summary, Part 11</vt:lpstr>
      <vt:lpstr>Summary, Part 12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Mary Pat Shaffer</cp:lastModifiedBy>
  <cp:revision>303</cp:revision>
  <cp:lastPrinted>2010-11-12T17:54:40Z</cp:lastPrinted>
  <dcterms:created xsi:type="dcterms:W3CDTF">2007-02-15T20:50:52Z</dcterms:created>
  <dcterms:modified xsi:type="dcterms:W3CDTF">2017-08-17T02:12:42Z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