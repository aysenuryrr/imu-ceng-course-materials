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29"/>
  </p:notesMasterIdLst>
  <p:handoutMasterIdLst>
    <p:handoutMasterId r:id="rId30"/>
  </p:handoutMasterIdLst>
  <p:sldIdLst>
    <p:sldId id="264" r:id="rId2"/>
    <p:sldId id="261" r:id="rId3"/>
    <p:sldId id="266" r:id="rId4"/>
    <p:sldId id="267" r:id="rId5"/>
    <p:sldId id="268" r:id="rId6"/>
    <p:sldId id="269" r:id="rId7"/>
    <p:sldId id="270" r:id="rId8"/>
    <p:sldId id="271" r:id="rId9"/>
    <p:sldId id="272" r:id="rId10"/>
    <p:sldId id="273" r:id="rId11"/>
    <p:sldId id="274" r:id="rId12"/>
    <p:sldId id="275" r:id="rId13"/>
    <p:sldId id="277" r:id="rId14"/>
    <p:sldId id="278" r:id="rId15"/>
    <p:sldId id="276" r:id="rId16"/>
    <p:sldId id="279" r:id="rId17"/>
    <p:sldId id="280" r:id="rId18"/>
    <p:sldId id="281" r:id="rId19"/>
    <p:sldId id="282" r:id="rId20"/>
    <p:sldId id="283" r:id="rId21"/>
    <p:sldId id="284" r:id="rId22"/>
    <p:sldId id="285" r:id="rId23"/>
    <p:sldId id="286" r:id="rId24"/>
    <p:sldId id="287" r:id="rId25"/>
    <p:sldId id="288" r:id="rId26"/>
    <p:sldId id="290" r:id="rId27"/>
    <p:sldId id="291" r:id="rId28"/>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6" autoAdjust="0"/>
    <p:restoredTop sz="99857" autoAdjust="0"/>
  </p:normalViewPr>
  <p:slideViewPr>
    <p:cSldViewPr>
      <p:cViewPr>
        <p:scale>
          <a:sx n="75" d="100"/>
          <a:sy n="75" d="100"/>
        </p:scale>
        <p:origin x="300" y="3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11/9/2023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11/9/2023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a:t>Bilgi Teknolojilerinde Etik</a:t>
            </a:r>
            <a:endParaRPr lang="en-US" sz="4700" dirty="0"/>
          </a:p>
        </p:txBody>
      </p:sp>
      <p:sp>
        <p:nvSpPr>
          <p:cNvPr id="3" name="Subtitle 2"/>
          <p:cNvSpPr>
            <a:spLocks noGrp="1"/>
          </p:cNvSpPr>
          <p:nvPr>
            <p:ph type="subTitle" idx="1"/>
          </p:nvPr>
        </p:nvSpPr>
        <p:spPr>
          <a:xfrm>
            <a:off x="609600" y="3124200"/>
            <a:ext cx="7747000" cy="1798954"/>
          </a:xfrm>
        </p:spPr>
        <p:txBody>
          <a:bodyPr/>
          <a:lstStyle/>
          <a:p>
            <a:r>
              <a:rPr lang="en-US" sz="3400"/>
              <a:t>Bölüm 8
Bilgi Teknolojisinin Toplum Üzerindeki Etkisi
George W. Reynolds</a:t>
            </a:r>
            <a:endParaRPr lang="en-US" sz="2400" b="1" dirty="0">
              <a:solidFill>
                <a:schemeClr val="accent2"/>
              </a:solidFill>
            </a:endParaRP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a:t>Öğrenme hedefleri</a:t>
            </a:r>
            <a:endParaRPr lang="en-US" sz="4000" dirty="0"/>
          </a:p>
        </p:txBody>
      </p:sp>
      <p:sp>
        <p:nvSpPr>
          <p:cNvPr id="4" name="Content Placeholder 3"/>
          <p:cNvSpPr>
            <a:spLocks noGrp="1"/>
          </p:cNvSpPr>
          <p:nvPr>
            <p:ph type="body" idx="1"/>
          </p:nvPr>
        </p:nvSpPr>
        <p:spPr>
          <a:xfrm>
            <a:off x="2425131" y="1143000"/>
            <a:ext cx="6337869" cy="3754874"/>
          </a:xfrm>
        </p:spPr>
        <p:txBody>
          <a:bodyPr/>
          <a:lstStyle/>
          <a:p>
            <a:pPr marL="457200" indent="-457200">
              <a:lnSpc>
                <a:spcPct val="100000"/>
              </a:lnSpc>
              <a:buFont typeface="Arial" panose="020B0604020202020204" pitchFamily="34" charset="0"/>
              <a:buChar char="•"/>
            </a:pPr>
            <a:r>
              <a:rPr lang="en-US" sz="2800">
                <a:solidFill>
                  <a:schemeClr val="tx1"/>
                </a:solidFill>
              </a:rPr>
              <a:t>Amerika Birleşik Devletleri'nde BT yatırımı ile üretkenlik artışı arasındaki ilişki nedir?
Yapay zeka, makine öğrenimi, robotik ve doğal dil işleme gelecekteki iş gücünü nasıl etkileyecek?
BT uygulamasının sağlık hizmetleri üzerinde nasıl bir etkisi oldu?</a:t>
            </a:r>
            <a:endParaRPr lang="en-US" sz="2800" dirty="0">
              <a:solidFill>
                <a:schemeClr val="tx1"/>
              </a:solidFill>
            </a:endParaRP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480953"/>
          </a:xfrm>
        </p:spPr>
        <p:txBody>
          <a:bodyPr/>
          <a:lstStyle/>
          <a:p>
            <a:r>
              <a:rPr lang="en-US" sz="2800"/>
              <a:t>Kişi başına gayri safi yurtiçi hasıla (GSYİH): Bir ülkenin maddi yaşam standardının en yaygın kullanılan ölçüsü
Ulusal GSYİH, bir ülke ekonomisinin toplam yıllık çıktısını temsil eder
ABD ve gelişmiş ülkelerde yaşam standardı
Uzun süredir gelişti
Değişim oranı iş döngülerinin bir sonucu olarak değişir</a:t>
            </a:r>
            <a:endParaRPr lang="en-US" dirty="0"/>
          </a:p>
        </p:txBody>
      </p:sp>
      <p:sp>
        <p:nvSpPr>
          <p:cNvPr id="3" name="Title 2"/>
          <p:cNvSpPr>
            <a:spLocks noGrp="1"/>
          </p:cNvSpPr>
          <p:nvPr>
            <p:ph type="title"/>
          </p:nvPr>
        </p:nvSpPr>
        <p:spPr>
          <a:xfrm>
            <a:off x="812800" y="133941"/>
            <a:ext cx="8026400" cy="840871"/>
          </a:xfrm>
        </p:spPr>
        <p:txBody>
          <a:bodyPr/>
          <a:lstStyle/>
          <a:p>
            <a:r>
              <a:rPr lang="en-US" sz="3200"/>
              <a:t>BT'nin Yaşam Standardı ve Çalışan Verimliliği Üzerindeki Etkisi</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426101"/>
          </a:xfrm>
        </p:spPr>
        <p:txBody>
          <a:bodyPr/>
          <a:lstStyle/>
          <a:p>
            <a:r>
              <a:rPr lang="en-US" altLang="en-US" sz="2800"/>
              <a:t>Emek verimliliği: Üretilen mal ve hizmetlerin miktarını (çıktı) bu mal ve hizmetlerin üretiminde kullanılan çalışma saatlerinin sayısıyla karşılaştıran bir ekonomik performans ölçüsü
Çalışma saati başına gerçek çıktıya eşittir
Büyüme = Çıktı, çalışma saatlerinden daha hızlı artar
Kısmen modern yönetim teknikleri ve otomatik teknoloji nedeniyle büyüme 
İnovasyon
Verimlilik artışında kilit faktör
BT, inovasyonun sağlanmasında önemli bir rol oynamıştır</a:t>
            </a:r>
            <a:endParaRPr lang="en-US" dirty="0"/>
          </a:p>
        </p:txBody>
      </p:sp>
      <p:sp>
        <p:nvSpPr>
          <p:cNvPr id="3" name="Title 2"/>
          <p:cNvSpPr>
            <a:spLocks noGrp="1"/>
          </p:cNvSpPr>
          <p:nvPr>
            <p:ph type="title"/>
          </p:nvPr>
        </p:nvSpPr>
        <p:spPr>
          <a:xfrm>
            <a:off x="762000" y="290459"/>
            <a:ext cx="8026400" cy="527837"/>
          </a:xfrm>
        </p:spPr>
        <p:txBody>
          <a:bodyPr/>
          <a:lstStyle/>
          <a:p>
            <a:r>
              <a:rPr lang="en-US" sz="4000"/>
              <a:t>BT Yatırımı ve Verimliliği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7452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8-1: This table lists the fundamental drivers for productivity performance. &#10;(1) Reduce the amount of input required to produce a given output by: Consolidating operations to better leverage economies of scale and improving performance by becoming more efficient.&#10;&#10;(2) Increase the value of the output produced by a given amount of input by: Selling higher-value goods and services and selling more goods and services to increase capacity and use of existing resources.&#10;"/>
          <p:cNvGraphicFramePr>
            <a:graphicFrameLocks noGrp="1"/>
          </p:cNvGraphicFramePr>
          <p:nvPr>
            <p:ph idx="1"/>
            <p:extLst>
              <p:ext uri="{D42A27DB-BD31-4B8C-83A1-F6EECF244321}">
                <p14:modId xmlns:p14="http://schemas.microsoft.com/office/powerpoint/2010/main" val="2007510066"/>
              </p:ext>
            </p:extLst>
          </p:nvPr>
        </p:nvGraphicFramePr>
        <p:xfrm>
          <a:off x="365125" y="1538288"/>
          <a:ext cx="8415338" cy="3383280"/>
        </p:xfrm>
        <a:graphic>
          <a:graphicData uri="http://schemas.openxmlformats.org/drawingml/2006/table">
            <a:tbl>
              <a:tblPr firstRow="1" bandRow="1">
                <a:tableStyleId>{5C22544A-7EE6-4342-B048-85BDC9FD1C3A}</a:tableStyleId>
              </a:tblPr>
              <a:tblGrid>
                <a:gridCol w="4207669">
                  <a:extLst>
                    <a:ext uri="{9D8B030D-6E8A-4147-A177-3AD203B41FA5}">
                      <a16:colId xmlns:a16="http://schemas.microsoft.com/office/drawing/2014/main" val="2184191110"/>
                    </a:ext>
                  </a:extLst>
                </a:gridCol>
                <a:gridCol w="4207669">
                  <a:extLst>
                    <a:ext uri="{9D8B030D-6E8A-4147-A177-3AD203B41FA5}">
                      <a16:colId xmlns:a16="http://schemas.microsoft.com/office/drawing/2014/main" val="1035243780"/>
                    </a:ext>
                  </a:extLst>
                </a:gridCol>
              </a:tblGrid>
              <a:tr h="370840">
                <a:tc>
                  <a:txBody>
                    <a:bodyPr/>
                    <a:lstStyle/>
                    <a:p>
                      <a:r>
                        <a:rPr lang="en-US" sz="2400" dirty="0" err="1"/>
                        <a:t>Belirli</a:t>
                      </a:r>
                      <a:r>
                        <a:rPr lang="en-US" sz="2400" dirty="0"/>
                        <a:t> </a:t>
                      </a:r>
                      <a:r>
                        <a:rPr lang="en-US" sz="2400" dirty="0" err="1"/>
                        <a:t>bir</a:t>
                      </a:r>
                      <a:r>
                        <a:rPr lang="en-US" sz="2400" dirty="0"/>
                        <a:t> </a:t>
                      </a:r>
                      <a:r>
                        <a:rPr lang="en-US" sz="2400" dirty="0" err="1"/>
                        <a:t>çıktıyı</a:t>
                      </a:r>
                      <a:r>
                        <a:rPr lang="en-US" sz="2400" dirty="0"/>
                        <a:t> </a:t>
                      </a:r>
                      <a:r>
                        <a:rPr lang="en-US" sz="2400" dirty="0" err="1"/>
                        <a:t>üretmek</a:t>
                      </a:r>
                      <a:r>
                        <a:rPr lang="en-US" sz="2400" dirty="0"/>
                        <a:t> için </a:t>
                      </a:r>
                      <a:r>
                        <a:rPr lang="en-US" sz="2400" dirty="0" err="1"/>
                        <a:t>gereken</a:t>
                      </a:r>
                      <a:r>
                        <a:rPr lang="en-US" sz="2400" dirty="0"/>
                        <a:t> </a:t>
                      </a:r>
                      <a:r>
                        <a:rPr lang="en-US" sz="2400" dirty="0" err="1"/>
                        <a:t>girdi</a:t>
                      </a:r>
                      <a:r>
                        <a:rPr lang="en-US" sz="2400" dirty="0"/>
                        <a:t> </a:t>
                      </a:r>
                      <a:r>
                        <a:rPr lang="en-US" sz="2400" dirty="0" err="1"/>
                        <a:t>miktarını</a:t>
                      </a:r>
                      <a:r>
                        <a:rPr lang="en-US" sz="2400" dirty="0"/>
                        <a:t> </a:t>
                      </a:r>
                      <a:r>
                        <a:rPr lang="en-US" sz="2400" dirty="0" err="1"/>
                        <a:t>şu</a:t>
                      </a:r>
                      <a:r>
                        <a:rPr lang="en-US" sz="2400" dirty="0"/>
                        <a:t> </a:t>
                      </a:r>
                      <a:r>
                        <a:rPr lang="en-US" sz="2400" dirty="0" err="1"/>
                        <a:t>şekilde</a:t>
                      </a:r>
                      <a:r>
                        <a:rPr lang="en-US" sz="2400" dirty="0"/>
                        <a:t> </a:t>
                      </a:r>
                      <a:r>
                        <a:rPr lang="en-US" sz="2400" dirty="0" err="1"/>
                        <a:t>azaltın</a:t>
                      </a:r>
                      <a:r>
                        <a:rPr lang="en-US" sz="2400" dirty="0"/>
                        <a:t>:</a:t>
                      </a:r>
                    </a:p>
                  </a:txBody>
                  <a:tcPr/>
                </a:tc>
                <a:tc>
                  <a:txBody>
                    <a:bodyPr/>
                    <a:lstStyle/>
                    <a:p>
                      <a:r>
                        <a:rPr lang="en-US" sz="2400" dirty="0" err="1"/>
                        <a:t>Belirli</a:t>
                      </a:r>
                      <a:r>
                        <a:rPr lang="en-US" sz="2400" dirty="0"/>
                        <a:t> </a:t>
                      </a:r>
                      <a:r>
                        <a:rPr lang="en-US" sz="2400" dirty="0" err="1"/>
                        <a:t>bir</a:t>
                      </a:r>
                      <a:r>
                        <a:rPr lang="en-US" sz="2400" dirty="0"/>
                        <a:t> </a:t>
                      </a:r>
                      <a:r>
                        <a:rPr lang="en-US" sz="2400" dirty="0" err="1"/>
                        <a:t>girdi</a:t>
                      </a:r>
                      <a:r>
                        <a:rPr lang="en-US" sz="2400" dirty="0"/>
                        <a:t> </a:t>
                      </a:r>
                      <a:r>
                        <a:rPr lang="en-US" sz="2400" dirty="0" err="1"/>
                        <a:t>miktarı</a:t>
                      </a:r>
                      <a:r>
                        <a:rPr lang="en-US" sz="2400" dirty="0"/>
                        <a:t> </a:t>
                      </a:r>
                      <a:r>
                        <a:rPr lang="en-US" sz="2400" dirty="0" err="1"/>
                        <a:t>tarafından</a:t>
                      </a:r>
                      <a:r>
                        <a:rPr lang="en-US" sz="2400" dirty="0"/>
                        <a:t> </a:t>
                      </a:r>
                      <a:r>
                        <a:rPr lang="en-US" sz="2400" dirty="0" err="1"/>
                        <a:t>üretilen</a:t>
                      </a:r>
                      <a:r>
                        <a:rPr lang="en-US" sz="2400" dirty="0"/>
                        <a:t> </a:t>
                      </a:r>
                      <a:r>
                        <a:rPr lang="en-US" sz="2400" dirty="0" err="1"/>
                        <a:t>çıktının</a:t>
                      </a:r>
                      <a:r>
                        <a:rPr lang="en-US" sz="2400" dirty="0"/>
                        <a:t> </a:t>
                      </a:r>
                      <a:r>
                        <a:rPr lang="en-US" sz="2400" dirty="0" err="1"/>
                        <a:t>değerini</a:t>
                      </a:r>
                      <a:r>
                        <a:rPr lang="en-US" sz="2400" dirty="0"/>
                        <a:t> </a:t>
                      </a:r>
                      <a:r>
                        <a:rPr lang="en-US" sz="2400" dirty="0" err="1"/>
                        <a:t>şu</a:t>
                      </a:r>
                      <a:r>
                        <a:rPr lang="en-US" sz="2400" dirty="0"/>
                        <a:t> </a:t>
                      </a:r>
                      <a:r>
                        <a:rPr lang="en-US" sz="2400" dirty="0" err="1"/>
                        <a:t>şekilde</a:t>
                      </a:r>
                      <a:r>
                        <a:rPr lang="en-US" sz="2400" dirty="0"/>
                        <a:t> </a:t>
                      </a:r>
                      <a:r>
                        <a:rPr lang="en-US" sz="2400" dirty="0" err="1"/>
                        <a:t>artırın</a:t>
                      </a:r>
                      <a:r>
                        <a:rPr lang="en-US" sz="2400" dirty="0"/>
                        <a:t>:</a:t>
                      </a:r>
                    </a:p>
                  </a:txBody>
                  <a:tcPr/>
                </a:tc>
                <a:extLst>
                  <a:ext uri="{0D108BD9-81ED-4DB2-BD59-A6C34878D82A}">
                    <a16:rowId xmlns:a16="http://schemas.microsoft.com/office/drawing/2014/main" val="1666978701"/>
                  </a:ext>
                </a:extLst>
              </a:tr>
              <a:tr h="370840">
                <a:tc>
                  <a:txBody>
                    <a:bodyPr/>
                    <a:lstStyle/>
                    <a:p>
                      <a:r>
                        <a:rPr lang="en-US" sz="2200" dirty="0" err="1"/>
                        <a:t>Ölçek</a:t>
                      </a:r>
                      <a:r>
                        <a:rPr lang="en-US" sz="2200" dirty="0"/>
                        <a:t> </a:t>
                      </a:r>
                      <a:r>
                        <a:rPr lang="en-US" sz="2200" dirty="0" err="1"/>
                        <a:t>ekonomilerinden</a:t>
                      </a:r>
                      <a:r>
                        <a:rPr lang="en-US" sz="2200" dirty="0"/>
                        <a:t> </a:t>
                      </a:r>
                      <a:r>
                        <a:rPr lang="en-US" sz="2200" dirty="0" err="1"/>
                        <a:t>daha</a:t>
                      </a:r>
                      <a:r>
                        <a:rPr lang="en-US" sz="2200" dirty="0"/>
                        <a:t> iyi </a:t>
                      </a:r>
                      <a:r>
                        <a:rPr lang="en-US" sz="2200" dirty="0" err="1"/>
                        <a:t>yararlanmak</a:t>
                      </a:r>
                      <a:r>
                        <a:rPr lang="en-US" sz="2200" dirty="0"/>
                        <a:t> için </a:t>
                      </a:r>
                      <a:r>
                        <a:rPr lang="en-US" sz="2200" dirty="0" err="1"/>
                        <a:t>operasyonları</a:t>
                      </a:r>
                      <a:r>
                        <a:rPr lang="en-US" sz="2200" dirty="0"/>
                        <a:t> </a:t>
                      </a:r>
                      <a:r>
                        <a:rPr lang="en-US" sz="2200" dirty="0" err="1"/>
                        <a:t>konsolide</a:t>
                      </a:r>
                      <a:r>
                        <a:rPr lang="en-US" sz="2200" dirty="0"/>
                        <a:t> </a:t>
                      </a:r>
                      <a:r>
                        <a:rPr lang="en-US" sz="2200" dirty="0" err="1"/>
                        <a:t>etme</a:t>
                      </a:r>
                      <a:endParaRPr lang="en-US" sz="2200" dirty="0"/>
                    </a:p>
                  </a:txBody>
                  <a:tcPr/>
                </a:tc>
                <a:tc>
                  <a:txBody>
                    <a:bodyPr/>
                    <a:lstStyle/>
                    <a:p>
                      <a:r>
                        <a:rPr lang="en-US" sz="2200" dirty="0" err="1"/>
                        <a:t>Daha</a:t>
                      </a:r>
                      <a:r>
                        <a:rPr lang="en-US" sz="2200" dirty="0"/>
                        <a:t> </a:t>
                      </a:r>
                      <a:r>
                        <a:rPr lang="en-US" sz="2200" dirty="0" err="1"/>
                        <a:t>yüksek</a:t>
                      </a:r>
                      <a:r>
                        <a:rPr lang="en-US" sz="2200" dirty="0"/>
                        <a:t> </a:t>
                      </a:r>
                      <a:r>
                        <a:rPr lang="en-US" sz="2200" dirty="0" err="1"/>
                        <a:t>değerli</a:t>
                      </a:r>
                      <a:r>
                        <a:rPr lang="en-US" sz="2200" dirty="0"/>
                        <a:t> mal </a:t>
                      </a:r>
                      <a:r>
                        <a:rPr lang="en-US" sz="2200" dirty="0" err="1"/>
                        <a:t>ve</a:t>
                      </a:r>
                      <a:r>
                        <a:rPr lang="en-US" sz="2200" dirty="0"/>
                        <a:t> </a:t>
                      </a:r>
                      <a:r>
                        <a:rPr lang="en-US" sz="2200" dirty="0" err="1"/>
                        <a:t>hizmetler</a:t>
                      </a:r>
                      <a:r>
                        <a:rPr lang="en-US" sz="2200" dirty="0"/>
                        <a:t> </a:t>
                      </a:r>
                      <a:r>
                        <a:rPr lang="en-US" sz="2200" dirty="0" err="1"/>
                        <a:t>satmak</a:t>
                      </a:r>
                      <a:endParaRPr lang="en-US" sz="2200" dirty="0"/>
                    </a:p>
                  </a:txBody>
                  <a:tcPr/>
                </a:tc>
                <a:extLst>
                  <a:ext uri="{0D108BD9-81ED-4DB2-BD59-A6C34878D82A}">
                    <a16:rowId xmlns:a16="http://schemas.microsoft.com/office/drawing/2014/main" val="1575458207"/>
                  </a:ext>
                </a:extLst>
              </a:tr>
              <a:tr h="370840">
                <a:tc>
                  <a:txBody>
                    <a:bodyPr/>
                    <a:lstStyle/>
                    <a:p>
                      <a:r>
                        <a:rPr lang="nn-NO" sz="2200" dirty="0"/>
                        <a:t>Daha verimli hale gelerek performansı artırma</a:t>
                      </a:r>
                      <a:endParaRPr lang="en-US" sz="2200" dirty="0"/>
                    </a:p>
                  </a:txBody>
                  <a:tcPr/>
                </a:tc>
                <a:tc>
                  <a:txBody>
                    <a:bodyPr/>
                    <a:lstStyle/>
                    <a:p>
                      <a:r>
                        <a:rPr lang="en-US" sz="2200" dirty="0" err="1"/>
                        <a:t>Kapasiteyi</a:t>
                      </a:r>
                      <a:r>
                        <a:rPr lang="en-US" sz="2200" dirty="0"/>
                        <a:t> </a:t>
                      </a:r>
                      <a:r>
                        <a:rPr lang="en-US" sz="2200" dirty="0" err="1"/>
                        <a:t>ve</a:t>
                      </a:r>
                      <a:r>
                        <a:rPr lang="en-US" sz="2200" dirty="0"/>
                        <a:t> </a:t>
                      </a:r>
                      <a:r>
                        <a:rPr lang="en-US" sz="2200" dirty="0" err="1"/>
                        <a:t>mevcut</a:t>
                      </a:r>
                      <a:r>
                        <a:rPr lang="en-US" sz="2200" dirty="0"/>
                        <a:t> </a:t>
                      </a:r>
                      <a:r>
                        <a:rPr lang="en-US" sz="2200" dirty="0" err="1"/>
                        <a:t>kaynakların</a:t>
                      </a:r>
                      <a:r>
                        <a:rPr lang="en-US" sz="2200" dirty="0"/>
                        <a:t> </a:t>
                      </a:r>
                      <a:r>
                        <a:rPr lang="en-US" sz="2200" dirty="0" err="1"/>
                        <a:t>kullanımını</a:t>
                      </a:r>
                      <a:r>
                        <a:rPr lang="en-US" sz="2200" dirty="0"/>
                        <a:t> </a:t>
                      </a:r>
                      <a:r>
                        <a:rPr lang="en-US" sz="2200" dirty="0" err="1"/>
                        <a:t>artırmak</a:t>
                      </a:r>
                      <a:r>
                        <a:rPr lang="en-US" sz="2200" dirty="0"/>
                        <a:t> için </a:t>
                      </a:r>
                      <a:r>
                        <a:rPr lang="en-US" sz="2200" dirty="0" err="1"/>
                        <a:t>daha</a:t>
                      </a:r>
                      <a:r>
                        <a:rPr lang="en-US" sz="2200" dirty="0"/>
                        <a:t> </a:t>
                      </a:r>
                      <a:r>
                        <a:rPr lang="en-US" sz="2200" dirty="0" err="1"/>
                        <a:t>fazla</a:t>
                      </a:r>
                      <a:r>
                        <a:rPr lang="en-US" sz="2200" dirty="0"/>
                        <a:t> mal </a:t>
                      </a:r>
                      <a:r>
                        <a:rPr lang="en-US" sz="2200" dirty="0" err="1"/>
                        <a:t>ve</a:t>
                      </a:r>
                      <a:r>
                        <a:rPr lang="en-US" sz="2200" dirty="0"/>
                        <a:t> </a:t>
                      </a:r>
                      <a:r>
                        <a:rPr lang="en-US" sz="2200" dirty="0" err="1"/>
                        <a:t>hizmet</a:t>
                      </a:r>
                      <a:r>
                        <a:rPr lang="en-US" sz="2200" dirty="0"/>
                        <a:t> </a:t>
                      </a:r>
                      <a:r>
                        <a:rPr lang="en-US" sz="2200" dirty="0" err="1"/>
                        <a:t>satmak</a:t>
                      </a:r>
                      <a:endParaRPr lang="en-US" sz="2200" dirty="0"/>
                    </a:p>
                  </a:txBody>
                  <a:tcPr/>
                </a:tc>
                <a:extLst>
                  <a:ext uri="{0D108BD9-81ED-4DB2-BD59-A6C34878D82A}">
                    <a16:rowId xmlns:a16="http://schemas.microsoft.com/office/drawing/2014/main" val="1676980858"/>
                  </a:ext>
                </a:extLst>
              </a:tr>
            </a:tbl>
          </a:graphicData>
        </a:graphic>
      </p:graphicFrame>
      <p:sp>
        <p:nvSpPr>
          <p:cNvPr id="3" name="Title 2"/>
          <p:cNvSpPr>
            <a:spLocks noGrp="1"/>
          </p:cNvSpPr>
          <p:nvPr>
            <p:ph type="title"/>
          </p:nvPr>
        </p:nvSpPr>
        <p:spPr>
          <a:xfrm>
            <a:off x="762000" y="343229"/>
            <a:ext cx="8026400" cy="422295"/>
          </a:xfrm>
        </p:spPr>
        <p:txBody>
          <a:bodyPr/>
          <a:lstStyle/>
          <a:p>
            <a:r>
              <a:rPr lang="en-US" sz="3200" dirty="0" err="1"/>
              <a:t>Üretkenlik</a:t>
            </a:r>
            <a:r>
              <a:rPr lang="en-US" sz="3200" dirty="0"/>
              <a:t> </a:t>
            </a:r>
            <a:r>
              <a:rPr lang="en-US" sz="3200" dirty="0" err="1"/>
              <a:t>Performansı</a:t>
            </a:r>
            <a:r>
              <a:rPr lang="en-US" sz="3200" dirty="0"/>
              <a:t> için </a:t>
            </a:r>
            <a:r>
              <a:rPr lang="en-US" sz="3200" dirty="0" err="1"/>
              <a:t>Temel</a:t>
            </a:r>
            <a:r>
              <a:rPr lang="en-US" sz="3200" dirty="0"/>
              <a:t> </a:t>
            </a:r>
            <a:r>
              <a:rPr lang="en-US" sz="3200" dirty="0" err="1"/>
              <a:t>Etkenler</a:t>
            </a:r>
            <a:endParaRPr lang="en-US" sz="32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8040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066800"/>
            <a:ext cx="8415338" cy="4919039"/>
          </a:xfrm>
        </p:spPr>
        <p:txBody>
          <a:bodyPr/>
          <a:lstStyle/>
          <a:p>
            <a:pPr>
              <a:spcBef>
                <a:spcPts val="900"/>
              </a:spcBef>
            </a:pPr>
            <a:r>
              <a:rPr lang="en-US" sz="2700"/>
              <a:t>İşgücü verimliliği oranları, genişleme ve daralma iş döngülerinden etkilenir.
Müteahhitlere dış kaynak kullanımı üretkenliği çarpıtır.
İşçilerin işe alınmasını ve işten çıkarılmasını basitleştiren düzenlemeler, piyasaların işçileri daha üretken firmalara ve sektörlere taşımasını kolaylaştırır.
Mal ve hizmetler için rekabetçi pazarlar, inovasyon için teşvikler sağlar.
Hizmete dayalı ekonomilerde çıktıyı ölçmek daha zordur.
BT yatırımları her zaman somut sonuçlar vermez, ancak maddi olmayan faydalar sağlayabilir.</a:t>
            </a:r>
            <a:endParaRPr lang="en-US" dirty="0"/>
          </a:p>
        </p:txBody>
      </p:sp>
      <p:sp>
        <p:nvSpPr>
          <p:cNvPr id="3" name="Title 2"/>
          <p:cNvSpPr>
            <a:spLocks noGrp="1"/>
          </p:cNvSpPr>
          <p:nvPr>
            <p:ph type="title"/>
          </p:nvPr>
        </p:nvSpPr>
        <p:spPr>
          <a:xfrm>
            <a:off x="762000" y="323448"/>
            <a:ext cx="8026400" cy="461858"/>
          </a:xfrm>
        </p:spPr>
        <p:txBody>
          <a:bodyPr/>
          <a:lstStyle/>
          <a:p>
            <a:r>
              <a:rPr lang="en-US" sz="3500"/>
              <a:t>Milli Verimlilik Oranlarını Etkileyen Faktörler</a:t>
            </a:r>
            <a:endParaRPr lang="en-US" sz="35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21001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428631"/>
          </a:xfrm>
        </p:spPr>
        <p:txBody>
          <a:bodyPr/>
          <a:lstStyle/>
          <a:p>
            <a:r>
              <a:rPr lang="en-US" sz="2800"/>
              <a:t>Yapay zeka: Uzmanların insan zihninin doğası ve insan benzeri zekaya sahip nesneler yaratma etiği gibi felsefi konular üzerinde kafa yorduğu disiplinler arası bir alan.
Yapay zeka sistemleri: Öğrenme, akıl yürütme ve kendi kendini düzeltme dahil olmak üzere insan zekası süreçlerini simüle edebilen bilgisayar sistemleri ve makineler geliştirmek için gereken insanlar, prosedürler, donanım, yazılım, veriler ve bilgi</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a:t>Yapay Zeka</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59634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447800"/>
            <a:ext cx="8415338" cy="4562788"/>
          </a:xfrm>
        </p:spPr>
        <p:txBody>
          <a:bodyPr/>
          <a:lstStyle/>
          <a:p>
            <a:r>
              <a:rPr lang="en-US" sz="2700"/>
              <a:t>Makine öğrenimi: Deneyimle öğrenebilen ve performanslarını geliştirebilen bilgisayar programlarını içeren bir tür yapay zeka (AI)
Üç ana bileşenden oluşur: bir model, parametreler ve öğrenci
Girdi, bir tahmin yapan modele beslenir. 
Öğrenci bileşeni, tahmini gerçeklikle karşılaştırır ve parametreleri değiştirmek için ikisi arasındaki farkı kullanır. 
Öğrenme süreci, sistem yeterince doğru tahminler yapana kadar tekrarlanır.</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a:t>Makine Öğrenimi</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53094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447800"/>
            <a:ext cx="8415338" cy="3860288"/>
          </a:xfrm>
        </p:spPr>
        <p:txBody>
          <a:bodyPr/>
          <a:lstStyle/>
          <a:p>
            <a:r>
              <a:rPr lang="en-US" sz="2700" dirty="0" err="1"/>
              <a:t>Robotik</a:t>
            </a:r>
            <a:r>
              <a:rPr lang="en-US" sz="2700" dirty="0"/>
              <a:t>: </a:t>
            </a:r>
            <a:r>
              <a:rPr lang="en-US" sz="2700" dirty="0" err="1"/>
              <a:t>Yüksek</a:t>
            </a:r>
            <a:r>
              <a:rPr lang="en-US" sz="2700" dirty="0"/>
              <a:t> </a:t>
            </a:r>
            <a:r>
              <a:rPr lang="en-US" sz="2700" dirty="0" err="1"/>
              <a:t>derecede</a:t>
            </a:r>
            <a:r>
              <a:rPr lang="en-US" sz="2700" dirty="0"/>
              <a:t> </a:t>
            </a:r>
            <a:r>
              <a:rPr lang="en-US" sz="2700" dirty="0" err="1"/>
              <a:t>hassasiyet</a:t>
            </a:r>
            <a:r>
              <a:rPr lang="en-US" sz="2700" dirty="0"/>
              <a:t> </a:t>
            </a:r>
            <a:r>
              <a:rPr lang="en-US" sz="2700" dirty="0" err="1"/>
              <a:t>gerektiren</a:t>
            </a:r>
            <a:r>
              <a:rPr lang="en-US" sz="2700" dirty="0"/>
              <a:t> </a:t>
            </a:r>
            <a:r>
              <a:rPr lang="en-US" sz="2700" dirty="0" err="1"/>
              <a:t>veya</a:t>
            </a:r>
            <a:r>
              <a:rPr lang="en-US" sz="2700" dirty="0"/>
              <a:t> </a:t>
            </a:r>
            <a:r>
              <a:rPr lang="en-US" sz="2700" dirty="0" err="1"/>
              <a:t>insanlar</a:t>
            </a:r>
            <a:r>
              <a:rPr lang="en-US" sz="2700" dirty="0"/>
              <a:t> için </a:t>
            </a:r>
            <a:r>
              <a:rPr lang="en-US" sz="2700" dirty="0" err="1"/>
              <a:t>sıkıcı</a:t>
            </a:r>
            <a:r>
              <a:rPr lang="en-US" sz="2700" dirty="0"/>
              <a:t>/</a:t>
            </a:r>
            <a:r>
              <a:rPr lang="en-US" sz="2700" dirty="0" err="1"/>
              <a:t>tehlikeli</a:t>
            </a:r>
            <a:r>
              <a:rPr lang="en-US" sz="2700" dirty="0"/>
              <a:t> </a:t>
            </a:r>
            <a:r>
              <a:rPr lang="en-US" sz="2700" dirty="0" err="1"/>
              <a:t>olan</a:t>
            </a:r>
            <a:r>
              <a:rPr lang="en-US" sz="2700" dirty="0"/>
              <a:t> </a:t>
            </a:r>
            <a:r>
              <a:rPr lang="en-US" sz="2700" dirty="0" err="1"/>
              <a:t>görevleri</a:t>
            </a:r>
            <a:r>
              <a:rPr lang="en-US" sz="2700" dirty="0"/>
              <a:t> </a:t>
            </a:r>
            <a:r>
              <a:rPr lang="en-US" sz="2700" dirty="0" err="1"/>
              <a:t>yerine</a:t>
            </a:r>
            <a:r>
              <a:rPr lang="en-US" sz="2700" dirty="0"/>
              <a:t> </a:t>
            </a:r>
            <a:r>
              <a:rPr lang="en-US" sz="2700" dirty="0" err="1"/>
              <a:t>getiren</a:t>
            </a:r>
            <a:r>
              <a:rPr lang="en-US" sz="2700" dirty="0"/>
              <a:t> </a:t>
            </a:r>
            <a:r>
              <a:rPr lang="en-US" sz="2700" dirty="0" err="1"/>
              <a:t>mekanik</a:t>
            </a:r>
            <a:r>
              <a:rPr lang="en-US" sz="2700" dirty="0"/>
              <a:t> </a:t>
            </a:r>
            <a:r>
              <a:rPr lang="en-US" sz="2700" dirty="0" err="1"/>
              <a:t>veya</a:t>
            </a:r>
            <a:r>
              <a:rPr lang="en-US" sz="2700" dirty="0"/>
              <a:t> </a:t>
            </a:r>
            <a:r>
              <a:rPr lang="en-US" sz="2700" dirty="0" err="1"/>
              <a:t>bilgisayar</a:t>
            </a:r>
            <a:r>
              <a:rPr lang="en-US" sz="2700" dirty="0"/>
              <a:t> </a:t>
            </a:r>
            <a:r>
              <a:rPr lang="en-US" sz="2700" dirty="0" err="1"/>
              <a:t>cihazlarının</a:t>
            </a:r>
            <a:r>
              <a:rPr lang="en-US" sz="2700" dirty="0"/>
              <a:t> </a:t>
            </a:r>
            <a:r>
              <a:rPr lang="en-US" sz="2700" dirty="0" err="1"/>
              <a:t>geliştirilmesini</a:t>
            </a:r>
            <a:r>
              <a:rPr lang="en-US" sz="2700" dirty="0"/>
              <a:t> </a:t>
            </a:r>
            <a:r>
              <a:rPr lang="en-US" sz="2700" dirty="0" err="1"/>
              <a:t>ve</a:t>
            </a:r>
            <a:r>
              <a:rPr lang="en-US" sz="2700" dirty="0"/>
              <a:t> </a:t>
            </a:r>
            <a:r>
              <a:rPr lang="en-US" sz="2700" dirty="0" err="1"/>
              <a:t>üretilmesini</a:t>
            </a:r>
            <a:r>
              <a:rPr lang="en-US" sz="2700" dirty="0"/>
              <a:t> </a:t>
            </a:r>
            <a:r>
              <a:rPr lang="en-US" sz="2700" dirty="0" err="1"/>
              <a:t>içeren</a:t>
            </a:r>
            <a:r>
              <a:rPr lang="en-US" sz="2700" dirty="0"/>
              <a:t> </a:t>
            </a:r>
            <a:r>
              <a:rPr lang="en-US" sz="2700" dirty="0" err="1"/>
              <a:t>bir</a:t>
            </a:r>
            <a:r>
              <a:rPr lang="en-US" sz="2700" dirty="0"/>
              <a:t> </a:t>
            </a:r>
            <a:r>
              <a:rPr lang="en-US" sz="2700" dirty="0" err="1"/>
              <a:t>mühendislik</a:t>
            </a:r>
            <a:r>
              <a:rPr lang="en-US" sz="2700" dirty="0"/>
              <a:t> </a:t>
            </a:r>
            <a:r>
              <a:rPr lang="en-US" sz="2700" dirty="0" err="1"/>
              <a:t>dalı</a:t>
            </a:r>
            <a:r>
              <a:rPr lang="en-US" sz="2700" dirty="0"/>
              <a:t>
Araba </a:t>
            </a:r>
            <a:r>
              <a:rPr lang="en-US" sz="2700" dirty="0" err="1"/>
              <a:t>boyamak</a:t>
            </a:r>
            <a:r>
              <a:rPr lang="en-US" sz="2700" dirty="0"/>
              <a:t> </a:t>
            </a:r>
            <a:r>
              <a:rPr lang="en-US" sz="2700" dirty="0" err="1"/>
              <a:t>veya</a:t>
            </a:r>
            <a:r>
              <a:rPr lang="en-US" sz="2700" dirty="0"/>
              <a:t> </a:t>
            </a:r>
            <a:r>
              <a:rPr lang="en-US" sz="2700" dirty="0" err="1"/>
              <a:t>hassas</a:t>
            </a:r>
            <a:r>
              <a:rPr lang="en-US" sz="2700" dirty="0"/>
              <a:t> </a:t>
            </a:r>
            <a:r>
              <a:rPr lang="en-US" sz="2700" dirty="0" err="1"/>
              <a:t>kaynaklar</a:t>
            </a:r>
            <a:r>
              <a:rPr lang="en-US" sz="2700" dirty="0"/>
              <a:t> </a:t>
            </a:r>
            <a:r>
              <a:rPr lang="en-US" sz="2700" dirty="0" err="1"/>
              <a:t>yapmak</a:t>
            </a:r>
            <a:r>
              <a:rPr lang="en-US" sz="2700" dirty="0"/>
              <a:t>
</a:t>
            </a:r>
            <a:r>
              <a:rPr lang="en-US" sz="2700" dirty="0" err="1"/>
              <a:t>Doğal</a:t>
            </a:r>
            <a:r>
              <a:rPr lang="en-US" sz="2700" dirty="0"/>
              <a:t> </a:t>
            </a:r>
            <a:r>
              <a:rPr lang="en-US" sz="2700" dirty="0" err="1"/>
              <a:t>dil</a:t>
            </a:r>
            <a:r>
              <a:rPr lang="en-US" sz="2700" dirty="0"/>
              <a:t> </a:t>
            </a:r>
            <a:r>
              <a:rPr lang="en-US" sz="2700" dirty="0" err="1"/>
              <a:t>işleme</a:t>
            </a:r>
            <a:r>
              <a:rPr lang="en-US" sz="2700" dirty="0"/>
              <a:t>: </a:t>
            </a:r>
            <a:r>
              <a:rPr lang="en-US" sz="2700" dirty="0" err="1"/>
              <a:t>Bilgisayarların</a:t>
            </a:r>
            <a:r>
              <a:rPr lang="en-US" sz="2700" dirty="0"/>
              <a:t> </a:t>
            </a:r>
            <a:r>
              <a:rPr lang="en-US" sz="2700" dirty="0" err="1"/>
              <a:t>İngilizce</a:t>
            </a:r>
            <a:r>
              <a:rPr lang="en-US" sz="2700" dirty="0"/>
              <a:t> </a:t>
            </a:r>
            <a:r>
              <a:rPr lang="en-US" sz="2700" dirty="0" err="1"/>
              <a:t>gibi</a:t>
            </a:r>
            <a:r>
              <a:rPr lang="en-US" sz="2700" dirty="0"/>
              <a:t> "</a:t>
            </a:r>
            <a:r>
              <a:rPr lang="en-US" sz="2700" dirty="0" err="1"/>
              <a:t>doğal</a:t>
            </a:r>
            <a:r>
              <a:rPr lang="en-US" sz="2700" dirty="0"/>
              <a:t>" </a:t>
            </a:r>
            <a:r>
              <a:rPr lang="en-US" sz="2700" dirty="0" err="1"/>
              <a:t>dilleri</a:t>
            </a:r>
            <a:r>
              <a:rPr lang="en-US" sz="2700" dirty="0"/>
              <a:t> </a:t>
            </a:r>
            <a:r>
              <a:rPr lang="en-US" sz="2700" dirty="0" err="1"/>
              <a:t>anlamasına</a:t>
            </a:r>
            <a:r>
              <a:rPr lang="en-US" sz="2700" dirty="0"/>
              <a:t>, </a:t>
            </a:r>
            <a:r>
              <a:rPr lang="en-US" sz="2700" dirty="0" err="1"/>
              <a:t>analiz</a:t>
            </a:r>
            <a:r>
              <a:rPr lang="en-US" sz="2700" dirty="0"/>
              <a:t> </a:t>
            </a:r>
            <a:r>
              <a:rPr lang="en-US" sz="2700" dirty="0" err="1"/>
              <a:t>etmesine</a:t>
            </a:r>
            <a:r>
              <a:rPr lang="en-US" sz="2700" dirty="0"/>
              <a:t>, </a:t>
            </a:r>
            <a:r>
              <a:rPr lang="en-US" sz="2700" dirty="0" err="1"/>
              <a:t>manipüle</a:t>
            </a:r>
            <a:r>
              <a:rPr lang="en-US" sz="2700" dirty="0"/>
              <a:t> </a:t>
            </a:r>
            <a:r>
              <a:rPr lang="en-US" sz="2700" dirty="0" err="1"/>
              <a:t>etmesine</a:t>
            </a:r>
            <a:r>
              <a:rPr lang="en-US" sz="2700" dirty="0"/>
              <a:t> </a:t>
            </a:r>
            <a:r>
              <a:rPr lang="en-US" sz="2700" dirty="0" err="1"/>
              <a:t>ve</a:t>
            </a:r>
            <a:r>
              <a:rPr lang="en-US" sz="2700" dirty="0"/>
              <a:t>/</a:t>
            </a:r>
            <a:r>
              <a:rPr lang="en-US" sz="2700" dirty="0" err="1"/>
              <a:t>veya</a:t>
            </a:r>
            <a:r>
              <a:rPr lang="en-US" sz="2700" dirty="0"/>
              <a:t> </a:t>
            </a:r>
            <a:r>
              <a:rPr lang="en-US" sz="2700" dirty="0" err="1"/>
              <a:t>oluşturmasına</a:t>
            </a:r>
            <a:r>
              <a:rPr lang="en-US" sz="2700" dirty="0"/>
              <a:t> </a:t>
            </a:r>
            <a:r>
              <a:rPr lang="en-US" sz="2700" dirty="0" err="1"/>
              <a:t>olanak</a:t>
            </a:r>
            <a:r>
              <a:rPr lang="en-US" sz="2700" dirty="0"/>
              <a:t> </a:t>
            </a:r>
            <a:r>
              <a:rPr lang="en-US" sz="2700" dirty="0" err="1"/>
              <a:t>tanıyan</a:t>
            </a:r>
            <a:r>
              <a:rPr lang="en-US" sz="2700" dirty="0"/>
              <a:t> </a:t>
            </a:r>
            <a:r>
              <a:rPr lang="en-US" sz="2700" dirty="0" err="1"/>
              <a:t>teknolojiyi</a:t>
            </a:r>
            <a:r>
              <a:rPr lang="en-US" sz="2700" dirty="0"/>
              <a:t> </a:t>
            </a:r>
            <a:r>
              <a:rPr lang="en-US" sz="2700" dirty="0" err="1"/>
              <a:t>içeren</a:t>
            </a:r>
            <a:r>
              <a:rPr lang="en-US" sz="2700" dirty="0"/>
              <a:t> </a:t>
            </a:r>
            <a:r>
              <a:rPr lang="en-US" sz="2700" dirty="0" err="1"/>
              <a:t>yapay</a:t>
            </a:r>
            <a:r>
              <a:rPr lang="en-US" sz="2700" dirty="0"/>
              <a:t> </a:t>
            </a:r>
            <a:r>
              <a:rPr lang="en-US" sz="2700" dirty="0" err="1"/>
              <a:t>zekanın</a:t>
            </a:r>
            <a:r>
              <a:rPr lang="en-US" sz="2700" dirty="0"/>
              <a:t> </a:t>
            </a:r>
            <a:r>
              <a:rPr lang="en-US" sz="2700" dirty="0" err="1"/>
              <a:t>bir</a:t>
            </a:r>
            <a:r>
              <a:rPr lang="en-US" sz="2700" dirty="0"/>
              <a:t> </a:t>
            </a:r>
            <a:r>
              <a:rPr lang="en-US" sz="2700" dirty="0" err="1"/>
              <a:t>yönü</a:t>
            </a:r>
            <a:endParaRPr lang="en-US" sz="2700" dirty="0"/>
          </a:p>
        </p:txBody>
      </p:sp>
      <p:sp>
        <p:nvSpPr>
          <p:cNvPr id="3" name="Title 2"/>
          <p:cNvSpPr>
            <a:spLocks noGrp="1"/>
          </p:cNvSpPr>
          <p:nvPr>
            <p:ph type="title"/>
          </p:nvPr>
        </p:nvSpPr>
        <p:spPr>
          <a:xfrm>
            <a:off x="762000" y="310271"/>
            <a:ext cx="8026400" cy="488211"/>
          </a:xfrm>
        </p:spPr>
        <p:txBody>
          <a:bodyPr/>
          <a:lstStyle/>
          <a:p>
            <a:r>
              <a:rPr lang="es-ES" sz="3700"/>
              <a:t>Robotik ve Doğal Dil İşleme</a:t>
            </a:r>
            <a:endParaRPr lang="en-US" sz="37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41087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448812"/>
            <a:ext cx="8415338" cy="4299639"/>
          </a:xfrm>
        </p:spPr>
        <p:txBody>
          <a:bodyPr/>
          <a:lstStyle/>
          <a:p>
            <a:r>
              <a:rPr lang="en-US" sz="2800" dirty="0"/>
              <a:t>2015 </a:t>
            </a:r>
            <a:r>
              <a:rPr lang="en-US" sz="2800" dirty="0" err="1"/>
              <a:t>yılında</a:t>
            </a:r>
            <a:r>
              <a:rPr lang="en-US" sz="2800" dirty="0"/>
              <a:t> </a:t>
            </a:r>
            <a:r>
              <a:rPr lang="en-US" sz="2800" dirty="0" err="1"/>
              <a:t>ABD'nin</a:t>
            </a:r>
            <a:r>
              <a:rPr lang="en-US" sz="2800" dirty="0"/>
              <a:t> </a:t>
            </a:r>
            <a:r>
              <a:rPr lang="en-US" sz="2800" dirty="0" err="1"/>
              <a:t>sağlık</a:t>
            </a:r>
            <a:r>
              <a:rPr lang="en-US" sz="2800" dirty="0"/>
              <a:t> </a:t>
            </a:r>
            <a:r>
              <a:rPr lang="en-US" sz="2800" dirty="0" err="1"/>
              <a:t>harcamaları</a:t>
            </a:r>
            <a:r>
              <a:rPr lang="en-US" sz="2800" dirty="0"/>
              <a:t> </a:t>
            </a:r>
            <a:r>
              <a:rPr lang="en-US" sz="2800" dirty="0" err="1"/>
              <a:t>tahmini</a:t>
            </a:r>
            <a:r>
              <a:rPr lang="en-US" sz="2800" dirty="0"/>
              <a:t> 3.2 </a:t>
            </a:r>
            <a:r>
              <a:rPr lang="en-US" sz="2800" dirty="0" err="1"/>
              <a:t>trilyon</a:t>
            </a:r>
            <a:r>
              <a:rPr lang="en-US" sz="2800" dirty="0"/>
              <a:t> </a:t>
            </a:r>
            <a:r>
              <a:rPr lang="en-US" sz="2800" dirty="0" err="1"/>
              <a:t>dolara</a:t>
            </a:r>
            <a:r>
              <a:rPr lang="en-US" sz="2800" dirty="0"/>
              <a:t> </a:t>
            </a:r>
            <a:r>
              <a:rPr lang="en-US" sz="2800" dirty="0" err="1"/>
              <a:t>ulaştı</a:t>
            </a:r>
            <a:r>
              <a:rPr lang="en-US" sz="2800" dirty="0"/>
              <a:t>
</a:t>
            </a:r>
            <a:r>
              <a:rPr lang="en-US" sz="2800" dirty="0" err="1"/>
              <a:t>GSYİH'nın</a:t>
            </a:r>
            <a:r>
              <a:rPr lang="en-US" sz="2800" dirty="0"/>
              <a:t> %17,8'ini </a:t>
            </a:r>
            <a:r>
              <a:rPr lang="en-US" sz="2800" dirty="0" err="1"/>
              <a:t>oluşturuyor</a:t>
            </a:r>
            <a:r>
              <a:rPr lang="en-US" sz="2800" dirty="0"/>
              <a:t>
</a:t>
            </a:r>
            <a:r>
              <a:rPr lang="en-US" sz="2800" dirty="0" err="1"/>
              <a:t>Sağlık</a:t>
            </a:r>
            <a:r>
              <a:rPr lang="en-US" sz="2800" dirty="0"/>
              <a:t> </a:t>
            </a:r>
            <a:r>
              <a:rPr lang="en-US" sz="2800" dirty="0" err="1"/>
              <a:t>harcamalarının</a:t>
            </a:r>
            <a:r>
              <a:rPr lang="en-US" sz="2800" dirty="0"/>
              <a:t> </a:t>
            </a:r>
            <a:r>
              <a:rPr lang="en-US" sz="2800" dirty="0" err="1"/>
              <a:t>yılda</a:t>
            </a:r>
            <a:r>
              <a:rPr lang="en-US" sz="2800" dirty="0"/>
              <a:t> </a:t>
            </a:r>
            <a:r>
              <a:rPr lang="en-US" sz="2800" dirty="0" err="1"/>
              <a:t>ortalama</a:t>
            </a:r>
            <a:r>
              <a:rPr lang="en-US" sz="2800" dirty="0"/>
              <a:t> %5,6 </a:t>
            </a:r>
            <a:r>
              <a:rPr lang="en-US" sz="2800" dirty="0" err="1"/>
              <a:t>oranında</a:t>
            </a:r>
            <a:r>
              <a:rPr lang="en-US" sz="2800" dirty="0"/>
              <a:t> </a:t>
            </a:r>
            <a:r>
              <a:rPr lang="en-US" sz="2800" dirty="0" err="1"/>
              <a:t>artması</a:t>
            </a:r>
            <a:r>
              <a:rPr lang="en-US" sz="2800" dirty="0"/>
              <a:t> </a:t>
            </a:r>
            <a:r>
              <a:rPr lang="en-US" sz="2800" dirty="0" err="1"/>
              <a:t>bekleniyor</a:t>
            </a:r>
            <a:r>
              <a:rPr lang="en-US" sz="2800" dirty="0"/>
              <a:t>
</a:t>
            </a:r>
            <a:r>
              <a:rPr lang="en-US" sz="2800" dirty="0" err="1"/>
              <a:t>Büyüme</a:t>
            </a:r>
            <a:r>
              <a:rPr lang="en-US" sz="2800" dirty="0"/>
              <a:t> </a:t>
            </a:r>
            <a:r>
              <a:rPr lang="en-US" sz="2800" dirty="0" err="1"/>
              <a:t>oranı</a:t>
            </a:r>
            <a:r>
              <a:rPr lang="en-US" sz="2800" dirty="0"/>
              <a:t>, </a:t>
            </a:r>
            <a:r>
              <a:rPr lang="en-US" sz="2800" dirty="0" err="1"/>
              <a:t>öngörülen</a:t>
            </a:r>
            <a:r>
              <a:rPr lang="en-US" sz="2800" dirty="0"/>
              <a:t> GSYİH </a:t>
            </a:r>
            <a:r>
              <a:rPr lang="en-US" sz="2800" dirty="0" err="1"/>
              <a:t>büyümesinden</a:t>
            </a:r>
            <a:r>
              <a:rPr lang="en-US" sz="2800" dirty="0"/>
              <a:t> 1,2 </a:t>
            </a:r>
            <a:r>
              <a:rPr lang="en-US" sz="2800" dirty="0" err="1"/>
              <a:t>puan</a:t>
            </a:r>
            <a:r>
              <a:rPr lang="en-US" sz="2800" dirty="0"/>
              <a:t> </a:t>
            </a:r>
            <a:r>
              <a:rPr lang="en-US" sz="2800" dirty="0" err="1"/>
              <a:t>daha</a:t>
            </a:r>
            <a:r>
              <a:rPr lang="en-US" sz="2800" dirty="0"/>
              <a:t> </a:t>
            </a:r>
            <a:r>
              <a:rPr lang="en-US" sz="2800" dirty="0" err="1"/>
              <a:t>hızlı</a:t>
            </a:r>
            <a:r>
              <a:rPr lang="en-US" sz="2800" dirty="0"/>
              <a:t>
2025 </a:t>
            </a:r>
            <a:r>
              <a:rPr lang="en-US" sz="2800" dirty="0" err="1"/>
              <a:t>yılına</a:t>
            </a:r>
            <a:r>
              <a:rPr lang="en-US" sz="2800" dirty="0"/>
              <a:t> </a:t>
            </a:r>
            <a:r>
              <a:rPr lang="en-US" sz="2800" dirty="0" err="1"/>
              <a:t>kadar</a:t>
            </a:r>
            <a:r>
              <a:rPr lang="en-US" sz="2800" dirty="0"/>
              <a:t> </a:t>
            </a:r>
            <a:r>
              <a:rPr lang="en-US" sz="2800" dirty="0" err="1"/>
              <a:t>sağlık</a:t>
            </a:r>
            <a:r>
              <a:rPr lang="en-US" sz="2800" dirty="0"/>
              <a:t> </a:t>
            </a:r>
            <a:r>
              <a:rPr lang="en-US" sz="2800" dirty="0" err="1"/>
              <a:t>harcamaları</a:t>
            </a:r>
            <a:r>
              <a:rPr lang="en-US" sz="2800" dirty="0"/>
              <a:t> </a:t>
            </a:r>
            <a:r>
              <a:rPr lang="en-US" sz="2800" dirty="0" err="1"/>
              <a:t>GSYİH'nın</a:t>
            </a:r>
            <a:r>
              <a:rPr lang="en-US" sz="2800" dirty="0"/>
              <a:t> %19,9'unu </a:t>
            </a:r>
            <a:r>
              <a:rPr lang="en-US" sz="2800" dirty="0" err="1"/>
              <a:t>oluşturacak</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ABD'de</a:t>
            </a:r>
            <a:r>
              <a:rPr lang="en-US" sz="4000" dirty="0"/>
              <a:t> </a:t>
            </a:r>
            <a:r>
              <a:rPr lang="en-US" sz="4000" dirty="0" err="1"/>
              <a:t>Sağlık</a:t>
            </a:r>
            <a:r>
              <a:rPr lang="en-US" sz="4000" dirty="0"/>
              <a:t> </a:t>
            </a:r>
            <a:r>
              <a:rPr lang="en-US" sz="4000" dirty="0" err="1"/>
              <a:t>Harcamaları</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1435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936736"/>
          </a:xfrm>
        </p:spPr>
        <p:txBody>
          <a:bodyPr/>
          <a:lstStyle/>
          <a:p>
            <a:r>
              <a:rPr lang="en-US" sz="2400" dirty="0" err="1"/>
              <a:t>Sağlık</a:t>
            </a:r>
            <a:r>
              <a:rPr lang="en-US" sz="2400" dirty="0"/>
              <a:t> </a:t>
            </a:r>
            <a:r>
              <a:rPr lang="en-US" sz="2400" dirty="0" err="1"/>
              <a:t>harcamalarındaki</a:t>
            </a:r>
            <a:r>
              <a:rPr lang="en-US" sz="2400" dirty="0"/>
              <a:t> </a:t>
            </a:r>
            <a:r>
              <a:rPr lang="en-US" sz="2400" dirty="0" err="1"/>
              <a:t>artış</a:t>
            </a:r>
            <a:r>
              <a:rPr lang="en-US" sz="2400" dirty="0"/>
              <a:t> </a:t>
            </a:r>
            <a:r>
              <a:rPr lang="en-US" sz="2400" dirty="0" err="1"/>
              <a:t>büyük</a:t>
            </a:r>
            <a:r>
              <a:rPr lang="en-US" sz="2400" dirty="0"/>
              <a:t> </a:t>
            </a:r>
            <a:r>
              <a:rPr lang="en-US" sz="2400" dirty="0" err="1"/>
              <a:t>ölçüde</a:t>
            </a:r>
            <a:r>
              <a:rPr lang="en-US" sz="2400" dirty="0"/>
              <a:t> </a:t>
            </a:r>
            <a:r>
              <a:rPr lang="en-US" sz="2400" dirty="0" err="1"/>
              <a:t>üç</a:t>
            </a:r>
            <a:r>
              <a:rPr lang="en-US" sz="2400" dirty="0"/>
              <a:t> </a:t>
            </a:r>
            <a:r>
              <a:rPr lang="en-US" sz="2400" dirty="0" err="1"/>
              <a:t>nedenden</a:t>
            </a:r>
            <a:r>
              <a:rPr lang="en-US" sz="2400" dirty="0"/>
              <a:t> </a:t>
            </a:r>
            <a:r>
              <a:rPr lang="en-US" sz="2400" dirty="0" err="1"/>
              <a:t>kaynaklanmaktadır</a:t>
            </a:r>
            <a:r>
              <a:rPr lang="en-US" sz="2400" dirty="0"/>
              <a:t>: 
</a:t>
            </a:r>
            <a:r>
              <a:rPr lang="en-US" sz="2400" dirty="0" err="1"/>
              <a:t>Nüfusun</a:t>
            </a:r>
            <a:r>
              <a:rPr lang="en-US" sz="2400" dirty="0"/>
              <a:t> </a:t>
            </a:r>
            <a:r>
              <a:rPr lang="en-US" sz="2400" dirty="0" err="1"/>
              <a:t>yaşlanmaya</a:t>
            </a:r>
            <a:r>
              <a:rPr lang="en-US" sz="2400" dirty="0"/>
              <a:t> </a:t>
            </a:r>
            <a:r>
              <a:rPr lang="en-US" sz="2400" dirty="0" err="1"/>
              <a:t>devam</a:t>
            </a:r>
            <a:r>
              <a:rPr lang="en-US" sz="2400" dirty="0"/>
              <a:t> </a:t>
            </a:r>
            <a:r>
              <a:rPr lang="en-US" sz="2400" dirty="0" err="1"/>
              <a:t>etmesi</a:t>
            </a:r>
            <a:r>
              <a:rPr lang="en-US" sz="2400" dirty="0"/>
              <a:t>
</a:t>
            </a:r>
            <a:r>
              <a:rPr lang="en-US" sz="2400" dirty="0" err="1"/>
              <a:t>Hükümet</a:t>
            </a:r>
            <a:r>
              <a:rPr lang="en-US" sz="2400" dirty="0"/>
              <a:t> </a:t>
            </a:r>
            <a:r>
              <a:rPr lang="en-US" sz="2400" dirty="0" err="1"/>
              <a:t>politikası</a:t>
            </a:r>
            <a:r>
              <a:rPr lang="en-US" sz="2400" dirty="0"/>
              <a:t>
</a:t>
            </a:r>
            <a:r>
              <a:rPr lang="en-US" sz="2400" dirty="0" err="1"/>
              <a:t>Yaşam</a:t>
            </a:r>
            <a:r>
              <a:rPr lang="en-US" sz="2400" dirty="0"/>
              <a:t> </a:t>
            </a:r>
            <a:r>
              <a:rPr lang="en-US" sz="2400" dirty="0" err="1"/>
              <a:t>tarzı</a:t>
            </a:r>
            <a:r>
              <a:rPr lang="en-US" sz="2400" dirty="0"/>
              <a:t> </a:t>
            </a:r>
            <a:r>
              <a:rPr lang="en-US" sz="2400" dirty="0" err="1"/>
              <a:t>değişiklikleri</a:t>
            </a:r>
            <a:r>
              <a:rPr lang="en-US" sz="2400" dirty="0"/>
              <a:t>
Yeni </a:t>
            </a:r>
            <a:r>
              <a:rPr lang="en-US" sz="2400" dirty="0" err="1"/>
              <a:t>tıbbi</a:t>
            </a:r>
            <a:r>
              <a:rPr lang="en-US" sz="2400" dirty="0"/>
              <a:t> </a:t>
            </a:r>
            <a:r>
              <a:rPr lang="en-US" sz="2400" dirty="0" err="1"/>
              <a:t>teknolojinin</a:t>
            </a:r>
            <a:r>
              <a:rPr lang="en-US" sz="2400" dirty="0"/>
              <a:t> </a:t>
            </a:r>
            <a:r>
              <a:rPr lang="en-US" sz="2400" dirty="0" err="1"/>
              <a:t>geliştirilmesi</a:t>
            </a:r>
            <a:r>
              <a:rPr lang="en-US" sz="2400" dirty="0"/>
              <a:t> </a:t>
            </a:r>
            <a:r>
              <a:rPr lang="en-US" sz="2400" dirty="0" err="1"/>
              <a:t>ve</a:t>
            </a:r>
            <a:r>
              <a:rPr lang="en-US" sz="2400" dirty="0"/>
              <a:t> </a:t>
            </a:r>
            <a:r>
              <a:rPr lang="en-US" sz="2400" dirty="0" err="1"/>
              <a:t>kullanılması</a:t>
            </a:r>
            <a:r>
              <a:rPr lang="en-US" sz="2400" dirty="0"/>
              <a:t> da </a:t>
            </a:r>
            <a:r>
              <a:rPr lang="en-US" sz="2400" dirty="0" err="1"/>
              <a:t>kişi</a:t>
            </a:r>
            <a:r>
              <a:rPr lang="en-US" sz="2400" dirty="0"/>
              <a:t> </a:t>
            </a:r>
            <a:r>
              <a:rPr lang="en-US" sz="2400" dirty="0" err="1"/>
              <a:t>başına</a:t>
            </a:r>
            <a:r>
              <a:rPr lang="en-US" sz="2400" dirty="0"/>
              <a:t> </a:t>
            </a:r>
            <a:r>
              <a:rPr lang="en-US" sz="2400" dirty="0" err="1"/>
              <a:t>sağlık</a:t>
            </a:r>
            <a:r>
              <a:rPr lang="en-US" sz="2400" dirty="0"/>
              <a:t> </a:t>
            </a:r>
            <a:r>
              <a:rPr lang="en-US" sz="2400" dirty="0" err="1"/>
              <a:t>harcamalarının</a:t>
            </a:r>
            <a:r>
              <a:rPr lang="en-US" sz="2400" dirty="0"/>
              <a:t> </a:t>
            </a:r>
            <a:r>
              <a:rPr lang="en-US" sz="2400" dirty="0" err="1"/>
              <a:t>artmasına</a:t>
            </a:r>
            <a:r>
              <a:rPr lang="en-US" sz="2400" dirty="0"/>
              <a:t> </a:t>
            </a:r>
            <a:r>
              <a:rPr lang="en-US" sz="2400" dirty="0" err="1"/>
              <a:t>katkıda</a:t>
            </a:r>
            <a:r>
              <a:rPr lang="en-US" sz="2400" dirty="0"/>
              <a:t> </a:t>
            </a:r>
            <a:r>
              <a:rPr lang="en-US" sz="2400" dirty="0" err="1"/>
              <a:t>bulunmuştur</a:t>
            </a:r>
            <a:r>
              <a:rPr lang="en-US" sz="2400" dirty="0"/>
              <a:t>
</a:t>
            </a:r>
            <a:r>
              <a:rPr lang="en-US" sz="2400" dirty="0" err="1"/>
              <a:t>Artan</a:t>
            </a:r>
            <a:r>
              <a:rPr lang="en-US" sz="2400" dirty="0"/>
              <a:t> </a:t>
            </a:r>
            <a:r>
              <a:rPr lang="en-US" sz="2400" dirty="0" err="1"/>
              <a:t>sağlık</a:t>
            </a:r>
            <a:r>
              <a:rPr lang="en-US" sz="2400" dirty="0"/>
              <a:t> </a:t>
            </a:r>
            <a:r>
              <a:rPr lang="en-US" sz="2400" dirty="0" err="1"/>
              <a:t>hizmetleri</a:t>
            </a:r>
            <a:r>
              <a:rPr lang="en-US" sz="2400" dirty="0"/>
              <a:t> </a:t>
            </a:r>
            <a:r>
              <a:rPr lang="en-US" sz="2400" dirty="0" err="1"/>
              <a:t>maliyetleri</a:t>
            </a:r>
            <a:r>
              <a:rPr lang="en-US" sz="2400" dirty="0"/>
              <a:t> </a:t>
            </a:r>
            <a:r>
              <a:rPr lang="en-US" sz="2400" dirty="0" err="1"/>
              <a:t>üzerinde</a:t>
            </a:r>
            <a:r>
              <a:rPr lang="en-US" sz="2400" dirty="0"/>
              <a:t> </a:t>
            </a:r>
            <a:r>
              <a:rPr lang="en-US" sz="2400" dirty="0" err="1"/>
              <a:t>kontrol</a:t>
            </a:r>
            <a:r>
              <a:rPr lang="en-US" sz="2400" dirty="0"/>
              <a:t> </a:t>
            </a:r>
            <a:r>
              <a:rPr lang="en-US" sz="2400" dirty="0" err="1"/>
              <a:t>sahibi</a:t>
            </a:r>
            <a:r>
              <a:rPr lang="en-US" sz="2400" dirty="0"/>
              <a:t> </a:t>
            </a:r>
            <a:r>
              <a:rPr lang="en-US" sz="2400" dirty="0" err="1"/>
              <a:t>olmak</a:t>
            </a:r>
            <a:r>
              <a:rPr lang="en-US" sz="2400" dirty="0"/>
              <a:t> için:
Hasta </a:t>
            </a:r>
            <a:r>
              <a:rPr lang="en-US" sz="2400" dirty="0" err="1"/>
              <a:t>farkındalığını</a:t>
            </a:r>
            <a:r>
              <a:rPr lang="en-US" sz="2400" dirty="0"/>
              <a:t> </a:t>
            </a:r>
            <a:r>
              <a:rPr lang="en-US" sz="2400" dirty="0" err="1"/>
              <a:t>artırın</a:t>
            </a:r>
            <a:r>
              <a:rPr lang="en-US" sz="2400" dirty="0"/>
              <a:t>
</a:t>
            </a:r>
            <a:r>
              <a:rPr lang="en-US" sz="2400" dirty="0" err="1"/>
              <a:t>Teknoloji</a:t>
            </a:r>
            <a:r>
              <a:rPr lang="en-US" sz="2400" dirty="0"/>
              <a:t> </a:t>
            </a:r>
            <a:r>
              <a:rPr lang="en-US" sz="2400" dirty="0" err="1"/>
              <a:t>maliyetlerini</a:t>
            </a:r>
            <a:r>
              <a:rPr lang="en-US" sz="2400" dirty="0"/>
              <a:t> </a:t>
            </a:r>
            <a:r>
              <a:rPr lang="en-US" sz="2400" dirty="0" err="1"/>
              <a:t>yönetin</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ABD'de</a:t>
            </a:r>
            <a:r>
              <a:rPr lang="en-US" sz="4000" dirty="0"/>
              <a:t> </a:t>
            </a:r>
            <a:r>
              <a:rPr lang="en-US" sz="4000" dirty="0" err="1"/>
              <a:t>Sağlık</a:t>
            </a:r>
            <a:r>
              <a:rPr lang="en-US" sz="4000" dirty="0"/>
              <a:t> </a:t>
            </a:r>
            <a:r>
              <a:rPr lang="en-US" sz="4000" dirty="0" err="1"/>
              <a:t>Harcamaları</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279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488921"/>
          </a:xfrm>
        </p:spPr>
        <p:txBody>
          <a:bodyPr/>
          <a:lstStyle/>
          <a:p>
            <a:pPr>
              <a:spcBef>
                <a:spcPts val="800"/>
              </a:spcBef>
            </a:pPr>
            <a:r>
              <a:rPr lang="en-US" sz="2600" dirty="0" err="1"/>
              <a:t>Elektronik</a:t>
            </a:r>
            <a:r>
              <a:rPr lang="en-US" sz="2600" dirty="0"/>
              <a:t> </a:t>
            </a:r>
            <a:r>
              <a:rPr lang="en-US" sz="2600" dirty="0" err="1"/>
              <a:t>tıbbi</a:t>
            </a:r>
            <a:r>
              <a:rPr lang="en-US" sz="2600" dirty="0"/>
              <a:t> </a:t>
            </a:r>
            <a:r>
              <a:rPr lang="en-US" sz="2600" dirty="0" err="1"/>
              <a:t>kayıt</a:t>
            </a:r>
            <a:r>
              <a:rPr lang="en-US" sz="2600" dirty="0"/>
              <a:t> (EMR): Tek </a:t>
            </a:r>
            <a:r>
              <a:rPr lang="en-US" sz="2600" dirty="0" err="1"/>
              <a:t>bir</a:t>
            </a:r>
            <a:r>
              <a:rPr lang="en-US" sz="2600" dirty="0"/>
              <a:t> </a:t>
            </a:r>
            <a:r>
              <a:rPr lang="en-US" sz="2600" dirty="0" err="1"/>
              <a:t>sağlık</a:t>
            </a:r>
            <a:r>
              <a:rPr lang="en-US" sz="2600" dirty="0"/>
              <a:t> </a:t>
            </a:r>
            <a:r>
              <a:rPr lang="en-US" sz="2600" dirty="0" err="1"/>
              <a:t>kuruluşundaki</a:t>
            </a:r>
            <a:r>
              <a:rPr lang="en-US" sz="2600" dirty="0"/>
              <a:t> </a:t>
            </a:r>
            <a:r>
              <a:rPr lang="en-US" sz="2600" dirty="0" err="1"/>
              <a:t>personel</a:t>
            </a:r>
            <a:r>
              <a:rPr lang="en-US" sz="2600" dirty="0"/>
              <a:t> </a:t>
            </a:r>
            <a:r>
              <a:rPr lang="en-US" sz="2600" dirty="0" err="1"/>
              <a:t>tarafından</a:t>
            </a:r>
            <a:r>
              <a:rPr lang="en-US" sz="2600" dirty="0"/>
              <a:t> </a:t>
            </a:r>
            <a:r>
              <a:rPr lang="en-US" sz="2600" dirty="0" err="1"/>
              <a:t>oluşturulan</a:t>
            </a:r>
            <a:r>
              <a:rPr lang="en-US" sz="2600" dirty="0"/>
              <a:t> </a:t>
            </a:r>
            <a:r>
              <a:rPr lang="en-US" sz="2600" dirty="0" err="1"/>
              <a:t>ve</a:t>
            </a:r>
            <a:r>
              <a:rPr lang="en-US" sz="2600" dirty="0"/>
              <a:t> </a:t>
            </a:r>
            <a:r>
              <a:rPr lang="en-US" sz="2600" dirty="0" err="1"/>
              <a:t>danışılan</a:t>
            </a:r>
            <a:r>
              <a:rPr lang="en-US" sz="2600" dirty="0"/>
              <a:t> </a:t>
            </a:r>
            <a:r>
              <a:rPr lang="en-US" sz="2600" dirty="0" err="1"/>
              <a:t>bir</a:t>
            </a:r>
            <a:r>
              <a:rPr lang="en-US" sz="2600" dirty="0"/>
              <a:t> </a:t>
            </a:r>
            <a:r>
              <a:rPr lang="en-US" sz="2600" dirty="0" err="1"/>
              <a:t>birey</a:t>
            </a:r>
            <a:r>
              <a:rPr lang="en-US" sz="2600" dirty="0"/>
              <a:t> </a:t>
            </a:r>
            <a:r>
              <a:rPr lang="en-US" sz="2600" dirty="0" err="1"/>
              <a:t>hakkında</a:t>
            </a:r>
            <a:r>
              <a:rPr lang="en-US" sz="2600" dirty="0"/>
              <a:t> </a:t>
            </a:r>
            <a:r>
              <a:rPr lang="en-US" sz="2600" dirty="0" err="1"/>
              <a:t>sağlıkla</a:t>
            </a:r>
            <a:r>
              <a:rPr lang="en-US" sz="2600" dirty="0"/>
              <a:t> </a:t>
            </a:r>
            <a:r>
              <a:rPr lang="en-US" sz="2600" dirty="0" err="1"/>
              <a:t>ilgili</a:t>
            </a:r>
            <a:r>
              <a:rPr lang="en-US" sz="2600" dirty="0"/>
              <a:t> </a:t>
            </a:r>
            <a:r>
              <a:rPr lang="en-US" sz="2600" dirty="0" err="1"/>
              <a:t>bilgilerin</a:t>
            </a:r>
            <a:r>
              <a:rPr lang="en-US" sz="2600" dirty="0"/>
              <a:t> </a:t>
            </a:r>
            <a:r>
              <a:rPr lang="en-US" sz="2600" dirty="0" err="1"/>
              <a:t>toplanması</a:t>
            </a:r>
            <a:r>
              <a:rPr lang="en-US" sz="2600" dirty="0"/>
              <a:t>
</a:t>
            </a:r>
            <a:r>
              <a:rPr lang="en-US" sz="2600" dirty="0" err="1"/>
              <a:t>Elektronik</a:t>
            </a:r>
            <a:r>
              <a:rPr lang="en-US" sz="2600" dirty="0"/>
              <a:t> </a:t>
            </a:r>
            <a:r>
              <a:rPr lang="en-US" sz="2600" dirty="0" err="1"/>
              <a:t>sağlık</a:t>
            </a:r>
            <a:r>
              <a:rPr lang="en-US" sz="2600" dirty="0"/>
              <a:t> </a:t>
            </a:r>
            <a:r>
              <a:rPr lang="en-US" sz="2600" dirty="0" err="1"/>
              <a:t>kaydı</a:t>
            </a:r>
            <a:r>
              <a:rPr lang="en-US" sz="2600" dirty="0"/>
              <a:t> (EHR): </a:t>
            </a:r>
            <a:r>
              <a:rPr lang="en-US" sz="2600" dirty="0" err="1"/>
              <a:t>Birden</a:t>
            </a:r>
            <a:r>
              <a:rPr lang="en-US" sz="2600" dirty="0"/>
              <a:t> </a:t>
            </a:r>
            <a:r>
              <a:rPr lang="en-US" sz="2600" dirty="0" err="1"/>
              <a:t>fazla</a:t>
            </a:r>
            <a:r>
              <a:rPr lang="en-US" sz="2600" dirty="0"/>
              <a:t> </a:t>
            </a:r>
            <a:r>
              <a:rPr lang="en-US" sz="2600" dirty="0" err="1"/>
              <a:t>kuruluştan</a:t>
            </a:r>
            <a:r>
              <a:rPr lang="en-US" sz="2600" dirty="0"/>
              <a:t> </a:t>
            </a:r>
            <a:r>
              <a:rPr lang="en-US" sz="2600" dirty="0" err="1"/>
              <a:t>sağlayıcılarla</a:t>
            </a:r>
            <a:r>
              <a:rPr lang="en-US" sz="2600" dirty="0"/>
              <a:t> </a:t>
            </a:r>
            <a:r>
              <a:rPr lang="en-US" sz="2600" dirty="0" err="1"/>
              <a:t>paylaşılmak</a:t>
            </a:r>
            <a:r>
              <a:rPr lang="en-US" sz="2600" dirty="0"/>
              <a:t> </a:t>
            </a:r>
            <a:r>
              <a:rPr lang="en-US" sz="2600" dirty="0" err="1"/>
              <a:t>üzere</a:t>
            </a:r>
            <a:r>
              <a:rPr lang="en-US" sz="2600" dirty="0"/>
              <a:t> </a:t>
            </a:r>
            <a:r>
              <a:rPr lang="en-US" sz="2600" dirty="0" err="1"/>
              <a:t>tasarlanmış</a:t>
            </a:r>
            <a:r>
              <a:rPr lang="en-US" sz="2600" dirty="0"/>
              <a:t>, </a:t>
            </a:r>
            <a:r>
              <a:rPr lang="en-US" sz="2600" dirty="0" err="1"/>
              <a:t>bir</a:t>
            </a:r>
            <a:r>
              <a:rPr lang="en-US" sz="2600" dirty="0"/>
              <a:t> </a:t>
            </a:r>
            <a:r>
              <a:rPr lang="en-US" sz="2600" dirty="0" err="1"/>
              <a:t>hastanın</a:t>
            </a:r>
            <a:r>
              <a:rPr lang="en-US" sz="2600" dirty="0"/>
              <a:t> tam </a:t>
            </a:r>
            <a:r>
              <a:rPr lang="en-US" sz="2600" dirty="0" err="1"/>
              <a:t>tıbbi</a:t>
            </a:r>
            <a:r>
              <a:rPr lang="en-US" sz="2600" dirty="0"/>
              <a:t> </a:t>
            </a:r>
            <a:r>
              <a:rPr lang="en-US" sz="2600" dirty="0" err="1"/>
              <a:t>geçmişinin</a:t>
            </a:r>
            <a:r>
              <a:rPr lang="en-US" sz="2600" dirty="0"/>
              <a:t> </a:t>
            </a:r>
            <a:r>
              <a:rPr lang="en-US" sz="2600" dirty="0" err="1"/>
              <a:t>kapsamlı</a:t>
            </a:r>
            <a:r>
              <a:rPr lang="en-US" sz="2600" dirty="0"/>
              <a:t> </a:t>
            </a:r>
            <a:r>
              <a:rPr lang="en-US" sz="2600" dirty="0" err="1"/>
              <a:t>bir</a:t>
            </a:r>
            <a:r>
              <a:rPr lang="en-US" sz="2600" dirty="0"/>
              <a:t> </a:t>
            </a:r>
            <a:r>
              <a:rPr lang="en-US" sz="2600" dirty="0" err="1"/>
              <a:t>görünümü</a:t>
            </a:r>
            <a:r>
              <a:rPr lang="en-US" sz="2600" dirty="0"/>
              <a:t>
</a:t>
            </a:r>
            <a:r>
              <a:rPr lang="en-US" sz="2600" dirty="0" err="1"/>
              <a:t>Kişisel</a:t>
            </a:r>
            <a:r>
              <a:rPr lang="en-US" sz="2600" dirty="0"/>
              <a:t> </a:t>
            </a:r>
            <a:r>
              <a:rPr lang="en-US" sz="2600" dirty="0" err="1"/>
              <a:t>sağlık</a:t>
            </a:r>
            <a:r>
              <a:rPr lang="en-US" sz="2600" dirty="0"/>
              <a:t> </a:t>
            </a:r>
            <a:r>
              <a:rPr lang="en-US" sz="2600" dirty="0" err="1"/>
              <a:t>kaydı</a:t>
            </a:r>
            <a:r>
              <a:rPr lang="en-US" sz="2600" dirty="0"/>
              <a:t> (PHR): </a:t>
            </a:r>
            <a:r>
              <a:rPr lang="en-US" sz="2600" dirty="0" err="1"/>
              <a:t>İletişim</a:t>
            </a:r>
            <a:r>
              <a:rPr lang="en-US" sz="2600" dirty="0"/>
              <a:t> </a:t>
            </a:r>
            <a:r>
              <a:rPr lang="en-US" sz="2600" dirty="0" err="1"/>
              <a:t>bilgileri</a:t>
            </a:r>
            <a:r>
              <a:rPr lang="en-US" sz="2600" dirty="0"/>
              <a:t>, </a:t>
            </a:r>
            <a:r>
              <a:rPr lang="en-US" sz="2600" dirty="0" err="1"/>
              <a:t>sağlık</a:t>
            </a:r>
            <a:r>
              <a:rPr lang="en-US" sz="2600" dirty="0"/>
              <a:t> </a:t>
            </a:r>
            <a:r>
              <a:rPr lang="en-US" sz="2600" dirty="0" err="1"/>
              <a:t>sağlayıcı</a:t>
            </a:r>
            <a:r>
              <a:rPr lang="en-US" sz="2600" dirty="0"/>
              <a:t> </a:t>
            </a:r>
            <a:r>
              <a:rPr lang="en-US" sz="2600" dirty="0" err="1"/>
              <a:t>bilgileri</a:t>
            </a:r>
            <a:r>
              <a:rPr lang="en-US" sz="2600" dirty="0"/>
              <a:t>, </a:t>
            </a:r>
            <a:r>
              <a:rPr lang="en-US" sz="2600" dirty="0" err="1"/>
              <a:t>ilaç</a:t>
            </a:r>
            <a:r>
              <a:rPr lang="en-US" sz="2600" dirty="0"/>
              <a:t> </a:t>
            </a:r>
            <a:r>
              <a:rPr lang="en-US" sz="2600" dirty="0" err="1"/>
              <a:t>geçmişi</a:t>
            </a:r>
            <a:r>
              <a:rPr lang="en-US" sz="2600" dirty="0"/>
              <a:t> </a:t>
            </a:r>
            <a:r>
              <a:rPr lang="en-US" sz="2600" dirty="0" err="1"/>
              <a:t>ve</a:t>
            </a:r>
            <a:r>
              <a:rPr lang="en-US" sz="2600" dirty="0"/>
              <a:t> test </a:t>
            </a:r>
            <a:r>
              <a:rPr lang="en-US" sz="2600" dirty="0" err="1"/>
              <a:t>sonuçları</a:t>
            </a:r>
            <a:r>
              <a:rPr lang="en-US" sz="2600" dirty="0"/>
              <a:t> </a:t>
            </a:r>
            <a:r>
              <a:rPr lang="en-US" sz="2600" dirty="0" err="1"/>
              <a:t>gibi</a:t>
            </a:r>
            <a:r>
              <a:rPr lang="en-US" sz="2600" dirty="0"/>
              <a:t> </a:t>
            </a:r>
            <a:r>
              <a:rPr lang="en-US" sz="2600" dirty="0" err="1"/>
              <a:t>EHR'nin</a:t>
            </a:r>
            <a:r>
              <a:rPr lang="en-US" sz="2600" dirty="0"/>
              <a:t> </a:t>
            </a:r>
            <a:r>
              <a:rPr lang="en-US" sz="2600" dirty="0" err="1"/>
              <a:t>rutin</a:t>
            </a:r>
            <a:r>
              <a:rPr lang="en-US" sz="2600" dirty="0"/>
              <a:t> </a:t>
            </a:r>
            <a:r>
              <a:rPr lang="en-US" sz="2600" dirty="0" err="1"/>
              <a:t>olarak</a:t>
            </a:r>
            <a:r>
              <a:rPr lang="en-US" sz="2600" dirty="0"/>
              <a:t> </a:t>
            </a:r>
            <a:r>
              <a:rPr lang="en-US" sz="2600" dirty="0" err="1"/>
              <a:t>hastayla</a:t>
            </a:r>
            <a:r>
              <a:rPr lang="en-US" sz="2600" dirty="0"/>
              <a:t> </a:t>
            </a:r>
            <a:r>
              <a:rPr lang="en-US" sz="2600" dirty="0" err="1"/>
              <a:t>paylaşılan</a:t>
            </a:r>
            <a:r>
              <a:rPr lang="en-US" sz="2600" dirty="0"/>
              <a:t> </a:t>
            </a:r>
            <a:r>
              <a:rPr lang="en-US" sz="2600" dirty="0" err="1"/>
              <a:t>kısımları</a:t>
            </a:r>
            <a:r>
              <a:rPr lang="en-US" sz="2600" dirty="0"/>
              <a:t>
</a:t>
            </a:r>
            <a:r>
              <a:rPr lang="en-US" sz="2600" dirty="0" err="1"/>
              <a:t>Sağlık</a:t>
            </a:r>
            <a:r>
              <a:rPr lang="en-US" sz="2600" dirty="0"/>
              <a:t> </a:t>
            </a:r>
            <a:r>
              <a:rPr lang="en-US" sz="2600" dirty="0" err="1"/>
              <a:t>bilgi</a:t>
            </a:r>
            <a:r>
              <a:rPr lang="en-US" sz="2600" dirty="0"/>
              <a:t> </a:t>
            </a:r>
            <a:r>
              <a:rPr lang="en-US" sz="2600" dirty="0" err="1"/>
              <a:t>alışverişi</a:t>
            </a:r>
            <a:r>
              <a:rPr lang="en-US" sz="2600" dirty="0"/>
              <a:t> (HİE): Hasta </a:t>
            </a:r>
            <a:r>
              <a:rPr lang="en-US" sz="2600" dirty="0" err="1"/>
              <a:t>düzeyinde</a:t>
            </a:r>
            <a:r>
              <a:rPr lang="en-US" sz="2600" dirty="0"/>
              <a:t> </a:t>
            </a:r>
            <a:r>
              <a:rPr lang="en-US" sz="2600" dirty="0" err="1"/>
              <a:t>elektronik</a:t>
            </a:r>
            <a:r>
              <a:rPr lang="en-US" sz="2600" dirty="0"/>
              <a:t> </a:t>
            </a:r>
            <a:r>
              <a:rPr lang="en-US" sz="2600" dirty="0" err="1"/>
              <a:t>sağlık</a:t>
            </a:r>
            <a:r>
              <a:rPr lang="en-US" sz="2600" dirty="0"/>
              <a:t> </a:t>
            </a:r>
            <a:r>
              <a:rPr lang="en-US" sz="2600" dirty="0" err="1"/>
              <a:t>bilgilerinin</a:t>
            </a:r>
            <a:r>
              <a:rPr lang="en-US" sz="2600" dirty="0"/>
              <a:t> </a:t>
            </a:r>
            <a:r>
              <a:rPr lang="en-US" sz="2600" dirty="0" err="1"/>
              <a:t>farklı</a:t>
            </a:r>
            <a:r>
              <a:rPr lang="en-US" sz="2600" dirty="0"/>
              <a:t> </a:t>
            </a:r>
            <a:r>
              <a:rPr lang="en-US" sz="2600" dirty="0" err="1"/>
              <a:t>kuruluşlar</a:t>
            </a:r>
            <a:r>
              <a:rPr lang="en-US" sz="2600" dirty="0"/>
              <a:t> </a:t>
            </a:r>
            <a:r>
              <a:rPr lang="en-US" sz="2600" dirty="0" err="1"/>
              <a:t>arasında</a:t>
            </a:r>
            <a:r>
              <a:rPr lang="en-US" sz="2600" dirty="0"/>
              <a:t> </a:t>
            </a:r>
            <a:r>
              <a:rPr lang="en-US" sz="2600" dirty="0" err="1"/>
              <a:t>paylaşılması</a:t>
            </a:r>
            <a:r>
              <a:rPr lang="en-US" sz="2600" dirty="0"/>
              <a:t> </a:t>
            </a:r>
            <a:r>
              <a:rPr lang="en-US" sz="2600" dirty="0" err="1"/>
              <a:t>süreci</a:t>
            </a:r>
            <a:endParaRPr lang="en-US" sz="2600" dirty="0"/>
          </a:p>
        </p:txBody>
      </p:sp>
      <p:sp>
        <p:nvSpPr>
          <p:cNvPr id="3" name="Title 2"/>
          <p:cNvSpPr>
            <a:spLocks noGrp="1"/>
          </p:cNvSpPr>
          <p:nvPr>
            <p:ph type="title"/>
          </p:nvPr>
        </p:nvSpPr>
        <p:spPr>
          <a:xfrm>
            <a:off x="762000" y="292766"/>
            <a:ext cx="8026400" cy="523220"/>
          </a:xfrm>
        </p:spPr>
        <p:txBody>
          <a:bodyPr/>
          <a:lstStyle/>
          <a:p>
            <a:r>
              <a:rPr lang="en-US" sz="4000" dirty="0" err="1"/>
              <a:t>Bilgisayarlı</a:t>
            </a:r>
            <a:r>
              <a:rPr lang="en-US" sz="4000" dirty="0"/>
              <a:t> Hasta </a:t>
            </a:r>
            <a:r>
              <a:rPr lang="en-US" sz="4000" dirty="0" err="1"/>
              <a:t>Kayıtları</a:t>
            </a:r>
            <a:endParaRPr lang="en-US"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26462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776418"/>
          </a:xfrm>
        </p:spPr>
        <p:txBody>
          <a:bodyPr/>
          <a:lstStyle/>
          <a:p>
            <a:r>
              <a:rPr lang="en-US" sz="2800" dirty="0" err="1"/>
              <a:t>Ekonomik</a:t>
            </a:r>
            <a:r>
              <a:rPr lang="en-US" sz="2800" dirty="0"/>
              <a:t> </a:t>
            </a:r>
            <a:r>
              <a:rPr lang="en-US" sz="2800" dirty="0" err="1"/>
              <a:t>ve</a:t>
            </a:r>
            <a:r>
              <a:rPr lang="en-US" sz="2800" dirty="0"/>
              <a:t> </a:t>
            </a:r>
            <a:r>
              <a:rPr lang="en-US" sz="2800" dirty="0" err="1"/>
              <a:t>Klinik</a:t>
            </a:r>
            <a:r>
              <a:rPr lang="en-US" sz="2800" dirty="0"/>
              <a:t> </a:t>
            </a:r>
            <a:r>
              <a:rPr lang="en-US" sz="2800" dirty="0" err="1"/>
              <a:t>Sağlık</a:t>
            </a:r>
            <a:r>
              <a:rPr lang="en-US" sz="2800" dirty="0"/>
              <a:t> için </a:t>
            </a:r>
            <a:r>
              <a:rPr lang="en-US" sz="2800" dirty="0" err="1"/>
              <a:t>Sağlık</a:t>
            </a:r>
            <a:r>
              <a:rPr lang="en-US" sz="2800" dirty="0"/>
              <a:t> Bilgi </a:t>
            </a:r>
            <a:r>
              <a:rPr lang="en-US" sz="2800" dirty="0" err="1"/>
              <a:t>Teknolojisi</a:t>
            </a:r>
            <a:r>
              <a:rPr lang="en-US" sz="2800" dirty="0"/>
              <a:t> </a:t>
            </a:r>
            <a:r>
              <a:rPr lang="en-US" sz="2800" dirty="0" err="1"/>
              <a:t>Yasası</a:t>
            </a:r>
            <a:r>
              <a:rPr lang="en-US" sz="2800" dirty="0"/>
              <a:t> (HITECH </a:t>
            </a:r>
            <a:r>
              <a:rPr lang="en-US" sz="2800" dirty="0" err="1"/>
              <a:t>Yasası</a:t>
            </a:r>
            <a:r>
              <a:rPr lang="en-US" sz="2800" dirty="0"/>
              <a:t>)
2009'da </a:t>
            </a:r>
            <a:r>
              <a:rPr lang="en-US" sz="2800" dirty="0" err="1"/>
              <a:t>geçti</a:t>
            </a:r>
            <a:r>
              <a:rPr lang="en-US" sz="2800" dirty="0"/>
              <a:t>
</a:t>
            </a:r>
            <a:r>
              <a:rPr lang="en-US" sz="2800" dirty="0" err="1"/>
              <a:t>Doktorları</a:t>
            </a:r>
            <a:r>
              <a:rPr lang="en-US" sz="2800" dirty="0"/>
              <a:t> </a:t>
            </a:r>
            <a:r>
              <a:rPr lang="en-US" sz="2800" dirty="0" err="1"/>
              <a:t>ve</a:t>
            </a:r>
            <a:r>
              <a:rPr lang="en-US" sz="2800" dirty="0"/>
              <a:t> </a:t>
            </a:r>
            <a:r>
              <a:rPr lang="en-US" sz="2800" dirty="0" err="1"/>
              <a:t>hastaneleri</a:t>
            </a:r>
            <a:r>
              <a:rPr lang="en-US" sz="2800" dirty="0"/>
              <a:t> EHR </a:t>
            </a:r>
            <a:r>
              <a:rPr lang="en-US" sz="2800" dirty="0" err="1"/>
              <a:t>sistemlerini</a:t>
            </a:r>
            <a:r>
              <a:rPr lang="en-US" sz="2800" dirty="0"/>
              <a:t> </a:t>
            </a:r>
            <a:r>
              <a:rPr lang="en-US" sz="2800" dirty="0" err="1"/>
              <a:t>uygulamaya</a:t>
            </a:r>
            <a:r>
              <a:rPr lang="en-US" sz="2800" dirty="0"/>
              <a:t> </a:t>
            </a:r>
            <a:r>
              <a:rPr lang="en-US" sz="2800" dirty="0" err="1"/>
              <a:t>teşvik</a:t>
            </a:r>
            <a:r>
              <a:rPr lang="en-US" sz="2800" dirty="0"/>
              <a:t> </a:t>
            </a:r>
            <a:r>
              <a:rPr lang="en-US" sz="2800" dirty="0" err="1"/>
              <a:t>etmek</a:t>
            </a:r>
            <a:r>
              <a:rPr lang="en-US" sz="2800" dirty="0"/>
              <a:t> için </a:t>
            </a:r>
            <a:r>
              <a:rPr lang="en-US" sz="2800" dirty="0" err="1"/>
              <a:t>bir</a:t>
            </a:r>
            <a:r>
              <a:rPr lang="en-US" sz="2800" dirty="0"/>
              <a:t> program </a:t>
            </a:r>
            <a:r>
              <a:rPr lang="en-US" sz="2800" dirty="0" err="1"/>
              <a:t>oluşturdu</a:t>
            </a:r>
            <a:r>
              <a:rPr lang="en-US" sz="2800" dirty="0"/>
              <a:t>
EHR </a:t>
            </a:r>
            <a:r>
              <a:rPr lang="en-US" sz="2800" dirty="0" err="1"/>
              <a:t>teknolojisinin</a:t>
            </a:r>
            <a:r>
              <a:rPr lang="en-US" sz="2800" dirty="0"/>
              <a:t> "</a:t>
            </a:r>
            <a:r>
              <a:rPr lang="en-US" sz="2800" dirty="0" err="1"/>
              <a:t>anlamlı</a:t>
            </a:r>
            <a:r>
              <a:rPr lang="en-US" sz="2800" dirty="0"/>
              <a:t> </a:t>
            </a:r>
            <a:r>
              <a:rPr lang="en-US" sz="2800" dirty="0" err="1"/>
              <a:t>kullanımını</a:t>
            </a:r>
            <a:r>
              <a:rPr lang="en-US" sz="2800" dirty="0"/>
              <a:t>" </a:t>
            </a:r>
            <a:r>
              <a:rPr lang="en-US" sz="2800" dirty="0" err="1"/>
              <a:t>gösteren</a:t>
            </a:r>
            <a:r>
              <a:rPr lang="en-US" sz="2800" dirty="0"/>
              <a:t> </a:t>
            </a:r>
            <a:r>
              <a:rPr lang="en-US" sz="2800" dirty="0" err="1"/>
              <a:t>doktorlara</a:t>
            </a:r>
            <a:r>
              <a:rPr lang="en-US" sz="2800" dirty="0"/>
              <a:t> </a:t>
            </a:r>
            <a:r>
              <a:rPr lang="en-US" sz="2800" dirty="0" err="1"/>
              <a:t>ve</a:t>
            </a:r>
            <a:r>
              <a:rPr lang="en-US" sz="2800" dirty="0"/>
              <a:t> </a:t>
            </a:r>
            <a:r>
              <a:rPr lang="en-US" sz="2800" dirty="0" err="1"/>
              <a:t>hastanelere</a:t>
            </a:r>
            <a:r>
              <a:rPr lang="en-US" sz="2800" dirty="0"/>
              <a:t> </a:t>
            </a:r>
            <a:r>
              <a:rPr lang="en-US" sz="2800" dirty="0" err="1"/>
              <a:t>artan</a:t>
            </a:r>
            <a:r>
              <a:rPr lang="en-US" sz="2800" dirty="0"/>
              <a:t> Medicaid </a:t>
            </a:r>
            <a:r>
              <a:rPr lang="en-US" sz="2800" dirty="0" err="1"/>
              <a:t>ve</a:t>
            </a:r>
            <a:r>
              <a:rPr lang="en-US" sz="2800" dirty="0"/>
              <a:t> Medicare </a:t>
            </a:r>
            <a:r>
              <a:rPr lang="en-US" sz="2800" dirty="0" err="1"/>
              <a:t>geri</a:t>
            </a:r>
            <a:r>
              <a:rPr lang="en-US" sz="2800" dirty="0"/>
              <a:t> </a:t>
            </a:r>
            <a:r>
              <a:rPr lang="en-US" sz="2800" dirty="0" err="1"/>
              <a:t>ödemeleri</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a:t>HITECH </a:t>
            </a:r>
            <a:r>
              <a:rPr lang="en-US" sz="4000" dirty="0" err="1"/>
              <a:t>Yasası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97270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descr="Table 8-2: This table presents a list of the benefits of EHRs, EMRs, PHRs, and HIE.&#10;Benefits for Providers:&#10;•Quick access to patient records, more coordinated, efficient care&#10;•Enhanced decision support, clinical alerts, reminders, and medical information&#10;•Performance-improving tools and real-time reporting&#10;•Legible, complete documentation for accurate coding and billing&#10;•Interfaces with labs, registries, and other EHRs&#10;•Safer, more reliable prescribing&#10;&#10;&#10;Benefits for patients&#10;•Reduced need to fill out the same forms&#10;•Reliable point-of-care information&#10;•Convenience of e-prescriptions&#10;•Patient portals with online interaction with providers&#10;•Electronic referrals; easier access to follow-up care&#10;&#10;Benefits for Insurance Companies:&#10;•More efficient and accurate allocation of costs for services&#10;•Lower healthcare costs due to reduced care redundancies and readmissions&#10;"/>
          <p:cNvGraphicFramePr>
            <a:graphicFrameLocks noGrp="1"/>
          </p:cNvGraphicFramePr>
          <p:nvPr>
            <p:ph idx="1"/>
            <p:extLst>
              <p:ext uri="{D42A27DB-BD31-4B8C-83A1-F6EECF244321}">
                <p14:modId xmlns:p14="http://schemas.microsoft.com/office/powerpoint/2010/main" val="4275136529"/>
              </p:ext>
            </p:extLst>
          </p:nvPr>
        </p:nvGraphicFramePr>
        <p:xfrm>
          <a:off x="76200" y="1143000"/>
          <a:ext cx="8991598" cy="5897880"/>
        </p:xfrm>
        <a:graphic>
          <a:graphicData uri="http://schemas.openxmlformats.org/drawingml/2006/table">
            <a:tbl>
              <a:tblPr firstRow="1" bandRow="1">
                <a:tableStyleId>{5C22544A-7EE6-4342-B048-85BDC9FD1C3A}</a:tableStyleId>
              </a:tblPr>
              <a:tblGrid>
                <a:gridCol w="3249066">
                  <a:extLst>
                    <a:ext uri="{9D8B030D-6E8A-4147-A177-3AD203B41FA5}">
                      <a16:colId xmlns:a16="http://schemas.microsoft.com/office/drawing/2014/main" val="889207990"/>
                    </a:ext>
                  </a:extLst>
                </a:gridCol>
                <a:gridCol w="2846934">
                  <a:extLst>
                    <a:ext uri="{9D8B030D-6E8A-4147-A177-3AD203B41FA5}">
                      <a16:colId xmlns:a16="http://schemas.microsoft.com/office/drawing/2014/main" val="1218999525"/>
                    </a:ext>
                  </a:extLst>
                </a:gridCol>
                <a:gridCol w="2895598">
                  <a:extLst>
                    <a:ext uri="{9D8B030D-6E8A-4147-A177-3AD203B41FA5}">
                      <a16:colId xmlns:a16="http://schemas.microsoft.com/office/drawing/2014/main" val="1389546880"/>
                    </a:ext>
                  </a:extLst>
                </a:gridCol>
              </a:tblGrid>
              <a:tr h="370840">
                <a:tc>
                  <a:txBody>
                    <a:bodyPr/>
                    <a:lstStyle/>
                    <a:p>
                      <a:r>
                        <a:rPr lang="en-US" sz="1900" dirty="0" err="1"/>
                        <a:t>Sağlayıcılar</a:t>
                      </a:r>
                      <a:r>
                        <a:rPr lang="en-US" sz="1900" dirty="0"/>
                        <a:t> için </a:t>
                      </a:r>
                      <a:r>
                        <a:rPr lang="en-US" sz="1900" dirty="0" err="1"/>
                        <a:t>Avantajlar</a:t>
                      </a:r>
                      <a:endParaRPr lang="en-US" sz="1900" dirty="0"/>
                    </a:p>
                  </a:txBody>
                  <a:tcPr/>
                </a:tc>
                <a:tc>
                  <a:txBody>
                    <a:bodyPr/>
                    <a:lstStyle/>
                    <a:p>
                      <a:r>
                        <a:rPr lang="en-US" sz="1900" dirty="0" err="1"/>
                        <a:t>Hastalar</a:t>
                      </a:r>
                      <a:r>
                        <a:rPr lang="en-US" sz="1900" dirty="0"/>
                        <a:t> için </a:t>
                      </a:r>
                      <a:r>
                        <a:rPr lang="en-US" sz="1900" dirty="0" err="1"/>
                        <a:t>Faydaları</a:t>
                      </a:r>
                      <a:endParaRPr lang="en-US" sz="1900" dirty="0"/>
                    </a:p>
                  </a:txBody>
                  <a:tcPr/>
                </a:tc>
                <a:tc>
                  <a:txBody>
                    <a:bodyPr/>
                    <a:lstStyle/>
                    <a:p>
                      <a:r>
                        <a:rPr lang="en-US" sz="1800" dirty="0" err="1"/>
                        <a:t>Sigorta</a:t>
                      </a:r>
                      <a:r>
                        <a:rPr lang="en-US" sz="1800" dirty="0"/>
                        <a:t> </a:t>
                      </a:r>
                      <a:r>
                        <a:rPr lang="en-US" sz="1800" dirty="0" err="1"/>
                        <a:t>Şirketlerine</a:t>
                      </a:r>
                      <a:r>
                        <a:rPr lang="en-US" sz="1800" dirty="0"/>
                        <a:t> </a:t>
                      </a:r>
                      <a:r>
                        <a:rPr lang="en-US" sz="1800" dirty="0" err="1"/>
                        <a:t>Faydaları</a:t>
                      </a:r>
                      <a:endParaRPr lang="en-US" sz="1800" dirty="0"/>
                    </a:p>
                  </a:txBody>
                  <a:tcPr/>
                </a:tc>
                <a:extLst>
                  <a:ext uri="{0D108BD9-81ED-4DB2-BD59-A6C34878D82A}">
                    <a16:rowId xmlns:a16="http://schemas.microsoft.com/office/drawing/2014/main" val="3505054127"/>
                  </a:ext>
                </a:extLst>
              </a:tr>
              <a:tr h="1005840">
                <a:tc>
                  <a:txBody>
                    <a:bodyPr/>
                    <a:lstStyle/>
                    <a:p>
                      <a:r>
                        <a:rPr lang="en-US" sz="1900" dirty="0"/>
                        <a:t>Hasta </a:t>
                      </a:r>
                      <a:r>
                        <a:rPr lang="en-US" sz="1900" dirty="0" err="1"/>
                        <a:t>kayıtlarına</a:t>
                      </a:r>
                      <a:r>
                        <a:rPr lang="en-US" sz="1900" dirty="0"/>
                        <a:t> </a:t>
                      </a:r>
                      <a:r>
                        <a:rPr lang="en-US" sz="1900" dirty="0" err="1"/>
                        <a:t>hızlı</a:t>
                      </a:r>
                      <a:r>
                        <a:rPr lang="en-US" sz="1900" dirty="0"/>
                        <a:t> </a:t>
                      </a:r>
                      <a:r>
                        <a:rPr lang="en-US" sz="1900" dirty="0" err="1"/>
                        <a:t>erişim</a:t>
                      </a:r>
                      <a:r>
                        <a:rPr lang="en-US" sz="1900" dirty="0"/>
                        <a:t>; </a:t>
                      </a:r>
                      <a:r>
                        <a:rPr lang="en-US" sz="1900" dirty="0" err="1"/>
                        <a:t>Daha</a:t>
                      </a:r>
                      <a:r>
                        <a:rPr lang="en-US" sz="1900" dirty="0"/>
                        <a:t> </a:t>
                      </a:r>
                      <a:r>
                        <a:rPr lang="en-US" sz="1900" dirty="0" err="1"/>
                        <a:t>koordineli</a:t>
                      </a:r>
                      <a:r>
                        <a:rPr lang="en-US" sz="1900" dirty="0"/>
                        <a:t>, </a:t>
                      </a:r>
                      <a:r>
                        <a:rPr lang="en-US" sz="1900" dirty="0" err="1"/>
                        <a:t>verimli</a:t>
                      </a:r>
                      <a:r>
                        <a:rPr lang="en-US" sz="1900" dirty="0"/>
                        <a:t> </a:t>
                      </a:r>
                      <a:r>
                        <a:rPr lang="en-US" sz="1900" dirty="0" err="1"/>
                        <a:t>bakım</a:t>
                      </a:r>
                      <a:endParaRPr lang="en-US" sz="1900" dirty="0"/>
                    </a:p>
                  </a:txBody>
                  <a:tcPr/>
                </a:tc>
                <a:tc>
                  <a:txBody>
                    <a:bodyPr/>
                    <a:lstStyle/>
                    <a:p>
                      <a:r>
                        <a:rPr lang="en-US" sz="1900" dirty="0" err="1"/>
                        <a:t>Aynı</a:t>
                      </a:r>
                      <a:r>
                        <a:rPr lang="en-US" sz="1900" dirty="0"/>
                        <a:t> </a:t>
                      </a:r>
                      <a:r>
                        <a:rPr lang="en-US" sz="1900" dirty="0" err="1"/>
                        <a:t>formları</a:t>
                      </a:r>
                      <a:r>
                        <a:rPr lang="en-US" sz="1900" dirty="0"/>
                        <a:t> </a:t>
                      </a:r>
                      <a:r>
                        <a:rPr lang="en-US" sz="1900" dirty="0" err="1"/>
                        <a:t>doldurma</a:t>
                      </a:r>
                      <a:r>
                        <a:rPr lang="en-US" sz="1900" dirty="0"/>
                        <a:t> </a:t>
                      </a:r>
                      <a:r>
                        <a:rPr lang="en-US" sz="1900" dirty="0" err="1"/>
                        <a:t>ihtiyacının</a:t>
                      </a:r>
                      <a:r>
                        <a:rPr lang="en-US" sz="1900" dirty="0"/>
                        <a:t> </a:t>
                      </a:r>
                      <a:r>
                        <a:rPr lang="en-US" sz="1900" dirty="0" err="1"/>
                        <a:t>azalması</a:t>
                      </a:r>
                      <a:endParaRPr lang="en-US" sz="1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t>Hizmetler</a:t>
                      </a:r>
                      <a:r>
                        <a:rPr lang="en-US" sz="1900" dirty="0"/>
                        <a:t> için </a:t>
                      </a:r>
                      <a:r>
                        <a:rPr lang="en-US" sz="1900" dirty="0" err="1"/>
                        <a:t>maliyetlerin</a:t>
                      </a:r>
                      <a:r>
                        <a:rPr lang="en-US" sz="1900" dirty="0"/>
                        <a:t> </a:t>
                      </a:r>
                      <a:r>
                        <a:rPr lang="en-US" sz="1900" dirty="0" err="1"/>
                        <a:t>daha</a:t>
                      </a:r>
                      <a:r>
                        <a:rPr lang="en-US" sz="1900" dirty="0"/>
                        <a:t> </a:t>
                      </a:r>
                      <a:r>
                        <a:rPr lang="en-US" sz="1900" dirty="0" err="1"/>
                        <a:t>verimli</a:t>
                      </a:r>
                      <a:r>
                        <a:rPr lang="en-US" sz="1900" dirty="0"/>
                        <a:t> </a:t>
                      </a:r>
                      <a:r>
                        <a:rPr lang="en-US" sz="1900" dirty="0" err="1"/>
                        <a:t>ve</a:t>
                      </a:r>
                      <a:r>
                        <a:rPr lang="en-US" sz="1900" dirty="0"/>
                        <a:t> </a:t>
                      </a:r>
                      <a:r>
                        <a:rPr lang="en-US" sz="1900" dirty="0" err="1"/>
                        <a:t>doğru</a:t>
                      </a:r>
                      <a:r>
                        <a:rPr lang="en-US" sz="1900" dirty="0"/>
                        <a:t> </a:t>
                      </a:r>
                      <a:r>
                        <a:rPr lang="en-US" sz="1900" dirty="0" err="1"/>
                        <a:t>tahsisi</a:t>
                      </a:r>
                      <a:endParaRPr lang="en-US" sz="1900" dirty="0"/>
                    </a:p>
                  </a:txBody>
                  <a:tcPr/>
                </a:tc>
                <a:extLst>
                  <a:ext uri="{0D108BD9-81ED-4DB2-BD59-A6C34878D82A}">
                    <a16:rowId xmlns:a16="http://schemas.microsoft.com/office/drawing/2014/main" val="4033805183"/>
                  </a:ext>
                </a:extLst>
              </a:tr>
              <a:tr h="370840">
                <a:tc>
                  <a:txBody>
                    <a:bodyPr/>
                    <a:lstStyle/>
                    <a:p>
                      <a:r>
                        <a:rPr lang="en-US" sz="1900" dirty="0" err="1"/>
                        <a:t>Gelişmiş</a:t>
                      </a:r>
                      <a:r>
                        <a:rPr lang="en-US" sz="1900" dirty="0"/>
                        <a:t> </a:t>
                      </a:r>
                      <a:r>
                        <a:rPr lang="en-US" sz="1900" dirty="0" err="1"/>
                        <a:t>karar</a:t>
                      </a:r>
                      <a:r>
                        <a:rPr lang="en-US" sz="1900" dirty="0"/>
                        <a:t> </a:t>
                      </a:r>
                      <a:r>
                        <a:rPr lang="en-US" sz="1900" dirty="0" err="1"/>
                        <a:t>desteği</a:t>
                      </a:r>
                      <a:r>
                        <a:rPr lang="en-US" sz="1900" dirty="0"/>
                        <a:t>, </a:t>
                      </a:r>
                      <a:r>
                        <a:rPr lang="en-US" sz="1900" dirty="0" err="1"/>
                        <a:t>klinik</a:t>
                      </a:r>
                      <a:r>
                        <a:rPr lang="en-US" sz="1900" dirty="0"/>
                        <a:t> </a:t>
                      </a:r>
                      <a:r>
                        <a:rPr lang="en-US" sz="1900" dirty="0" err="1"/>
                        <a:t>uyarılar</a:t>
                      </a:r>
                      <a:r>
                        <a:rPr lang="en-US" sz="1900" dirty="0"/>
                        <a:t>, </a:t>
                      </a:r>
                      <a:r>
                        <a:rPr lang="en-US" sz="1900" dirty="0" err="1"/>
                        <a:t>hatırlatıcılar</a:t>
                      </a:r>
                      <a:r>
                        <a:rPr lang="en-US" sz="1900" dirty="0"/>
                        <a:t> </a:t>
                      </a:r>
                      <a:r>
                        <a:rPr lang="en-US" sz="1900" dirty="0" err="1"/>
                        <a:t>ve</a:t>
                      </a:r>
                      <a:r>
                        <a:rPr lang="en-US" sz="1900" dirty="0"/>
                        <a:t> </a:t>
                      </a:r>
                      <a:r>
                        <a:rPr lang="en-US" sz="1900" dirty="0" err="1"/>
                        <a:t>tıbbi</a:t>
                      </a:r>
                      <a:r>
                        <a:rPr lang="en-US" sz="1900" dirty="0"/>
                        <a:t> </a:t>
                      </a:r>
                      <a:r>
                        <a:rPr lang="en-US" sz="1900" dirty="0" err="1"/>
                        <a:t>bilgiler</a:t>
                      </a:r>
                      <a:endParaRPr lang="en-US" sz="1900" dirty="0"/>
                    </a:p>
                  </a:txBody>
                  <a:tcPr/>
                </a:tc>
                <a:tc>
                  <a:txBody>
                    <a:bodyPr/>
                    <a:lstStyle/>
                    <a:p>
                      <a:r>
                        <a:rPr lang="en-US" sz="1900" kern="1200" dirty="0" err="1">
                          <a:solidFill>
                            <a:schemeClr val="dk1"/>
                          </a:solidFill>
                          <a:effectLst/>
                          <a:latin typeface="+mn-lt"/>
                          <a:ea typeface="+mn-ea"/>
                          <a:cs typeface="+mn-cs"/>
                        </a:rPr>
                        <a:t>Güvenilir</a:t>
                      </a:r>
                      <a:r>
                        <a:rPr lang="en-US" sz="1900" kern="1200" dirty="0">
                          <a:solidFill>
                            <a:schemeClr val="dk1"/>
                          </a:solidFill>
                          <a:effectLst/>
                          <a:latin typeface="+mn-lt"/>
                          <a:ea typeface="+mn-ea"/>
                          <a:cs typeface="+mn-cs"/>
                        </a:rPr>
                        <a:t> </a:t>
                      </a:r>
                      <a:r>
                        <a:rPr lang="en-US" sz="1900" kern="1200" dirty="0" err="1">
                          <a:solidFill>
                            <a:schemeClr val="dk1"/>
                          </a:solidFill>
                          <a:effectLst/>
                          <a:latin typeface="+mn-lt"/>
                          <a:ea typeface="+mn-ea"/>
                          <a:cs typeface="+mn-cs"/>
                        </a:rPr>
                        <a:t>bakım</a:t>
                      </a:r>
                      <a:r>
                        <a:rPr lang="en-US" sz="1900" kern="1200" dirty="0">
                          <a:solidFill>
                            <a:schemeClr val="dk1"/>
                          </a:solidFill>
                          <a:effectLst/>
                          <a:latin typeface="+mn-lt"/>
                          <a:ea typeface="+mn-ea"/>
                          <a:cs typeface="+mn-cs"/>
                        </a:rPr>
                        <a:t> </a:t>
                      </a:r>
                      <a:r>
                        <a:rPr lang="en-US" sz="1900" kern="1200" dirty="0" err="1">
                          <a:solidFill>
                            <a:schemeClr val="dk1"/>
                          </a:solidFill>
                          <a:effectLst/>
                          <a:latin typeface="+mn-lt"/>
                          <a:ea typeface="+mn-ea"/>
                          <a:cs typeface="+mn-cs"/>
                        </a:rPr>
                        <a:t>noktası</a:t>
                      </a:r>
                      <a:r>
                        <a:rPr lang="en-US" sz="1900" kern="1200" dirty="0">
                          <a:solidFill>
                            <a:schemeClr val="dk1"/>
                          </a:solidFill>
                          <a:effectLst/>
                          <a:latin typeface="+mn-lt"/>
                          <a:ea typeface="+mn-ea"/>
                          <a:cs typeface="+mn-cs"/>
                        </a:rPr>
                        <a:t> </a:t>
                      </a:r>
                      <a:r>
                        <a:rPr lang="en-US" sz="1900" kern="1200" dirty="0" err="1">
                          <a:solidFill>
                            <a:schemeClr val="dk1"/>
                          </a:solidFill>
                          <a:effectLst/>
                          <a:latin typeface="+mn-lt"/>
                          <a:ea typeface="+mn-ea"/>
                          <a:cs typeface="+mn-cs"/>
                        </a:rPr>
                        <a:t>bilgileri</a:t>
                      </a:r>
                      <a:endParaRPr lang="en-US" sz="1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t>Artan</a:t>
                      </a:r>
                      <a:r>
                        <a:rPr lang="en-US" sz="1900" dirty="0"/>
                        <a:t> </a:t>
                      </a:r>
                      <a:r>
                        <a:rPr lang="en-US" sz="1900" dirty="0" err="1"/>
                        <a:t>bakım</a:t>
                      </a:r>
                      <a:r>
                        <a:rPr lang="en-US" sz="1900" dirty="0"/>
                        <a:t> </a:t>
                      </a:r>
                      <a:r>
                        <a:rPr lang="en-US" sz="1900" dirty="0" err="1"/>
                        <a:t>fazlalıkları</a:t>
                      </a:r>
                      <a:r>
                        <a:rPr lang="en-US" sz="1900" dirty="0"/>
                        <a:t> </a:t>
                      </a:r>
                      <a:r>
                        <a:rPr lang="en-US" sz="1900" dirty="0" err="1"/>
                        <a:t>ve</a:t>
                      </a:r>
                      <a:r>
                        <a:rPr lang="en-US" sz="1900" dirty="0"/>
                        <a:t> </a:t>
                      </a:r>
                      <a:r>
                        <a:rPr lang="en-US" sz="1900" dirty="0" err="1"/>
                        <a:t>yeniden</a:t>
                      </a:r>
                      <a:r>
                        <a:rPr lang="en-US" sz="1900" dirty="0"/>
                        <a:t> </a:t>
                      </a:r>
                      <a:r>
                        <a:rPr lang="en-US" sz="1900" dirty="0" err="1"/>
                        <a:t>kabuller</a:t>
                      </a:r>
                      <a:r>
                        <a:rPr lang="en-US" sz="1900" dirty="0"/>
                        <a:t> </a:t>
                      </a:r>
                      <a:r>
                        <a:rPr lang="en-US" sz="1900" dirty="0" err="1"/>
                        <a:t>nedeniyle</a:t>
                      </a:r>
                      <a:r>
                        <a:rPr lang="en-US" sz="1900" dirty="0"/>
                        <a:t> </a:t>
                      </a:r>
                      <a:r>
                        <a:rPr lang="en-US" sz="1900" dirty="0" err="1"/>
                        <a:t>daha</a:t>
                      </a:r>
                      <a:r>
                        <a:rPr lang="en-US" sz="1900" dirty="0"/>
                        <a:t> </a:t>
                      </a:r>
                      <a:r>
                        <a:rPr lang="en-US" sz="1900" dirty="0" err="1"/>
                        <a:t>düşük</a:t>
                      </a:r>
                      <a:r>
                        <a:rPr lang="en-US" sz="1900" dirty="0"/>
                        <a:t> </a:t>
                      </a:r>
                      <a:r>
                        <a:rPr lang="en-US" sz="1900" dirty="0" err="1"/>
                        <a:t>sağlık</a:t>
                      </a:r>
                      <a:r>
                        <a:rPr lang="en-US" sz="1900" dirty="0"/>
                        <a:t> </a:t>
                      </a:r>
                      <a:r>
                        <a:rPr lang="en-US" sz="1900" dirty="0" err="1"/>
                        <a:t>hizmetleri</a:t>
                      </a:r>
                      <a:r>
                        <a:rPr lang="en-US" sz="1900" dirty="0"/>
                        <a:t> </a:t>
                      </a:r>
                      <a:r>
                        <a:rPr lang="en-US" sz="1900" dirty="0" err="1"/>
                        <a:t>maliyetleri</a:t>
                      </a:r>
                      <a:endParaRPr lang="en-US" sz="1900" dirty="0"/>
                    </a:p>
                  </a:txBody>
                  <a:tcPr/>
                </a:tc>
                <a:extLst>
                  <a:ext uri="{0D108BD9-81ED-4DB2-BD59-A6C34878D82A}">
                    <a16:rowId xmlns:a16="http://schemas.microsoft.com/office/drawing/2014/main" val="3706470972"/>
                  </a:ext>
                </a:extLst>
              </a:tr>
              <a:tr h="370840">
                <a:tc>
                  <a:txBody>
                    <a:bodyPr/>
                    <a:lstStyle/>
                    <a:p>
                      <a:r>
                        <a:rPr lang="en-US" sz="1900" dirty="0" err="1"/>
                        <a:t>Performans</a:t>
                      </a:r>
                      <a:r>
                        <a:rPr lang="en-US" sz="1900" dirty="0"/>
                        <a:t> </a:t>
                      </a:r>
                      <a:r>
                        <a:rPr lang="en-US" sz="1900" dirty="0" err="1"/>
                        <a:t>artırıcı</a:t>
                      </a:r>
                      <a:r>
                        <a:rPr lang="en-US" sz="1900" dirty="0"/>
                        <a:t> </a:t>
                      </a:r>
                      <a:r>
                        <a:rPr lang="en-US" sz="1900" dirty="0" err="1"/>
                        <a:t>araçlar</a:t>
                      </a:r>
                      <a:r>
                        <a:rPr lang="en-US" sz="1900" dirty="0"/>
                        <a:t> </a:t>
                      </a:r>
                      <a:r>
                        <a:rPr lang="en-US" sz="1900" dirty="0" err="1"/>
                        <a:t>ve</a:t>
                      </a:r>
                      <a:r>
                        <a:rPr lang="en-US" sz="1900" dirty="0"/>
                        <a:t> </a:t>
                      </a:r>
                      <a:r>
                        <a:rPr lang="en-US" sz="1900" dirty="0" err="1"/>
                        <a:t>gerçek</a:t>
                      </a:r>
                      <a:r>
                        <a:rPr lang="en-US" sz="1900" dirty="0"/>
                        <a:t> </a:t>
                      </a:r>
                      <a:r>
                        <a:rPr lang="en-US" sz="1900" dirty="0" err="1"/>
                        <a:t>zamanlı</a:t>
                      </a:r>
                      <a:r>
                        <a:rPr lang="en-US" sz="1900" dirty="0"/>
                        <a:t> </a:t>
                      </a:r>
                      <a:r>
                        <a:rPr lang="en-US" sz="1900" dirty="0" err="1"/>
                        <a:t>raporlama</a:t>
                      </a:r>
                      <a:endParaRPr lang="en-US" sz="1900" dirty="0"/>
                    </a:p>
                  </a:txBody>
                  <a:tcPr/>
                </a:tc>
                <a:tc>
                  <a:txBody>
                    <a:bodyPr/>
                    <a:lstStyle/>
                    <a:p>
                      <a:r>
                        <a:rPr lang="en-US" sz="1900" dirty="0"/>
                        <a:t>E-</a:t>
                      </a:r>
                      <a:r>
                        <a:rPr lang="en-US" sz="1900" dirty="0" err="1"/>
                        <a:t>reçete</a:t>
                      </a:r>
                      <a:r>
                        <a:rPr lang="en-US" sz="1900" dirty="0"/>
                        <a:t> </a:t>
                      </a:r>
                      <a:r>
                        <a:rPr lang="en-US" sz="1900" dirty="0" err="1"/>
                        <a:t>kolaylığı</a:t>
                      </a:r>
                      <a:endParaRPr lang="en-US" sz="1900" dirty="0"/>
                    </a:p>
                  </a:txBody>
                  <a:tcPr/>
                </a:tc>
                <a:tc>
                  <a:txBody>
                    <a:bodyPr/>
                    <a:lstStyle/>
                    <a:p>
                      <a:endParaRPr lang="en-US" sz="1900" dirty="0"/>
                    </a:p>
                  </a:txBody>
                  <a:tcPr/>
                </a:tc>
                <a:extLst>
                  <a:ext uri="{0D108BD9-81ED-4DB2-BD59-A6C34878D82A}">
                    <a16:rowId xmlns:a16="http://schemas.microsoft.com/office/drawing/2014/main" val="2459607400"/>
                  </a:ext>
                </a:extLst>
              </a:tr>
              <a:tr h="370840">
                <a:tc>
                  <a:txBody>
                    <a:bodyPr/>
                    <a:lstStyle/>
                    <a:p>
                      <a:r>
                        <a:rPr lang="en-US" sz="1900" dirty="0" err="1"/>
                        <a:t>Doğru</a:t>
                      </a:r>
                      <a:r>
                        <a:rPr lang="en-US" sz="1900" dirty="0"/>
                        <a:t> </a:t>
                      </a:r>
                      <a:r>
                        <a:rPr lang="en-US" sz="1900" dirty="0" err="1"/>
                        <a:t>kodlama</a:t>
                      </a:r>
                      <a:r>
                        <a:rPr lang="en-US" sz="1900" dirty="0"/>
                        <a:t> </a:t>
                      </a:r>
                      <a:r>
                        <a:rPr lang="en-US" sz="1900" dirty="0" err="1"/>
                        <a:t>ve</a:t>
                      </a:r>
                      <a:r>
                        <a:rPr lang="en-US" sz="1900" dirty="0"/>
                        <a:t> </a:t>
                      </a:r>
                      <a:r>
                        <a:rPr lang="en-US" sz="1900" dirty="0" err="1"/>
                        <a:t>faturalandırma</a:t>
                      </a:r>
                      <a:r>
                        <a:rPr lang="en-US" sz="1900" dirty="0"/>
                        <a:t> için </a:t>
                      </a:r>
                      <a:r>
                        <a:rPr lang="en-US" sz="1900" dirty="0" err="1"/>
                        <a:t>okunaklı</a:t>
                      </a:r>
                      <a:r>
                        <a:rPr lang="en-US" sz="1900" dirty="0"/>
                        <a:t>, </a:t>
                      </a:r>
                      <a:r>
                        <a:rPr lang="en-US" sz="1900" dirty="0" err="1"/>
                        <a:t>eksiksiz</a:t>
                      </a:r>
                      <a:r>
                        <a:rPr lang="en-US" sz="1900" dirty="0"/>
                        <a:t> </a:t>
                      </a:r>
                      <a:r>
                        <a:rPr lang="en-US" sz="1900" dirty="0" err="1"/>
                        <a:t>belgeler</a:t>
                      </a:r>
                      <a:endParaRPr lang="en-US" sz="1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t>Sağlayıcılarla</a:t>
                      </a:r>
                      <a:r>
                        <a:rPr lang="en-US" sz="1900" dirty="0"/>
                        <a:t> </a:t>
                      </a:r>
                      <a:r>
                        <a:rPr lang="en-US" sz="1900" dirty="0" err="1"/>
                        <a:t>çevrimiçi</a:t>
                      </a:r>
                      <a:r>
                        <a:rPr lang="en-US" sz="1900" dirty="0"/>
                        <a:t> </a:t>
                      </a:r>
                      <a:r>
                        <a:rPr lang="en-US" sz="1900" dirty="0" err="1"/>
                        <a:t>etkileşime</a:t>
                      </a:r>
                      <a:r>
                        <a:rPr lang="en-US" sz="1900" dirty="0"/>
                        <a:t> </a:t>
                      </a:r>
                      <a:r>
                        <a:rPr lang="en-US" sz="1900" dirty="0" err="1"/>
                        <a:t>sahip</a:t>
                      </a:r>
                      <a:r>
                        <a:rPr lang="en-US" sz="1900" dirty="0"/>
                        <a:t> hasta </a:t>
                      </a:r>
                      <a:r>
                        <a:rPr lang="en-US" sz="1900" dirty="0" err="1"/>
                        <a:t>portalları</a:t>
                      </a:r>
                      <a:endParaRPr lang="en-US" sz="1900" dirty="0"/>
                    </a:p>
                  </a:txBody>
                  <a:tcPr/>
                </a:tc>
                <a:tc>
                  <a:txBody>
                    <a:bodyPr/>
                    <a:lstStyle/>
                    <a:p>
                      <a:endParaRPr lang="en-US" sz="1900" dirty="0"/>
                    </a:p>
                  </a:txBody>
                  <a:tcPr/>
                </a:tc>
                <a:extLst>
                  <a:ext uri="{0D108BD9-81ED-4DB2-BD59-A6C34878D82A}">
                    <a16:rowId xmlns:a16="http://schemas.microsoft.com/office/drawing/2014/main" val="898793289"/>
                  </a:ext>
                </a:extLst>
              </a:tr>
              <a:tr h="370840">
                <a:tc>
                  <a:txBody>
                    <a:bodyPr/>
                    <a:lstStyle/>
                    <a:p>
                      <a:r>
                        <a:rPr lang="en-US" sz="1900" dirty="0" err="1"/>
                        <a:t>Laboratuvarlar</a:t>
                      </a:r>
                      <a:r>
                        <a:rPr lang="en-US" sz="1900" dirty="0"/>
                        <a:t>, </a:t>
                      </a:r>
                      <a:r>
                        <a:rPr lang="en-US" sz="1900" dirty="0" err="1"/>
                        <a:t>kayıt</a:t>
                      </a:r>
                      <a:r>
                        <a:rPr lang="en-US" sz="1900" dirty="0"/>
                        <a:t> </a:t>
                      </a:r>
                      <a:r>
                        <a:rPr lang="en-US" sz="1900" dirty="0" err="1"/>
                        <a:t>defterleri</a:t>
                      </a:r>
                      <a:r>
                        <a:rPr lang="en-US" sz="1900" dirty="0"/>
                        <a:t> </a:t>
                      </a:r>
                      <a:r>
                        <a:rPr lang="en-US" sz="1900" dirty="0" err="1"/>
                        <a:t>ve</a:t>
                      </a:r>
                      <a:r>
                        <a:rPr lang="en-US" sz="1900" dirty="0"/>
                        <a:t> </a:t>
                      </a:r>
                      <a:r>
                        <a:rPr lang="en-US" sz="1900" dirty="0" err="1"/>
                        <a:t>diğer</a:t>
                      </a:r>
                      <a:r>
                        <a:rPr lang="en-US" sz="1900" dirty="0"/>
                        <a:t> </a:t>
                      </a:r>
                      <a:r>
                        <a:rPr lang="en-US" sz="1900" dirty="0" err="1"/>
                        <a:t>EHR'lerle</a:t>
                      </a:r>
                      <a:r>
                        <a:rPr lang="en-US" sz="1900" dirty="0"/>
                        <a:t> </a:t>
                      </a:r>
                      <a:r>
                        <a:rPr lang="en-US" sz="1900" dirty="0" err="1"/>
                        <a:t>arabirimler</a:t>
                      </a:r>
                      <a:endParaRPr lang="en-US" sz="19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900" dirty="0" err="1"/>
                        <a:t>Elektronik</a:t>
                      </a:r>
                      <a:r>
                        <a:rPr lang="en-US" sz="1900" dirty="0"/>
                        <a:t> </a:t>
                      </a:r>
                      <a:r>
                        <a:rPr lang="en-US" sz="1900" dirty="0" err="1"/>
                        <a:t>yönlendirmeler</a:t>
                      </a:r>
                      <a:r>
                        <a:rPr lang="en-US" sz="1900" dirty="0"/>
                        <a:t>; </a:t>
                      </a:r>
                      <a:r>
                        <a:rPr lang="en-US" sz="1900" dirty="0" err="1"/>
                        <a:t>Takip</a:t>
                      </a:r>
                      <a:r>
                        <a:rPr lang="en-US" sz="1900" dirty="0"/>
                        <a:t> </a:t>
                      </a:r>
                      <a:r>
                        <a:rPr lang="en-US" sz="1900" dirty="0" err="1"/>
                        <a:t>bakımına</a:t>
                      </a:r>
                      <a:r>
                        <a:rPr lang="en-US" sz="1900" dirty="0"/>
                        <a:t> </a:t>
                      </a:r>
                      <a:r>
                        <a:rPr lang="en-US" sz="1900" dirty="0" err="1"/>
                        <a:t>daha</a:t>
                      </a:r>
                      <a:r>
                        <a:rPr lang="en-US" sz="1900" dirty="0"/>
                        <a:t> </a:t>
                      </a:r>
                      <a:r>
                        <a:rPr lang="en-US" sz="1900" dirty="0" err="1"/>
                        <a:t>kolay</a:t>
                      </a:r>
                      <a:r>
                        <a:rPr lang="en-US" sz="1900" dirty="0"/>
                        <a:t> </a:t>
                      </a:r>
                      <a:r>
                        <a:rPr lang="en-US" sz="1900" dirty="0" err="1"/>
                        <a:t>erişim</a:t>
                      </a:r>
                      <a:endParaRPr lang="en-US" sz="1900" dirty="0"/>
                    </a:p>
                  </a:txBody>
                  <a:tcPr/>
                </a:tc>
                <a:tc>
                  <a:txBody>
                    <a:bodyPr/>
                    <a:lstStyle/>
                    <a:p>
                      <a:endParaRPr lang="en-US" sz="1900" dirty="0"/>
                    </a:p>
                  </a:txBody>
                  <a:tcPr/>
                </a:tc>
                <a:extLst>
                  <a:ext uri="{0D108BD9-81ED-4DB2-BD59-A6C34878D82A}">
                    <a16:rowId xmlns:a16="http://schemas.microsoft.com/office/drawing/2014/main" val="2791805755"/>
                  </a:ext>
                </a:extLst>
              </a:tr>
              <a:tr h="370840">
                <a:tc>
                  <a:txBody>
                    <a:bodyPr/>
                    <a:lstStyle/>
                    <a:p>
                      <a:r>
                        <a:rPr lang="en-US" sz="1900" dirty="0" err="1"/>
                        <a:t>Daha</a:t>
                      </a:r>
                      <a:r>
                        <a:rPr lang="en-US" sz="1900" dirty="0"/>
                        <a:t> </a:t>
                      </a:r>
                      <a:r>
                        <a:rPr lang="en-US" sz="1900" dirty="0" err="1"/>
                        <a:t>güvenli</a:t>
                      </a:r>
                      <a:r>
                        <a:rPr lang="en-US" sz="1900" dirty="0"/>
                        <a:t>, </a:t>
                      </a:r>
                      <a:r>
                        <a:rPr lang="en-US" sz="1900" dirty="0" err="1"/>
                        <a:t>daha</a:t>
                      </a:r>
                      <a:r>
                        <a:rPr lang="en-US" sz="1900" dirty="0"/>
                        <a:t> </a:t>
                      </a:r>
                      <a:r>
                        <a:rPr lang="en-US" sz="1900" dirty="0" err="1"/>
                        <a:t>güvenilir</a:t>
                      </a:r>
                      <a:r>
                        <a:rPr lang="en-US" sz="1900" dirty="0"/>
                        <a:t> </a:t>
                      </a:r>
                      <a:r>
                        <a:rPr lang="en-US" sz="1900" dirty="0" err="1"/>
                        <a:t>reçete</a:t>
                      </a:r>
                      <a:r>
                        <a:rPr lang="en-US" sz="1900" dirty="0"/>
                        <a:t> </a:t>
                      </a:r>
                      <a:r>
                        <a:rPr lang="en-US" sz="1900" dirty="0" err="1"/>
                        <a:t>yazma</a:t>
                      </a:r>
                      <a:endParaRPr lang="en-US" sz="1900" dirty="0"/>
                    </a:p>
                  </a:txBody>
                  <a:tcPr/>
                </a:tc>
                <a:tc>
                  <a:txBody>
                    <a:bodyPr/>
                    <a:lstStyle/>
                    <a:p>
                      <a:endParaRPr lang="en-US" sz="1900" dirty="0"/>
                    </a:p>
                  </a:txBody>
                  <a:tcPr/>
                </a:tc>
                <a:tc>
                  <a:txBody>
                    <a:bodyPr/>
                    <a:lstStyle/>
                    <a:p>
                      <a:endParaRPr lang="en-US" sz="1900" dirty="0"/>
                    </a:p>
                  </a:txBody>
                  <a:tcPr/>
                </a:tc>
                <a:extLst>
                  <a:ext uri="{0D108BD9-81ED-4DB2-BD59-A6C34878D82A}">
                    <a16:rowId xmlns:a16="http://schemas.microsoft.com/office/drawing/2014/main" val="1421331539"/>
                  </a:ext>
                </a:extLst>
              </a:tr>
            </a:tbl>
          </a:graphicData>
        </a:graphic>
      </p:graphicFrame>
      <p:sp>
        <p:nvSpPr>
          <p:cNvPr id="3" name="Title 2"/>
          <p:cNvSpPr>
            <a:spLocks noGrp="1"/>
          </p:cNvSpPr>
          <p:nvPr>
            <p:ph type="title"/>
          </p:nvPr>
        </p:nvSpPr>
        <p:spPr>
          <a:xfrm>
            <a:off x="762000" y="28848"/>
            <a:ext cx="8026400" cy="1051057"/>
          </a:xfrm>
        </p:spPr>
        <p:txBody>
          <a:bodyPr/>
          <a:lstStyle/>
          <a:p>
            <a:r>
              <a:rPr lang="en-US" sz="4000" dirty="0" err="1"/>
              <a:t>EHR'lerin</a:t>
            </a:r>
            <a:r>
              <a:rPr lang="en-US" sz="4000" dirty="0"/>
              <a:t>, </a:t>
            </a:r>
            <a:r>
              <a:rPr lang="en-US" sz="4000" dirty="0" err="1"/>
              <a:t>EMR'lerin</a:t>
            </a:r>
            <a:r>
              <a:rPr lang="en-US" sz="4000" dirty="0"/>
              <a:t>, </a:t>
            </a:r>
            <a:r>
              <a:rPr lang="en-US" sz="4000" dirty="0" err="1"/>
              <a:t>PHR'lerin</a:t>
            </a:r>
            <a:r>
              <a:rPr lang="en-US" sz="4000" dirty="0"/>
              <a:t> </a:t>
            </a:r>
            <a:r>
              <a:rPr lang="en-US" sz="4000" dirty="0" err="1"/>
              <a:t>ve</a:t>
            </a:r>
            <a:r>
              <a:rPr lang="en-US" sz="4000" dirty="0"/>
              <a:t> </a:t>
            </a:r>
            <a:r>
              <a:rPr lang="en-US" sz="4000" dirty="0" err="1"/>
              <a:t>HİE'nin</a:t>
            </a:r>
            <a:r>
              <a:rPr lang="en-US" sz="4000" dirty="0"/>
              <a:t> </a:t>
            </a:r>
            <a:r>
              <a:rPr lang="en-US" sz="4000" dirty="0" err="1"/>
              <a:t>Faydaları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39636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701287"/>
          </a:xfrm>
        </p:spPr>
        <p:txBody>
          <a:bodyPr/>
          <a:lstStyle/>
          <a:p>
            <a:r>
              <a:rPr lang="en-US" sz="2700" dirty="0" err="1"/>
              <a:t>Klinik</a:t>
            </a:r>
            <a:r>
              <a:rPr lang="en-US" sz="2700" dirty="0"/>
              <a:t> </a:t>
            </a:r>
            <a:r>
              <a:rPr lang="en-US" sz="2700" dirty="0" err="1"/>
              <a:t>karar</a:t>
            </a:r>
            <a:r>
              <a:rPr lang="en-US" sz="2700" dirty="0"/>
              <a:t> </a:t>
            </a:r>
            <a:r>
              <a:rPr lang="en-US" sz="2700" dirty="0" err="1"/>
              <a:t>desteği</a:t>
            </a:r>
            <a:r>
              <a:rPr lang="en-US" sz="2700" dirty="0"/>
              <a:t> (CDS): </a:t>
            </a:r>
            <a:r>
              <a:rPr lang="en-US" sz="2700" dirty="0" err="1"/>
              <a:t>Klinik</a:t>
            </a:r>
            <a:r>
              <a:rPr lang="en-US" sz="2700" dirty="0"/>
              <a:t> </a:t>
            </a:r>
            <a:r>
              <a:rPr lang="en-US" sz="2700" dirty="0" err="1"/>
              <a:t>bilgi</a:t>
            </a:r>
            <a:r>
              <a:rPr lang="en-US" sz="2700" dirty="0"/>
              <a:t> </a:t>
            </a:r>
            <a:r>
              <a:rPr lang="en-US" sz="2700" dirty="0" err="1"/>
              <a:t>ve</a:t>
            </a:r>
            <a:r>
              <a:rPr lang="en-US" sz="2700" dirty="0"/>
              <a:t> </a:t>
            </a:r>
            <a:r>
              <a:rPr lang="en-US" sz="2700" dirty="0" err="1"/>
              <a:t>hastaya</a:t>
            </a:r>
            <a:r>
              <a:rPr lang="en-US" sz="2700" dirty="0"/>
              <a:t> </a:t>
            </a:r>
            <a:r>
              <a:rPr lang="en-US" sz="2700" dirty="0" err="1"/>
              <a:t>özel</a:t>
            </a:r>
            <a:r>
              <a:rPr lang="en-US" sz="2700" dirty="0"/>
              <a:t> </a:t>
            </a:r>
            <a:r>
              <a:rPr lang="en-US" sz="2700" dirty="0" err="1"/>
              <a:t>bilgilerin</a:t>
            </a:r>
            <a:r>
              <a:rPr lang="en-US" sz="2700" dirty="0"/>
              <a:t> </a:t>
            </a:r>
            <a:r>
              <a:rPr lang="en-US" sz="2700" dirty="0" err="1"/>
              <a:t>kullanımı</a:t>
            </a:r>
            <a:r>
              <a:rPr lang="en-US" sz="2700" dirty="0"/>
              <a:t> </a:t>
            </a:r>
            <a:r>
              <a:rPr lang="en-US" sz="2700" dirty="0" err="1"/>
              <a:t>yoluyla</a:t>
            </a:r>
            <a:r>
              <a:rPr lang="en-US" sz="2700" dirty="0"/>
              <a:t> </a:t>
            </a:r>
            <a:r>
              <a:rPr lang="en-US" sz="2700" dirty="0" err="1"/>
              <a:t>sağlık</a:t>
            </a:r>
            <a:r>
              <a:rPr lang="en-US" sz="2700" dirty="0"/>
              <a:t> </a:t>
            </a:r>
            <a:r>
              <a:rPr lang="en-US" sz="2700" dirty="0" err="1"/>
              <a:t>hizmetleriyle</a:t>
            </a:r>
            <a:r>
              <a:rPr lang="en-US" sz="2700" dirty="0"/>
              <a:t> </a:t>
            </a:r>
            <a:r>
              <a:rPr lang="en-US" sz="2700" dirty="0" err="1"/>
              <a:t>ilgili</a:t>
            </a:r>
            <a:r>
              <a:rPr lang="en-US" sz="2700" dirty="0"/>
              <a:t> </a:t>
            </a:r>
            <a:r>
              <a:rPr lang="en-US" sz="2700" dirty="0" err="1"/>
              <a:t>karar</a:t>
            </a:r>
            <a:r>
              <a:rPr lang="en-US" sz="2700" dirty="0"/>
              <a:t> </a:t>
            </a:r>
            <a:r>
              <a:rPr lang="en-US" sz="2700" dirty="0" err="1"/>
              <a:t>vermeyi</a:t>
            </a:r>
            <a:r>
              <a:rPr lang="en-US" sz="2700" dirty="0"/>
              <a:t> </a:t>
            </a:r>
            <a:r>
              <a:rPr lang="en-US" sz="2700" dirty="0" err="1"/>
              <a:t>geliştirmek</a:t>
            </a:r>
            <a:r>
              <a:rPr lang="en-US" sz="2700" dirty="0"/>
              <a:t> için </a:t>
            </a:r>
            <a:r>
              <a:rPr lang="en-US" sz="2700" dirty="0" err="1"/>
              <a:t>tasarlanmış</a:t>
            </a:r>
            <a:r>
              <a:rPr lang="en-US" sz="2700" dirty="0"/>
              <a:t> </a:t>
            </a:r>
            <a:r>
              <a:rPr lang="en-US" sz="2700" dirty="0" err="1"/>
              <a:t>bir</a:t>
            </a:r>
            <a:r>
              <a:rPr lang="en-US" sz="2700" dirty="0"/>
              <a:t> </a:t>
            </a:r>
            <a:r>
              <a:rPr lang="en-US" sz="2700" dirty="0" err="1"/>
              <a:t>süreç</a:t>
            </a:r>
            <a:r>
              <a:rPr lang="en-US" sz="2700" dirty="0"/>
              <a:t> </a:t>
            </a:r>
            <a:r>
              <a:rPr lang="en-US" sz="2700" dirty="0" err="1"/>
              <a:t>ve</a:t>
            </a:r>
            <a:r>
              <a:rPr lang="en-US" sz="2700" dirty="0"/>
              <a:t> </a:t>
            </a:r>
            <a:r>
              <a:rPr lang="en-US" sz="2700" dirty="0" err="1"/>
              <a:t>araçlar</a:t>
            </a:r>
            <a:r>
              <a:rPr lang="en-US" sz="2700" dirty="0"/>
              <a:t> </a:t>
            </a:r>
            <a:r>
              <a:rPr lang="en-US" sz="2700" dirty="0" err="1"/>
              <a:t>seti</a:t>
            </a:r>
            <a:r>
              <a:rPr lang="en-US" sz="2700" dirty="0"/>
              <a:t>
Hasta </a:t>
            </a:r>
            <a:r>
              <a:rPr lang="en-US" sz="2700" dirty="0" err="1"/>
              <a:t>bakım</a:t>
            </a:r>
            <a:r>
              <a:rPr lang="en-US" sz="2700" dirty="0"/>
              <a:t> </a:t>
            </a:r>
            <a:r>
              <a:rPr lang="en-US" sz="2700" dirty="0" err="1"/>
              <a:t>kalitesini</a:t>
            </a:r>
            <a:r>
              <a:rPr lang="en-US" sz="2700" dirty="0"/>
              <a:t> </a:t>
            </a:r>
            <a:r>
              <a:rPr lang="en-US" sz="2700" dirty="0" err="1"/>
              <a:t>artırır</a:t>
            </a:r>
            <a:r>
              <a:rPr lang="en-US" sz="2700" dirty="0"/>
              <a:t>
</a:t>
            </a:r>
            <a:r>
              <a:rPr lang="en-US" sz="2700" dirty="0" err="1"/>
              <a:t>Maliyetleri</a:t>
            </a:r>
            <a:r>
              <a:rPr lang="en-US" sz="2700" dirty="0"/>
              <a:t> </a:t>
            </a:r>
            <a:r>
              <a:rPr lang="en-US" sz="2700" dirty="0" err="1"/>
              <a:t>düşürür</a:t>
            </a:r>
            <a:r>
              <a:rPr lang="en-US" sz="2700" dirty="0"/>
              <a:t>
</a:t>
            </a:r>
            <a:r>
              <a:rPr lang="en-US" sz="2700" dirty="0" err="1"/>
              <a:t>Hataların</a:t>
            </a:r>
            <a:r>
              <a:rPr lang="en-US" sz="2700" dirty="0"/>
              <a:t> </a:t>
            </a:r>
            <a:r>
              <a:rPr lang="en-US" sz="2700" dirty="0" err="1"/>
              <a:t>ve</a:t>
            </a:r>
            <a:r>
              <a:rPr lang="en-US" sz="2700" dirty="0"/>
              <a:t> </a:t>
            </a:r>
            <a:r>
              <a:rPr lang="en-US" sz="2700" dirty="0" err="1"/>
              <a:t>olumsuz</a:t>
            </a:r>
            <a:r>
              <a:rPr lang="en-US" sz="2700" dirty="0"/>
              <a:t> </a:t>
            </a:r>
            <a:r>
              <a:rPr lang="en-US" sz="2700" dirty="0" err="1"/>
              <a:t>olayların</a:t>
            </a:r>
            <a:r>
              <a:rPr lang="en-US" sz="2700" dirty="0"/>
              <a:t> </a:t>
            </a:r>
            <a:r>
              <a:rPr lang="en-US" sz="2700" dirty="0" err="1"/>
              <a:t>önlenmesine</a:t>
            </a:r>
            <a:r>
              <a:rPr lang="en-US" sz="2700" dirty="0"/>
              <a:t> </a:t>
            </a:r>
            <a:r>
              <a:rPr lang="en-US" sz="2700" dirty="0" err="1"/>
              <a:t>yardımcı</a:t>
            </a:r>
            <a:r>
              <a:rPr lang="en-US" sz="2700" dirty="0"/>
              <a:t> </a:t>
            </a:r>
            <a:r>
              <a:rPr lang="en-US" sz="2700" dirty="0" err="1"/>
              <a:t>olur</a:t>
            </a:r>
            <a:r>
              <a:rPr lang="en-US" sz="2700" dirty="0"/>
              <a:t>
</a:t>
            </a:r>
            <a:r>
              <a:rPr lang="en-US" sz="2700" dirty="0" err="1"/>
              <a:t>Sağlayıcı</a:t>
            </a:r>
            <a:r>
              <a:rPr lang="en-US" sz="2700" dirty="0"/>
              <a:t> </a:t>
            </a:r>
            <a:r>
              <a:rPr lang="en-US" sz="2700" dirty="0" err="1"/>
              <a:t>ve</a:t>
            </a:r>
            <a:r>
              <a:rPr lang="en-US" sz="2700" dirty="0"/>
              <a:t> hasta </a:t>
            </a:r>
            <a:r>
              <a:rPr lang="en-US" sz="2700" dirty="0" err="1"/>
              <a:t>memnuniyetini</a:t>
            </a:r>
            <a:r>
              <a:rPr lang="en-US" sz="2700" dirty="0"/>
              <a:t> </a:t>
            </a:r>
            <a:r>
              <a:rPr lang="en-US" sz="2700" dirty="0" err="1"/>
              <a:t>artırır</a:t>
            </a:r>
            <a:r>
              <a:rPr lang="en-US" sz="2700" dirty="0"/>
              <a:t>
</a:t>
            </a:r>
            <a:r>
              <a:rPr lang="en-US" sz="2700" dirty="0" err="1"/>
              <a:t>Bilgisayarlı</a:t>
            </a:r>
            <a:r>
              <a:rPr lang="en-US" sz="2700" dirty="0"/>
              <a:t> </a:t>
            </a:r>
            <a:r>
              <a:rPr lang="en-US" sz="2700" dirty="0" err="1"/>
              <a:t>sağlayıcı</a:t>
            </a:r>
            <a:r>
              <a:rPr lang="en-US" sz="2700" dirty="0"/>
              <a:t> </a:t>
            </a:r>
            <a:r>
              <a:rPr lang="en-US" sz="2700" dirty="0" err="1"/>
              <a:t>sipariş</a:t>
            </a:r>
            <a:r>
              <a:rPr lang="en-US" sz="2700" dirty="0"/>
              <a:t> </a:t>
            </a:r>
            <a:r>
              <a:rPr lang="en-US" sz="2700" dirty="0" err="1"/>
              <a:t>girişi</a:t>
            </a:r>
            <a:r>
              <a:rPr lang="en-US" sz="2700" dirty="0"/>
              <a:t> (CPOE) </a:t>
            </a:r>
            <a:r>
              <a:rPr lang="en-US" sz="2700" dirty="0" err="1"/>
              <a:t>sistemi</a:t>
            </a:r>
            <a:r>
              <a:rPr lang="en-US" sz="2700" dirty="0"/>
              <a:t>: </a:t>
            </a:r>
            <a:r>
              <a:rPr lang="en-US" sz="2700" dirty="0" err="1"/>
              <a:t>Doktorların</a:t>
            </a:r>
            <a:r>
              <a:rPr lang="en-US" sz="2700" dirty="0"/>
              <a:t> </a:t>
            </a:r>
            <a:r>
              <a:rPr lang="en-US" sz="2700" dirty="0" err="1"/>
              <a:t>siparişleri</a:t>
            </a:r>
            <a:r>
              <a:rPr lang="en-US" sz="2700" dirty="0"/>
              <a:t> (</a:t>
            </a:r>
            <a:r>
              <a:rPr lang="en-US" sz="2700" dirty="0" err="1"/>
              <a:t>ilaçlar</a:t>
            </a:r>
            <a:r>
              <a:rPr lang="en-US" sz="2700" dirty="0"/>
              <a:t>, </a:t>
            </a:r>
            <a:r>
              <a:rPr lang="en-US" sz="2700" dirty="0" err="1"/>
              <a:t>laboratuvar</a:t>
            </a:r>
            <a:r>
              <a:rPr lang="en-US" sz="2700" dirty="0"/>
              <a:t> </a:t>
            </a:r>
            <a:r>
              <a:rPr lang="en-US" sz="2700" dirty="0" err="1"/>
              <a:t>testleri</a:t>
            </a:r>
            <a:r>
              <a:rPr lang="en-US" sz="2700" dirty="0"/>
              <a:t>, </a:t>
            </a:r>
            <a:r>
              <a:rPr lang="en-US" sz="2700" dirty="0" err="1"/>
              <a:t>radyoloji</a:t>
            </a:r>
            <a:r>
              <a:rPr lang="en-US" sz="2700" dirty="0"/>
              <a:t>, </a:t>
            </a:r>
            <a:r>
              <a:rPr lang="en-US" sz="2700" dirty="0" err="1"/>
              <a:t>fizik</a:t>
            </a:r>
            <a:r>
              <a:rPr lang="en-US" sz="2700" dirty="0"/>
              <a:t> </a:t>
            </a:r>
            <a:r>
              <a:rPr lang="en-US" sz="2700" dirty="0" err="1"/>
              <a:t>tedavi</a:t>
            </a:r>
            <a:r>
              <a:rPr lang="en-US" sz="2700" dirty="0"/>
              <a:t> için) </a:t>
            </a:r>
            <a:r>
              <a:rPr lang="en-US" sz="2700" dirty="0" err="1"/>
              <a:t>elektronik</a:t>
            </a:r>
            <a:r>
              <a:rPr lang="en-US" sz="2700" dirty="0"/>
              <a:t> </a:t>
            </a:r>
            <a:r>
              <a:rPr lang="en-US" sz="2700" dirty="0" err="1"/>
              <a:t>olarak</a:t>
            </a:r>
            <a:r>
              <a:rPr lang="en-US" sz="2700" dirty="0"/>
              <a:t> </a:t>
            </a:r>
            <a:r>
              <a:rPr lang="en-US" sz="2700" dirty="0" err="1"/>
              <a:t>vermesini</a:t>
            </a:r>
            <a:r>
              <a:rPr lang="en-US" sz="2700" dirty="0"/>
              <a:t> </a:t>
            </a:r>
            <a:r>
              <a:rPr lang="en-US" sz="2700" dirty="0" err="1"/>
              <a:t>ve</a:t>
            </a:r>
            <a:r>
              <a:rPr lang="en-US" sz="2700" dirty="0"/>
              <a:t> </a:t>
            </a:r>
            <a:r>
              <a:rPr lang="en-US" sz="2700" dirty="0" err="1"/>
              <a:t>iletmesini</a:t>
            </a:r>
            <a:r>
              <a:rPr lang="en-US" sz="2700" dirty="0"/>
              <a:t> </a:t>
            </a:r>
            <a:r>
              <a:rPr lang="en-US" sz="2700" dirty="0" err="1"/>
              <a:t>sağlar</a:t>
            </a:r>
            <a:endParaRPr lang="en-US" sz="2700" dirty="0"/>
          </a:p>
        </p:txBody>
      </p:sp>
      <p:sp>
        <p:nvSpPr>
          <p:cNvPr id="3" name="Title 2"/>
          <p:cNvSpPr>
            <a:spLocks noGrp="1"/>
          </p:cNvSpPr>
          <p:nvPr>
            <p:ph type="title"/>
          </p:nvPr>
        </p:nvSpPr>
        <p:spPr>
          <a:xfrm>
            <a:off x="762000" y="290459"/>
            <a:ext cx="8026400" cy="527837"/>
          </a:xfrm>
        </p:spPr>
        <p:txBody>
          <a:bodyPr/>
          <a:lstStyle/>
          <a:p>
            <a:r>
              <a:rPr lang="en-US" sz="4000" dirty="0" err="1"/>
              <a:t>Klinik</a:t>
            </a:r>
            <a:r>
              <a:rPr lang="en-US" sz="4000" dirty="0"/>
              <a:t> </a:t>
            </a:r>
            <a:r>
              <a:rPr lang="en-US" sz="4000" dirty="0" err="1"/>
              <a:t>Karar</a:t>
            </a:r>
            <a:r>
              <a:rPr lang="en-US" sz="4000" dirty="0"/>
              <a:t> </a:t>
            </a:r>
            <a:r>
              <a:rPr lang="en-US" sz="4000" dirty="0" err="1"/>
              <a:t>Desteği</a:t>
            </a:r>
            <a:r>
              <a:rPr lang="en-US" sz="4000" dirty="0"/>
              <a:t> </a:t>
            </a:r>
            <a:r>
              <a:rPr lang="en-US" sz="4000" dirty="0" err="1"/>
              <a:t>ve</a:t>
            </a:r>
            <a:r>
              <a:rPr lang="en-US" sz="4000" dirty="0"/>
              <a:t> CPOE</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72871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1143000"/>
            <a:ext cx="8415338" cy="5944704"/>
          </a:xfrm>
        </p:spPr>
        <p:txBody>
          <a:bodyPr/>
          <a:lstStyle/>
          <a:p>
            <a:r>
              <a:rPr lang="en-US" sz="2800" dirty="0" err="1"/>
              <a:t>Telesağlık</a:t>
            </a:r>
            <a:r>
              <a:rPr lang="en-US" sz="2800" dirty="0"/>
              <a:t>: </a:t>
            </a:r>
            <a:r>
              <a:rPr lang="en-US" sz="2800" dirty="0" err="1"/>
              <a:t>Elektronik</a:t>
            </a:r>
            <a:r>
              <a:rPr lang="en-US" sz="2800" dirty="0"/>
              <a:t> </a:t>
            </a:r>
            <a:r>
              <a:rPr lang="en-US" sz="2800" dirty="0" err="1"/>
              <a:t>bilgi</a:t>
            </a:r>
            <a:r>
              <a:rPr lang="en-US" sz="2800" dirty="0"/>
              <a:t> </a:t>
            </a:r>
            <a:r>
              <a:rPr lang="en-US" sz="2800" dirty="0" err="1"/>
              <a:t>işlem</a:t>
            </a:r>
            <a:r>
              <a:rPr lang="en-US" sz="2800" dirty="0"/>
              <a:t> </a:t>
            </a:r>
            <a:r>
              <a:rPr lang="en-US" sz="2800" dirty="0" err="1"/>
              <a:t>ve</a:t>
            </a:r>
            <a:r>
              <a:rPr lang="en-US" sz="2800" dirty="0"/>
              <a:t> </a:t>
            </a:r>
            <a:r>
              <a:rPr lang="en-US" sz="2800" dirty="0" err="1"/>
              <a:t>telekomünikasyon</a:t>
            </a:r>
            <a:r>
              <a:rPr lang="en-US" sz="2800" dirty="0"/>
              <a:t> </a:t>
            </a:r>
            <a:r>
              <a:rPr lang="en-US" sz="2800" dirty="0" err="1"/>
              <a:t>kullanır</a:t>
            </a:r>
            <a:r>
              <a:rPr lang="en-US" sz="2800" dirty="0"/>
              <a:t>
</a:t>
            </a:r>
            <a:r>
              <a:rPr lang="en-US" sz="2800" dirty="0" err="1"/>
              <a:t>Uzaktan</a:t>
            </a:r>
            <a:r>
              <a:rPr lang="en-US" sz="2800" dirty="0"/>
              <a:t> </a:t>
            </a:r>
            <a:r>
              <a:rPr lang="en-US" sz="2800" dirty="0" err="1"/>
              <a:t>sağlık</a:t>
            </a:r>
            <a:r>
              <a:rPr lang="en-US" sz="2800" dirty="0"/>
              <a:t> </a:t>
            </a:r>
            <a:r>
              <a:rPr lang="en-US" sz="2800" dirty="0" err="1"/>
              <a:t>hizmetlerini</a:t>
            </a:r>
            <a:r>
              <a:rPr lang="en-US" sz="2800" dirty="0"/>
              <a:t> </a:t>
            </a:r>
            <a:r>
              <a:rPr lang="en-US" sz="2800" dirty="0" err="1"/>
              <a:t>destekler</a:t>
            </a:r>
            <a:r>
              <a:rPr lang="en-US" sz="2800" dirty="0"/>
              <a:t>
</a:t>
            </a:r>
            <a:r>
              <a:rPr lang="en-US" sz="2800" dirty="0" err="1"/>
              <a:t>Profesyonel</a:t>
            </a:r>
            <a:r>
              <a:rPr lang="en-US" sz="2800" dirty="0"/>
              <a:t> </a:t>
            </a:r>
            <a:r>
              <a:rPr lang="en-US" sz="2800" dirty="0" err="1"/>
              <a:t>ve</a:t>
            </a:r>
            <a:r>
              <a:rPr lang="en-US" sz="2800" dirty="0"/>
              <a:t> hasta </a:t>
            </a:r>
            <a:r>
              <a:rPr lang="en-US" sz="2800" dirty="0" err="1"/>
              <a:t>sağlığı</a:t>
            </a:r>
            <a:r>
              <a:rPr lang="en-US" sz="2800" dirty="0"/>
              <a:t> </a:t>
            </a:r>
            <a:r>
              <a:rPr lang="en-US" sz="2800" dirty="0" err="1"/>
              <a:t>ile</a:t>
            </a:r>
            <a:r>
              <a:rPr lang="en-US" sz="2800" dirty="0"/>
              <a:t> </a:t>
            </a:r>
            <a:r>
              <a:rPr lang="en-US" sz="2800" dirty="0" err="1"/>
              <a:t>ilgili</a:t>
            </a:r>
            <a:r>
              <a:rPr lang="en-US" sz="2800" dirty="0"/>
              <a:t> </a:t>
            </a:r>
            <a:r>
              <a:rPr lang="en-US" sz="2800" dirty="0" err="1"/>
              <a:t>eğitim</a:t>
            </a:r>
            <a:r>
              <a:rPr lang="en-US" sz="2800" dirty="0"/>
              <a:t> </a:t>
            </a:r>
            <a:r>
              <a:rPr lang="en-US" sz="2800" dirty="0" err="1"/>
              <a:t>sağlar</a:t>
            </a:r>
            <a:r>
              <a:rPr lang="en-US" sz="2800" dirty="0"/>
              <a:t>
</a:t>
            </a:r>
            <a:r>
              <a:rPr lang="en-US" sz="2800" dirty="0" err="1"/>
              <a:t>Sağlık</a:t>
            </a:r>
            <a:r>
              <a:rPr lang="en-US" sz="2800" dirty="0"/>
              <a:t> </a:t>
            </a:r>
            <a:r>
              <a:rPr lang="en-US" sz="2800" dirty="0" err="1"/>
              <a:t>yönetimini</a:t>
            </a:r>
            <a:r>
              <a:rPr lang="en-US" sz="2800" dirty="0"/>
              <a:t> </a:t>
            </a:r>
            <a:r>
              <a:rPr lang="en-US" sz="2800" dirty="0" err="1"/>
              <a:t>destekler</a:t>
            </a:r>
            <a:r>
              <a:rPr lang="en-US" sz="2800" dirty="0"/>
              <a:t>
</a:t>
            </a:r>
            <a:r>
              <a:rPr lang="en-US" sz="2800" dirty="0" err="1"/>
              <a:t>Teletıp</a:t>
            </a:r>
            <a:r>
              <a:rPr lang="en-US" sz="2800" dirty="0"/>
              <a:t>: </a:t>
            </a:r>
            <a:r>
              <a:rPr lang="en-US" sz="2800" dirty="0" err="1"/>
              <a:t>Sağlık</a:t>
            </a:r>
            <a:r>
              <a:rPr lang="en-US" sz="2800" dirty="0"/>
              <a:t> </a:t>
            </a:r>
            <a:r>
              <a:rPr lang="en-US" sz="2800" dirty="0" err="1"/>
              <a:t>hizmeti</a:t>
            </a:r>
            <a:r>
              <a:rPr lang="en-US" sz="2800" dirty="0"/>
              <a:t> </a:t>
            </a:r>
            <a:r>
              <a:rPr lang="en-US" sz="2800" dirty="0" err="1"/>
              <a:t>sağlayıcılarından</a:t>
            </a:r>
            <a:r>
              <a:rPr lang="en-US" sz="2800" dirty="0"/>
              <a:t> </a:t>
            </a:r>
            <a:r>
              <a:rPr lang="en-US" sz="2800" dirty="0" err="1"/>
              <a:t>farklı</a:t>
            </a:r>
            <a:r>
              <a:rPr lang="en-US" sz="2800" dirty="0"/>
              <a:t> </a:t>
            </a:r>
            <a:r>
              <a:rPr lang="en-US" sz="2800" dirty="0" err="1"/>
              <a:t>bir</a:t>
            </a:r>
            <a:r>
              <a:rPr lang="en-US" sz="2800" dirty="0"/>
              <a:t> </a:t>
            </a:r>
            <a:r>
              <a:rPr lang="en-US" sz="2800" dirty="0" err="1"/>
              <a:t>yerdeki</a:t>
            </a:r>
            <a:r>
              <a:rPr lang="en-US" sz="2800" dirty="0"/>
              <a:t> </a:t>
            </a:r>
            <a:r>
              <a:rPr lang="en-US" sz="2800" dirty="0" err="1"/>
              <a:t>insanlara</a:t>
            </a:r>
            <a:r>
              <a:rPr lang="en-US" sz="2800" dirty="0"/>
              <a:t> </a:t>
            </a:r>
            <a:r>
              <a:rPr lang="en-US" sz="2800" dirty="0" err="1"/>
              <a:t>tıbbi</a:t>
            </a:r>
            <a:r>
              <a:rPr lang="en-US" sz="2800" dirty="0"/>
              <a:t> </a:t>
            </a:r>
            <a:r>
              <a:rPr lang="en-US" sz="2800" dirty="0" err="1"/>
              <a:t>bakım</a:t>
            </a:r>
            <a:r>
              <a:rPr lang="en-US" sz="2800" dirty="0"/>
              <a:t> </a:t>
            </a:r>
            <a:r>
              <a:rPr lang="en-US" sz="2800" dirty="0" err="1"/>
              <a:t>sağlamayı</a:t>
            </a:r>
            <a:r>
              <a:rPr lang="en-US" sz="2800" dirty="0"/>
              <a:t> </a:t>
            </a:r>
            <a:r>
              <a:rPr lang="en-US" sz="2800" dirty="0" err="1"/>
              <a:t>içerir</a:t>
            </a:r>
            <a:r>
              <a:rPr lang="en-US" sz="2800" dirty="0"/>
              <a:t>
</a:t>
            </a:r>
            <a:r>
              <a:rPr lang="en-US" sz="2800" dirty="0" err="1"/>
              <a:t>Depola</a:t>
            </a:r>
            <a:r>
              <a:rPr lang="en-US" sz="2800" dirty="0"/>
              <a:t> </a:t>
            </a:r>
            <a:r>
              <a:rPr lang="en-US" sz="2800" dirty="0" err="1"/>
              <a:t>ve</a:t>
            </a:r>
            <a:r>
              <a:rPr lang="en-US" sz="2800" dirty="0"/>
              <a:t> </a:t>
            </a:r>
            <a:r>
              <a:rPr lang="en-US" sz="2800" dirty="0" err="1"/>
              <a:t>ilet</a:t>
            </a:r>
            <a:r>
              <a:rPr lang="en-US" sz="2800" dirty="0"/>
              <a:t> </a:t>
            </a:r>
            <a:r>
              <a:rPr lang="en-US" sz="2800" dirty="0" err="1"/>
              <a:t>teletıp</a:t>
            </a:r>
            <a:r>
              <a:rPr lang="en-US" sz="2800" dirty="0"/>
              <a:t>: Bir </a:t>
            </a:r>
            <a:r>
              <a:rPr lang="en-US" sz="2800" dirty="0" err="1"/>
              <a:t>hastadan</a:t>
            </a:r>
            <a:r>
              <a:rPr lang="en-US" sz="2800" dirty="0"/>
              <a:t> </a:t>
            </a:r>
            <a:r>
              <a:rPr lang="en-US" sz="2800" dirty="0" err="1"/>
              <a:t>veri</a:t>
            </a:r>
            <a:r>
              <a:rPr lang="en-US" sz="2800" dirty="0"/>
              <a:t>, </a:t>
            </a:r>
            <a:r>
              <a:rPr lang="en-US" sz="2800" dirty="0" err="1"/>
              <a:t>görüntü</a:t>
            </a:r>
            <a:r>
              <a:rPr lang="en-US" sz="2800" dirty="0"/>
              <a:t> </a:t>
            </a:r>
            <a:r>
              <a:rPr lang="en-US" sz="2800" dirty="0" err="1"/>
              <a:t>ve</a:t>
            </a:r>
            <a:r>
              <a:rPr lang="en-US" sz="2800" dirty="0"/>
              <a:t> video </a:t>
            </a:r>
            <a:r>
              <a:rPr lang="en-US" sz="2800" dirty="0" err="1"/>
              <a:t>almayı</a:t>
            </a:r>
            <a:r>
              <a:rPr lang="en-US" sz="2800" dirty="0"/>
              <a:t> </a:t>
            </a:r>
            <a:r>
              <a:rPr lang="en-US" sz="2800" dirty="0" err="1"/>
              <a:t>ve</a:t>
            </a:r>
            <a:r>
              <a:rPr lang="en-US" sz="2800" dirty="0"/>
              <a:t> </a:t>
            </a:r>
            <a:r>
              <a:rPr lang="en-US" sz="2800" dirty="0" err="1"/>
              <a:t>daha</a:t>
            </a:r>
            <a:r>
              <a:rPr lang="en-US" sz="2800" dirty="0"/>
              <a:t> </a:t>
            </a:r>
            <a:r>
              <a:rPr lang="en-US" sz="2800" dirty="0" err="1"/>
              <a:t>sonra</a:t>
            </a:r>
            <a:r>
              <a:rPr lang="en-US" sz="2800" dirty="0"/>
              <a:t> </a:t>
            </a:r>
            <a:r>
              <a:rPr lang="en-US" sz="2800" dirty="0" err="1"/>
              <a:t>değerlendirilmek</a:t>
            </a:r>
            <a:r>
              <a:rPr lang="en-US" sz="2800" dirty="0"/>
              <a:t> </a:t>
            </a:r>
            <a:r>
              <a:rPr lang="en-US" sz="2800" dirty="0" err="1"/>
              <a:t>üzere</a:t>
            </a:r>
            <a:r>
              <a:rPr lang="en-US" sz="2800" dirty="0"/>
              <a:t> her </a:t>
            </a:r>
            <a:r>
              <a:rPr lang="en-US" sz="2800" dirty="0" err="1"/>
              <a:t>şeyi</a:t>
            </a:r>
            <a:r>
              <a:rPr lang="en-US" sz="2800" dirty="0"/>
              <a:t> </a:t>
            </a:r>
            <a:r>
              <a:rPr lang="en-US" sz="2800" dirty="0" err="1"/>
              <a:t>bir</a:t>
            </a:r>
            <a:r>
              <a:rPr lang="en-US" sz="2800" dirty="0"/>
              <a:t> </a:t>
            </a:r>
            <a:r>
              <a:rPr lang="en-US" sz="2800" dirty="0" err="1"/>
              <a:t>tıp</a:t>
            </a:r>
            <a:r>
              <a:rPr lang="en-US" sz="2800" dirty="0"/>
              <a:t> </a:t>
            </a:r>
            <a:r>
              <a:rPr lang="en-US" sz="2800" dirty="0" err="1"/>
              <a:t>uzmanına</a:t>
            </a:r>
            <a:r>
              <a:rPr lang="en-US" sz="2800" dirty="0"/>
              <a:t> </a:t>
            </a:r>
            <a:r>
              <a:rPr lang="en-US" sz="2800" dirty="0" err="1"/>
              <a:t>iletmeyi</a:t>
            </a:r>
            <a:r>
              <a:rPr lang="en-US" sz="2800" dirty="0"/>
              <a:t> </a:t>
            </a:r>
            <a:r>
              <a:rPr lang="en-US" sz="2800" dirty="0" err="1"/>
              <a:t>içerir</a:t>
            </a:r>
            <a:r>
              <a:rPr lang="en-US" sz="2800" dirty="0"/>
              <a:t>
</a:t>
            </a:r>
            <a:r>
              <a:rPr lang="en-US" sz="2800" dirty="0" err="1"/>
              <a:t>Hastanın</a:t>
            </a:r>
            <a:r>
              <a:rPr lang="en-US" sz="2800" dirty="0"/>
              <a:t> </a:t>
            </a:r>
            <a:r>
              <a:rPr lang="en-US" sz="2800" dirty="0" err="1"/>
              <a:t>ve</a:t>
            </a:r>
            <a:r>
              <a:rPr lang="en-US" sz="2800" dirty="0"/>
              <a:t> </a:t>
            </a:r>
            <a:r>
              <a:rPr lang="en-US" sz="2800" dirty="0" err="1"/>
              <a:t>bakım</a:t>
            </a:r>
            <a:r>
              <a:rPr lang="en-US" sz="2800" dirty="0"/>
              <a:t> </a:t>
            </a:r>
            <a:r>
              <a:rPr lang="en-US" sz="2800" dirty="0" err="1"/>
              <a:t>sağlayıcısının</a:t>
            </a:r>
            <a:r>
              <a:rPr lang="en-US" sz="2800" dirty="0"/>
              <a:t> </a:t>
            </a:r>
            <a:r>
              <a:rPr lang="en-US" sz="2800" dirty="0" err="1"/>
              <a:t>aynı</a:t>
            </a:r>
            <a:r>
              <a:rPr lang="en-US" sz="2800" dirty="0"/>
              <a:t> </a:t>
            </a:r>
            <a:r>
              <a:rPr lang="en-US" sz="2800" dirty="0" err="1"/>
              <a:t>anda</a:t>
            </a:r>
            <a:r>
              <a:rPr lang="en-US" sz="2800" dirty="0"/>
              <a:t> </a:t>
            </a:r>
            <a:r>
              <a:rPr lang="en-US" sz="2800" dirty="0" err="1"/>
              <a:t>bulunmasını</a:t>
            </a:r>
            <a:r>
              <a:rPr lang="en-US" sz="2800" dirty="0"/>
              <a:t> </a:t>
            </a:r>
            <a:r>
              <a:rPr lang="en-US" sz="2800" dirty="0" err="1"/>
              <a:t>gerektirmez</a:t>
            </a:r>
            <a:r>
              <a:rPr lang="en-US" sz="2800" dirty="0"/>
              <a:t>.</a:t>
            </a:r>
          </a:p>
        </p:txBody>
      </p:sp>
      <p:sp>
        <p:nvSpPr>
          <p:cNvPr id="3" name="Title 2"/>
          <p:cNvSpPr>
            <a:spLocks noGrp="1"/>
          </p:cNvSpPr>
          <p:nvPr>
            <p:ph type="title"/>
          </p:nvPr>
        </p:nvSpPr>
        <p:spPr>
          <a:xfrm>
            <a:off x="762000" y="290459"/>
            <a:ext cx="8026400" cy="527837"/>
          </a:xfrm>
        </p:spPr>
        <p:txBody>
          <a:bodyPr/>
          <a:lstStyle/>
          <a:p>
            <a:r>
              <a:rPr lang="en-US" sz="4000" dirty="0" err="1"/>
              <a:t>Telesağlık</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92227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447800"/>
            <a:ext cx="8415338" cy="4247317"/>
          </a:xfrm>
        </p:spPr>
        <p:txBody>
          <a:bodyPr/>
          <a:lstStyle/>
          <a:p>
            <a:r>
              <a:rPr lang="en-US" sz="2800" dirty="0" err="1"/>
              <a:t>Canlı</a:t>
            </a:r>
            <a:r>
              <a:rPr lang="en-US" sz="2800" dirty="0"/>
              <a:t> </a:t>
            </a:r>
            <a:r>
              <a:rPr lang="en-US" sz="2800" dirty="0" err="1"/>
              <a:t>teletıp</a:t>
            </a:r>
            <a:r>
              <a:rPr lang="en-US" sz="2800" dirty="0"/>
              <a:t>: </a:t>
            </a:r>
            <a:r>
              <a:rPr lang="en-US" sz="2800" dirty="0" err="1"/>
              <a:t>Hastaların</a:t>
            </a:r>
            <a:r>
              <a:rPr lang="en-US" sz="2800" dirty="0"/>
              <a:t> </a:t>
            </a:r>
            <a:r>
              <a:rPr lang="en-US" sz="2800" dirty="0" err="1"/>
              <a:t>ve</a:t>
            </a:r>
            <a:r>
              <a:rPr lang="en-US" sz="2800" dirty="0"/>
              <a:t> </a:t>
            </a:r>
            <a:r>
              <a:rPr lang="en-US" sz="2800" dirty="0" err="1"/>
              <a:t>sağlık</a:t>
            </a:r>
            <a:r>
              <a:rPr lang="en-US" sz="2800" dirty="0"/>
              <a:t> </a:t>
            </a:r>
            <a:r>
              <a:rPr lang="en-US" sz="2800" dirty="0" err="1"/>
              <a:t>hizmeti</a:t>
            </a:r>
            <a:r>
              <a:rPr lang="en-US" sz="2800" dirty="0"/>
              <a:t> </a:t>
            </a:r>
            <a:r>
              <a:rPr lang="en-US" sz="2800" dirty="0" err="1"/>
              <a:t>sağlayıcılarının</a:t>
            </a:r>
            <a:r>
              <a:rPr lang="en-US" sz="2800" dirty="0"/>
              <a:t> </a:t>
            </a:r>
            <a:r>
              <a:rPr lang="en-US" sz="2800" dirty="0" err="1"/>
              <a:t>aynı</a:t>
            </a:r>
            <a:r>
              <a:rPr lang="en-US" sz="2800" dirty="0"/>
              <a:t> </a:t>
            </a:r>
            <a:r>
              <a:rPr lang="en-US" sz="2800" dirty="0" err="1"/>
              <a:t>anda</a:t>
            </a:r>
            <a:r>
              <a:rPr lang="en-US" sz="2800" dirty="0"/>
              <a:t> </a:t>
            </a:r>
            <a:r>
              <a:rPr lang="en-US" sz="2800" dirty="0" err="1"/>
              <a:t>farklı</a:t>
            </a:r>
            <a:r>
              <a:rPr lang="en-US" sz="2800" dirty="0"/>
              <a:t> </a:t>
            </a:r>
            <a:r>
              <a:rPr lang="en-US" sz="2800" dirty="0" err="1"/>
              <a:t>yerlerde</a:t>
            </a:r>
            <a:r>
              <a:rPr lang="en-US" sz="2800" dirty="0"/>
              <a:t> </a:t>
            </a:r>
            <a:r>
              <a:rPr lang="en-US" sz="2800" dirty="0" err="1"/>
              <a:t>bulunmasını</a:t>
            </a:r>
            <a:r>
              <a:rPr lang="en-US" sz="2800" dirty="0"/>
              <a:t> </a:t>
            </a:r>
            <a:r>
              <a:rPr lang="en-US" sz="2800" dirty="0" err="1"/>
              <a:t>gerektirir</a:t>
            </a:r>
            <a:r>
              <a:rPr lang="en-US" sz="2800" dirty="0"/>
              <a:t>; </a:t>
            </a:r>
            <a:r>
              <a:rPr lang="en-US" sz="2800" dirty="0" err="1"/>
              <a:t>genellikle</a:t>
            </a:r>
            <a:r>
              <a:rPr lang="en-US" sz="2800" dirty="0"/>
              <a:t> </a:t>
            </a:r>
            <a:r>
              <a:rPr lang="en-US" sz="2800" dirty="0" err="1"/>
              <a:t>iki</a:t>
            </a:r>
            <a:r>
              <a:rPr lang="en-US" sz="2800" dirty="0"/>
              <a:t> site </a:t>
            </a:r>
            <a:r>
              <a:rPr lang="en-US" sz="2800" dirty="0" err="1"/>
              <a:t>arasında</a:t>
            </a:r>
            <a:r>
              <a:rPr lang="en-US" sz="2800" dirty="0"/>
              <a:t> </a:t>
            </a:r>
            <a:r>
              <a:rPr lang="en-US" sz="2800" dirty="0" err="1"/>
              <a:t>bir</a:t>
            </a:r>
            <a:r>
              <a:rPr lang="en-US" sz="2800" dirty="0"/>
              <a:t> video </a:t>
            </a:r>
            <a:r>
              <a:rPr lang="en-US" sz="2800" dirty="0" err="1"/>
              <a:t>konferans</a:t>
            </a:r>
            <a:r>
              <a:rPr lang="en-US" sz="2800" dirty="0"/>
              <a:t> </a:t>
            </a:r>
            <a:r>
              <a:rPr lang="en-US" sz="2800" dirty="0" err="1"/>
              <a:t>bağlantısı</a:t>
            </a:r>
            <a:r>
              <a:rPr lang="en-US" sz="2800" dirty="0"/>
              <a:t> </a:t>
            </a:r>
            <a:r>
              <a:rPr lang="en-US" sz="2800" dirty="0" err="1"/>
              <a:t>içerir</a:t>
            </a:r>
            <a:r>
              <a:rPr lang="en-US" sz="2800" dirty="0"/>
              <a:t>
</a:t>
            </a:r>
            <a:r>
              <a:rPr lang="en-US" sz="2800" dirty="0" err="1"/>
              <a:t>Uzaktan</a:t>
            </a:r>
            <a:r>
              <a:rPr lang="en-US" sz="2800" dirty="0"/>
              <a:t> </a:t>
            </a:r>
            <a:r>
              <a:rPr lang="en-US" sz="2800" dirty="0" err="1"/>
              <a:t>izleme</a:t>
            </a:r>
            <a:r>
              <a:rPr lang="en-US" sz="2800" dirty="0"/>
              <a:t> (</a:t>
            </a:r>
            <a:r>
              <a:rPr lang="en-US" sz="2800" dirty="0" err="1"/>
              <a:t>evde</a:t>
            </a:r>
            <a:r>
              <a:rPr lang="en-US" sz="2800" dirty="0"/>
              <a:t> </a:t>
            </a:r>
            <a:r>
              <a:rPr lang="en-US" sz="2800" dirty="0" err="1"/>
              <a:t>izleme</a:t>
            </a:r>
            <a:r>
              <a:rPr lang="en-US" sz="2800" dirty="0"/>
              <a:t>): Bir </a:t>
            </a:r>
            <a:r>
              <a:rPr lang="en-US" sz="2800" dirty="0" err="1"/>
              <a:t>bireyin</a:t>
            </a:r>
            <a:r>
              <a:rPr lang="en-US" sz="2800" dirty="0"/>
              <a:t> </a:t>
            </a:r>
            <a:r>
              <a:rPr lang="en-US" sz="2800" dirty="0" err="1"/>
              <a:t>yaşamsal</a:t>
            </a:r>
            <a:r>
              <a:rPr lang="en-US" sz="2800" dirty="0"/>
              <a:t> </a:t>
            </a:r>
            <a:r>
              <a:rPr lang="en-US" sz="2800" dirty="0" err="1"/>
              <a:t>belirtilerinin</a:t>
            </a:r>
            <a:r>
              <a:rPr lang="en-US" sz="2800" dirty="0"/>
              <a:t> (</a:t>
            </a:r>
            <a:r>
              <a:rPr lang="en-US" sz="2800" dirty="0" err="1"/>
              <a:t>sıcaklık</a:t>
            </a:r>
            <a:r>
              <a:rPr lang="en-US" sz="2800" dirty="0"/>
              <a:t>, </a:t>
            </a:r>
            <a:r>
              <a:rPr lang="en-US" sz="2800" dirty="0" err="1"/>
              <a:t>kan</a:t>
            </a:r>
            <a:r>
              <a:rPr lang="en-US" sz="2800" dirty="0"/>
              <a:t> </a:t>
            </a:r>
            <a:r>
              <a:rPr lang="en-US" sz="2800" dirty="0" err="1"/>
              <a:t>basıncı</a:t>
            </a:r>
            <a:r>
              <a:rPr lang="en-US" sz="2800" dirty="0"/>
              <a:t>, </a:t>
            </a:r>
            <a:r>
              <a:rPr lang="en-US" sz="2800" dirty="0" err="1"/>
              <a:t>kalp</a:t>
            </a:r>
            <a:r>
              <a:rPr lang="en-US" sz="2800" dirty="0"/>
              <a:t> </a:t>
            </a:r>
            <a:r>
              <a:rPr lang="en-US" sz="2800" dirty="0" err="1"/>
              <a:t>atış</a:t>
            </a:r>
            <a:r>
              <a:rPr lang="en-US" sz="2800" dirty="0"/>
              <a:t> </a:t>
            </a:r>
            <a:r>
              <a:rPr lang="en-US" sz="2800" dirty="0" err="1"/>
              <a:t>hızı</a:t>
            </a:r>
            <a:r>
              <a:rPr lang="en-US" sz="2800" dirty="0"/>
              <a:t> </a:t>
            </a:r>
            <a:r>
              <a:rPr lang="en-US" sz="2800" dirty="0" err="1"/>
              <a:t>ve</a:t>
            </a:r>
            <a:r>
              <a:rPr lang="en-US" sz="2800" dirty="0"/>
              <a:t> </a:t>
            </a:r>
            <a:r>
              <a:rPr lang="en-US" sz="2800" dirty="0" err="1"/>
              <a:t>solunum</a:t>
            </a:r>
            <a:r>
              <a:rPr lang="en-US" sz="2800" dirty="0"/>
              <a:t> </a:t>
            </a:r>
            <a:r>
              <a:rPr lang="en-US" sz="2800" dirty="0" err="1"/>
              <a:t>hızı</a:t>
            </a:r>
            <a:r>
              <a:rPr lang="en-US" sz="2800" dirty="0"/>
              <a:t>) </a:t>
            </a:r>
            <a:r>
              <a:rPr lang="en-US" sz="2800" dirty="0" err="1"/>
              <a:t>ve</a:t>
            </a:r>
            <a:r>
              <a:rPr lang="en-US" sz="2800" dirty="0"/>
              <a:t> </a:t>
            </a:r>
            <a:r>
              <a:rPr lang="en-US" sz="2800" dirty="0" err="1"/>
              <a:t>diğer</a:t>
            </a:r>
            <a:r>
              <a:rPr lang="en-US" sz="2800" dirty="0"/>
              <a:t> </a:t>
            </a:r>
            <a:r>
              <a:rPr lang="en-US" sz="2800" dirty="0" err="1"/>
              <a:t>sağlık</a:t>
            </a:r>
            <a:r>
              <a:rPr lang="en-US" sz="2800" dirty="0"/>
              <a:t> </a:t>
            </a:r>
            <a:r>
              <a:rPr lang="en-US" sz="2800" dirty="0" err="1"/>
              <a:t>önlemlerinin</a:t>
            </a:r>
            <a:r>
              <a:rPr lang="en-US" sz="2800" dirty="0"/>
              <a:t> (</a:t>
            </a:r>
            <a:r>
              <a:rPr lang="en-US" sz="2800" dirty="0" err="1"/>
              <a:t>örneğin</a:t>
            </a:r>
            <a:r>
              <a:rPr lang="en-US" sz="2800" dirty="0"/>
              <a:t>, </a:t>
            </a:r>
            <a:r>
              <a:rPr lang="en-US" sz="2800" dirty="0" err="1"/>
              <a:t>bir</a:t>
            </a:r>
            <a:r>
              <a:rPr lang="en-US" sz="2800" dirty="0"/>
              <a:t> </a:t>
            </a:r>
            <a:r>
              <a:rPr lang="en-US" sz="2800" dirty="0" err="1"/>
              <a:t>diyabet</a:t>
            </a:r>
            <a:r>
              <a:rPr lang="en-US" sz="2800" dirty="0"/>
              <a:t> </a:t>
            </a:r>
            <a:r>
              <a:rPr lang="en-US" sz="2800" dirty="0" err="1"/>
              <a:t>hastası</a:t>
            </a:r>
            <a:r>
              <a:rPr lang="en-US" sz="2800" dirty="0"/>
              <a:t> için </a:t>
            </a:r>
            <a:r>
              <a:rPr lang="en-US" sz="2800" dirty="0" err="1"/>
              <a:t>glikoz</a:t>
            </a:r>
            <a:r>
              <a:rPr lang="en-US" sz="2800" dirty="0"/>
              <a:t> </a:t>
            </a:r>
            <a:r>
              <a:rPr lang="en-US" sz="2800" dirty="0" err="1"/>
              <a:t>seviyeleri</a:t>
            </a:r>
            <a:r>
              <a:rPr lang="en-US" sz="2800" dirty="0"/>
              <a:t>) </a:t>
            </a:r>
            <a:r>
              <a:rPr lang="en-US" sz="2800" dirty="0" err="1"/>
              <a:t>sürekli</a:t>
            </a:r>
            <a:r>
              <a:rPr lang="en-US" sz="2800" dirty="0"/>
              <a:t> </a:t>
            </a:r>
            <a:r>
              <a:rPr lang="en-US" sz="2800" dirty="0" err="1"/>
              <a:t>olarak</a:t>
            </a:r>
            <a:r>
              <a:rPr lang="en-US" sz="2800" dirty="0"/>
              <a:t> </a:t>
            </a:r>
            <a:r>
              <a:rPr lang="en-US" sz="2800" dirty="0" err="1"/>
              <a:t>ölçülmesini</a:t>
            </a:r>
            <a:r>
              <a:rPr lang="en-US" sz="2800" dirty="0"/>
              <a:t> </a:t>
            </a:r>
            <a:r>
              <a:rPr lang="en-US" sz="2800" dirty="0" err="1"/>
              <a:t>ve</a:t>
            </a:r>
            <a:r>
              <a:rPr lang="en-US" sz="2800" dirty="0"/>
              <a:t> </a:t>
            </a:r>
            <a:r>
              <a:rPr lang="en-US" sz="2800" dirty="0" err="1"/>
              <a:t>bu</a:t>
            </a:r>
            <a:r>
              <a:rPr lang="en-US" sz="2800" dirty="0"/>
              <a:t> </a:t>
            </a:r>
            <a:r>
              <a:rPr lang="en-US" sz="2800" dirty="0" err="1"/>
              <a:t>verilerin</a:t>
            </a:r>
            <a:r>
              <a:rPr lang="en-US" sz="2800" dirty="0"/>
              <a:t> </a:t>
            </a:r>
            <a:r>
              <a:rPr lang="en-US" sz="2800" dirty="0" err="1"/>
              <a:t>bir</a:t>
            </a:r>
            <a:r>
              <a:rPr lang="en-US" sz="2800" dirty="0"/>
              <a:t> </a:t>
            </a:r>
            <a:r>
              <a:rPr lang="en-US" sz="2800" dirty="0" err="1"/>
              <a:t>sağlık</a:t>
            </a:r>
            <a:r>
              <a:rPr lang="en-US" sz="2800" dirty="0"/>
              <a:t> </a:t>
            </a:r>
            <a:r>
              <a:rPr lang="en-US" sz="2800" dirty="0" err="1"/>
              <a:t>hizmeti</a:t>
            </a:r>
            <a:r>
              <a:rPr lang="en-US" sz="2800" dirty="0"/>
              <a:t> </a:t>
            </a:r>
            <a:r>
              <a:rPr lang="en-US" sz="2800" dirty="0" err="1"/>
              <a:t>sağlayıcısına</a:t>
            </a:r>
            <a:r>
              <a:rPr lang="en-US" sz="2800" dirty="0"/>
              <a:t> </a:t>
            </a:r>
            <a:r>
              <a:rPr lang="en-US" sz="2800" dirty="0" err="1"/>
              <a:t>iletilmesini</a:t>
            </a:r>
            <a:r>
              <a:rPr lang="en-US" sz="2800" dirty="0"/>
              <a:t> </a:t>
            </a:r>
            <a:r>
              <a:rPr lang="en-US" sz="2800" dirty="0" err="1"/>
              <a:t>içerir</a:t>
            </a:r>
            <a:endParaRPr lang="en-US" sz="2800" dirty="0"/>
          </a:p>
        </p:txBody>
      </p:sp>
      <p:sp>
        <p:nvSpPr>
          <p:cNvPr id="3" name="Title 2"/>
          <p:cNvSpPr>
            <a:spLocks noGrp="1"/>
          </p:cNvSpPr>
          <p:nvPr>
            <p:ph type="title"/>
          </p:nvPr>
        </p:nvSpPr>
        <p:spPr>
          <a:xfrm>
            <a:off x="762000" y="290459"/>
            <a:ext cx="8026400" cy="527837"/>
          </a:xfrm>
        </p:spPr>
        <p:txBody>
          <a:bodyPr/>
          <a:lstStyle/>
          <a:p>
            <a:r>
              <a:rPr lang="en-US" sz="4000" dirty="0" err="1"/>
              <a:t>Telesağlık</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807136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5373779"/>
          </a:xfrm>
        </p:spPr>
        <p:txBody>
          <a:bodyPr/>
          <a:lstStyle/>
          <a:p>
            <a:r>
              <a:rPr lang="en-US" sz="2800" dirty="0" err="1"/>
              <a:t>Uzak</a:t>
            </a:r>
            <a:r>
              <a:rPr lang="en-US" sz="2800" dirty="0"/>
              <a:t> </a:t>
            </a:r>
            <a:r>
              <a:rPr lang="en-US" sz="2800" dirty="0" err="1"/>
              <a:t>bir</a:t>
            </a:r>
            <a:r>
              <a:rPr lang="en-US" sz="2800" dirty="0"/>
              <a:t> </a:t>
            </a:r>
            <a:r>
              <a:rPr lang="en-US" sz="2800" dirty="0" err="1"/>
              <a:t>yerdeki</a:t>
            </a:r>
            <a:r>
              <a:rPr lang="en-US" sz="2800" dirty="0"/>
              <a:t> </a:t>
            </a:r>
            <a:r>
              <a:rPr lang="en-US" sz="2800" dirty="0" err="1"/>
              <a:t>hastalara</a:t>
            </a:r>
            <a:r>
              <a:rPr lang="en-US" sz="2800" dirty="0"/>
              <a:t> </a:t>
            </a:r>
            <a:r>
              <a:rPr lang="en-US" sz="2800" dirty="0" err="1"/>
              <a:t>tavsiyelerde</a:t>
            </a:r>
            <a:r>
              <a:rPr lang="en-US" sz="2800" dirty="0"/>
              <a:t> </a:t>
            </a:r>
            <a:r>
              <a:rPr lang="en-US" sz="2800" dirty="0" err="1"/>
              <a:t>bulunan</a:t>
            </a:r>
            <a:r>
              <a:rPr lang="en-US" sz="2800" dirty="0"/>
              <a:t> </a:t>
            </a:r>
            <a:r>
              <a:rPr lang="en-US" sz="2800" dirty="0" err="1"/>
              <a:t>doktorlar</a:t>
            </a:r>
            <a:r>
              <a:rPr lang="en-US" sz="2800" dirty="0"/>
              <a:t>, o </a:t>
            </a:r>
            <a:r>
              <a:rPr lang="en-US" sz="2800" dirty="0" err="1"/>
              <a:t>yerde</a:t>
            </a:r>
            <a:r>
              <a:rPr lang="en-US" sz="2800" dirty="0"/>
              <a:t>, </a:t>
            </a:r>
            <a:r>
              <a:rPr lang="en-US" sz="2800" dirty="0" err="1"/>
              <a:t>belki</a:t>
            </a:r>
            <a:r>
              <a:rPr lang="en-US" sz="2800" dirty="0"/>
              <a:t> de </a:t>
            </a:r>
            <a:r>
              <a:rPr lang="en-US" sz="2800" dirty="0" err="1"/>
              <a:t>farklı</a:t>
            </a:r>
            <a:r>
              <a:rPr lang="en-US" sz="2800" dirty="0"/>
              <a:t> </a:t>
            </a:r>
            <a:r>
              <a:rPr lang="en-US" sz="2800" dirty="0" err="1"/>
              <a:t>bir</a:t>
            </a:r>
            <a:r>
              <a:rPr lang="en-US" sz="2800" dirty="0"/>
              <a:t> </a:t>
            </a:r>
            <a:r>
              <a:rPr lang="en-US" sz="2800" dirty="0" err="1"/>
              <a:t>eyalette</a:t>
            </a:r>
            <a:r>
              <a:rPr lang="en-US" sz="2800" dirty="0"/>
              <a:t> </a:t>
            </a:r>
            <a:r>
              <a:rPr lang="en-US" sz="2800" dirty="0" err="1"/>
              <a:t>veya</a:t>
            </a:r>
            <a:r>
              <a:rPr lang="en-US" sz="2800" dirty="0"/>
              <a:t> </a:t>
            </a:r>
            <a:r>
              <a:rPr lang="en-US" sz="2800" dirty="0" err="1"/>
              <a:t>ülkede</a:t>
            </a:r>
            <a:r>
              <a:rPr lang="en-US" sz="2800" dirty="0"/>
              <a:t> </a:t>
            </a:r>
            <a:r>
              <a:rPr lang="en-US" sz="2800" dirty="0" err="1"/>
              <a:t>ilaç</a:t>
            </a:r>
            <a:r>
              <a:rPr lang="en-US" sz="2800" dirty="0"/>
              <a:t> </a:t>
            </a:r>
            <a:r>
              <a:rPr lang="en-US" sz="2800" dirty="0" err="1"/>
              <a:t>uygulama</a:t>
            </a:r>
            <a:r>
              <a:rPr lang="en-US" sz="2800" dirty="0"/>
              <a:t> </a:t>
            </a:r>
            <a:r>
              <a:rPr lang="en-US" sz="2800" dirty="0" err="1"/>
              <a:t>lisansına</a:t>
            </a:r>
            <a:r>
              <a:rPr lang="en-US" sz="2800" dirty="0"/>
              <a:t> </a:t>
            </a:r>
            <a:r>
              <a:rPr lang="en-US" sz="2800" dirty="0" err="1"/>
              <a:t>sahip</a:t>
            </a:r>
            <a:r>
              <a:rPr lang="en-US" sz="2800" dirty="0"/>
              <a:t> </a:t>
            </a:r>
            <a:r>
              <a:rPr lang="en-US" sz="2800" dirty="0" err="1"/>
              <a:t>olmalı</a:t>
            </a:r>
            <a:r>
              <a:rPr lang="en-US" sz="2800" dirty="0"/>
              <a:t> </a:t>
            </a:r>
            <a:r>
              <a:rPr lang="en-US" sz="2800" dirty="0" err="1"/>
              <a:t>mı</a:t>
            </a:r>
            <a:r>
              <a:rPr lang="en-US" sz="2800" dirty="0"/>
              <a:t>?
Bir </a:t>
            </a:r>
            <a:r>
              <a:rPr lang="en-US" sz="2800" dirty="0" err="1"/>
              <a:t>sağlık</a:t>
            </a:r>
            <a:r>
              <a:rPr lang="en-US" sz="2800" dirty="0"/>
              <a:t> </a:t>
            </a:r>
            <a:r>
              <a:rPr lang="en-US" sz="2800" dirty="0" err="1"/>
              <a:t>sisteminin</a:t>
            </a:r>
            <a:r>
              <a:rPr lang="en-US" sz="2800" dirty="0"/>
              <a:t> "</a:t>
            </a:r>
            <a:r>
              <a:rPr lang="en-US" sz="2800" dirty="0" err="1"/>
              <a:t>sanal</a:t>
            </a:r>
            <a:r>
              <a:rPr lang="en-US" sz="2800" dirty="0"/>
              <a:t>" </a:t>
            </a:r>
            <a:r>
              <a:rPr lang="en-US" sz="2800" dirty="0" err="1"/>
              <a:t>bir</a:t>
            </a:r>
            <a:r>
              <a:rPr lang="en-US" sz="2800" dirty="0"/>
              <a:t> </a:t>
            </a:r>
            <a:r>
              <a:rPr lang="en-US" sz="2800" dirty="0" err="1"/>
              <a:t>tesise</a:t>
            </a:r>
            <a:r>
              <a:rPr lang="en-US" sz="2800" dirty="0"/>
              <a:t> </a:t>
            </a:r>
            <a:r>
              <a:rPr lang="en-US" sz="2800" dirty="0" err="1"/>
              <a:t>sahip</a:t>
            </a:r>
            <a:r>
              <a:rPr lang="en-US" sz="2800" dirty="0"/>
              <a:t> </a:t>
            </a:r>
            <a:r>
              <a:rPr lang="en-US" sz="2800" dirty="0" err="1"/>
              <a:t>olduğu</a:t>
            </a:r>
            <a:r>
              <a:rPr lang="en-US" sz="2800" dirty="0"/>
              <a:t> </a:t>
            </a:r>
            <a:r>
              <a:rPr lang="en-US" sz="2800" dirty="0" err="1"/>
              <a:t>bir</a:t>
            </a:r>
            <a:r>
              <a:rPr lang="en-US" sz="2800" dirty="0"/>
              <a:t> </a:t>
            </a:r>
            <a:r>
              <a:rPr lang="en-US" sz="2800" dirty="0" err="1"/>
              <a:t>eyaletten</a:t>
            </a:r>
            <a:r>
              <a:rPr lang="en-US" sz="2800" dirty="0"/>
              <a:t> </a:t>
            </a:r>
            <a:r>
              <a:rPr lang="en-US" sz="2800" dirty="0" err="1"/>
              <a:t>lisans</a:t>
            </a:r>
            <a:r>
              <a:rPr lang="en-US" sz="2800" dirty="0"/>
              <a:t> </a:t>
            </a:r>
            <a:r>
              <a:rPr lang="en-US" sz="2800" dirty="0" err="1"/>
              <a:t>alması</a:t>
            </a:r>
            <a:r>
              <a:rPr lang="en-US" sz="2800" dirty="0"/>
              <a:t> </a:t>
            </a:r>
            <a:r>
              <a:rPr lang="en-US" sz="2800" dirty="0" err="1"/>
              <a:t>gerekir</a:t>
            </a:r>
            <a:r>
              <a:rPr lang="en-US" sz="2800" dirty="0"/>
              <a:t> mi?
</a:t>
            </a:r>
            <a:r>
              <a:rPr lang="en-US" sz="2800" dirty="0" err="1"/>
              <a:t>Devletler</a:t>
            </a:r>
            <a:r>
              <a:rPr lang="en-US" sz="2800" dirty="0"/>
              <a:t>, minimum </a:t>
            </a:r>
            <a:r>
              <a:rPr lang="en-US" sz="2800" dirty="0" err="1"/>
              <a:t>teknolojik</a:t>
            </a:r>
            <a:r>
              <a:rPr lang="en-US" sz="2800" dirty="0"/>
              <a:t> </a:t>
            </a:r>
            <a:r>
              <a:rPr lang="en-US" sz="2800" dirty="0" err="1"/>
              <a:t>standartların</a:t>
            </a:r>
            <a:r>
              <a:rPr lang="en-US" sz="2800" dirty="0"/>
              <a:t> (</a:t>
            </a:r>
            <a:r>
              <a:rPr lang="en-US" sz="2800" dirty="0" err="1"/>
              <a:t>ağ</a:t>
            </a:r>
            <a:r>
              <a:rPr lang="en-US" sz="2800" dirty="0"/>
              <a:t> </a:t>
            </a:r>
            <a:r>
              <a:rPr lang="en-US" sz="2800" dirty="0" err="1"/>
              <a:t>tarafından</a:t>
            </a:r>
            <a:r>
              <a:rPr lang="en-US" sz="2800" dirty="0"/>
              <a:t> </a:t>
            </a:r>
            <a:r>
              <a:rPr lang="en-US" sz="2800" dirty="0" err="1"/>
              <a:t>iletilen</a:t>
            </a:r>
            <a:r>
              <a:rPr lang="en-US" sz="2800" dirty="0"/>
              <a:t> </a:t>
            </a:r>
            <a:r>
              <a:rPr lang="en-US" sz="2800" dirty="0" err="1"/>
              <a:t>görüntülerin</a:t>
            </a:r>
            <a:r>
              <a:rPr lang="en-US" sz="2800" dirty="0"/>
              <a:t> minimum </a:t>
            </a:r>
            <a:r>
              <a:rPr lang="en-US" sz="2800" dirty="0" err="1"/>
              <a:t>çözünürlüğü</a:t>
            </a:r>
            <a:r>
              <a:rPr lang="en-US" sz="2800" dirty="0"/>
              <a:t> </a:t>
            </a:r>
            <a:r>
              <a:rPr lang="en-US" sz="2800" dirty="0" err="1"/>
              <a:t>gibi</a:t>
            </a:r>
            <a:r>
              <a:rPr lang="en-US" sz="2800" dirty="0"/>
              <a:t>) </a:t>
            </a:r>
            <a:r>
              <a:rPr lang="en-US" sz="2800" dirty="0" err="1"/>
              <a:t>karşılandığına</a:t>
            </a:r>
            <a:r>
              <a:rPr lang="en-US" sz="2800" dirty="0"/>
              <a:t> </a:t>
            </a:r>
            <a:r>
              <a:rPr lang="en-US" sz="2800" dirty="0" err="1"/>
              <a:t>dair</a:t>
            </a:r>
            <a:r>
              <a:rPr lang="en-US" sz="2800" dirty="0"/>
              <a:t> </a:t>
            </a:r>
            <a:r>
              <a:rPr lang="en-US" sz="2800" dirty="0" err="1"/>
              <a:t>güvence</a:t>
            </a:r>
            <a:r>
              <a:rPr lang="en-US" sz="2800" dirty="0"/>
              <a:t> </a:t>
            </a:r>
            <a:r>
              <a:rPr lang="en-US" sz="2800" dirty="0" err="1"/>
              <a:t>isteyecek</a:t>
            </a:r>
            <a:r>
              <a:rPr lang="en-US" sz="2800" dirty="0"/>
              <a:t> mi?
</a:t>
            </a:r>
            <a:r>
              <a:rPr lang="en-US" sz="2800" dirty="0" err="1"/>
              <a:t>Kritik</a:t>
            </a:r>
            <a:r>
              <a:rPr lang="en-US" sz="2800" dirty="0"/>
              <a:t> </a:t>
            </a:r>
            <a:r>
              <a:rPr lang="en-US" sz="2800" dirty="0" err="1"/>
              <a:t>bir</a:t>
            </a:r>
            <a:r>
              <a:rPr lang="en-US" sz="2800" dirty="0"/>
              <a:t> </a:t>
            </a:r>
            <a:r>
              <a:rPr lang="en-US" sz="2800" dirty="0" err="1"/>
              <a:t>sistemin</a:t>
            </a:r>
            <a:r>
              <a:rPr lang="en-US" sz="2800" dirty="0"/>
              <a:t> </a:t>
            </a:r>
            <a:r>
              <a:rPr lang="en-US" sz="2800" dirty="0" err="1"/>
              <a:t>kriz</a:t>
            </a:r>
            <a:r>
              <a:rPr lang="en-US" sz="2800" dirty="0"/>
              <a:t> </a:t>
            </a:r>
            <a:r>
              <a:rPr lang="en-US" sz="2800" dirty="0" err="1"/>
              <a:t>durumlarında</a:t>
            </a:r>
            <a:r>
              <a:rPr lang="en-US" sz="2800" dirty="0"/>
              <a:t> </a:t>
            </a:r>
            <a:r>
              <a:rPr lang="en-US" sz="2800" dirty="0" err="1"/>
              <a:t>beklendiği</a:t>
            </a:r>
            <a:r>
              <a:rPr lang="en-US" sz="2800" dirty="0"/>
              <a:t> </a:t>
            </a:r>
            <a:r>
              <a:rPr lang="en-US" sz="2800" dirty="0" err="1"/>
              <a:t>gibi</a:t>
            </a:r>
            <a:r>
              <a:rPr lang="en-US" sz="2800" dirty="0"/>
              <a:t> </a:t>
            </a:r>
            <a:r>
              <a:rPr lang="en-US" sz="2800" dirty="0" err="1"/>
              <a:t>çalışmasını</a:t>
            </a:r>
            <a:r>
              <a:rPr lang="en-US" sz="2800" dirty="0"/>
              <a:t> </a:t>
            </a:r>
            <a:r>
              <a:rPr lang="en-US" sz="2800" dirty="0" err="1"/>
              <a:t>sağlamak</a:t>
            </a:r>
            <a:r>
              <a:rPr lang="en-US" sz="2800" dirty="0"/>
              <a:t> için ne </a:t>
            </a:r>
            <a:r>
              <a:rPr lang="en-US" sz="2800" dirty="0" err="1"/>
              <a:t>tür</a:t>
            </a:r>
            <a:r>
              <a:rPr lang="en-US" sz="2800" dirty="0"/>
              <a:t> </a:t>
            </a:r>
            <a:r>
              <a:rPr lang="en-US" sz="2800" dirty="0" err="1"/>
              <a:t>bir</a:t>
            </a:r>
            <a:r>
              <a:rPr lang="en-US" sz="2800" dirty="0"/>
              <a:t> </a:t>
            </a:r>
            <a:r>
              <a:rPr lang="en-US" sz="2800" dirty="0" err="1"/>
              <a:t>sistem</a:t>
            </a:r>
            <a:r>
              <a:rPr lang="en-US" sz="2800" dirty="0"/>
              <a:t> </a:t>
            </a:r>
            <a:r>
              <a:rPr lang="en-US" sz="2800" dirty="0" err="1"/>
              <a:t>sertifikasyonu</a:t>
            </a:r>
            <a:r>
              <a:rPr lang="en-US" sz="2800" dirty="0"/>
              <a:t> </a:t>
            </a:r>
            <a:r>
              <a:rPr lang="en-US" sz="2800" dirty="0" err="1"/>
              <a:t>gereklidir</a:t>
            </a:r>
            <a:r>
              <a:rPr lang="en-US" sz="2800" dirty="0"/>
              <a:t> </a:t>
            </a:r>
            <a:r>
              <a:rPr lang="en-US" sz="2800" dirty="0" err="1"/>
              <a:t>ve</a:t>
            </a:r>
            <a:r>
              <a:rPr lang="en-US" sz="2800" dirty="0"/>
              <a:t> </a:t>
            </a:r>
            <a:r>
              <a:rPr lang="en-US" sz="2800" dirty="0" err="1"/>
              <a:t>bunun</a:t>
            </a:r>
            <a:r>
              <a:rPr lang="en-US" sz="2800" dirty="0"/>
              <a:t> </a:t>
            </a:r>
            <a:r>
              <a:rPr lang="en-US" sz="2800" dirty="0" err="1"/>
              <a:t>olmaması</a:t>
            </a:r>
            <a:r>
              <a:rPr lang="en-US" sz="2800" dirty="0"/>
              <a:t> </a:t>
            </a:r>
            <a:r>
              <a:rPr lang="en-US" sz="2800" dirty="0" err="1"/>
              <a:t>durumunda</a:t>
            </a:r>
            <a:r>
              <a:rPr lang="en-US" sz="2800" dirty="0"/>
              <a:t> </a:t>
            </a:r>
            <a:r>
              <a:rPr lang="en-US" sz="2800" dirty="0" err="1"/>
              <a:t>sonuçları</a:t>
            </a:r>
            <a:r>
              <a:rPr lang="en-US" sz="2800" dirty="0"/>
              <a:t> </a:t>
            </a:r>
            <a:r>
              <a:rPr lang="en-US" sz="2800" dirty="0" err="1"/>
              <a:t>nelerdir</a:t>
            </a:r>
            <a:r>
              <a:rPr lang="en-US" sz="2800" dirty="0"/>
              <a:t>?</a:t>
            </a:r>
          </a:p>
        </p:txBody>
      </p:sp>
      <p:sp>
        <p:nvSpPr>
          <p:cNvPr id="3" name="Title 2"/>
          <p:cNvSpPr>
            <a:spLocks noGrp="1"/>
          </p:cNvSpPr>
          <p:nvPr>
            <p:ph type="title"/>
          </p:nvPr>
        </p:nvSpPr>
        <p:spPr>
          <a:xfrm>
            <a:off x="762000" y="330051"/>
            <a:ext cx="8026400" cy="448649"/>
          </a:xfrm>
        </p:spPr>
        <p:txBody>
          <a:bodyPr/>
          <a:lstStyle/>
          <a:p>
            <a:r>
              <a:rPr lang="en-US" sz="3400" dirty="0" err="1"/>
              <a:t>Teletıp</a:t>
            </a:r>
            <a:r>
              <a:rPr lang="en-US" sz="3400" dirty="0"/>
              <a:t> </a:t>
            </a:r>
            <a:r>
              <a:rPr lang="en-US" sz="3400" dirty="0" err="1"/>
              <a:t>ile</a:t>
            </a:r>
            <a:r>
              <a:rPr lang="en-US" sz="3400" dirty="0"/>
              <a:t> </a:t>
            </a:r>
            <a:r>
              <a:rPr lang="en-US" sz="3400" dirty="0" err="1"/>
              <a:t>İlgili</a:t>
            </a:r>
            <a:r>
              <a:rPr lang="en-US" sz="3400" dirty="0"/>
              <a:t> </a:t>
            </a:r>
            <a:r>
              <a:rPr lang="en-US" sz="3400" dirty="0" err="1"/>
              <a:t>Yasal</a:t>
            </a:r>
            <a:r>
              <a:rPr lang="en-US" sz="3400" dirty="0"/>
              <a:t> </a:t>
            </a:r>
            <a:r>
              <a:rPr lang="en-US" sz="3400" dirty="0" err="1"/>
              <a:t>ve</a:t>
            </a:r>
            <a:r>
              <a:rPr lang="en-US" sz="3400" dirty="0"/>
              <a:t> </a:t>
            </a:r>
            <a:r>
              <a:rPr lang="en-US" sz="3400" dirty="0" err="1"/>
              <a:t>Etik</a:t>
            </a:r>
            <a:r>
              <a:rPr lang="en-US" sz="3400" dirty="0"/>
              <a:t> </a:t>
            </a:r>
            <a:r>
              <a:rPr lang="en-US" sz="3400" dirty="0" err="1"/>
              <a:t>Sorular</a:t>
            </a:r>
            <a:endParaRPr lang="en-US" sz="34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28942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555093"/>
          </a:xfrm>
        </p:spPr>
        <p:txBody>
          <a:bodyPr/>
          <a:lstStyle/>
          <a:p>
            <a:r>
              <a:rPr lang="en-US" sz="2800" dirty="0"/>
              <a:t>Amerika </a:t>
            </a:r>
            <a:r>
              <a:rPr lang="en-US" sz="2800" dirty="0" err="1"/>
              <a:t>Birleşik</a:t>
            </a:r>
            <a:r>
              <a:rPr lang="en-US" sz="2800" dirty="0"/>
              <a:t> </a:t>
            </a:r>
            <a:r>
              <a:rPr lang="en-US" sz="2800" dirty="0" err="1"/>
              <a:t>Devletleri'nde</a:t>
            </a:r>
            <a:r>
              <a:rPr lang="en-US" sz="2800" dirty="0"/>
              <a:t> BT </a:t>
            </a:r>
            <a:r>
              <a:rPr lang="en-US" sz="2800" dirty="0" err="1"/>
              <a:t>yatırımı</a:t>
            </a:r>
            <a:r>
              <a:rPr lang="en-US" sz="2800" dirty="0"/>
              <a:t> </a:t>
            </a:r>
            <a:r>
              <a:rPr lang="en-US" sz="2800" dirty="0" err="1"/>
              <a:t>ile</a:t>
            </a:r>
            <a:r>
              <a:rPr lang="en-US" sz="2800" dirty="0"/>
              <a:t> </a:t>
            </a:r>
            <a:r>
              <a:rPr lang="en-US" sz="2800" dirty="0" err="1"/>
              <a:t>üretkenlik</a:t>
            </a:r>
            <a:r>
              <a:rPr lang="en-US" sz="2800" dirty="0"/>
              <a:t> </a:t>
            </a:r>
            <a:r>
              <a:rPr lang="en-US" sz="2800" dirty="0" err="1"/>
              <a:t>artışı</a:t>
            </a:r>
            <a:r>
              <a:rPr lang="en-US" sz="2800" dirty="0"/>
              <a:t> </a:t>
            </a:r>
            <a:r>
              <a:rPr lang="en-US" sz="2800" dirty="0" err="1"/>
              <a:t>arasındaki</a:t>
            </a:r>
            <a:r>
              <a:rPr lang="en-US" sz="2800" dirty="0"/>
              <a:t> </a:t>
            </a:r>
            <a:r>
              <a:rPr lang="en-US" sz="2800" dirty="0" err="1"/>
              <a:t>ilişki</a:t>
            </a:r>
            <a:r>
              <a:rPr lang="en-US" sz="2800" dirty="0"/>
              <a:t> </a:t>
            </a:r>
            <a:r>
              <a:rPr lang="en-US" sz="2800" dirty="0" err="1"/>
              <a:t>nedir</a:t>
            </a:r>
            <a:r>
              <a:rPr lang="en-US" sz="2800" dirty="0"/>
              <a:t>?
</a:t>
            </a:r>
            <a:r>
              <a:rPr lang="en-US" sz="2800" dirty="0" err="1"/>
              <a:t>Kişi</a:t>
            </a:r>
            <a:r>
              <a:rPr lang="en-US" sz="2800" dirty="0"/>
              <a:t> </a:t>
            </a:r>
            <a:r>
              <a:rPr lang="en-US" sz="2800" dirty="0" err="1"/>
              <a:t>başına</a:t>
            </a:r>
            <a:r>
              <a:rPr lang="en-US" sz="2800" dirty="0"/>
              <a:t> </a:t>
            </a:r>
            <a:r>
              <a:rPr lang="en-US" sz="2800" dirty="0" err="1"/>
              <a:t>gayri</a:t>
            </a:r>
            <a:r>
              <a:rPr lang="en-US" sz="2800" dirty="0"/>
              <a:t> </a:t>
            </a:r>
            <a:r>
              <a:rPr lang="en-US" sz="2800" dirty="0" err="1"/>
              <a:t>safi</a:t>
            </a:r>
            <a:r>
              <a:rPr lang="en-US" sz="2800" dirty="0"/>
              <a:t> </a:t>
            </a:r>
            <a:r>
              <a:rPr lang="en-US" sz="2800" dirty="0" err="1"/>
              <a:t>yurtiçi</a:t>
            </a:r>
            <a:r>
              <a:rPr lang="en-US" sz="2800" dirty="0"/>
              <a:t> </a:t>
            </a:r>
            <a:r>
              <a:rPr lang="en-US" sz="2800" dirty="0" err="1"/>
              <a:t>hasıla</a:t>
            </a:r>
            <a:r>
              <a:rPr lang="en-US" sz="2800" dirty="0"/>
              <a:t> (GSYİH): Bir </a:t>
            </a:r>
            <a:r>
              <a:rPr lang="en-US" sz="2800" dirty="0" err="1"/>
              <a:t>ülkedeki</a:t>
            </a:r>
            <a:r>
              <a:rPr lang="en-US" sz="2800" dirty="0"/>
              <a:t> </a:t>
            </a:r>
            <a:r>
              <a:rPr lang="en-US" sz="2800" dirty="0" err="1"/>
              <a:t>maddi</a:t>
            </a:r>
            <a:r>
              <a:rPr lang="en-US" sz="2800" dirty="0"/>
              <a:t> </a:t>
            </a:r>
            <a:r>
              <a:rPr lang="en-US" sz="2800" dirty="0" err="1"/>
              <a:t>yaşam</a:t>
            </a:r>
            <a:r>
              <a:rPr lang="en-US" sz="2800" dirty="0"/>
              <a:t> </a:t>
            </a:r>
            <a:r>
              <a:rPr lang="en-US" sz="2800" dirty="0" err="1"/>
              <a:t>standardının</a:t>
            </a:r>
            <a:r>
              <a:rPr lang="en-US" sz="2800" dirty="0"/>
              <a:t> </a:t>
            </a:r>
            <a:r>
              <a:rPr lang="en-US" sz="2800" dirty="0" err="1"/>
              <a:t>en</a:t>
            </a:r>
            <a:r>
              <a:rPr lang="en-US" sz="2800" dirty="0"/>
              <a:t> </a:t>
            </a:r>
            <a:r>
              <a:rPr lang="en-US" sz="2800" dirty="0" err="1"/>
              <a:t>yaygın</a:t>
            </a:r>
            <a:r>
              <a:rPr lang="en-US" sz="2800" dirty="0"/>
              <a:t> </a:t>
            </a:r>
            <a:r>
              <a:rPr lang="en-US" sz="2800" dirty="0" err="1"/>
              <a:t>kullanılan</a:t>
            </a:r>
            <a:r>
              <a:rPr lang="en-US" sz="2800" dirty="0"/>
              <a:t> </a:t>
            </a:r>
            <a:r>
              <a:rPr lang="en-US" sz="2800" dirty="0" err="1"/>
              <a:t>ölçüsü</a:t>
            </a:r>
            <a:r>
              <a:rPr lang="en-US" sz="2800" dirty="0"/>
              <a:t>
</a:t>
            </a:r>
            <a:r>
              <a:rPr lang="en-US" sz="2800" dirty="0" err="1"/>
              <a:t>ABD'de</a:t>
            </a:r>
            <a:r>
              <a:rPr lang="en-US" sz="2800" dirty="0"/>
              <a:t> </a:t>
            </a:r>
            <a:r>
              <a:rPr lang="en-US" sz="2800" dirty="0" err="1"/>
              <a:t>ve</a:t>
            </a:r>
            <a:r>
              <a:rPr lang="en-US" sz="2800" dirty="0"/>
              <a:t> </a:t>
            </a:r>
            <a:r>
              <a:rPr lang="en-US" sz="2800" dirty="0" err="1"/>
              <a:t>çoğu</a:t>
            </a:r>
            <a:r>
              <a:rPr lang="en-US" sz="2800" dirty="0"/>
              <a:t> </a:t>
            </a:r>
            <a:r>
              <a:rPr lang="en-US" sz="2800" dirty="0" err="1"/>
              <a:t>gelişmiş</a:t>
            </a:r>
            <a:r>
              <a:rPr lang="en-US" sz="2800" dirty="0"/>
              <a:t> </a:t>
            </a:r>
            <a:r>
              <a:rPr lang="en-US" sz="2800" dirty="0" err="1"/>
              <a:t>ülkede</a:t>
            </a:r>
            <a:r>
              <a:rPr lang="en-US" sz="2800" dirty="0"/>
              <a:t> </a:t>
            </a:r>
            <a:r>
              <a:rPr lang="en-US" sz="2800" dirty="0" err="1"/>
              <a:t>yaşam</a:t>
            </a:r>
            <a:r>
              <a:rPr lang="en-US" sz="2800" dirty="0"/>
              <a:t> </a:t>
            </a:r>
            <a:r>
              <a:rPr lang="en-US" sz="2800" dirty="0" err="1"/>
              <a:t>standardı</a:t>
            </a:r>
            <a:r>
              <a:rPr lang="en-US" sz="2800" dirty="0"/>
              <a:t>, </a:t>
            </a:r>
            <a:r>
              <a:rPr lang="en-US" sz="2800" dirty="0" err="1"/>
              <a:t>değişim</a:t>
            </a:r>
            <a:r>
              <a:rPr lang="en-US" sz="2800" dirty="0"/>
              <a:t> </a:t>
            </a:r>
            <a:r>
              <a:rPr lang="en-US" sz="2800" dirty="0" err="1"/>
              <a:t>oranı</a:t>
            </a:r>
            <a:r>
              <a:rPr lang="en-US" sz="2800" dirty="0"/>
              <a:t> </a:t>
            </a:r>
            <a:r>
              <a:rPr lang="en-US" sz="2800" dirty="0" err="1"/>
              <a:t>iş</a:t>
            </a:r>
            <a:r>
              <a:rPr lang="en-US" sz="2800" dirty="0"/>
              <a:t> </a:t>
            </a:r>
            <a:r>
              <a:rPr lang="en-US" sz="2800" dirty="0" err="1"/>
              <a:t>döngülerine</a:t>
            </a:r>
            <a:r>
              <a:rPr lang="en-US" sz="2800" dirty="0"/>
              <a:t> </a:t>
            </a:r>
            <a:r>
              <a:rPr lang="en-US" sz="2800" dirty="0" err="1"/>
              <a:t>bağlı</a:t>
            </a:r>
            <a:r>
              <a:rPr lang="en-US" sz="2800" dirty="0"/>
              <a:t> </a:t>
            </a:r>
            <a:r>
              <a:rPr lang="en-US" sz="2800" dirty="0" err="1"/>
              <a:t>olarak</a:t>
            </a:r>
            <a:r>
              <a:rPr lang="en-US" sz="2800" dirty="0"/>
              <a:t> </a:t>
            </a:r>
            <a:r>
              <a:rPr lang="en-US" sz="2800" dirty="0" err="1"/>
              <a:t>değişmekle</a:t>
            </a:r>
            <a:r>
              <a:rPr lang="en-US" sz="2800" dirty="0"/>
              <a:t> </a:t>
            </a:r>
            <a:r>
              <a:rPr lang="en-US" sz="2800" dirty="0" err="1"/>
              <a:t>birlikte</a:t>
            </a:r>
            <a:r>
              <a:rPr lang="en-US" sz="2800" dirty="0"/>
              <a:t> </a:t>
            </a:r>
            <a:r>
              <a:rPr lang="en-US" sz="2800" dirty="0" err="1"/>
              <a:t>iyileşmektedir</a:t>
            </a:r>
            <a:r>
              <a:rPr lang="en-US" sz="2800" dirty="0"/>
              <a:t>
</a:t>
            </a:r>
            <a:r>
              <a:rPr lang="en-US" sz="2800" dirty="0" err="1"/>
              <a:t>Emek</a:t>
            </a:r>
            <a:r>
              <a:rPr lang="en-US" sz="2800" dirty="0"/>
              <a:t> </a:t>
            </a:r>
            <a:r>
              <a:rPr lang="en-US" sz="2800" dirty="0" err="1"/>
              <a:t>verimliliği</a:t>
            </a:r>
            <a:r>
              <a:rPr lang="en-US" sz="2800" dirty="0"/>
              <a:t>: Mal </a:t>
            </a:r>
            <a:r>
              <a:rPr lang="en-US" sz="2800" dirty="0" err="1"/>
              <a:t>ve</a:t>
            </a:r>
            <a:r>
              <a:rPr lang="en-US" sz="2800" dirty="0"/>
              <a:t> </a:t>
            </a:r>
            <a:r>
              <a:rPr lang="en-US" sz="2800" dirty="0" err="1"/>
              <a:t>hizmetlerin</a:t>
            </a:r>
            <a:r>
              <a:rPr lang="en-US" sz="2800" dirty="0"/>
              <a:t> </a:t>
            </a:r>
            <a:r>
              <a:rPr lang="en-US" sz="2800" dirty="0" err="1"/>
              <a:t>miktarını</a:t>
            </a:r>
            <a:r>
              <a:rPr lang="en-US" sz="2800" dirty="0"/>
              <a:t>, </a:t>
            </a:r>
            <a:r>
              <a:rPr lang="en-US" sz="2800" dirty="0" err="1"/>
              <a:t>bu</a:t>
            </a:r>
            <a:r>
              <a:rPr lang="en-US" sz="2800" dirty="0"/>
              <a:t> mal </a:t>
            </a:r>
            <a:r>
              <a:rPr lang="en-US" sz="2800" dirty="0" err="1"/>
              <a:t>ve</a:t>
            </a:r>
            <a:r>
              <a:rPr lang="en-US" sz="2800" dirty="0"/>
              <a:t> </a:t>
            </a:r>
            <a:r>
              <a:rPr lang="en-US" sz="2800" dirty="0" err="1"/>
              <a:t>hizmetleri</a:t>
            </a:r>
            <a:r>
              <a:rPr lang="en-US" sz="2800" dirty="0"/>
              <a:t> </a:t>
            </a:r>
            <a:r>
              <a:rPr lang="en-US" sz="2800" dirty="0" err="1"/>
              <a:t>üretmek</a:t>
            </a:r>
            <a:r>
              <a:rPr lang="en-US" sz="2800" dirty="0"/>
              <a:t> için </a:t>
            </a:r>
            <a:r>
              <a:rPr lang="en-US" sz="2800" dirty="0" err="1"/>
              <a:t>kullanılan</a:t>
            </a:r>
            <a:r>
              <a:rPr lang="en-US" sz="2800" dirty="0"/>
              <a:t> </a:t>
            </a:r>
            <a:r>
              <a:rPr lang="en-US" sz="2800" dirty="0" err="1"/>
              <a:t>çalışma</a:t>
            </a:r>
            <a:r>
              <a:rPr lang="en-US" sz="2800" dirty="0"/>
              <a:t> </a:t>
            </a:r>
            <a:r>
              <a:rPr lang="en-US" sz="2800" dirty="0" err="1"/>
              <a:t>saatlerinin</a:t>
            </a:r>
            <a:r>
              <a:rPr lang="en-US" sz="2800" dirty="0"/>
              <a:t> </a:t>
            </a:r>
            <a:r>
              <a:rPr lang="en-US" sz="2800" dirty="0" err="1"/>
              <a:t>sayısıyla</a:t>
            </a:r>
            <a:r>
              <a:rPr lang="en-US" sz="2800" dirty="0"/>
              <a:t> </a:t>
            </a:r>
            <a:r>
              <a:rPr lang="en-US" sz="2800" dirty="0" err="1"/>
              <a:t>karşılaştıran</a:t>
            </a:r>
            <a:r>
              <a:rPr lang="en-US" sz="2800" dirty="0"/>
              <a:t> </a:t>
            </a:r>
            <a:r>
              <a:rPr lang="en-US" sz="2800" dirty="0" err="1"/>
              <a:t>bir</a:t>
            </a:r>
            <a:r>
              <a:rPr lang="en-US" sz="2800" dirty="0"/>
              <a:t> </a:t>
            </a:r>
            <a:r>
              <a:rPr lang="en-US" sz="2800" dirty="0" err="1"/>
              <a:t>ekonomik</a:t>
            </a:r>
            <a:r>
              <a:rPr lang="en-US" sz="2800" dirty="0"/>
              <a:t> </a:t>
            </a:r>
            <a:r>
              <a:rPr lang="en-US" sz="2800" dirty="0" err="1"/>
              <a:t>performans</a:t>
            </a:r>
            <a:r>
              <a:rPr lang="en-US" sz="2800" dirty="0"/>
              <a:t> </a:t>
            </a:r>
            <a:r>
              <a:rPr lang="en-US" sz="2800" dirty="0" err="1"/>
              <a:t>ölçüsü</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1</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3117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3582519"/>
          </a:xfrm>
        </p:spPr>
        <p:txBody>
          <a:bodyPr/>
          <a:lstStyle/>
          <a:p>
            <a:r>
              <a:rPr lang="en-US" sz="2800" dirty="0"/>
              <a:t>Amerika </a:t>
            </a:r>
            <a:r>
              <a:rPr lang="en-US" sz="2800" dirty="0" err="1"/>
              <a:t>Birleşik</a:t>
            </a:r>
            <a:r>
              <a:rPr lang="en-US" sz="2800" dirty="0"/>
              <a:t> </a:t>
            </a:r>
            <a:r>
              <a:rPr lang="en-US" sz="2800" dirty="0" err="1"/>
              <a:t>Devletleri'nde</a:t>
            </a:r>
            <a:r>
              <a:rPr lang="en-US" sz="2800" dirty="0"/>
              <a:t> BT </a:t>
            </a:r>
            <a:r>
              <a:rPr lang="en-US" sz="2800" dirty="0" err="1"/>
              <a:t>yatırımı</a:t>
            </a:r>
            <a:r>
              <a:rPr lang="en-US" sz="2800" dirty="0"/>
              <a:t> </a:t>
            </a:r>
            <a:r>
              <a:rPr lang="en-US" sz="2800" dirty="0" err="1"/>
              <a:t>ile</a:t>
            </a:r>
            <a:r>
              <a:rPr lang="en-US" sz="2800" dirty="0"/>
              <a:t> </a:t>
            </a:r>
            <a:r>
              <a:rPr lang="en-US" sz="2800" dirty="0" err="1"/>
              <a:t>üretkenlik</a:t>
            </a:r>
            <a:r>
              <a:rPr lang="en-US" sz="2800" dirty="0"/>
              <a:t> </a:t>
            </a:r>
            <a:r>
              <a:rPr lang="en-US" sz="2800" dirty="0" err="1"/>
              <a:t>artışı</a:t>
            </a:r>
            <a:r>
              <a:rPr lang="en-US" sz="2800" dirty="0"/>
              <a:t> </a:t>
            </a:r>
            <a:r>
              <a:rPr lang="en-US" sz="2800" dirty="0" err="1"/>
              <a:t>arasındaki</a:t>
            </a:r>
            <a:r>
              <a:rPr lang="en-US" sz="2800" dirty="0"/>
              <a:t> </a:t>
            </a:r>
            <a:r>
              <a:rPr lang="en-US" sz="2800" dirty="0" err="1"/>
              <a:t>ilişki</a:t>
            </a:r>
            <a:r>
              <a:rPr lang="en-US" sz="2800" dirty="0"/>
              <a:t> </a:t>
            </a:r>
            <a:r>
              <a:rPr lang="en-US" sz="2800" dirty="0" err="1"/>
              <a:t>nedir</a:t>
            </a:r>
            <a:r>
              <a:rPr lang="en-US" sz="2800" dirty="0"/>
              <a:t>?
</a:t>
            </a:r>
            <a:r>
              <a:rPr lang="en-US" sz="2800" dirty="0" err="1"/>
              <a:t>İnovasyon</a:t>
            </a:r>
            <a:r>
              <a:rPr lang="en-US" sz="2800" dirty="0"/>
              <a:t>, </a:t>
            </a:r>
            <a:r>
              <a:rPr lang="en-US" sz="2800" dirty="0" err="1"/>
              <a:t>üretkenlik</a:t>
            </a:r>
            <a:r>
              <a:rPr lang="en-US" sz="2800" dirty="0"/>
              <a:t> </a:t>
            </a:r>
            <a:r>
              <a:rPr lang="en-US" sz="2800" dirty="0" err="1"/>
              <a:t>artışının</a:t>
            </a:r>
            <a:r>
              <a:rPr lang="en-US" sz="2800" dirty="0"/>
              <a:t> </a:t>
            </a:r>
            <a:r>
              <a:rPr lang="en-US" sz="2800" dirty="0" err="1"/>
              <a:t>anahtarıdır</a:t>
            </a:r>
            <a:r>
              <a:rPr lang="en-US" sz="2800" dirty="0"/>
              <a:t> </a:t>
            </a:r>
            <a:r>
              <a:rPr lang="en-US" sz="2800" dirty="0" err="1"/>
              <a:t>ve</a:t>
            </a:r>
            <a:r>
              <a:rPr lang="en-US" sz="2800" dirty="0"/>
              <a:t> BT, </a:t>
            </a:r>
            <a:r>
              <a:rPr lang="en-US" sz="2800" dirty="0" err="1"/>
              <a:t>inovasyonda</a:t>
            </a:r>
            <a:r>
              <a:rPr lang="en-US" sz="2800" dirty="0"/>
              <a:t> </a:t>
            </a:r>
            <a:r>
              <a:rPr lang="en-US" sz="2800" dirty="0" err="1"/>
              <a:t>kritik</a:t>
            </a:r>
            <a:r>
              <a:rPr lang="en-US" sz="2800" dirty="0"/>
              <a:t> </a:t>
            </a:r>
            <a:r>
              <a:rPr lang="en-US" sz="2800" dirty="0" err="1"/>
              <a:t>bir</a:t>
            </a:r>
            <a:r>
              <a:rPr lang="en-US" sz="2800" dirty="0"/>
              <a:t> </a:t>
            </a:r>
            <a:r>
              <a:rPr lang="en-US" sz="2800" dirty="0" err="1"/>
              <a:t>rol</a:t>
            </a:r>
            <a:r>
              <a:rPr lang="en-US" sz="2800" dirty="0"/>
              <a:t> </a:t>
            </a:r>
            <a:r>
              <a:rPr lang="en-US" sz="2800" dirty="0" err="1"/>
              <a:t>oynar</a:t>
            </a:r>
            <a:r>
              <a:rPr lang="en-US" sz="2800" dirty="0"/>
              <a:t>.
Bir BT </a:t>
            </a:r>
            <a:r>
              <a:rPr lang="en-US" sz="2800" dirty="0" err="1"/>
              <a:t>çözümünün</a:t>
            </a:r>
            <a:r>
              <a:rPr lang="en-US" sz="2800" dirty="0"/>
              <a:t> </a:t>
            </a:r>
            <a:r>
              <a:rPr lang="en-US" sz="2800" dirty="0" err="1"/>
              <a:t>uygulanması</a:t>
            </a:r>
            <a:r>
              <a:rPr lang="en-US" sz="2800" dirty="0"/>
              <a:t> </a:t>
            </a:r>
            <a:r>
              <a:rPr lang="en-US" sz="2800" dirty="0" err="1"/>
              <a:t>ile</a:t>
            </a:r>
            <a:r>
              <a:rPr lang="en-US" sz="2800" dirty="0"/>
              <a:t> </a:t>
            </a:r>
            <a:r>
              <a:rPr lang="en-US" sz="2800" dirty="0" err="1"/>
              <a:t>önemli</a:t>
            </a:r>
            <a:r>
              <a:rPr lang="en-US" sz="2800" dirty="0"/>
              <a:t> </a:t>
            </a:r>
            <a:r>
              <a:rPr lang="en-US" sz="2800" dirty="0" err="1"/>
              <a:t>üretkenlik</a:t>
            </a:r>
            <a:r>
              <a:rPr lang="en-US" sz="2800" dirty="0"/>
              <a:t> </a:t>
            </a:r>
            <a:r>
              <a:rPr lang="en-US" sz="2800" dirty="0" err="1"/>
              <a:t>kazanımlarının</a:t>
            </a:r>
            <a:r>
              <a:rPr lang="en-US" sz="2800" dirty="0"/>
              <a:t> </a:t>
            </a:r>
            <a:r>
              <a:rPr lang="en-US" sz="2800" dirty="0" err="1"/>
              <a:t>elde</a:t>
            </a:r>
            <a:r>
              <a:rPr lang="en-US" sz="2800" dirty="0"/>
              <a:t> </a:t>
            </a:r>
            <a:r>
              <a:rPr lang="en-US" sz="2800" dirty="0" err="1"/>
              <a:t>edilmesi</a:t>
            </a:r>
            <a:r>
              <a:rPr lang="en-US" sz="2800" dirty="0"/>
              <a:t> </a:t>
            </a:r>
            <a:r>
              <a:rPr lang="en-US" sz="2800" dirty="0" err="1"/>
              <a:t>arasındaki</a:t>
            </a:r>
            <a:r>
              <a:rPr lang="en-US" sz="2800" dirty="0"/>
              <a:t> </a:t>
            </a:r>
            <a:r>
              <a:rPr lang="en-US" sz="2800" dirty="0" err="1"/>
              <a:t>gecikme</a:t>
            </a:r>
            <a:r>
              <a:rPr lang="en-US" sz="2800" dirty="0"/>
              <a:t> </a:t>
            </a:r>
            <a:r>
              <a:rPr lang="en-US" sz="2800" dirty="0" err="1"/>
              <a:t>nedeniyle</a:t>
            </a:r>
            <a:r>
              <a:rPr lang="en-US" sz="2800" dirty="0"/>
              <a:t> BT </a:t>
            </a:r>
            <a:r>
              <a:rPr lang="en-US" sz="2800" dirty="0" err="1"/>
              <a:t>yatırımlarının</a:t>
            </a:r>
            <a:r>
              <a:rPr lang="en-US" sz="2800" dirty="0"/>
              <a:t> </a:t>
            </a:r>
            <a:r>
              <a:rPr lang="en-US" sz="2800" dirty="0" err="1"/>
              <a:t>çalışan</a:t>
            </a:r>
            <a:r>
              <a:rPr lang="en-US" sz="2800" dirty="0"/>
              <a:t> </a:t>
            </a:r>
            <a:r>
              <a:rPr lang="en-US" sz="2800" dirty="0" err="1"/>
              <a:t>üretkenliği</a:t>
            </a:r>
            <a:r>
              <a:rPr lang="en-US" sz="2800" dirty="0"/>
              <a:t> </a:t>
            </a:r>
            <a:r>
              <a:rPr lang="en-US" sz="2800" dirty="0" err="1"/>
              <a:t>üzerindeki</a:t>
            </a:r>
            <a:r>
              <a:rPr lang="en-US" sz="2800" dirty="0"/>
              <a:t> </a:t>
            </a:r>
            <a:r>
              <a:rPr lang="en-US" sz="2800" dirty="0" err="1"/>
              <a:t>faydalarını</a:t>
            </a:r>
            <a:r>
              <a:rPr lang="en-US" sz="2800" dirty="0"/>
              <a:t> </a:t>
            </a:r>
            <a:r>
              <a:rPr lang="en-US" sz="2800" dirty="0" err="1"/>
              <a:t>ölçmek</a:t>
            </a:r>
            <a:r>
              <a:rPr lang="en-US" sz="2800" dirty="0"/>
              <a:t> </a:t>
            </a:r>
            <a:r>
              <a:rPr lang="en-US" sz="2800" dirty="0" err="1"/>
              <a:t>zordur</a:t>
            </a:r>
            <a:r>
              <a:rPr lang="en-US" sz="2800" dirty="0"/>
              <a:t>.</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2</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90424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143000"/>
            <a:ext cx="8475663" cy="5937010"/>
          </a:xfrm>
        </p:spPr>
        <p:txBody>
          <a:bodyPr/>
          <a:lstStyle/>
          <a:p>
            <a:r>
              <a:rPr lang="en-US" sz="2800" dirty="0" err="1"/>
              <a:t>Yapay</a:t>
            </a:r>
            <a:r>
              <a:rPr lang="en-US" sz="2800" dirty="0"/>
              <a:t> </a:t>
            </a:r>
            <a:r>
              <a:rPr lang="en-US" sz="2800" dirty="0" err="1"/>
              <a:t>zeka</a:t>
            </a:r>
            <a:r>
              <a:rPr lang="en-US" sz="2800" dirty="0"/>
              <a:t>, </a:t>
            </a:r>
            <a:r>
              <a:rPr lang="en-US" sz="2800" dirty="0" err="1"/>
              <a:t>makine</a:t>
            </a:r>
            <a:r>
              <a:rPr lang="en-US" sz="2800" dirty="0"/>
              <a:t> </a:t>
            </a:r>
            <a:r>
              <a:rPr lang="en-US" sz="2800" dirty="0" err="1"/>
              <a:t>öğrenimi</a:t>
            </a:r>
            <a:r>
              <a:rPr lang="en-US" sz="2800" dirty="0"/>
              <a:t>, </a:t>
            </a:r>
            <a:r>
              <a:rPr lang="en-US" sz="2800" dirty="0" err="1"/>
              <a:t>robotik</a:t>
            </a:r>
            <a:r>
              <a:rPr lang="en-US" sz="2800" dirty="0"/>
              <a:t> </a:t>
            </a:r>
            <a:r>
              <a:rPr lang="en-US" sz="2800" dirty="0" err="1"/>
              <a:t>ve</a:t>
            </a:r>
            <a:r>
              <a:rPr lang="en-US" sz="2800" dirty="0"/>
              <a:t> </a:t>
            </a:r>
            <a:r>
              <a:rPr lang="en-US" sz="2800" dirty="0" err="1"/>
              <a:t>doğal</a:t>
            </a:r>
            <a:r>
              <a:rPr lang="en-US" sz="2800" dirty="0"/>
              <a:t> </a:t>
            </a:r>
            <a:r>
              <a:rPr lang="en-US" sz="2800" dirty="0" err="1"/>
              <a:t>dil</a:t>
            </a:r>
            <a:r>
              <a:rPr lang="en-US" sz="2800" dirty="0"/>
              <a:t> </a:t>
            </a:r>
            <a:r>
              <a:rPr lang="en-US" sz="2800" dirty="0" err="1"/>
              <a:t>işleme</a:t>
            </a:r>
            <a:r>
              <a:rPr lang="en-US" sz="2800" dirty="0"/>
              <a:t> </a:t>
            </a:r>
            <a:r>
              <a:rPr lang="en-US" sz="2800" dirty="0" err="1"/>
              <a:t>gelecekteki</a:t>
            </a:r>
            <a:r>
              <a:rPr lang="en-US" sz="2800" dirty="0"/>
              <a:t> </a:t>
            </a:r>
            <a:r>
              <a:rPr lang="en-US" sz="2800" dirty="0" err="1"/>
              <a:t>iş</a:t>
            </a:r>
            <a:r>
              <a:rPr lang="en-US" sz="2800" dirty="0"/>
              <a:t> </a:t>
            </a:r>
            <a:r>
              <a:rPr lang="en-US" sz="2800" dirty="0" err="1"/>
              <a:t>gücünü</a:t>
            </a:r>
            <a:r>
              <a:rPr lang="en-US" sz="2800" dirty="0"/>
              <a:t> </a:t>
            </a:r>
            <a:r>
              <a:rPr lang="en-US" sz="2800" dirty="0" err="1"/>
              <a:t>nasıl</a:t>
            </a:r>
            <a:r>
              <a:rPr lang="en-US" sz="2800" dirty="0"/>
              <a:t> </a:t>
            </a:r>
            <a:r>
              <a:rPr lang="en-US" sz="2800" dirty="0" err="1"/>
              <a:t>etkileyecek</a:t>
            </a:r>
            <a:r>
              <a:rPr lang="en-US" sz="2800" dirty="0"/>
              <a:t>?
</a:t>
            </a:r>
            <a:r>
              <a:rPr lang="en-US" sz="2800" dirty="0" err="1"/>
              <a:t>Yapay</a:t>
            </a:r>
            <a:r>
              <a:rPr lang="en-US" sz="2800" dirty="0"/>
              <a:t> </a:t>
            </a:r>
            <a:r>
              <a:rPr lang="en-US" sz="2800" dirty="0" err="1"/>
              <a:t>zeka</a:t>
            </a:r>
            <a:r>
              <a:rPr lang="en-US" sz="2800" dirty="0"/>
              <a:t> (AI), </a:t>
            </a:r>
            <a:r>
              <a:rPr lang="en-US" sz="2800" dirty="0" err="1"/>
              <a:t>makine</a:t>
            </a:r>
            <a:r>
              <a:rPr lang="en-US" sz="2800" dirty="0"/>
              <a:t> </a:t>
            </a:r>
            <a:r>
              <a:rPr lang="en-US" sz="2800" dirty="0" err="1"/>
              <a:t>öğrenimi</a:t>
            </a:r>
            <a:r>
              <a:rPr lang="en-US" sz="2800" dirty="0"/>
              <a:t>, </a:t>
            </a:r>
            <a:r>
              <a:rPr lang="en-US" sz="2800" dirty="0" err="1"/>
              <a:t>robotik</a:t>
            </a:r>
            <a:r>
              <a:rPr lang="en-US" sz="2800" dirty="0"/>
              <a:t> </a:t>
            </a:r>
            <a:r>
              <a:rPr lang="en-US" sz="2800" dirty="0" err="1"/>
              <a:t>ve</a:t>
            </a:r>
            <a:r>
              <a:rPr lang="en-US" sz="2800" dirty="0"/>
              <a:t> </a:t>
            </a:r>
            <a:r>
              <a:rPr lang="en-US" sz="2800" dirty="0" err="1"/>
              <a:t>doğal</a:t>
            </a:r>
            <a:r>
              <a:rPr lang="en-US" sz="2800" dirty="0"/>
              <a:t> </a:t>
            </a:r>
            <a:r>
              <a:rPr lang="en-US" sz="2800" dirty="0" err="1"/>
              <a:t>dil</a:t>
            </a:r>
            <a:r>
              <a:rPr lang="en-US" sz="2800" dirty="0"/>
              <a:t> </a:t>
            </a:r>
            <a:r>
              <a:rPr lang="en-US" sz="2800" dirty="0" err="1"/>
              <a:t>işlemedeki</a:t>
            </a:r>
            <a:r>
              <a:rPr lang="en-US" sz="2800" dirty="0"/>
              <a:t> </a:t>
            </a:r>
            <a:r>
              <a:rPr lang="en-US" sz="2800" dirty="0" err="1"/>
              <a:t>gelişmeler</a:t>
            </a:r>
            <a:r>
              <a:rPr lang="en-US" sz="2800" dirty="0"/>
              <a:t>, </a:t>
            </a:r>
            <a:r>
              <a:rPr lang="en-US" sz="2800" dirty="0" err="1"/>
              <a:t>işlerin</a:t>
            </a:r>
            <a:r>
              <a:rPr lang="en-US" sz="2800" dirty="0"/>
              <a:t> </a:t>
            </a:r>
            <a:r>
              <a:rPr lang="en-US" sz="2800" dirty="0" err="1"/>
              <a:t>yapılma</a:t>
            </a:r>
            <a:r>
              <a:rPr lang="en-US" sz="2800" dirty="0"/>
              <a:t> </a:t>
            </a:r>
            <a:r>
              <a:rPr lang="en-US" sz="2800" dirty="0" err="1"/>
              <a:t>şeklini</a:t>
            </a:r>
            <a:r>
              <a:rPr lang="en-US" sz="2800" dirty="0"/>
              <a:t> </a:t>
            </a:r>
            <a:r>
              <a:rPr lang="en-US" sz="2800" dirty="0" err="1"/>
              <a:t>temelden</a:t>
            </a:r>
            <a:r>
              <a:rPr lang="en-US" sz="2800" dirty="0"/>
              <a:t> </a:t>
            </a:r>
            <a:r>
              <a:rPr lang="en-US" sz="2800" dirty="0" err="1"/>
              <a:t>değiştiriyor</a:t>
            </a:r>
            <a:r>
              <a:rPr lang="en-US" sz="2800" dirty="0"/>
              <a:t>.
</a:t>
            </a:r>
            <a:r>
              <a:rPr lang="en-US" sz="2800" dirty="0" err="1"/>
              <a:t>Araştırmalar</a:t>
            </a:r>
            <a:r>
              <a:rPr lang="en-US" sz="2800" dirty="0"/>
              <a:t>, </a:t>
            </a:r>
            <a:r>
              <a:rPr lang="en-US" sz="2800" dirty="0" err="1"/>
              <a:t>insan</a:t>
            </a:r>
            <a:r>
              <a:rPr lang="en-US" sz="2800" dirty="0"/>
              <a:t> </a:t>
            </a:r>
            <a:r>
              <a:rPr lang="en-US" sz="2800" dirty="0" err="1"/>
              <a:t>iş</a:t>
            </a:r>
            <a:r>
              <a:rPr lang="en-US" sz="2800" dirty="0"/>
              <a:t> </a:t>
            </a:r>
            <a:r>
              <a:rPr lang="en-US" sz="2800" dirty="0" err="1"/>
              <a:t>faaliyetlerinin</a:t>
            </a:r>
            <a:r>
              <a:rPr lang="en-US" sz="2800" dirty="0"/>
              <a:t> %45'inin </a:t>
            </a:r>
            <a:r>
              <a:rPr lang="en-US" sz="2800" dirty="0" err="1"/>
              <a:t>mevcut</a:t>
            </a:r>
            <a:r>
              <a:rPr lang="en-US" sz="2800" dirty="0"/>
              <a:t> </a:t>
            </a:r>
            <a:r>
              <a:rPr lang="en-US" sz="2800" dirty="0" err="1"/>
              <a:t>teknoloji</a:t>
            </a:r>
            <a:r>
              <a:rPr lang="en-US" sz="2800" dirty="0"/>
              <a:t> </a:t>
            </a:r>
            <a:r>
              <a:rPr lang="en-US" sz="2800" dirty="0" err="1"/>
              <a:t>kullanılarak</a:t>
            </a:r>
            <a:r>
              <a:rPr lang="en-US" sz="2800" dirty="0"/>
              <a:t> </a:t>
            </a:r>
            <a:r>
              <a:rPr lang="en-US" sz="2800" dirty="0" err="1"/>
              <a:t>otomatikleştirilebileceğini</a:t>
            </a:r>
            <a:r>
              <a:rPr lang="en-US" sz="2800" dirty="0"/>
              <a:t> </a:t>
            </a:r>
            <a:r>
              <a:rPr lang="en-US" sz="2800" dirty="0" err="1"/>
              <a:t>gösteriyor</a:t>
            </a:r>
            <a:r>
              <a:rPr lang="en-US" sz="2800" dirty="0"/>
              <a:t>.
</a:t>
            </a:r>
            <a:r>
              <a:rPr lang="en-US" sz="2800" dirty="0" err="1"/>
              <a:t>Yapay</a:t>
            </a:r>
            <a:r>
              <a:rPr lang="en-US" sz="2800" dirty="0"/>
              <a:t> </a:t>
            </a:r>
            <a:r>
              <a:rPr lang="en-US" sz="2800" dirty="0" err="1"/>
              <a:t>zeka</a:t>
            </a:r>
            <a:r>
              <a:rPr lang="en-US" sz="2800" dirty="0"/>
              <a:t> </a:t>
            </a:r>
            <a:r>
              <a:rPr lang="en-US" sz="2800" dirty="0" err="1"/>
              <a:t>sistemleri</a:t>
            </a:r>
            <a:r>
              <a:rPr lang="en-US" sz="2800" dirty="0"/>
              <a:t>: </a:t>
            </a:r>
            <a:r>
              <a:rPr lang="en-US" sz="2800" dirty="0" err="1"/>
              <a:t>Öğrenme</a:t>
            </a:r>
            <a:r>
              <a:rPr lang="en-US" sz="2800" dirty="0"/>
              <a:t>, </a:t>
            </a:r>
            <a:r>
              <a:rPr lang="en-US" sz="2800" dirty="0" err="1"/>
              <a:t>akıl</a:t>
            </a:r>
            <a:r>
              <a:rPr lang="en-US" sz="2800" dirty="0"/>
              <a:t> </a:t>
            </a:r>
            <a:r>
              <a:rPr lang="en-US" sz="2800" dirty="0" err="1"/>
              <a:t>yürütme</a:t>
            </a:r>
            <a:r>
              <a:rPr lang="en-US" sz="2800" dirty="0"/>
              <a:t> </a:t>
            </a:r>
            <a:r>
              <a:rPr lang="en-US" sz="2800" dirty="0" err="1"/>
              <a:t>ve</a:t>
            </a:r>
            <a:r>
              <a:rPr lang="en-US" sz="2800" dirty="0"/>
              <a:t> </a:t>
            </a:r>
            <a:r>
              <a:rPr lang="en-US" sz="2800" dirty="0" err="1"/>
              <a:t>kendi</a:t>
            </a:r>
            <a:r>
              <a:rPr lang="en-US" sz="2800" dirty="0"/>
              <a:t> </a:t>
            </a:r>
            <a:r>
              <a:rPr lang="en-US" sz="2800" dirty="0" err="1"/>
              <a:t>kendini</a:t>
            </a:r>
            <a:r>
              <a:rPr lang="en-US" sz="2800" dirty="0"/>
              <a:t> </a:t>
            </a:r>
            <a:r>
              <a:rPr lang="en-US" sz="2800" dirty="0" err="1"/>
              <a:t>düzeltme</a:t>
            </a:r>
            <a:r>
              <a:rPr lang="en-US" sz="2800" dirty="0"/>
              <a:t> </a:t>
            </a:r>
            <a:r>
              <a:rPr lang="en-US" sz="2800" dirty="0" err="1"/>
              <a:t>dahil</a:t>
            </a:r>
            <a:r>
              <a:rPr lang="en-US" sz="2800" dirty="0"/>
              <a:t> </a:t>
            </a:r>
            <a:r>
              <a:rPr lang="en-US" sz="2800" dirty="0" err="1"/>
              <a:t>olmak</a:t>
            </a:r>
            <a:r>
              <a:rPr lang="en-US" sz="2800" dirty="0"/>
              <a:t> </a:t>
            </a:r>
            <a:r>
              <a:rPr lang="en-US" sz="2800" dirty="0" err="1"/>
              <a:t>üzere</a:t>
            </a:r>
            <a:r>
              <a:rPr lang="en-US" sz="2800" dirty="0"/>
              <a:t> </a:t>
            </a:r>
            <a:r>
              <a:rPr lang="en-US" sz="2800" dirty="0" err="1"/>
              <a:t>insan</a:t>
            </a:r>
            <a:r>
              <a:rPr lang="en-US" sz="2800" dirty="0"/>
              <a:t> </a:t>
            </a:r>
            <a:r>
              <a:rPr lang="en-US" sz="2800" dirty="0" err="1"/>
              <a:t>zekası</a:t>
            </a:r>
            <a:r>
              <a:rPr lang="en-US" sz="2800" dirty="0"/>
              <a:t> </a:t>
            </a:r>
            <a:r>
              <a:rPr lang="en-US" sz="2800" dirty="0" err="1"/>
              <a:t>süreçlerini</a:t>
            </a:r>
            <a:r>
              <a:rPr lang="en-US" sz="2800" dirty="0"/>
              <a:t> </a:t>
            </a:r>
            <a:r>
              <a:rPr lang="en-US" sz="2800" dirty="0" err="1"/>
              <a:t>simüle</a:t>
            </a:r>
            <a:r>
              <a:rPr lang="en-US" sz="2800" dirty="0"/>
              <a:t> </a:t>
            </a:r>
            <a:r>
              <a:rPr lang="en-US" sz="2800" dirty="0" err="1"/>
              <a:t>edin</a:t>
            </a:r>
            <a:r>
              <a:rPr lang="en-US" sz="2800" dirty="0"/>
              <a:t>
</a:t>
            </a:r>
            <a:r>
              <a:rPr lang="en-US" sz="2800" dirty="0" err="1"/>
              <a:t>Makine</a:t>
            </a:r>
            <a:r>
              <a:rPr lang="en-US" sz="2800" dirty="0"/>
              <a:t> </a:t>
            </a:r>
            <a:r>
              <a:rPr lang="en-US" sz="2800" dirty="0" err="1"/>
              <a:t>öğrenimi</a:t>
            </a:r>
            <a:r>
              <a:rPr lang="en-US" sz="2800" dirty="0"/>
              <a:t>: Bir </a:t>
            </a:r>
            <a:r>
              <a:rPr lang="en-US" sz="2800" dirty="0" err="1"/>
              <a:t>görevi</a:t>
            </a:r>
            <a:r>
              <a:rPr lang="en-US" sz="2800" dirty="0"/>
              <a:t> </a:t>
            </a:r>
            <a:r>
              <a:rPr lang="en-US" sz="2800" dirty="0" err="1"/>
              <a:t>öğrenebilen</a:t>
            </a:r>
            <a:r>
              <a:rPr lang="en-US" sz="2800" dirty="0"/>
              <a:t> </a:t>
            </a:r>
            <a:r>
              <a:rPr lang="en-US" sz="2800" dirty="0" err="1"/>
              <a:t>ve</a:t>
            </a:r>
            <a:r>
              <a:rPr lang="en-US" sz="2800" dirty="0"/>
              <a:t> </a:t>
            </a:r>
            <a:r>
              <a:rPr lang="en-US" sz="2800" dirty="0" err="1"/>
              <a:t>deneyimle</a:t>
            </a:r>
            <a:r>
              <a:rPr lang="en-US" sz="2800" dirty="0"/>
              <a:t> </a:t>
            </a:r>
            <a:r>
              <a:rPr lang="en-US" sz="2800" dirty="0" err="1"/>
              <a:t>performansını</a:t>
            </a:r>
            <a:r>
              <a:rPr lang="en-US" sz="2800" dirty="0"/>
              <a:t> </a:t>
            </a:r>
            <a:r>
              <a:rPr lang="en-US" sz="2800" dirty="0" err="1"/>
              <a:t>artırabilen</a:t>
            </a:r>
            <a:r>
              <a:rPr lang="en-US" sz="2800" dirty="0"/>
              <a:t> </a:t>
            </a:r>
            <a:r>
              <a:rPr lang="en-US" sz="2800" dirty="0" err="1"/>
              <a:t>bilgisayar</a:t>
            </a:r>
            <a:r>
              <a:rPr lang="en-US" sz="2800" dirty="0"/>
              <a:t> </a:t>
            </a:r>
            <a:r>
              <a:rPr lang="en-US" sz="2800" dirty="0" err="1"/>
              <a:t>programlarını</a:t>
            </a:r>
            <a:r>
              <a:rPr lang="en-US" sz="2800" dirty="0"/>
              <a:t> </a:t>
            </a:r>
            <a:r>
              <a:rPr lang="en-US" sz="2800" dirty="0" err="1"/>
              <a:t>içerir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3</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43984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04800" y="1295400"/>
            <a:ext cx="8475663" cy="4401205"/>
          </a:xfrm>
        </p:spPr>
        <p:txBody>
          <a:bodyPr/>
          <a:lstStyle/>
          <a:p>
            <a:r>
              <a:rPr lang="en-US" sz="2800" dirty="0" err="1"/>
              <a:t>Yapay</a:t>
            </a:r>
            <a:r>
              <a:rPr lang="en-US" sz="2800" dirty="0"/>
              <a:t> </a:t>
            </a:r>
            <a:r>
              <a:rPr lang="en-US" sz="2800" dirty="0" err="1"/>
              <a:t>zeka</a:t>
            </a:r>
            <a:r>
              <a:rPr lang="en-US" sz="2800" dirty="0"/>
              <a:t>, </a:t>
            </a:r>
            <a:r>
              <a:rPr lang="en-US" sz="2800" dirty="0" err="1"/>
              <a:t>makine</a:t>
            </a:r>
            <a:r>
              <a:rPr lang="en-US" sz="2800" dirty="0"/>
              <a:t> </a:t>
            </a:r>
            <a:r>
              <a:rPr lang="en-US" sz="2800" dirty="0" err="1"/>
              <a:t>öğrenimi</a:t>
            </a:r>
            <a:r>
              <a:rPr lang="en-US" sz="2800" dirty="0"/>
              <a:t>, </a:t>
            </a:r>
            <a:r>
              <a:rPr lang="en-US" sz="2800" dirty="0" err="1"/>
              <a:t>robotik</a:t>
            </a:r>
            <a:r>
              <a:rPr lang="en-US" sz="2800" dirty="0"/>
              <a:t> </a:t>
            </a:r>
            <a:r>
              <a:rPr lang="en-US" sz="2800" dirty="0" err="1"/>
              <a:t>ve</a:t>
            </a:r>
            <a:r>
              <a:rPr lang="en-US" sz="2800" dirty="0"/>
              <a:t> </a:t>
            </a:r>
            <a:r>
              <a:rPr lang="en-US" sz="2800" dirty="0" err="1"/>
              <a:t>doğal</a:t>
            </a:r>
            <a:r>
              <a:rPr lang="en-US" sz="2800" dirty="0"/>
              <a:t> </a:t>
            </a:r>
            <a:r>
              <a:rPr lang="en-US" sz="2800" dirty="0" err="1"/>
              <a:t>dil</a:t>
            </a:r>
            <a:r>
              <a:rPr lang="en-US" sz="2800" dirty="0"/>
              <a:t> </a:t>
            </a:r>
            <a:r>
              <a:rPr lang="en-US" sz="2800" dirty="0" err="1"/>
              <a:t>işleme</a:t>
            </a:r>
            <a:r>
              <a:rPr lang="en-US" sz="2800" dirty="0"/>
              <a:t> </a:t>
            </a:r>
            <a:r>
              <a:rPr lang="en-US" sz="2800" dirty="0" err="1"/>
              <a:t>gelecekteki</a:t>
            </a:r>
            <a:r>
              <a:rPr lang="en-US" sz="2800" dirty="0"/>
              <a:t> </a:t>
            </a:r>
            <a:r>
              <a:rPr lang="en-US" sz="2800" dirty="0" err="1"/>
              <a:t>iş</a:t>
            </a:r>
            <a:r>
              <a:rPr lang="en-US" sz="2800" dirty="0"/>
              <a:t> </a:t>
            </a:r>
            <a:r>
              <a:rPr lang="en-US" sz="2800" dirty="0" err="1"/>
              <a:t>gücünü</a:t>
            </a:r>
            <a:r>
              <a:rPr lang="en-US" sz="2800" dirty="0"/>
              <a:t> </a:t>
            </a:r>
            <a:r>
              <a:rPr lang="en-US" sz="2800" dirty="0" err="1"/>
              <a:t>nasıl</a:t>
            </a:r>
            <a:r>
              <a:rPr lang="en-US" sz="2800" dirty="0"/>
              <a:t> </a:t>
            </a:r>
            <a:r>
              <a:rPr lang="en-US" sz="2800" dirty="0" err="1"/>
              <a:t>etkileyecek</a:t>
            </a:r>
            <a:r>
              <a:rPr lang="en-US" sz="2800" dirty="0"/>
              <a:t>?
</a:t>
            </a:r>
            <a:r>
              <a:rPr lang="en-US" sz="2800" dirty="0" err="1"/>
              <a:t>Robotik</a:t>
            </a:r>
            <a:r>
              <a:rPr lang="en-US" sz="2800" dirty="0"/>
              <a:t>: </a:t>
            </a:r>
            <a:r>
              <a:rPr lang="en-US" sz="2800" dirty="0" err="1"/>
              <a:t>Yüksek</a:t>
            </a:r>
            <a:r>
              <a:rPr lang="en-US" sz="2800" dirty="0"/>
              <a:t> </a:t>
            </a:r>
            <a:r>
              <a:rPr lang="en-US" sz="2800" dirty="0" err="1"/>
              <a:t>derecede</a:t>
            </a:r>
            <a:r>
              <a:rPr lang="en-US" sz="2800" dirty="0"/>
              <a:t> </a:t>
            </a:r>
            <a:r>
              <a:rPr lang="en-US" sz="2800" dirty="0" err="1"/>
              <a:t>hassasiyet</a:t>
            </a:r>
            <a:r>
              <a:rPr lang="en-US" sz="2800" dirty="0"/>
              <a:t> </a:t>
            </a:r>
            <a:r>
              <a:rPr lang="en-US" sz="2800" dirty="0" err="1"/>
              <a:t>gerektiren</a:t>
            </a:r>
            <a:r>
              <a:rPr lang="en-US" sz="2800" dirty="0"/>
              <a:t> </a:t>
            </a:r>
            <a:r>
              <a:rPr lang="en-US" sz="2800" dirty="0" err="1"/>
              <a:t>veya</a:t>
            </a:r>
            <a:r>
              <a:rPr lang="en-US" sz="2800" dirty="0"/>
              <a:t> </a:t>
            </a:r>
            <a:r>
              <a:rPr lang="en-US" sz="2800" dirty="0" err="1"/>
              <a:t>insanlar</a:t>
            </a:r>
            <a:r>
              <a:rPr lang="en-US" sz="2800" dirty="0"/>
              <a:t> için </a:t>
            </a:r>
            <a:r>
              <a:rPr lang="en-US" sz="2800" dirty="0" err="1"/>
              <a:t>sıkıcı</a:t>
            </a:r>
            <a:r>
              <a:rPr lang="en-US" sz="2800" dirty="0"/>
              <a:t> </a:t>
            </a:r>
            <a:r>
              <a:rPr lang="en-US" sz="2800" dirty="0" err="1"/>
              <a:t>veya</a:t>
            </a:r>
            <a:r>
              <a:rPr lang="en-US" sz="2800" dirty="0"/>
              <a:t> </a:t>
            </a:r>
            <a:r>
              <a:rPr lang="en-US" sz="2800" dirty="0" err="1"/>
              <a:t>tehlikeli</a:t>
            </a:r>
            <a:r>
              <a:rPr lang="en-US" sz="2800" dirty="0"/>
              <a:t> </a:t>
            </a:r>
            <a:r>
              <a:rPr lang="en-US" sz="2800" dirty="0" err="1"/>
              <a:t>olan</a:t>
            </a:r>
            <a:r>
              <a:rPr lang="en-US" sz="2800" dirty="0"/>
              <a:t> </a:t>
            </a:r>
            <a:r>
              <a:rPr lang="en-US" sz="2800" dirty="0" err="1"/>
              <a:t>görevleri</a:t>
            </a:r>
            <a:r>
              <a:rPr lang="en-US" sz="2800" dirty="0"/>
              <a:t> </a:t>
            </a:r>
            <a:r>
              <a:rPr lang="en-US" sz="2800" dirty="0" err="1"/>
              <a:t>yerine</a:t>
            </a:r>
            <a:r>
              <a:rPr lang="en-US" sz="2800" dirty="0"/>
              <a:t> </a:t>
            </a:r>
            <a:r>
              <a:rPr lang="en-US" sz="2800" dirty="0" err="1"/>
              <a:t>getirebilen</a:t>
            </a:r>
            <a:r>
              <a:rPr lang="en-US" sz="2800" dirty="0"/>
              <a:t> </a:t>
            </a:r>
            <a:r>
              <a:rPr lang="en-US" sz="2800" dirty="0" err="1"/>
              <a:t>mekanik</a:t>
            </a:r>
            <a:r>
              <a:rPr lang="en-US" sz="2800" dirty="0"/>
              <a:t> </a:t>
            </a:r>
            <a:r>
              <a:rPr lang="en-US" sz="2800" dirty="0" err="1"/>
              <a:t>veya</a:t>
            </a:r>
            <a:r>
              <a:rPr lang="en-US" sz="2800" dirty="0"/>
              <a:t> </a:t>
            </a:r>
            <a:r>
              <a:rPr lang="en-US" sz="2800" dirty="0" err="1"/>
              <a:t>bilgisayar</a:t>
            </a:r>
            <a:r>
              <a:rPr lang="en-US" sz="2800" dirty="0"/>
              <a:t> </a:t>
            </a:r>
            <a:r>
              <a:rPr lang="en-US" sz="2800" dirty="0" err="1"/>
              <a:t>cihazlarının</a:t>
            </a:r>
            <a:r>
              <a:rPr lang="en-US" sz="2800" dirty="0"/>
              <a:t> </a:t>
            </a:r>
            <a:r>
              <a:rPr lang="en-US" sz="2800" dirty="0" err="1"/>
              <a:t>imalatını</a:t>
            </a:r>
            <a:r>
              <a:rPr lang="en-US" sz="2800" dirty="0"/>
              <a:t> </a:t>
            </a:r>
            <a:r>
              <a:rPr lang="en-US" sz="2800" dirty="0" err="1"/>
              <a:t>içeren</a:t>
            </a:r>
            <a:r>
              <a:rPr lang="en-US" sz="2800" dirty="0"/>
              <a:t> </a:t>
            </a:r>
            <a:r>
              <a:rPr lang="en-US" sz="2800" dirty="0" err="1"/>
              <a:t>bir</a:t>
            </a:r>
            <a:r>
              <a:rPr lang="en-US" sz="2800" dirty="0"/>
              <a:t> </a:t>
            </a:r>
            <a:r>
              <a:rPr lang="en-US" sz="2800" dirty="0" err="1"/>
              <a:t>mühendislik</a:t>
            </a:r>
            <a:r>
              <a:rPr lang="en-US" sz="2800" dirty="0"/>
              <a:t> </a:t>
            </a:r>
            <a:r>
              <a:rPr lang="en-US" sz="2800" dirty="0" err="1"/>
              <a:t>dalı</a:t>
            </a:r>
            <a:r>
              <a:rPr lang="en-US" sz="2800" dirty="0"/>
              <a:t>
</a:t>
            </a:r>
            <a:r>
              <a:rPr lang="en-US" sz="2800" dirty="0" err="1"/>
              <a:t>Doğal</a:t>
            </a:r>
            <a:r>
              <a:rPr lang="en-US" sz="2800" dirty="0"/>
              <a:t> </a:t>
            </a:r>
            <a:r>
              <a:rPr lang="en-US" sz="2800" dirty="0" err="1"/>
              <a:t>dil</a:t>
            </a:r>
            <a:r>
              <a:rPr lang="en-US" sz="2800" dirty="0"/>
              <a:t> </a:t>
            </a:r>
            <a:r>
              <a:rPr lang="en-US" sz="2800" dirty="0" err="1"/>
              <a:t>işleme</a:t>
            </a:r>
            <a:r>
              <a:rPr lang="en-US" sz="2800" dirty="0"/>
              <a:t>: </a:t>
            </a:r>
            <a:r>
              <a:rPr lang="en-US" sz="2800" dirty="0" err="1"/>
              <a:t>Bilgisayarların</a:t>
            </a:r>
            <a:r>
              <a:rPr lang="en-US" sz="2800" dirty="0"/>
              <a:t> </a:t>
            </a:r>
            <a:r>
              <a:rPr lang="en-US" sz="2800" dirty="0" err="1"/>
              <a:t>İngilizce</a:t>
            </a:r>
            <a:r>
              <a:rPr lang="en-US" sz="2800" dirty="0"/>
              <a:t> </a:t>
            </a:r>
            <a:r>
              <a:rPr lang="en-US" sz="2800" dirty="0" err="1"/>
              <a:t>gibi</a:t>
            </a:r>
            <a:r>
              <a:rPr lang="en-US" sz="2800" dirty="0"/>
              <a:t> "</a:t>
            </a:r>
            <a:r>
              <a:rPr lang="en-US" sz="2800" dirty="0" err="1"/>
              <a:t>doğal</a:t>
            </a:r>
            <a:r>
              <a:rPr lang="en-US" sz="2800" dirty="0"/>
              <a:t> </a:t>
            </a:r>
            <a:r>
              <a:rPr lang="en-US" sz="2800" dirty="0" err="1"/>
              <a:t>dilleri</a:t>
            </a:r>
            <a:r>
              <a:rPr lang="en-US" sz="2800" dirty="0"/>
              <a:t>" </a:t>
            </a:r>
            <a:r>
              <a:rPr lang="en-US" sz="2800" dirty="0" err="1"/>
              <a:t>anlamasına</a:t>
            </a:r>
            <a:r>
              <a:rPr lang="en-US" sz="2800" dirty="0"/>
              <a:t>, </a:t>
            </a:r>
            <a:r>
              <a:rPr lang="en-US" sz="2800" dirty="0" err="1"/>
              <a:t>analiz</a:t>
            </a:r>
            <a:r>
              <a:rPr lang="en-US" sz="2800" dirty="0"/>
              <a:t> </a:t>
            </a:r>
            <a:r>
              <a:rPr lang="en-US" sz="2800" dirty="0" err="1"/>
              <a:t>etmesine</a:t>
            </a:r>
            <a:r>
              <a:rPr lang="en-US" sz="2800" dirty="0"/>
              <a:t>, </a:t>
            </a:r>
            <a:r>
              <a:rPr lang="en-US" sz="2800" dirty="0" err="1"/>
              <a:t>manipüle</a:t>
            </a:r>
            <a:r>
              <a:rPr lang="en-US" sz="2800" dirty="0"/>
              <a:t> </a:t>
            </a:r>
            <a:r>
              <a:rPr lang="en-US" sz="2800" dirty="0" err="1"/>
              <a:t>etmesine</a:t>
            </a:r>
            <a:r>
              <a:rPr lang="en-US" sz="2800" dirty="0"/>
              <a:t> </a:t>
            </a:r>
            <a:r>
              <a:rPr lang="en-US" sz="2800" dirty="0" err="1"/>
              <a:t>ve</a:t>
            </a:r>
            <a:r>
              <a:rPr lang="en-US" sz="2800" dirty="0"/>
              <a:t>/</a:t>
            </a:r>
            <a:r>
              <a:rPr lang="en-US" sz="2800" dirty="0" err="1"/>
              <a:t>veya</a:t>
            </a:r>
            <a:r>
              <a:rPr lang="en-US" sz="2800" dirty="0"/>
              <a:t> </a:t>
            </a:r>
            <a:r>
              <a:rPr lang="en-US" sz="2800" dirty="0" err="1"/>
              <a:t>oluşturmasına</a:t>
            </a:r>
            <a:r>
              <a:rPr lang="en-US" sz="2800" dirty="0"/>
              <a:t> </a:t>
            </a:r>
            <a:r>
              <a:rPr lang="en-US" sz="2800" dirty="0" err="1"/>
              <a:t>olanak</a:t>
            </a:r>
            <a:r>
              <a:rPr lang="en-US" sz="2800" dirty="0"/>
              <a:t> </a:t>
            </a:r>
            <a:r>
              <a:rPr lang="en-US" sz="2800" dirty="0" err="1"/>
              <a:t>tanıyan</a:t>
            </a:r>
            <a:r>
              <a:rPr lang="en-US" sz="2800" dirty="0"/>
              <a:t> </a:t>
            </a:r>
            <a:r>
              <a:rPr lang="en-US" sz="2800" dirty="0" err="1"/>
              <a:t>teknolojiyi</a:t>
            </a:r>
            <a:r>
              <a:rPr lang="en-US" sz="2800" dirty="0"/>
              <a:t> </a:t>
            </a:r>
            <a:r>
              <a:rPr lang="en-US" sz="2800" dirty="0" err="1"/>
              <a:t>içeren</a:t>
            </a:r>
            <a:r>
              <a:rPr lang="en-US" sz="2800" dirty="0"/>
              <a:t> </a:t>
            </a:r>
            <a:r>
              <a:rPr lang="en-US" sz="2800" dirty="0" err="1"/>
              <a:t>yapay</a:t>
            </a:r>
            <a:r>
              <a:rPr lang="en-US" sz="2800" dirty="0"/>
              <a:t> </a:t>
            </a:r>
            <a:r>
              <a:rPr lang="en-US" sz="2800" dirty="0" err="1"/>
              <a:t>zekanın</a:t>
            </a:r>
            <a:r>
              <a:rPr lang="en-US" sz="2800" dirty="0"/>
              <a:t> </a:t>
            </a:r>
            <a:r>
              <a:rPr lang="en-US" sz="2800" dirty="0" err="1"/>
              <a:t>bir</a:t>
            </a:r>
            <a:r>
              <a:rPr lang="en-US" sz="2800" dirty="0"/>
              <a:t> </a:t>
            </a:r>
            <a:r>
              <a:rPr lang="en-US" sz="2800" dirty="0" err="1"/>
              <a:t>yönü</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4</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607198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447800"/>
            <a:ext cx="8415338" cy="4522777"/>
          </a:xfrm>
        </p:spPr>
        <p:txBody>
          <a:bodyPr/>
          <a:lstStyle/>
          <a:p>
            <a:r>
              <a:rPr lang="en-US" sz="2800" dirty="0"/>
              <a:t>BT </a:t>
            </a:r>
            <a:r>
              <a:rPr lang="en-US" sz="2800" dirty="0" err="1"/>
              <a:t>uygulamasının</a:t>
            </a:r>
            <a:r>
              <a:rPr lang="en-US" sz="2800" dirty="0"/>
              <a:t> </a:t>
            </a:r>
            <a:r>
              <a:rPr lang="en-US" sz="2800" dirty="0" err="1"/>
              <a:t>sağlık</a:t>
            </a:r>
            <a:r>
              <a:rPr lang="en-US" sz="2800" dirty="0"/>
              <a:t> </a:t>
            </a:r>
            <a:r>
              <a:rPr lang="en-US" sz="2800" dirty="0" err="1"/>
              <a:t>hizmetleri</a:t>
            </a:r>
            <a:r>
              <a:rPr lang="en-US" sz="2800" dirty="0"/>
              <a:t> </a:t>
            </a:r>
            <a:r>
              <a:rPr lang="en-US" sz="2800" dirty="0" err="1"/>
              <a:t>üzerinde</a:t>
            </a:r>
            <a:r>
              <a:rPr lang="en-US" sz="2800" dirty="0"/>
              <a:t> </a:t>
            </a:r>
            <a:r>
              <a:rPr lang="en-US" sz="2800" dirty="0" err="1"/>
              <a:t>nasıl</a:t>
            </a:r>
            <a:r>
              <a:rPr lang="en-US" sz="2800" dirty="0"/>
              <a:t> </a:t>
            </a:r>
            <a:r>
              <a:rPr lang="en-US" sz="2800" dirty="0" err="1"/>
              <a:t>bir</a:t>
            </a:r>
            <a:r>
              <a:rPr lang="en-US" sz="2800" dirty="0"/>
              <a:t> </a:t>
            </a:r>
            <a:r>
              <a:rPr lang="en-US" sz="2800" dirty="0" err="1"/>
              <a:t>etkisi</a:t>
            </a:r>
            <a:r>
              <a:rPr lang="en-US" sz="2800" dirty="0"/>
              <a:t> </a:t>
            </a:r>
            <a:r>
              <a:rPr lang="en-US" sz="2800" dirty="0" err="1"/>
              <a:t>oldu</a:t>
            </a:r>
            <a:r>
              <a:rPr lang="en-US" sz="2800" dirty="0"/>
              <a:t>?
</a:t>
            </a:r>
            <a:r>
              <a:rPr lang="en-US" sz="2800" dirty="0" err="1"/>
              <a:t>ABD'de</a:t>
            </a:r>
            <a:r>
              <a:rPr lang="en-US" sz="2800" dirty="0"/>
              <a:t> </a:t>
            </a:r>
            <a:r>
              <a:rPr lang="en-US" sz="2800" dirty="0" err="1"/>
              <a:t>sağlık</a:t>
            </a:r>
            <a:r>
              <a:rPr lang="en-US" sz="2800" dirty="0"/>
              <a:t> </a:t>
            </a:r>
            <a:r>
              <a:rPr lang="en-US" sz="2800" dirty="0" err="1"/>
              <a:t>maliyetlerinin</a:t>
            </a:r>
            <a:r>
              <a:rPr lang="en-US" sz="2800" dirty="0"/>
              <a:t> 2016'dan 2025'e </a:t>
            </a:r>
            <a:r>
              <a:rPr lang="en-US" sz="2800" dirty="0" err="1"/>
              <a:t>kadar</a:t>
            </a:r>
            <a:r>
              <a:rPr lang="en-US" sz="2800" dirty="0"/>
              <a:t> </a:t>
            </a:r>
            <a:r>
              <a:rPr lang="en-US" sz="2800" dirty="0" err="1"/>
              <a:t>yılda</a:t>
            </a:r>
            <a:r>
              <a:rPr lang="en-US" sz="2800" dirty="0"/>
              <a:t> </a:t>
            </a:r>
            <a:r>
              <a:rPr lang="en-US" sz="2800" dirty="0" err="1"/>
              <a:t>ortalama</a:t>
            </a:r>
            <a:r>
              <a:rPr lang="en-US" sz="2800" dirty="0"/>
              <a:t> %5,6 </a:t>
            </a:r>
            <a:r>
              <a:rPr lang="en-US" sz="2800" dirty="0" err="1"/>
              <a:t>artması</a:t>
            </a:r>
            <a:r>
              <a:rPr lang="en-US" sz="2800" dirty="0"/>
              <a:t> </a:t>
            </a:r>
            <a:r>
              <a:rPr lang="en-US" sz="2800" dirty="0" err="1"/>
              <a:t>bekleniyor</a:t>
            </a:r>
            <a:r>
              <a:rPr lang="en-US" sz="2800" dirty="0"/>
              <a:t>.
</a:t>
            </a:r>
            <a:r>
              <a:rPr lang="en-US" sz="2800" dirty="0" err="1"/>
              <a:t>Nedeniyle</a:t>
            </a:r>
            <a:r>
              <a:rPr lang="en-US" sz="2800" dirty="0"/>
              <a:t>: </a:t>
            </a:r>
            <a:r>
              <a:rPr lang="en-US" sz="2800" dirty="0" err="1"/>
              <a:t>Nüfusun</a:t>
            </a:r>
            <a:r>
              <a:rPr lang="en-US" sz="2800" dirty="0"/>
              <a:t> </a:t>
            </a:r>
            <a:r>
              <a:rPr lang="en-US" sz="2800" dirty="0" err="1"/>
              <a:t>yaşlanmaya</a:t>
            </a:r>
            <a:r>
              <a:rPr lang="en-US" sz="2800" dirty="0"/>
              <a:t> </a:t>
            </a:r>
            <a:r>
              <a:rPr lang="en-US" sz="2800" dirty="0" err="1"/>
              <a:t>devam</a:t>
            </a:r>
            <a:r>
              <a:rPr lang="en-US" sz="2800" dirty="0"/>
              <a:t> </a:t>
            </a:r>
            <a:r>
              <a:rPr lang="en-US" sz="2800" dirty="0" err="1"/>
              <a:t>etmesi</a:t>
            </a:r>
            <a:r>
              <a:rPr lang="en-US" sz="2800" dirty="0"/>
              <a:t>, </a:t>
            </a:r>
            <a:r>
              <a:rPr lang="en-US" sz="2800" dirty="0" err="1"/>
              <a:t>hükümet</a:t>
            </a:r>
            <a:r>
              <a:rPr lang="en-US" sz="2800" dirty="0"/>
              <a:t> </a:t>
            </a:r>
            <a:r>
              <a:rPr lang="en-US" sz="2800" dirty="0" err="1"/>
              <a:t>politikası</a:t>
            </a:r>
            <a:r>
              <a:rPr lang="en-US" sz="2800" dirty="0"/>
              <a:t>, </a:t>
            </a:r>
            <a:r>
              <a:rPr lang="en-US" sz="2800" dirty="0" err="1"/>
              <a:t>yaşam</a:t>
            </a:r>
            <a:r>
              <a:rPr lang="en-US" sz="2800" dirty="0"/>
              <a:t> </a:t>
            </a:r>
            <a:r>
              <a:rPr lang="en-US" sz="2800" dirty="0" err="1"/>
              <a:t>tarzı</a:t>
            </a:r>
            <a:r>
              <a:rPr lang="en-US" sz="2800" dirty="0"/>
              <a:t> </a:t>
            </a:r>
            <a:r>
              <a:rPr lang="en-US" sz="2800" dirty="0" err="1"/>
              <a:t>değişiklikleri</a:t>
            </a:r>
            <a:r>
              <a:rPr lang="en-US" sz="2800" dirty="0"/>
              <a:t> </a:t>
            </a:r>
            <a:r>
              <a:rPr lang="en-US" sz="2800" dirty="0" err="1"/>
              <a:t>ve</a:t>
            </a:r>
            <a:r>
              <a:rPr lang="en-US" sz="2800" dirty="0"/>
              <a:t> </a:t>
            </a:r>
            <a:r>
              <a:rPr lang="en-US" sz="2800" dirty="0" err="1"/>
              <a:t>daha</a:t>
            </a:r>
            <a:r>
              <a:rPr lang="en-US" sz="2800" dirty="0"/>
              <a:t> </a:t>
            </a:r>
            <a:r>
              <a:rPr lang="en-US" sz="2800" dirty="0" err="1"/>
              <a:t>az</a:t>
            </a:r>
            <a:r>
              <a:rPr lang="en-US" sz="2800" dirty="0"/>
              <a:t> </a:t>
            </a:r>
            <a:r>
              <a:rPr lang="en-US" sz="2800" dirty="0" err="1"/>
              <a:t>ölçüde</a:t>
            </a:r>
            <a:r>
              <a:rPr lang="en-US" sz="2800" dirty="0"/>
              <a:t> yeni </a:t>
            </a:r>
            <a:r>
              <a:rPr lang="en-US" sz="2800" dirty="0" err="1"/>
              <a:t>tıbbi</a:t>
            </a:r>
            <a:r>
              <a:rPr lang="en-US" sz="2800" dirty="0"/>
              <a:t> </a:t>
            </a:r>
            <a:r>
              <a:rPr lang="en-US" sz="2800" dirty="0" err="1"/>
              <a:t>teknolojinin</a:t>
            </a:r>
            <a:r>
              <a:rPr lang="en-US" sz="2800" dirty="0"/>
              <a:t> </a:t>
            </a:r>
            <a:r>
              <a:rPr lang="en-US" sz="2800" dirty="0" err="1"/>
              <a:t>geliştirilmesi</a:t>
            </a:r>
            <a:r>
              <a:rPr lang="en-US" sz="2800" dirty="0"/>
              <a:t> </a:t>
            </a:r>
            <a:r>
              <a:rPr lang="en-US" sz="2800" dirty="0" err="1"/>
              <a:t>ve</a:t>
            </a:r>
            <a:r>
              <a:rPr lang="en-US" sz="2800" dirty="0"/>
              <a:t> </a:t>
            </a:r>
            <a:r>
              <a:rPr lang="en-US" sz="2800" dirty="0" err="1"/>
              <a:t>kullanılması</a:t>
            </a:r>
            <a:r>
              <a:rPr lang="en-US" sz="2800" dirty="0"/>
              <a:t>
</a:t>
            </a:r>
            <a:r>
              <a:rPr lang="en-US" sz="2800" dirty="0" err="1"/>
              <a:t>Sağlık</a:t>
            </a:r>
            <a:r>
              <a:rPr lang="en-US" sz="2800" dirty="0"/>
              <a:t> </a:t>
            </a:r>
            <a:r>
              <a:rPr lang="en-US" sz="2800" dirty="0" err="1"/>
              <a:t>harcamalarını</a:t>
            </a:r>
            <a:r>
              <a:rPr lang="en-US" sz="2800" dirty="0"/>
              <a:t> </a:t>
            </a:r>
            <a:r>
              <a:rPr lang="en-US" sz="2800" dirty="0" err="1"/>
              <a:t>dizginlemek</a:t>
            </a:r>
            <a:r>
              <a:rPr lang="en-US" sz="2800" dirty="0"/>
              <a:t>, hasta </a:t>
            </a:r>
            <a:r>
              <a:rPr lang="en-US" sz="2800" dirty="0" err="1"/>
              <a:t>bilincini</a:t>
            </a:r>
            <a:r>
              <a:rPr lang="en-US" sz="2800" dirty="0"/>
              <a:t> </a:t>
            </a:r>
            <a:r>
              <a:rPr lang="en-US" sz="2800" dirty="0" err="1"/>
              <a:t>artırmayı</a:t>
            </a:r>
            <a:r>
              <a:rPr lang="en-US" sz="2800" dirty="0"/>
              <a:t> </a:t>
            </a:r>
            <a:r>
              <a:rPr lang="en-US" sz="2800" dirty="0" err="1"/>
              <a:t>ve</a:t>
            </a:r>
            <a:r>
              <a:rPr lang="en-US" sz="2800" dirty="0"/>
              <a:t> </a:t>
            </a:r>
            <a:r>
              <a:rPr lang="en-US" sz="2800" dirty="0" err="1"/>
              <a:t>teknoloji</a:t>
            </a:r>
            <a:r>
              <a:rPr lang="en-US" sz="2800" dirty="0"/>
              <a:t> </a:t>
            </a:r>
            <a:r>
              <a:rPr lang="en-US" sz="2800" dirty="0" err="1"/>
              <a:t>maliyetlerini</a:t>
            </a:r>
            <a:r>
              <a:rPr lang="en-US" sz="2800" dirty="0"/>
              <a:t> </a:t>
            </a:r>
            <a:r>
              <a:rPr lang="en-US" sz="2800" dirty="0" err="1"/>
              <a:t>daha</a:t>
            </a:r>
            <a:r>
              <a:rPr lang="en-US" sz="2800" dirty="0"/>
              <a:t> </a:t>
            </a:r>
            <a:r>
              <a:rPr lang="en-US" sz="2800" dirty="0" err="1"/>
              <a:t>dikkatli</a:t>
            </a:r>
            <a:r>
              <a:rPr lang="en-US" sz="2800" dirty="0"/>
              <a:t> </a:t>
            </a:r>
            <a:r>
              <a:rPr lang="en-US" sz="2800" dirty="0" err="1"/>
              <a:t>yönetmeyi</a:t>
            </a:r>
            <a:r>
              <a:rPr lang="en-US" sz="2800" dirty="0"/>
              <a:t> </a:t>
            </a:r>
            <a:r>
              <a:rPr lang="en-US" sz="2800" dirty="0" err="1"/>
              <a:t>gerektirir</a:t>
            </a:r>
            <a:r>
              <a:rPr lang="en-US" sz="2800" dirty="0"/>
              <a:t>.</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5</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36338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217" y="1219200"/>
            <a:ext cx="8415338" cy="5746958"/>
          </a:xfrm>
        </p:spPr>
        <p:txBody>
          <a:bodyPr/>
          <a:lstStyle/>
          <a:p>
            <a:r>
              <a:rPr lang="en-US" sz="2700" dirty="0"/>
              <a:t>BT </a:t>
            </a:r>
            <a:r>
              <a:rPr lang="en-US" sz="2700" dirty="0" err="1"/>
              <a:t>uygulamasının</a:t>
            </a:r>
            <a:r>
              <a:rPr lang="en-US" sz="2700" dirty="0"/>
              <a:t> </a:t>
            </a:r>
            <a:r>
              <a:rPr lang="en-US" sz="2700" dirty="0" err="1"/>
              <a:t>sağlık</a:t>
            </a:r>
            <a:r>
              <a:rPr lang="en-US" sz="2700" dirty="0"/>
              <a:t> </a:t>
            </a:r>
            <a:r>
              <a:rPr lang="en-US" sz="2700" dirty="0" err="1"/>
              <a:t>hizmetleri</a:t>
            </a:r>
            <a:r>
              <a:rPr lang="en-US" sz="2700" dirty="0"/>
              <a:t> </a:t>
            </a:r>
            <a:r>
              <a:rPr lang="en-US" sz="2700" dirty="0" err="1"/>
              <a:t>üzerinde</a:t>
            </a:r>
            <a:r>
              <a:rPr lang="en-US" sz="2700" dirty="0"/>
              <a:t> </a:t>
            </a:r>
            <a:r>
              <a:rPr lang="en-US" sz="2700" dirty="0" err="1"/>
              <a:t>nasıl</a:t>
            </a:r>
            <a:r>
              <a:rPr lang="en-US" sz="2700" dirty="0"/>
              <a:t> </a:t>
            </a:r>
            <a:r>
              <a:rPr lang="en-US" sz="2700" dirty="0" err="1"/>
              <a:t>bir</a:t>
            </a:r>
            <a:r>
              <a:rPr lang="en-US" sz="2700" dirty="0"/>
              <a:t> </a:t>
            </a:r>
            <a:r>
              <a:rPr lang="en-US" sz="2700" dirty="0" err="1"/>
              <a:t>etkisi</a:t>
            </a:r>
            <a:r>
              <a:rPr lang="en-US" sz="2700" dirty="0"/>
              <a:t> </a:t>
            </a:r>
            <a:r>
              <a:rPr lang="en-US" sz="2700" dirty="0" err="1"/>
              <a:t>oldu</a:t>
            </a:r>
            <a:r>
              <a:rPr lang="en-US" sz="2700" dirty="0"/>
              <a:t>?
</a:t>
            </a:r>
            <a:r>
              <a:rPr lang="en-US" sz="2700" dirty="0" err="1"/>
              <a:t>Elektronik</a:t>
            </a:r>
            <a:r>
              <a:rPr lang="en-US" sz="2700" dirty="0"/>
              <a:t> </a:t>
            </a:r>
            <a:r>
              <a:rPr lang="en-US" sz="2700" dirty="0" err="1"/>
              <a:t>tıbbi</a:t>
            </a:r>
            <a:r>
              <a:rPr lang="en-US" sz="2700" dirty="0"/>
              <a:t> </a:t>
            </a:r>
            <a:r>
              <a:rPr lang="en-US" sz="2700" dirty="0" err="1"/>
              <a:t>kayıt</a:t>
            </a:r>
            <a:r>
              <a:rPr lang="en-US" sz="2700" dirty="0"/>
              <a:t> (EMR): Bir </a:t>
            </a:r>
            <a:r>
              <a:rPr lang="en-US" sz="2700" dirty="0" err="1"/>
              <a:t>birey</a:t>
            </a:r>
            <a:r>
              <a:rPr lang="en-US" sz="2700" dirty="0"/>
              <a:t> </a:t>
            </a:r>
            <a:r>
              <a:rPr lang="en-US" sz="2700" dirty="0" err="1"/>
              <a:t>hakkında</a:t>
            </a:r>
            <a:r>
              <a:rPr lang="en-US" sz="2700" dirty="0"/>
              <a:t> </a:t>
            </a:r>
            <a:r>
              <a:rPr lang="en-US" sz="2700" dirty="0" err="1"/>
              <a:t>sağlıkla</a:t>
            </a:r>
            <a:r>
              <a:rPr lang="en-US" sz="2700" dirty="0"/>
              <a:t> </a:t>
            </a:r>
            <a:r>
              <a:rPr lang="en-US" sz="2700" dirty="0" err="1"/>
              <a:t>ilgili</a:t>
            </a:r>
            <a:r>
              <a:rPr lang="en-US" sz="2700" dirty="0"/>
              <a:t> </a:t>
            </a:r>
            <a:r>
              <a:rPr lang="en-US" sz="2700" dirty="0" err="1"/>
              <a:t>bilgilerin</a:t>
            </a:r>
            <a:r>
              <a:rPr lang="en-US" sz="2700" dirty="0"/>
              <a:t> </a:t>
            </a:r>
            <a:r>
              <a:rPr lang="en-US" sz="2700" dirty="0" err="1"/>
              <a:t>toplanması</a:t>
            </a:r>
            <a:r>
              <a:rPr lang="en-US" sz="2700" dirty="0"/>
              <a:t>; </a:t>
            </a:r>
            <a:r>
              <a:rPr lang="en-US" sz="2700" dirty="0" err="1"/>
              <a:t>tek</a:t>
            </a:r>
            <a:r>
              <a:rPr lang="en-US" sz="2700" dirty="0"/>
              <a:t> </a:t>
            </a:r>
            <a:r>
              <a:rPr lang="en-US" sz="2700" dirty="0" err="1"/>
              <a:t>bir</a:t>
            </a:r>
            <a:r>
              <a:rPr lang="en-US" sz="2700" dirty="0"/>
              <a:t> </a:t>
            </a:r>
            <a:r>
              <a:rPr lang="en-US" sz="2700" dirty="0" err="1"/>
              <a:t>sağlık</a:t>
            </a:r>
            <a:r>
              <a:rPr lang="en-US" sz="2700" dirty="0"/>
              <a:t> </a:t>
            </a:r>
            <a:r>
              <a:rPr lang="en-US" sz="2700" dirty="0" err="1"/>
              <a:t>kuruluşu</a:t>
            </a:r>
            <a:r>
              <a:rPr lang="en-US" sz="2700" dirty="0"/>
              <a:t> </a:t>
            </a:r>
            <a:r>
              <a:rPr lang="en-US" sz="2700" dirty="0" err="1"/>
              <a:t>içinde</a:t>
            </a:r>
            <a:r>
              <a:rPr lang="en-US" sz="2700" dirty="0"/>
              <a:t> </a:t>
            </a:r>
            <a:r>
              <a:rPr lang="en-US" sz="2700" dirty="0" err="1"/>
              <a:t>oluşturulur</a:t>
            </a:r>
            <a:r>
              <a:rPr lang="en-US" sz="2700" dirty="0"/>
              <a:t> </a:t>
            </a:r>
            <a:r>
              <a:rPr lang="en-US" sz="2700" dirty="0" err="1"/>
              <a:t>ve</a:t>
            </a:r>
            <a:r>
              <a:rPr lang="en-US" sz="2700" dirty="0"/>
              <a:t> </a:t>
            </a:r>
            <a:r>
              <a:rPr lang="en-US" sz="2700" dirty="0" err="1"/>
              <a:t>danışılır</a:t>
            </a:r>
            <a:r>
              <a:rPr lang="en-US" sz="2700" dirty="0"/>
              <a:t>
</a:t>
            </a:r>
            <a:r>
              <a:rPr lang="en-US" sz="2700" dirty="0" err="1"/>
              <a:t>Elektronik</a:t>
            </a:r>
            <a:r>
              <a:rPr lang="en-US" sz="2700" dirty="0"/>
              <a:t> </a:t>
            </a:r>
            <a:r>
              <a:rPr lang="en-US" sz="2700" dirty="0" err="1"/>
              <a:t>sağlık</a:t>
            </a:r>
            <a:r>
              <a:rPr lang="en-US" sz="2700" dirty="0"/>
              <a:t> </a:t>
            </a:r>
            <a:r>
              <a:rPr lang="en-US" sz="2700" dirty="0" err="1"/>
              <a:t>kaydı</a:t>
            </a:r>
            <a:r>
              <a:rPr lang="en-US" sz="2700" dirty="0"/>
              <a:t> (EHR): Bir </a:t>
            </a:r>
            <a:r>
              <a:rPr lang="en-US" sz="2700" dirty="0" err="1"/>
              <a:t>hastanın</a:t>
            </a:r>
            <a:r>
              <a:rPr lang="en-US" sz="2700" dirty="0"/>
              <a:t> </a:t>
            </a:r>
            <a:r>
              <a:rPr lang="en-US" sz="2700" dirty="0" err="1"/>
              <a:t>tüm</a:t>
            </a:r>
            <a:r>
              <a:rPr lang="en-US" sz="2700" dirty="0"/>
              <a:t> </a:t>
            </a:r>
            <a:r>
              <a:rPr lang="en-US" sz="2700" dirty="0" err="1"/>
              <a:t>tıbbi</a:t>
            </a:r>
            <a:r>
              <a:rPr lang="en-US" sz="2700" dirty="0"/>
              <a:t> </a:t>
            </a:r>
            <a:r>
              <a:rPr lang="en-US" sz="2700" dirty="0" err="1"/>
              <a:t>geçmişinin</a:t>
            </a:r>
            <a:r>
              <a:rPr lang="en-US" sz="2700" dirty="0"/>
              <a:t> </a:t>
            </a:r>
            <a:r>
              <a:rPr lang="en-US" sz="2700" dirty="0" err="1"/>
              <a:t>birden</a:t>
            </a:r>
            <a:r>
              <a:rPr lang="en-US" sz="2700" dirty="0"/>
              <a:t> </a:t>
            </a:r>
            <a:r>
              <a:rPr lang="en-US" sz="2700" dirty="0" err="1"/>
              <a:t>fazla</a:t>
            </a:r>
            <a:r>
              <a:rPr lang="en-US" sz="2700" dirty="0"/>
              <a:t> </a:t>
            </a:r>
            <a:r>
              <a:rPr lang="en-US" sz="2700" dirty="0" err="1"/>
              <a:t>kuruluşla</a:t>
            </a:r>
            <a:r>
              <a:rPr lang="en-US" sz="2700" dirty="0"/>
              <a:t> </a:t>
            </a:r>
            <a:r>
              <a:rPr lang="en-US" sz="2700" dirty="0" err="1"/>
              <a:t>paylaşılmak</a:t>
            </a:r>
            <a:r>
              <a:rPr lang="en-US" sz="2700" dirty="0"/>
              <a:t> </a:t>
            </a:r>
            <a:r>
              <a:rPr lang="en-US" sz="2700" dirty="0" err="1"/>
              <a:t>üzere</a:t>
            </a:r>
            <a:r>
              <a:rPr lang="en-US" sz="2700" dirty="0"/>
              <a:t> </a:t>
            </a:r>
            <a:r>
              <a:rPr lang="en-US" sz="2700" dirty="0" err="1"/>
              <a:t>tasarlanmış</a:t>
            </a:r>
            <a:r>
              <a:rPr lang="en-US" sz="2700" dirty="0"/>
              <a:t> </a:t>
            </a:r>
            <a:r>
              <a:rPr lang="en-US" sz="2700" dirty="0" err="1"/>
              <a:t>kapsamlı</a:t>
            </a:r>
            <a:r>
              <a:rPr lang="en-US" sz="2700" dirty="0"/>
              <a:t> </a:t>
            </a:r>
            <a:r>
              <a:rPr lang="en-US" sz="2700" dirty="0" err="1"/>
              <a:t>bir</a:t>
            </a:r>
            <a:r>
              <a:rPr lang="en-US" sz="2700" dirty="0"/>
              <a:t> </a:t>
            </a:r>
            <a:r>
              <a:rPr lang="en-US" sz="2700" dirty="0" err="1"/>
              <a:t>görünümü</a:t>
            </a:r>
            <a:r>
              <a:rPr lang="en-US" sz="2700" dirty="0"/>
              <a:t>
</a:t>
            </a:r>
            <a:r>
              <a:rPr lang="en-US" sz="2700" dirty="0" err="1"/>
              <a:t>Sağlık</a:t>
            </a:r>
            <a:r>
              <a:rPr lang="en-US" sz="2700" dirty="0"/>
              <a:t> </a:t>
            </a:r>
            <a:r>
              <a:rPr lang="en-US" sz="2700" dirty="0" err="1"/>
              <a:t>bilgi</a:t>
            </a:r>
            <a:r>
              <a:rPr lang="en-US" sz="2700" dirty="0"/>
              <a:t> </a:t>
            </a:r>
            <a:r>
              <a:rPr lang="en-US" sz="2700" dirty="0" err="1"/>
              <a:t>değişimi</a:t>
            </a:r>
            <a:r>
              <a:rPr lang="en-US" sz="2700" dirty="0"/>
              <a:t> (HİE): Hasta </a:t>
            </a:r>
            <a:r>
              <a:rPr lang="en-US" sz="2700" dirty="0" err="1"/>
              <a:t>düzeyinde</a:t>
            </a:r>
            <a:r>
              <a:rPr lang="en-US" sz="2700" dirty="0"/>
              <a:t> </a:t>
            </a:r>
            <a:r>
              <a:rPr lang="en-US" sz="2700" dirty="0" err="1"/>
              <a:t>elektronik</a:t>
            </a:r>
            <a:r>
              <a:rPr lang="en-US" sz="2700" dirty="0"/>
              <a:t> </a:t>
            </a:r>
            <a:r>
              <a:rPr lang="en-US" sz="2700" dirty="0" err="1"/>
              <a:t>sağlık</a:t>
            </a:r>
            <a:r>
              <a:rPr lang="en-US" sz="2700" dirty="0"/>
              <a:t> </a:t>
            </a:r>
            <a:r>
              <a:rPr lang="en-US" sz="2700" dirty="0" err="1"/>
              <a:t>bilgilerinin</a:t>
            </a:r>
            <a:r>
              <a:rPr lang="en-US" sz="2700" dirty="0"/>
              <a:t> </a:t>
            </a:r>
            <a:r>
              <a:rPr lang="en-US" sz="2700" dirty="0" err="1"/>
              <a:t>kuruluşlar</a:t>
            </a:r>
            <a:r>
              <a:rPr lang="en-US" sz="2700" dirty="0"/>
              <a:t> </a:t>
            </a:r>
            <a:r>
              <a:rPr lang="en-US" sz="2700" dirty="0" err="1"/>
              <a:t>arasında</a:t>
            </a:r>
            <a:r>
              <a:rPr lang="en-US" sz="2700" dirty="0"/>
              <a:t> </a:t>
            </a:r>
            <a:r>
              <a:rPr lang="en-US" sz="2700" dirty="0" err="1"/>
              <a:t>paylaşılması</a:t>
            </a:r>
            <a:r>
              <a:rPr lang="en-US" sz="2700" dirty="0"/>
              <a:t>
</a:t>
            </a:r>
            <a:r>
              <a:rPr lang="en-US" sz="2700" dirty="0" err="1"/>
              <a:t>Kişisel</a:t>
            </a:r>
            <a:r>
              <a:rPr lang="en-US" sz="2700" dirty="0"/>
              <a:t> </a:t>
            </a:r>
            <a:r>
              <a:rPr lang="en-US" sz="2700" dirty="0" err="1"/>
              <a:t>sağlık</a:t>
            </a:r>
            <a:r>
              <a:rPr lang="en-US" sz="2700" dirty="0"/>
              <a:t> </a:t>
            </a:r>
            <a:r>
              <a:rPr lang="en-US" sz="2700" dirty="0" err="1"/>
              <a:t>kaydı</a:t>
            </a:r>
            <a:r>
              <a:rPr lang="en-US" sz="2700" dirty="0"/>
              <a:t> (PHR): Bir </a:t>
            </a:r>
            <a:r>
              <a:rPr lang="en-US" sz="2700" dirty="0" err="1"/>
              <a:t>EHR'nin</a:t>
            </a:r>
            <a:r>
              <a:rPr lang="en-US" sz="2700" dirty="0"/>
              <a:t> </a:t>
            </a:r>
            <a:r>
              <a:rPr lang="en-US" sz="2700" dirty="0" err="1"/>
              <a:t>iletişim</a:t>
            </a:r>
            <a:r>
              <a:rPr lang="en-US" sz="2700" dirty="0"/>
              <a:t> </a:t>
            </a:r>
            <a:r>
              <a:rPr lang="en-US" sz="2700" dirty="0" err="1"/>
              <a:t>bilgileri</a:t>
            </a:r>
            <a:r>
              <a:rPr lang="en-US" sz="2700" dirty="0"/>
              <a:t>, </a:t>
            </a:r>
            <a:r>
              <a:rPr lang="en-US" sz="2700" dirty="0" err="1"/>
              <a:t>sağlık</a:t>
            </a:r>
            <a:r>
              <a:rPr lang="en-US" sz="2700" dirty="0"/>
              <a:t> </a:t>
            </a:r>
            <a:r>
              <a:rPr lang="en-US" sz="2700" dirty="0" err="1"/>
              <a:t>sağlayıcı</a:t>
            </a:r>
            <a:r>
              <a:rPr lang="en-US" sz="2700" dirty="0"/>
              <a:t> </a:t>
            </a:r>
            <a:r>
              <a:rPr lang="en-US" sz="2700" dirty="0" err="1"/>
              <a:t>bilgileri</a:t>
            </a:r>
            <a:r>
              <a:rPr lang="en-US" sz="2700" dirty="0"/>
              <a:t>, </a:t>
            </a:r>
            <a:r>
              <a:rPr lang="en-US" sz="2700" dirty="0" err="1"/>
              <a:t>ilaç</a:t>
            </a:r>
            <a:r>
              <a:rPr lang="en-US" sz="2700" dirty="0"/>
              <a:t> </a:t>
            </a:r>
            <a:r>
              <a:rPr lang="en-US" sz="2700" dirty="0" err="1"/>
              <a:t>geçmişi</a:t>
            </a:r>
            <a:r>
              <a:rPr lang="en-US" sz="2700" dirty="0"/>
              <a:t> </a:t>
            </a:r>
            <a:r>
              <a:rPr lang="en-US" sz="2700" dirty="0" err="1"/>
              <a:t>ve</a:t>
            </a:r>
            <a:r>
              <a:rPr lang="en-US" sz="2700" dirty="0"/>
              <a:t> test </a:t>
            </a:r>
            <a:r>
              <a:rPr lang="en-US" sz="2700" dirty="0" err="1"/>
              <a:t>sonuçları</a:t>
            </a:r>
            <a:r>
              <a:rPr lang="en-US" sz="2700" dirty="0"/>
              <a:t> </a:t>
            </a:r>
            <a:r>
              <a:rPr lang="en-US" sz="2700" dirty="0" err="1"/>
              <a:t>gibi</a:t>
            </a:r>
            <a:r>
              <a:rPr lang="en-US" sz="2700" dirty="0"/>
              <a:t> </a:t>
            </a:r>
            <a:r>
              <a:rPr lang="en-US" sz="2700" dirty="0" err="1"/>
              <a:t>bir</a:t>
            </a:r>
            <a:r>
              <a:rPr lang="en-US" sz="2700" dirty="0"/>
              <a:t> </a:t>
            </a:r>
            <a:r>
              <a:rPr lang="en-US" sz="2700" dirty="0" err="1"/>
              <a:t>hastanın</a:t>
            </a:r>
            <a:r>
              <a:rPr lang="en-US" sz="2700" dirty="0"/>
              <a:t> "</a:t>
            </a:r>
            <a:r>
              <a:rPr lang="en-US" sz="2700" dirty="0" err="1"/>
              <a:t>sahip</a:t>
            </a:r>
            <a:r>
              <a:rPr lang="en-US" sz="2700" dirty="0"/>
              <a:t> </a:t>
            </a:r>
            <a:r>
              <a:rPr lang="en-US" sz="2700" dirty="0" err="1"/>
              <a:t>olduğu</a:t>
            </a:r>
            <a:r>
              <a:rPr lang="en-US" sz="2700" dirty="0"/>
              <a:t>" </a:t>
            </a:r>
            <a:r>
              <a:rPr lang="en-US" sz="2700" dirty="0" err="1"/>
              <a:t>bölümleri</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6</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29287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217" y="1219200"/>
            <a:ext cx="8415338" cy="4408899"/>
          </a:xfrm>
        </p:spPr>
        <p:txBody>
          <a:bodyPr/>
          <a:lstStyle/>
          <a:p>
            <a:r>
              <a:rPr lang="en-US" sz="2700" dirty="0"/>
              <a:t>BT </a:t>
            </a:r>
            <a:r>
              <a:rPr lang="en-US" sz="2700" dirty="0" err="1"/>
              <a:t>uygulamasının</a:t>
            </a:r>
            <a:r>
              <a:rPr lang="en-US" sz="2700" dirty="0"/>
              <a:t> </a:t>
            </a:r>
            <a:r>
              <a:rPr lang="en-US" sz="2700" dirty="0" err="1"/>
              <a:t>sağlık</a:t>
            </a:r>
            <a:r>
              <a:rPr lang="en-US" sz="2700" dirty="0"/>
              <a:t> </a:t>
            </a:r>
            <a:r>
              <a:rPr lang="en-US" sz="2700" dirty="0" err="1"/>
              <a:t>hizmetleri</a:t>
            </a:r>
            <a:r>
              <a:rPr lang="en-US" sz="2700" dirty="0"/>
              <a:t> </a:t>
            </a:r>
            <a:r>
              <a:rPr lang="en-US" sz="2700" dirty="0" err="1"/>
              <a:t>üzerinde</a:t>
            </a:r>
            <a:r>
              <a:rPr lang="en-US" sz="2700" dirty="0"/>
              <a:t> </a:t>
            </a:r>
            <a:r>
              <a:rPr lang="en-US" sz="2700" dirty="0" err="1"/>
              <a:t>nasıl</a:t>
            </a:r>
            <a:r>
              <a:rPr lang="en-US" sz="2700" dirty="0"/>
              <a:t> </a:t>
            </a:r>
            <a:r>
              <a:rPr lang="en-US" sz="2700" dirty="0" err="1"/>
              <a:t>bir</a:t>
            </a:r>
            <a:r>
              <a:rPr lang="en-US" sz="2700" dirty="0"/>
              <a:t> </a:t>
            </a:r>
            <a:r>
              <a:rPr lang="en-US" sz="2700" dirty="0" err="1"/>
              <a:t>etkisi</a:t>
            </a:r>
            <a:r>
              <a:rPr lang="en-US" sz="2700" dirty="0"/>
              <a:t> </a:t>
            </a:r>
            <a:r>
              <a:rPr lang="en-US" sz="2700" dirty="0" err="1"/>
              <a:t>oldu</a:t>
            </a:r>
            <a:r>
              <a:rPr lang="en-US" sz="2700" dirty="0"/>
              <a:t>?
</a:t>
            </a:r>
            <a:r>
              <a:rPr lang="en-US" sz="2700" dirty="0" err="1"/>
              <a:t>Klinik</a:t>
            </a:r>
            <a:r>
              <a:rPr lang="en-US" sz="2700" dirty="0"/>
              <a:t> </a:t>
            </a:r>
            <a:r>
              <a:rPr lang="en-US" sz="2700" dirty="0" err="1"/>
              <a:t>karar</a:t>
            </a:r>
            <a:r>
              <a:rPr lang="en-US" sz="2700" dirty="0"/>
              <a:t> </a:t>
            </a:r>
            <a:r>
              <a:rPr lang="en-US" sz="2700" dirty="0" err="1"/>
              <a:t>desteği</a:t>
            </a:r>
            <a:r>
              <a:rPr lang="en-US" sz="2700" dirty="0"/>
              <a:t> (CSS): </a:t>
            </a:r>
            <a:r>
              <a:rPr lang="en-US" sz="2700" dirty="0" err="1"/>
              <a:t>Klinik</a:t>
            </a:r>
            <a:r>
              <a:rPr lang="en-US" sz="2700" dirty="0"/>
              <a:t> </a:t>
            </a:r>
            <a:r>
              <a:rPr lang="en-US" sz="2700" dirty="0" err="1"/>
              <a:t>bilgi</a:t>
            </a:r>
            <a:r>
              <a:rPr lang="en-US" sz="2700" dirty="0"/>
              <a:t> </a:t>
            </a:r>
            <a:r>
              <a:rPr lang="en-US" sz="2700" dirty="0" err="1"/>
              <a:t>ve</a:t>
            </a:r>
            <a:r>
              <a:rPr lang="en-US" sz="2700" dirty="0"/>
              <a:t> </a:t>
            </a:r>
            <a:r>
              <a:rPr lang="en-US" sz="2700" dirty="0" err="1"/>
              <a:t>hastaya</a:t>
            </a:r>
            <a:r>
              <a:rPr lang="en-US" sz="2700" dirty="0"/>
              <a:t> </a:t>
            </a:r>
            <a:r>
              <a:rPr lang="en-US" sz="2700" dirty="0" err="1"/>
              <a:t>özel</a:t>
            </a:r>
            <a:r>
              <a:rPr lang="en-US" sz="2700" dirty="0"/>
              <a:t> </a:t>
            </a:r>
            <a:r>
              <a:rPr lang="en-US" sz="2700" dirty="0" err="1"/>
              <a:t>bilgilerin</a:t>
            </a:r>
            <a:r>
              <a:rPr lang="en-US" sz="2700" dirty="0"/>
              <a:t> </a:t>
            </a:r>
            <a:r>
              <a:rPr lang="en-US" sz="2700" dirty="0" err="1"/>
              <a:t>kullanımı</a:t>
            </a:r>
            <a:r>
              <a:rPr lang="en-US" sz="2700" dirty="0"/>
              <a:t> </a:t>
            </a:r>
            <a:r>
              <a:rPr lang="en-US" sz="2700" dirty="0" err="1"/>
              <a:t>yoluyla</a:t>
            </a:r>
            <a:r>
              <a:rPr lang="en-US" sz="2700" dirty="0"/>
              <a:t> </a:t>
            </a:r>
            <a:r>
              <a:rPr lang="en-US" sz="2700" dirty="0" err="1"/>
              <a:t>sağlıkla</a:t>
            </a:r>
            <a:r>
              <a:rPr lang="en-US" sz="2700" dirty="0"/>
              <a:t> </a:t>
            </a:r>
            <a:r>
              <a:rPr lang="en-US" sz="2700" dirty="0" err="1"/>
              <a:t>ilgili</a:t>
            </a:r>
            <a:r>
              <a:rPr lang="en-US" sz="2700" dirty="0"/>
              <a:t> </a:t>
            </a:r>
            <a:r>
              <a:rPr lang="en-US" sz="2700" dirty="0" err="1"/>
              <a:t>karar</a:t>
            </a:r>
            <a:r>
              <a:rPr lang="en-US" sz="2700" dirty="0"/>
              <a:t> </a:t>
            </a:r>
            <a:r>
              <a:rPr lang="en-US" sz="2700" dirty="0" err="1"/>
              <a:t>vermeyi</a:t>
            </a:r>
            <a:r>
              <a:rPr lang="en-US" sz="2700" dirty="0"/>
              <a:t> </a:t>
            </a:r>
            <a:r>
              <a:rPr lang="en-US" sz="2700" dirty="0" err="1"/>
              <a:t>geliştirmek</a:t>
            </a:r>
            <a:r>
              <a:rPr lang="en-US" sz="2700" dirty="0"/>
              <a:t> için </a:t>
            </a:r>
            <a:r>
              <a:rPr lang="en-US" sz="2700" dirty="0" err="1"/>
              <a:t>tasarlanmış</a:t>
            </a:r>
            <a:r>
              <a:rPr lang="en-US" sz="2700" dirty="0"/>
              <a:t> </a:t>
            </a:r>
            <a:r>
              <a:rPr lang="en-US" sz="2700" dirty="0" err="1"/>
              <a:t>bir</a:t>
            </a:r>
            <a:r>
              <a:rPr lang="en-US" sz="2700" dirty="0"/>
              <a:t> </a:t>
            </a:r>
            <a:r>
              <a:rPr lang="en-US" sz="2700" dirty="0" err="1"/>
              <a:t>süreç</a:t>
            </a:r>
            <a:r>
              <a:rPr lang="en-US" sz="2700" dirty="0"/>
              <a:t> </a:t>
            </a:r>
            <a:r>
              <a:rPr lang="en-US" sz="2700" dirty="0" err="1"/>
              <a:t>ve</a:t>
            </a:r>
            <a:r>
              <a:rPr lang="en-US" sz="2700" dirty="0"/>
              <a:t> </a:t>
            </a:r>
            <a:r>
              <a:rPr lang="en-US" sz="2700" dirty="0" err="1"/>
              <a:t>bir</a:t>
            </a:r>
            <a:r>
              <a:rPr lang="en-US" sz="2700" dirty="0"/>
              <a:t> dizi </a:t>
            </a:r>
            <a:r>
              <a:rPr lang="en-US" sz="2700" dirty="0" err="1"/>
              <a:t>araç</a:t>
            </a:r>
            <a:r>
              <a:rPr lang="en-US" sz="2700" dirty="0"/>
              <a:t>
Hasta </a:t>
            </a:r>
            <a:r>
              <a:rPr lang="en-US" sz="2700" dirty="0" err="1"/>
              <a:t>bakım</a:t>
            </a:r>
            <a:r>
              <a:rPr lang="en-US" sz="2700" dirty="0"/>
              <a:t> </a:t>
            </a:r>
            <a:r>
              <a:rPr lang="en-US" sz="2700" dirty="0" err="1"/>
              <a:t>kalitesini</a:t>
            </a:r>
            <a:r>
              <a:rPr lang="en-US" sz="2700" dirty="0"/>
              <a:t> </a:t>
            </a:r>
            <a:r>
              <a:rPr lang="en-US" sz="2700" dirty="0" err="1"/>
              <a:t>artırır</a:t>
            </a:r>
            <a:r>
              <a:rPr lang="en-US" sz="2700" dirty="0"/>
              <a:t> </a:t>
            </a:r>
            <a:r>
              <a:rPr lang="en-US" sz="2700" dirty="0" err="1"/>
              <a:t>ve</a:t>
            </a:r>
            <a:r>
              <a:rPr lang="en-US" sz="2700" dirty="0"/>
              <a:t> </a:t>
            </a:r>
            <a:r>
              <a:rPr lang="en-US" sz="2700" dirty="0" err="1"/>
              <a:t>maliyetleri</a:t>
            </a:r>
            <a:r>
              <a:rPr lang="en-US" sz="2700" dirty="0"/>
              <a:t> </a:t>
            </a:r>
            <a:r>
              <a:rPr lang="en-US" sz="2700" dirty="0" err="1"/>
              <a:t>düşürür</a:t>
            </a:r>
            <a:r>
              <a:rPr lang="en-US" sz="2700" dirty="0"/>
              <a:t>
</a:t>
            </a:r>
            <a:r>
              <a:rPr lang="en-US" sz="2700" dirty="0" err="1"/>
              <a:t>Bilgisayarlı</a:t>
            </a:r>
            <a:r>
              <a:rPr lang="en-US" sz="2700" dirty="0"/>
              <a:t> </a:t>
            </a:r>
            <a:r>
              <a:rPr lang="en-US" sz="2700" dirty="0" err="1"/>
              <a:t>sağlayıcı</a:t>
            </a:r>
            <a:r>
              <a:rPr lang="en-US" sz="2700" dirty="0"/>
              <a:t> </a:t>
            </a:r>
            <a:r>
              <a:rPr lang="en-US" sz="2700" dirty="0" err="1"/>
              <a:t>sipariş</a:t>
            </a:r>
            <a:r>
              <a:rPr lang="en-US" sz="2700" dirty="0"/>
              <a:t> </a:t>
            </a:r>
            <a:r>
              <a:rPr lang="en-US" sz="2700" dirty="0" err="1"/>
              <a:t>girişi</a:t>
            </a:r>
            <a:r>
              <a:rPr lang="en-US" sz="2700" dirty="0"/>
              <a:t> (CPOE): </a:t>
            </a:r>
            <a:r>
              <a:rPr lang="en-US" sz="2700" dirty="0" err="1"/>
              <a:t>Doktorların</a:t>
            </a:r>
            <a:r>
              <a:rPr lang="en-US" sz="2700" dirty="0"/>
              <a:t> </a:t>
            </a:r>
            <a:r>
              <a:rPr lang="en-US" sz="2700" dirty="0" err="1"/>
              <a:t>doğrudan</a:t>
            </a:r>
            <a:r>
              <a:rPr lang="en-US" sz="2700" dirty="0"/>
              <a:t> </a:t>
            </a:r>
            <a:r>
              <a:rPr lang="en-US" sz="2700" dirty="0" err="1"/>
              <a:t>alıcıya</a:t>
            </a:r>
            <a:r>
              <a:rPr lang="en-US" sz="2700" dirty="0"/>
              <a:t> </a:t>
            </a:r>
            <a:r>
              <a:rPr lang="en-US" sz="2700" dirty="0" err="1"/>
              <a:t>iletilen</a:t>
            </a:r>
            <a:r>
              <a:rPr lang="en-US" sz="2700" dirty="0"/>
              <a:t> </a:t>
            </a:r>
            <a:r>
              <a:rPr lang="en-US" sz="2700" dirty="0" err="1"/>
              <a:t>siparişlerle</a:t>
            </a:r>
            <a:r>
              <a:rPr lang="en-US" sz="2700" dirty="0"/>
              <a:t> </a:t>
            </a:r>
            <a:r>
              <a:rPr lang="en-US" sz="2700" dirty="0" err="1"/>
              <a:t>elektronik</a:t>
            </a:r>
            <a:r>
              <a:rPr lang="en-US" sz="2700" dirty="0"/>
              <a:t> </a:t>
            </a:r>
            <a:r>
              <a:rPr lang="en-US" sz="2700" dirty="0" err="1"/>
              <a:t>olarak</a:t>
            </a:r>
            <a:r>
              <a:rPr lang="en-US" sz="2700" dirty="0"/>
              <a:t> </a:t>
            </a:r>
            <a:r>
              <a:rPr lang="en-US" sz="2700" dirty="0" err="1"/>
              <a:t>sipariş</a:t>
            </a:r>
            <a:r>
              <a:rPr lang="en-US" sz="2700" dirty="0"/>
              <a:t> </a:t>
            </a:r>
            <a:r>
              <a:rPr lang="en-US" sz="2700" dirty="0" err="1"/>
              <a:t>vermelerini</a:t>
            </a:r>
            <a:r>
              <a:rPr lang="en-US" sz="2700" dirty="0"/>
              <a:t> (</a:t>
            </a:r>
            <a:r>
              <a:rPr lang="en-US" sz="2700" dirty="0" err="1"/>
              <a:t>ilaçlar</a:t>
            </a:r>
            <a:r>
              <a:rPr lang="en-US" sz="2700" dirty="0"/>
              <a:t>, </a:t>
            </a:r>
            <a:r>
              <a:rPr lang="en-US" sz="2700" dirty="0" err="1"/>
              <a:t>laboratuvar</a:t>
            </a:r>
            <a:r>
              <a:rPr lang="en-US" sz="2700" dirty="0"/>
              <a:t> </a:t>
            </a:r>
            <a:r>
              <a:rPr lang="en-US" sz="2700" dirty="0" err="1"/>
              <a:t>testleri</a:t>
            </a:r>
            <a:r>
              <a:rPr lang="en-US" sz="2700" dirty="0"/>
              <a:t> vb. için) </a:t>
            </a:r>
            <a:r>
              <a:rPr lang="en-US" sz="2700" dirty="0" err="1"/>
              <a:t>sağlayan</a:t>
            </a:r>
            <a:r>
              <a:rPr lang="en-US" sz="2700" dirty="0"/>
              <a:t> </a:t>
            </a:r>
            <a:r>
              <a:rPr lang="en-US" sz="2700" dirty="0" err="1"/>
              <a:t>bir</a:t>
            </a:r>
            <a:r>
              <a:rPr lang="en-US" sz="2700" dirty="0"/>
              <a:t> </a:t>
            </a:r>
            <a:r>
              <a:rPr lang="en-US" sz="2700" dirty="0" err="1"/>
              <a:t>sistem</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7</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43060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217" y="1219200"/>
            <a:ext cx="8415338" cy="4649734"/>
          </a:xfrm>
        </p:spPr>
        <p:txBody>
          <a:bodyPr/>
          <a:lstStyle/>
          <a:p>
            <a:r>
              <a:rPr lang="en-US" sz="2700" dirty="0"/>
              <a:t>BT </a:t>
            </a:r>
            <a:r>
              <a:rPr lang="en-US" sz="2700" dirty="0" err="1"/>
              <a:t>uygulamasının</a:t>
            </a:r>
            <a:r>
              <a:rPr lang="en-US" sz="2700" dirty="0"/>
              <a:t> </a:t>
            </a:r>
            <a:r>
              <a:rPr lang="en-US" sz="2700" dirty="0" err="1"/>
              <a:t>sağlık</a:t>
            </a:r>
            <a:r>
              <a:rPr lang="en-US" sz="2700" dirty="0"/>
              <a:t> </a:t>
            </a:r>
            <a:r>
              <a:rPr lang="en-US" sz="2700" dirty="0" err="1"/>
              <a:t>hizmetleri</a:t>
            </a:r>
            <a:r>
              <a:rPr lang="en-US" sz="2700" dirty="0"/>
              <a:t> </a:t>
            </a:r>
            <a:r>
              <a:rPr lang="en-US" sz="2700" dirty="0" err="1"/>
              <a:t>üzerinde</a:t>
            </a:r>
            <a:r>
              <a:rPr lang="en-US" sz="2700" dirty="0"/>
              <a:t> </a:t>
            </a:r>
            <a:r>
              <a:rPr lang="en-US" sz="2700" dirty="0" err="1"/>
              <a:t>nasıl</a:t>
            </a:r>
            <a:r>
              <a:rPr lang="en-US" sz="2700" dirty="0"/>
              <a:t> </a:t>
            </a:r>
            <a:r>
              <a:rPr lang="en-US" sz="2700" dirty="0" err="1"/>
              <a:t>bir</a:t>
            </a:r>
            <a:r>
              <a:rPr lang="en-US" sz="2700" dirty="0"/>
              <a:t> </a:t>
            </a:r>
            <a:r>
              <a:rPr lang="en-US" sz="2700" dirty="0" err="1"/>
              <a:t>etkisi</a:t>
            </a:r>
            <a:r>
              <a:rPr lang="en-US" sz="2700" dirty="0"/>
              <a:t> </a:t>
            </a:r>
            <a:r>
              <a:rPr lang="en-US" sz="2700" dirty="0" err="1"/>
              <a:t>oldu</a:t>
            </a:r>
            <a:r>
              <a:rPr lang="en-US" sz="2700" dirty="0"/>
              <a:t>?
</a:t>
            </a:r>
            <a:r>
              <a:rPr lang="en-US" sz="2700" dirty="0" err="1"/>
              <a:t>Telesağlık</a:t>
            </a:r>
            <a:r>
              <a:rPr lang="en-US" sz="2700" dirty="0"/>
              <a:t>: </a:t>
            </a:r>
            <a:r>
              <a:rPr lang="en-US" sz="2700" dirty="0" err="1"/>
              <a:t>Sağlayıcılardan</a:t>
            </a:r>
            <a:r>
              <a:rPr lang="en-US" sz="2700" dirty="0"/>
              <a:t> </a:t>
            </a:r>
            <a:r>
              <a:rPr lang="en-US" sz="2700" dirty="0" err="1"/>
              <a:t>uzakta</a:t>
            </a:r>
            <a:r>
              <a:rPr lang="en-US" sz="2700" dirty="0"/>
              <a:t> </a:t>
            </a:r>
            <a:r>
              <a:rPr lang="en-US" sz="2700" dirty="0" err="1"/>
              <a:t>yaşayan</a:t>
            </a:r>
            <a:r>
              <a:rPr lang="en-US" sz="2700" dirty="0"/>
              <a:t> </a:t>
            </a:r>
            <a:r>
              <a:rPr lang="en-US" sz="2700" dirty="0" err="1"/>
              <a:t>insanlara</a:t>
            </a:r>
            <a:r>
              <a:rPr lang="en-US" sz="2700" dirty="0"/>
              <a:t> </a:t>
            </a:r>
            <a:r>
              <a:rPr lang="en-US" sz="2700" dirty="0" err="1"/>
              <a:t>tıbbi</a:t>
            </a:r>
            <a:r>
              <a:rPr lang="en-US" sz="2700" dirty="0"/>
              <a:t> </a:t>
            </a:r>
            <a:r>
              <a:rPr lang="en-US" sz="2700" dirty="0" err="1"/>
              <a:t>bakım</a:t>
            </a:r>
            <a:r>
              <a:rPr lang="en-US" sz="2700" dirty="0"/>
              <a:t> </a:t>
            </a:r>
            <a:r>
              <a:rPr lang="en-US" sz="2700" dirty="0" err="1"/>
              <a:t>sağlamak</a:t>
            </a:r>
            <a:r>
              <a:rPr lang="en-US" sz="2700" dirty="0"/>
              <a:t>, </a:t>
            </a:r>
            <a:r>
              <a:rPr lang="en-US" sz="2700" dirty="0" err="1"/>
              <a:t>profesyonel</a:t>
            </a:r>
            <a:r>
              <a:rPr lang="en-US" sz="2700" dirty="0"/>
              <a:t> </a:t>
            </a:r>
            <a:r>
              <a:rPr lang="en-US" sz="2700" dirty="0" err="1"/>
              <a:t>ve</a:t>
            </a:r>
            <a:r>
              <a:rPr lang="en-US" sz="2700" dirty="0"/>
              <a:t> hasta </a:t>
            </a:r>
            <a:r>
              <a:rPr lang="en-US" sz="2700" dirty="0" err="1"/>
              <a:t>sağlığı</a:t>
            </a:r>
            <a:r>
              <a:rPr lang="en-US" sz="2700" dirty="0"/>
              <a:t> </a:t>
            </a:r>
            <a:r>
              <a:rPr lang="en-US" sz="2700" dirty="0" err="1"/>
              <a:t>eğitimi</a:t>
            </a:r>
            <a:r>
              <a:rPr lang="en-US" sz="2700" dirty="0"/>
              <a:t> </a:t>
            </a:r>
            <a:r>
              <a:rPr lang="en-US" sz="2700" dirty="0" err="1"/>
              <a:t>sağlamak</a:t>
            </a:r>
            <a:r>
              <a:rPr lang="en-US" sz="2700" dirty="0"/>
              <a:t> </a:t>
            </a:r>
            <a:r>
              <a:rPr lang="en-US" sz="2700" dirty="0" err="1"/>
              <a:t>ve</a:t>
            </a:r>
            <a:r>
              <a:rPr lang="en-US" sz="2700" dirty="0"/>
              <a:t> </a:t>
            </a:r>
            <a:r>
              <a:rPr lang="en-US" sz="2700" dirty="0" err="1"/>
              <a:t>sağlık</a:t>
            </a:r>
            <a:r>
              <a:rPr lang="en-US" sz="2700" dirty="0"/>
              <a:t> </a:t>
            </a:r>
            <a:r>
              <a:rPr lang="en-US" sz="2700" dirty="0" err="1"/>
              <a:t>yönetimini</a:t>
            </a:r>
            <a:r>
              <a:rPr lang="en-US" sz="2700" dirty="0"/>
              <a:t> </a:t>
            </a:r>
            <a:r>
              <a:rPr lang="en-US" sz="2700" dirty="0" err="1"/>
              <a:t>desteklemek</a:t>
            </a:r>
            <a:r>
              <a:rPr lang="en-US" sz="2700" dirty="0"/>
              <a:t> için </a:t>
            </a:r>
            <a:r>
              <a:rPr lang="en-US" sz="2700" dirty="0" err="1"/>
              <a:t>teknolojiyi</a:t>
            </a:r>
            <a:r>
              <a:rPr lang="en-US" sz="2700" dirty="0"/>
              <a:t> </a:t>
            </a:r>
            <a:r>
              <a:rPr lang="en-US" sz="2700" dirty="0" err="1"/>
              <a:t>kullanır</a:t>
            </a:r>
            <a:r>
              <a:rPr lang="en-US" sz="2700" dirty="0"/>
              <a:t>
</a:t>
            </a:r>
            <a:r>
              <a:rPr lang="en-US" sz="2700" dirty="0" err="1"/>
              <a:t>Teletıp</a:t>
            </a:r>
            <a:r>
              <a:rPr lang="en-US" sz="2700" dirty="0"/>
              <a:t>: </a:t>
            </a:r>
            <a:r>
              <a:rPr lang="en-US" sz="2700" dirty="0" err="1"/>
              <a:t>Telesağlığın</a:t>
            </a:r>
            <a:r>
              <a:rPr lang="en-US" sz="2700" dirty="0"/>
              <a:t> </a:t>
            </a:r>
            <a:r>
              <a:rPr lang="en-US" sz="2700" dirty="0" err="1"/>
              <a:t>bir</a:t>
            </a:r>
            <a:r>
              <a:rPr lang="en-US" sz="2700" dirty="0"/>
              <a:t> </a:t>
            </a:r>
            <a:r>
              <a:rPr lang="en-US" sz="2700" dirty="0" err="1"/>
              <a:t>bileşeni</a:t>
            </a:r>
            <a:r>
              <a:rPr lang="en-US" sz="2700" dirty="0"/>
              <a:t>; </a:t>
            </a:r>
            <a:r>
              <a:rPr lang="en-US" sz="2700" dirty="0" err="1"/>
              <a:t>sağlayıcılardan</a:t>
            </a:r>
            <a:r>
              <a:rPr lang="en-US" sz="2700" dirty="0"/>
              <a:t> </a:t>
            </a:r>
            <a:r>
              <a:rPr lang="en-US" sz="2700" dirty="0" err="1"/>
              <a:t>farklı</a:t>
            </a:r>
            <a:r>
              <a:rPr lang="en-US" sz="2700" dirty="0"/>
              <a:t> </a:t>
            </a:r>
            <a:r>
              <a:rPr lang="en-US" sz="2700" dirty="0" err="1"/>
              <a:t>bir</a:t>
            </a:r>
            <a:r>
              <a:rPr lang="en-US" sz="2700" dirty="0"/>
              <a:t> </a:t>
            </a:r>
            <a:r>
              <a:rPr lang="en-US" sz="2700" dirty="0" err="1"/>
              <a:t>konumdaki</a:t>
            </a:r>
            <a:r>
              <a:rPr lang="en-US" sz="2700" dirty="0"/>
              <a:t> </a:t>
            </a:r>
            <a:r>
              <a:rPr lang="en-US" sz="2700" dirty="0" err="1"/>
              <a:t>insanlara</a:t>
            </a:r>
            <a:r>
              <a:rPr lang="en-US" sz="2700" dirty="0"/>
              <a:t> </a:t>
            </a:r>
            <a:r>
              <a:rPr lang="en-US" sz="2700" dirty="0" err="1"/>
              <a:t>tıbbi</a:t>
            </a:r>
            <a:r>
              <a:rPr lang="en-US" sz="2700" dirty="0"/>
              <a:t> </a:t>
            </a:r>
            <a:r>
              <a:rPr lang="en-US" sz="2700" dirty="0" err="1"/>
              <a:t>bakım</a:t>
            </a:r>
            <a:r>
              <a:rPr lang="en-US" sz="2700" dirty="0"/>
              <a:t> </a:t>
            </a:r>
            <a:r>
              <a:rPr lang="en-US" sz="2700" dirty="0" err="1"/>
              <a:t>sağlar</a:t>
            </a:r>
            <a:r>
              <a:rPr lang="en-US" sz="2700" dirty="0"/>
              <a:t>; </a:t>
            </a:r>
            <a:r>
              <a:rPr lang="en-US" sz="2700" dirty="0" err="1"/>
              <a:t>hastaların</a:t>
            </a:r>
            <a:r>
              <a:rPr lang="en-US" sz="2700" dirty="0"/>
              <a:t> </a:t>
            </a:r>
            <a:r>
              <a:rPr lang="en-US" sz="2700" dirty="0" err="1"/>
              <a:t>tedavi</a:t>
            </a:r>
            <a:r>
              <a:rPr lang="en-US" sz="2700" dirty="0"/>
              <a:t> için </a:t>
            </a:r>
            <a:r>
              <a:rPr lang="en-US" sz="2700" dirty="0" err="1"/>
              <a:t>seyahat</a:t>
            </a:r>
            <a:r>
              <a:rPr lang="en-US" sz="2700" dirty="0"/>
              <a:t> </a:t>
            </a:r>
            <a:r>
              <a:rPr lang="en-US" sz="2700" dirty="0" err="1"/>
              <a:t>etme</a:t>
            </a:r>
            <a:r>
              <a:rPr lang="en-US" sz="2700" dirty="0"/>
              <a:t> </a:t>
            </a:r>
            <a:r>
              <a:rPr lang="en-US" sz="2700" dirty="0" err="1"/>
              <a:t>ihtiyacını</a:t>
            </a:r>
            <a:r>
              <a:rPr lang="en-US" sz="2700" dirty="0"/>
              <a:t> </a:t>
            </a:r>
            <a:r>
              <a:rPr lang="en-US" sz="2700" dirty="0" err="1"/>
              <a:t>azaltır</a:t>
            </a:r>
            <a:r>
              <a:rPr lang="en-US" sz="2700" dirty="0"/>
              <a:t>; </a:t>
            </a:r>
            <a:r>
              <a:rPr lang="en-US" sz="2700" dirty="0" err="1"/>
              <a:t>sağlık</a:t>
            </a:r>
            <a:r>
              <a:rPr lang="en-US" sz="2700" dirty="0"/>
              <a:t> </a:t>
            </a:r>
            <a:r>
              <a:rPr lang="en-US" sz="2700" dirty="0" err="1"/>
              <a:t>profesyonellerinin</a:t>
            </a:r>
            <a:r>
              <a:rPr lang="en-US" sz="2700" dirty="0"/>
              <a:t> </a:t>
            </a:r>
            <a:r>
              <a:rPr lang="en-US" sz="2700" dirty="0" err="1"/>
              <a:t>daha</a:t>
            </a:r>
            <a:r>
              <a:rPr lang="en-US" sz="2700" dirty="0"/>
              <a:t> </a:t>
            </a:r>
            <a:r>
              <a:rPr lang="en-US" sz="2700" dirty="0" err="1"/>
              <a:t>geniş</a:t>
            </a:r>
            <a:r>
              <a:rPr lang="en-US" sz="2700" dirty="0"/>
              <a:t> </a:t>
            </a:r>
            <a:r>
              <a:rPr lang="en-US" sz="2700" dirty="0" err="1"/>
              <a:t>bir</a:t>
            </a:r>
            <a:r>
              <a:rPr lang="en-US" sz="2700" dirty="0"/>
              <a:t> </a:t>
            </a:r>
            <a:r>
              <a:rPr lang="en-US" sz="2700" dirty="0" err="1"/>
              <a:t>alanda</a:t>
            </a:r>
            <a:r>
              <a:rPr lang="en-US" sz="2700" dirty="0"/>
              <a:t> </a:t>
            </a:r>
            <a:r>
              <a:rPr lang="en-US" sz="2700" dirty="0" err="1"/>
              <a:t>daha</a:t>
            </a:r>
            <a:r>
              <a:rPr lang="en-US" sz="2700" dirty="0"/>
              <a:t> </a:t>
            </a:r>
            <a:r>
              <a:rPr lang="en-US" sz="2700" dirty="0" err="1"/>
              <a:t>fazla</a:t>
            </a:r>
            <a:r>
              <a:rPr lang="en-US" sz="2700" dirty="0"/>
              <a:t> </a:t>
            </a:r>
            <a:r>
              <a:rPr lang="en-US" sz="2700" dirty="0" err="1"/>
              <a:t>hastaya</a:t>
            </a:r>
            <a:r>
              <a:rPr lang="en-US" sz="2700" dirty="0"/>
              <a:t> </a:t>
            </a:r>
            <a:r>
              <a:rPr lang="en-US" sz="2700" dirty="0" err="1"/>
              <a:t>hizmet</a:t>
            </a:r>
            <a:r>
              <a:rPr lang="en-US" sz="2700" dirty="0"/>
              <a:t> </a:t>
            </a:r>
            <a:r>
              <a:rPr lang="en-US" sz="2700" dirty="0" err="1"/>
              <a:t>vermesine</a:t>
            </a:r>
            <a:r>
              <a:rPr lang="en-US" sz="2700" dirty="0"/>
              <a:t> </a:t>
            </a:r>
            <a:r>
              <a:rPr lang="en-US" sz="2700" dirty="0" err="1"/>
              <a:t>olanak</a:t>
            </a:r>
            <a:r>
              <a:rPr lang="en-US" sz="2700" dirty="0"/>
              <a:t> </a:t>
            </a:r>
            <a:r>
              <a:rPr lang="en-US" sz="2700" dirty="0" err="1"/>
              <a:t>tanır</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8</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72220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41217" y="1219200"/>
            <a:ext cx="8415338" cy="5198346"/>
          </a:xfrm>
        </p:spPr>
        <p:txBody>
          <a:bodyPr/>
          <a:lstStyle/>
          <a:p>
            <a:r>
              <a:rPr lang="en-US" sz="2700" dirty="0"/>
              <a:t>BT </a:t>
            </a:r>
            <a:r>
              <a:rPr lang="en-US" sz="2700" dirty="0" err="1"/>
              <a:t>uygulamasının</a:t>
            </a:r>
            <a:r>
              <a:rPr lang="en-US" sz="2700" dirty="0"/>
              <a:t> </a:t>
            </a:r>
            <a:r>
              <a:rPr lang="en-US" sz="2700" dirty="0" err="1"/>
              <a:t>sağlık</a:t>
            </a:r>
            <a:r>
              <a:rPr lang="en-US" sz="2700" dirty="0"/>
              <a:t> </a:t>
            </a:r>
            <a:r>
              <a:rPr lang="en-US" sz="2700" dirty="0" err="1"/>
              <a:t>hizmetleri</a:t>
            </a:r>
            <a:r>
              <a:rPr lang="en-US" sz="2700" dirty="0"/>
              <a:t> </a:t>
            </a:r>
            <a:r>
              <a:rPr lang="en-US" sz="2700" dirty="0" err="1"/>
              <a:t>üzerinde</a:t>
            </a:r>
            <a:r>
              <a:rPr lang="en-US" sz="2700" dirty="0"/>
              <a:t> </a:t>
            </a:r>
            <a:r>
              <a:rPr lang="en-US" sz="2700" dirty="0" err="1"/>
              <a:t>nasıl</a:t>
            </a:r>
            <a:r>
              <a:rPr lang="en-US" sz="2700" dirty="0"/>
              <a:t> </a:t>
            </a:r>
            <a:r>
              <a:rPr lang="en-US" sz="2700" dirty="0" err="1"/>
              <a:t>bir</a:t>
            </a:r>
            <a:r>
              <a:rPr lang="en-US" sz="2700" dirty="0"/>
              <a:t> </a:t>
            </a:r>
            <a:r>
              <a:rPr lang="en-US" sz="2700" dirty="0" err="1"/>
              <a:t>etkisi</a:t>
            </a:r>
            <a:r>
              <a:rPr lang="en-US" sz="2700" dirty="0"/>
              <a:t> </a:t>
            </a:r>
            <a:r>
              <a:rPr lang="en-US" sz="2700" dirty="0" err="1"/>
              <a:t>oldu</a:t>
            </a:r>
            <a:r>
              <a:rPr lang="en-US" sz="2700" dirty="0"/>
              <a:t>?
</a:t>
            </a:r>
            <a:r>
              <a:rPr lang="en-US" sz="2700" dirty="0" err="1"/>
              <a:t>Depola</a:t>
            </a:r>
            <a:r>
              <a:rPr lang="en-US" sz="2700" dirty="0"/>
              <a:t> </a:t>
            </a:r>
            <a:r>
              <a:rPr lang="en-US" sz="2700" dirty="0" err="1"/>
              <a:t>ve</a:t>
            </a:r>
            <a:r>
              <a:rPr lang="en-US" sz="2700" dirty="0"/>
              <a:t> </a:t>
            </a:r>
            <a:r>
              <a:rPr lang="en-US" sz="2700" dirty="0" err="1"/>
              <a:t>ilet</a:t>
            </a:r>
            <a:r>
              <a:rPr lang="en-US" sz="2700" dirty="0"/>
              <a:t> </a:t>
            </a:r>
            <a:r>
              <a:rPr lang="en-US" sz="2700" dirty="0" err="1"/>
              <a:t>teletıp</a:t>
            </a:r>
            <a:r>
              <a:rPr lang="en-US" sz="2700" dirty="0"/>
              <a:t>: Bir </a:t>
            </a:r>
            <a:r>
              <a:rPr lang="en-US" sz="2700" dirty="0" err="1"/>
              <a:t>hastadan</a:t>
            </a:r>
            <a:r>
              <a:rPr lang="en-US" sz="2700" dirty="0"/>
              <a:t> </a:t>
            </a:r>
            <a:r>
              <a:rPr lang="en-US" sz="2700" dirty="0" err="1"/>
              <a:t>veri</a:t>
            </a:r>
            <a:r>
              <a:rPr lang="en-US" sz="2700" dirty="0"/>
              <a:t>, </a:t>
            </a:r>
            <a:r>
              <a:rPr lang="en-US" sz="2700" dirty="0" err="1"/>
              <a:t>görüntü</a:t>
            </a:r>
            <a:r>
              <a:rPr lang="en-US" sz="2700" dirty="0"/>
              <a:t> </a:t>
            </a:r>
            <a:r>
              <a:rPr lang="en-US" sz="2700" dirty="0" err="1"/>
              <a:t>ve</a:t>
            </a:r>
            <a:r>
              <a:rPr lang="en-US" sz="2700" dirty="0"/>
              <a:t> video </a:t>
            </a:r>
            <a:r>
              <a:rPr lang="en-US" sz="2700" dirty="0" err="1"/>
              <a:t>almayı</a:t>
            </a:r>
            <a:r>
              <a:rPr lang="en-US" sz="2700" dirty="0"/>
              <a:t> </a:t>
            </a:r>
            <a:r>
              <a:rPr lang="en-US" sz="2700" dirty="0" err="1"/>
              <a:t>ve</a:t>
            </a:r>
            <a:r>
              <a:rPr lang="en-US" sz="2700" dirty="0"/>
              <a:t> </a:t>
            </a:r>
            <a:r>
              <a:rPr lang="en-US" sz="2700" dirty="0" err="1"/>
              <a:t>daha</a:t>
            </a:r>
            <a:r>
              <a:rPr lang="en-US" sz="2700" dirty="0"/>
              <a:t> </a:t>
            </a:r>
            <a:r>
              <a:rPr lang="en-US" sz="2700" dirty="0" err="1"/>
              <a:t>sonra</a:t>
            </a:r>
            <a:r>
              <a:rPr lang="en-US" sz="2700" dirty="0"/>
              <a:t> </a:t>
            </a:r>
            <a:r>
              <a:rPr lang="en-US" sz="2700" dirty="0" err="1"/>
              <a:t>değerlendirilmek</a:t>
            </a:r>
            <a:r>
              <a:rPr lang="en-US" sz="2700" dirty="0"/>
              <a:t> </a:t>
            </a:r>
            <a:r>
              <a:rPr lang="en-US" sz="2700" dirty="0" err="1"/>
              <a:t>üzere</a:t>
            </a:r>
            <a:r>
              <a:rPr lang="en-US" sz="2700" dirty="0"/>
              <a:t> her </a:t>
            </a:r>
            <a:r>
              <a:rPr lang="en-US" sz="2700" dirty="0" err="1"/>
              <a:t>şeyi</a:t>
            </a:r>
            <a:r>
              <a:rPr lang="en-US" sz="2700" dirty="0"/>
              <a:t> </a:t>
            </a:r>
            <a:r>
              <a:rPr lang="en-US" sz="2700" dirty="0" err="1"/>
              <a:t>bir</a:t>
            </a:r>
            <a:r>
              <a:rPr lang="en-US" sz="2700" dirty="0"/>
              <a:t> </a:t>
            </a:r>
            <a:r>
              <a:rPr lang="en-US" sz="2700" dirty="0" err="1"/>
              <a:t>tıp</a:t>
            </a:r>
            <a:r>
              <a:rPr lang="en-US" sz="2700" dirty="0"/>
              <a:t> </a:t>
            </a:r>
            <a:r>
              <a:rPr lang="en-US" sz="2700" dirty="0" err="1"/>
              <a:t>uzmanına</a:t>
            </a:r>
            <a:r>
              <a:rPr lang="en-US" sz="2700" dirty="0"/>
              <a:t> </a:t>
            </a:r>
            <a:r>
              <a:rPr lang="en-US" sz="2700" dirty="0" err="1"/>
              <a:t>iletmeyi</a:t>
            </a:r>
            <a:r>
              <a:rPr lang="en-US" sz="2700" dirty="0"/>
              <a:t> </a:t>
            </a:r>
            <a:r>
              <a:rPr lang="en-US" sz="2700" dirty="0" err="1"/>
              <a:t>içerir</a:t>
            </a:r>
            <a:r>
              <a:rPr lang="en-US" sz="2700" dirty="0"/>
              <a:t>
</a:t>
            </a:r>
            <a:r>
              <a:rPr lang="en-US" sz="2700" dirty="0" err="1"/>
              <a:t>Canlı</a:t>
            </a:r>
            <a:r>
              <a:rPr lang="en-US" sz="2700" dirty="0"/>
              <a:t> </a:t>
            </a:r>
            <a:r>
              <a:rPr lang="en-US" sz="2700" dirty="0" err="1"/>
              <a:t>teletıp</a:t>
            </a:r>
            <a:r>
              <a:rPr lang="en-US" sz="2700" dirty="0"/>
              <a:t>: </a:t>
            </a:r>
            <a:r>
              <a:rPr lang="en-US" sz="2700" dirty="0" err="1"/>
              <a:t>Hastaların</a:t>
            </a:r>
            <a:r>
              <a:rPr lang="en-US" sz="2700" dirty="0"/>
              <a:t> </a:t>
            </a:r>
            <a:r>
              <a:rPr lang="en-US" sz="2700" dirty="0" err="1"/>
              <a:t>ve</a:t>
            </a:r>
            <a:r>
              <a:rPr lang="en-US" sz="2700" dirty="0"/>
              <a:t> </a:t>
            </a:r>
            <a:r>
              <a:rPr lang="en-US" sz="2700" dirty="0" err="1"/>
              <a:t>sağlık</a:t>
            </a:r>
            <a:r>
              <a:rPr lang="en-US" sz="2700" dirty="0"/>
              <a:t> </a:t>
            </a:r>
            <a:r>
              <a:rPr lang="en-US" sz="2700" dirty="0" err="1"/>
              <a:t>hizmeti</a:t>
            </a:r>
            <a:r>
              <a:rPr lang="en-US" sz="2700" dirty="0"/>
              <a:t> </a:t>
            </a:r>
            <a:r>
              <a:rPr lang="en-US" sz="2700" dirty="0" err="1"/>
              <a:t>sağlayıcılarının</a:t>
            </a:r>
            <a:r>
              <a:rPr lang="en-US" sz="2700" dirty="0"/>
              <a:t> </a:t>
            </a:r>
            <a:r>
              <a:rPr lang="en-US" sz="2700" dirty="0" err="1"/>
              <a:t>aynı</a:t>
            </a:r>
            <a:r>
              <a:rPr lang="en-US" sz="2700" dirty="0"/>
              <a:t> </a:t>
            </a:r>
            <a:r>
              <a:rPr lang="en-US" sz="2700" dirty="0" err="1"/>
              <a:t>anda</a:t>
            </a:r>
            <a:r>
              <a:rPr lang="en-US" sz="2700" dirty="0"/>
              <a:t> </a:t>
            </a:r>
            <a:r>
              <a:rPr lang="en-US" sz="2700" dirty="0" err="1"/>
              <a:t>farklı</a:t>
            </a:r>
            <a:r>
              <a:rPr lang="en-US" sz="2700" dirty="0"/>
              <a:t> </a:t>
            </a:r>
            <a:r>
              <a:rPr lang="en-US" sz="2700" dirty="0" err="1"/>
              <a:t>yerlerde</a:t>
            </a:r>
            <a:r>
              <a:rPr lang="en-US" sz="2700" dirty="0"/>
              <a:t> </a:t>
            </a:r>
            <a:r>
              <a:rPr lang="en-US" sz="2700" dirty="0" err="1"/>
              <a:t>bulunmasını</a:t>
            </a:r>
            <a:r>
              <a:rPr lang="en-US" sz="2700" dirty="0"/>
              <a:t> </a:t>
            </a:r>
            <a:r>
              <a:rPr lang="en-US" sz="2700" dirty="0" err="1"/>
              <a:t>gerektirir</a:t>
            </a:r>
            <a:r>
              <a:rPr lang="en-US" sz="2700" dirty="0"/>
              <a:t>; </a:t>
            </a:r>
            <a:r>
              <a:rPr lang="en-US" sz="2700" dirty="0" err="1"/>
              <a:t>genellikle</a:t>
            </a:r>
            <a:r>
              <a:rPr lang="en-US" sz="2700" dirty="0"/>
              <a:t> video </a:t>
            </a:r>
            <a:r>
              <a:rPr lang="en-US" sz="2700" dirty="0" err="1"/>
              <a:t>konferansı</a:t>
            </a:r>
            <a:r>
              <a:rPr lang="en-US" sz="2700" dirty="0"/>
              <a:t> </a:t>
            </a:r>
            <a:r>
              <a:rPr lang="en-US" sz="2700" dirty="0" err="1"/>
              <a:t>içerir</a:t>
            </a:r>
            <a:r>
              <a:rPr lang="en-US" sz="2700" dirty="0"/>
              <a:t>
</a:t>
            </a:r>
            <a:r>
              <a:rPr lang="en-US" sz="2700" dirty="0" err="1"/>
              <a:t>Uzaktan</a:t>
            </a:r>
            <a:r>
              <a:rPr lang="en-US" sz="2700" dirty="0"/>
              <a:t> </a:t>
            </a:r>
            <a:r>
              <a:rPr lang="en-US" sz="2700" dirty="0" err="1"/>
              <a:t>izleme</a:t>
            </a:r>
            <a:r>
              <a:rPr lang="en-US" sz="2700" dirty="0"/>
              <a:t> (</a:t>
            </a:r>
            <a:r>
              <a:rPr lang="en-US" sz="2700" dirty="0" err="1"/>
              <a:t>evde</a:t>
            </a:r>
            <a:r>
              <a:rPr lang="en-US" sz="2700" dirty="0"/>
              <a:t> </a:t>
            </a:r>
            <a:r>
              <a:rPr lang="en-US" sz="2700" dirty="0" err="1"/>
              <a:t>izleme</a:t>
            </a:r>
            <a:r>
              <a:rPr lang="en-US" sz="2700" dirty="0"/>
              <a:t>): Bir </a:t>
            </a:r>
            <a:r>
              <a:rPr lang="en-US" sz="2700" dirty="0" err="1"/>
              <a:t>bireyin</a:t>
            </a:r>
            <a:r>
              <a:rPr lang="en-US" sz="2700" dirty="0"/>
              <a:t> </a:t>
            </a:r>
            <a:r>
              <a:rPr lang="en-US" sz="2700" dirty="0" err="1"/>
              <a:t>yaşamsal</a:t>
            </a:r>
            <a:r>
              <a:rPr lang="en-US" sz="2700" dirty="0"/>
              <a:t> </a:t>
            </a:r>
            <a:r>
              <a:rPr lang="en-US" sz="2700" dirty="0" err="1"/>
              <a:t>belirtilerinin</a:t>
            </a:r>
            <a:r>
              <a:rPr lang="en-US" sz="2700" dirty="0"/>
              <a:t> </a:t>
            </a:r>
            <a:r>
              <a:rPr lang="en-US" sz="2700" dirty="0" err="1"/>
              <a:t>ve</a:t>
            </a:r>
            <a:r>
              <a:rPr lang="en-US" sz="2700" dirty="0"/>
              <a:t> </a:t>
            </a:r>
            <a:r>
              <a:rPr lang="en-US" sz="2700" dirty="0" err="1"/>
              <a:t>diğer</a:t>
            </a:r>
            <a:r>
              <a:rPr lang="en-US" sz="2700" dirty="0"/>
              <a:t> </a:t>
            </a:r>
            <a:r>
              <a:rPr lang="en-US" sz="2700" dirty="0" err="1"/>
              <a:t>sağlık</a:t>
            </a:r>
            <a:r>
              <a:rPr lang="en-US" sz="2700" dirty="0"/>
              <a:t> </a:t>
            </a:r>
            <a:r>
              <a:rPr lang="en-US" sz="2700" dirty="0" err="1"/>
              <a:t>önlemlerinin</a:t>
            </a:r>
            <a:r>
              <a:rPr lang="en-US" sz="2700" dirty="0"/>
              <a:t> </a:t>
            </a:r>
            <a:r>
              <a:rPr lang="en-US" sz="2700" dirty="0" err="1"/>
              <a:t>sürekli</a:t>
            </a:r>
            <a:r>
              <a:rPr lang="en-US" sz="2700" dirty="0"/>
              <a:t> </a:t>
            </a:r>
            <a:r>
              <a:rPr lang="en-US" sz="2700" dirty="0" err="1"/>
              <a:t>olarak</a:t>
            </a:r>
            <a:r>
              <a:rPr lang="en-US" sz="2700" dirty="0"/>
              <a:t> </a:t>
            </a:r>
            <a:r>
              <a:rPr lang="en-US" sz="2700" dirty="0" err="1"/>
              <a:t>ölçülmesini</a:t>
            </a:r>
            <a:r>
              <a:rPr lang="en-US" sz="2700" dirty="0"/>
              <a:t> </a:t>
            </a:r>
            <a:r>
              <a:rPr lang="en-US" sz="2700" dirty="0" err="1"/>
              <a:t>ve</a:t>
            </a:r>
            <a:r>
              <a:rPr lang="en-US" sz="2700" dirty="0"/>
              <a:t> </a:t>
            </a:r>
            <a:r>
              <a:rPr lang="en-US" sz="2700" dirty="0" err="1"/>
              <a:t>bu</a:t>
            </a:r>
            <a:r>
              <a:rPr lang="en-US" sz="2700" dirty="0"/>
              <a:t> </a:t>
            </a:r>
            <a:r>
              <a:rPr lang="en-US" sz="2700" dirty="0" err="1"/>
              <a:t>verilerin</a:t>
            </a:r>
            <a:r>
              <a:rPr lang="en-US" sz="2700" dirty="0"/>
              <a:t> </a:t>
            </a:r>
            <a:r>
              <a:rPr lang="en-US" sz="2700" dirty="0" err="1"/>
              <a:t>bir</a:t>
            </a:r>
            <a:r>
              <a:rPr lang="en-US" sz="2700" dirty="0"/>
              <a:t> </a:t>
            </a:r>
            <a:r>
              <a:rPr lang="en-US" sz="2700" dirty="0" err="1"/>
              <a:t>sağlık</a:t>
            </a:r>
            <a:r>
              <a:rPr lang="en-US" sz="2700" dirty="0"/>
              <a:t> </a:t>
            </a:r>
            <a:r>
              <a:rPr lang="en-US" sz="2700" dirty="0" err="1"/>
              <a:t>hizmeti</a:t>
            </a:r>
            <a:r>
              <a:rPr lang="en-US" sz="2700" dirty="0"/>
              <a:t> </a:t>
            </a:r>
            <a:r>
              <a:rPr lang="en-US" sz="2700" dirty="0" err="1"/>
              <a:t>sağlayıcısına</a:t>
            </a:r>
            <a:r>
              <a:rPr lang="en-US" sz="2700" dirty="0"/>
              <a:t> </a:t>
            </a:r>
            <a:r>
              <a:rPr lang="en-US" sz="2700" dirty="0" err="1"/>
              <a:t>iletilmesini</a:t>
            </a:r>
            <a:r>
              <a:rPr lang="en-US" sz="2700" dirty="0"/>
              <a:t> </a:t>
            </a:r>
            <a:r>
              <a:rPr lang="en-US" sz="2700" dirty="0" err="1"/>
              <a:t>içerir</a:t>
            </a:r>
            <a:endParaRPr lang="en-US" sz="2500" dirty="0"/>
          </a:p>
        </p:txBody>
      </p:sp>
      <p:sp>
        <p:nvSpPr>
          <p:cNvPr id="3" name="Title 2"/>
          <p:cNvSpPr>
            <a:spLocks noGrp="1"/>
          </p:cNvSpPr>
          <p:nvPr>
            <p:ph type="title"/>
          </p:nvPr>
        </p:nvSpPr>
        <p:spPr>
          <a:xfrm>
            <a:off x="762000" y="290459"/>
            <a:ext cx="8026400" cy="527837"/>
          </a:xfrm>
        </p:spPr>
        <p:txBody>
          <a:bodyPr/>
          <a:lstStyle/>
          <a:p>
            <a:r>
              <a:rPr lang="en-US" sz="4000" dirty="0" err="1"/>
              <a:t>Özet</a:t>
            </a:r>
            <a:r>
              <a:rPr lang="en-US" sz="4000" dirty="0"/>
              <a:t>, </a:t>
            </a:r>
            <a:r>
              <a:rPr lang="en-US" sz="4000" dirty="0" err="1"/>
              <a:t>Bölüm</a:t>
            </a:r>
            <a:r>
              <a:rPr lang="en-US" sz="4000" dirty="0"/>
              <a:t> 9</a:t>
            </a:r>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0133789"/>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6571</TotalTime>
  <Words>3278</Words>
  <Application>Microsoft Office PowerPoint</Application>
  <PresentationFormat>Ekran Gösterisi (4:3)</PresentationFormat>
  <Paragraphs>101</Paragraphs>
  <Slides>27</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27</vt:i4>
      </vt:variant>
    </vt:vector>
  </HeadingPairs>
  <TitlesOfParts>
    <vt:vector size="31" baseType="lpstr">
      <vt:lpstr>Arial</vt:lpstr>
      <vt:lpstr>Calibri</vt:lpstr>
      <vt:lpstr>Calibri Light</vt:lpstr>
      <vt:lpstr>Office Theme</vt:lpstr>
      <vt:lpstr>Bilgi Teknolojilerinde Etik</vt:lpstr>
      <vt:lpstr>Öğrenme hedefleri</vt:lpstr>
      <vt:lpstr>BT'nin Yaşam Standardı ve Çalışan Verimliliği Üzerindeki Etkisi</vt:lpstr>
      <vt:lpstr>BT Yatırımı ve Verimliliği</vt:lpstr>
      <vt:lpstr>Üretkenlik Performansı için Temel Etkenler</vt:lpstr>
      <vt:lpstr>Milli Verimlilik Oranlarını Etkileyen Faktörler</vt:lpstr>
      <vt:lpstr>Yapay Zeka</vt:lpstr>
      <vt:lpstr>Makine Öğrenimi</vt:lpstr>
      <vt:lpstr>Robotik ve Doğal Dil İşleme</vt:lpstr>
      <vt:lpstr>ABD'de Sağlık Harcamaları, Bölüm 1</vt:lpstr>
      <vt:lpstr>ABD'de Sağlık Harcamaları, Bölüm 2</vt:lpstr>
      <vt:lpstr>Bilgisayarlı Hasta Kayıtları</vt:lpstr>
      <vt:lpstr>HITECH Yasası</vt:lpstr>
      <vt:lpstr>EHR'lerin, EMR'lerin, PHR'lerin ve HİE'nin Faydaları</vt:lpstr>
      <vt:lpstr>Klinik Karar Desteği ve CPOE</vt:lpstr>
      <vt:lpstr>Telesağlık, Bölüm 1</vt:lpstr>
      <vt:lpstr>Telesağlık, Bölüm 2</vt:lpstr>
      <vt:lpstr>Teletıp ile İlgili Yasal ve Etik Sorular</vt:lpstr>
      <vt:lpstr>Özet, Bölüm 1</vt:lpstr>
      <vt:lpstr>Özet, Bölüm 2</vt:lpstr>
      <vt:lpstr>Özet, Bölüm 3</vt:lpstr>
      <vt:lpstr>Özet, Bölüm 4</vt:lpstr>
      <vt:lpstr>Özet, Bölüm 5</vt:lpstr>
      <vt:lpstr>Özet, Bölüm 6</vt:lpstr>
      <vt:lpstr>Özet, Bölüm 7</vt:lpstr>
      <vt:lpstr>Özet, Bölüm 8</vt:lpstr>
      <vt:lpstr>Özet, Bölüm 9</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karahocaa</cp:lastModifiedBy>
  <cp:revision>298</cp:revision>
  <cp:lastPrinted>2010-11-12T17:54:40Z</cp:lastPrinted>
  <dcterms:created xsi:type="dcterms:W3CDTF">2007-02-15T20:50:52Z</dcterms:created>
  <dcterms:modified xsi:type="dcterms:W3CDTF">2023-11-09T19:29:00Z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