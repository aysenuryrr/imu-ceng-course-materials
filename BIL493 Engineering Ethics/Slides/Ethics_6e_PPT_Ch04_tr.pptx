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1"/>
  </p:sldMasterIdLst>
  <p:notesMasterIdLst>
    <p:notesMasterId r:id="rId44"/>
  </p:notesMasterIdLst>
  <p:handoutMasterIdLst>
    <p:handoutMasterId r:id="rId45"/>
  </p:handoutMasterIdLst>
  <p:sldIdLst>
    <p:sldId id="264" r:id="rId2"/>
    <p:sldId id="261" r:id="rId3"/>
    <p:sldId id="267" r:id="rId4"/>
    <p:sldId id="266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4" r:id="rId29"/>
    <p:sldId id="291" r:id="rId30"/>
    <p:sldId id="292" r:id="rId31"/>
    <p:sldId id="293" r:id="rId32"/>
    <p:sldId id="295" r:id="rId33"/>
    <p:sldId id="296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6" autoAdjust="0"/>
    <p:restoredTop sz="99857" autoAdjust="0"/>
  </p:normalViewPr>
  <p:slideViewPr>
    <p:cSldViewPr>
      <p:cViewPr varScale="1">
        <p:scale>
          <a:sx n="85" d="100"/>
          <a:sy n="85" d="100"/>
        </p:scale>
        <p:origin x="6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10/22/2023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10/22/2023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151034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8720" y="6363035"/>
            <a:ext cx="1400289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7177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0488" y="6305978"/>
            <a:ext cx="1403024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47000" cy="620170"/>
          </a:xfrm>
        </p:spPr>
        <p:txBody>
          <a:bodyPr anchor="ctr"/>
          <a:lstStyle/>
          <a:p>
            <a:r>
              <a:rPr lang="en-US" sz="4700" b="1" dirty="0"/>
              <a:t>Bilgi </a:t>
            </a:r>
            <a:r>
              <a:rPr lang="en-US" sz="4700" b="1" dirty="0" err="1"/>
              <a:t>Teknolojilerinde</a:t>
            </a:r>
            <a:r>
              <a:rPr lang="en-US" sz="4700" b="1" dirty="0"/>
              <a:t> </a:t>
            </a:r>
            <a:r>
              <a:rPr lang="en-US" sz="4700" b="1" dirty="0" err="1"/>
              <a:t>Etik</a:t>
            </a:r>
            <a:endParaRPr lang="en-US" sz="47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3124200"/>
            <a:ext cx="7747000" cy="1616596"/>
          </a:xfrm>
        </p:spPr>
        <p:txBody>
          <a:bodyPr/>
          <a:lstStyle/>
          <a:p>
            <a:r>
              <a:rPr lang="en-US" sz="3400" dirty="0" err="1"/>
              <a:t>Bölüm</a:t>
            </a:r>
            <a:r>
              <a:rPr lang="en-US" sz="3400" dirty="0"/>
              <a:t> 4 </a:t>
            </a:r>
            <a:r>
              <a:rPr lang="en-US" sz="3400" dirty="0" err="1"/>
              <a:t>Gizlilik</a:t>
            </a:r>
            <a:endParaRPr lang="en-US" sz="4800" b="1" dirty="0"/>
          </a:p>
          <a:p>
            <a:endParaRPr lang="en-US" sz="1050" b="1" dirty="0"/>
          </a:p>
          <a:p>
            <a:endParaRPr lang="en-US" sz="1050" b="1" dirty="0"/>
          </a:p>
          <a:p>
            <a:r>
              <a:rPr lang="en-US" sz="2400" b="1" dirty="0">
                <a:solidFill>
                  <a:schemeClr val="accent2"/>
                </a:solidFill>
              </a:rPr>
              <a:t>George W. Reynolds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1066801" y="6477000"/>
            <a:ext cx="6248400" cy="244535"/>
          </a:xfrm>
        </p:spPr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46048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130" y="196385"/>
            <a:ext cx="6185469" cy="1051057"/>
          </a:xfrm>
        </p:spPr>
        <p:txBody>
          <a:bodyPr/>
          <a:lstStyle/>
          <a:p>
            <a:r>
              <a:rPr lang="en-US" sz="4000" dirty="0" err="1"/>
              <a:t>Öğrenme</a:t>
            </a:r>
            <a:r>
              <a:rPr lang="en-US" sz="4000" dirty="0"/>
              <a:t> </a:t>
            </a:r>
            <a:r>
              <a:rPr lang="en-US" sz="4000" dirty="0" err="1"/>
              <a:t>Hedefleri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425131" y="1143000"/>
            <a:ext cx="6337869" cy="4616648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tx1"/>
                </a:solidFill>
              </a:rPr>
              <a:t>Mahremiyet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hakkı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nedir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yasalar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uyarınca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kişisel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mahremiyeti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korumanın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temeli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nedir</a:t>
            </a:r>
            <a:r>
              <a:rPr lang="en-US" sz="2800" dirty="0">
                <a:solidFill>
                  <a:schemeClr val="tx1"/>
                </a:solidFill>
              </a:rPr>
              <a:t>?
</a:t>
            </a:r>
            <a:r>
              <a:rPr lang="en-US" sz="2800" dirty="0" err="1">
                <a:solidFill>
                  <a:schemeClr val="tx1"/>
                </a:solidFill>
              </a:rPr>
              <a:t>Kişisel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verilerin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gizliliği</a:t>
            </a:r>
            <a:r>
              <a:rPr lang="en-US" sz="2800" dirty="0">
                <a:solidFill>
                  <a:schemeClr val="tx1"/>
                </a:solidFill>
              </a:rPr>
              <a:t> için </a:t>
            </a:r>
            <a:r>
              <a:rPr lang="en-US" sz="2800" dirty="0" err="1">
                <a:solidFill>
                  <a:schemeClr val="tx1"/>
                </a:solidFill>
              </a:rPr>
              <a:t>koruma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sağlayan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yasalardan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bazıları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nelerdir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bunlarla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ilişkili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etik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sorunlardan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bazıları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nelerdir</a:t>
            </a:r>
            <a:r>
              <a:rPr lang="en-US" sz="2800" dirty="0">
                <a:solidFill>
                  <a:schemeClr val="tx1"/>
                </a:solidFill>
              </a:rPr>
              <a:t>?
</a:t>
            </a:r>
            <a:r>
              <a:rPr lang="en-US" sz="2800" dirty="0" err="1">
                <a:solidFill>
                  <a:schemeClr val="tx1"/>
                </a:solidFill>
              </a:rPr>
              <a:t>Tüketici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profili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oluşturma</a:t>
            </a:r>
            <a:r>
              <a:rPr lang="en-US" sz="2800" dirty="0">
                <a:solidFill>
                  <a:schemeClr val="tx1"/>
                </a:solidFill>
              </a:rPr>
              <a:t> için </a:t>
            </a:r>
            <a:r>
              <a:rPr lang="en-US" sz="2800" dirty="0" err="1">
                <a:solidFill>
                  <a:schemeClr val="tx1"/>
                </a:solidFill>
              </a:rPr>
              <a:t>çeşitli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stratejiler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nelerdir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ve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ilgili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etik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sorunlar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nelerdir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8289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5131" y="196385"/>
            <a:ext cx="5954244" cy="1051057"/>
          </a:xfrm>
        </p:spPr>
        <p:txBody>
          <a:bodyPr/>
          <a:lstStyle/>
          <a:p>
            <a:r>
              <a:rPr lang="en-US" sz="4000" dirty="0" err="1"/>
              <a:t>Öğrenme</a:t>
            </a:r>
            <a:r>
              <a:rPr lang="en-US" sz="4000" dirty="0"/>
              <a:t> </a:t>
            </a:r>
            <a:r>
              <a:rPr lang="en-US" sz="4000" dirty="0" err="1"/>
              <a:t>Hedefleri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body" idx="1"/>
          </p:nvPr>
        </p:nvSpPr>
        <p:spPr>
          <a:xfrm>
            <a:off x="2425131" y="1143000"/>
            <a:ext cx="6337869" cy="4739759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E-</a:t>
            </a:r>
            <a:r>
              <a:rPr lang="en-US" sz="3600" dirty="0" err="1">
                <a:solidFill>
                  <a:schemeClr val="tx1"/>
                </a:solidFill>
              </a:rPr>
              <a:t>keşif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nedir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ve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nasıl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kullanılır</a:t>
            </a:r>
            <a:r>
              <a:rPr lang="en-US" sz="3600" dirty="0">
                <a:solidFill>
                  <a:schemeClr val="tx1"/>
                </a:solidFill>
              </a:rPr>
              <a:t>? 
</a:t>
            </a:r>
            <a:r>
              <a:rPr lang="en-US" sz="3600" dirty="0" err="1">
                <a:solidFill>
                  <a:schemeClr val="tx1"/>
                </a:solidFill>
              </a:rPr>
              <a:t>İşverenler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neden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ve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nasıl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işyeri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izlemeyi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giderek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daha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fazla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kullanıyor</a:t>
            </a:r>
            <a:r>
              <a:rPr lang="en-US" sz="3600" dirty="0">
                <a:solidFill>
                  <a:schemeClr val="tx1"/>
                </a:solidFill>
              </a:rPr>
              <a:t>?
</a:t>
            </a:r>
            <a:r>
              <a:rPr lang="en-US" sz="3600" dirty="0" err="1">
                <a:solidFill>
                  <a:schemeClr val="tx1"/>
                </a:solidFill>
              </a:rPr>
              <a:t>Gelişmiş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gözetim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teknolojilerinin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yetenekleri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nelerdir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ve</a:t>
            </a:r>
            <a:r>
              <a:rPr lang="en-US" sz="3600" dirty="0">
                <a:solidFill>
                  <a:schemeClr val="tx1"/>
                </a:solidFill>
              </a:rPr>
              <a:t> hangi </a:t>
            </a:r>
            <a:r>
              <a:rPr lang="en-US" sz="3600" dirty="0" err="1">
                <a:solidFill>
                  <a:schemeClr val="tx1"/>
                </a:solidFill>
              </a:rPr>
              <a:t>etik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sorunları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gündeme</a:t>
            </a:r>
            <a:r>
              <a:rPr lang="en-US" sz="3600" dirty="0">
                <a:solidFill>
                  <a:schemeClr val="tx1"/>
                </a:solidFill>
              </a:rPr>
              <a:t> </a:t>
            </a:r>
            <a:r>
              <a:rPr lang="en-US" sz="3600" dirty="0" err="1">
                <a:solidFill>
                  <a:schemeClr val="tx1"/>
                </a:solidFill>
              </a:rPr>
              <a:t>getirirler</a:t>
            </a:r>
            <a:r>
              <a:rPr lang="en-US" sz="36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98434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igure 4-1: This figure illustrates the types of data that organizations gather about an individual in order to answer the question, &quot;Who are you?&quot; Types of data gathered may related to a person’s: associates and affiliations, driving record, education records, financial data, location data, medical history, police record, work history, sexual orientation, and web-browsing behavior. 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787" y="1066800"/>
            <a:ext cx="5562600" cy="5353482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384329"/>
            <a:ext cx="8153400" cy="340093"/>
          </a:xfrm>
        </p:spPr>
        <p:txBody>
          <a:bodyPr/>
          <a:lstStyle/>
          <a:p>
            <a:r>
              <a:rPr lang="en-US" sz="2600" dirty="0" err="1"/>
              <a:t>Kuruluşlar</a:t>
            </a:r>
            <a:r>
              <a:rPr lang="en-US" sz="2600" dirty="0"/>
              <a:t> </a:t>
            </a:r>
            <a:r>
              <a:rPr lang="en-US" sz="2600" dirty="0" err="1"/>
              <a:t>Daha</a:t>
            </a:r>
            <a:r>
              <a:rPr lang="en-US" sz="2600" dirty="0"/>
              <a:t> İyi </a:t>
            </a:r>
            <a:r>
              <a:rPr lang="en-US" sz="2600" dirty="0" err="1"/>
              <a:t>Kararlar</a:t>
            </a:r>
            <a:r>
              <a:rPr lang="en-US" sz="2600" dirty="0"/>
              <a:t> </a:t>
            </a:r>
            <a:r>
              <a:rPr lang="en-US" sz="2600" dirty="0" err="1"/>
              <a:t>Almak</a:t>
            </a:r>
            <a:r>
              <a:rPr lang="en-US" sz="2600" dirty="0"/>
              <a:t> İçin </a:t>
            </a:r>
            <a:r>
              <a:rPr lang="en-US" sz="2600" dirty="0" err="1"/>
              <a:t>Kişisel</a:t>
            </a:r>
            <a:r>
              <a:rPr lang="en-US" sz="2600" dirty="0"/>
              <a:t> </a:t>
            </a:r>
            <a:r>
              <a:rPr lang="en-US" sz="2600" dirty="0" err="1"/>
              <a:t>Verileri</a:t>
            </a:r>
            <a:r>
              <a:rPr lang="en-US" sz="2600" dirty="0"/>
              <a:t> </a:t>
            </a:r>
            <a:r>
              <a:rPr lang="en-US" sz="2600" dirty="0" err="1"/>
              <a:t>Toplar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82797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57279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altLang="en-US" sz="2700" dirty="0" err="1"/>
              <a:t>Haklar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Bildirgesi</a:t>
            </a:r>
            <a:r>
              <a:rPr lang="en-US" altLang="en-US" sz="2700" dirty="0"/>
              <a:t>: </a:t>
            </a:r>
            <a:r>
              <a:rPr lang="en-US" altLang="en-US" sz="2700" dirty="0" err="1"/>
              <a:t>Kişisel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özgürlükler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haklar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konusunda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daha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spesifik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güvenceler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sağlamak</a:t>
            </a:r>
            <a:r>
              <a:rPr lang="en-US" altLang="en-US" sz="2700" dirty="0"/>
              <a:t> için </a:t>
            </a:r>
            <a:r>
              <a:rPr lang="en-US" altLang="en-US" sz="2700" dirty="0" err="1"/>
              <a:t>eklenen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Anayasa'ya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yapılan</a:t>
            </a:r>
            <a:r>
              <a:rPr lang="en-US" altLang="en-US" sz="2700" dirty="0"/>
              <a:t> ilk on </a:t>
            </a:r>
            <a:r>
              <a:rPr lang="en-US" altLang="en-US" sz="2700" dirty="0" err="1"/>
              <a:t>değişiklik</a:t>
            </a:r>
            <a:r>
              <a:rPr lang="en-US" altLang="en-US" sz="2700" dirty="0"/>
              <a:t>
</a:t>
            </a:r>
            <a:r>
              <a:rPr lang="en-US" altLang="en-US" sz="2700" dirty="0" err="1"/>
              <a:t>Dördüncü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Değişiklik</a:t>
            </a:r>
            <a:r>
              <a:rPr lang="en-US" altLang="en-US" sz="2700" dirty="0"/>
              <a:t>: 
"Makul </a:t>
            </a:r>
            <a:r>
              <a:rPr lang="en-US" altLang="en-US" sz="2700" dirty="0" err="1"/>
              <a:t>olmayan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arama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koymalara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karşı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kişilerin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kişileri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evleri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kağıtları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eşyalarının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güvenliği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hakkı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ihlal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edilemez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Yemin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veya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ikrarla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desteklenen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özellikle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aranacak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yeri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konulacak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kişi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veya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şeyleri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tanımlayan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olası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neden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dışında</a:t>
            </a:r>
            <a:r>
              <a:rPr lang="en-US" altLang="en-US" sz="2700" dirty="0"/>
              <a:t> Emir </a:t>
            </a:r>
            <a:r>
              <a:rPr lang="en-US" altLang="en-US" sz="2700" dirty="0" err="1"/>
              <a:t>çıkarılamaz</a:t>
            </a:r>
            <a:r>
              <a:rPr lang="en-US" altLang="en-US" sz="2700" dirty="0"/>
              <a:t>."
</a:t>
            </a:r>
            <a:r>
              <a:rPr lang="en-US" altLang="en-US" sz="2700" dirty="0" err="1"/>
              <a:t>Amerikalılar</a:t>
            </a:r>
            <a:r>
              <a:rPr lang="en-US" altLang="en-US" sz="2700" dirty="0"/>
              <a:t>, "</a:t>
            </a:r>
            <a:r>
              <a:rPr lang="en-US" altLang="en-US" sz="2700" dirty="0" err="1"/>
              <a:t>makul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mahremiyet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beklentisi</a:t>
            </a:r>
            <a:r>
              <a:rPr lang="en-US" altLang="en-US" sz="2700" dirty="0"/>
              <a:t>" </a:t>
            </a:r>
            <a:r>
              <a:rPr lang="en-US" altLang="en-US" sz="2700" dirty="0" err="1"/>
              <a:t>olduğunda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Dördüncü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Değişiklik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tarafından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korunmaktadır</a:t>
            </a:r>
            <a:r>
              <a:rPr lang="en-US" altLang="en-US" sz="2700" dirty="0"/>
              <a:t>.</a:t>
            </a:r>
            <a:endParaRPr lang="en-US" sz="27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 err="1"/>
              <a:t>Gizliliğin</a:t>
            </a:r>
            <a:r>
              <a:rPr lang="en-US" sz="4000" dirty="0"/>
              <a:t> </a:t>
            </a:r>
            <a:r>
              <a:rPr lang="en-US" sz="4000" dirty="0" err="1"/>
              <a:t>Korunması</a:t>
            </a:r>
            <a:r>
              <a:rPr lang="en-US" sz="4000" dirty="0"/>
              <a:t> </a:t>
            </a:r>
            <a:r>
              <a:rPr lang="en-US" sz="4000" dirty="0" err="1"/>
              <a:t>ve</a:t>
            </a:r>
            <a:r>
              <a:rPr lang="en-US" sz="4000" dirty="0"/>
              <a:t> Kanun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918344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837974"/>
          </a:xfrm>
        </p:spPr>
        <p:txBody>
          <a:bodyPr/>
          <a:lstStyle/>
          <a:p>
            <a:r>
              <a:rPr lang="en-US" altLang="en-US" sz="3600" dirty="0" err="1"/>
              <a:t>Mahremiyet</a:t>
            </a:r>
            <a:r>
              <a:rPr lang="en-US" altLang="en-US" sz="3600" dirty="0"/>
              <a:t> </a:t>
            </a:r>
            <a:r>
              <a:rPr lang="en-US" altLang="en-US" sz="3600" dirty="0" err="1"/>
              <a:t>hakkı</a:t>
            </a:r>
            <a:r>
              <a:rPr lang="en-US" altLang="en-US" sz="3600" dirty="0"/>
              <a:t>: </a:t>
            </a:r>
            <a:r>
              <a:rPr lang="en-US" altLang="en-US" sz="3600" dirty="0" err="1"/>
              <a:t>Yalnız</a:t>
            </a:r>
            <a:r>
              <a:rPr lang="en-US" altLang="en-US" sz="3600" dirty="0"/>
              <a:t> </a:t>
            </a:r>
            <a:r>
              <a:rPr lang="en-US" altLang="en-US" sz="3600" dirty="0" err="1"/>
              <a:t>bırakılma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hakkı</a:t>
            </a:r>
            <a:r>
              <a:rPr lang="en-US" altLang="en-US" sz="3600" dirty="0"/>
              <a:t>
Bilgi </a:t>
            </a:r>
            <a:r>
              <a:rPr lang="en-US" altLang="en-US" sz="3600" dirty="0" err="1"/>
              <a:t>gizliliği</a:t>
            </a:r>
            <a:r>
              <a:rPr lang="en-US" altLang="en-US" sz="3600" dirty="0"/>
              <a:t>: </a:t>
            </a:r>
            <a:r>
              <a:rPr lang="en-US" altLang="en-US" sz="3600" dirty="0" err="1"/>
              <a:t>İletişim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gizliliği</a:t>
            </a:r>
            <a:r>
              <a:rPr lang="en-US" altLang="en-US" sz="3600" dirty="0"/>
              <a:t> (</a:t>
            </a:r>
            <a:r>
              <a:rPr lang="en-US" altLang="en-US" sz="3600" dirty="0" err="1"/>
              <a:t>bu</a:t>
            </a:r>
            <a:r>
              <a:rPr lang="en-US" altLang="en-US" sz="3600" dirty="0"/>
              <a:t> </a:t>
            </a:r>
            <a:r>
              <a:rPr lang="en-US" altLang="en-US" sz="3600" dirty="0" err="1"/>
              <a:t>iletişimler</a:t>
            </a:r>
            <a:r>
              <a:rPr lang="en-US" altLang="en-US" sz="3600" dirty="0"/>
              <a:t> </a:t>
            </a:r>
            <a:r>
              <a:rPr lang="en-US" altLang="en-US" sz="3600" dirty="0" err="1"/>
              <a:t>izlenmeden</a:t>
            </a:r>
            <a:r>
              <a:rPr lang="en-US" altLang="en-US" sz="3600" dirty="0"/>
              <a:t> </a:t>
            </a:r>
            <a:r>
              <a:rPr lang="en-US" altLang="en-US" sz="3600" dirty="0" err="1"/>
              <a:t>başkalarıyla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iletişim</a:t>
            </a:r>
            <a:r>
              <a:rPr lang="en-US" altLang="en-US" sz="3600" dirty="0"/>
              <a:t> </a:t>
            </a:r>
            <a:r>
              <a:rPr lang="en-US" altLang="en-US" sz="3600" dirty="0" err="1"/>
              <a:t>kurma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yeteneği</a:t>
            </a:r>
            <a:r>
              <a:rPr lang="en-US" altLang="en-US" sz="3600" dirty="0"/>
              <a:t>) </a:t>
            </a:r>
            <a:r>
              <a:rPr lang="en-US" altLang="en-US" sz="3600" dirty="0" err="1"/>
              <a:t>ve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veri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gizliliğinin</a:t>
            </a:r>
            <a:r>
              <a:rPr lang="en-US" altLang="en-US" sz="3600" dirty="0"/>
              <a:t> (</a:t>
            </a:r>
            <a:r>
              <a:rPr lang="en-US" altLang="en-US" sz="3600" dirty="0" err="1"/>
              <a:t>erişimi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sınırlama</a:t>
            </a:r>
            <a:r>
              <a:rPr lang="en-US" altLang="en-US" sz="3600" dirty="0"/>
              <a:t> </a:t>
            </a:r>
            <a:r>
              <a:rPr lang="en-US" altLang="en-US" sz="3600" dirty="0" err="1"/>
              <a:t>yeteneği</a:t>
            </a:r>
            <a:r>
              <a:rPr lang="en-US" altLang="en-US" sz="3600" dirty="0"/>
              <a:t>) </a:t>
            </a:r>
            <a:r>
              <a:rPr lang="en-US" altLang="en-US" sz="3600" dirty="0" err="1"/>
              <a:t>birleşimi</a:t>
            </a:r>
            <a:br>
              <a:rPr lang="en-US" altLang="en-US" sz="3600" dirty="0"/>
            </a:br>
            <a:r>
              <a:rPr lang="en-US" altLang="en-US" sz="3600" dirty="0" err="1"/>
              <a:t>başkaları</a:t>
            </a:r>
            <a:r>
              <a:rPr lang="en-US" altLang="en-US" sz="3600" dirty="0"/>
              <a:t> </a:t>
            </a:r>
            <a:r>
              <a:rPr lang="en-US" altLang="en-US" sz="3600" dirty="0" err="1"/>
              <a:t>tarafından</a:t>
            </a:r>
            <a:r>
              <a:rPr lang="en-US" altLang="en-US" sz="3600" dirty="0"/>
              <a:t> </a:t>
            </a:r>
            <a:r>
              <a:rPr lang="en-US" altLang="en-US" sz="3600" dirty="0" err="1"/>
              <a:t>kişinin</a:t>
            </a:r>
            <a:r>
              <a:rPr lang="en-US" altLang="en-US" sz="3600" dirty="0"/>
              <a:t> </a:t>
            </a:r>
            <a:r>
              <a:rPr lang="en-US" altLang="en-US" sz="3600" dirty="0" err="1"/>
              <a:t>kişisel</a:t>
            </a:r>
            <a:r>
              <a:rPr lang="en-US" altLang="en-US" sz="3600" dirty="0"/>
              <a:t> </a:t>
            </a:r>
            <a:r>
              <a:rPr lang="en-US" altLang="en-US" sz="3600" dirty="0" err="1"/>
              <a:t>verilerine</a:t>
            </a:r>
            <a:r>
              <a:rPr lang="en-US" altLang="en-US" sz="3600" dirty="0"/>
              <a:t>).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Information Privacy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0268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3173176"/>
          </a:xfrm>
        </p:spPr>
        <p:txBody>
          <a:bodyPr/>
          <a:lstStyle/>
          <a:p>
            <a:r>
              <a:rPr lang="en-US" sz="2800" dirty="0"/>
              <a:t>Adil </a:t>
            </a:r>
            <a:r>
              <a:rPr lang="en-US" sz="2800" dirty="0" err="1"/>
              <a:t>Kredi</a:t>
            </a:r>
            <a:r>
              <a:rPr lang="en-US" sz="2800" dirty="0"/>
              <a:t> </a:t>
            </a:r>
            <a:r>
              <a:rPr lang="en-US" sz="2800" dirty="0" err="1"/>
              <a:t>Raporlama</a:t>
            </a:r>
            <a:r>
              <a:rPr lang="en-US" sz="2800" dirty="0"/>
              <a:t> </a:t>
            </a:r>
            <a:r>
              <a:rPr lang="en-US" sz="2800" dirty="0" err="1"/>
              <a:t>Yasası</a:t>
            </a:r>
            <a:r>
              <a:rPr lang="en-US" sz="2800" dirty="0"/>
              <a:t>: </a:t>
            </a:r>
            <a:r>
              <a:rPr lang="en-US" sz="2800" dirty="0" err="1"/>
              <a:t>Kredi</a:t>
            </a:r>
            <a:r>
              <a:rPr lang="en-US" sz="2800" dirty="0"/>
              <a:t> </a:t>
            </a:r>
            <a:r>
              <a:rPr lang="en-US" sz="2800" dirty="0" err="1"/>
              <a:t>raporlama</a:t>
            </a:r>
            <a:r>
              <a:rPr lang="en-US" sz="2800" dirty="0"/>
              <a:t> </a:t>
            </a:r>
            <a:r>
              <a:rPr lang="en-US" sz="2800" dirty="0" err="1"/>
              <a:t>bürolarının</a:t>
            </a:r>
            <a:r>
              <a:rPr lang="en-US" sz="2800" dirty="0"/>
              <a:t> </a:t>
            </a:r>
            <a:r>
              <a:rPr lang="en-US" sz="2800" dirty="0" err="1"/>
              <a:t>faaliyetlerini</a:t>
            </a:r>
            <a:r>
              <a:rPr lang="en-US" sz="2800" dirty="0"/>
              <a:t> </a:t>
            </a:r>
            <a:r>
              <a:rPr lang="en-US" sz="2800" dirty="0" err="1"/>
              <a:t>düzenler</a:t>
            </a:r>
            <a:r>
              <a:rPr lang="en-US" sz="2800" dirty="0"/>
              <a:t>
</a:t>
            </a:r>
            <a:r>
              <a:rPr lang="en-US" sz="2800" dirty="0" err="1"/>
              <a:t>Finansal</a:t>
            </a:r>
            <a:r>
              <a:rPr lang="en-US" sz="2800" dirty="0"/>
              <a:t> </a:t>
            </a:r>
            <a:r>
              <a:rPr lang="en-US" sz="2800" dirty="0" err="1"/>
              <a:t>Gizlilik</a:t>
            </a:r>
            <a:r>
              <a:rPr lang="en-US" sz="2800" dirty="0"/>
              <a:t> </a:t>
            </a:r>
            <a:r>
              <a:rPr lang="en-US" sz="2800" dirty="0" err="1"/>
              <a:t>Hakkı</a:t>
            </a:r>
            <a:r>
              <a:rPr lang="en-US" sz="2800" dirty="0"/>
              <a:t> </a:t>
            </a:r>
            <a:r>
              <a:rPr lang="en-US" sz="2800" dirty="0" err="1"/>
              <a:t>Yasası</a:t>
            </a:r>
            <a:r>
              <a:rPr lang="en-US" sz="2800" dirty="0"/>
              <a:t>: </a:t>
            </a:r>
            <a:r>
              <a:rPr lang="en-US" sz="2800" dirty="0" err="1"/>
              <a:t>Finansal</a:t>
            </a:r>
            <a:r>
              <a:rPr lang="en-US" sz="2800" dirty="0"/>
              <a:t> </a:t>
            </a:r>
            <a:r>
              <a:rPr lang="en-US" sz="2800" dirty="0" err="1"/>
              <a:t>kurum</a:t>
            </a:r>
            <a:r>
              <a:rPr lang="en-US" sz="2800" dirty="0"/>
              <a:t> </a:t>
            </a:r>
            <a:r>
              <a:rPr lang="en-US" sz="2800" dirty="0" err="1"/>
              <a:t>müşterilerinin</a:t>
            </a:r>
            <a:r>
              <a:rPr lang="en-US" sz="2800" dirty="0"/>
              <a:t> </a:t>
            </a:r>
            <a:r>
              <a:rPr lang="en-US" sz="2800" dirty="0" err="1"/>
              <a:t>kayıtlarını</a:t>
            </a:r>
            <a:r>
              <a:rPr lang="en-US" sz="2800" dirty="0"/>
              <a:t> federal </a:t>
            </a:r>
            <a:r>
              <a:rPr lang="en-US" sz="2800" dirty="0" err="1"/>
              <a:t>hükümetin</a:t>
            </a:r>
            <a:r>
              <a:rPr lang="en-US" sz="2800" dirty="0"/>
              <a:t> </a:t>
            </a:r>
            <a:r>
              <a:rPr lang="en-US" sz="2800" dirty="0" err="1"/>
              <a:t>yetkisiz</a:t>
            </a:r>
            <a:r>
              <a:rPr lang="en-US" sz="2800" dirty="0"/>
              <a:t> </a:t>
            </a:r>
            <a:r>
              <a:rPr lang="en-US" sz="2800" dirty="0" err="1"/>
              <a:t>incelemesinden</a:t>
            </a:r>
            <a:r>
              <a:rPr lang="en-US" sz="2800" dirty="0"/>
              <a:t> </a:t>
            </a:r>
            <a:r>
              <a:rPr lang="en-US" sz="2800" dirty="0" err="1"/>
              <a:t>korur</a:t>
            </a:r>
            <a:r>
              <a:rPr lang="en-US" sz="2800" dirty="0"/>
              <a:t>
Özel </a:t>
            </a:r>
            <a:r>
              <a:rPr lang="en-US" sz="2800" dirty="0" err="1"/>
              <a:t>işletmelere</a:t>
            </a:r>
            <a:r>
              <a:rPr lang="en-US" sz="2800" dirty="0"/>
              <a:t> </a:t>
            </a:r>
            <a:r>
              <a:rPr lang="en-US" sz="2800" dirty="0" err="1"/>
              <a:t>veya</a:t>
            </a:r>
            <a:r>
              <a:rPr lang="en-US" sz="2800" dirty="0"/>
              <a:t> eyalet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yerel</a:t>
            </a:r>
            <a:r>
              <a:rPr lang="en-US" sz="2800" dirty="0"/>
              <a:t> </a:t>
            </a:r>
            <a:r>
              <a:rPr lang="en-US" sz="2800" dirty="0" err="1"/>
              <a:t>yönetimlere</a:t>
            </a:r>
            <a:r>
              <a:rPr lang="en-US" sz="2800" dirty="0"/>
              <a:t> </a:t>
            </a:r>
            <a:r>
              <a:rPr lang="en-US" sz="2800" dirty="0" err="1"/>
              <a:t>yapılan</a:t>
            </a:r>
            <a:r>
              <a:rPr lang="en-US" sz="2800" dirty="0"/>
              <a:t> </a:t>
            </a:r>
            <a:r>
              <a:rPr lang="en-US" sz="2800" dirty="0" err="1"/>
              <a:t>açıklamaları</a:t>
            </a:r>
            <a:r>
              <a:rPr lang="en-US" sz="2800" dirty="0"/>
              <a:t> </a:t>
            </a:r>
            <a:r>
              <a:rPr lang="en-US" sz="2800" dirty="0" err="1"/>
              <a:t>kapsamaz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2"/>
            <a:ext cx="80264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Finansal</a:t>
            </a:r>
            <a:r>
              <a:rPr lang="en-US" sz="3200" dirty="0"/>
              <a:t> </a:t>
            </a:r>
            <a:r>
              <a:rPr lang="en-US" sz="3200" dirty="0" err="1"/>
              <a:t>Veriler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062693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143000"/>
            <a:ext cx="8415338" cy="6090898"/>
          </a:xfrm>
        </p:spPr>
        <p:txBody>
          <a:bodyPr/>
          <a:lstStyle/>
          <a:p>
            <a:r>
              <a:rPr lang="en-US" altLang="en-US" sz="2800" dirty="0"/>
              <a:t>Gramm-Leach-Bliley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 (GLBA): </a:t>
            </a:r>
            <a:r>
              <a:rPr lang="en-US" altLang="en-US" sz="2800" dirty="0" err="1"/>
              <a:t>Üç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kişisel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gizlilik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kuralı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içeren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banka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deregülasyon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:
</a:t>
            </a:r>
            <a:r>
              <a:rPr lang="en-US" altLang="en-US" sz="2800" dirty="0" err="1"/>
              <a:t>Finansal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gizlilik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kuralı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Kişisel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finansal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verilerin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toplanması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ifşası</a:t>
            </a:r>
            <a:r>
              <a:rPr lang="en-US" altLang="en-US" sz="2800" dirty="0"/>
              <a:t> için </a:t>
            </a:r>
            <a:r>
              <a:rPr lang="en-US" altLang="en-US" sz="2800" dirty="0" err="1"/>
              <a:t>belirlenmiş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zorunlu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yönergeler</a:t>
            </a:r>
            <a:r>
              <a:rPr lang="en-US" altLang="en-US" sz="2800" dirty="0"/>
              <a:t>
</a:t>
            </a:r>
            <a:r>
              <a:rPr lang="en-US" altLang="en-US" sz="2800" dirty="0" err="1"/>
              <a:t>Devre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dışı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bırakma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Müşteriler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kurumlara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kişisel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üçüncü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taraflarla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paylaşma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hakkı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vermeyi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reddedebilir</a:t>
            </a:r>
            <a:r>
              <a:rPr lang="en-US" altLang="en-US" sz="2800" dirty="0"/>
              <a:t> 
Kabul </a:t>
            </a:r>
            <a:r>
              <a:rPr lang="en-US" altLang="en-US" sz="2800" dirty="0" err="1"/>
              <a:t>etme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Devre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dışı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bırakmak</a:t>
            </a:r>
            <a:r>
              <a:rPr lang="en-US" altLang="en-US" sz="2800" dirty="0"/>
              <a:t> için </a:t>
            </a:r>
            <a:r>
              <a:rPr lang="en-US" altLang="en-US" sz="2800" dirty="0" err="1"/>
              <a:t>herhangi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işlem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yapmayan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müşteriler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otomatik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olarak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kaydolur</a:t>
            </a:r>
            <a:r>
              <a:rPr lang="en-US" altLang="en-US" sz="2800" dirty="0"/>
              <a:t>
</a:t>
            </a:r>
            <a:r>
              <a:rPr lang="en-US" altLang="en-US" sz="2800" dirty="0" err="1"/>
              <a:t>Koruma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kuralı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Finansal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kurumların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kişisel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korumak</a:t>
            </a:r>
            <a:r>
              <a:rPr lang="en-US" altLang="en-US" sz="2800" dirty="0"/>
              <a:t> için </a:t>
            </a:r>
            <a:r>
              <a:rPr lang="en-US" altLang="en-US" sz="2800" dirty="0" err="1"/>
              <a:t>bir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güvenliği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planı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belgelemesini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gerektirir</a:t>
            </a:r>
            <a:r>
              <a:rPr lang="en-US" altLang="en-US" sz="2800" dirty="0"/>
              <a:t> 
</a:t>
            </a:r>
            <a:r>
              <a:rPr lang="en-US" altLang="en-US" sz="2800" dirty="0" err="1"/>
              <a:t>Bahane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kuralı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Kişilerin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uygun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yetki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olmadan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kişisel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bilgilere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erişme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girişimlerini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alır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229600" cy="840871"/>
          </a:xfrm>
        </p:spPr>
        <p:txBody>
          <a:bodyPr/>
          <a:lstStyle/>
          <a:p>
            <a:r>
              <a:rPr lang="en-US" sz="3200" dirty="0"/>
              <a:t>Privacy Laws, Applications, and Court Rulings: </a:t>
            </a:r>
            <a:br>
              <a:rPr lang="en-US" sz="3200" dirty="0"/>
            </a:br>
            <a:r>
              <a:rPr lang="en-US" sz="3200" dirty="0"/>
              <a:t>Financial Data, Part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7633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143000"/>
            <a:ext cx="8305800" cy="3896451"/>
          </a:xfrm>
        </p:spPr>
        <p:txBody>
          <a:bodyPr/>
          <a:lstStyle/>
          <a:p>
            <a:r>
              <a:rPr lang="en-US" altLang="en-US" sz="3200" dirty="0"/>
              <a:t>Adil </a:t>
            </a:r>
            <a:r>
              <a:rPr lang="en-US" altLang="en-US" sz="3200" dirty="0" err="1"/>
              <a:t>ve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Doğru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Kredi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İşlemleri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Yasası</a:t>
            </a:r>
            <a:r>
              <a:rPr lang="en-US" altLang="en-US" sz="3200" dirty="0"/>
              <a:t>: </a:t>
            </a:r>
            <a:r>
              <a:rPr lang="en-US" altLang="en-US" sz="3200" dirty="0" err="1"/>
              <a:t>Tüketicilerin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üç</a:t>
            </a:r>
            <a:r>
              <a:rPr lang="en-US" altLang="en-US" sz="3200" dirty="0"/>
              <a:t> ana </a:t>
            </a:r>
            <a:r>
              <a:rPr lang="en-US" altLang="en-US" sz="3200" dirty="0" err="1"/>
              <a:t>tüketici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kredisi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raporlama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şirketinin</a:t>
            </a:r>
            <a:r>
              <a:rPr lang="en-US" altLang="en-US" sz="3200" dirty="0"/>
              <a:t> (Equifax, Experian </a:t>
            </a:r>
            <a:r>
              <a:rPr lang="en-US" altLang="en-US" sz="3200" dirty="0" err="1"/>
              <a:t>ve</a:t>
            </a:r>
            <a:r>
              <a:rPr lang="en-US" altLang="en-US" sz="3200" dirty="0"/>
              <a:t> TransUnion) her </a:t>
            </a:r>
            <a:r>
              <a:rPr lang="en-US" altLang="en-US" sz="3200" dirty="0" err="1"/>
              <a:t>birinden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yılda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bir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kez</a:t>
            </a:r>
            <a:r>
              <a:rPr lang="en-US" altLang="en-US" sz="3200" dirty="0"/>
              <a:t> </a:t>
            </a:r>
            <a:r>
              <a:rPr lang="en-US" altLang="en-US" sz="3200" dirty="0" err="1"/>
              <a:t>ücretsiz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kredi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raporu</a:t>
            </a:r>
            <a:r>
              <a:rPr lang="en-US" altLang="en-US" sz="3200" dirty="0"/>
              <a:t> </a:t>
            </a:r>
            <a:r>
              <a:rPr lang="en-US" altLang="en-US" sz="3200" dirty="0" err="1"/>
              <a:t>almalarına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olanak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tanır</a:t>
            </a:r>
            <a:r>
              <a:rPr lang="en-US" altLang="en-US" sz="3200" dirty="0"/>
              <a:t>
</a:t>
            </a:r>
            <a:r>
              <a:rPr lang="en-US" altLang="en-US" sz="3200" dirty="0" err="1"/>
              <a:t>Kimlik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hırsızlığı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kurbanı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olduklarından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veya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olabileceklerinden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şüphelenen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tüketiciler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kredi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dosyalarına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bir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uyarı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koyabilir</a:t>
            </a:r>
            <a:endParaRPr lang="en-US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2296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Finansal</a:t>
            </a:r>
            <a:r>
              <a:rPr lang="en-US" sz="3200" dirty="0"/>
              <a:t> </a:t>
            </a:r>
            <a:r>
              <a:rPr lang="en-US" sz="3200" dirty="0" err="1"/>
              <a:t>Veriler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33231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143000"/>
            <a:ext cx="8305800" cy="5710794"/>
          </a:xfrm>
        </p:spPr>
        <p:txBody>
          <a:bodyPr/>
          <a:lstStyle/>
          <a:p>
            <a:pPr lvl="1"/>
            <a:r>
              <a:rPr lang="en-US" altLang="en-US" sz="2600" dirty="0" err="1"/>
              <a:t>Sağlık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Sigortası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Taşınabilirlik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Sorumluluk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Yasası</a:t>
            </a:r>
            <a:r>
              <a:rPr lang="en-US" altLang="en-US" sz="2600" dirty="0"/>
              <a:t> (HIPAA): </a:t>
            </a:r>
            <a:r>
              <a:rPr lang="en-US" altLang="en-US" sz="2600" dirty="0" err="1"/>
              <a:t>Aşağıdakiler</a:t>
            </a:r>
            <a:r>
              <a:rPr lang="en-US" altLang="en-US" sz="2600" dirty="0"/>
              <a:t> için </a:t>
            </a:r>
            <a:r>
              <a:rPr lang="en-US" altLang="en-US" sz="2600" dirty="0" err="1"/>
              <a:t>tasarlanmış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hükümler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içerir</a:t>
            </a:r>
            <a:r>
              <a:rPr lang="en-US" altLang="en-US" sz="2600" dirty="0"/>
              <a:t>:
</a:t>
            </a:r>
            <a:r>
              <a:rPr lang="en-US" altLang="en-US" sz="2600" dirty="0" err="1"/>
              <a:t>Sağlık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sigortası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kapsamının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taşınabilirliğini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sürekliliğini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iyileştirin</a:t>
            </a:r>
            <a:r>
              <a:rPr lang="en-US" altLang="en-US" sz="2600" dirty="0"/>
              <a:t>
</a:t>
            </a:r>
            <a:r>
              <a:rPr lang="en-US" altLang="en-US" sz="2600" dirty="0" err="1"/>
              <a:t>Sağlık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sigortası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sağlık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hizmeti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sunumunda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dolandırıcılığı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israfı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kötüye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kullanımı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azaltın</a:t>
            </a:r>
            <a:r>
              <a:rPr lang="en-US" altLang="en-US" sz="2600" dirty="0"/>
              <a:t>
</a:t>
            </a:r>
            <a:r>
              <a:rPr lang="en-US" altLang="en-US" sz="2600" dirty="0" err="1"/>
              <a:t>Sağlık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sigortasının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yönetimini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basitleştirin</a:t>
            </a:r>
            <a:endParaRPr lang="en-US" altLang="en-US" sz="2600" dirty="0"/>
          </a:p>
          <a:p>
            <a:r>
              <a:rPr lang="en-US" altLang="en-US" sz="2800" dirty="0"/>
              <a:t>Amerikan </a:t>
            </a:r>
            <a:r>
              <a:rPr lang="en-US" altLang="en-US" sz="2800" dirty="0" err="1"/>
              <a:t>Kurtarma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Yeniden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Yatırım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Elektronik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sağlık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kayıtları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EHR'ler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ile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ilgili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hükümleri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içerir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sz="2400" dirty="0" err="1"/>
              <a:t>Sağlık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bilgilerinin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satışını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yasaklar</a:t>
            </a:r>
            <a:r>
              <a:rPr lang="en-US" altLang="en-US" sz="2400" dirty="0"/>
              <a:t>
</a:t>
            </a:r>
            <a:r>
              <a:rPr lang="en-US" altLang="en-US" sz="2400" dirty="0" err="1"/>
              <a:t>Denetim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izlerinin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şifrelemenin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kullanımını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teşvik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eder</a:t>
            </a:r>
            <a:r>
              <a:rPr lang="en-US" altLang="en-US" sz="2400" dirty="0"/>
              <a:t>
</a:t>
            </a:r>
            <a:r>
              <a:rPr lang="en-US" altLang="en-US" sz="2400" dirty="0" err="1"/>
              <a:t>Hastalar</a:t>
            </a:r>
            <a:r>
              <a:rPr lang="en-US" altLang="en-US" sz="2400" dirty="0"/>
              <a:t> için </a:t>
            </a:r>
            <a:r>
              <a:rPr lang="en-US" altLang="en-US" sz="2400" dirty="0" err="1"/>
              <a:t>erişim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hakları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sağlar</a:t>
            </a:r>
            <a:endParaRPr lang="en-US" altLang="en-US" sz="2800" b="1" dirty="0"/>
          </a:p>
          <a:p>
            <a:pPr marL="0" indent="0">
              <a:buNone/>
            </a:pPr>
            <a:endParaRPr lang="en-US" alt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Sağlık</a:t>
            </a:r>
            <a:r>
              <a:rPr lang="en-US" sz="3200" dirty="0"/>
              <a:t> </a:t>
            </a:r>
            <a:r>
              <a:rPr lang="en-US" sz="3200" dirty="0" err="1"/>
              <a:t>Bilgileri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85081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7657" y="1143000"/>
            <a:ext cx="8422944" cy="5096010"/>
          </a:xfrm>
        </p:spPr>
        <p:txBody>
          <a:bodyPr/>
          <a:lstStyle/>
          <a:p>
            <a:r>
              <a:rPr lang="en-US" altLang="en-US" sz="2700" dirty="0" err="1"/>
              <a:t>Aile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Eğitim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Hakları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Mahremiyeti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Yasası</a:t>
            </a:r>
            <a:r>
              <a:rPr lang="en-US" altLang="en-US" sz="2700" dirty="0"/>
              <a:t> (FERPA): </a:t>
            </a:r>
            <a:r>
              <a:rPr lang="en-US" altLang="en-US" sz="2700" dirty="0" err="1"/>
              <a:t>Ebeveynlere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çocuklarının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eğitim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kayıtlarıyla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ilgili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aşağıdaki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haklar</a:t>
            </a:r>
            <a:r>
              <a:rPr lang="en-US" altLang="en-US" sz="2700" dirty="0"/>
              <a:t> da </a:t>
            </a:r>
            <a:r>
              <a:rPr lang="en-US" altLang="en-US" sz="2700" dirty="0" err="1"/>
              <a:t>dahil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olmak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üzere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haklar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verir</a:t>
            </a:r>
            <a:r>
              <a:rPr lang="en-US" altLang="en-US" sz="2700" dirty="0"/>
              <a:t>:</a:t>
            </a:r>
          </a:p>
          <a:p>
            <a:pPr lvl="1"/>
            <a:r>
              <a:rPr lang="en-US" sz="2400" dirty="0"/>
              <a:t>Bir </a:t>
            </a:r>
            <a:r>
              <a:rPr lang="en-US" sz="2400" dirty="0" err="1"/>
              <a:t>okul</a:t>
            </a:r>
            <a:r>
              <a:rPr lang="en-US" sz="2400" dirty="0"/>
              <a:t> </a:t>
            </a:r>
            <a:r>
              <a:rPr lang="en-US" sz="2400" dirty="0" err="1"/>
              <a:t>tarafından</a:t>
            </a:r>
            <a:r>
              <a:rPr lang="en-US" sz="2400" dirty="0"/>
              <a:t> </a:t>
            </a:r>
            <a:r>
              <a:rPr lang="en-US" sz="2400" dirty="0" err="1"/>
              <a:t>tutulan</a:t>
            </a:r>
            <a:r>
              <a:rPr lang="en-US" sz="2400" dirty="0"/>
              <a:t> </a:t>
            </a:r>
            <a:r>
              <a:rPr lang="en-US" sz="2400" dirty="0" err="1"/>
              <a:t>eğitim</a:t>
            </a:r>
            <a:r>
              <a:rPr lang="en-US" sz="2400" dirty="0"/>
              <a:t> </a:t>
            </a:r>
            <a:r>
              <a:rPr lang="en-US" sz="2400" dirty="0" err="1"/>
              <a:t>kayıtlarına</a:t>
            </a:r>
            <a:r>
              <a:rPr lang="en-US" sz="2400" dirty="0"/>
              <a:t> </a:t>
            </a:r>
            <a:r>
              <a:rPr lang="en-US" sz="2400" dirty="0" err="1"/>
              <a:t>erişin</a:t>
            </a:r>
            <a:r>
              <a:rPr lang="en-US" sz="2400" dirty="0"/>
              <a:t>
</a:t>
            </a:r>
            <a:r>
              <a:rPr lang="en-US" sz="2400" dirty="0" err="1"/>
              <a:t>Eğitim</a:t>
            </a:r>
            <a:r>
              <a:rPr lang="en-US" sz="2400" dirty="0"/>
              <a:t> </a:t>
            </a:r>
            <a:r>
              <a:rPr lang="en-US" sz="2400" dirty="0" err="1"/>
              <a:t>kayıtlarının</a:t>
            </a:r>
            <a:r>
              <a:rPr lang="en-US" sz="2400" dirty="0"/>
              <a:t> </a:t>
            </a:r>
            <a:r>
              <a:rPr lang="en-US" sz="2400" dirty="0" err="1"/>
              <a:t>yalnızca</a:t>
            </a:r>
            <a:r>
              <a:rPr lang="en-US" sz="2400" dirty="0"/>
              <a:t> </a:t>
            </a:r>
            <a:r>
              <a:rPr lang="en-US" sz="2400" dirty="0" err="1"/>
              <a:t>öğrenci</a:t>
            </a:r>
            <a:r>
              <a:rPr lang="en-US" sz="2400" dirty="0"/>
              <a:t> </a:t>
            </a:r>
            <a:r>
              <a:rPr lang="en-US" sz="2400" dirty="0" err="1"/>
              <a:t>onayı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açıklanmasını</a:t>
            </a:r>
            <a:r>
              <a:rPr lang="en-US" sz="2400" dirty="0"/>
              <a:t> </a:t>
            </a:r>
            <a:r>
              <a:rPr lang="en-US" sz="2400" dirty="0" err="1"/>
              <a:t>talep</a:t>
            </a:r>
            <a:r>
              <a:rPr lang="en-US" sz="2400" dirty="0"/>
              <a:t> </a:t>
            </a:r>
            <a:r>
              <a:rPr lang="en-US" sz="2400" dirty="0" err="1"/>
              <a:t>edin</a:t>
            </a:r>
            <a:r>
              <a:rPr lang="en-US" sz="2400" dirty="0"/>
              <a:t>
</a:t>
            </a:r>
            <a:r>
              <a:rPr lang="en-US" sz="2400" dirty="0" err="1"/>
              <a:t>Eğitim</a:t>
            </a:r>
            <a:r>
              <a:rPr lang="en-US" sz="2400" dirty="0"/>
              <a:t> </a:t>
            </a:r>
            <a:r>
              <a:rPr lang="en-US" sz="2400" dirty="0" err="1"/>
              <a:t>kayıtlarını</a:t>
            </a:r>
            <a:r>
              <a:rPr lang="en-US" sz="2400" dirty="0"/>
              <a:t> </a:t>
            </a:r>
            <a:r>
              <a:rPr lang="en-US" sz="2400" dirty="0" err="1"/>
              <a:t>değiştirin</a:t>
            </a:r>
            <a:r>
              <a:rPr lang="en-US" sz="2400" dirty="0"/>
              <a:t>
</a:t>
            </a:r>
            <a:r>
              <a:rPr lang="en-US" sz="2400" dirty="0" err="1"/>
              <a:t>Öğrenci</a:t>
            </a:r>
            <a:r>
              <a:rPr lang="en-US" sz="2400" dirty="0"/>
              <a:t> </a:t>
            </a:r>
            <a:r>
              <a:rPr lang="en-US" sz="2400" dirty="0" err="1"/>
              <a:t>kayıtlarını</a:t>
            </a:r>
            <a:r>
              <a:rPr lang="en-US" sz="2400" dirty="0"/>
              <a:t> </a:t>
            </a:r>
            <a:r>
              <a:rPr lang="en-US" sz="2400" dirty="0" err="1"/>
              <a:t>ifşa</a:t>
            </a:r>
            <a:r>
              <a:rPr lang="en-US" sz="2400" dirty="0"/>
              <a:t> </a:t>
            </a:r>
            <a:r>
              <a:rPr lang="en-US" sz="2400" dirty="0" err="1"/>
              <a:t>ettiği</a:t>
            </a:r>
            <a:r>
              <a:rPr lang="en-US" sz="2400" dirty="0"/>
              <a:t> için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okula</a:t>
            </a:r>
            <a:r>
              <a:rPr lang="en-US" sz="2400" dirty="0"/>
              <a:t> </a:t>
            </a:r>
            <a:r>
              <a:rPr lang="en-US" sz="2400" dirty="0" err="1"/>
              <a:t>karşı</a:t>
            </a:r>
            <a:r>
              <a:rPr lang="en-US" sz="2400" dirty="0"/>
              <a:t> </a:t>
            </a:r>
            <a:r>
              <a:rPr lang="en-US" sz="2400" dirty="0" err="1"/>
              <a:t>şikayette</a:t>
            </a:r>
            <a:r>
              <a:rPr lang="en-US" sz="2400" dirty="0"/>
              <a:t> </a:t>
            </a:r>
            <a:r>
              <a:rPr lang="en-US" sz="2400" dirty="0" err="1"/>
              <a:t>bulunun</a:t>
            </a:r>
            <a:endParaRPr lang="en-US" sz="2400" dirty="0"/>
          </a:p>
          <a:p>
            <a:r>
              <a:rPr lang="en-US" altLang="en-US" sz="2900" dirty="0" err="1"/>
              <a:t>Çocukların</a:t>
            </a:r>
            <a:r>
              <a:rPr lang="en-US" altLang="en-US" sz="2900" dirty="0"/>
              <a:t> </a:t>
            </a:r>
            <a:r>
              <a:rPr lang="en-US" altLang="en-US" sz="2900" dirty="0" err="1"/>
              <a:t>Çevrimiçi</a:t>
            </a:r>
            <a:r>
              <a:rPr lang="en-US" altLang="en-US" sz="2900" dirty="0"/>
              <a:t> </a:t>
            </a:r>
            <a:r>
              <a:rPr lang="en-US" altLang="en-US" sz="2900" dirty="0" err="1"/>
              <a:t>Gizliliğini</a:t>
            </a:r>
            <a:r>
              <a:rPr lang="en-US" altLang="en-US" sz="2900" dirty="0"/>
              <a:t> </a:t>
            </a:r>
            <a:r>
              <a:rPr lang="en-US" altLang="en-US" sz="2900" dirty="0" err="1"/>
              <a:t>Koruma</a:t>
            </a:r>
            <a:r>
              <a:rPr lang="en-US" altLang="en-US" sz="2900" dirty="0"/>
              <a:t> </a:t>
            </a:r>
            <a:r>
              <a:rPr lang="en-US" altLang="en-US" sz="2900" dirty="0" err="1"/>
              <a:t>Yasası</a:t>
            </a:r>
            <a:r>
              <a:rPr lang="en-US" altLang="en-US" sz="2900" dirty="0"/>
              <a:t> (COPPA): </a:t>
            </a:r>
            <a:r>
              <a:rPr lang="en-US" altLang="en-US" sz="2900" dirty="0" err="1"/>
              <a:t>Ebeveynlere</a:t>
            </a:r>
            <a:r>
              <a:rPr lang="en-US" altLang="en-US" sz="2900" dirty="0"/>
              <a:t>, </a:t>
            </a:r>
            <a:r>
              <a:rPr lang="en-US" altLang="en-US" sz="2900" dirty="0" err="1"/>
              <a:t>çocuklarının</a:t>
            </a:r>
            <a:r>
              <a:rPr lang="en-US" altLang="en-US" sz="2900" dirty="0"/>
              <a:t> </a:t>
            </a:r>
            <a:r>
              <a:rPr lang="en-US" altLang="en-US" sz="2900" dirty="0" err="1"/>
              <a:t>kişisel</a:t>
            </a:r>
            <a:r>
              <a:rPr lang="en-US" altLang="en-US" sz="2900" dirty="0"/>
              <a:t> </a:t>
            </a:r>
            <a:r>
              <a:rPr lang="en-US" altLang="en-US" sz="2900" dirty="0" err="1"/>
              <a:t>bilgilerinin</a:t>
            </a:r>
            <a:r>
              <a:rPr lang="en-US" altLang="en-US" sz="2900" dirty="0"/>
              <a:t> İnternet </a:t>
            </a:r>
            <a:r>
              <a:rPr lang="en-US" altLang="en-US" sz="2900" dirty="0" err="1"/>
              <a:t>üzerinden</a:t>
            </a:r>
            <a:r>
              <a:rPr lang="en-US" altLang="en-US" sz="2900" dirty="0"/>
              <a:t> </a:t>
            </a:r>
            <a:r>
              <a:rPr lang="en-US" altLang="en-US" sz="2900" dirty="0" err="1"/>
              <a:t>toplanması</a:t>
            </a:r>
            <a:r>
              <a:rPr lang="en-US" altLang="en-US" sz="2900" dirty="0"/>
              <a:t>, </a:t>
            </a:r>
            <a:r>
              <a:rPr lang="en-US" altLang="en-US" sz="2900" dirty="0" err="1"/>
              <a:t>kullanılması</a:t>
            </a:r>
            <a:r>
              <a:rPr lang="en-US" altLang="en-US" sz="2900" dirty="0"/>
              <a:t> </a:t>
            </a:r>
            <a:r>
              <a:rPr lang="en-US" altLang="en-US" sz="2900" dirty="0" err="1"/>
              <a:t>ve</a:t>
            </a:r>
            <a:r>
              <a:rPr lang="en-US" altLang="en-US" sz="2900" dirty="0"/>
              <a:t> </a:t>
            </a:r>
            <a:r>
              <a:rPr lang="en-US" altLang="en-US" sz="2900" dirty="0" err="1"/>
              <a:t>ifşa</a:t>
            </a:r>
            <a:r>
              <a:rPr lang="en-US" altLang="en-US" sz="2900" dirty="0"/>
              <a:t> </a:t>
            </a:r>
            <a:r>
              <a:rPr lang="en-US" altLang="en-US" sz="2900" dirty="0" err="1"/>
              <a:t>edilmesi</a:t>
            </a:r>
            <a:r>
              <a:rPr lang="en-US" altLang="en-US" sz="2900" dirty="0"/>
              <a:t> </a:t>
            </a:r>
            <a:r>
              <a:rPr lang="en-US" altLang="en-US" sz="2900" dirty="0" err="1"/>
              <a:t>üzerinde</a:t>
            </a:r>
            <a:r>
              <a:rPr lang="en-US" altLang="en-US" sz="2900" dirty="0"/>
              <a:t> </a:t>
            </a:r>
            <a:r>
              <a:rPr lang="en-US" altLang="en-US" sz="2900" dirty="0" err="1"/>
              <a:t>kontrol</a:t>
            </a:r>
            <a:r>
              <a:rPr lang="en-US" altLang="en-US" sz="2900" dirty="0"/>
              <a:t> </a:t>
            </a:r>
            <a:r>
              <a:rPr lang="en-US" altLang="en-US" sz="2900" dirty="0" err="1"/>
              <a:t>sağlar</a:t>
            </a:r>
            <a:endParaRPr lang="en-US" altLang="en-US" sz="29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Çocukların</a:t>
            </a:r>
            <a:r>
              <a:rPr lang="en-US" sz="3200" dirty="0"/>
              <a:t> </a:t>
            </a:r>
            <a:r>
              <a:rPr lang="en-US" sz="3200" dirty="0" err="1"/>
              <a:t>Kişisel</a:t>
            </a:r>
            <a:r>
              <a:rPr lang="en-US" sz="3200" dirty="0"/>
              <a:t> </a:t>
            </a:r>
            <a:r>
              <a:rPr lang="en-US" sz="3200" dirty="0" err="1"/>
              <a:t>Verileri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489818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igure 4-2: This figure shows a timeline for the enactment of some of the most significant laws and executive orders addressing issues of governmental surveillance:&#10;1968: Title III of the Omnibus Crime Control and Safe Streets Act&#10;1978; The Foreign Intelligence Surveillance Act&#10;1981: Executive Order 12333&#10;1986: Electronic Communications Privacy Act&#10;1994: Communications Assistance for Law Enforcement&#10;2001: USA PATRIOT Act&#10;2004: Foreign Intelligence Surveillance Act Amendment&#10;2008: Foreign Intelligence Surveillance Act Amendment&#10;2011: PATRIOT Extension Act&#10;2015: USA Freedom Act&#10;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" y="2133600"/>
            <a:ext cx="9011197" cy="3352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—Zaman </a:t>
            </a:r>
            <a:r>
              <a:rPr lang="en-US" sz="3200" dirty="0" err="1"/>
              <a:t>Çizelgesi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879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763834"/>
          </a:xfrm>
        </p:spPr>
        <p:txBody>
          <a:bodyPr/>
          <a:lstStyle/>
          <a:p>
            <a:r>
              <a:rPr lang="en-US" altLang="en-US" sz="2800" dirty="0"/>
              <a:t>Omnibus </a:t>
            </a:r>
            <a:r>
              <a:rPr lang="en-US" altLang="en-US" sz="2800" dirty="0" err="1"/>
              <a:t>Suç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Kontrolü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Güvenli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Sokaklar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Yasası'nın</a:t>
            </a:r>
            <a:r>
              <a:rPr lang="en-US" altLang="en-US" sz="2800" dirty="0"/>
              <a:t> III. </a:t>
            </a:r>
            <a:r>
              <a:rPr lang="en-US" altLang="en-US" sz="2800" dirty="0" err="1"/>
              <a:t>Başlığı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Telli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sözlü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iletişimin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dinlenmesini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düzenler</a:t>
            </a:r>
            <a:r>
              <a:rPr lang="en-US" altLang="en-US" sz="2800" dirty="0"/>
              <a:t>
</a:t>
            </a:r>
            <a:r>
              <a:rPr lang="en-US" altLang="en-US" sz="2800" dirty="0" err="1"/>
              <a:t>Telefon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Dinleme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olarak</a:t>
            </a:r>
            <a:r>
              <a:rPr lang="en-US" altLang="en-US" sz="2800" dirty="0"/>
              <a:t> da </a:t>
            </a:r>
            <a:r>
              <a:rPr lang="en-US" altLang="en-US" sz="2800" dirty="0" err="1"/>
              <a:t>bilinir</a:t>
            </a:r>
            <a:r>
              <a:rPr lang="en-US" altLang="en-US" sz="2800" dirty="0"/>
              <a:t>
Eyalet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federal </a:t>
            </a:r>
            <a:r>
              <a:rPr lang="en-US" altLang="en-US" sz="2800" dirty="0" err="1"/>
              <a:t>kolluk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kuvvetlerinin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bir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arama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emri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çıkarılması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durumunda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telefon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dinleme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elektronik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dinleme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kullanmasına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izin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6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255011"/>
          </a:xfrm>
        </p:spPr>
        <p:txBody>
          <a:bodyPr/>
          <a:lstStyle/>
          <a:p>
            <a:r>
              <a:rPr lang="en-US" altLang="en-US" sz="2700" dirty="0" err="1"/>
              <a:t>Yabancı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İstihbarat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Gözetim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Yasası</a:t>
            </a:r>
            <a:r>
              <a:rPr lang="en-US" altLang="en-US" sz="2700" dirty="0"/>
              <a:t> (FISA): </a:t>
            </a:r>
            <a:r>
              <a:rPr lang="en-US" altLang="en-US" sz="2700" dirty="0" err="1"/>
              <a:t>Yabancı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güçler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ajanları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arasındaki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iletişimde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yabancı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istihbarat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bilgilerinin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elektronik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gözetimi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toplanması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prosedürlerini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açıklar</a:t>
            </a:r>
            <a:r>
              <a:rPr lang="en-US" altLang="en-US" sz="2700" dirty="0"/>
              <a:t>
</a:t>
            </a:r>
            <a:r>
              <a:rPr lang="en-US" altLang="en-US" sz="2700" dirty="0" err="1"/>
              <a:t>Gözetim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ABD </a:t>
            </a:r>
            <a:r>
              <a:rPr lang="en-US" altLang="en-US" sz="2700" dirty="0" err="1"/>
              <a:t>vatandaşının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daimi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ikametgahının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veya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şirketin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taraf</a:t>
            </a:r>
            <a:r>
              <a:rPr lang="en-US" altLang="en-US" sz="2700" dirty="0"/>
              <a:t> </a:t>
            </a:r>
            <a:r>
              <a:rPr lang="en-US" altLang="en-US" sz="2700" dirty="0" err="1"/>
              <a:t>olduğu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herhangi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iletişimin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içeriğini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elde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etmediği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sürece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mahkeme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emri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olmaksızın</a:t>
            </a:r>
            <a:r>
              <a:rPr lang="en-US" altLang="en-US" sz="2700" dirty="0"/>
              <a:t> ABD </a:t>
            </a:r>
            <a:r>
              <a:rPr lang="en-US" altLang="en-US" sz="2700" dirty="0" err="1"/>
              <a:t>içinde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yıla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kadar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gözetime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izin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verir</a:t>
            </a:r>
            <a:r>
              <a:rPr lang="en-US" altLang="en-US" sz="2700" dirty="0"/>
              <a:t>
</a:t>
            </a:r>
            <a:r>
              <a:rPr lang="en-US" altLang="en-US" sz="2700" dirty="0" err="1"/>
              <a:t>Hükümetin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dünyanın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herhangi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yerindeki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ABD </a:t>
            </a:r>
            <a:r>
              <a:rPr lang="en-US" altLang="en-US" sz="2700" dirty="0" err="1"/>
              <a:t>vatandaşını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kasıtlı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olarak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hedef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almadan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önce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kişiselleştirilmiş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mahkeme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emri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almasını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gerektirir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321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51247"/>
            <a:ext cx="8415338" cy="3425553"/>
          </a:xfrm>
        </p:spPr>
        <p:txBody>
          <a:bodyPr/>
          <a:lstStyle/>
          <a:p>
            <a:r>
              <a:rPr lang="en-US" altLang="en-US" sz="2800" dirty="0"/>
              <a:t>FISA </a:t>
            </a:r>
            <a:r>
              <a:rPr lang="en-US" altLang="en-US" sz="2800" dirty="0" err="1"/>
              <a:t>Mahkemesi</a:t>
            </a:r>
            <a:r>
              <a:rPr lang="en-US" altLang="en-US" sz="2800" dirty="0"/>
              <a:t>: FISA </a:t>
            </a:r>
            <a:r>
              <a:rPr lang="en-US" altLang="en-US" sz="2800" dirty="0" err="1"/>
              <a:t>tarafından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kurulan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ABD'nin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herhangi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yerinde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elektronik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gözetimi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onaylayan</a:t>
            </a:r>
            <a:r>
              <a:rPr lang="en-US" altLang="en-US" sz="2800" dirty="0"/>
              <a:t> emir </a:t>
            </a:r>
            <a:r>
              <a:rPr lang="en-US" altLang="en-US" sz="2800" dirty="0" err="1"/>
              <a:t>başvurularını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dinlemek</a:t>
            </a:r>
            <a:r>
              <a:rPr lang="en-US" altLang="en-US" sz="2800" dirty="0"/>
              <a:t> için </a:t>
            </a:r>
            <a:r>
              <a:rPr lang="en-US" altLang="en-US" sz="2800" dirty="0" err="1"/>
              <a:t>gizlice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toplanan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mahkeme</a:t>
            </a:r>
            <a:r>
              <a:rPr lang="en-US" altLang="en-US" sz="2800" dirty="0"/>
              <a:t>.
2001-2015 </a:t>
            </a:r>
            <a:r>
              <a:rPr lang="en-US" altLang="en-US" sz="2800" dirty="0" err="1"/>
              <a:t>yılları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arasında</a:t>
            </a:r>
            <a:r>
              <a:rPr lang="en-US" altLang="en-US" sz="2800" dirty="0"/>
              <a:t>:
FISA </a:t>
            </a:r>
            <a:r>
              <a:rPr lang="en-US" altLang="en-US" sz="2800" dirty="0" err="1"/>
              <a:t>mahkemesine</a:t>
            </a:r>
            <a:r>
              <a:rPr lang="en-US" altLang="en-US" sz="2800" dirty="0"/>
              <a:t> 25.000'den </a:t>
            </a:r>
            <a:r>
              <a:rPr lang="en-US" altLang="en-US" sz="2800" dirty="0" err="1"/>
              <a:t>fazla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başvuru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yapıldı</a:t>
            </a:r>
            <a:r>
              <a:rPr lang="en-US" altLang="en-US" sz="2800" dirty="0"/>
              <a:t>
</a:t>
            </a:r>
            <a:r>
              <a:rPr lang="en-US" altLang="en-US" sz="2800" dirty="0" err="1"/>
              <a:t>Bunlardan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sadece</a:t>
            </a:r>
            <a:r>
              <a:rPr lang="en-US" altLang="en-US" sz="2800" dirty="0"/>
              <a:t> 12'si </a:t>
            </a:r>
            <a:r>
              <a:rPr lang="en-US" altLang="en-US" sz="2800" dirty="0" err="1"/>
              <a:t>reddedildi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4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51247"/>
            <a:ext cx="8415338" cy="4145750"/>
          </a:xfrm>
        </p:spPr>
        <p:txBody>
          <a:bodyPr/>
          <a:lstStyle/>
          <a:p>
            <a:r>
              <a:rPr lang="en-US" sz="2800" dirty="0" err="1"/>
              <a:t>Yürütme</a:t>
            </a:r>
            <a:r>
              <a:rPr lang="en-US" sz="2800" dirty="0"/>
              <a:t> </a:t>
            </a:r>
            <a:r>
              <a:rPr lang="en-US" sz="2800" dirty="0" err="1"/>
              <a:t>emri</a:t>
            </a:r>
            <a:r>
              <a:rPr lang="en-US" sz="2800" dirty="0"/>
              <a:t>:
ABD </a:t>
            </a:r>
            <a:r>
              <a:rPr lang="en-US" sz="2800" dirty="0" err="1"/>
              <a:t>başkanı</a:t>
            </a:r>
            <a:r>
              <a:rPr lang="en-US" sz="2800" dirty="0"/>
              <a:t> </a:t>
            </a:r>
            <a:r>
              <a:rPr lang="en-US" sz="2800" dirty="0" err="1"/>
              <a:t>tarafından</a:t>
            </a:r>
            <a:r>
              <a:rPr lang="en-US" sz="2800" dirty="0"/>
              <a:t> federal </a:t>
            </a:r>
            <a:r>
              <a:rPr lang="en-US" sz="2800" dirty="0" err="1"/>
              <a:t>hükümetin</a:t>
            </a:r>
            <a:r>
              <a:rPr lang="en-US" sz="2800" dirty="0"/>
              <a:t> </a:t>
            </a:r>
            <a:r>
              <a:rPr lang="en-US" sz="2800" dirty="0" err="1"/>
              <a:t>operasyonlarını</a:t>
            </a:r>
            <a:r>
              <a:rPr lang="en-US" sz="2800" dirty="0"/>
              <a:t> </a:t>
            </a:r>
            <a:r>
              <a:rPr lang="en-US" sz="2800" dirty="0" err="1"/>
              <a:t>yönetmek</a:t>
            </a:r>
            <a:r>
              <a:rPr lang="en-US" sz="2800" dirty="0"/>
              <a:t> için </a:t>
            </a:r>
            <a:r>
              <a:rPr lang="en-US" sz="2800" dirty="0" err="1"/>
              <a:t>kullanılan</a:t>
            </a:r>
            <a:r>
              <a:rPr lang="en-US" sz="2800" dirty="0"/>
              <a:t> </a:t>
            </a:r>
            <a:r>
              <a:rPr lang="en-US" sz="2800" dirty="0" err="1"/>
              <a:t>resmi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belge</a:t>
            </a:r>
            <a:r>
              <a:rPr lang="en-US" sz="2800" dirty="0"/>
              <a:t>
</a:t>
            </a:r>
            <a:r>
              <a:rPr lang="en-US" sz="2800" dirty="0" err="1"/>
              <a:t>Yargı</a:t>
            </a:r>
            <a:r>
              <a:rPr lang="en-US" sz="2800" dirty="0"/>
              <a:t> </a:t>
            </a:r>
            <a:r>
              <a:rPr lang="en-US" sz="2800" dirty="0" err="1"/>
              <a:t>denetimine</a:t>
            </a:r>
            <a:r>
              <a:rPr lang="en-US" sz="2800" dirty="0"/>
              <a:t> </a:t>
            </a:r>
            <a:r>
              <a:rPr lang="en-US" sz="2800" dirty="0" err="1"/>
              <a:t>tabidir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tüzük</a:t>
            </a:r>
            <a:r>
              <a:rPr lang="en-US" sz="2800" dirty="0"/>
              <a:t> </a:t>
            </a:r>
            <a:r>
              <a:rPr lang="en-US" sz="2800" dirty="0" err="1"/>
              <a:t>veya</a:t>
            </a:r>
            <a:r>
              <a:rPr lang="en-US" sz="2800" dirty="0"/>
              <a:t> </a:t>
            </a:r>
            <a:r>
              <a:rPr lang="en-US" sz="2800" dirty="0" err="1"/>
              <a:t>Anayasa</a:t>
            </a:r>
            <a:r>
              <a:rPr lang="en-US" sz="2800" dirty="0"/>
              <a:t> </a:t>
            </a:r>
            <a:r>
              <a:rPr lang="en-US" sz="2800" dirty="0" err="1"/>
              <a:t>tarafından</a:t>
            </a:r>
            <a:r>
              <a:rPr lang="en-US" sz="2800" dirty="0"/>
              <a:t> </a:t>
            </a:r>
            <a:r>
              <a:rPr lang="en-US" sz="2800" dirty="0" err="1"/>
              <a:t>desteklenmediği</a:t>
            </a:r>
            <a:r>
              <a:rPr lang="en-US" sz="2800" dirty="0"/>
              <a:t> </a:t>
            </a:r>
            <a:r>
              <a:rPr lang="en-US" sz="2800" dirty="0" err="1"/>
              <a:t>belirlenirse</a:t>
            </a:r>
            <a:r>
              <a:rPr lang="en-US" sz="2800" dirty="0"/>
              <a:t> </a:t>
            </a:r>
            <a:r>
              <a:rPr lang="en-US" sz="2800" dirty="0" err="1"/>
              <a:t>iptal</a:t>
            </a:r>
            <a:r>
              <a:rPr lang="en-US" sz="2800" dirty="0"/>
              <a:t> </a:t>
            </a:r>
            <a:r>
              <a:rPr lang="en-US" sz="2800" dirty="0" err="1"/>
              <a:t>edilebilir</a:t>
            </a:r>
            <a:r>
              <a:rPr lang="en-US" sz="2800" dirty="0"/>
              <a:t>
</a:t>
            </a:r>
            <a:r>
              <a:rPr lang="en-US" sz="2800" dirty="0" err="1"/>
              <a:t>Yürütme</a:t>
            </a:r>
            <a:r>
              <a:rPr lang="en-US" sz="2800" dirty="0"/>
              <a:t> Emri 12333: ABD </a:t>
            </a:r>
            <a:r>
              <a:rPr lang="en-US" sz="2800" dirty="0" err="1"/>
              <a:t>hükümetinin</a:t>
            </a:r>
            <a:r>
              <a:rPr lang="en-US" sz="2800" dirty="0"/>
              <a:t> </a:t>
            </a:r>
            <a:r>
              <a:rPr lang="en-US" sz="2800" dirty="0" err="1"/>
              <a:t>çeşitli</a:t>
            </a:r>
            <a:r>
              <a:rPr lang="en-US" sz="2800" dirty="0"/>
              <a:t> </a:t>
            </a:r>
            <a:r>
              <a:rPr lang="en-US" sz="2800" dirty="0" err="1"/>
              <a:t>istihbarat</a:t>
            </a:r>
            <a:r>
              <a:rPr lang="en-US" sz="2800" dirty="0"/>
              <a:t> </a:t>
            </a:r>
            <a:r>
              <a:rPr lang="en-US" sz="2800" dirty="0" err="1"/>
              <a:t>toplama</a:t>
            </a:r>
            <a:r>
              <a:rPr lang="en-US" sz="2800" dirty="0"/>
              <a:t> </a:t>
            </a:r>
            <a:r>
              <a:rPr lang="en-US" sz="2800" dirty="0" err="1"/>
              <a:t>kurumlarını</a:t>
            </a:r>
            <a:r>
              <a:rPr lang="en-US" sz="2800" dirty="0"/>
              <a:t> </a:t>
            </a:r>
            <a:r>
              <a:rPr lang="en-US" sz="2800" dirty="0" err="1"/>
              <a:t>tanımlar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kurumlar</a:t>
            </a:r>
            <a:r>
              <a:rPr lang="en-US" sz="2800" dirty="0"/>
              <a:t> </a:t>
            </a:r>
            <a:r>
              <a:rPr lang="en-US" sz="2800" dirty="0" err="1"/>
              <a:t>tarafından</a:t>
            </a:r>
            <a:r>
              <a:rPr lang="en-US" sz="2800" dirty="0"/>
              <a:t> hangi </a:t>
            </a:r>
            <a:r>
              <a:rPr lang="en-US" sz="2800" dirty="0" err="1"/>
              <a:t>bilgilerin</a:t>
            </a:r>
            <a:r>
              <a:rPr lang="en-US" sz="2800" dirty="0"/>
              <a:t> </a:t>
            </a:r>
            <a:r>
              <a:rPr lang="en-US" sz="2800" dirty="0" err="1"/>
              <a:t>toplanabileceğini</a:t>
            </a:r>
            <a:r>
              <a:rPr lang="en-US" sz="2800" dirty="0"/>
              <a:t>, </a:t>
            </a:r>
            <a:r>
              <a:rPr lang="en-US" sz="2800" dirty="0" err="1"/>
              <a:t>saklanabileceğini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yayılabileceğini</a:t>
            </a:r>
            <a:r>
              <a:rPr lang="en-US" sz="2800" dirty="0"/>
              <a:t> </a:t>
            </a:r>
            <a:r>
              <a:rPr lang="en-US" sz="2800" dirty="0" err="1"/>
              <a:t>tanımlar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195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51247"/>
            <a:ext cx="8415338" cy="4145750"/>
          </a:xfrm>
        </p:spPr>
        <p:txBody>
          <a:bodyPr/>
          <a:lstStyle/>
          <a:p>
            <a:r>
              <a:rPr lang="en-US" altLang="en-US" sz="2800" dirty="0" err="1"/>
              <a:t>Elektronik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Haberleşme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Gizliliği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 (ECPA): </a:t>
            </a:r>
            <a:r>
              <a:rPr lang="en-US" altLang="en-US" sz="2800" dirty="0" err="1"/>
              <a:t>Torba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Suç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Kontrolü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Güvenli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Sokaklar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Yasası'nın</a:t>
            </a:r>
            <a:r>
              <a:rPr lang="en-US" altLang="en-US" sz="2800" dirty="0"/>
              <a:t> III. </a:t>
            </a:r>
            <a:r>
              <a:rPr lang="en-US" altLang="en-US" sz="2800" dirty="0" err="1"/>
              <a:t>Başlığında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değişiklik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olarak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kabul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edilen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</a:t>
            </a:r>
            <a:r>
              <a:rPr lang="en-US" altLang="en-US" sz="2800" dirty="0"/>
              <a:t>; </a:t>
            </a:r>
            <a:r>
              <a:rPr lang="en-US" altLang="en-US" sz="2800" dirty="0" err="1"/>
              <a:t>üç</a:t>
            </a:r>
            <a:r>
              <a:rPr lang="en-US" altLang="en-US" sz="2800" dirty="0"/>
              <a:t> ana </a:t>
            </a:r>
            <a:r>
              <a:rPr lang="en-US" altLang="en-US" sz="2800" dirty="0" err="1"/>
              <a:t>konuyu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alır</a:t>
            </a:r>
            <a:r>
              <a:rPr lang="en-US" altLang="en-US" sz="2800" dirty="0"/>
              <a:t>:
</a:t>
            </a:r>
            <a:r>
              <a:rPr lang="en-US" altLang="en-US" sz="2800" dirty="0" err="1"/>
              <a:t>Göndericiden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alıcıya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aktarım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sırasında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iletişimin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korunması</a:t>
            </a:r>
            <a:r>
              <a:rPr lang="en-US" altLang="en-US" sz="2800" dirty="0"/>
              <a:t>
</a:t>
            </a:r>
            <a:r>
              <a:rPr lang="en-US" altLang="en-US" sz="2800" dirty="0" err="1"/>
              <a:t>Elektronik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depolamada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tutulan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iletişimin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korunması</a:t>
            </a:r>
            <a:r>
              <a:rPr lang="en-US" altLang="en-US" sz="2800" dirty="0"/>
              <a:t>
</a:t>
            </a:r>
            <a:r>
              <a:rPr lang="en-US" altLang="en-US" sz="2800" dirty="0" err="1"/>
              <a:t>Cihazların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arama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emri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olmadan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arama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yönlendirme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adresleme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sinyal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bilgilerini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kaydetmesinin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yasaklanması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200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4331" y="974812"/>
            <a:ext cx="8415338" cy="5506123"/>
          </a:xfrm>
        </p:spPr>
        <p:txBody>
          <a:bodyPr/>
          <a:lstStyle/>
          <a:p>
            <a:r>
              <a:rPr lang="en-US" sz="2700" dirty="0" err="1"/>
              <a:t>Ulusal</a:t>
            </a:r>
            <a:r>
              <a:rPr lang="en-US" sz="2700" dirty="0"/>
              <a:t> </a:t>
            </a:r>
            <a:r>
              <a:rPr lang="en-US" sz="2700" dirty="0" err="1"/>
              <a:t>Güvenlik</a:t>
            </a:r>
            <a:r>
              <a:rPr lang="en-US" sz="2700" dirty="0"/>
              <a:t> </a:t>
            </a:r>
            <a:r>
              <a:rPr lang="en-US" sz="2700" dirty="0" err="1"/>
              <a:t>Mektubu</a:t>
            </a:r>
            <a:r>
              <a:rPr lang="en-US" sz="2700" dirty="0"/>
              <a:t> (NSL): FBI </a:t>
            </a:r>
            <a:r>
              <a:rPr lang="en-US" sz="2700" dirty="0" err="1"/>
              <a:t>direktörü</a:t>
            </a:r>
            <a:r>
              <a:rPr lang="en-US" sz="2700" dirty="0"/>
              <a:t> </a:t>
            </a:r>
            <a:r>
              <a:rPr lang="en-US" sz="2700" dirty="0" err="1"/>
              <a:t>tarafından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ISS'ye</a:t>
            </a:r>
            <a:r>
              <a:rPr lang="en-US" sz="2700" dirty="0"/>
              <a:t> </a:t>
            </a:r>
            <a:r>
              <a:rPr lang="en-US" sz="2700" dirty="0" err="1"/>
              <a:t>verilir</a:t>
            </a:r>
            <a:r>
              <a:rPr lang="en-US" sz="2700" dirty="0"/>
              <a:t>; </a:t>
            </a:r>
            <a:r>
              <a:rPr lang="en-US" sz="2700" dirty="0" err="1"/>
              <a:t>ISS'nin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hizmet</a:t>
            </a:r>
            <a:r>
              <a:rPr lang="en-US" sz="2700" dirty="0"/>
              <a:t> </a:t>
            </a:r>
            <a:r>
              <a:rPr lang="en-US" sz="2700" dirty="0" err="1"/>
              <a:t>abonesi</a:t>
            </a:r>
            <a:r>
              <a:rPr lang="en-US" sz="2700" dirty="0"/>
              <a:t> </a:t>
            </a:r>
            <a:r>
              <a:rPr lang="en-US" sz="2700" dirty="0" err="1"/>
              <a:t>hakkında</a:t>
            </a:r>
            <a:r>
              <a:rPr lang="en-US" sz="2700" dirty="0"/>
              <a:t> </a:t>
            </a:r>
            <a:r>
              <a:rPr lang="en-US" sz="2700" dirty="0" err="1"/>
              <a:t>çeşitli</a:t>
            </a:r>
            <a:r>
              <a:rPr lang="en-US" sz="2700" dirty="0"/>
              <a:t> </a:t>
            </a:r>
            <a:r>
              <a:rPr lang="en-US" sz="2700" dirty="0" err="1"/>
              <a:t>veriler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kayıtlar</a:t>
            </a:r>
            <a:r>
              <a:rPr lang="en-US" sz="2700" dirty="0"/>
              <a:t> </a:t>
            </a:r>
            <a:r>
              <a:rPr lang="en-US" sz="2700" dirty="0" err="1"/>
              <a:t>sağlamasını</a:t>
            </a:r>
            <a:r>
              <a:rPr lang="en-US" sz="2700" dirty="0"/>
              <a:t> </a:t>
            </a:r>
            <a:r>
              <a:rPr lang="en-US" sz="2700" dirty="0" err="1"/>
              <a:t>gerektirir</a:t>
            </a:r>
            <a:r>
              <a:rPr lang="en-US" sz="2700" dirty="0"/>
              <a:t>.
</a:t>
            </a:r>
            <a:r>
              <a:rPr lang="en-US" sz="2700" dirty="0" err="1"/>
              <a:t>Kişisel</a:t>
            </a:r>
            <a:r>
              <a:rPr lang="en-US" sz="2700" dirty="0"/>
              <a:t> </a:t>
            </a:r>
            <a:r>
              <a:rPr lang="en-US" sz="2700" dirty="0" err="1"/>
              <a:t>kayıtlarınızın</a:t>
            </a:r>
            <a:r>
              <a:rPr lang="en-US" sz="2700" dirty="0"/>
              <a:t> </a:t>
            </a:r>
            <a:r>
              <a:rPr lang="en-US" sz="2700" dirty="0" err="1"/>
              <a:t>sahiplerini</a:t>
            </a:r>
            <a:r>
              <a:rPr lang="en-US" sz="2700" dirty="0"/>
              <a:t> </a:t>
            </a:r>
            <a:r>
              <a:rPr lang="en-US" sz="2700" dirty="0" err="1"/>
              <a:t>bunları</a:t>
            </a:r>
            <a:r>
              <a:rPr lang="en-US" sz="2700" dirty="0"/>
              <a:t> </a:t>
            </a:r>
            <a:r>
              <a:rPr lang="en-US" sz="2700" dirty="0" err="1"/>
              <a:t>devlete</a:t>
            </a:r>
            <a:r>
              <a:rPr lang="en-US" sz="2700" dirty="0"/>
              <a:t> </a:t>
            </a:r>
            <a:r>
              <a:rPr lang="en-US" sz="2700" dirty="0" err="1"/>
              <a:t>teslim</a:t>
            </a:r>
            <a:r>
              <a:rPr lang="en-US" sz="2700" dirty="0"/>
              <a:t> </a:t>
            </a:r>
            <a:r>
              <a:rPr lang="en-US" sz="2700" dirty="0" err="1"/>
              <a:t>etmeye</a:t>
            </a:r>
            <a:r>
              <a:rPr lang="en-US" sz="2700" dirty="0"/>
              <a:t> </a:t>
            </a:r>
            <a:r>
              <a:rPr lang="en-US" sz="2700" dirty="0" err="1"/>
              <a:t>zorlar</a:t>
            </a:r>
            <a:r>
              <a:rPr lang="en-US" sz="2700" dirty="0"/>
              <a:t>
</a:t>
            </a:r>
            <a:r>
              <a:rPr lang="en-US" sz="2700" dirty="0" err="1"/>
              <a:t>Yargı</a:t>
            </a:r>
            <a:r>
              <a:rPr lang="en-US" sz="2700" dirty="0"/>
              <a:t> </a:t>
            </a:r>
            <a:r>
              <a:rPr lang="en-US" sz="2700" dirty="0" err="1"/>
              <a:t>denetimine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denetimine</a:t>
            </a:r>
            <a:r>
              <a:rPr lang="en-US" sz="2700" dirty="0"/>
              <a:t> tabi </a:t>
            </a:r>
            <a:r>
              <a:rPr lang="en-US" sz="2700" dirty="0" err="1"/>
              <a:t>değil</a:t>
            </a:r>
            <a:r>
              <a:rPr lang="en-US" sz="2700" dirty="0"/>
              <a:t>
NSL gag </a:t>
            </a:r>
            <a:r>
              <a:rPr lang="en-US" sz="2700" dirty="0" err="1"/>
              <a:t>hükmü</a:t>
            </a:r>
            <a:r>
              <a:rPr lang="en-US" sz="2700" dirty="0"/>
              <a:t>: NSL </a:t>
            </a:r>
            <a:r>
              <a:rPr lang="en-US" sz="2700" dirty="0" err="1"/>
              <a:t>alıcılarının</a:t>
            </a:r>
            <a:r>
              <a:rPr lang="en-US" sz="2700" dirty="0"/>
              <a:t>, </a:t>
            </a:r>
            <a:r>
              <a:rPr lang="en-US" sz="2700" dirty="0" err="1"/>
              <a:t>hükümetin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bireyin</a:t>
            </a:r>
            <a:r>
              <a:rPr lang="en-US" sz="2700" dirty="0"/>
              <a:t> </a:t>
            </a:r>
            <a:r>
              <a:rPr lang="en-US" sz="2700" dirty="0" err="1"/>
              <a:t>kayıtlarını</a:t>
            </a:r>
            <a:r>
              <a:rPr lang="en-US" sz="2700" dirty="0"/>
              <a:t> </a:t>
            </a:r>
            <a:r>
              <a:rPr lang="en-US" sz="2700" dirty="0" err="1"/>
              <a:t>talep</a:t>
            </a:r>
            <a:r>
              <a:rPr lang="en-US" sz="2700" dirty="0"/>
              <a:t> </a:t>
            </a:r>
            <a:r>
              <a:rPr lang="en-US" sz="2700" dirty="0" err="1"/>
              <a:t>ettiğini</a:t>
            </a:r>
            <a:r>
              <a:rPr lang="en-US" sz="2700" dirty="0"/>
              <a:t> </a:t>
            </a:r>
            <a:r>
              <a:rPr lang="en-US" sz="2700" dirty="0" err="1"/>
              <a:t>açıklamasını</a:t>
            </a:r>
            <a:r>
              <a:rPr lang="en-US" sz="2700" dirty="0"/>
              <a:t> </a:t>
            </a:r>
            <a:r>
              <a:rPr lang="en-US" sz="2700" dirty="0" err="1"/>
              <a:t>yasaklar</a:t>
            </a:r>
            <a:r>
              <a:rPr lang="en-US" sz="2700" dirty="0"/>
              <a:t>
Kalem </a:t>
            </a:r>
            <a:r>
              <a:rPr lang="en-US" sz="2700" dirty="0" err="1"/>
              <a:t>kaydı</a:t>
            </a:r>
            <a:r>
              <a:rPr lang="en-US" sz="2700" dirty="0"/>
              <a:t>: </a:t>
            </a:r>
            <a:r>
              <a:rPr lang="en-US" sz="2700" dirty="0" err="1"/>
              <a:t>Giden</a:t>
            </a:r>
            <a:r>
              <a:rPr lang="en-US" sz="2700" dirty="0"/>
              <a:t> </a:t>
            </a:r>
            <a:r>
              <a:rPr lang="en-US" sz="2700" dirty="0" err="1"/>
              <a:t>aramalar</a:t>
            </a:r>
            <a:r>
              <a:rPr lang="en-US" sz="2700" dirty="0"/>
              <a:t> için </a:t>
            </a:r>
            <a:r>
              <a:rPr lang="en-US" sz="2700" dirty="0" err="1"/>
              <a:t>aranan</a:t>
            </a:r>
            <a:r>
              <a:rPr lang="en-US" sz="2700" dirty="0"/>
              <a:t> </a:t>
            </a:r>
            <a:r>
              <a:rPr lang="en-US" sz="2700" dirty="0" err="1"/>
              <a:t>numaraları</a:t>
            </a:r>
            <a:r>
              <a:rPr lang="en-US" sz="2700" dirty="0"/>
              <a:t> </a:t>
            </a:r>
            <a:r>
              <a:rPr lang="en-US" sz="2700" dirty="0" err="1"/>
              <a:t>tanımlamak</a:t>
            </a:r>
            <a:r>
              <a:rPr lang="en-US" sz="2700" dirty="0"/>
              <a:t> için </a:t>
            </a:r>
            <a:r>
              <a:rPr lang="en-US" sz="2700" dirty="0" err="1"/>
              <a:t>elektronik</a:t>
            </a:r>
            <a:r>
              <a:rPr lang="en-US" sz="2700" dirty="0"/>
              <a:t> </a:t>
            </a:r>
            <a:r>
              <a:rPr lang="en-US" sz="2700" dirty="0" err="1"/>
              <a:t>impulsları</a:t>
            </a:r>
            <a:r>
              <a:rPr lang="en-US" sz="2700" dirty="0"/>
              <a:t> </a:t>
            </a:r>
            <a:r>
              <a:rPr lang="en-US" sz="2700" dirty="0" err="1"/>
              <a:t>kaydeden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cihaz</a:t>
            </a:r>
            <a:r>
              <a:rPr lang="en-US" sz="2700" dirty="0"/>
              <a:t>
</a:t>
            </a:r>
            <a:r>
              <a:rPr lang="en-US" sz="2700" dirty="0" err="1"/>
              <a:t>Yakalama</a:t>
            </a:r>
            <a:r>
              <a:rPr lang="en-US" sz="2700" dirty="0"/>
              <a:t> </a:t>
            </a:r>
            <a:r>
              <a:rPr lang="en-US" sz="2700" dirty="0" err="1"/>
              <a:t>ve</a:t>
            </a:r>
            <a:r>
              <a:rPr lang="en-US" sz="2700" dirty="0"/>
              <a:t> </a:t>
            </a:r>
            <a:r>
              <a:rPr lang="en-US" sz="2700" dirty="0" err="1"/>
              <a:t>izleme</a:t>
            </a:r>
            <a:r>
              <a:rPr lang="en-US" sz="2700" dirty="0"/>
              <a:t>: </a:t>
            </a:r>
            <a:r>
              <a:rPr lang="en-US" sz="2700" dirty="0" err="1"/>
              <a:t>Belirli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telefon</a:t>
            </a:r>
            <a:r>
              <a:rPr lang="en-US" sz="2700" dirty="0"/>
              <a:t> </a:t>
            </a:r>
            <a:r>
              <a:rPr lang="en-US" sz="2700" dirty="0" err="1"/>
              <a:t>numarası</a:t>
            </a:r>
            <a:r>
              <a:rPr lang="en-US" sz="2700" dirty="0"/>
              <a:t> için </a:t>
            </a:r>
            <a:r>
              <a:rPr lang="en-US" sz="2700" dirty="0" err="1"/>
              <a:t>gelen</a:t>
            </a:r>
            <a:r>
              <a:rPr lang="en-US" sz="2700" dirty="0"/>
              <a:t> </a:t>
            </a:r>
            <a:r>
              <a:rPr lang="en-US" sz="2700" dirty="0" err="1"/>
              <a:t>aramaların</a:t>
            </a:r>
            <a:r>
              <a:rPr lang="en-US" sz="2700" dirty="0"/>
              <a:t> </a:t>
            </a:r>
            <a:r>
              <a:rPr lang="en-US" sz="2700" dirty="0" err="1"/>
              <a:t>başlangıç</a:t>
            </a:r>
            <a:r>
              <a:rPr lang="en-US" sz="2700" dirty="0"/>
              <a:t> </a:t>
            </a:r>
            <a:r>
              <a:rPr lang="en-US" sz="2700" dirty="0" err="1"/>
              <a:t>numarasını</a:t>
            </a:r>
            <a:r>
              <a:rPr lang="en-US" sz="2700" dirty="0"/>
              <a:t> </a:t>
            </a:r>
            <a:r>
              <a:rPr lang="en-US" sz="2700" dirty="0" err="1"/>
              <a:t>kaydeden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aygıt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967181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198346"/>
          </a:xfrm>
        </p:spPr>
        <p:txBody>
          <a:bodyPr/>
          <a:lstStyle/>
          <a:p>
            <a:r>
              <a:rPr lang="en-US" altLang="en-US" sz="2700" dirty="0" err="1"/>
              <a:t>Kolluk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Kuvvetleri</a:t>
            </a:r>
            <a:r>
              <a:rPr lang="en-US" altLang="en-US" sz="2700" dirty="0"/>
              <a:t> için </a:t>
            </a:r>
            <a:r>
              <a:rPr lang="en-US" altLang="en-US" sz="2700" dirty="0" err="1"/>
              <a:t>İletişim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Yardımı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Yasası</a:t>
            </a:r>
            <a:r>
              <a:rPr lang="en-US" altLang="en-US" sz="2700" dirty="0"/>
              <a:t> (CALEA): </a:t>
            </a:r>
            <a:r>
              <a:rPr lang="en-US" altLang="en-US" sz="2700" dirty="0" err="1"/>
              <a:t>Telekomünikasyon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endüstrisinin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bir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mahkeme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emri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aldıktan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sonra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iletişimleri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engellemek</a:t>
            </a:r>
            <a:r>
              <a:rPr lang="en-US" altLang="en-US" sz="2700" dirty="0"/>
              <a:t> için federal </a:t>
            </a:r>
            <a:r>
              <a:rPr lang="en-US" altLang="en-US" sz="2700" dirty="0" err="1"/>
              <a:t>müfettişler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tarafından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kullanılmak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üzere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ürünlerine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araçlar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eklemesini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gerektirdi</a:t>
            </a:r>
            <a:r>
              <a:rPr lang="en-US" altLang="en-US" sz="2700" dirty="0"/>
              <a:t>
ABD </a:t>
            </a:r>
            <a:r>
              <a:rPr lang="en-US" altLang="en-US" sz="2700" dirty="0" err="1"/>
              <a:t>Vatanseverlik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Yasası</a:t>
            </a:r>
            <a:r>
              <a:rPr lang="en-US" altLang="en-US" sz="2700" dirty="0"/>
              <a:t>: Hem </a:t>
            </a:r>
            <a:r>
              <a:rPr lang="en-US" altLang="en-US" sz="2700" dirty="0" err="1"/>
              <a:t>yerel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kolluk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kuvvetlerine</a:t>
            </a:r>
            <a:r>
              <a:rPr lang="en-US" altLang="en-US" sz="2700" dirty="0"/>
              <a:t> hem de ABD </a:t>
            </a:r>
            <a:r>
              <a:rPr lang="en-US" altLang="en-US" sz="2700" dirty="0" err="1"/>
              <a:t>uluslararası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istihbarat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teşkilatlarına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kapsamlı</a:t>
            </a:r>
            <a:r>
              <a:rPr lang="en-US" altLang="en-US" sz="2700" dirty="0"/>
              <a:t> yeni </a:t>
            </a:r>
            <a:r>
              <a:rPr lang="en-US" altLang="en-US" sz="2700" dirty="0" err="1"/>
              <a:t>yetkiler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verdi</a:t>
            </a:r>
            <a:r>
              <a:rPr lang="en-US" altLang="en-US" sz="2700" dirty="0"/>
              <a:t>
</a:t>
            </a:r>
            <a:r>
              <a:rPr lang="en-US" altLang="en-US" sz="2700" dirty="0" err="1"/>
              <a:t>Telefon</a:t>
            </a:r>
            <a:r>
              <a:rPr lang="en-US" altLang="en-US" sz="2700" dirty="0"/>
              <a:t>, e-</a:t>
            </a:r>
            <a:r>
              <a:rPr lang="en-US" altLang="en-US" sz="2700" dirty="0" err="1"/>
              <a:t>posta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tıbbi</a:t>
            </a:r>
            <a:r>
              <a:rPr lang="en-US" altLang="en-US" sz="2700" dirty="0"/>
              <a:t>, </a:t>
            </a:r>
            <a:r>
              <a:rPr lang="en-US" altLang="en-US" sz="2700" dirty="0" err="1"/>
              <a:t>finansal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diğer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kayıtlarda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arama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yapma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yeteneklerini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artırdı</a:t>
            </a:r>
            <a:r>
              <a:rPr lang="en-US" altLang="en-US" sz="2700" dirty="0"/>
              <a:t>
11 </a:t>
            </a:r>
            <a:r>
              <a:rPr lang="en-US" altLang="en-US" sz="2700" dirty="0" err="1"/>
              <a:t>Eylül</a:t>
            </a:r>
            <a:r>
              <a:rPr lang="en-US" altLang="en-US" sz="2700" dirty="0"/>
              <a:t> 2001'deki </a:t>
            </a:r>
            <a:r>
              <a:rPr lang="en-US" altLang="en-US" sz="2700" dirty="0" err="1"/>
              <a:t>terörist</a:t>
            </a:r>
            <a:r>
              <a:rPr lang="en-US" altLang="en-US" sz="2700" dirty="0"/>
              <a:t> </a:t>
            </a:r>
            <a:r>
              <a:rPr lang="en-US" altLang="en-US" sz="2700" dirty="0" err="1"/>
              <a:t>saldırıların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üzerinden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beş</a:t>
            </a:r>
            <a:r>
              <a:rPr lang="en-US" altLang="en-US" sz="2700" dirty="0"/>
              <a:t> </a:t>
            </a:r>
            <a:r>
              <a:rPr lang="en-US" altLang="en-US" sz="2700" dirty="0" err="1"/>
              <a:t>hafta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geçti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294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225772"/>
          </a:xfrm>
        </p:spPr>
        <p:txBody>
          <a:bodyPr/>
          <a:lstStyle/>
          <a:p>
            <a:r>
              <a:rPr lang="en-US" altLang="en-US" sz="2800" dirty="0" err="1"/>
              <a:t>Yabancı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İstihbarat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Gözetim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Değişiklik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 (2004)
</a:t>
            </a:r>
            <a:r>
              <a:rPr lang="en-US" altLang="en-US" sz="2800" dirty="0" err="1"/>
              <a:t>Bilinen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herhangi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terör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örgütüyle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bağlantısı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olmayan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kişiler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yalnız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kurtlar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olarak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adlandırılır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hakkında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yetkili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istihbarat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toplama</a:t>
            </a:r>
            <a:r>
              <a:rPr lang="en-US" altLang="en-US" sz="2800" dirty="0"/>
              <a:t>
1978 </a:t>
            </a:r>
            <a:r>
              <a:rPr lang="en-US" altLang="en-US" sz="2800" dirty="0" err="1"/>
              <a:t>Yabancı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İstihbarat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Gözetim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 2008 </a:t>
            </a:r>
            <a:r>
              <a:rPr lang="en-US" altLang="en-US" sz="2800" dirty="0" err="1"/>
              <a:t>Değişiklik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Yasası</a:t>
            </a:r>
            <a:r>
              <a:rPr lang="en-US" altLang="en-US" sz="2800" dirty="0"/>
              <a:t>
</a:t>
            </a:r>
            <a:r>
              <a:rPr lang="en-US" altLang="en-US" sz="2800" dirty="0" err="1"/>
              <a:t>NSA'ya</a:t>
            </a:r>
            <a:r>
              <a:rPr lang="en-US" altLang="en-US" sz="2800" dirty="0"/>
              <a:t>, ABD </a:t>
            </a:r>
            <a:r>
              <a:rPr lang="en-US" altLang="en-US" sz="2800" dirty="0" err="1"/>
              <a:t>telekom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ağı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ekipmanı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tesislerinden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geçerken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uluslararası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iletişimleri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mahkeme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onaylı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izinler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olmadan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toplama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yetkisi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verildi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65345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Gözetim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645887"/>
          </a:xfrm>
        </p:spPr>
        <p:txBody>
          <a:bodyPr/>
          <a:lstStyle/>
          <a:p>
            <a:r>
              <a:rPr lang="en-US" sz="2800" dirty="0"/>
              <a:t>2011 </a:t>
            </a:r>
            <a:r>
              <a:rPr lang="en-US" sz="2800" dirty="0" err="1"/>
              <a:t>tarihli</a:t>
            </a:r>
            <a:r>
              <a:rPr lang="en-US" sz="2800" dirty="0"/>
              <a:t> PATRIOT Sunsets </a:t>
            </a:r>
            <a:r>
              <a:rPr lang="en-US" sz="2800" dirty="0" err="1"/>
              <a:t>Uzatma</a:t>
            </a:r>
            <a:r>
              <a:rPr lang="en-US" sz="2800" dirty="0"/>
              <a:t> </a:t>
            </a:r>
            <a:r>
              <a:rPr lang="en-US" sz="2800" dirty="0" err="1"/>
              <a:t>Yasası</a:t>
            </a:r>
            <a:r>
              <a:rPr lang="en-US" sz="2800" dirty="0"/>
              <a:t>: </a:t>
            </a:r>
            <a:r>
              <a:rPr lang="en-US" sz="2800" dirty="0" err="1"/>
              <a:t>Gezici</a:t>
            </a:r>
            <a:r>
              <a:rPr lang="en-US" sz="2800" dirty="0"/>
              <a:t> </a:t>
            </a:r>
            <a:r>
              <a:rPr lang="en-US" sz="2800" dirty="0" err="1"/>
              <a:t>telefon</a:t>
            </a:r>
            <a:r>
              <a:rPr lang="en-US" sz="2800" dirty="0"/>
              <a:t> </a:t>
            </a:r>
            <a:r>
              <a:rPr lang="en-US" sz="2800" dirty="0" err="1"/>
              <a:t>dinlemelerinin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iş</a:t>
            </a:r>
            <a:r>
              <a:rPr lang="en-US" sz="2800" dirty="0"/>
              <a:t> </a:t>
            </a:r>
            <a:r>
              <a:rPr lang="en-US" sz="2800" dirty="0" err="1"/>
              <a:t>kayıtlarının</a:t>
            </a:r>
            <a:r>
              <a:rPr lang="en-US" sz="2800" dirty="0"/>
              <a:t> </a:t>
            </a:r>
            <a:r>
              <a:rPr lang="en-US" sz="2800" dirty="0" err="1"/>
              <a:t>aranmasının</a:t>
            </a:r>
            <a:r>
              <a:rPr lang="en-US" sz="2800" dirty="0"/>
              <a:t> </a:t>
            </a:r>
            <a:r>
              <a:rPr lang="en-US" sz="2800" dirty="0" err="1"/>
              <a:t>dört</a:t>
            </a:r>
            <a:r>
              <a:rPr lang="en-US" sz="2800" dirty="0"/>
              <a:t> </a:t>
            </a:r>
            <a:r>
              <a:rPr lang="en-US" sz="2800" dirty="0" err="1"/>
              <a:t>yıl</a:t>
            </a:r>
            <a:r>
              <a:rPr lang="en-US" sz="2800" dirty="0"/>
              <a:t> </a:t>
            </a:r>
            <a:r>
              <a:rPr lang="en-US" sz="2800" dirty="0" err="1"/>
              <a:t>uzatılmasını</a:t>
            </a:r>
            <a:r>
              <a:rPr lang="en-US" sz="2800" dirty="0"/>
              <a:t> </a:t>
            </a:r>
            <a:r>
              <a:rPr lang="en-US" sz="2800" dirty="0" err="1"/>
              <a:t>sağlayan</a:t>
            </a:r>
            <a:r>
              <a:rPr lang="en-US" sz="2800" dirty="0"/>
              <a:t> </a:t>
            </a:r>
            <a:r>
              <a:rPr lang="en-US" sz="2800" dirty="0" err="1"/>
              <a:t>yasa</a:t>
            </a:r>
            <a:r>
              <a:rPr lang="en-US" sz="2800" dirty="0"/>
              <a:t>; </a:t>
            </a:r>
            <a:r>
              <a:rPr lang="en-US" sz="2800" dirty="0" err="1"/>
              <a:t>Ayrıca</a:t>
            </a:r>
            <a:r>
              <a:rPr lang="en-US" sz="2800" dirty="0"/>
              <a:t> "</a:t>
            </a:r>
            <a:r>
              <a:rPr lang="en-US" sz="2800" dirty="0" err="1"/>
              <a:t>yalnız</a:t>
            </a:r>
            <a:r>
              <a:rPr lang="en-US" sz="2800" dirty="0"/>
              <a:t> </a:t>
            </a:r>
            <a:r>
              <a:rPr lang="en-US" sz="2800" dirty="0" err="1"/>
              <a:t>kurtlar</a:t>
            </a:r>
            <a:r>
              <a:rPr lang="en-US" sz="2800" dirty="0"/>
              <a:t>" </a:t>
            </a:r>
            <a:r>
              <a:rPr lang="en-US" sz="2800" dirty="0" err="1"/>
              <a:t>hakkında</a:t>
            </a:r>
            <a:r>
              <a:rPr lang="en-US" sz="2800" dirty="0"/>
              <a:t> </a:t>
            </a:r>
            <a:r>
              <a:rPr lang="en-US" sz="2800" dirty="0" err="1"/>
              <a:t>yetkili</a:t>
            </a:r>
            <a:r>
              <a:rPr lang="en-US" sz="2800" dirty="0"/>
              <a:t> </a:t>
            </a:r>
            <a:r>
              <a:rPr lang="en-US" sz="2800" dirty="0" err="1"/>
              <a:t>istihbarat</a:t>
            </a:r>
            <a:r>
              <a:rPr lang="en-US" sz="2800" dirty="0"/>
              <a:t> </a:t>
            </a:r>
            <a:r>
              <a:rPr lang="en-US" sz="2800" dirty="0" err="1"/>
              <a:t>toplamayı</a:t>
            </a:r>
            <a:r>
              <a:rPr lang="en-US" sz="2800" dirty="0"/>
              <a:t> da </a:t>
            </a:r>
            <a:r>
              <a:rPr lang="en-US" sz="2800" dirty="0" err="1"/>
              <a:t>genişletti</a:t>
            </a:r>
            <a:r>
              <a:rPr lang="en-US" sz="2800" dirty="0"/>
              <a:t>
ABD </a:t>
            </a:r>
            <a:r>
              <a:rPr lang="en-US" sz="2800" dirty="0" err="1"/>
              <a:t>Özgürlük</a:t>
            </a:r>
            <a:r>
              <a:rPr lang="en-US" sz="2800" dirty="0"/>
              <a:t> </a:t>
            </a:r>
            <a:r>
              <a:rPr lang="en-US" sz="2800" dirty="0" err="1"/>
              <a:t>Yasası</a:t>
            </a:r>
            <a:r>
              <a:rPr lang="en-US" sz="2800" dirty="0"/>
              <a:t>: Edward </a:t>
            </a:r>
            <a:r>
              <a:rPr lang="en-US" sz="2800" dirty="0" err="1"/>
              <a:t>Snowden'ın</a:t>
            </a:r>
            <a:r>
              <a:rPr lang="en-US" sz="2800" dirty="0"/>
              <a:t> (</a:t>
            </a:r>
            <a:r>
              <a:rPr lang="en-US" sz="2800" dirty="0" err="1"/>
              <a:t>gizli</a:t>
            </a:r>
            <a:r>
              <a:rPr lang="en-US" sz="2800" dirty="0"/>
              <a:t> </a:t>
            </a:r>
            <a:r>
              <a:rPr lang="en-US" sz="2800" dirty="0" err="1"/>
              <a:t>bilgileri</a:t>
            </a:r>
            <a:r>
              <a:rPr lang="en-US" sz="2800" dirty="0"/>
              <a:t> </a:t>
            </a:r>
            <a:r>
              <a:rPr lang="en-US" sz="2800" dirty="0" err="1"/>
              <a:t>sızdıran</a:t>
            </a:r>
            <a:r>
              <a:rPr lang="en-US" sz="2800" dirty="0"/>
              <a:t> </a:t>
            </a:r>
            <a:r>
              <a:rPr lang="en-US" sz="2800" dirty="0" err="1"/>
              <a:t>eski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hükümet</a:t>
            </a:r>
            <a:r>
              <a:rPr lang="en-US" sz="2800" dirty="0"/>
              <a:t> </a:t>
            </a:r>
            <a:r>
              <a:rPr lang="en-US" sz="2800" dirty="0" err="1"/>
              <a:t>müteahhidi</a:t>
            </a:r>
            <a:r>
              <a:rPr lang="en-US" sz="2800" dirty="0"/>
              <a:t>) </a:t>
            </a:r>
            <a:r>
              <a:rPr lang="en-US" sz="2800" dirty="0" err="1"/>
              <a:t>gizli</a:t>
            </a:r>
            <a:r>
              <a:rPr lang="en-US" sz="2800" dirty="0"/>
              <a:t> NSA </a:t>
            </a:r>
            <a:r>
              <a:rPr lang="en-US" sz="2800" dirty="0" err="1"/>
              <a:t>gözetim</a:t>
            </a:r>
            <a:r>
              <a:rPr lang="en-US" sz="2800" dirty="0"/>
              <a:t> </a:t>
            </a:r>
            <a:r>
              <a:rPr lang="en-US" sz="2800" dirty="0" err="1"/>
              <a:t>programlarının</a:t>
            </a:r>
            <a:r>
              <a:rPr lang="en-US" sz="2800" dirty="0"/>
              <a:t> </a:t>
            </a:r>
            <a:r>
              <a:rPr lang="en-US" sz="2800" dirty="0" err="1"/>
              <a:t>ifşaatlarının</a:t>
            </a:r>
            <a:r>
              <a:rPr lang="en-US" sz="2800" dirty="0"/>
              <a:t> </a:t>
            </a:r>
            <a:r>
              <a:rPr lang="en-US" sz="2800" dirty="0" err="1"/>
              <a:t>ardından</a:t>
            </a:r>
            <a:r>
              <a:rPr lang="en-US" sz="2800" dirty="0"/>
              <a:t> </a:t>
            </a:r>
            <a:r>
              <a:rPr lang="en-US" sz="2800" dirty="0" err="1"/>
              <a:t>yasa</a:t>
            </a:r>
            <a:r>
              <a:rPr lang="en-US" sz="2800" dirty="0"/>
              <a:t> </a:t>
            </a:r>
            <a:r>
              <a:rPr lang="en-US" sz="2800" dirty="0" err="1"/>
              <a:t>kabul</a:t>
            </a:r>
            <a:r>
              <a:rPr lang="en-US" sz="2800" dirty="0"/>
              <a:t> </a:t>
            </a:r>
            <a:r>
              <a:rPr lang="en-US" sz="2800" dirty="0" err="1"/>
              <a:t>edildi</a:t>
            </a:r>
            <a:r>
              <a:rPr lang="en-US" sz="2800" dirty="0"/>
              <a:t>
</a:t>
            </a:r>
            <a:r>
              <a:rPr lang="en-US" sz="2800" dirty="0" err="1"/>
              <a:t>NSA'nın</a:t>
            </a:r>
            <a:r>
              <a:rPr lang="en-US" sz="2800" dirty="0"/>
              <a:t> </a:t>
            </a:r>
            <a:r>
              <a:rPr lang="en-US" sz="2800" dirty="0" err="1"/>
              <a:t>toplu</a:t>
            </a:r>
            <a:r>
              <a:rPr lang="en-US" sz="2800" dirty="0"/>
              <a:t> </a:t>
            </a:r>
            <a:r>
              <a:rPr lang="en-US" sz="2800" dirty="0" err="1"/>
              <a:t>telefon</a:t>
            </a:r>
            <a:r>
              <a:rPr lang="en-US" sz="2800" dirty="0"/>
              <a:t> meta </a:t>
            </a:r>
            <a:r>
              <a:rPr lang="en-US" sz="2800" dirty="0" err="1"/>
              <a:t>verisi</a:t>
            </a:r>
            <a:r>
              <a:rPr lang="en-US" sz="2800" dirty="0"/>
              <a:t> </a:t>
            </a:r>
            <a:r>
              <a:rPr lang="en-US" sz="2800" dirty="0" err="1"/>
              <a:t>toplaması</a:t>
            </a:r>
            <a:r>
              <a:rPr lang="en-US" sz="2800" dirty="0"/>
              <a:t> </a:t>
            </a:r>
            <a:r>
              <a:rPr lang="en-US" sz="2800" dirty="0" err="1"/>
              <a:t>sonlandırıldı</a:t>
            </a:r>
            <a:r>
              <a:rPr lang="en-US" sz="2800" dirty="0"/>
              <a:t>
</a:t>
            </a:r>
            <a:r>
              <a:rPr lang="en-US" sz="2800" dirty="0" err="1"/>
              <a:t>Telekomünikasyon</a:t>
            </a:r>
            <a:r>
              <a:rPr lang="en-US" sz="2800" dirty="0"/>
              <a:t> </a:t>
            </a:r>
            <a:r>
              <a:rPr lang="en-US" sz="2800" dirty="0" err="1"/>
              <a:t>sağlayıcılarının</a:t>
            </a:r>
            <a:r>
              <a:rPr lang="en-US" sz="2800" dirty="0"/>
              <a:t> </a:t>
            </a:r>
            <a:r>
              <a:rPr lang="en-US" sz="2800" dirty="0" err="1"/>
              <a:t>artık</a:t>
            </a:r>
            <a:r>
              <a:rPr lang="en-US" sz="2800" dirty="0"/>
              <a:t> 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verileri</a:t>
            </a:r>
            <a:r>
              <a:rPr lang="en-US" sz="2800" dirty="0"/>
              <a:t> </a:t>
            </a:r>
            <a:r>
              <a:rPr lang="en-US" sz="2800" dirty="0" err="1"/>
              <a:t>tutması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NSA </a:t>
            </a:r>
            <a:r>
              <a:rPr lang="en-US" sz="2800" dirty="0" err="1"/>
              <a:t>sorgularına</a:t>
            </a:r>
            <a:r>
              <a:rPr lang="en-US" sz="2800" dirty="0"/>
              <a:t> </a:t>
            </a:r>
            <a:r>
              <a:rPr lang="en-US" sz="2800" dirty="0" err="1"/>
              <a:t>yanıt</a:t>
            </a:r>
            <a:r>
              <a:rPr lang="en-US" sz="2800" dirty="0"/>
              <a:t> </a:t>
            </a:r>
            <a:r>
              <a:rPr lang="en-US" sz="2800" dirty="0" err="1"/>
              <a:t>vermesi</a:t>
            </a:r>
            <a:r>
              <a:rPr lang="en-US" sz="2800" dirty="0"/>
              <a:t> </a:t>
            </a:r>
            <a:r>
              <a:rPr lang="en-US" sz="2800" dirty="0" err="1"/>
              <a:t>gerekiyor</a:t>
            </a: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851945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Adil Bilgi </a:t>
            </a:r>
            <a:r>
              <a:rPr lang="en-US" sz="3200" dirty="0" err="1"/>
              <a:t>Uygulamaları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485340"/>
            <a:ext cx="8415338" cy="4050340"/>
          </a:xfrm>
        </p:spPr>
        <p:txBody>
          <a:bodyPr/>
          <a:lstStyle/>
          <a:p>
            <a:r>
              <a:rPr lang="en-US" altLang="en-US" sz="3200" dirty="0"/>
              <a:t>Adil </a:t>
            </a:r>
            <a:r>
              <a:rPr lang="en-US" altLang="en-US" sz="3200" dirty="0" err="1"/>
              <a:t>bilgi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uygulamaları</a:t>
            </a:r>
            <a:r>
              <a:rPr lang="en-US" altLang="en-US" sz="3200" dirty="0"/>
              <a:t>: </a:t>
            </a:r>
            <a:r>
              <a:rPr lang="en-US" altLang="en-US" sz="3200" dirty="0" err="1"/>
              <a:t>Kişisel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verilerin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toplanmasını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kullanılmasını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yöneten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bir</a:t>
            </a:r>
            <a:r>
              <a:rPr lang="en-US" altLang="en-US" sz="3200" dirty="0"/>
              <a:t> dizi </a:t>
            </a:r>
            <a:r>
              <a:rPr lang="en-US" altLang="en-US" sz="3200" dirty="0" err="1"/>
              <a:t>yönerge</a:t>
            </a:r>
            <a:r>
              <a:rPr lang="en-US" altLang="en-US" sz="3200" dirty="0"/>
              <a:t>
</a:t>
            </a:r>
            <a:r>
              <a:rPr lang="en-US" altLang="en-US" sz="3200" dirty="0" err="1"/>
              <a:t>Sınır</a:t>
            </a:r>
            <a:r>
              <a:rPr lang="en-US" altLang="en-US" sz="3200" dirty="0"/>
              <a:t> </a:t>
            </a:r>
            <a:r>
              <a:rPr lang="en-US" altLang="en-US" sz="3200" dirty="0" err="1"/>
              <a:t>ötesi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veri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akışı</a:t>
            </a:r>
            <a:r>
              <a:rPr lang="en-US" altLang="en-US" sz="3200" dirty="0"/>
              <a:t>: </a:t>
            </a:r>
            <a:r>
              <a:rPr lang="en-US" altLang="en-US" sz="3200" dirty="0" err="1"/>
              <a:t>Kişisel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verilerin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ulusal</a:t>
            </a:r>
            <a:r>
              <a:rPr lang="en-US" altLang="en-US" sz="3200" dirty="0"/>
              <a:t> </a:t>
            </a:r>
            <a:r>
              <a:rPr lang="en-US" altLang="en-US" sz="3200" dirty="0" err="1"/>
              <a:t>sınırlar</a:t>
            </a:r>
            <a:r>
              <a:rPr lang="en-US" altLang="en-US" sz="3200" dirty="0"/>
              <a:t> </a:t>
            </a:r>
            <a:r>
              <a:rPr lang="en-US" altLang="en-US" sz="3200" dirty="0" err="1"/>
              <a:t>ötesi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akışı</a:t>
            </a:r>
            <a:r>
              <a:rPr lang="en-US" altLang="en-US" sz="3200" dirty="0"/>
              <a:t> 
Adil </a:t>
            </a:r>
            <a:r>
              <a:rPr lang="en-US" altLang="en-US" sz="3200" dirty="0" err="1"/>
              <a:t>bilgi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uygulamaları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veri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gizliliği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veri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koruma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konularını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ele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alan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birçok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ulusal</a:t>
            </a:r>
            <a:r>
              <a:rPr lang="en-US" altLang="en-US" sz="3200" dirty="0"/>
              <a:t> </a:t>
            </a:r>
            <a:r>
              <a:rPr lang="en-US" altLang="en-US" sz="3200" dirty="0" err="1"/>
              <a:t>yasanın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temelini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oluşturur</a:t>
            </a:r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55060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Adil Bilgi </a:t>
            </a:r>
            <a:r>
              <a:rPr lang="en-US" sz="3200" dirty="0" err="1"/>
              <a:t>Uygulamaları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066800"/>
            <a:ext cx="8415338" cy="4961358"/>
          </a:xfrm>
        </p:spPr>
        <p:txBody>
          <a:bodyPr/>
          <a:lstStyle/>
          <a:p>
            <a:pPr lvl="1"/>
            <a:r>
              <a:rPr lang="en-US" altLang="en-US" sz="2400" dirty="0" err="1"/>
              <a:t>Ekonomik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İşbirliği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Kalkınma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Örgütü</a:t>
            </a:r>
            <a:r>
              <a:rPr lang="en-US" altLang="en-US" sz="2400" dirty="0"/>
              <a:t> (OECD): </a:t>
            </a:r>
            <a:r>
              <a:rPr lang="en-US" altLang="en-US" sz="2400" dirty="0" err="1"/>
              <a:t>Çok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taraflı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fikir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birliğinin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gerekli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olduğu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konularda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politikalar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belirleyen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anlaşmalar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üreten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uluslararası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kuruluş</a:t>
            </a:r>
            <a:r>
              <a:rPr lang="en-US" altLang="en-US" sz="2400" dirty="0"/>
              <a:t>
OECD </a:t>
            </a:r>
            <a:r>
              <a:rPr lang="en-US" altLang="en-US" sz="2400" dirty="0" err="1"/>
              <a:t>adil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bilgi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uygulamaları</a:t>
            </a:r>
            <a:r>
              <a:rPr lang="en-US" altLang="en-US" sz="2400" dirty="0"/>
              <a:t> </a:t>
            </a:r>
            <a:r>
              <a:rPr lang="en-US" altLang="en-US" sz="2400" dirty="0" err="1"/>
              <a:t>rehberi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sekiz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ilkeden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oluşmaktadır</a:t>
            </a:r>
            <a:r>
              <a:rPr lang="en-US" altLang="en-US" sz="2400" dirty="0"/>
              <a:t>:
</a:t>
            </a:r>
            <a:r>
              <a:rPr lang="en-US" altLang="en-US" sz="2400" dirty="0" err="1"/>
              <a:t>Koleksiyon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sınırlaması</a:t>
            </a:r>
            <a:r>
              <a:rPr lang="en-US" altLang="en-US" sz="2400" dirty="0"/>
              <a:t>
Veri </a:t>
            </a:r>
            <a:r>
              <a:rPr lang="en-US" altLang="en-US" sz="2400" dirty="0" err="1"/>
              <a:t>kalitesi</a:t>
            </a:r>
            <a:r>
              <a:rPr lang="en-US" altLang="en-US" sz="2400" dirty="0"/>
              <a:t>
</a:t>
            </a:r>
            <a:r>
              <a:rPr lang="en-US" altLang="en-US" sz="2400" dirty="0" err="1"/>
              <a:t>Amaç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özellikleri</a:t>
            </a:r>
            <a:r>
              <a:rPr lang="en-US" altLang="en-US" sz="2400" dirty="0"/>
              <a:t>
</a:t>
            </a:r>
            <a:r>
              <a:rPr lang="en-US" altLang="en-US" sz="2400" dirty="0" err="1"/>
              <a:t>Kullanım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sınırlaması</a:t>
            </a:r>
            <a:r>
              <a:rPr lang="en-US" altLang="en-US" sz="2400" dirty="0"/>
              <a:t>
</a:t>
            </a:r>
            <a:r>
              <a:rPr lang="en-US" altLang="en-US" sz="2400" dirty="0" err="1"/>
              <a:t>Güvenlik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önlemleri</a:t>
            </a:r>
            <a:r>
              <a:rPr lang="en-US" altLang="en-US" sz="2400" dirty="0"/>
              <a:t>
</a:t>
            </a:r>
            <a:r>
              <a:rPr lang="en-US" altLang="en-US" sz="2400" dirty="0" err="1"/>
              <a:t>Açıklık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ilkesi</a:t>
            </a:r>
            <a:r>
              <a:rPr lang="en-US" altLang="en-US" sz="2400" dirty="0"/>
              <a:t>
</a:t>
            </a:r>
            <a:r>
              <a:rPr lang="en-US" altLang="en-US" sz="2400" dirty="0" err="1"/>
              <a:t>Bireysel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katılım</a:t>
            </a:r>
            <a:r>
              <a:rPr lang="en-US" altLang="en-US" sz="2400" dirty="0"/>
              <a:t>
</a:t>
            </a:r>
            <a:r>
              <a:rPr lang="en-US" altLang="en-US" sz="2400" dirty="0" err="1"/>
              <a:t>Sorumluluk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87214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Adil Bilgi </a:t>
            </a:r>
            <a:r>
              <a:rPr lang="en-US" sz="3200" dirty="0" err="1"/>
              <a:t>Uygulamaları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352234"/>
          </a:xfrm>
        </p:spPr>
        <p:txBody>
          <a:bodyPr/>
          <a:lstStyle/>
          <a:p>
            <a:r>
              <a:rPr lang="en-US" altLang="en-US" sz="2700" dirty="0" err="1"/>
              <a:t>Avrupa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Birliği</a:t>
            </a:r>
            <a:r>
              <a:rPr lang="en-US" altLang="en-US" sz="2700" dirty="0"/>
              <a:t> Veri </a:t>
            </a:r>
            <a:r>
              <a:rPr lang="en-US" altLang="en-US" sz="2700" dirty="0" err="1"/>
              <a:t>Koruma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Direktifi</a:t>
            </a:r>
            <a:r>
              <a:rPr lang="en-US" altLang="en-US" sz="2700" dirty="0"/>
              <a:t>: </a:t>
            </a:r>
            <a:r>
              <a:rPr lang="en-US" altLang="en-US" sz="2700" dirty="0" err="1"/>
              <a:t>Avrupa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Birliği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üyesi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olmayan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ülkelere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aktarılan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verilerin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korunmasını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sağlar</a:t>
            </a:r>
            <a:r>
              <a:rPr lang="en-US" altLang="en-US" sz="2700" dirty="0"/>
              <a:t>
</a:t>
            </a:r>
            <a:r>
              <a:rPr lang="en-US" altLang="en-US" sz="2700" dirty="0" err="1"/>
              <a:t>Yalnızca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belirli</a:t>
            </a:r>
            <a:r>
              <a:rPr lang="en-US" altLang="en-US" sz="2700" dirty="0"/>
              <a:t> "</a:t>
            </a:r>
            <a:r>
              <a:rPr lang="en-US" altLang="en-US" sz="2700" dirty="0" err="1"/>
              <a:t>güvenli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liman</a:t>
            </a:r>
            <a:r>
              <a:rPr lang="en-US" altLang="en-US" sz="2700" dirty="0"/>
              <a:t>" </a:t>
            </a:r>
            <a:r>
              <a:rPr lang="en-US" altLang="en-US" sz="2700" dirty="0" err="1"/>
              <a:t>ilkelerini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karşıladığı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onaylanan</a:t>
            </a:r>
            <a:r>
              <a:rPr lang="en-US" altLang="en-US" sz="2700" dirty="0"/>
              <a:t> ABD </a:t>
            </a:r>
            <a:r>
              <a:rPr lang="en-US" altLang="en-US" sz="2700" dirty="0" err="1"/>
              <a:t>şirketlerinin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Avrupalı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tüketicilerin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şirketlerin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verilerini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işlemesine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depolamasına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izin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verildi</a:t>
            </a:r>
            <a:r>
              <a:rPr lang="en-US" altLang="en-US" sz="2700" dirty="0"/>
              <a:t>.
</a:t>
            </a:r>
            <a:r>
              <a:rPr lang="en-US" altLang="en-US" sz="2700" dirty="0" err="1"/>
              <a:t>Avrupa</a:t>
            </a:r>
            <a:r>
              <a:rPr lang="en-US" altLang="en-US" sz="2700" dirty="0"/>
              <a:t>-Amerika </a:t>
            </a:r>
            <a:r>
              <a:rPr lang="en-US" altLang="en-US" sz="2700" dirty="0" err="1"/>
              <a:t>Birleşik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Devletleri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Gizlilik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Kalkanı</a:t>
            </a:r>
            <a:r>
              <a:rPr lang="en-US" altLang="en-US" sz="2700" dirty="0"/>
              <a:t> Veri </a:t>
            </a:r>
            <a:r>
              <a:rPr lang="en-US" altLang="en-US" sz="2700" dirty="0" err="1"/>
              <a:t>Aktarım</a:t>
            </a:r>
            <a:r>
              <a:rPr lang="en-US" altLang="en-US" sz="2700" dirty="0"/>
              <a:t> </a:t>
            </a:r>
            <a:r>
              <a:rPr lang="en-US" altLang="en-US" sz="2700" dirty="0" err="1"/>
              <a:t>Programı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Yönergeleri</a:t>
            </a:r>
            <a:r>
              <a:rPr lang="en-US" altLang="en-US" sz="2700" dirty="0"/>
              <a:t>
</a:t>
            </a:r>
            <a:r>
              <a:rPr lang="en-US" altLang="en-US" sz="2700" dirty="0" err="1"/>
              <a:t>Avrupa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Adalet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Divanı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tarafından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geçersiz</a:t>
            </a:r>
            <a:r>
              <a:rPr lang="en-US" altLang="en-US" sz="2700" dirty="0"/>
              <a:t> </a:t>
            </a:r>
            <a:r>
              <a:rPr lang="en-US" altLang="en-US" sz="2700" dirty="0" err="1"/>
              <a:t>ilan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edilen</a:t>
            </a:r>
            <a:r>
              <a:rPr lang="en-US" altLang="en-US" sz="2700" dirty="0"/>
              <a:t> ABD </a:t>
            </a:r>
            <a:r>
              <a:rPr lang="en-US" altLang="en-US" sz="2700" dirty="0" err="1"/>
              <a:t>ile</a:t>
            </a:r>
            <a:r>
              <a:rPr lang="en-US" altLang="en-US" sz="2700" dirty="0"/>
              <a:t> AB </a:t>
            </a:r>
            <a:r>
              <a:rPr lang="en-US" altLang="en-US" sz="2700" dirty="0" err="1"/>
              <a:t>arasındaki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Güvenli</a:t>
            </a:r>
            <a:r>
              <a:rPr lang="en-US" altLang="en-US" sz="2700" dirty="0"/>
              <a:t> Liman </a:t>
            </a:r>
            <a:r>
              <a:rPr lang="en-US" altLang="en-US" sz="2700" dirty="0" err="1"/>
              <a:t>anlaşmasının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yerini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aldı</a:t>
            </a:r>
            <a:r>
              <a:rPr lang="en-US" altLang="en-US" sz="2700" dirty="0"/>
              <a:t>
AB </a:t>
            </a:r>
            <a:r>
              <a:rPr lang="en-US" altLang="en-US" sz="2700" dirty="0" err="1"/>
              <a:t>vatandaşlarının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kişisel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verilerini</a:t>
            </a:r>
            <a:r>
              <a:rPr lang="en-US" altLang="en-US" sz="2700" dirty="0"/>
              <a:t> </a:t>
            </a:r>
            <a:r>
              <a:rPr lang="en-US" altLang="en-US" sz="2700" dirty="0" err="1"/>
              <a:t>korumak</a:t>
            </a:r>
            <a:r>
              <a:rPr lang="en-US" altLang="en-US" sz="2700" dirty="0"/>
              <a:t> için ABD </a:t>
            </a:r>
            <a:r>
              <a:rPr lang="en-US" altLang="en-US" sz="2700" dirty="0" err="1"/>
              <a:t>şirketlerine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daha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güçlü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yükümlülükler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getiriyor</a:t>
            </a:r>
            <a:r>
              <a:rPr lang="en-US" altLang="en-US" sz="2700" dirty="0"/>
              <a:t> </a:t>
            </a:r>
            <a:r>
              <a:rPr lang="en-US" altLang="en-US" sz="2700" dirty="0" err="1"/>
              <a:t>ve</a:t>
            </a:r>
            <a:r>
              <a:rPr lang="en-US" altLang="en-US" sz="2700" dirty="0"/>
              <a:t> ABD </a:t>
            </a:r>
            <a:r>
              <a:rPr lang="en-US" altLang="en-US" sz="2700" dirty="0" err="1"/>
              <a:t>kurumları</a:t>
            </a:r>
            <a:r>
              <a:rPr lang="en-US" altLang="en-US" sz="2700" dirty="0"/>
              <a:t> </a:t>
            </a:r>
            <a:r>
              <a:rPr lang="en-US" altLang="en-US" sz="2700" dirty="0" err="1"/>
              <a:t>tarafından</a:t>
            </a:r>
            <a:r>
              <a:rPr lang="en-US" altLang="en-US" sz="2700" dirty="0"/>
              <a:t> </a:t>
            </a:r>
            <a:r>
              <a:rPr lang="en-US" altLang="en-US" sz="2700" dirty="0" err="1"/>
              <a:t>daha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güçlü</a:t>
            </a:r>
            <a:r>
              <a:rPr lang="en-US" altLang="en-US" sz="2700" dirty="0"/>
              <a:t> </a:t>
            </a:r>
            <a:r>
              <a:rPr lang="en-US" altLang="en-US" sz="2700" dirty="0" err="1"/>
              <a:t>yaptırım</a:t>
            </a:r>
            <a:r>
              <a:rPr lang="en-US" altLang="en-US" sz="2700" dirty="0"/>
              <a:t> </a:t>
            </a:r>
            <a:r>
              <a:rPr lang="en-US" altLang="en-US" sz="2700" dirty="0" err="1"/>
              <a:t>gerektiriyor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36685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Adil Bilgi </a:t>
            </a:r>
            <a:r>
              <a:rPr lang="en-US" sz="3200" dirty="0" err="1"/>
              <a:t>Uygulamaları</a:t>
            </a:r>
            <a:r>
              <a:rPr lang="en-US" sz="3200" dirty="0"/>
              <a:t>, </a:t>
            </a:r>
            <a:r>
              <a:rPr lang="en-US" sz="3200" dirty="0" err="1"/>
              <a:t>Bölüm</a:t>
            </a:r>
            <a:r>
              <a:rPr lang="en-US" sz="3200" dirty="0"/>
              <a:t>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621962"/>
            <a:ext cx="8415338" cy="3896451"/>
          </a:xfrm>
        </p:spPr>
        <p:txBody>
          <a:bodyPr/>
          <a:lstStyle/>
          <a:p>
            <a:r>
              <a:rPr lang="en-US" altLang="en-US" sz="3200" dirty="0" err="1"/>
              <a:t>Genel</a:t>
            </a:r>
            <a:r>
              <a:rPr lang="en-US" altLang="en-US" sz="3200" dirty="0"/>
              <a:t> Veri </a:t>
            </a:r>
            <a:r>
              <a:rPr lang="en-US" altLang="en-US" sz="3200" dirty="0" err="1"/>
              <a:t>Koruma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Yönetmeliği</a:t>
            </a:r>
            <a:r>
              <a:rPr lang="en-US" altLang="en-US" sz="3200" dirty="0"/>
              <a:t> (GDPR): 2016 </a:t>
            </a:r>
            <a:r>
              <a:rPr lang="en-US" altLang="en-US" sz="3200" dirty="0" err="1"/>
              <a:t>yılında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kabul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edilen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bir</a:t>
            </a:r>
            <a:r>
              <a:rPr lang="en-US" altLang="en-US" sz="3200" dirty="0"/>
              <a:t> AB </a:t>
            </a:r>
            <a:r>
              <a:rPr lang="en-US" altLang="en-US" sz="3200" dirty="0" err="1"/>
              <a:t>yönetmeliği</a:t>
            </a:r>
            <a:r>
              <a:rPr lang="en-US" altLang="en-US" sz="3200" dirty="0"/>
              <a:t>; AB </a:t>
            </a:r>
            <a:r>
              <a:rPr lang="en-US" altLang="en-US" sz="3200" dirty="0" err="1"/>
              <a:t>içindeki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bireyler</a:t>
            </a:r>
            <a:r>
              <a:rPr lang="en-US" altLang="en-US" sz="3200" dirty="0"/>
              <a:t> için </a:t>
            </a:r>
            <a:r>
              <a:rPr lang="en-US" altLang="en-US" sz="3200" dirty="0" err="1"/>
              <a:t>veri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korumasını</a:t>
            </a:r>
            <a:r>
              <a:rPr lang="en-US" altLang="en-US" sz="3200" dirty="0"/>
              <a:t> </a:t>
            </a:r>
            <a:r>
              <a:rPr lang="en-US" altLang="en-US" sz="3200" dirty="0" err="1"/>
              <a:t>güçlendirmek</a:t>
            </a:r>
            <a:r>
              <a:rPr lang="en-US" altLang="en-US" sz="3200" dirty="0"/>
              <a:t> </a:t>
            </a:r>
            <a:r>
              <a:rPr lang="en-US" altLang="en-US" sz="3200" dirty="0" err="1"/>
              <a:t>üzere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tasarlanmıştır</a:t>
            </a:r>
            <a:r>
              <a:rPr lang="en-US" altLang="en-US" sz="3200" dirty="0"/>
              <a:t>
</a:t>
            </a:r>
            <a:r>
              <a:rPr lang="en-US" altLang="en-US" sz="3200" dirty="0" err="1"/>
              <a:t>Dünyanın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herhangi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bir</a:t>
            </a:r>
            <a:r>
              <a:rPr lang="en-US" altLang="en-US" sz="3200" dirty="0"/>
              <a:t> </a:t>
            </a:r>
            <a:r>
              <a:rPr lang="en-US" altLang="en-US" sz="3200" dirty="0" err="1"/>
              <a:t>yerinde</a:t>
            </a:r>
            <a:r>
              <a:rPr lang="en-US" altLang="en-US" sz="3200" dirty="0"/>
              <a:t> AB </a:t>
            </a:r>
            <a:r>
              <a:rPr lang="en-US" altLang="en-US" sz="3200" dirty="0" err="1"/>
              <a:t>vatandaşlarının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kişisel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verilerini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toplayan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depolayan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veya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aktaran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kuruluşlar</a:t>
            </a:r>
            <a:r>
              <a:rPr lang="en-US" altLang="en-US" sz="3200" dirty="0"/>
              <a:t>, </a:t>
            </a:r>
            <a:r>
              <a:rPr lang="en-US" altLang="en-US" sz="3200" dirty="0" err="1"/>
              <a:t>sistemlerinin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ve</a:t>
            </a:r>
            <a:r>
              <a:rPr lang="en-US" altLang="en-US" sz="3200" dirty="0"/>
              <a:t> </a:t>
            </a:r>
            <a:r>
              <a:rPr lang="en-US" altLang="en-US" sz="3200" dirty="0" err="1"/>
              <a:t>prosedürlerinin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uyumlu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olduğundan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emin</a:t>
            </a:r>
            <a:r>
              <a:rPr lang="en-US" altLang="en-US" sz="3200" dirty="0"/>
              <a:t> </a:t>
            </a:r>
            <a:r>
              <a:rPr lang="en-US" altLang="en-US" sz="3200" dirty="0" err="1"/>
              <a:t>olmalıdır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53184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33941"/>
            <a:ext cx="8001000" cy="840871"/>
          </a:xfrm>
        </p:spPr>
        <p:txBody>
          <a:bodyPr/>
          <a:lstStyle/>
          <a:p>
            <a:r>
              <a:rPr lang="en-US" sz="3200" dirty="0" err="1"/>
              <a:t>Gizlilik</a:t>
            </a:r>
            <a:r>
              <a:rPr lang="en-US" sz="3200" dirty="0"/>
              <a:t> </a:t>
            </a:r>
            <a:r>
              <a:rPr lang="en-US" sz="3200" dirty="0" err="1"/>
              <a:t>Yasaları</a:t>
            </a:r>
            <a:r>
              <a:rPr lang="en-US" sz="3200" dirty="0"/>
              <a:t>, </a:t>
            </a:r>
            <a:r>
              <a:rPr lang="en-US" sz="3200" dirty="0" err="1"/>
              <a:t>Uygulamalar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Mahkeme</a:t>
            </a:r>
            <a:r>
              <a:rPr lang="en-US" sz="3200" dirty="0"/>
              <a:t> </a:t>
            </a:r>
            <a:r>
              <a:rPr lang="en-US" sz="3200" dirty="0" err="1"/>
              <a:t>Kararları</a:t>
            </a:r>
            <a:r>
              <a:rPr lang="en-US" sz="3200" dirty="0"/>
              <a:t>: </a:t>
            </a:r>
            <a:r>
              <a:rPr lang="en-US" sz="3200" dirty="0" err="1"/>
              <a:t>Devlet</a:t>
            </a:r>
            <a:r>
              <a:rPr lang="en-US" sz="3200" dirty="0"/>
              <a:t> </a:t>
            </a:r>
            <a:r>
              <a:rPr lang="en-US" sz="3200" dirty="0" err="1"/>
              <a:t>Kayıtlarına</a:t>
            </a:r>
            <a:r>
              <a:rPr lang="en-US" sz="3200" dirty="0"/>
              <a:t> </a:t>
            </a:r>
            <a:r>
              <a:rPr lang="en-US" sz="3200" dirty="0" err="1"/>
              <a:t>Erişim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5472267"/>
          </a:xfrm>
        </p:spPr>
        <p:txBody>
          <a:bodyPr/>
          <a:lstStyle/>
          <a:p>
            <a:pPr lvl="1"/>
            <a:r>
              <a:rPr lang="en-US" altLang="en-US" sz="2600" dirty="0"/>
              <a:t>Bilgi </a:t>
            </a:r>
            <a:r>
              <a:rPr lang="en-US" altLang="en-US" sz="2600" dirty="0" err="1"/>
              <a:t>Edinme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Özgürlüğü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Yasası</a:t>
            </a:r>
            <a:r>
              <a:rPr lang="en-US" altLang="en-US" sz="2600" dirty="0"/>
              <a:t> (FOIA): </a:t>
            </a:r>
            <a:r>
              <a:rPr lang="en-US" altLang="en-US" sz="2600" dirty="0" err="1"/>
              <a:t>Vatandaşlara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talep</a:t>
            </a:r>
            <a:r>
              <a:rPr lang="en-US" altLang="en-US" sz="2600" dirty="0"/>
              <a:t> </a:t>
            </a:r>
            <a:r>
              <a:rPr lang="en-US" altLang="en-US" sz="2600" dirty="0" err="1"/>
              <a:t>üzerine</a:t>
            </a:r>
            <a:r>
              <a:rPr lang="en-US" altLang="en-US" sz="2600" dirty="0"/>
              <a:t> federal, eyalet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yerel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yönetimlerin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belirli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bilgi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kayıtlarına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erişme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hakkı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verir</a:t>
            </a:r>
            <a:r>
              <a:rPr lang="en-US" altLang="en-US" sz="2600" dirty="0"/>
              <a:t>
Bir FOIA </a:t>
            </a:r>
            <a:r>
              <a:rPr lang="en-US" altLang="en-US" sz="2600" dirty="0" err="1"/>
              <a:t>talebi</a:t>
            </a:r>
            <a:r>
              <a:rPr lang="en-US" altLang="en-US" sz="2600" dirty="0"/>
              <a:t> için </a:t>
            </a:r>
            <a:r>
              <a:rPr lang="en-US" altLang="en-US" sz="2600" dirty="0" err="1"/>
              <a:t>iki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temel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gereksinim</a:t>
            </a:r>
            <a:r>
              <a:rPr lang="en-US" altLang="en-US" sz="2600" dirty="0"/>
              <a:t>: 
</a:t>
            </a:r>
            <a:r>
              <a:rPr lang="en-US" altLang="en-US" sz="2600" dirty="0" err="1"/>
              <a:t>İstek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kayıtlar</a:t>
            </a:r>
            <a:r>
              <a:rPr lang="en-US" altLang="en-US" sz="2600" dirty="0"/>
              <a:t> için </a:t>
            </a:r>
            <a:r>
              <a:rPr lang="en-US" altLang="en-US" sz="2600" dirty="0" err="1"/>
              <a:t>geniş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kapsamlı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mantıksız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veya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külfetli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aramalar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gerektirmemelidir</a:t>
            </a:r>
            <a:r>
              <a:rPr lang="en-US" altLang="en-US" sz="2600" dirty="0"/>
              <a:t>
</a:t>
            </a:r>
            <a:r>
              <a:rPr lang="en-US" altLang="en-US" sz="2600" dirty="0" err="1"/>
              <a:t>Talep</a:t>
            </a:r>
            <a:r>
              <a:rPr lang="en-US" altLang="en-US" sz="2600" dirty="0"/>
              <a:t>, Federal </a:t>
            </a:r>
            <a:r>
              <a:rPr lang="en-US" altLang="en-US" sz="2600" dirty="0" err="1"/>
              <a:t>Sicilde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yayınlanan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usul</a:t>
            </a:r>
            <a:r>
              <a:rPr lang="en-US" altLang="en-US" sz="2600" dirty="0"/>
              <a:t> </a:t>
            </a:r>
            <a:r>
              <a:rPr lang="en-US" altLang="en-US" sz="2600" dirty="0" err="1"/>
              <a:t>düzenlemelerine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göre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yapılmalıdır</a:t>
            </a:r>
            <a:r>
              <a:rPr lang="en-US" altLang="en-US" sz="2600" dirty="0"/>
              <a:t>
</a:t>
            </a:r>
            <a:r>
              <a:rPr lang="en-US" altLang="en-US" sz="2600" dirty="0" err="1"/>
              <a:t>Gizlilik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Yasası</a:t>
            </a:r>
            <a:r>
              <a:rPr lang="en-US" altLang="en-US" sz="2600" dirty="0"/>
              <a:t>: Federal </a:t>
            </a:r>
            <a:r>
              <a:rPr lang="en-US" altLang="en-US" sz="2600" dirty="0" err="1"/>
              <a:t>kurumlar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tarafından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tutulan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kişisel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verilerin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toplanması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kullanılması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yayılması</a:t>
            </a:r>
            <a:r>
              <a:rPr lang="en-US" altLang="en-US" sz="2600" dirty="0"/>
              <a:t> için </a:t>
            </a:r>
            <a:r>
              <a:rPr lang="en-US" altLang="en-US" sz="2600" dirty="0" err="1"/>
              <a:t>kurallar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belirler</a:t>
            </a:r>
            <a:r>
              <a:rPr lang="en-US" altLang="en-US" sz="2600" dirty="0"/>
              <a:t>
ABD </a:t>
            </a:r>
            <a:r>
              <a:rPr lang="en-US" altLang="en-US" sz="2600" dirty="0" err="1"/>
              <a:t>devlet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kurumlarının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herhangi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kişisel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veri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kayıt</a:t>
            </a:r>
            <a:r>
              <a:rPr lang="en-US" altLang="en-US" sz="2600" dirty="0"/>
              <a:t> </a:t>
            </a:r>
            <a:r>
              <a:rPr lang="en-US" altLang="en-US" sz="2600" dirty="0" err="1"/>
              <a:t>tutma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sisteminin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varlığını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gizlemesini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yasaklar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42332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964436"/>
          </a:xfrm>
        </p:spPr>
        <p:txBody>
          <a:bodyPr/>
          <a:lstStyle/>
          <a:p>
            <a:r>
              <a:rPr lang="en-US" altLang="en-US" sz="2800" dirty="0"/>
              <a:t>Web </a:t>
            </a:r>
            <a:r>
              <a:rPr lang="en-US" altLang="en-US" sz="2800" dirty="0" err="1"/>
              <a:t>sörfçüleri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hakkında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bilgi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aşağıdakiler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kullanılarak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elde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edilebilir</a:t>
            </a:r>
            <a:r>
              <a:rPr lang="en-US" altLang="en-US" sz="2800" dirty="0"/>
              <a:t>: 
</a:t>
            </a:r>
            <a:r>
              <a:rPr lang="en-US" altLang="en-US" sz="2800" dirty="0" err="1"/>
              <a:t>Gönüllü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yöntemler</a:t>
            </a:r>
            <a:r>
              <a:rPr lang="en-US" altLang="en-US" sz="2800" dirty="0"/>
              <a:t>: Web </a:t>
            </a:r>
            <a:r>
              <a:rPr lang="en-US" altLang="en-US" sz="2800" dirty="0" err="1"/>
              <a:t>sitesi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kayıtları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anket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yarışmalar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sosyal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medya</a:t>
            </a:r>
            <a:r>
              <a:rPr lang="en-US" altLang="en-US" sz="2800" dirty="0"/>
              <a:t>
</a:t>
            </a:r>
            <a:r>
              <a:rPr lang="en-US" altLang="en-US" sz="2800" dirty="0" err="1"/>
              <a:t>Çerezler</a:t>
            </a:r>
            <a:r>
              <a:rPr lang="en-US" altLang="en-US" sz="2800" dirty="0"/>
              <a:t>: Bir web </a:t>
            </a:r>
            <a:r>
              <a:rPr lang="en-US" altLang="en-US" sz="2800" dirty="0" err="1"/>
              <a:t>sitesini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ziyaret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eden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kullanıcıların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sabit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disklerine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indirilebilen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böylece</a:t>
            </a:r>
            <a:r>
              <a:rPr lang="en-US" altLang="en-US" sz="2800" dirty="0"/>
              <a:t> web </a:t>
            </a:r>
            <a:r>
              <a:rPr lang="en-US" altLang="en-US" sz="2800" dirty="0" err="1"/>
              <a:t>sitesinin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sonraki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ziyaretlerde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ziyaretçileri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tanımlayabilmesi</a:t>
            </a:r>
            <a:r>
              <a:rPr lang="en-US" altLang="en-US" sz="2800" dirty="0"/>
              <a:t> için </a:t>
            </a:r>
            <a:r>
              <a:rPr lang="en-US" altLang="en-US" sz="2800" dirty="0" err="1"/>
              <a:t>metin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dosyaları</a:t>
            </a:r>
            <a:r>
              <a:rPr lang="en-US" altLang="en-US" sz="2800" dirty="0"/>
              <a:t>
</a:t>
            </a:r>
            <a:r>
              <a:rPr lang="en-US" altLang="en-US" sz="2800" dirty="0" err="1"/>
              <a:t>İzleme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yazılımı</a:t>
            </a:r>
            <a:r>
              <a:rPr lang="en-US" altLang="en-US" sz="2800" dirty="0"/>
              <a:t>: Bir web </a:t>
            </a:r>
            <a:r>
              <a:rPr lang="en-US" altLang="en-US" sz="2800" dirty="0" err="1"/>
              <a:t>sitesinin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tarama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alışkanlıklarını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analiz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etmesine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kişisel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ilgi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alanlarını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tercihleri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çıkarmasına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olanak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tanır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07685"/>
            <a:ext cx="8026400" cy="893386"/>
          </a:xfrm>
        </p:spPr>
        <p:txBody>
          <a:bodyPr/>
          <a:lstStyle/>
          <a:p>
            <a:r>
              <a:rPr lang="en-US" altLang="en-US" sz="3400" dirty="0" err="1"/>
              <a:t>Temel</a:t>
            </a:r>
            <a:r>
              <a:rPr lang="en-US" altLang="en-US" sz="3400" dirty="0"/>
              <a:t> </a:t>
            </a:r>
            <a:r>
              <a:rPr lang="en-US" altLang="en-US" sz="3400" dirty="0" err="1"/>
              <a:t>Gizlilik</a:t>
            </a:r>
            <a:r>
              <a:rPr lang="en-US" altLang="en-US" sz="3400" dirty="0"/>
              <a:t> </a:t>
            </a:r>
            <a:r>
              <a:rPr lang="en-US" altLang="en-US" sz="3400" dirty="0" err="1"/>
              <a:t>ve</a:t>
            </a:r>
            <a:r>
              <a:rPr lang="en-US" altLang="en-US" sz="3400" dirty="0"/>
              <a:t> </a:t>
            </a:r>
            <a:r>
              <a:rPr lang="en-US" altLang="en-US" sz="3400" dirty="0" err="1"/>
              <a:t>Anonimlik</a:t>
            </a:r>
            <a:r>
              <a:rPr lang="en-US" altLang="en-US" sz="3400" dirty="0"/>
              <a:t> </a:t>
            </a:r>
            <a:r>
              <a:rPr lang="en-US" altLang="en-US" sz="3400" dirty="0" err="1"/>
              <a:t>Sorunları</a:t>
            </a:r>
            <a:r>
              <a:rPr lang="en-US" altLang="en-US" sz="3400" dirty="0"/>
              <a:t>: </a:t>
            </a:r>
            <a:r>
              <a:rPr lang="en-US" altLang="en-US" sz="3400" dirty="0" err="1"/>
              <a:t>Tüketici</a:t>
            </a:r>
            <a:r>
              <a:rPr lang="en-US" altLang="en-US" sz="3400" dirty="0"/>
              <a:t> </a:t>
            </a:r>
            <a:r>
              <a:rPr lang="en-US" altLang="en-US" sz="3400" dirty="0" err="1"/>
              <a:t>Profili</a:t>
            </a:r>
            <a:r>
              <a:rPr lang="en-US" altLang="en-US" sz="3400" dirty="0"/>
              <a:t> </a:t>
            </a:r>
            <a:r>
              <a:rPr lang="en-US" altLang="en-US" sz="3400" dirty="0" err="1"/>
              <a:t>Oluşturma</a:t>
            </a:r>
            <a:r>
              <a:rPr lang="en-US" altLang="en-US" sz="3400" dirty="0"/>
              <a:t>, </a:t>
            </a:r>
            <a:r>
              <a:rPr lang="en-US" altLang="en-US" sz="3400" dirty="0" err="1"/>
              <a:t>Bölüm</a:t>
            </a:r>
            <a:r>
              <a:rPr lang="en-US" altLang="en-US" sz="3400" dirty="0"/>
              <a:t> 1</a:t>
            </a:r>
            <a:endParaRPr lang="en-US" sz="3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05841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19200"/>
            <a:ext cx="8415338" cy="4555093"/>
          </a:xfrm>
        </p:spPr>
        <p:txBody>
          <a:bodyPr/>
          <a:lstStyle/>
          <a:p>
            <a:r>
              <a:rPr lang="en-US" altLang="en-US" sz="2800" dirty="0" err="1"/>
              <a:t>Tüketici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profiline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yönelik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eleştiriler</a:t>
            </a:r>
            <a:r>
              <a:rPr lang="en-US" altLang="en-US" sz="2800" dirty="0"/>
              <a:t>:
</a:t>
            </a:r>
            <a:r>
              <a:rPr lang="en-US" altLang="en-US" sz="2800" dirty="0" err="1"/>
              <a:t>Kişisel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veriler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verileri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sağlayan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tüketicilerin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izni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olmadan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toplanabilir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diğer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şirketlere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satılabilir</a:t>
            </a:r>
            <a:r>
              <a:rPr lang="en-US" altLang="en-US" sz="2800" dirty="0"/>
              <a:t>
Veri </a:t>
            </a:r>
            <a:r>
              <a:rPr lang="en-US" altLang="en-US" sz="2800" dirty="0" err="1"/>
              <a:t>ihlali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riski</a:t>
            </a:r>
            <a:r>
              <a:rPr lang="en-US" altLang="en-US" sz="2800" dirty="0"/>
              <a:t>: Hassas </a:t>
            </a:r>
            <a:r>
              <a:rPr lang="en-US" altLang="en-US" sz="2800" dirty="0" err="1"/>
              <a:t>verilerin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kasıtsız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olarak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serbest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bırakılması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veya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hassas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verilere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ör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kredi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kartı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numaraları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veya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Sosyal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Güvenlik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numaraları</a:t>
            </a:r>
            <a:r>
              <a:rPr lang="en-US" altLang="en-US" sz="2800" dirty="0"/>
              <a:t>) </a:t>
            </a:r>
            <a:r>
              <a:rPr lang="en-US" altLang="en-US" sz="2800" dirty="0" err="1"/>
              <a:t>yetkisiz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kişiler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tarafından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erişilmesi</a:t>
            </a:r>
            <a:r>
              <a:rPr lang="en-US" altLang="en-US" sz="2800" dirty="0"/>
              <a:t>
</a:t>
            </a:r>
            <a:r>
              <a:rPr lang="en-US" altLang="en-US" sz="2800" dirty="0" err="1"/>
              <a:t>Kimlik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hırsızlığı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riski</a:t>
            </a:r>
            <a:r>
              <a:rPr lang="en-US" altLang="en-US" sz="2800" dirty="0"/>
              <a:t>: </a:t>
            </a:r>
            <a:r>
              <a:rPr lang="en-US" altLang="en-US" sz="2800" dirty="0" err="1"/>
              <a:t>Kişisel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bilgilerin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çalınması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daha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sonra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sahibinin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izni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olmadan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genellikle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dolandırıcılık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veya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diğer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suçları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işlemek</a:t>
            </a:r>
            <a:r>
              <a:rPr lang="en-US" altLang="en-US" sz="2800" dirty="0"/>
              <a:t> için </a:t>
            </a:r>
            <a:r>
              <a:rPr lang="en-US" altLang="en-US" sz="2800" dirty="0" err="1"/>
              <a:t>kullanılması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107685"/>
            <a:ext cx="8026400" cy="893386"/>
          </a:xfrm>
        </p:spPr>
        <p:txBody>
          <a:bodyPr/>
          <a:lstStyle/>
          <a:p>
            <a:r>
              <a:rPr lang="en-US" altLang="en-US" sz="3400" dirty="0" err="1"/>
              <a:t>Temel</a:t>
            </a:r>
            <a:r>
              <a:rPr lang="en-US" altLang="en-US" sz="3400" dirty="0"/>
              <a:t> </a:t>
            </a:r>
            <a:r>
              <a:rPr lang="en-US" altLang="en-US" sz="3400" dirty="0" err="1"/>
              <a:t>Gizlilik</a:t>
            </a:r>
            <a:r>
              <a:rPr lang="en-US" altLang="en-US" sz="3400" dirty="0"/>
              <a:t> </a:t>
            </a:r>
            <a:r>
              <a:rPr lang="en-US" altLang="en-US" sz="3400" dirty="0" err="1"/>
              <a:t>ve</a:t>
            </a:r>
            <a:r>
              <a:rPr lang="en-US" altLang="en-US" sz="3400" dirty="0"/>
              <a:t> </a:t>
            </a:r>
            <a:r>
              <a:rPr lang="en-US" altLang="en-US" sz="3400" dirty="0" err="1"/>
              <a:t>Anonimlik</a:t>
            </a:r>
            <a:r>
              <a:rPr lang="en-US" altLang="en-US" sz="3400" dirty="0"/>
              <a:t> </a:t>
            </a:r>
            <a:r>
              <a:rPr lang="en-US" altLang="en-US" sz="3400" dirty="0" err="1"/>
              <a:t>Sorunları</a:t>
            </a:r>
            <a:r>
              <a:rPr lang="en-US" altLang="en-US" sz="3400" dirty="0"/>
              <a:t>: </a:t>
            </a:r>
            <a:r>
              <a:rPr lang="en-US" altLang="en-US" sz="3400" dirty="0" err="1"/>
              <a:t>Tüketici</a:t>
            </a:r>
            <a:r>
              <a:rPr lang="en-US" altLang="en-US" sz="3400" dirty="0"/>
              <a:t> </a:t>
            </a:r>
            <a:r>
              <a:rPr lang="en-US" altLang="en-US" sz="3400" dirty="0" err="1"/>
              <a:t>Profili</a:t>
            </a:r>
            <a:r>
              <a:rPr lang="en-US" altLang="en-US" sz="3400" dirty="0"/>
              <a:t> </a:t>
            </a:r>
            <a:r>
              <a:rPr lang="en-US" altLang="en-US" sz="3400" dirty="0" err="1"/>
              <a:t>Oluşturma</a:t>
            </a:r>
            <a:r>
              <a:rPr lang="en-US" altLang="en-US" sz="3400" dirty="0"/>
              <a:t>, </a:t>
            </a:r>
            <a:r>
              <a:rPr lang="en-US" altLang="en-US" sz="3400" dirty="0" err="1"/>
              <a:t>Bölüm</a:t>
            </a:r>
            <a:r>
              <a:rPr lang="en-US" altLang="en-US" sz="3400" dirty="0"/>
              <a:t> 2</a:t>
            </a:r>
            <a:endParaRPr lang="en-US" sz="3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04382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4401205"/>
          </a:xfrm>
        </p:spPr>
        <p:txBody>
          <a:bodyPr/>
          <a:lstStyle/>
          <a:p>
            <a:r>
              <a:rPr lang="en-US" sz="2800" dirty="0" err="1"/>
              <a:t>Elektronik</a:t>
            </a:r>
            <a:r>
              <a:rPr lang="en-US" sz="2800" dirty="0"/>
              <a:t> </a:t>
            </a:r>
            <a:r>
              <a:rPr lang="en-US" sz="2800" dirty="0" err="1"/>
              <a:t>keşif</a:t>
            </a:r>
            <a:r>
              <a:rPr lang="en-US" sz="2800" dirty="0"/>
              <a:t> (e-</a:t>
            </a:r>
            <a:r>
              <a:rPr lang="en-US" sz="2800" dirty="0" err="1"/>
              <a:t>keşif</a:t>
            </a:r>
            <a:r>
              <a:rPr lang="en-US" sz="2800" dirty="0"/>
              <a:t>): </a:t>
            </a:r>
            <a:r>
              <a:rPr lang="en-US" sz="2800" dirty="0" err="1"/>
              <a:t>Ceza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hukuk</a:t>
            </a:r>
            <a:r>
              <a:rPr lang="en-US" sz="2800" dirty="0"/>
              <a:t> </a:t>
            </a:r>
            <a:r>
              <a:rPr lang="en-US" sz="2800" dirty="0" err="1"/>
              <a:t>davalarında</a:t>
            </a:r>
            <a:r>
              <a:rPr lang="en-US" sz="2800" dirty="0"/>
              <a:t> </a:t>
            </a:r>
            <a:r>
              <a:rPr lang="en-US" sz="2800" dirty="0" err="1"/>
              <a:t>kullanılmak</a:t>
            </a:r>
            <a:r>
              <a:rPr lang="en-US" sz="2800" dirty="0"/>
              <a:t> </a:t>
            </a:r>
            <a:r>
              <a:rPr lang="en-US" sz="2800" dirty="0" err="1"/>
              <a:t>üzere</a:t>
            </a:r>
            <a:r>
              <a:rPr lang="en-US" sz="2800" dirty="0"/>
              <a:t> </a:t>
            </a:r>
            <a:r>
              <a:rPr lang="en-US" sz="2800" dirty="0" err="1"/>
              <a:t>elektronik</a:t>
            </a:r>
            <a:r>
              <a:rPr lang="en-US" sz="2800" dirty="0"/>
              <a:t> </a:t>
            </a:r>
            <a:r>
              <a:rPr lang="en-US" sz="2800" dirty="0" err="1"/>
              <a:t>olarak</a:t>
            </a:r>
            <a:r>
              <a:rPr lang="en-US" sz="2800" dirty="0"/>
              <a:t> </a:t>
            </a:r>
            <a:r>
              <a:rPr lang="en-US" sz="2800" dirty="0" err="1"/>
              <a:t>saklanan</a:t>
            </a:r>
            <a:r>
              <a:rPr lang="en-US" sz="2800" dirty="0"/>
              <a:t> </a:t>
            </a:r>
            <a:r>
              <a:rPr lang="en-US" sz="2800" dirty="0" err="1"/>
              <a:t>bilgilerin</a:t>
            </a:r>
            <a:r>
              <a:rPr lang="en-US" sz="2800" dirty="0"/>
              <a:t> </a:t>
            </a:r>
            <a:r>
              <a:rPr lang="en-US" sz="2800" dirty="0" err="1"/>
              <a:t>toplanması</a:t>
            </a:r>
            <a:r>
              <a:rPr lang="en-US" sz="2800" dirty="0"/>
              <a:t>, </a:t>
            </a:r>
            <a:r>
              <a:rPr lang="en-US" sz="2800" dirty="0" err="1"/>
              <a:t>hazırlanması</a:t>
            </a:r>
            <a:r>
              <a:rPr lang="en-US" sz="2800" dirty="0"/>
              <a:t>, </a:t>
            </a:r>
            <a:r>
              <a:rPr lang="en-US" sz="2800" dirty="0" err="1"/>
              <a:t>incelenmesi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üretilmesi</a:t>
            </a:r>
            <a:r>
              <a:rPr lang="en-US" sz="2800" dirty="0"/>
              <a:t>
</a:t>
            </a:r>
            <a:r>
              <a:rPr lang="en-US" sz="2800" dirty="0" err="1"/>
              <a:t>Elektronik</a:t>
            </a:r>
            <a:r>
              <a:rPr lang="en-US" sz="2800" dirty="0"/>
              <a:t> </a:t>
            </a:r>
            <a:r>
              <a:rPr lang="en-US" sz="2800" dirty="0" err="1"/>
              <a:t>olarak</a:t>
            </a:r>
            <a:r>
              <a:rPr lang="en-US" sz="2800" dirty="0"/>
              <a:t> </a:t>
            </a:r>
            <a:r>
              <a:rPr lang="en-US" sz="2800" dirty="0" err="1"/>
              <a:t>depolanan</a:t>
            </a:r>
            <a:r>
              <a:rPr lang="en-US" sz="2800" dirty="0"/>
              <a:t> </a:t>
            </a:r>
            <a:r>
              <a:rPr lang="en-US" sz="2800" dirty="0" err="1"/>
              <a:t>bilgiler</a:t>
            </a:r>
            <a:r>
              <a:rPr lang="en-US" sz="2800" dirty="0"/>
              <a:t> (ESI): </a:t>
            </a:r>
            <a:r>
              <a:rPr lang="en-US" sz="2800" dirty="0" err="1"/>
              <a:t>Herhangi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elektronik</a:t>
            </a:r>
            <a:r>
              <a:rPr lang="en-US" sz="2800" dirty="0"/>
              <a:t> </a:t>
            </a:r>
            <a:r>
              <a:rPr lang="en-US" sz="2800" dirty="0" err="1"/>
              <a:t>depolama</a:t>
            </a:r>
            <a:r>
              <a:rPr lang="en-US" sz="2800" dirty="0"/>
              <a:t> </a:t>
            </a:r>
            <a:r>
              <a:rPr lang="en-US" sz="2800" dirty="0" err="1"/>
              <a:t>cihazında</a:t>
            </a:r>
            <a:r>
              <a:rPr lang="en-US" sz="2800" dirty="0"/>
              <a:t> </a:t>
            </a:r>
            <a:r>
              <a:rPr lang="en-US" sz="2800" dirty="0" err="1"/>
              <a:t>depolanan</a:t>
            </a:r>
            <a:r>
              <a:rPr lang="en-US" sz="2800" dirty="0"/>
              <a:t> </a:t>
            </a:r>
            <a:r>
              <a:rPr lang="en-US" sz="2800" dirty="0" err="1"/>
              <a:t>herhangi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dijital</a:t>
            </a:r>
            <a:r>
              <a:rPr lang="en-US" sz="2800" dirty="0"/>
              <a:t> </a:t>
            </a:r>
            <a:r>
              <a:rPr lang="en-US" sz="2800" dirty="0" err="1"/>
              <a:t>bilgi</a:t>
            </a:r>
            <a:r>
              <a:rPr lang="en-US" sz="2800" dirty="0"/>
              <a:t> </a:t>
            </a:r>
            <a:r>
              <a:rPr lang="en-US" sz="2800" dirty="0" err="1"/>
              <a:t>biçimi</a:t>
            </a:r>
            <a:r>
              <a:rPr lang="en-US" sz="2800" dirty="0"/>
              <a:t>
</a:t>
            </a:r>
            <a:r>
              <a:rPr lang="en-US" sz="2800" dirty="0" err="1"/>
              <a:t>Tahmine</a:t>
            </a:r>
            <a:r>
              <a:rPr lang="en-US" sz="2800" dirty="0"/>
              <a:t> </a:t>
            </a:r>
            <a:r>
              <a:rPr lang="en-US" sz="2800" dirty="0" err="1"/>
              <a:t>dayalı</a:t>
            </a:r>
            <a:r>
              <a:rPr lang="en-US" sz="2800" dirty="0"/>
              <a:t> </a:t>
            </a:r>
            <a:r>
              <a:rPr lang="en-US" sz="2800" dirty="0" err="1"/>
              <a:t>kodlama</a:t>
            </a:r>
            <a:r>
              <a:rPr lang="en-US" sz="2800" dirty="0"/>
              <a:t>: </a:t>
            </a:r>
            <a:r>
              <a:rPr lang="en-US" sz="2800" dirty="0" err="1"/>
              <a:t>İlgili</a:t>
            </a:r>
            <a:r>
              <a:rPr lang="en-US" sz="2800" dirty="0"/>
              <a:t> </a:t>
            </a:r>
            <a:r>
              <a:rPr lang="en-US" sz="2800" dirty="0" err="1"/>
              <a:t>belgeleri</a:t>
            </a:r>
            <a:r>
              <a:rPr lang="en-US" sz="2800" dirty="0"/>
              <a:t> </a:t>
            </a:r>
            <a:r>
              <a:rPr lang="en-US" sz="2800" dirty="0" err="1"/>
              <a:t>tanımak</a:t>
            </a:r>
            <a:r>
              <a:rPr lang="en-US" sz="2800" dirty="0"/>
              <a:t> için </a:t>
            </a:r>
            <a:r>
              <a:rPr lang="en-US" sz="2800" dirty="0" err="1"/>
              <a:t>belge</a:t>
            </a:r>
            <a:r>
              <a:rPr lang="en-US" sz="2800" dirty="0"/>
              <a:t> </a:t>
            </a:r>
            <a:r>
              <a:rPr lang="en-US" sz="2800" dirty="0" err="1"/>
              <a:t>inceleme</a:t>
            </a:r>
            <a:r>
              <a:rPr lang="en-US" sz="2800" dirty="0"/>
              <a:t> </a:t>
            </a:r>
            <a:r>
              <a:rPr lang="en-US" sz="2800" dirty="0" err="1"/>
              <a:t>yazılımını</a:t>
            </a:r>
            <a:r>
              <a:rPr lang="en-US" sz="2800" dirty="0"/>
              <a:t> "</a:t>
            </a:r>
            <a:r>
              <a:rPr lang="en-US" sz="2800" dirty="0" err="1"/>
              <a:t>eğitmek</a:t>
            </a:r>
            <a:r>
              <a:rPr lang="en-US" sz="2800" dirty="0"/>
              <a:t>" için </a:t>
            </a:r>
            <a:r>
              <a:rPr lang="en-US" sz="2800" dirty="0" err="1"/>
              <a:t>insan</a:t>
            </a:r>
            <a:r>
              <a:rPr lang="en-US" sz="2800" dirty="0"/>
              <a:t> </a:t>
            </a:r>
            <a:r>
              <a:rPr lang="en-US" sz="2800" dirty="0" err="1"/>
              <a:t>rehberliğini</a:t>
            </a:r>
            <a:r>
              <a:rPr lang="en-US" sz="2800" dirty="0"/>
              <a:t> </a:t>
            </a:r>
            <a:r>
              <a:rPr lang="en-US" sz="2800" dirty="0" err="1"/>
              <a:t>bilgisayar</a:t>
            </a:r>
            <a:r>
              <a:rPr lang="en-US" sz="2800" dirty="0"/>
              <a:t> </a:t>
            </a:r>
            <a:r>
              <a:rPr lang="en-US" sz="2800" dirty="0" err="1"/>
              <a:t>güdümlü</a:t>
            </a:r>
            <a:r>
              <a:rPr lang="en-US" sz="2800" dirty="0"/>
              <a:t> </a:t>
            </a:r>
            <a:r>
              <a:rPr lang="en-US" sz="2800" dirty="0" err="1"/>
              <a:t>kavram</a:t>
            </a:r>
            <a:r>
              <a:rPr lang="en-US" sz="2800" dirty="0"/>
              <a:t> </a:t>
            </a:r>
            <a:r>
              <a:rPr lang="en-US" sz="2800" dirty="0" err="1"/>
              <a:t>aramasıyla</a:t>
            </a:r>
            <a:r>
              <a:rPr lang="en-US" sz="2800" dirty="0"/>
              <a:t> </a:t>
            </a:r>
            <a:r>
              <a:rPr lang="en-US" sz="2800" dirty="0" err="1"/>
              <a:t>birleştiren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süreç</a:t>
            </a: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1397"/>
            <a:ext cx="8026400" cy="945965"/>
          </a:xfrm>
        </p:spPr>
        <p:txBody>
          <a:bodyPr/>
          <a:lstStyle/>
          <a:p>
            <a:r>
              <a:rPr lang="en-US" altLang="en-US" sz="3600" dirty="0" err="1"/>
              <a:t>Temel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Gizlilik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ve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Anonimlik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Sorunları</a:t>
            </a:r>
            <a:r>
              <a:rPr lang="en-US" altLang="en-US" sz="3600" dirty="0"/>
              <a:t>: </a:t>
            </a:r>
            <a:r>
              <a:rPr lang="en-US" altLang="en-US" sz="3600" dirty="0" err="1"/>
              <a:t>Elektronik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Keşif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65570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43624"/>
            <a:ext cx="8415338" cy="4803623"/>
          </a:xfrm>
        </p:spPr>
        <p:txBody>
          <a:bodyPr/>
          <a:lstStyle/>
          <a:p>
            <a:r>
              <a:rPr lang="en-US" sz="2700" dirty="0" err="1"/>
              <a:t>Cybermoafing</a:t>
            </a:r>
            <a:r>
              <a:rPr lang="en-US" sz="2700" dirty="0"/>
              <a:t>: </a:t>
            </a:r>
            <a:r>
              <a:rPr lang="en-US" sz="2700" dirty="0" err="1"/>
              <a:t>İnterneti</a:t>
            </a:r>
            <a:r>
              <a:rPr lang="en-US" sz="2700" dirty="0"/>
              <a:t> </a:t>
            </a:r>
            <a:r>
              <a:rPr lang="en-US" sz="2700" dirty="0" err="1"/>
              <a:t>Facebook'ta</a:t>
            </a:r>
            <a:r>
              <a:rPr lang="en-US" sz="2700" dirty="0"/>
              <a:t> </a:t>
            </a:r>
            <a:r>
              <a:rPr lang="en-US" sz="2700" dirty="0" err="1"/>
              <a:t>paylaşımda</a:t>
            </a:r>
            <a:r>
              <a:rPr lang="en-US" sz="2700" dirty="0"/>
              <a:t> </a:t>
            </a:r>
            <a:r>
              <a:rPr lang="en-US" sz="2700" dirty="0" err="1"/>
              <a:t>bulunmak</a:t>
            </a:r>
            <a:r>
              <a:rPr lang="en-US" sz="2700" dirty="0"/>
              <a:t>, </a:t>
            </a:r>
            <a:r>
              <a:rPr lang="en-US" sz="2700" dirty="0" err="1"/>
              <a:t>kişisel</a:t>
            </a:r>
            <a:r>
              <a:rPr lang="en-US" sz="2700" dirty="0"/>
              <a:t> e-</a:t>
            </a:r>
            <a:r>
              <a:rPr lang="en-US" sz="2700" dirty="0" err="1"/>
              <a:t>postalar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metinler</a:t>
            </a:r>
            <a:r>
              <a:rPr lang="en-US" sz="2700" dirty="0"/>
              <a:t> </a:t>
            </a:r>
            <a:r>
              <a:rPr lang="en-US" sz="2700" dirty="0" err="1"/>
              <a:t>göndermek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çevrimiçi</a:t>
            </a:r>
            <a:r>
              <a:rPr lang="en-US" sz="2700" dirty="0"/>
              <a:t> </a:t>
            </a:r>
            <a:r>
              <a:rPr lang="en-US" sz="2700" dirty="0" err="1"/>
              <a:t>alışveriş</a:t>
            </a:r>
            <a:r>
              <a:rPr lang="en-US" sz="2700" dirty="0"/>
              <a:t> </a:t>
            </a:r>
            <a:r>
              <a:rPr lang="en-US" sz="2700" dirty="0" err="1"/>
              <a:t>yapmak</a:t>
            </a:r>
            <a:r>
              <a:rPr lang="en-US" sz="2700" dirty="0"/>
              <a:t> </a:t>
            </a:r>
            <a:r>
              <a:rPr lang="en-US" sz="2700" dirty="0" err="1"/>
              <a:t>gibi</a:t>
            </a:r>
            <a:r>
              <a:rPr lang="en-US" sz="2700" dirty="0"/>
              <a:t> </a:t>
            </a:r>
            <a:r>
              <a:rPr lang="en-US" sz="2700" dirty="0" err="1"/>
              <a:t>işle</a:t>
            </a:r>
            <a:r>
              <a:rPr lang="en-US" sz="2700" dirty="0"/>
              <a:t> </a:t>
            </a:r>
            <a:r>
              <a:rPr lang="en-US" sz="2700" dirty="0" err="1"/>
              <a:t>ilgili</a:t>
            </a:r>
            <a:r>
              <a:rPr lang="en-US" sz="2700" dirty="0"/>
              <a:t> </a:t>
            </a:r>
            <a:r>
              <a:rPr lang="en-US" sz="2700" dirty="0" err="1"/>
              <a:t>olmayan</a:t>
            </a:r>
            <a:r>
              <a:rPr lang="en-US" sz="2700" dirty="0"/>
              <a:t> </a:t>
            </a:r>
            <a:r>
              <a:rPr lang="en-US" sz="2700" dirty="0" err="1"/>
              <a:t>amaçlar</a:t>
            </a:r>
            <a:r>
              <a:rPr lang="en-US" sz="2700" dirty="0"/>
              <a:t> için </a:t>
            </a:r>
            <a:r>
              <a:rPr lang="en-US" sz="2700" dirty="0" err="1"/>
              <a:t>kullanmak</a:t>
            </a:r>
            <a:r>
              <a:rPr lang="en-US" sz="2700" dirty="0"/>
              <a:t>
Özel </a:t>
            </a:r>
            <a:r>
              <a:rPr lang="en-US" sz="2700" dirty="0" err="1"/>
              <a:t>işverenler</a:t>
            </a:r>
            <a:r>
              <a:rPr lang="en-US" sz="2700" dirty="0"/>
              <a:t>, </a:t>
            </a:r>
            <a:r>
              <a:rPr lang="en-US" sz="2700" dirty="0" err="1"/>
              <a:t>çalışanların</a:t>
            </a:r>
            <a:r>
              <a:rPr lang="en-US" sz="2700" dirty="0"/>
              <a:t> </a:t>
            </a:r>
            <a:r>
              <a:rPr lang="en-US" sz="2700" dirty="0" err="1"/>
              <a:t>işveren</a:t>
            </a:r>
            <a:r>
              <a:rPr lang="en-US" sz="2700" dirty="0"/>
              <a:t> </a:t>
            </a:r>
            <a:r>
              <a:rPr lang="en-US" sz="2700" dirty="0" err="1"/>
              <a:t>tarafından</a:t>
            </a:r>
            <a:r>
              <a:rPr lang="en-US" sz="2700" dirty="0"/>
              <a:t> </a:t>
            </a:r>
            <a:r>
              <a:rPr lang="en-US" sz="2700" dirty="0" err="1"/>
              <a:t>sağlanan</a:t>
            </a:r>
            <a:r>
              <a:rPr lang="en-US" sz="2700" dirty="0"/>
              <a:t> </a:t>
            </a:r>
            <a:r>
              <a:rPr lang="en-US" sz="2700" dirty="0" err="1"/>
              <a:t>herhangi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cep </a:t>
            </a:r>
            <a:r>
              <a:rPr lang="en-US" sz="2700" dirty="0" err="1"/>
              <a:t>telefonu</a:t>
            </a:r>
            <a:r>
              <a:rPr lang="en-US" sz="2700" dirty="0"/>
              <a:t> </a:t>
            </a:r>
            <a:r>
              <a:rPr lang="en-US" sz="2700" dirty="0" err="1"/>
              <a:t>veya</a:t>
            </a:r>
            <a:r>
              <a:rPr lang="en-US" sz="2700" dirty="0"/>
              <a:t> </a:t>
            </a:r>
            <a:r>
              <a:rPr lang="en-US" sz="2700" dirty="0" err="1"/>
              <a:t>bilgi</a:t>
            </a:r>
            <a:r>
              <a:rPr lang="en-US" sz="2700" dirty="0"/>
              <a:t> </a:t>
            </a:r>
            <a:r>
              <a:rPr lang="en-US" sz="2700" dirty="0" err="1"/>
              <a:t>işlem</a:t>
            </a:r>
            <a:r>
              <a:rPr lang="en-US" sz="2700" dirty="0"/>
              <a:t> </a:t>
            </a:r>
            <a:r>
              <a:rPr lang="en-US" sz="2700" dirty="0" err="1"/>
              <a:t>cihazını</a:t>
            </a:r>
            <a:r>
              <a:rPr lang="en-US" sz="2700" dirty="0"/>
              <a:t> </a:t>
            </a:r>
            <a:r>
              <a:rPr lang="en-US" sz="2700" dirty="0" err="1"/>
              <a:t>kullanımını</a:t>
            </a:r>
            <a:r>
              <a:rPr lang="en-US" sz="2700" dirty="0"/>
              <a:t> </a:t>
            </a:r>
            <a:r>
              <a:rPr lang="en-US" sz="2700" dirty="0" err="1"/>
              <a:t>yasal</a:t>
            </a:r>
            <a:r>
              <a:rPr lang="en-US" sz="2700" dirty="0"/>
              <a:t> </a:t>
            </a:r>
            <a:r>
              <a:rPr lang="en-US" sz="2700" dirty="0" err="1"/>
              <a:t>olarak</a:t>
            </a:r>
            <a:r>
              <a:rPr lang="en-US" sz="2700" dirty="0"/>
              <a:t> </a:t>
            </a:r>
            <a:r>
              <a:rPr lang="en-US" sz="2700" dirty="0" err="1"/>
              <a:t>izleyebilir</a:t>
            </a:r>
            <a:r>
              <a:rPr lang="en-US" sz="2700" dirty="0"/>
              <a:t>
</a:t>
            </a:r>
            <a:r>
              <a:rPr lang="en-US" sz="2700" dirty="0" err="1"/>
              <a:t>Dördüncü</a:t>
            </a:r>
            <a:r>
              <a:rPr lang="en-US" sz="2700" dirty="0"/>
              <a:t> </a:t>
            </a:r>
            <a:r>
              <a:rPr lang="en-US" sz="2700" dirty="0" err="1"/>
              <a:t>Değişiklik</a:t>
            </a:r>
            <a:r>
              <a:rPr lang="en-US" sz="2700" dirty="0"/>
              <a:t>, </a:t>
            </a:r>
            <a:r>
              <a:rPr lang="en-US" sz="2700" dirty="0" err="1"/>
              <a:t>özel</a:t>
            </a:r>
            <a:r>
              <a:rPr lang="en-US" sz="2700" dirty="0"/>
              <a:t> </a:t>
            </a:r>
            <a:r>
              <a:rPr lang="en-US" sz="2700" dirty="0" err="1"/>
              <a:t>bir</a:t>
            </a:r>
            <a:r>
              <a:rPr lang="en-US" sz="2700" dirty="0"/>
              <a:t> </a:t>
            </a:r>
            <a:r>
              <a:rPr lang="en-US" sz="2700" dirty="0" err="1"/>
              <a:t>işverenin</a:t>
            </a:r>
            <a:r>
              <a:rPr lang="en-US" sz="2700" dirty="0"/>
              <a:t> </a:t>
            </a:r>
            <a:r>
              <a:rPr lang="en-US" sz="2700" dirty="0" err="1"/>
              <a:t>çalışanlarına</a:t>
            </a:r>
            <a:r>
              <a:rPr lang="en-US" sz="2700" dirty="0"/>
              <a:t> </a:t>
            </a:r>
            <a:r>
              <a:rPr lang="en-US" sz="2700" dirty="0" err="1"/>
              <a:t>nasıl</a:t>
            </a:r>
            <a:r>
              <a:rPr lang="en-US" sz="2700" dirty="0"/>
              <a:t> </a:t>
            </a:r>
            <a:r>
              <a:rPr lang="en-US" sz="2700" dirty="0" err="1"/>
              <a:t>davrandığını</a:t>
            </a:r>
            <a:r>
              <a:rPr lang="en-US" sz="2700" dirty="0"/>
              <a:t> </a:t>
            </a:r>
            <a:r>
              <a:rPr lang="en-US" sz="2700" dirty="0" err="1"/>
              <a:t>sınırlamaz</a:t>
            </a:r>
            <a:r>
              <a:rPr lang="en-US" sz="2700" dirty="0"/>
              <a:t>
Eyalet </a:t>
            </a:r>
            <a:r>
              <a:rPr lang="en-US" sz="2700" dirty="0" err="1"/>
              <a:t>gizlilik</a:t>
            </a:r>
            <a:r>
              <a:rPr lang="en-US" sz="2700" dirty="0"/>
              <a:t> </a:t>
            </a:r>
            <a:r>
              <a:rPr lang="en-US" sz="2700" dirty="0" err="1"/>
              <a:t>yasaları</a:t>
            </a:r>
            <a:r>
              <a:rPr lang="en-US" sz="2700" dirty="0"/>
              <a:t>, </a:t>
            </a:r>
            <a:r>
              <a:rPr lang="en-US" sz="2700" dirty="0" err="1"/>
              <a:t>işverenleri</a:t>
            </a:r>
            <a:r>
              <a:rPr lang="en-US" sz="2700" dirty="0"/>
              <a:t> </a:t>
            </a:r>
            <a:r>
              <a:rPr lang="en-US" sz="2700" dirty="0" err="1"/>
              <a:t>çalışanlara</a:t>
            </a:r>
            <a:r>
              <a:rPr lang="en-US" sz="2700" dirty="0"/>
              <a:t> </a:t>
            </a:r>
            <a:r>
              <a:rPr lang="en-US" sz="2700" dirty="0" err="1"/>
              <a:t>tercih</a:t>
            </a:r>
            <a:r>
              <a:rPr lang="en-US" sz="2700" dirty="0"/>
              <a:t> </a:t>
            </a:r>
            <a:r>
              <a:rPr lang="en-US" sz="2700" dirty="0" err="1"/>
              <a:t>etme</a:t>
            </a:r>
            <a:r>
              <a:rPr lang="en-US" sz="2700" dirty="0"/>
              <a:t> </a:t>
            </a:r>
            <a:r>
              <a:rPr lang="en-US" sz="2700" dirty="0" err="1"/>
              <a:t>eğilimindedir</a:t>
            </a:r>
            <a:endParaRPr lang="en-US" altLang="en-US" sz="27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3482"/>
            <a:ext cx="8026400" cy="941796"/>
          </a:xfrm>
        </p:spPr>
        <p:txBody>
          <a:bodyPr/>
          <a:lstStyle/>
          <a:p>
            <a:r>
              <a:rPr lang="en-US" altLang="en-US" sz="3600" dirty="0" err="1"/>
              <a:t>Temel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Gizlilik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ve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Anonimlik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Sorunları</a:t>
            </a:r>
            <a:r>
              <a:rPr lang="en-US" altLang="en-US" sz="3600" dirty="0"/>
              <a:t>: </a:t>
            </a:r>
            <a:r>
              <a:rPr lang="en-US" altLang="en-US" sz="3600" dirty="0" err="1"/>
              <a:t>İşyeri</a:t>
            </a:r>
            <a:r>
              <a:rPr lang="en-US" altLang="en-US" sz="3600" dirty="0"/>
              <a:t> </a:t>
            </a:r>
            <a:r>
              <a:rPr lang="en-US" altLang="en-US" sz="3600" dirty="0" err="1"/>
              <a:t>İzleme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060635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763834"/>
          </a:xfrm>
        </p:spPr>
        <p:txBody>
          <a:bodyPr/>
          <a:lstStyle/>
          <a:p>
            <a:r>
              <a:rPr lang="en-US" altLang="en-US" sz="2800" dirty="0" err="1"/>
              <a:t>Kamera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gözetimi</a:t>
            </a:r>
            <a:r>
              <a:rPr lang="en-US" altLang="en-US" sz="2800" dirty="0"/>
              <a:t>
</a:t>
            </a:r>
            <a:r>
              <a:rPr lang="en-US" altLang="en-US" sz="2800" dirty="0" err="1"/>
              <a:t>Suç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terörist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faaliyetleri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caydırmak</a:t>
            </a:r>
            <a:r>
              <a:rPr lang="en-US" altLang="en-US" sz="2800" dirty="0"/>
              <a:t> için </a:t>
            </a:r>
            <a:r>
              <a:rPr lang="en-US" altLang="en-US" sz="2800" dirty="0" err="1"/>
              <a:t>dünyanın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dört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yanındaki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büyük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şehirlerde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kullanılır</a:t>
            </a:r>
            <a:r>
              <a:rPr lang="en-US" altLang="en-US" sz="2800" dirty="0"/>
              <a:t>
</a:t>
            </a:r>
            <a:r>
              <a:rPr lang="en-US" altLang="en-US" sz="2800" dirty="0" err="1"/>
              <a:t>Eleştiri</a:t>
            </a:r>
            <a:r>
              <a:rPr lang="en-US" altLang="en-US" sz="2800" dirty="0"/>
              <a:t>: Bu </a:t>
            </a:r>
            <a:r>
              <a:rPr lang="en-US" altLang="en-US" sz="2800" dirty="0" err="1"/>
              <a:t>tür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inceleme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sivil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özgürlüklerin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ihlalidir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video </a:t>
            </a:r>
            <a:r>
              <a:rPr lang="en-US" altLang="en-US" sz="2800" dirty="0" err="1"/>
              <a:t>yayınlarını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izlemek</a:t>
            </a:r>
            <a:r>
              <a:rPr lang="en-US" altLang="en-US" sz="2800" dirty="0"/>
              <a:t> için </a:t>
            </a:r>
            <a:r>
              <a:rPr lang="en-US" altLang="en-US" sz="2800" dirty="0" err="1"/>
              <a:t>gereken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ekipman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kişilerin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maliyeti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aşırıdır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3482"/>
            <a:ext cx="8026400" cy="941796"/>
          </a:xfrm>
        </p:spPr>
        <p:txBody>
          <a:bodyPr/>
          <a:lstStyle/>
          <a:p>
            <a:r>
              <a:rPr lang="en-US" altLang="en-US" sz="3600" dirty="0" err="1"/>
              <a:t>Temel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Gizlilik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ve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Anonimlik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Sorunları</a:t>
            </a:r>
            <a:r>
              <a:rPr lang="en-US" altLang="en-US" sz="3600" dirty="0"/>
              <a:t>: </a:t>
            </a:r>
            <a:r>
              <a:rPr lang="en-US" altLang="en-US" sz="3600" dirty="0" err="1"/>
              <a:t>Gelişmiş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Gözetim</a:t>
            </a:r>
            <a:r>
              <a:rPr lang="en-US" altLang="en-US" sz="3600" dirty="0"/>
              <a:t> </a:t>
            </a:r>
            <a:r>
              <a:rPr lang="en-US" altLang="en-US" sz="3600" dirty="0" err="1"/>
              <a:t>Teknolojisi</a:t>
            </a:r>
            <a:r>
              <a:rPr lang="en-US" altLang="en-US" sz="3600" dirty="0"/>
              <a:t>, </a:t>
            </a:r>
            <a:r>
              <a:rPr lang="en-US" altLang="en-US" sz="3600" dirty="0" err="1"/>
              <a:t>Bölüm</a:t>
            </a:r>
            <a:r>
              <a:rPr lang="en-US" altLang="en-US" sz="3600" dirty="0"/>
              <a:t> 1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71305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295400"/>
            <a:ext cx="8415338" cy="3739485"/>
          </a:xfrm>
        </p:spPr>
        <p:txBody>
          <a:bodyPr/>
          <a:lstStyle/>
          <a:p>
            <a:pPr lvl="1"/>
            <a:r>
              <a:rPr lang="en-US" altLang="en-US" sz="2600" dirty="0" err="1"/>
              <a:t>Araç</a:t>
            </a:r>
            <a:r>
              <a:rPr lang="en-US" altLang="en-US" sz="2600" dirty="0"/>
              <a:t> </a:t>
            </a:r>
            <a:r>
              <a:rPr lang="en-US" altLang="en-US" sz="2600" dirty="0" err="1"/>
              <a:t>olay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veri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kaydedicisi</a:t>
            </a:r>
            <a:r>
              <a:rPr lang="en-US" altLang="en-US" sz="2600" dirty="0"/>
              <a:t> (EDR): </a:t>
            </a:r>
            <a:r>
              <a:rPr lang="en-US" altLang="en-US" sz="2600" dirty="0" err="1"/>
              <a:t>Aracın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hava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yastıklarını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açacak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kadar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şiddetli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herhangi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araç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kazasından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önce</a:t>
            </a:r>
            <a:r>
              <a:rPr lang="en-US" altLang="en-US" sz="2600" dirty="0"/>
              <a:t>, </a:t>
            </a:r>
            <a:r>
              <a:rPr lang="en-US" altLang="en-US" sz="2600" dirty="0" err="1"/>
              <a:t>sırasında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sonrasında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birkaç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saniye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boyunca</a:t>
            </a:r>
            <a:r>
              <a:rPr lang="en-US" altLang="en-US" sz="2600" dirty="0"/>
              <a:t> </a:t>
            </a:r>
            <a:r>
              <a:rPr lang="en-US" altLang="en-US" sz="2600" dirty="0" err="1"/>
              <a:t>araç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yolcu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verilerini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kaydeden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bir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cihaz</a:t>
            </a:r>
            <a:r>
              <a:rPr lang="en-US" altLang="en-US" sz="2600" dirty="0"/>
              <a:t>
</a:t>
            </a:r>
            <a:r>
              <a:rPr lang="en-US" altLang="en-US" sz="2600" dirty="0" err="1"/>
              <a:t>Amaçlı</a:t>
            </a:r>
            <a:r>
              <a:rPr lang="en-US" altLang="en-US" sz="2600" dirty="0"/>
              <a:t>: 
</a:t>
            </a:r>
            <a:r>
              <a:rPr lang="en-US" altLang="en-US" sz="2600" dirty="0" err="1"/>
              <a:t>Araç</a:t>
            </a:r>
            <a:r>
              <a:rPr lang="en-US" altLang="en-US" sz="2600" dirty="0"/>
              <a:t> </a:t>
            </a:r>
            <a:r>
              <a:rPr lang="en-US" altLang="en-US" sz="2600" dirty="0" err="1"/>
              <a:t>performansını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iyileştirmek</a:t>
            </a:r>
            <a:r>
              <a:rPr lang="en-US" altLang="en-US" sz="2600" dirty="0"/>
              <a:t> için </a:t>
            </a:r>
            <a:r>
              <a:rPr lang="en-US" altLang="en-US" sz="2600" dirty="0" err="1"/>
              <a:t>değişiklikler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yapmak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üzere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verileri</a:t>
            </a:r>
            <a:r>
              <a:rPr lang="en-US" altLang="en-US" sz="2600" dirty="0"/>
              <a:t> </a:t>
            </a:r>
            <a:r>
              <a:rPr lang="en-US" altLang="en-US" sz="2600" dirty="0" err="1"/>
              <a:t>yakalamak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ve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kaydetmek</a:t>
            </a:r>
            <a:r>
              <a:rPr lang="en-US" altLang="en-US" sz="2600" dirty="0"/>
              <a:t>
Bir </a:t>
            </a:r>
            <a:r>
              <a:rPr lang="en-US" altLang="en-US" sz="2600" dirty="0" err="1"/>
              <a:t>araç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kazası</a:t>
            </a:r>
            <a:r>
              <a:rPr lang="en-US" altLang="en-US" sz="2600" dirty="0"/>
              <a:t> </a:t>
            </a:r>
            <a:r>
              <a:rPr lang="en-US" altLang="en-US" sz="2600" dirty="0" err="1"/>
              <a:t>sırasında</a:t>
            </a:r>
            <a:r>
              <a:rPr lang="en-US" altLang="en-US" sz="2600" dirty="0"/>
              <a:t> ne </a:t>
            </a:r>
            <a:r>
              <a:rPr lang="en-US" altLang="en-US" sz="2600" dirty="0" err="1"/>
              <a:t>olduğunu</a:t>
            </a:r>
            <a:r>
              <a:rPr lang="en-US" altLang="en-US" sz="2600" dirty="0"/>
              <a:t> </a:t>
            </a:r>
            <a:r>
              <a:rPr lang="en-US" altLang="en-US" sz="2600" dirty="0" err="1"/>
              <a:t>belirlemek</a:t>
            </a:r>
            <a:r>
              <a:rPr lang="en-US" altLang="en-US" sz="2600" dirty="0"/>
              <a:t> için </a:t>
            </a:r>
            <a:r>
              <a:rPr lang="en-US" altLang="en-US" sz="2600" dirty="0" err="1"/>
              <a:t>bir</a:t>
            </a:r>
            <a:r>
              <a:rPr lang="en-US" altLang="en-US" sz="2600" dirty="0"/>
              <a:t> </a:t>
            </a:r>
            <a:r>
              <a:rPr lang="en-US" altLang="en-US" sz="2600" dirty="0" err="1"/>
              <a:t>mahkemede</a:t>
            </a:r>
            <a:r>
              <a:rPr lang="en-US" altLang="en-US" sz="2600" dirty="0"/>
              <a:t> </a:t>
            </a:r>
            <a:r>
              <a:rPr lang="en-US" altLang="en-US" sz="2600" dirty="0" err="1"/>
              <a:t>kullanılmak</a:t>
            </a:r>
            <a:r>
              <a:rPr lang="en-US" altLang="en-US" sz="2600" dirty="0"/>
              <a:t> </a:t>
            </a:r>
            <a:r>
              <a:rPr lang="en-US" altLang="en-US" sz="2600" dirty="0" err="1"/>
              <a:t>üzere</a:t>
            </a:r>
            <a:endParaRPr lang="en-US" alt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3482"/>
            <a:ext cx="8026400" cy="941796"/>
          </a:xfrm>
        </p:spPr>
        <p:txBody>
          <a:bodyPr/>
          <a:lstStyle/>
          <a:p>
            <a:r>
              <a:rPr lang="en-US" altLang="en-US" sz="3600" dirty="0" err="1"/>
              <a:t>Temel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Gizlilik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ve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Anonimlik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Sorunları</a:t>
            </a:r>
            <a:r>
              <a:rPr lang="en-US" altLang="en-US" sz="3600" dirty="0"/>
              <a:t>: </a:t>
            </a:r>
            <a:r>
              <a:rPr lang="en-US" altLang="en-US" sz="3600" dirty="0" err="1"/>
              <a:t>Gelişmiş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Gözetim</a:t>
            </a:r>
            <a:r>
              <a:rPr lang="en-US" altLang="en-US" sz="3600" dirty="0"/>
              <a:t> </a:t>
            </a:r>
            <a:r>
              <a:rPr lang="en-US" altLang="en-US" sz="3600" dirty="0" err="1"/>
              <a:t>Teknolojisi</a:t>
            </a:r>
            <a:r>
              <a:rPr lang="en-US" altLang="en-US" sz="3600" dirty="0"/>
              <a:t>, </a:t>
            </a:r>
            <a:r>
              <a:rPr lang="en-US" altLang="en-US" sz="3600" dirty="0" err="1"/>
              <a:t>Bölüm</a:t>
            </a:r>
            <a:r>
              <a:rPr lang="en-US" altLang="en-US" sz="3600" dirty="0"/>
              <a:t> 2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9422484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65125" y="1546506"/>
            <a:ext cx="8415338" cy="3173176"/>
          </a:xfrm>
        </p:spPr>
        <p:txBody>
          <a:bodyPr/>
          <a:lstStyle/>
          <a:p>
            <a:r>
              <a:rPr lang="en-US" sz="2800" dirty="0"/>
              <a:t>Stalking </a:t>
            </a:r>
            <a:r>
              <a:rPr lang="en-US" sz="2800" dirty="0" err="1"/>
              <a:t>uygulaması</a:t>
            </a:r>
            <a:r>
              <a:rPr lang="en-US" sz="2800" dirty="0"/>
              <a:t>: Bir cep </a:t>
            </a:r>
            <a:r>
              <a:rPr lang="en-US" sz="2800" dirty="0" err="1"/>
              <a:t>telefonuna</a:t>
            </a:r>
            <a:r>
              <a:rPr lang="en-US" sz="2800" dirty="0"/>
              <a:t> </a:t>
            </a:r>
            <a:r>
              <a:rPr lang="en-US" sz="2800" dirty="0" err="1"/>
              <a:t>veya</a:t>
            </a:r>
            <a:r>
              <a:rPr lang="en-US" sz="2800" dirty="0"/>
              <a:t> </a:t>
            </a:r>
            <a:r>
              <a:rPr lang="en-US" sz="2800" dirty="0" err="1"/>
              <a:t>akıllı</a:t>
            </a:r>
            <a:r>
              <a:rPr lang="en-US" sz="2800" dirty="0"/>
              <a:t> </a:t>
            </a:r>
            <a:r>
              <a:rPr lang="en-US" sz="2800" dirty="0" err="1"/>
              <a:t>telefona</a:t>
            </a:r>
            <a:r>
              <a:rPr lang="en-US" sz="2800" dirty="0"/>
              <a:t> </a:t>
            </a:r>
            <a:r>
              <a:rPr lang="en-US" sz="2800" dirty="0" err="1"/>
              <a:t>yüklenebilen</a:t>
            </a:r>
            <a:r>
              <a:rPr lang="en-US" sz="2800" dirty="0"/>
              <a:t> </a:t>
            </a:r>
            <a:r>
              <a:rPr lang="en-US" sz="2800" dirty="0" err="1"/>
              <a:t>yazılım</a:t>
            </a:r>
            <a:r>
              <a:rPr lang="en-US" sz="2800" dirty="0"/>
              <a:t>
</a:t>
            </a:r>
            <a:r>
              <a:rPr lang="en-US" sz="2800" dirty="0" err="1"/>
              <a:t>Konum</a:t>
            </a:r>
            <a:r>
              <a:rPr lang="en-US" sz="2800" dirty="0"/>
              <a:t> </a:t>
            </a:r>
            <a:r>
              <a:rPr lang="en-US" sz="2800" dirty="0" err="1"/>
              <a:t>takibi</a:t>
            </a:r>
            <a:r>
              <a:rPr lang="en-US" sz="2800" dirty="0"/>
              <a:t> </a:t>
            </a:r>
            <a:r>
              <a:rPr lang="en-US" sz="2800" dirty="0" err="1"/>
              <a:t>yapar</a:t>
            </a:r>
            <a:r>
              <a:rPr lang="en-US" sz="2800" dirty="0"/>
              <a:t>, </a:t>
            </a:r>
            <a:r>
              <a:rPr lang="en-US" sz="2800" dirty="0" err="1"/>
              <a:t>aramaları</a:t>
            </a:r>
            <a:r>
              <a:rPr lang="en-US" sz="2800" dirty="0"/>
              <a:t> </a:t>
            </a:r>
            <a:r>
              <a:rPr lang="en-US" sz="2800" dirty="0" err="1"/>
              <a:t>kaydeder</a:t>
            </a:r>
            <a:r>
              <a:rPr lang="en-US" sz="2800" dirty="0"/>
              <a:t>, </a:t>
            </a:r>
            <a:r>
              <a:rPr lang="en-US" sz="2800" dirty="0" err="1"/>
              <a:t>gönderilen</a:t>
            </a:r>
            <a:r>
              <a:rPr lang="en-US" sz="2800" dirty="0"/>
              <a:t> </a:t>
            </a:r>
            <a:r>
              <a:rPr lang="en-US" sz="2800" dirty="0" err="1"/>
              <a:t>veya</a:t>
            </a:r>
            <a:r>
              <a:rPr lang="en-US" sz="2800" dirty="0"/>
              <a:t> </a:t>
            </a:r>
            <a:r>
              <a:rPr lang="en-US" sz="2800" dirty="0" err="1"/>
              <a:t>alınan</a:t>
            </a:r>
            <a:r>
              <a:rPr lang="en-US" sz="2800" dirty="0"/>
              <a:t> </a:t>
            </a:r>
            <a:r>
              <a:rPr lang="en-US" sz="2800" dirty="0" err="1"/>
              <a:t>metin</a:t>
            </a:r>
            <a:r>
              <a:rPr lang="en-US" sz="2800" dirty="0"/>
              <a:t> </a:t>
            </a:r>
            <a:r>
              <a:rPr lang="en-US" sz="2800" dirty="0" err="1"/>
              <a:t>mesajlarını</a:t>
            </a:r>
            <a:r>
              <a:rPr lang="en-US" sz="2800" dirty="0"/>
              <a:t> </a:t>
            </a:r>
            <a:r>
              <a:rPr lang="en-US" sz="2800" dirty="0" err="1"/>
              <a:t>görüntüler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telefonda</a:t>
            </a:r>
            <a:r>
              <a:rPr lang="en-US" sz="2800" dirty="0"/>
              <a:t> </a:t>
            </a:r>
            <a:r>
              <a:rPr lang="en-US" sz="2800" dirty="0" err="1"/>
              <a:t>ziyaret</a:t>
            </a:r>
            <a:r>
              <a:rPr lang="en-US" sz="2800" dirty="0"/>
              <a:t> </a:t>
            </a:r>
            <a:r>
              <a:rPr lang="en-US" sz="2800" dirty="0" err="1"/>
              <a:t>edilen</a:t>
            </a:r>
            <a:r>
              <a:rPr lang="en-US" sz="2800" dirty="0"/>
              <a:t> </a:t>
            </a:r>
            <a:r>
              <a:rPr lang="en-US" sz="2800" dirty="0" err="1"/>
              <a:t>herhangi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web </a:t>
            </a:r>
            <a:r>
              <a:rPr lang="en-US" sz="2800" dirty="0" err="1"/>
              <a:t>sitesinin</a:t>
            </a:r>
            <a:r>
              <a:rPr lang="en-US" sz="2800" dirty="0"/>
              <a:t> </a:t>
            </a:r>
            <a:r>
              <a:rPr lang="en-US" sz="2800" dirty="0" err="1"/>
              <a:t>URL'lerini</a:t>
            </a:r>
            <a:r>
              <a:rPr lang="en-US" sz="2800" dirty="0"/>
              <a:t> </a:t>
            </a:r>
            <a:r>
              <a:rPr lang="en-US" sz="2800" dirty="0" err="1"/>
              <a:t>kaydeder</a:t>
            </a:r>
            <a:r>
              <a:rPr lang="en-US" sz="2800" dirty="0"/>
              <a:t>
</a:t>
            </a:r>
            <a:r>
              <a:rPr lang="en-US" sz="2800" dirty="0" err="1"/>
              <a:t>Telefon</a:t>
            </a:r>
            <a:r>
              <a:rPr lang="en-US" sz="2800" dirty="0"/>
              <a:t> </a:t>
            </a:r>
            <a:r>
              <a:rPr lang="en-US" sz="2800" dirty="0" err="1"/>
              <a:t>sahibinin</a:t>
            </a:r>
            <a:r>
              <a:rPr lang="en-US" sz="2800" dirty="0"/>
              <a:t> </a:t>
            </a:r>
            <a:r>
              <a:rPr lang="en-US" sz="2800" dirty="0" err="1"/>
              <a:t>izni</a:t>
            </a:r>
            <a:r>
              <a:rPr lang="en-US" sz="2800" dirty="0"/>
              <a:t> </a:t>
            </a:r>
            <a:r>
              <a:rPr lang="en-US" sz="2800" dirty="0" err="1"/>
              <a:t>olmadan</a:t>
            </a:r>
            <a:r>
              <a:rPr lang="en-US" sz="2800" dirty="0"/>
              <a:t> </a:t>
            </a:r>
            <a:r>
              <a:rPr lang="en-US" sz="2800" dirty="0" err="1"/>
              <a:t>yazılımı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telefona</a:t>
            </a:r>
            <a:r>
              <a:rPr lang="en-US" sz="2800" dirty="0"/>
              <a:t> </a:t>
            </a:r>
            <a:r>
              <a:rPr lang="en-US" sz="2800" dirty="0" err="1"/>
              <a:t>yüklemek</a:t>
            </a:r>
            <a:r>
              <a:rPr lang="en-US" sz="2800" dirty="0"/>
              <a:t> </a:t>
            </a:r>
            <a:r>
              <a:rPr lang="en-US" sz="2800" dirty="0" err="1"/>
              <a:t>yasa</a:t>
            </a:r>
            <a:r>
              <a:rPr lang="en-US" sz="2800" dirty="0"/>
              <a:t> </a:t>
            </a:r>
            <a:r>
              <a:rPr lang="en-US" sz="2800" dirty="0" err="1"/>
              <a:t>dışıdır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83482"/>
            <a:ext cx="8026400" cy="941796"/>
          </a:xfrm>
        </p:spPr>
        <p:txBody>
          <a:bodyPr/>
          <a:lstStyle/>
          <a:p>
            <a:r>
              <a:rPr lang="en-US" altLang="en-US" sz="3600" dirty="0" err="1"/>
              <a:t>Temel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Gizlilik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ve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Anonimlik</a:t>
            </a:r>
            <a:r>
              <a:rPr lang="en-US" altLang="en-US" sz="3600" dirty="0"/>
              <a:t> </a:t>
            </a:r>
            <a:r>
              <a:rPr lang="en-US" altLang="en-US" sz="3600" dirty="0" err="1"/>
              <a:t>Sorunları</a:t>
            </a:r>
            <a:r>
              <a:rPr lang="en-US" altLang="en-US" sz="3600" dirty="0"/>
              <a:t>: </a:t>
            </a:r>
            <a:r>
              <a:rPr lang="en-US" altLang="en-US" sz="3600" dirty="0" err="1"/>
              <a:t>Gelişmiş</a:t>
            </a:r>
            <a:r>
              <a:rPr lang="en-US" altLang="en-US" sz="3600" dirty="0"/>
              <a:t> </a:t>
            </a:r>
            <a:r>
              <a:rPr lang="en-US" altLang="en-US" sz="3600" dirty="0" err="1"/>
              <a:t>Gözetim</a:t>
            </a:r>
            <a:r>
              <a:rPr lang="en-US" altLang="en-US" sz="3600" dirty="0"/>
              <a:t> </a:t>
            </a:r>
            <a:r>
              <a:rPr lang="en-US" altLang="en-US" sz="3600" dirty="0" err="1"/>
              <a:t>Teknolojisi</a:t>
            </a:r>
            <a:r>
              <a:rPr lang="en-US" altLang="en-US" sz="3600" dirty="0"/>
              <a:t>, </a:t>
            </a:r>
            <a:r>
              <a:rPr lang="en-US" altLang="en-US" sz="3600" dirty="0" err="1"/>
              <a:t>Bölüm</a:t>
            </a:r>
            <a:r>
              <a:rPr lang="en-US" altLang="en-US" sz="3600" dirty="0"/>
              <a:t> 3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59313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219200"/>
            <a:ext cx="8542338" cy="4708981"/>
          </a:xfrm>
        </p:spPr>
        <p:txBody>
          <a:bodyPr/>
          <a:lstStyle/>
          <a:p>
            <a:r>
              <a:rPr lang="en-US" sz="2800" dirty="0" err="1"/>
              <a:t>Mahremiyet</a:t>
            </a:r>
            <a:r>
              <a:rPr lang="en-US" sz="2800" dirty="0"/>
              <a:t> </a:t>
            </a:r>
            <a:r>
              <a:rPr lang="en-US" sz="2800" dirty="0" err="1"/>
              <a:t>hakkı</a:t>
            </a:r>
            <a:r>
              <a:rPr lang="en-US" sz="2800" dirty="0"/>
              <a:t> </a:t>
            </a:r>
            <a:r>
              <a:rPr lang="en-US" sz="2800" dirty="0" err="1"/>
              <a:t>nedir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yasalar</a:t>
            </a:r>
            <a:r>
              <a:rPr lang="en-US" sz="2800" dirty="0"/>
              <a:t> </a:t>
            </a:r>
            <a:r>
              <a:rPr lang="en-US" sz="2800" dirty="0" err="1"/>
              <a:t>uyarınca</a:t>
            </a:r>
            <a:r>
              <a:rPr lang="en-US" sz="2800" dirty="0"/>
              <a:t> </a:t>
            </a:r>
            <a:r>
              <a:rPr lang="en-US" sz="2800" dirty="0" err="1"/>
              <a:t>kişisel</a:t>
            </a:r>
            <a:r>
              <a:rPr lang="en-US" sz="2800" dirty="0"/>
              <a:t> </a:t>
            </a:r>
            <a:r>
              <a:rPr lang="en-US" sz="2800" dirty="0" err="1"/>
              <a:t>mahremiyeti</a:t>
            </a:r>
            <a:r>
              <a:rPr lang="en-US" sz="2800" dirty="0"/>
              <a:t> </a:t>
            </a:r>
            <a:r>
              <a:rPr lang="en-US" sz="2800" dirty="0" err="1"/>
              <a:t>korumanın</a:t>
            </a:r>
            <a:r>
              <a:rPr lang="en-US" sz="2800" dirty="0"/>
              <a:t> </a:t>
            </a:r>
            <a:r>
              <a:rPr lang="en-US" sz="2800" dirty="0" err="1"/>
              <a:t>temeli</a:t>
            </a:r>
            <a:r>
              <a:rPr lang="en-US" sz="2800" dirty="0"/>
              <a:t> </a:t>
            </a:r>
            <a:r>
              <a:rPr lang="en-US" sz="2800" dirty="0" err="1"/>
              <a:t>nedir</a:t>
            </a:r>
            <a:r>
              <a:rPr lang="en-US" sz="2800" dirty="0"/>
              <a:t>?
Özel </a:t>
            </a:r>
            <a:r>
              <a:rPr lang="en-US" sz="2800" dirty="0" err="1"/>
              <a:t>hayatın</a:t>
            </a:r>
            <a:r>
              <a:rPr lang="en-US" sz="2800" dirty="0"/>
              <a:t> </a:t>
            </a:r>
            <a:r>
              <a:rPr lang="en-US" sz="2800" dirty="0" err="1"/>
              <a:t>gizliliği</a:t>
            </a:r>
            <a:r>
              <a:rPr lang="en-US" sz="2800" dirty="0"/>
              <a:t> </a:t>
            </a:r>
            <a:r>
              <a:rPr lang="en-US" sz="2800" dirty="0" err="1"/>
              <a:t>hakkı</a:t>
            </a:r>
            <a:r>
              <a:rPr lang="en-US" sz="2800" dirty="0"/>
              <a:t>: "</a:t>
            </a:r>
            <a:r>
              <a:rPr lang="en-US" sz="2800" dirty="0" err="1"/>
              <a:t>Yalnız</a:t>
            </a:r>
            <a:r>
              <a:rPr lang="en-US" sz="2800" dirty="0"/>
              <a:t> </a:t>
            </a:r>
            <a:r>
              <a:rPr lang="en-US" sz="2800" dirty="0" err="1"/>
              <a:t>bırakılma</a:t>
            </a:r>
            <a:r>
              <a:rPr lang="en-US" sz="2800" dirty="0"/>
              <a:t> </a:t>
            </a:r>
            <a:r>
              <a:rPr lang="en-US" sz="2800" dirty="0" err="1"/>
              <a:t>hakkı</a:t>
            </a:r>
            <a:r>
              <a:rPr lang="en-US" sz="2800" dirty="0"/>
              <a:t>"
Bilgi </a:t>
            </a:r>
            <a:r>
              <a:rPr lang="en-US" sz="2800" dirty="0" err="1"/>
              <a:t>gizliliği</a:t>
            </a:r>
            <a:r>
              <a:rPr lang="en-US" sz="2800" dirty="0"/>
              <a:t>: </a:t>
            </a:r>
            <a:r>
              <a:rPr lang="en-US" sz="2800" dirty="0" err="1"/>
              <a:t>İletişim</a:t>
            </a:r>
            <a:r>
              <a:rPr lang="en-US" sz="2800" dirty="0"/>
              <a:t> </a:t>
            </a:r>
            <a:r>
              <a:rPr lang="en-US" sz="2800" dirty="0" err="1"/>
              <a:t>gizliliği</a:t>
            </a:r>
            <a:r>
              <a:rPr lang="en-US" sz="2800" dirty="0"/>
              <a:t> (</a:t>
            </a:r>
            <a:r>
              <a:rPr lang="en-US" sz="2800" dirty="0" err="1"/>
              <a:t>bu</a:t>
            </a:r>
            <a:r>
              <a:rPr lang="en-US" sz="2800" dirty="0"/>
              <a:t> </a:t>
            </a:r>
            <a:r>
              <a:rPr lang="en-US" sz="2800" dirty="0" err="1"/>
              <a:t>iletişimler</a:t>
            </a:r>
            <a:r>
              <a:rPr lang="en-US" sz="2800" dirty="0"/>
              <a:t> </a:t>
            </a:r>
            <a:r>
              <a:rPr lang="en-US" sz="2800" dirty="0" err="1"/>
              <a:t>izlenmeden</a:t>
            </a:r>
            <a:r>
              <a:rPr lang="en-US" sz="2800" dirty="0"/>
              <a:t> </a:t>
            </a:r>
            <a:r>
              <a:rPr lang="en-US" sz="2800" dirty="0" err="1"/>
              <a:t>başkalarıyla</a:t>
            </a:r>
            <a:r>
              <a:rPr lang="en-US" sz="2800" dirty="0"/>
              <a:t> </a:t>
            </a:r>
            <a:r>
              <a:rPr lang="en-US" sz="2800" dirty="0" err="1"/>
              <a:t>iletişim</a:t>
            </a:r>
            <a:r>
              <a:rPr lang="en-US" sz="2800" dirty="0"/>
              <a:t> </a:t>
            </a:r>
            <a:r>
              <a:rPr lang="en-US" sz="2800" dirty="0" err="1"/>
              <a:t>kurma</a:t>
            </a:r>
            <a:r>
              <a:rPr lang="en-US" sz="2800" dirty="0"/>
              <a:t> </a:t>
            </a:r>
            <a:r>
              <a:rPr lang="en-US" sz="2800" dirty="0" err="1"/>
              <a:t>yeteneği</a:t>
            </a:r>
            <a:r>
              <a:rPr lang="en-US" sz="2800" dirty="0"/>
              <a:t>)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veri</a:t>
            </a:r>
            <a:r>
              <a:rPr lang="en-US" sz="2800" dirty="0"/>
              <a:t> </a:t>
            </a:r>
            <a:r>
              <a:rPr lang="en-US" sz="2800" dirty="0" err="1"/>
              <a:t>gizliliği</a:t>
            </a:r>
            <a:r>
              <a:rPr lang="en-US" sz="2800" dirty="0"/>
              <a:t> (</a:t>
            </a:r>
            <a:r>
              <a:rPr lang="en-US" sz="2800" dirty="0" err="1"/>
              <a:t>kişinin</a:t>
            </a:r>
            <a:r>
              <a:rPr lang="en-US" sz="2800" dirty="0"/>
              <a:t> </a:t>
            </a:r>
            <a:r>
              <a:rPr lang="en-US" sz="2800" dirty="0" err="1"/>
              <a:t>kişisel</a:t>
            </a:r>
            <a:r>
              <a:rPr lang="en-US" sz="2800" dirty="0"/>
              <a:t> </a:t>
            </a:r>
            <a:r>
              <a:rPr lang="en-US" sz="2800" dirty="0" err="1"/>
              <a:t>verilerine</a:t>
            </a:r>
            <a:r>
              <a:rPr lang="en-US" sz="2800" dirty="0"/>
              <a:t> </a:t>
            </a:r>
            <a:r>
              <a:rPr lang="en-US" sz="2800" dirty="0" err="1"/>
              <a:t>erişimi</a:t>
            </a:r>
            <a:r>
              <a:rPr lang="en-US" sz="2800" dirty="0"/>
              <a:t> </a:t>
            </a:r>
            <a:r>
              <a:rPr lang="en-US" sz="2800" dirty="0" err="1"/>
              <a:t>sınırlama</a:t>
            </a:r>
            <a:r>
              <a:rPr lang="en-US" sz="2800" dirty="0"/>
              <a:t> </a:t>
            </a:r>
            <a:r>
              <a:rPr lang="en-US" sz="2800" dirty="0" err="1"/>
              <a:t>yeteneği</a:t>
            </a:r>
            <a:r>
              <a:rPr lang="en-US" sz="2800" dirty="0"/>
              <a:t>)
</a:t>
            </a:r>
            <a:r>
              <a:rPr lang="en-US" sz="2800" dirty="0" err="1"/>
              <a:t>Bilgiyi</a:t>
            </a:r>
            <a:r>
              <a:rPr lang="en-US" sz="2800" dirty="0"/>
              <a:t> </a:t>
            </a:r>
            <a:r>
              <a:rPr lang="en-US" sz="2800" dirty="0" err="1"/>
              <a:t>kullananların</a:t>
            </a:r>
            <a:r>
              <a:rPr lang="en-US" sz="2800" dirty="0"/>
              <a:t> </a:t>
            </a:r>
            <a:r>
              <a:rPr lang="en-US" sz="2800" dirty="0" err="1"/>
              <a:t>ihtiyaçları</a:t>
            </a:r>
            <a:r>
              <a:rPr lang="en-US" sz="2800" dirty="0"/>
              <a:t>, </a:t>
            </a:r>
            <a:r>
              <a:rPr lang="en-US" sz="2800" dirty="0" err="1"/>
              <a:t>bilgileri</a:t>
            </a:r>
            <a:r>
              <a:rPr lang="en-US" sz="2800" dirty="0"/>
              <a:t> </a:t>
            </a:r>
            <a:r>
              <a:rPr lang="en-US" sz="2800" dirty="0" err="1"/>
              <a:t>kullanılan</a:t>
            </a:r>
            <a:r>
              <a:rPr lang="en-US" sz="2800" dirty="0"/>
              <a:t> </a:t>
            </a:r>
            <a:r>
              <a:rPr lang="en-US" sz="2800" dirty="0" err="1"/>
              <a:t>kişilerin</a:t>
            </a:r>
            <a:r>
              <a:rPr lang="en-US" sz="2800" dirty="0"/>
              <a:t> </a:t>
            </a:r>
            <a:r>
              <a:rPr lang="en-US" sz="2800" dirty="0" err="1"/>
              <a:t>hak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istekleri</a:t>
            </a:r>
            <a:r>
              <a:rPr lang="en-US" sz="2800" dirty="0"/>
              <a:t> </a:t>
            </a:r>
            <a:r>
              <a:rPr lang="en-US" sz="2800" dirty="0" err="1"/>
              <a:t>ile</a:t>
            </a:r>
            <a:r>
              <a:rPr lang="en-US" sz="2800" dirty="0"/>
              <a:t> </a:t>
            </a:r>
            <a:r>
              <a:rPr lang="en-US" sz="2800" dirty="0" err="1"/>
              <a:t>dengelenmelidir</a:t>
            </a:r>
            <a:r>
              <a:rPr lang="en-US" sz="2800" dirty="0"/>
              <a:t>
Makul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gizlilik</a:t>
            </a:r>
            <a:r>
              <a:rPr lang="en-US" sz="2800" dirty="0"/>
              <a:t> </a:t>
            </a:r>
            <a:r>
              <a:rPr lang="en-US" sz="2800" dirty="0" err="1"/>
              <a:t>beklentisi</a:t>
            </a:r>
            <a:r>
              <a:rPr lang="en-US" sz="2800" dirty="0"/>
              <a:t> </a:t>
            </a:r>
            <a:r>
              <a:rPr lang="en-US" sz="2800" dirty="0" err="1"/>
              <a:t>olmadan</a:t>
            </a:r>
            <a:r>
              <a:rPr lang="en-US" sz="2800" dirty="0"/>
              <a:t>, </a:t>
            </a:r>
            <a:r>
              <a:rPr lang="en-US" sz="2800" dirty="0" err="1"/>
              <a:t>gizliliğin</a:t>
            </a:r>
            <a:r>
              <a:rPr lang="en-US" sz="2800" dirty="0"/>
              <a:t> </a:t>
            </a:r>
            <a:r>
              <a:rPr lang="en-US" sz="2800" dirty="0" err="1"/>
              <a:t>korunması</a:t>
            </a:r>
            <a:r>
              <a:rPr lang="en-US" sz="2800" dirty="0"/>
              <a:t> için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hak</a:t>
            </a:r>
            <a:r>
              <a:rPr lang="en-US" sz="2800" dirty="0"/>
              <a:t> </a:t>
            </a:r>
            <a:r>
              <a:rPr lang="en-US" sz="2800" dirty="0" err="1"/>
              <a:t>yoktur</a:t>
            </a:r>
            <a:r>
              <a:rPr lang="en-US" sz="2800" dirty="0"/>
              <a:t>.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 err="1"/>
              <a:t>Özet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44667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371600"/>
            <a:ext cx="8542338" cy="3736407"/>
          </a:xfrm>
        </p:spPr>
        <p:txBody>
          <a:bodyPr/>
          <a:lstStyle/>
          <a:p>
            <a:r>
              <a:rPr lang="en-US" sz="2800" dirty="0" err="1"/>
              <a:t>Kişisel</a:t>
            </a:r>
            <a:r>
              <a:rPr lang="en-US" sz="2800" dirty="0"/>
              <a:t> </a:t>
            </a:r>
            <a:r>
              <a:rPr lang="en-US" sz="2800" dirty="0" err="1"/>
              <a:t>verilerin</a:t>
            </a:r>
            <a:r>
              <a:rPr lang="en-US" sz="2800" dirty="0"/>
              <a:t> </a:t>
            </a:r>
            <a:r>
              <a:rPr lang="en-US" sz="2800" dirty="0" err="1"/>
              <a:t>gizliliği</a:t>
            </a:r>
            <a:r>
              <a:rPr lang="en-US" sz="2800" dirty="0"/>
              <a:t> için </a:t>
            </a:r>
            <a:r>
              <a:rPr lang="en-US" sz="2800" dirty="0" err="1"/>
              <a:t>koruma</a:t>
            </a:r>
            <a:r>
              <a:rPr lang="en-US" sz="2800" dirty="0"/>
              <a:t> </a:t>
            </a:r>
            <a:r>
              <a:rPr lang="en-US" sz="2800" dirty="0" err="1"/>
              <a:t>sağlayan</a:t>
            </a:r>
            <a:r>
              <a:rPr lang="en-US" sz="2800" dirty="0"/>
              <a:t> </a:t>
            </a:r>
            <a:r>
              <a:rPr lang="en-US" sz="2800" dirty="0" err="1"/>
              <a:t>yasalardan</a:t>
            </a:r>
            <a:r>
              <a:rPr lang="en-US" sz="2800" dirty="0"/>
              <a:t> </a:t>
            </a:r>
            <a:r>
              <a:rPr lang="en-US" sz="2800" dirty="0" err="1"/>
              <a:t>bazıları</a:t>
            </a:r>
            <a:r>
              <a:rPr lang="en-US" sz="2800" dirty="0"/>
              <a:t> </a:t>
            </a:r>
            <a:r>
              <a:rPr lang="en-US" sz="2800" dirty="0" err="1"/>
              <a:t>nelerdir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bunlarla</a:t>
            </a:r>
            <a:r>
              <a:rPr lang="en-US" sz="2800" dirty="0"/>
              <a:t> </a:t>
            </a:r>
            <a:r>
              <a:rPr lang="en-US" sz="2800" dirty="0" err="1"/>
              <a:t>ilişkili</a:t>
            </a:r>
            <a:r>
              <a:rPr lang="en-US" sz="2800" dirty="0"/>
              <a:t> </a:t>
            </a:r>
            <a:r>
              <a:rPr lang="en-US" sz="2800" dirty="0" err="1"/>
              <a:t>etik</a:t>
            </a:r>
            <a:r>
              <a:rPr lang="en-US" sz="2800" dirty="0"/>
              <a:t> </a:t>
            </a:r>
            <a:r>
              <a:rPr lang="en-US" sz="2800" dirty="0" err="1"/>
              <a:t>sorunlardan</a:t>
            </a:r>
            <a:r>
              <a:rPr lang="en-US" sz="2800" dirty="0"/>
              <a:t> </a:t>
            </a:r>
            <a:r>
              <a:rPr lang="en-US" sz="2800" dirty="0" err="1"/>
              <a:t>bazıları</a:t>
            </a:r>
            <a:r>
              <a:rPr lang="en-US" sz="2800" dirty="0"/>
              <a:t> </a:t>
            </a:r>
            <a:r>
              <a:rPr lang="en-US" sz="2800" dirty="0" err="1"/>
              <a:t>nelerdir</a:t>
            </a:r>
            <a:r>
              <a:rPr lang="en-US" sz="2800" dirty="0"/>
              <a:t>?
</a:t>
            </a:r>
            <a:r>
              <a:rPr lang="en-US" sz="2800" dirty="0" err="1"/>
              <a:t>Çok</a:t>
            </a:r>
            <a:r>
              <a:rPr lang="en-US" sz="2800" dirty="0"/>
              <a:t> </a:t>
            </a:r>
            <a:r>
              <a:rPr lang="en-US" sz="2800" dirty="0" err="1"/>
              <a:t>az</a:t>
            </a:r>
            <a:r>
              <a:rPr lang="en-US" sz="2800" dirty="0"/>
              <a:t> </a:t>
            </a:r>
            <a:r>
              <a:rPr lang="en-US" sz="2800" dirty="0" err="1"/>
              <a:t>yasa</a:t>
            </a:r>
            <a:r>
              <a:rPr lang="en-US" sz="2800" dirty="0"/>
              <a:t>, </a:t>
            </a:r>
            <a:r>
              <a:rPr lang="en-US" sz="2800" dirty="0" err="1"/>
              <a:t>özel</a:t>
            </a:r>
            <a:r>
              <a:rPr lang="en-US" sz="2800" dirty="0"/>
              <a:t> </a:t>
            </a:r>
            <a:r>
              <a:rPr lang="en-US" sz="2800" dirty="0" err="1"/>
              <a:t>sektörden</a:t>
            </a:r>
            <a:r>
              <a:rPr lang="en-US" sz="2800" dirty="0"/>
              <a:t> </a:t>
            </a:r>
            <a:r>
              <a:rPr lang="en-US" sz="2800" dirty="0" err="1"/>
              <a:t>gizlilik</a:t>
            </a:r>
            <a:r>
              <a:rPr lang="en-US" sz="2800" dirty="0"/>
              <a:t> </a:t>
            </a:r>
            <a:r>
              <a:rPr lang="en-US" sz="2800" dirty="0" err="1"/>
              <a:t>koruması</a:t>
            </a:r>
            <a:r>
              <a:rPr lang="en-US" sz="2800" dirty="0"/>
              <a:t> </a:t>
            </a:r>
            <a:r>
              <a:rPr lang="en-US" sz="2800" dirty="0" err="1"/>
              <a:t>sağlar</a:t>
            </a:r>
            <a:r>
              <a:rPr lang="en-US" sz="2800" dirty="0"/>
              <a:t>.
</a:t>
            </a:r>
            <a:r>
              <a:rPr lang="en-US" sz="2800" dirty="0" err="1"/>
              <a:t>ABD'de</a:t>
            </a:r>
            <a:r>
              <a:rPr lang="en-US" sz="2800" dirty="0"/>
              <a:t> </a:t>
            </a:r>
            <a:r>
              <a:rPr lang="en-US" sz="2800" dirty="0" err="1"/>
              <a:t>tek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kapsayıcı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ulusal</a:t>
            </a:r>
            <a:r>
              <a:rPr lang="en-US" sz="2800" dirty="0"/>
              <a:t> </a:t>
            </a:r>
            <a:r>
              <a:rPr lang="en-US" sz="2800" dirty="0" err="1"/>
              <a:t>veri</a:t>
            </a:r>
            <a:r>
              <a:rPr lang="en-US" sz="2800" dirty="0"/>
              <a:t> </a:t>
            </a:r>
            <a:r>
              <a:rPr lang="en-US" sz="2800" dirty="0" err="1"/>
              <a:t>gizliliği</a:t>
            </a:r>
            <a:r>
              <a:rPr lang="en-US" sz="2800" dirty="0"/>
              <a:t> </a:t>
            </a:r>
            <a:r>
              <a:rPr lang="en-US" sz="2800" dirty="0" err="1"/>
              <a:t>politikası</a:t>
            </a:r>
            <a:r>
              <a:rPr lang="en-US" sz="2800" dirty="0"/>
              <a:t> </a:t>
            </a:r>
            <a:r>
              <a:rPr lang="en-US" sz="2800" dirty="0" err="1"/>
              <a:t>yoktur</a:t>
            </a:r>
            <a:r>
              <a:rPr lang="en-US" sz="2800" dirty="0"/>
              <a:t>.
</a:t>
            </a:r>
            <a:r>
              <a:rPr lang="en-US" sz="2800" dirty="0" err="1"/>
              <a:t>Kişisel</a:t>
            </a:r>
            <a:r>
              <a:rPr lang="en-US" sz="2800" dirty="0"/>
              <a:t> </a:t>
            </a:r>
            <a:r>
              <a:rPr lang="en-US" sz="2800" dirty="0" err="1"/>
              <a:t>verilerin</a:t>
            </a:r>
            <a:r>
              <a:rPr lang="en-US" sz="2800" dirty="0"/>
              <a:t> </a:t>
            </a:r>
            <a:r>
              <a:rPr lang="en-US" sz="2800" dirty="0" err="1"/>
              <a:t>gizliliğini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dizi </a:t>
            </a:r>
            <a:r>
              <a:rPr lang="en-US" sz="2800" dirty="0" err="1"/>
              <a:t>yasa</a:t>
            </a:r>
            <a:r>
              <a:rPr lang="en-US" sz="2800" dirty="0"/>
              <a:t>, </a:t>
            </a:r>
            <a:r>
              <a:rPr lang="en-US" sz="2800" dirty="0" err="1"/>
              <a:t>yürütme</a:t>
            </a:r>
            <a:r>
              <a:rPr lang="en-US" sz="2800" dirty="0"/>
              <a:t> </a:t>
            </a:r>
            <a:r>
              <a:rPr lang="en-US" sz="2800" dirty="0" err="1"/>
              <a:t>emri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mahkeme</a:t>
            </a:r>
            <a:r>
              <a:rPr lang="en-US" sz="2800" dirty="0"/>
              <a:t> </a:t>
            </a:r>
            <a:r>
              <a:rPr lang="en-US" sz="2800" dirty="0" err="1"/>
              <a:t>kararı</a:t>
            </a:r>
            <a:r>
              <a:rPr lang="en-US" sz="2800" dirty="0"/>
              <a:t> </a:t>
            </a:r>
            <a:r>
              <a:rPr lang="en-US" sz="2800" dirty="0" err="1"/>
              <a:t>yönetir</a:t>
            </a:r>
            <a:r>
              <a:rPr lang="en-US" sz="2800" dirty="0"/>
              <a:t>.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 err="1"/>
              <a:t>Özet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73145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 err="1"/>
              <a:t>Özet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graphicFrame>
        <p:nvGraphicFramePr>
          <p:cNvPr id="11" name="Content Placeholder 10" descr="This tables lists the various laws and executive orders that impact privacy protection in the United States: &#10;The Fair Credit Reporting Act&#10;The Right to Financial Privacy Act&#10;Gramm-Leach-Bliley Act (GLBA)&#10;Fair and Accurate Credit Transaction Act&#10;Health Insurance Portability and Accountability Act (HIPAA)&#10;American Recovery and Reinvestment Act EHR provisions &#10;Family Educational Rights and Privacy Act (FERPA) &#10;Children’s Online Privacy Protection Act (COPPA) &#10;Title III of the Omnibus Crime Control and Safe Streets Act (also known as the Wiretap Act)&#10;Foreign Intelligence Surveillance Act&#10;Executive Order 12333 &#10;Electronic Communications Privacy Act (ECPA) &#10;Communications Assistance for Law Enforcement Act (CALEA) &#10;USA PATRIOT Act &#10;Foreign Intelligence Surveillance Act Amendments Acts of 2004&#10;Foreign Intelligence Surveillance Act Amendments Acts of 2008&#10;USA Freedom Act &#10;PATRIOT Sunsets Extension Act&#10;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008358"/>
              </p:ext>
            </p:extLst>
          </p:nvPr>
        </p:nvGraphicFramePr>
        <p:xfrm>
          <a:off x="457200" y="1097887"/>
          <a:ext cx="8458200" cy="5029962"/>
        </p:xfrm>
        <a:graphic>
          <a:graphicData uri="http://schemas.openxmlformats.org/drawingml/2006/table">
            <a:tbl>
              <a:tblPr firstRow="1" firstCol="1" bandRow="1">
                <a:tableStyleId>{8A107856-5554-42FB-B03E-39F5DBC370BA}</a:tableStyleId>
              </a:tblPr>
              <a:tblGrid>
                <a:gridCol w="4229100">
                  <a:extLst>
                    <a:ext uri="{9D8B030D-6E8A-4147-A177-3AD203B41FA5}">
                      <a16:colId xmlns:a16="http://schemas.microsoft.com/office/drawing/2014/main" val="2345265367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1169216346"/>
                    </a:ext>
                  </a:extLst>
                </a:gridCol>
              </a:tblGrid>
              <a:tr h="307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The Fair Credit Reporting Act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The Right to Financial Privacy Act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3549985316"/>
                  </a:ext>
                </a:extLst>
              </a:tr>
              <a:tr h="307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Gramm-Leach-Bliley Act (GLBA)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Fair and Accurate Credit Transaction Act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128411028"/>
                  </a:ext>
                </a:extLst>
              </a:tr>
              <a:tr h="6150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Health Insurance Portability and Accountability Act (HIPAA)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American Recovery and Reinvestment Act EHR provisions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3740520892"/>
                  </a:ext>
                </a:extLst>
              </a:tr>
              <a:tr h="6150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Family Educational Rights and Privacy Act (FERPA) 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Children’s Online Privacy Protection Act (COPPA)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3136060608"/>
                  </a:ext>
                </a:extLst>
              </a:tr>
              <a:tr h="6150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Title III of the Omnibus Crime Control and Safe Streets Act (the Wiretap Act)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Foreign Intelligence Surveillance Act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1966039650"/>
                  </a:ext>
                </a:extLst>
              </a:tr>
              <a:tr h="307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Executive Order 12333 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Electronic Communications Privacy Act (ECPA)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3743921821"/>
                  </a:ext>
                </a:extLst>
              </a:tr>
              <a:tr h="57656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Communications Assistance for Law Enforcement Act (CALEA) 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USA PATRIOT Act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4194584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Foreign Intelligence Surveillance Act Amendments Acts of 2004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</a:rPr>
                        <a:t>Foreign Intelligence Surveillance Act Amendments Acts of 2008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2465762031"/>
                  </a:ext>
                </a:extLst>
              </a:tr>
              <a:tr h="307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USA Freedom Act </a:t>
                      </a:r>
                      <a:endParaRPr lang="en-US" sz="20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dirty="0">
                          <a:effectLst/>
                        </a:rPr>
                        <a:t> </a:t>
                      </a: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PATRIOT Sunsets Extension Act</a:t>
                      </a:r>
                      <a:endParaRPr lang="en-US" sz="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60" marR="36260" marT="0" marB="0"/>
                </a:tc>
                <a:extLst>
                  <a:ext uri="{0D108BD9-81ED-4DB2-BD59-A6C34878D82A}">
                    <a16:rowId xmlns:a16="http://schemas.microsoft.com/office/drawing/2014/main" val="1253960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9460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990600"/>
            <a:ext cx="8542338" cy="4781309"/>
          </a:xfrm>
        </p:spPr>
        <p:txBody>
          <a:bodyPr/>
          <a:lstStyle/>
          <a:p>
            <a:pPr lvl="1"/>
            <a:r>
              <a:rPr lang="en-US" sz="2500" dirty="0" err="1"/>
              <a:t>Kişisel</a:t>
            </a:r>
            <a:r>
              <a:rPr lang="en-US" sz="2500" dirty="0"/>
              <a:t> </a:t>
            </a:r>
            <a:r>
              <a:rPr lang="en-US" sz="2500" dirty="0" err="1"/>
              <a:t>verilerin</a:t>
            </a:r>
            <a:r>
              <a:rPr lang="en-US" sz="2500" dirty="0"/>
              <a:t> </a:t>
            </a:r>
            <a:r>
              <a:rPr lang="en-US" sz="2500" dirty="0" err="1"/>
              <a:t>gizliliği</a:t>
            </a:r>
            <a:r>
              <a:rPr lang="en-US" sz="2500" dirty="0"/>
              <a:t> için </a:t>
            </a:r>
            <a:r>
              <a:rPr lang="en-US" sz="2500" dirty="0" err="1"/>
              <a:t>koruma</a:t>
            </a:r>
            <a:r>
              <a:rPr lang="en-US" sz="2500" dirty="0"/>
              <a:t> </a:t>
            </a:r>
            <a:r>
              <a:rPr lang="en-US" sz="2500" dirty="0" err="1"/>
              <a:t>sağlayan</a:t>
            </a:r>
            <a:r>
              <a:rPr lang="en-US" sz="2500" dirty="0"/>
              <a:t> </a:t>
            </a:r>
            <a:r>
              <a:rPr lang="en-US" sz="2500" dirty="0" err="1"/>
              <a:t>yasalardan</a:t>
            </a:r>
            <a:r>
              <a:rPr lang="en-US" sz="2500" dirty="0"/>
              <a:t> </a:t>
            </a:r>
            <a:r>
              <a:rPr lang="en-US" sz="2500" dirty="0" err="1"/>
              <a:t>bazıları</a:t>
            </a:r>
            <a:r>
              <a:rPr lang="en-US" sz="2500" dirty="0"/>
              <a:t> </a:t>
            </a:r>
            <a:r>
              <a:rPr lang="en-US" sz="2500" dirty="0" err="1"/>
              <a:t>nelerdir</a:t>
            </a:r>
            <a:r>
              <a:rPr lang="en-US" sz="2500" dirty="0"/>
              <a:t> </a:t>
            </a:r>
            <a:r>
              <a:rPr lang="en-US" sz="2500" dirty="0" err="1"/>
              <a:t>ve</a:t>
            </a:r>
            <a:r>
              <a:rPr lang="en-US" sz="2500" dirty="0"/>
              <a:t> </a:t>
            </a:r>
            <a:r>
              <a:rPr lang="en-US" sz="2500" dirty="0" err="1"/>
              <a:t>bunlarla</a:t>
            </a:r>
            <a:r>
              <a:rPr lang="en-US" sz="2500" dirty="0"/>
              <a:t> </a:t>
            </a:r>
            <a:r>
              <a:rPr lang="en-US" sz="2500" dirty="0" err="1"/>
              <a:t>ilişkili</a:t>
            </a:r>
            <a:r>
              <a:rPr lang="en-US" sz="2500" dirty="0"/>
              <a:t> </a:t>
            </a:r>
            <a:r>
              <a:rPr lang="en-US" sz="2500" dirty="0" err="1"/>
              <a:t>etik</a:t>
            </a:r>
            <a:r>
              <a:rPr lang="en-US" sz="2500" dirty="0"/>
              <a:t> </a:t>
            </a:r>
            <a:r>
              <a:rPr lang="en-US" sz="2500" dirty="0" err="1"/>
              <a:t>sorunlardan</a:t>
            </a:r>
            <a:r>
              <a:rPr lang="en-US" sz="2500" dirty="0"/>
              <a:t> </a:t>
            </a:r>
            <a:r>
              <a:rPr lang="en-US" sz="2500" dirty="0" err="1"/>
              <a:t>bazıları</a:t>
            </a:r>
            <a:r>
              <a:rPr lang="en-US" sz="2500" dirty="0"/>
              <a:t> </a:t>
            </a:r>
            <a:r>
              <a:rPr lang="en-US" sz="2500" dirty="0" err="1"/>
              <a:t>nelerdir</a:t>
            </a:r>
            <a:r>
              <a:rPr lang="en-US" sz="2500" dirty="0"/>
              <a:t>?
Adil </a:t>
            </a:r>
            <a:r>
              <a:rPr lang="en-US" sz="2500" dirty="0" err="1"/>
              <a:t>bilgi</a:t>
            </a:r>
            <a:r>
              <a:rPr lang="en-US" sz="2500" dirty="0"/>
              <a:t> </a:t>
            </a:r>
            <a:r>
              <a:rPr lang="en-US" sz="2500" dirty="0" err="1"/>
              <a:t>uygulamaları</a:t>
            </a:r>
            <a:r>
              <a:rPr lang="en-US" sz="2500" dirty="0"/>
              <a:t>: </a:t>
            </a:r>
            <a:r>
              <a:rPr lang="en-US" sz="2500" dirty="0" err="1"/>
              <a:t>Kişisel</a:t>
            </a:r>
            <a:r>
              <a:rPr lang="en-US" sz="2500" dirty="0"/>
              <a:t> </a:t>
            </a:r>
            <a:r>
              <a:rPr lang="en-US" sz="2500" dirty="0" err="1"/>
              <a:t>verilerin</a:t>
            </a:r>
            <a:r>
              <a:rPr lang="en-US" sz="2500" dirty="0"/>
              <a:t> </a:t>
            </a:r>
            <a:r>
              <a:rPr lang="en-US" sz="2500" dirty="0" err="1"/>
              <a:t>toplanmasını</a:t>
            </a:r>
            <a:r>
              <a:rPr lang="en-US" sz="2500" dirty="0"/>
              <a:t> </a:t>
            </a:r>
            <a:r>
              <a:rPr lang="en-US" sz="2500" dirty="0" err="1"/>
              <a:t>ve</a:t>
            </a:r>
            <a:r>
              <a:rPr lang="en-US" sz="2500" dirty="0"/>
              <a:t> </a:t>
            </a:r>
            <a:r>
              <a:rPr lang="en-US" sz="2500" dirty="0" err="1"/>
              <a:t>kullanılmasını</a:t>
            </a:r>
            <a:r>
              <a:rPr lang="en-US" sz="2500" dirty="0"/>
              <a:t> </a:t>
            </a:r>
            <a:r>
              <a:rPr lang="en-US" sz="2500" dirty="0" err="1"/>
              <a:t>yönetin</a:t>
            </a:r>
            <a:r>
              <a:rPr lang="en-US" sz="2500" dirty="0"/>
              <a:t>
</a:t>
            </a:r>
            <a:r>
              <a:rPr lang="en-US" sz="2500" dirty="0" err="1"/>
              <a:t>OECD'nin</a:t>
            </a:r>
            <a:r>
              <a:rPr lang="en-US" sz="2500" dirty="0"/>
              <a:t> </a:t>
            </a:r>
            <a:r>
              <a:rPr lang="en-US" sz="2500" dirty="0" err="1"/>
              <a:t>adil</a:t>
            </a:r>
            <a:r>
              <a:rPr lang="en-US" sz="2500" dirty="0"/>
              <a:t> </a:t>
            </a:r>
            <a:r>
              <a:rPr lang="en-US" sz="2500" dirty="0" err="1"/>
              <a:t>bilgi</a:t>
            </a:r>
            <a:r>
              <a:rPr lang="en-US" sz="2500" dirty="0"/>
              <a:t> </a:t>
            </a:r>
            <a:r>
              <a:rPr lang="en-US" sz="2500" dirty="0" err="1"/>
              <a:t>uygulamaları</a:t>
            </a:r>
            <a:r>
              <a:rPr lang="en-US" sz="2500" dirty="0"/>
              <a:t>: </a:t>
            </a:r>
            <a:r>
              <a:rPr lang="en-US" sz="2500" dirty="0" err="1"/>
              <a:t>Kuruluşların</a:t>
            </a:r>
            <a:r>
              <a:rPr lang="en-US" sz="2500" dirty="0"/>
              <a:t> </a:t>
            </a:r>
            <a:r>
              <a:rPr lang="en-US" sz="2500" dirty="0" err="1"/>
              <a:t>tüketici</a:t>
            </a:r>
            <a:r>
              <a:rPr lang="en-US" sz="2500" dirty="0"/>
              <a:t> </a:t>
            </a:r>
            <a:r>
              <a:rPr lang="en-US" sz="2500" dirty="0" err="1"/>
              <a:t>verilerinin</a:t>
            </a:r>
            <a:r>
              <a:rPr lang="en-US" sz="2500" dirty="0"/>
              <a:t> </a:t>
            </a:r>
            <a:r>
              <a:rPr lang="en-US" sz="2500" dirty="0" err="1"/>
              <a:t>etik</a:t>
            </a:r>
            <a:r>
              <a:rPr lang="en-US" sz="2500" dirty="0"/>
              <a:t> </a:t>
            </a:r>
            <a:r>
              <a:rPr lang="en-US" sz="2500" dirty="0" err="1"/>
              <a:t>olarak</a:t>
            </a:r>
            <a:r>
              <a:rPr lang="en-US" sz="2500" dirty="0"/>
              <a:t> </a:t>
            </a:r>
            <a:r>
              <a:rPr lang="en-US" sz="2500" dirty="0" err="1"/>
              <a:t>ele</a:t>
            </a:r>
            <a:r>
              <a:rPr lang="en-US" sz="2500" dirty="0"/>
              <a:t> </a:t>
            </a:r>
            <a:r>
              <a:rPr lang="en-US" sz="2500" dirty="0" err="1"/>
              <a:t>alınması</a:t>
            </a:r>
            <a:r>
              <a:rPr lang="en-US" sz="2500" dirty="0"/>
              <a:t> için </a:t>
            </a:r>
            <a:r>
              <a:rPr lang="en-US" sz="2500" dirty="0" err="1"/>
              <a:t>benimsemeleri</a:t>
            </a:r>
            <a:r>
              <a:rPr lang="en-US" sz="2500" dirty="0"/>
              <a:t> </a:t>
            </a:r>
            <a:r>
              <a:rPr lang="en-US" sz="2500" dirty="0" err="1"/>
              <a:t>gereken</a:t>
            </a:r>
            <a:r>
              <a:rPr lang="en-US" sz="2500" dirty="0"/>
              <a:t> model </a:t>
            </a:r>
            <a:r>
              <a:rPr lang="en-US" sz="2500" dirty="0" err="1"/>
              <a:t>olarak</a:t>
            </a:r>
            <a:r>
              <a:rPr lang="en-US" sz="2500" dirty="0"/>
              <a:t> </a:t>
            </a:r>
            <a:r>
              <a:rPr lang="en-US" sz="2500" dirty="0" err="1"/>
              <a:t>kabul</a:t>
            </a:r>
            <a:r>
              <a:rPr lang="en-US" sz="2500" dirty="0"/>
              <a:t> </a:t>
            </a:r>
            <a:r>
              <a:rPr lang="en-US" sz="2500" dirty="0" err="1"/>
              <a:t>edildi</a:t>
            </a:r>
            <a:r>
              <a:rPr lang="en-US" sz="2500" dirty="0"/>
              <a:t>
AB Veri </a:t>
            </a:r>
            <a:r>
              <a:rPr lang="en-US" sz="2500" dirty="0" err="1"/>
              <a:t>Koruma</a:t>
            </a:r>
            <a:r>
              <a:rPr lang="en-US" sz="2500" dirty="0"/>
              <a:t> </a:t>
            </a:r>
            <a:r>
              <a:rPr lang="en-US" sz="2500" dirty="0" err="1"/>
              <a:t>Direktifi</a:t>
            </a:r>
            <a:r>
              <a:rPr lang="en-US" sz="2500" dirty="0"/>
              <a:t>: </a:t>
            </a:r>
            <a:r>
              <a:rPr lang="en-US" sz="2500" dirty="0" err="1"/>
              <a:t>Üye</a:t>
            </a:r>
            <a:r>
              <a:rPr lang="en-US" sz="2500" dirty="0"/>
              <a:t> </a:t>
            </a:r>
            <a:r>
              <a:rPr lang="en-US" sz="2500" dirty="0" err="1"/>
              <a:t>ülkelerin</a:t>
            </a:r>
            <a:r>
              <a:rPr lang="en-US" sz="2500" dirty="0"/>
              <a:t>, AB </a:t>
            </a:r>
            <a:r>
              <a:rPr lang="en-US" sz="2500" dirty="0" err="1"/>
              <a:t>üyesi</a:t>
            </a:r>
            <a:r>
              <a:rPr lang="en-US" sz="2500" dirty="0"/>
              <a:t> </a:t>
            </a:r>
            <a:r>
              <a:rPr lang="en-US" sz="2500" dirty="0" err="1"/>
              <a:t>olmayan</a:t>
            </a:r>
            <a:r>
              <a:rPr lang="en-US" sz="2500" dirty="0"/>
              <a:t> </a:t>
            </a:r>
            <a:r>
              <a:rPr lang="en-US" sz="2500" dirty="0" err="1"/>
              <a:t>ülkelere</a:t>
            </a:r>
            <a:r>
              <a:rPr lang="en-US" sz="2500" dirty="0"/>
              <a:t> </a:t>
            </a:r>
            <a:r>
              <a:rPr lang="en-US" sz="2500" dirty="0" err="1"/>
              <a:t>aktarılan</a:t>
            </a:r>
            <a:r>
              <a:rPr lang="en-US" sz="2500" dirty="0"/>
              <a:t> </a:t>
            </a:r>
            <a:r>
              <a:rPr lang="en-US" sz="2500" dirty="0" err="1"/>
              <a:t>verilerin</a:t>
            </a:r>
            <a:r>
              <a:rPr lang="en-US" sz="2500" dirty="0"/>
              <a:t> </a:t>
            </a:r>
            <a:r>
              <a:rPr lang="en-US" sz="2500" dirty="0" err="1"/>
              <a:t>korunmasını</a:t>
            </a:r>
            <a:r>
              <a:rPr lang="en-US" sz="2500" dirty="0"/>
              <a:t> </a:t>
            </a:r>
            <a:r>
              <a:rPr lang="en-US" sz="2500" dirty="0" err="1"/>
              <a:t>sağlamasını</a:t>
            </a:r>
            <a:r>
              <a:rPr lang="en-US" sz="2500" dirty="0"/>
              <a:t> </a:t>
            </a:r>
            <a:r>
              <a:rPr lang="en-US" sz="2500" dirty="0" err="1"/>
              <a:t>gerektirir</a:t>
            </a:r>
            <a:r>
              <a:rPr lang="en-US" sz="2500" dirty="0"/>
              <a:t>
</a:t>
            </a:r>
            <a:r>
              <a:rPr lang="en-US" sz="2500" dirty="0" err="1"/>
              <a:t>Avrupa</a:t>
            </a:r>
            <a:r>
              <a:rPr lang="en-US" sz="2500" dirty="0"/>
              <a:t>-ABD </a:t>
            </a:r>
            <a:r>
              <a:rPr lang="en-US" sz="2500" dirty="0" err="1"/>
              <a:t>Gizlilik</a:t>
            </a:r>
            <a:r>
              <a:rPr lang="en-US" sz="2500" dirty="0"/>
              <a:t> </a:t>
            </a:r>
            <a:r>
              <a:rPr lang="en-US" sz="2500" dirty="0" err="1"/>
              <a:t>Kalkanı</a:t>
            </a:r>
            <a:r>
              <a:rPr lang="en-US" sz="2500" dirty="0"/>
              <a:t> Veri </a:t>
            </a:r>
            <a:r>
              <a:rPr lang="en-US" sz="2500" dirty="0" err="1"/>
              <a:t>Aktarım</a:t>
            </a:r>
            <a:r>
              <a:rPr lang="en-US" sz="2500" dirty="0"/>
              <a:t> </a:t>
            </a:r>
            <a:r>
              <a:rPr lang="en-US" sz="2500" dirty="0" err="1"/>
              <a:t>Programı</a:t>
            </a:r>
            <a:r>
              <a:rPr lang="en-US" sz="2500" dirty="0"/>
              <a:t> </a:t>
            </a:r>
            <a:r>
              <a:rPr lang="en-US" sz="2500" dirty="0" err="1"/>
              <a:t>Yönergeleri</a:t>
            </a:r>
            <a:r>
              <a:rPr lang="en-US" sz="2500" dirty="0"/>
              <a:t>: </a:t>
            </a:r>
            <a:r>
              <a:rPr lang="en-US" sz="2500" dirty="0" err="1"/>
              <a:t>İşletmelerin</a:t>
            </a:r>
            <a:r>
              <a:rPr lang="en-US" sz="2500" dirty="0"/>
              <a:t> AB </a:t>
            </a:r>
            <a:r>
              <a:rPr lang="en-US" sz="2500" dirty="0" err="1"/>
              <a:t>vatandaşları</a:t>
            </a:r>
            <a:r>
              <a:rPr lang="en-US" sz="2500" dirty="0"/>
              <a:t> </a:t>
            </a:r>
            <a:r>
              <a:rPr lang="en-US" sz="2500" dirty="0" err="1"/>
              <a:t>hakkındaki</a:t>
            </a:r>
            <a:r>
              <a:rPr lang="en-US" sz="2500" dirty="0"/>
              <a:t> </a:t>
            </a:r>
            <a:r>
              <a:rPr lang="en-US" sz="2500" dirty="0" err="1"/>
              <a:t>kişisel</a:t>
            </a:r>
            <a:r>
              <a:rPr lang="en-US" sz="2500" dirty="0"/>
              <a:t> </a:t>
            </a:r>
            <a:r>
              <a:rPr lang="en-US" sz="2500" dirty="0" err="1"/>
              <a:t>verileri</a:t>
            </a:r>
            <a:r>
              <a:rPr lang="en-US" sz="2500" dirty="0"/>
              <a:t> </a:t>
            </a:r>
            <a:r>
              <a:rPr lang="en-US" sz="2500" dirty="0" err="1"/>
              <a:t>ABD'ye</a:t>
            </a:r>
            <a:r>
              <a:rPr lang="en-US" sz="2500" dirty="0"/>
              <a:t> </a:t>
            </a:r>
            <a:r>
              <a:rPr lang="en-US" sz="2500" dirty="0" err="1"/>
              <a:t>aktarmasına</a:t>
            </a:r>
            <a:r>
              <a:rPr lang="en-US" sz="2500" dirty="0"/>
              <a:t> </a:t>
            </a:r>
            <a:r>
              <a:rPr lang="en-US" sz="2500" dirty="0" err="1"/>
              <a:t>olanak</a:t>
            </a:r>
            <a:r>
              <a:rPr lang="en-US" sz="2500" dirty="0"/>
              <a:t> </a:t>
            </a:r>
            <a:r>
              <a:rPr lang="en-US" sz="2500" dirty="0" err="1"/>
              <a:t>tanıyan</a:t>
            </a:r>
            <a:r>
              <a:rPr lang="en-US" sz="2500" dirty="0"/>
              <a:t> </a:t>
            </a:r>
            <a:r>
              <a:rPr lang="en-US" sz="2500" dirty="0" err="1"/>
              <a:t>geçici</a:t>
            </a:r>
            <a:r>
              <a:rPr lang="en-US" sz="2500" dirty="0"/>
              <a:t> </a:t>
            </a:r>
            <a:r>
              <a:rPr lang="en-US" sz="2500" dirty="0" err="1"/>
              <a:t>bir</a:t>
            </a:r>
            <a:r>
              <a:rPr lang="en-US" sz="2500" dirty="0"/>
              <a:t> </a:t>
            </a:r>
            <a:r>
              <a:rPr lang="en-US" sz="2500" dirty="0" err="1"/>
              <a:t>önlem</a:t>
            </a:r>
            <a:r>
              <a:rPr lang="en-US" sz="2500" dirty="0"/>
              <a:t>.</a:t>
            </a: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 err="1"/>
              <a:t>Özet</a:t>
            </a:r>
            <a:r>
              <a:rPr lang="en-US" sz="4000" dirty="0"/>
              <a:t>, </a:t>
            </a:r>
            <a:r>
              <a:rPr lang="en-US" sz="4000" dirty="0" err="1"/>
              <a:t>Bölüm</a:t>
            </a:r>
            <a:r>
              <a:rPr lang="en-US" sz="4000" dirty="0"/>
              <a:t> 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95847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143000"/>
            <a:ext cx="8542338" cy="473360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800" dirty="0" err="1"/>
              <a:t>Kişisel</a:t>
            </a:r>
            <a:r>
              <a:rPr lang="en-US" sz="2800" dirty="0"/>
              <a:t> </a:t>
            </a:r>
            <a:r>
              <a:rPr lang="en-US" sz="2800" dirty="0" err="1"/>
              <a:t>verilerin</a:t>
            </a:r>
            <a:r>
              <a:rPr lang="en-US" sz="2800" dirty="0"/>
              <a:t> </a:t>
            </a:r>
            <a:r>
              <a:rPr lang="en-US" sz="2800" dirty="0" err="1"/>
              <a:t>gizliliği</a:t>
            </a:r>
            <a:r>
              <a:rPr lang="en-US" sz="2800" dirty="0"/>
              <a:t> için </a:t>
            </a:r>
            <a:r>
              <a:rPr lang="en-US" sz="2800" dirty="0" err="1"/>
              <a:t>koruma</a:t>
            </a:r>
            <a:r>
              <a:rPr lang="en-US" sz="2800" dirty="0"/>
              <a:t> </a:t>
            </a:r>
            <a:r>
              <a:rPr lang="en-US" sz="2800" dirty="0" err="1"/>
              <a:t>sağlayan</a:t>
            </a:r>
            <a:r>
              <a:rPr lang="en-US" sz="2800" dirty="0"/>
              <a:t> </a:t>
            </a:r>
            <a:r>
              <a:rPr lang="en-US" sz="2800" dirty="0" err="1"/>
              <a:t>yasalardan</a:t>
            </a:r>
            <a:r>
              <a:rPr lang="en-US" sz="2800" dirty="0"/>
              <a:t> </a:t>
            </a:r>
            <a:r>
              <a:rPr lang="en-US" sz="2800" dirty="0" err="1"/>
              <a:t>bazıları</a:t>
            </a:r>
            <a:r>
              <a:rPr lang="en-US" sz="2800" dirty="0"/>
              <a:t> </a:t>
            </a:r>
            <a:r>
              <a:rPr lang="en-US" sz="2800" dirty="0" err="1"/>
              <a:t>nelerdir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bunlarla</a:t>
            </a:r>
            <a:r>
              <a:rPr lang="en-US" sz="2800" dirty="0"/>
              <a:t> </a:t>
            </a:r>
            <a:r>
              <a:rPr lang="en-US" sz="2800" dirty="0" err="1"/>
              <a:t>ilişkili</a:t>
            </a:r>
            <a:r>
              <a:rPr lang="en-US" sz="2800" dirty="0"/>
              <a:t> </a:t>
            </a:r>
            <a:r>
              <a:rPr lang="en-US" sz="2800" dirty="0" err="1"/>
              <a:t>etik</a:t>
            </a:r>
            <a:r>
              <a:rPr lang="en-US" sz="2800" dirty="0"/>
              <a:t> </a:t>
            </a:r>
            <a:r>
              <a:rPr lang="en-US" sz="2800" dirty="0" err="1"/>
              <a:t>sorunlardan</a:t>
            </a:r>
            <a:r>
              <a:rPr lang="en-US" sz="2800" dirty="0"/>
              <a:t> </a:t>
            </a:r>
            <a:r>
              <a:rPr lang="en-US" sz="2800" dirty="0" err="1"/>
              <a:t>bazıları</a:t>
            </a:r>
            <a:r>
              <a:rPr lang="en-US" sz="2800" dirty="0"/>
              <a:t> </a:t>
            </a:r>
            <a:r>
              <a:rPr lang="en-US" sz="2800" dirty="0" err="1"/>
              <a:t>nelerdir</a:t>
            </a:r>
            <a:r>
              <a:rPr lang="en-US" sz="2800" dirty="0"/>
              <a:t>?
</a:t>
            </a:r>
            <a:r>
              <a:rPr lang="en-US" sz="2800" dirty="0" err="1"/>
              <a:t>Genel</a:t>
            </a:r>
            <a:r>
              <a:rPr lang="en-US" sz="2800" dirty="0"/>
              <a:t> Veri </a:t>
            </a:r>
            <a:r>
              <a:rPr lang="en-US" sz="2800" dirty="0" err="1"/>
              <a:t>Koruma</a:t>
            </a:r>
            <a:r>
              <a:rPr lang="en-US" sz="2800" dirty="0"/>
              <a:t> </a:t>
            </a:r>
            <a:r>
              <a:rPr lang="en-US" sz="2800" dirty="0" err="1"/>
              <a:t>Yönetmeliği</a:t>
            </a:r>
            <a:r>
              <a:rPr lang="en-US" sz="2800" dirty="0"/>
              <a:t> (GDPR): </a:t>
            </a:r>
            <a:r>
              <a:rPr lang="en-US" sz="2800" dirty="0" err="1"/>
              <a:t>Mayıs</a:t>
            </a:r>
            <a:r>
              <a:rPr lang="en-US" sz="2800" dirty="0"/>
              <a:t> 2018'de </a:t>
            </a:r>
            <a:r>
              <a:rPr lang="en-US" sz="2800" dirty="0" err="1"/>
              <a:t>yürürlüğe</a:t>
            </a:r>
            <a:r>
              <a:rPr lang="en-US" sz="2800" dirty="0"/>
              <a:t> </a:t>
            </a:r>
            <a:r>
              <a:rPr lang="en-US" sz="2800" dirty="0" err="1"/>
              <a:t>girer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kişisel</a:t>
            </a:r>
            <a:r>
              <a:rPr lang="en-US" sz="2800" dirty="0"/>
              <a:t> </a:t>
            </a:r>
            <a:r>
              <a:rPr lang="en-US" sz="2800" dirty="0" err="1"/>
              <a:t>verilerin</a:t>
            </a:r>
            <a:r>
              <a:rPr lang="en-US" sz="2800" dirty="0"/>
              <a:t> AB </a:t>
            </a:r>
            <a:r>
              <a:rPr lang="en-US" sz="2800" dirty="0" err="1"/>
              <a:t>dışına</a:t>
            </a:r>
            <a:r>
              <a:rPr lang="en-US" sz="2800" dirty="0"/>
              <a:t> </a:t>
            </a:r>
            <a:r>
              <a:rPr lang="en-US" sz="2800" dirty="0" err="1"/>
              <a:t>aktarılmasını</a:t>
            </a:r>
            <a:r>
              <a:rPr lang="en-US" sz="2800" dirty="0"/>
              <a:t> </a:t>
            </a:r>
            <a:r>
              <a:rPr lang="en-US" sz="2800" dirty="0" err="1"/>
              <a:t>ele</a:t>
            </a:r>
            <a:r>
              <a:rPr lang="en-US" sz="2800" dirty="0"/>
              <a:t> </a:t>
            </a:r>
            <a:r>
              <a:rPr lang="en-US" sz="2800" dirty="0" err="1"/>
              <a:t>alır</a:t>
            </a:r>
            <a:r>
              <a:rPr lang="en-US" sz="2800" dirty="0"/>
              <a:t>
Bilgi </a:t>
            </a:r>
            <a:r>
              <a:rPr lang="en-US" sz="2800" dirty="0" err="1"/>
              <a:t>Edinme</a:t>
            </a:r>
            <a:r>
              <a:rPr lang="en-US" sz="2800" dirty="0"/>
              <a:t> </a:t>
            </a:r>
            <a:r>
              <a:rPr lang="en-US" sz="2800" dirty="0" err="1"/>
              <a:t>Özgürlüğü</a:t>
            </a:r>
            <a:r>
              <a:rPr lang="en-US" sz="2800" dirty="0"/>
              <a:t> </a:t>
            </a:r>
            <a:r>
              <a:rPr lang="en-US" sz="2800" dirty="0" err="1"/>
              <a:t>Yasası</a:t>
            </a:r>
            <a:r>
              <a:rPr lang="en-US" sz="2800" dirty="0"/>
              <a:t> (FOIA): </a:t>
            </a:r>
            <a:r>
              <a:rPr lang="en-US" sz="2800" dirty="0" err="1"/>
              <a:t>Vatandaşlara</a:t>
            </a:r>
            <a:r>
              <a:rPr lang="en-US" sz="2800" dirty="0"/>
              <a:t> </a:t>
            </a:r>
            <a:r>
              <a:rPr lang="en-US" sz="2800" dirty="0" err="1"/>
              <a:t>talep</a:t>
            </a:r>
            <a:r>
              <a:rPr lang="en-US" sz="2800" dirty="0"/>
              <a:t> </a:t>
            </a:r>
            <a:r>
              <a:rPr lang="en-US" sz="2800" dirty="0" err="1"/>
              <a:t>üzerine</a:t>
            </a:r>
            <a:r>
              <a:rPr lang="en-US" sz="2800" dirty="0"/>
              <a:t> federal, eyalet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yerel</a:t>
            </a:r>
            <a:r>
              <a:rPr lang="en-US" sz="2800" dirty="0"/>
              <a:t> </a:t>
            </a:r>
            <a:r>
              <a:rPr lang="en-US" sz="2800" dirty="0" err="1"/>
              <a:t>yönetimlerin</a:t>
            </a:r>
            <a:r>
              <a:rPr lang="en-US" sz="2800" dirty="0"/>
              <a:t> </a:t>
            </a:r>
            <a:r>
              <a:rPr lang="en-US" sz="2800" dirty="0" err="1"/>
              <a:t>belirli</a:t>
            </a:r>
            <a:r>
              <a:rPr lang="en-US" sz="2800" dirty="0"/>
              <a:t> </a:t>
            </a:r>
            <a:r>
              <a:rPr lang="en-US" sz="2800" dirty="0" err="1"/>
              <a:t>bilgi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kayıtlarına</a:t>
            </a:r>
            <a:r>
              <a:rPr lang="en-US" sz="2800" dirty="0"/>
              <a:t> </a:t>
            </a:r>
            <a:r>
              <a:rPr lang="en-US" sz="2800" dirty="0" err="1"/>
              <a:t>erişme</a:t>
            </a:r>
            <a:r>
              <a:rPr lang="en-US" sz="2800" dirty="0"/>
              <a:t> </a:t>
            </a:r>
            <a:r>
              <a:rPr lang="en-US" sz="2800" dirty="0" err="1"/>
              <a:t>hakkı</a:t>
            </a:r>
            <a:r>
              <a:rPr lang="en-US" sz="2800" dirty="0"/>
              <a:t> </a:t>
            </a:r>
            <a:r>
              <a:rPr lang="en-US" sz="2800" dirty="0" err="1"/>
              <a:t>verir</a:t>
            </a:r>
            <a:r>
              <a:rPr lang="en-US" sz="2800" dirty="0"/>
              <a:t>
</a:t>
            </a:r>
            <a:r>
              <a:rPr lang="en-US" sz="2800" dirty="0" err="1"/>
              <a:t>Gizlilik</a:t>
            </a:r>
            <a:r>
              <a:rPr lang="en-US" sz="2800" dirty="0"/>
              <a:t> </a:t>
            </a:r>
            <a:r>
              <a:rPr lang="en-US" sz="2800" dirty="0" err="1"/>
              <a:t>Yasası</a:t>
            </a:r>
            <a:r>
              <a:rPr lang="en-US" sz="2800" dirty="0"/>
              <a:t>: ABD </a:t>
            </a:r>
            <a:r>
              <a:rPr lang="en-US" sz="2800" dirty="0" err="1"/>
              <a:t>devlet</a:t>
            </a:r>
            <a:r>
              <a:rPr lang="en-US" sz="2800" dirty="0"/>
              <a:t> </a:t>
            </a:r>
            <a:r>
              <a:rPr lang="en-US" sz="2800" dirty="0" err="1"/>
              <a:t>kurumlarının</a:t>
            </a:r>
            <a:r>
              <a:rPr lang="en-US" sz="2800" dirty="0"/>
              <a:t> </a:t>
            </a:r>
            <a:r>
              <a:rPr lang="en-US" sz="2800" dirty="0" err="1"/>
              <a:t>herhangi</a:t>
            </a:r>
            <a:r>
              <a:rPr lang="en-US" sz="2800" dirty="0"/>
              <a:t> </a:t>
            </a:r>
            <a:r>
              <a:rPr lang="en-US" sz="2800" dirty="0" err="1"/>
              <a:t>bir</a:t>
            </a:r>
            <a:r>
              <a:rPr lang="en-US" sz="2800" dirty="0"/>
              <a:t> </a:t>
            </a:r>
            <a:r>
              <a:rPr lang="en-US" sz="2800" dirty="0" err="1"/>
              <a:t>kişisel</a:t>
            </a:r>
            <a:r>
              <a:rPr lang="en-US" sz="2800" dirty="0"/>
              <a:t> </a:t>
            </a:r>
            <a:r>
              <a:rPr lang="en-US" sz="2800" dirty="0" err="1"/>
              <a:t>veri</a:t>
            </a:r>
            <a:r>
              <a:rPr lang="en-US" sz="2800" dirty="0"/>
              <a:t> </a:t>
            </a:r>
            <a:r>
              <a:rPr lang="en-US" sz="2800" dirty="0" err="1"/>
              <a:t>kayıt</a:t>
            </a:r>
            <a:r>
              <a:rPr lang="en-US" sz="2800" dirty="0"/>
              <a:t> </a:t>
            </a:r>
            <a:r>
              <a:rPr lang="en-US" sz="2800" dirty="0" err="1"/>
              <a:t>tutma</a:t>
            </a:r>
            <a:r>
              <a:rPr lang="en-US" sz="2800" dirty="0"/>
              <a:t> </a:t>
            </a:r>
            <a:r>
              <a:rPr lang="en-US" sz="2800" dirty="0" err="1"/>
              <a:t>sisteminin</a:t>
            </a:r>
            <a:r>
              <a:rPr lang="en-US" sz="2800" dirty="0"/>
              <a:t> </a:t>
            </a:r>
            <a:r>
              <a:rPr lang="en-US" sz="2800" dirty="0" err="1"/>
              <a:t>varlığını</a:t>
            </a:r>
            <a:r>
              <a:rPr lang="en-US" sz="2800" dirty="0"/>
              <a:t> </a:t>
            </a:r>
            <a:r>
              <a:rPr lang="en-US" sz="2800" dirty="0" err="1"/>
              <a:t>gizlemesini</a:t>
            </a:r>
            <a:r>
              <a:rPr lang="en-US" sz="2800" dirty="0"/>
              <a:t> </a:t>
            </a:r>
            <a:r>
              <a:rPr lang="en-US" sz="2800" dirty="0" err="1"/>
              <a:t>yasaklar</a:t>
            </a:r>
            <a:endParaRPr lang="en-US" sz="28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971623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143000"/>
            <a:ext cx="8542338" cy="5395323"/>
          </a:xfrm>
        </p:spPr>
        <p:txBody>
          <a:bodyPr/>
          <a:lstStyle/>
          <a:p>
            <a:pPr lvl="1"/>
            <a:r>
              <a:rPr lang="en-US" sz="2600" dirty="0" err="1"/>
              <a:t>Tüketici</a:t>
            </a:r>
            <a:r>
              <a:rPr lang="en-US" sz="2600" dirty="0"/>
              <a:t> </a:t>
            </a:r>
            <a:r>
              <a:rPr lang="en-US" sz="2600" dirty="0" err="1"/>
              <a:t>profili</a:t>
            </a:r>
            <a:r>
              <a:rPr lang="en-US" sz="2600" dirty="0"/>
              <a:t> </a:t>
            </a:r>
            <a:r>
              <a:rPr lang="en-US" sz="2600" dirty="0" err="1"/>
              <a:t>oluşturma</a:t>
            </a:r>
            <a:r>
              <a:rPr lang="en-US" sz="2600" dirty="0"/>
              <a:t> için </a:t>
            </a:r>
            <a:r>
              <a:rPr lang="en-US" sz="2600" dirty="0" err="1"/>
              <a:t>çeşitli</a:t>
            </a:r>
            <a:r>
              <a:rPr lang="en-US" sz="2600" dirty="0"/>
              <a:t> </a:t>
            </a:r>
            <a:r>
              <a:rPr lang="en-US" sz="2600" dirty="0" err="1"/>
              <a:t>stratejiler</a:t>
            </a:r>
            <a:r>
              <a:rPr lang="en-US" sz="2600" dirty="0"/>
              <a:t> </a:t>
            </a:r>
            <a:r>
              <a:rPr lang="en-US" sz="2600" dirty="0" err="1"/>
              <a:t>nelerdir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ilgili</a:t>
            </a:r>
            <a:r>
              <a:rPr lang="en-US" sz="2600" dirty="0"/>
              <a:t> </a:t>
            </a:r>
            <a:r>
              <a:rPr lang="en-US" sz="2600" dirty="0" err="1"/>
              <a:t>etik</a:t>
            </a:r>
            <a:r>
              <a:rPr lang="en-US" sz="2600" dirty="0"/>
              <a:t> </a:t>
            </a:r>
            <a:r>
              <a:rPr lang="en-US" sz="2600" dirty="0" err="1"/>
              <a:t>sorunlar</a:t>
            </a:r>
            <a:r>
              <a:rPr lang="en-US" sz="2600" dirty="0"/>
              <a:t> </a:t>
            </a:r>
            <a:r>
              <a:rPr lang="en-US" sz="2600" dirty="0" err="1"/>
              <a:t>nelerdir</a:t>
            </a:r>
            <a:r>
              <a:rPr lang="en-US" sz="2600" dirty="0"/>
              <a:t>?
</a:t>
            </a:r>
            <a:r>
              <a:rPr lang="en-US" sz="2600" dirty="0" err="1"/>
              <a:t>Şirketler</a:t>
            </a:r>
            <a:r>
              <a:rPr lang="en-US" sz="2600" dirty="0"/>
              <a:t>, web </a:t>
            </a:r>
            <a:r>
              <a:rPr lang="en-US" sz="2600" dirty="0" err="1"/>
              <a:t>sitelerini</a:t>
            </a:r>
            <a:r>
              <a:rPr lang="en-US" sz="2600" dirty="0"/>
              <a:t> </a:t>
            </a:r>
            <a:r>
              <a:rPr lang="en-US" sz="2600" dirty="0" err="1"/>
              <a:t>ziyaret</a:t>
            </a:r>
            <a:r>
              <a:rPr lang="en-US" sz="2600" dirty="0"/>
              <a:t> </a:t>
            </a:r>
            <a:r>
              <a:rPr lang="en-US" sz="2600" dirty="0" err="1"/>
              <a:t>edenler</a:t>
            </a:r>
            <a:r>
              <a:rPr lang="en-US" sz="2600" dirty="0"/>
              <a:t> </a:t>
            </a:r>
            <a:r>
              <a:rPr lang="en-US" sz="2600" dirty="0" err="1"/>
              <a:t>hakkında</a:t>
            </a:r>
            <a:r>
              <a:rPr lang="en-US" sz="2600" dirty="0"/>
              <a:t> </a:t>
            </a:r>
            <a:r>
              <a:rPr lang="en-US" sz="2600" dirty="0" err="1"/>
              <a:t>kişisel</a:t>
            </a:r>
            <a:r>
              <a:rPr lang="en-US" sz="2600" dirty="0"/>
              <a:t> </a:t>
            </a:r>
            <a:r>
              <a:rPr lang="en-US" sz="2600" dirty="0" err="1"/>
              <a:t>veri</a:t>
            </a:r>
            <a:r>
              <a:rPr lang="en-US" sz="2600" dirty="0"/>
              <a:t> </a:t>
            </a:r>
            <a:r>
              <a:rPr lang="en-US" sz="2600" dirty="0" err="1"/>
              <a:t>toplamak</a:t>
            </a:r>
            <a:r>
              <a:rPr lang="en-US" sz="2600" dirty="0"/>
              <a:t> için </a:t>
            </a:r>
            <a:r>
              <a:rPr lang="en-US" sz="2600" dirty="0" err="1"/>
              <a:t>çerezler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izleme</a:t>
            </a:r>
            <a:r>
              <a:rPr lang="en-US" sz="2600" dirty="0"/>
              <a:t> </a:t>
            </a:r>
            <a:r>
              <a:rPr lang="en-US" sz="2600" dirty="0" err="1"/>
              <a:t>yazılımları</a:t>
            </a:r>
            <a:r>
              <a:rPr lang="en-US" sz="2600" dirty="0"/>
              <a:t> </a:t>
            </a:r>
            <a:r>
              <a:rPr lang="en-US" sz="2600" dirty="0" err="1"/>
              <a:t>kullanmak</a:t>
            </a:r>
            <a:r>
              <a:rPr lang="en-US" sz="2600" dirty="0"/>
              <a:t> da </a:t>
            </a:r>
            <a:r>
              <a:rPr lang="en-US" sz="2600" dirty="0" err="1"/>
              <a:t>dahil</a:t>
            </a:r>
            <a:r>
              <a:rPr lang="en-US" sz="2600" dirty="0"/>
              <a:t> </a:t>
            </a:r>
            <a:r>
              <a:rPr lang="en-US" sz="2600" dirty="0" err="1"/>
              <a:t>olmak</a:t>
            </a:r>
            <a:r>
              <a:rPr lang="en-US" sz="2600" dirty="0"/>
              <a:t> </a:t>
            </a:r>
            <a:r>
              <a:rPr lang="en-US" sz="2600" dirty="0" err="1"/>
              <a:t>üzere</a:t>
            </a:r>
            <a:r>
              <a:rPr lang="en-US" sz="2600" dirty="0"/>
              <a:t> </a:t>
            </a:r>
            <a:r>
              <a:rPr lang="en-US" sz="2600" dirty="0" err="1"/>
              <a:t>farklı</a:t>
            </a:r>
            <a:r>
              <a:rPr lang="en-US" sz="2600" dirty="0"/>
              <a:t> </a:t>
            </a:r>
            <a:r>
              <a:rPr lang="en-US" sz="2600" dirty="0" err="1"/>
              <a:t>yöntemler</a:t>
            </a:r>
            <a:r>
              <a:rPr lang="en-US" sz="2600" dirty="0"/>
              <a:t> </a:t>
            </a:r>
            <a:r>
              <a:rPr lang="en-US" sz="2600" dirty="0" err="1"/>
              <a:t>kullanır</a:t>
            </a:r>
            <a:r>
              <a:rPr lang="en-US" sz="2600" dirty="0"/>
              <a:t>.
</a:t>
            </a:r>
            <a:r>
              <a:rPr lang="en-US" sz="2600" dirty="0" err="1"/>
              <a:t>Müşteri</a:t>
            </a:r>
            <a:r>
              <a:rPr lang="en-US" sz="2600" dirty="0"/>
              <a:t> </a:t>
            </a:r>
            <a:r>
              <a:rPr lang="en-US" sz="2600" dirty="0" err="1"/>
              <a:t>bilgilerini</a:t>
            </a:r>
            <a:r>
              <a:rPr lang="en-US" sz="2600" dirty="0"/>
              <a:t> </a:t>
            </a:r>
            <a:r>
              <a:rPr lang="en-US" sz="2600" dirty="0" err="1"/>
              <a:t>koruyamayan</a:t>
            </a:r>
            <a:r>
              <a:rPr lang="en-US" sz="2600" dirty="0"/>
              <a:t> </a:t>
            </a:r>
            <a:r>
              <a:rPr lang="en-US" sz="2600" dirty="0" err="1"/>
              <a:t>veya</a:t>
            </a:r>
            <a:r>
              <a:rPr lang="en-US" sz="2600" dirty="0"/>
              <a:t> </a:t>
            </a:r>
            <a:r>
              <a:rPr lang="en-US" sz="2600" dirty="0" err="1"/>
              <a:t>saygı</a:t>
            </a:r>
            <a:r>
              <a:rPr lang="en-US" sz="2600" dirty="0"/>
              <a:t> </a:t>
            </a:r>
            <a:r>
              <a:rPr lang="en-US" sz="2600" dirty="0" err="1"/>
              <a:t>göstermeyen</a:t>
            </a:r>
            <a:r>
              <a:rPr lang="en-US" sz="2600" dirty="0"/>
              <a:t> </a:t>
            </a:r>
            <a:r>
              <a:rPr lang="en-US" sz="2600" dirty="0" err="1"/>
              <a:t>şirketler</a:t>
            </a:r>
            <a:r>
              <a:rPr lang="en-US" sz="2600" dirty="0"/>
              <a:t> </a:t>
            </a:r>
            <a:r>
              <a:rPr lang="en-US" sz="2600" dirty="0" err="1"/>
              <a:t>işlerini</a:t>
            </a:r>
            <a:r>
              <a:rPr lang="en-US" sz="2600" dirty="0"/>
              <a:t> </a:t>
            </a:r>
            <a:r>
              <a:rPr lang="en-US" sz="2600" dirty="0" err="1"/>
              <a:t>kaybettiler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gizlilik</a:t>
            </a:r>
            <a:r>
              <a:rPr lang="en-US" sz="2600" dirty="0"/>
              <a:t> </a:t>
            </a:r>
            <a:r>
              <a:rPr lang="en-US" sz="2600" dirty="0" err="1"/>
              <a:t>ihlallerinden</a:t>
            </a:r>
            <a:r>
              <a:rPr lang="en-US" sz="2600" dirty="0"/>
              <a:t> </a:t>
            </a:r>
            <a:r>
              <a:rPr lang="en-US" sz="2600" dirty="0" err="1"/>
              <a:t>kaynaklanan</a:t>
            </a:r>
            <a:r>
              <a:rPr lang="en-US" sz="2600" dirty="0"/>
              <a:t> </a:t>
            </a:r>
            <a:r>
              <a:rPr lang="en-US" sz="2600" dirty="0" err="1"/>
              <a:t>toplu</a:t>
            </a:r>
            <a:r>
              <a:rPr lang="en-US" sz="2600" dirty="0"/>
              <a:t> </a:t>
            </a:r>
            <a:r>
              <a:rPr lang="en-US" sz="2600" dirty="0" err="1"/>
              <a:t>davalarda</a:t>
            </a:r>
            <a:r>
              <a:rPr lang="en-US" sz="2600" dirty="0"/>
              <a:t> </a:t>
            </a:r>
            <a:r>
              <a:rPr lang="en-US" sz="2600" dirty="0" err="1"/>
              <a:t>sanık</a:t>
            </a:r>
            <a:r>
              <a:rPr lang="en-US" sz="2600" dirty="0"/>
              <a:t> </a:t>
            </a:r>
            <a:r>
              <a:rPr lang="en-US" sz="2600" dirty="0" err="1"/>
              <a:t>haline</a:t>
            </a:r>
            <a:r>
              <a:rPr lang="en-US" sz="2600" dirty="0"/>
              <a:t> </a:t>
            </a:r>
            <a:r>
              <a:rPr lang="en-US" sz="2600" dirty="0" err="1"/>
              <a:t>geldiler</a:t>
            </a:r>
            <a:r>
              <a:rPr lang="en-US" sz="2600" dirty="0"/>
              <a:t>.
Veri </a:t>
            </a:r>
            <a:r>
              <a:rPr lang="en-US" sz="2600" dirty="0" err="1"/>
              <a:t>ihlali</a:t>
            </a:r>
            <a:r>
              <a:rPr lang="en-US" sz="2600" dirty="0"/>
              <a:t>: Hassas </a:t>
            </a:r>
            <a:r>
              <a:rPr lang="en-US" sz="2600" dirty="0" err="1"/>
              <a:t>verilerin</a:t>
            </a:r>
            <a:r>
              <a:rPr lang="en-US" sz="2600" dirty="0"/>
              <a:t> </a:t>
            </a:r>
            <a:r>
              <a:rPr lang="en-US" sz="2600" dirty="0" err="1"/>
              <a:t>kasıtsız</a:t>
            </a:r>
            <a:r>
              <a:rPr lang="en-US" sz="2600" dirty="0"/>
              <a:t> </a:t>
            </a:r>
            <a:r>
              <a:rPr lang="en-US" sz="2600" dirty="0" err="1"/>
              <a:t>olarak</a:t>
            </a:r>
            <a:r>
              <a:rPr lang="en-US" sz="2600" dirty="0"/>
              <a:t> </a:t>
            </a:r>
            <a:r>
              <a:rPr lang="en-US" sz="2600" dirty="0" err="1"/>
              <a:t>serbest</a:t>
            </a:r>
            <a:r>
              <a:rPr lang="en-US" sz="2600" dirty="0"/>
              <a:t> </a:t>
            </a:r>
            <a:r>
              <a:rPr lang="en-US" sz="2600" dirty="0" err="1"/>
              <a:t>bırakılması</a:t>
            </a:r>
            <a:r>
              <a:rPr lang="en-US" sz="2600" dirty="0"/>
              <a:t> </a:t>
            </a:r>
            <a:r>
              <a:rPr lang="en-US" sz="2600" dirty="0" err="1"/>
              <a:t>veya</a:t>
            </a:r>
            <a:r>
              <a:rPr lang="en-US" sz="2600" dirty="0"/>
              <a:t> </a:t>
            </a:r>
            <a:r>
              <a:rPr lang="en-US" sz="2600" dirty="0" err="1"/>
              <a:t>hassas</a:t>
            </a:r>
            <a:r>
              <a:rPr lang="en-US" sz="2600" dirty="0"/>
              <a:t> </a:t>
            </a:r>
            <a:r>
              <a:rPr lang="en-US" sz="2600" dirty="0" err="1"/>
              <a:t>verilere</a:t>
            </a:r>
            <a:r>
              <a:rPr lang="en-US" sz="2600" dirty="0"/>
              <a:t> </a:t>
            </a:r>
            <a:r>
              <a:rPr lang="en-US" sz="2600" dirty="0" err="1"/>
              <a:t>yetkisiz</a:t>
            </a:r>
            <a:r>
              <a:rPr lang="en-US" sz="2600" dirty="0"/>
              <a:t> </a:t>
            </a:r>
            <a:r>
              <a:rPr lang="en-US" sz="2600" dirty="0" err="1"/>
              <a:t>kişilerin</a:t>
            </a:r>
            <a:r>
              <a:rPr lang="en-US" sz="2600" dirty="0"/>
              <a:t> </a:t>
            </a:r>
            <a:r>
              <a:rPr lang="en-US" sz="2600" dirty="0" err="1"/>
              <a:t>erişmesi</a:t>
            </a:r>
            <a:r>
              <a:rPr lang="en-US" sz="2600" dirty="0"/>
              <a:t>
</a:t>
            </a:r>
            <a:r>
              <a:rPr lang="en-US" sz="2600" dirty="0" err="1"/>
              <a:t>Bazı</a:t>
            </a:r>
            <a:r>
              <a:rPr lang="en-US" sz="2600" dirty="0"/>
              <a:t> </a:t>
            </a:r>
            <a:r>
              <a:rPr lang="en-US" sz="2600" dirty="0" err="1"/>
              <a:t>eyaletler</a:t>
            </a:r>
            <a:r>
              <a:rPr lang="en-US" sz="2600" dirty="0"/>
              <a:t>, </a:t>
            </a:r>
            <a:r>
              <a:rPr lang="en-US" sz="2600" dirty="0" err="1"/>
              <a:t>şirketlerin</a:t>
            </a:r>
            <a:r>
              <a:rPr lang="en-US" sz="2600" dirty="0"/>
              <a:t> </a:t>
            </a:r>
            <a:r>
              <a:rPr lang="en-US" sz="2600" dirty="0" err="1"/>
              <a:t>etkilenen</a:t>
            </a:r>
            <a:r>
              <a:rPr lang="en-US" sz="2600" dirty="0"/>
              <a:t> </a:t>
            </a:r>
            <a:r>
              <a:rPr lang="en-US" sz="2600" dirty="0" err="1"/>
              <a:t>müşterileri</a:t>
            </a:r>
            <a:r>
              <a:rPr lang="en-US" sz="2600" dirty="0"/>
              <a:t> </a:t>
            </a:r>
            <a:r>
              <a:rPr lang="en-US" sz="2600" dirty="0" err="1"/>
              <a:t>hızlı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şekilde</a:t>
            </a:r>
            <a:r>
              <a:rPr lang="en-US" sz="2600" dirty="0"/>
              <a:t> </a:t>
            </a:r>
            <a:r>
              <a:rPr lang="en-US" sz="2600" dirty="0" err="1"/>
              <a:t>bilgilendirmesini</a:t>
            </a:r>
            <a:r>
              <a:rPr lang="en-US" sz="2600" dirty="0"/>
              <a:t> </a:t>
            </a:r>
            <a:r>
              <a:rPr lang="en-US" sz="2600" dirty="0" err="1"/>
              <a:t>gerektiren</a:t>
            </a:r>
            <a:r>
              <a:rPr lang="en-US" sz="2600" dirty="0"/>
              <a:t> </a:t>
            </a:r>
            <a:r>
              <a:rPr lang="en-US" sz="2600" dirty="0" err="1"/>
              <a:t>veri</a:t>
            </a:r>
            <a:r>
              <a:rPr lang="en-US" sz="2600" dirty="0"/>
              <a:t> </a:t>
            </a:r>
            <a:r>
              <a:rPr lang="en-US" sz="2600" dirty="0" err="1"/>
              <a:t>ihlali</a:t>
            </a:r>
            <a:r>
              <a:rPr lang="en-US" sz="2600" dirty="0"/>
              <a:t> </a:t>
            </a:r>
            <a:r>
              <a:rPr lang="en-US" sz="2600" dirty="0" err="1"/>
              <a:t>bildirim</a:t>
            </a:r>
            <a:r>
              <a:rPr lang="en-US" sz="2600" dirty="0"/>
              <a:t> </a:t>
            </a:r>
            <a:r>
              <a:rPr lang="en-US" sz="2600" dirty="0" err="1"/>
              <a:t>yasalarını</a:t>
            </a:r>
            <a:r>
              <a:rPr lang="en-US" sz="2600" dirty="0"/>
              <a:t> </a:t>
            </a:r>
            <a:r>
              <a:rPr lang="en-US" sz="2600" dirty="0" err="1"/>
              <a:t>kabul</a:t>
            </a:r>
            <a:r>
              <a:rPr lang="en-US" sz="2600" dirty="0"/>
              <a:t> </a:t>
            </a:r>
            <a:r>
              <a:rPr lang="en-US" sz="2600" dirty="0" err="1"/>
              <a:t>etti</a:t>
            </a:r>
            <a:r>
              <a:rPr lang="en-US" sz="2600" dirty="0"/>
              <a:t>.</a:t>
            </a:r>
            <a:endParaRPr lang="en-US" sz="26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6647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371600"/>
            <a:ext cx="8542338" cy="430579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nn-NO" sz="2800" b="1" dirty="0"/>
              <a:t>E-keşif nedir ve nasıl kullanılır?</a:t>
            </a:r>
          </a:p>
          <a:p>
            <a:pPr lvl="1"/>
            <a:r>
              <a:rPr lang="en-US" sz="3200" dirty="0"/>
              <a:t>E-</a:t>
            </a:r>
            <a:r>
              <a:rPr lang="en-US" sz="3200" dirty="0" err="1"/>
              <a:t>keşif</a:t>
            </a:r>
            <a:r>
              <a:rPr lang="en-US" sz="3200" dirty="0"/>
              <a:t>: </a:t>
            </a:r>
            <a:r>
              <a:rPr lang="en-US" sz="3200" dirty="0" err="1"/>
              <a:t>Ceza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hukuk</a:t>
            </a:r>
            <a:r>
              <a:rPr lang="en-US" sz="3200" dirty="0"/>
              <a:t> </a:t>
            </a:r>
            <a:r>
              <a:rPr lang="en-US" sz="3200" dirty="0" err="1"/>
              <a:t>davalarında</a:t>
            </a:r>
            <a:r>
              <a:rPr lang="en-US" sz="3200" dirty="0"/>
              <a:t> </a:t>
            </a:r>
            <a:r>
              <a:rPr lang="en-US" sz="3200" dirty="0" err="1"/>
              <a:t>kullanılmak</a:t>
            </a:r>
            <a:r>
              <a:rPr lang="en-US" sz="3200" dirty="0"/>
              <a:t> </a:t>
            </a:r>
            <a:r>
              <a:rPr lang="en-US" sz="3200" dirty="0" err="1"/>
              <a:t>üzere</a:t>
            </a:r>
            <a:r>
              <a:rPr lang="en-US" sz="3200" dirty="0"/>
              <a:t> </a:t>
            </a:r>
            <a:r>
              <a:rPr lang="en-US" sz="3200" dirty="0" err="1"/>
              <a:t>elektronik</a:t>
            </a:r>
            <a:r>
              <a:rPr lang="en-US" sz="3200" dirty="0"/>
              <a:t> </a:t>
            </a:r>
            <a:r>
              <a:rPr lang="en-US" sz="3200" dirty="0" err="1"/>
              <a:t>olarak</a:t>
            </a:r>
            <a:r>
              <a:rPr lang="en-US" sz="3200" dirty="0"/>
              <a:t> </a:t>
            </a:r>
            <a:r>
              <a:rPr lang="en-US" sz="3200" dirty="0" err="1"/>
              <a:t>saklanan</a:t>
            </a:r>
            <a:r>
              <a:rPr lang="en-US" sz="3200" dirty="0"/>
              <a:t> </a:t>
            </a:r>
            <a:r>
              <a:rPr lang="en-US" sz="3200" dirty="0" err="1"/>
              <a:t>bilgilerin</a:t>
            </a:r>
            <a:r>
              <a:rPr lang="en-US" sz="3200" dirty="0"/>
              <a:t> </a:t>
            </a:r>
            <a:r>
              <a:rPr lang="en-US" sz="3200" dirty="0" err="1"/>
              <a:t>toplanması</a:t>
            </a:r>
            <a:r>
              <a:rPr lang="en-US" sz="3200" dirty="0"/>
              <a:t>, </a:t>
            </a:r>
            <a:r>
              <a:rPr lang="en-US" sz="3200" dirty="0" err="1"/>
              <a:t>hazırlanması</a:t>
            </a:r>
            <a:r>
              <a:rPr lang="en-US" sz="3200" dirty="0"/>
              <a:t>, </a:t>
            </a:r>
            <a:r>
              <a:rPr lang="en-US" sz="3200" dirty="0" err="1"/>
              <a:t>gözden</a:t>
            </a:r>
            <a:r>
              <a:rPr lang="en-US" sz="3200" dirty="0"/>
              <a:t> </a:t>
            </a:r>
            <a:r>
              <a:rPr lang="en-US" sz="3200" dirty="0" err="1"/>
              <a:t>geçirilmesi</a:t>
            </a:r>
            <a:r>
              <a:rPr lang="en-US" sz="3200" dirty="0"/>
              <a:t> </a:t>
            </a:r>
            <a:r>
              <a:rPr lang="en-US" sz="3200" dirty="0" err="1"/>
              <a:t>ve</a:t>
            </a:r>
            <a:r>
              <a:rPr lang="en-US" sz="3200" dirty="0"/>
              <a:t> </a:t>
            </a:r>
            <a:r>
              <a:rPr lang="en-US" sz="3200" dirty="0" err="1"/>
              <a:t>üretilmesi</a:t>
            </a:r>
            <a:r>
              <a:rPr lang="en-US" sz="3200" dirty="0"/>
              <a:t>
</a:t>
            </a:r>
            <a:r>
              <a:rPr lang="en-US" sz="3200" dirty="0" err="1"/>
              <a:t>Tahmine</a:t>
            </a:r>
            <a:r>
              <a:rPr lang="en-US" sz="3200" dirty="0"/>
              <a:t> </a:t>
            </a:r>
            <a:r>
              <a:rPr lang="en-US" sz="3200" dirty="0" err="1"/>
              <a:t>dayalı</a:t>
            </a:r>
            <a:r>
              <a:rPr lang="en-US" sz="3200" dirty="0"/>
              <a:t> </a:t>
            </a:r>
            <a:r>
              <a:rPr lang="en-US" sz="3200" dirty="0" err="1"/>
              <a:t>kodlama</a:t>
            </a:r>
            <a:r>
              <a:rPr lang="en-US" sz="3200" dirty="0"/>
              <a:t>: </a:t>
            </a:r>
            <a:r>
              <a:rPr lang="en-US" sz="3200" dirty="0" err="1"/>
              <a:t>İlgili</a:t>
            </a:r>
            <a:r>
              <a:rPr lang="en-US" sz="3200" dirty="0"/>
              <a:t> </a:t>
            </a:r>
            <a:r>
              <a:rPr lang="en-US" sz="3200" dirty="0" err="1"/>
              <a:t>belgeleri</a:t>
            </a:r>
            <a:r>
              <a:rPr lang="en-US" sz="3200" dirty="0"/>
              <a:t> </a:t>
            </a:r>
            <a:r>
              <a:rPr lang="en-US" sz="3200" dirty="0" err="1"/>
              <a:t>tanımak</a:t>
            </a:r>
            <a:r>
              <a:rPr lang="en-US" sz="3200" dirty="0"/>
              <a:t> için </a:t>
            </a:r>
            <a:r>
              <a:rPr lang="en-US" sz="3200" dirty="0" err="1"/>
              <a:t>belge</a:t>
            </a:r>
            <a:r>
              <a:rPr lang="en-US" sz="3200" dirty="0"/>
              <a:t> </a:t>
            </a:r>
            <a:r>
              <a:rPr lang="en-US" sz="3200" dirty="0" err="1"/>
              <a:t>inceleme</a:t>
            </a:r>
            <a:r>
              <a:rPr lang="en-US" sz="3200" dirty="0"/>
              <a:t> </a:t>
            </a:r>
            <a:r>
              <a:rPr lang="en-US" sz="3200" dirty="0" err="1"/>
              <a:t>yazılımını</a:t>
            </a:r>
            <a:r>
              <a:rPr lang="en-US" sz="3200" dirty="0"/>
              <a:t> "</a:t>
            </a:r>
            <a:r>
              <a:rPr lang="en-US" sz="3200" dirty="0" err="1"/>
              <a:t>eğitmek</a:t>
            </a:r>
            <a:r>
              <a:rPr lang="en-US" sz="3200" dirty="0"/>
              <a:t>" için </a:t>
            </a:r>
            <a:r>
              <a:rPr lang="en-US" sz="3200" dirty="0" err="1"/>
              <a:t>insan</a:t>
            </a:r>
            <a:r>
              <a:rPr lang="en-US" sz="3200" dirty="0"/>
              <a:t> </a:t>
            </a:r>
            <a:r>
              <a:rPr lang="en-US" sz="3200" dirty="0" err="1"/>
              <a:t>zekasını</a:t>
            </a:r>
            <a:r>
              <a:rPr lang="en-US" sz="3200" dirty="0"/>
              <a:t> </a:t>
            </a:r>
            <a:r>
              <a:rPr lang="en-US" sz="3200" dirty="0" err="1"/>
              <a:t>bilgisayar</a:t>
            </a:r>
            <a:r>
              <a:rPr lang="en-US" sz="3200" dirty="0"/>
              <a:t> </a:t>
            </a:r>
            <a:r>
              <a:rPr lang="en-US" sz="3200" dirty="0" err="1"/>
              <a:t>güdümlü</a:t>
            </a:r>
            <a:r>
              <a:rPr lang="en-US" sz="3200" dirty="0"/>
              <a:t> </a:t>
            </a:r>
            <a:r>
              <a:rPr lang="en-US" sz="3200" dirty="0" err="1"/>
              <a:t>kavram</a:t>
            </a:r>
            <a:r>
              <a:rPr lang="en-US" sz="3200" dirty="0"/>
              <a:t> </a:t>
            </a:r>
            <a:r>
              <a:rPr lang="en-US" sz="3200" dirty="0" err="1"/>
              <a:t>aramasıyla</a:t>
            </a:r>
            <a:r>
              <a:rPr lang="en-US" sz="3200" dirty="0"/>
              <a:t> </a:t>
            </a:r>
            <a:r>
              <a:rPr lang="en-US" sz="3200" dirty="0" err="1"/>
              <a:t>birleştirir</a:t>
            </a:r>
            <a:endParaRPr lang="en-US" sz="28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83851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371600"/>
            <a:ext cx="8542338" cy="4342727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800" dirty="0" err="1"/>
              <a:t>İşverenler</a:t>
            </a:r>
            <a:r>
              <a:rPr lang="en-US" sz="2800" dirty="0"/>
              <a:t> </a:t>
            </a:r>
            <a:r>
              <a:rPr lang="en-US" sz="2800" dirty="0" err="1"/>
              <a:t>neden</a:t>
            </a:r>
            <a:r>
              <a:rPr lang="en-US" sz="2800" dirty="0"/>
              <a:t> 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nasıl</a:t>
            </a:r>
            <a:r>
              <a:rPr lang="en-US" sz="2800" dirty="0"/>
              <a:t> </a:t>
            </a:r>
            <a:r>
              <a:rPr lang="en-US" sz="2800" dirty="0" err="1"/>
              <a:t>işyeri</a:t>
            </a:r>
            <a:r>
              <a:rPr lang="en-US" sz="2800" dirty="0"/>
              <a:t> </a:t>
            </a:r>
            <a:r>
              <a:rPr lang="en-US" sz="2800" dirty="0" err="1"/>
              <a:t>izlemeyi</a:t>
            </a:r>
            <a:r>
              <a:rPr lang="en-US" sz="2800" dirty="0"/>
              <a:t> </a:t>
            </a:r>
            <a:r>
              <a:rPr lang="en-US" sz="2800" dirty="0" err="1"/>
              <a:t>giderek</a:t>
            </a:r>
            <a:r>
              <a:rPr lang="en-US" sz="2800" dirty="0"/>
              <a:t> </a:t>
            </a:r>
            <a:r>
              <a:rPr lang="en-US" sz="2800" dirty="0" err="1"/>
              <a:t>daha</a:t>
            </a:r>
            <a:r>
              <a:rPr lang="en-US" sz="2800" dirty="0"/>
              <a:t> </a:t>
            </a:r>
            <a:r>
              <a:rPr lang="en-US" sz="2800" dirty="0" err="1"/>
              <a:t>fazla</a:t>
            </a:r>
            <a:r>
              <a:rPr lang="en-US" sz="2800" dirty="0"/>
              <a:t> </a:t>
            </a:r>
            <a:r>
              <a:rPr lang="en-US" sz="2800" dirty="0" err="1"/>
              <a:t>kullanıyor</a:t>
            </a:r>
            <a:r>
              <a:rPr lang="en-US" sz="2800" dirty="0"/>
              <a:t>?</a:t>
            </a:r>
          </a:p>
          <a:p>
            <a:pPr lvl="1"/>
            <a:r>
              <a:rPr lang="en-US" sz="2400" dirty="0" err="1"/>
              <a:t>Birçok</a:t>
            </a:r>
            <a:r>
              <a:rPr lang="en-US" sz="2400" dirty="0"/>
              <a:t> </a:t>
            </a:r>
            <a:r>
              <a:rPr lang="en-US" sz="2400" dirty="0" err="1"/>
              <a:t>kuruluş</a:t>
            </a:r>
            <a:r>
              <a:rPr lang="en-US" sz="2400" dirty="0"/>
              <a:t>, </a:t>
            </a:r>
            <a:r>
              <a:rPr lang="en-US" sz="2400" dirty="0" err="1"/>
              <a:t>çalışan</a:t>
            </a:r>
            <a:r>
              <a:rPr lang="en-US" sz="2400" dirty="0"/>
              <a:t> </a:t>
            </a:r>
            <a:r>
              <a:rPr lang="en-US" sz="2400" dirty="0" err="1"/>
              <a:t>verimliliğini</a:t>
            </a:r>
            <a:r>
              <a:rPr lang="en-US" sz="2400" dirty="0"/>
              <a:t> </a:t>
            </a:r>
            <a:r>
              <a:rPr lang="en-US" sz="2400" dirty="0" err="1"/>
              <a:t>azaltan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işverenleri</a:t>
            </a:r>
            <a:r>
              <a:rPr lang="en-US" sz="2400" dirty="0"/>
              <a:t> </a:t>
            </a:r>
            <a:r>
              <a:rPr lang="en-US" sz="2400" dirty="0" err="1"/>
              <a:t>taciz</a:t>
            </a:r>
            <a:r>
              <a:rPr lang="en-US" sz="2400" dirty="0"/>
              <a:t> </a:t>
            </a:r>
            <a:r>
              <a:rPr lang="en-US" sz="2400" dirty="0" err="1"/>
              <a:t>davalarına</a:t>
            </a:r>
            <a:r>
              <a:rPr lang="en-US" sz="2400" dirty="0"/>
              <a:t> </a:t>
            </a:r>
            <a:r>
              <a:rPr lang="en-US" sz="2400" dirty="0" err="1"/>
              <a:t>maruz</a:t>
            </a:r>
            <a:r>
              <a:rPr lang="en-US" sz="2400" dirty="0"/>
              <a:t> </a:t>
            </a:r>
            <a:r>
              <a:rPr lang="en-US" sz="2400" dirty="0" err="1"/>
              <a:t>bırakan</a:t>
            </a:r>
            <a:r>
              <a:rPr lang="en-US" sz="2400" dirty="0"/>
              <a:t> </a:t>
            </a:r>
            <a:r>
              <a:rPr lang="en-US" sz="2400" dirty="0" err="1"/>
              <a:t>çalışan</a:t>
            </a:r>
            <a:r>
              <a:rPr lang="en-US" sz="2400" dirty="0"/>
              <a:t> </a:t>
            </a:r>
            <a:r>
              <a:rPr lang="en-US" sz="2400" dirty="0" err="1"/>
              <a:t>suistimallerine</a:t>
            </a:r>
            <a:r>
              <a:rPr lang="en-US" sz="2400" dirty="0"/>
              <a:t> </a:t>
            </a:r>
            <a:r>
              <a:rPr lang="en-US" sz="2400" dirty="0" err="1"/>
              <a:t>karşı</a:t>
            </a:r>
            <a:r>
              <a:rPr lang="en-US" sz="2400" dirty="0"/>
              <a:t> </a:t>
            </a:r>
            <a:r>
              <a:rPr lang="en-US" sz="2400" dirty="0" err="1"/>
              <a:t>koruma</a:t>
            </a:r>
            <a:r>
              <a:rPr lang="en-US" sz="2400" dirty="0"/>
              <a:t> </a:t>
            </a:r>
            <a:r>
              <a:rPr lang="en-US" sz="2400" dirty="0" err="1"/>
              <a:t>sağlamak</a:t>
            </a:r>
            <a:r>
              <a:rPr lang="en-US" sz="2400" dirty="0"/>
              <a:t> için BT </a:t>
            </a:r>
            <a:r>
              <a:rPr lang="en-US" sz="2400" dirty="0" err="1"/>
              <a:t>kullanım</a:t>
            </a:r>
            <a:r>
              <a:rPr lang="en-US" sz="2400" dirty="0"/>
              <a:t> </a:t>
            </a:r>
            <a:r>
              <a:rPr lang="en-US" sz="2400" dirty="0" err="1"/>
              <a:t>politikaları</a:t>
            </a:r>
            <a:r>
              <a:rPr lang="en-US" sz="2400" dirty="0"/>
              <a:t> </a:t>
            </a:r>
            <a:r>
              <a:rPr lang="en-US" sz="2400" dirty="0" err="1"/>
              <a:t>geliştirmiştir</a:t>
            </a:r>
            <a:r>
              <a:rPr lang="en-US" sz="2400" dirty="0"/>
              <a:t>.
ABD </a:t>
            </a:r>
            <a:r>
              <a:rPr lang="en-US" sz="2400" dirty="0" err="1"/>
              <a:t>firmalarının</a:t>
            </a:r>
            <a:r>
              <a:rPr lang="en-US" sz="2400" dirty="0"/>
              <a:t> </a:t>
            </a:r>
            <a:r>
              <a:rPr lang="en-US" sz="2400" dirty="0" err="1"/>
              <a:t>yaklaşık</a:t>
            </a:r>
            <a:r>
              <a:rPr lang="en-US" sz="2400" dirty="0"/>
              <a:t> </a:t>
            </a:r>
            <a:r>
              <a:rPr lang="en-US" sz="2400" dirty="0" err="1"/>
              <a:t>yüzde</a:t>
            </a:r>
            <a:r>
              <a:rPr lang="en-US" sz="2400" dirty="0"/>
              <a:t> 80'i, </a:t>
            </a:r>
            <a:r>
              <a:rPr lang="en-US" sz="2400" dirty="0" err="1"/>
              <a:t>telefon</a:t>
            </a:r>
            <a:r>
              <a:rPr lang="en-US" sz="2400" dirty="0"/>
              <a:t> </a:t>
            </a:r>
            <a:r>
              <a:rPr lang="en-US" sz="2400" dirty="0" err="1"/>
              <a:t>görüşmeleri</a:t>
            </a:r>
            <a:r>
              <a:rPr lang="en-US" sz="2400" dirty="0"/>
              <a:t>, e-</a:t>
            </a:r>
            <a:r>
              <a:rPr lang="en-US" sz="2400" dirty="0" err="1"/>
              <a:t>posta</a:t>
            </a:r>
            <a:r>
              <a:rPr lang="en-US" sz="2400" dirty="0"/>
              <a:t>, </a:t>
            </a:r>
            <a:r>
              <a:rPr lang="en-US" sz="2400" dirty="0" err="1"/>
              <a:t>web'de</a:t>
            </a:r>
            <a:r>
              <a:rPr lang="en-US" sz="2400" dirty="0"/>
              <a:t> </a:t>
            </a:r>
            <a:r>
              <a:rPr lang="en-US" sz="2400" dirty="0" err="1"/>
              <a:t>gezinme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bilgisayar</a:t>
            </a:r>
            <a:r>
              <a:rPr lang="en-US" sz="2400" dirty="0"/>
              <a:t> </a:t>
            </a:r>
            <a:r>
              <a:rPr lang="en-US" sz="2400" dirty="0" err="1"/>
              <a:t>dosyaları</a:t>
            </a:r>
            <a:r>
              <a:rPr lang="en-US" sz="2400" dirty="0"/>
              <a:t> </a:t>
            </a:r>
            <a:r>
              <a:rPr lang="en-US" sz="2400" dirty="0" err="1"/>
              <a:t>dahil</a:t>
            </a:r>
            <a:r>
              <a:rPr lang="en-US" sz="2400" dirty="0"/>
              <a:t> </a:t>
            </a:r>
            <a:r>
              <a:rPr lang="en-US" sz="2400" dirty="0" err="1"/>
              <a:t>olmak</a:t>
            </a:r>
            <a:r>
              <a:rPr lang="en-US" sz="2400" dirty="0"/>
              <a:t> </a:t>
            </a:r>
            <a:r>
              <a:rPr lang="en-US" sz="2400" dirty="0" err="1"/>
              <a:t>üzere</a:t>
            </a:r>
            <a:r>
              <a:rPr lang="en-US" sz="2400" dirty="0"/>
              <a:t> </a:t>
            </a:r>
            <a:r>
              <a:rPr lang="en-US" sz="2400" dirty="0" err="1"/>
              <a:t>işteki</a:t>
            </a:r>
            <a:r>
              <a:rPr lang="en-US" sz="2400" dirty="0"/>
              <a:t> </a:t>
            </a:r>
            <a:r>
              <a:rPr lang="en-US" sz="2400" dirty="0" err="1"/>
              <a:t>çalışan</a:t>
            </a:r>
            <a:r>
              <a:rPr lang="en-US" sz="2400" dirty="0"/>
              <a:t> </a:t>
            </a:r>
            <a:r>
              <a:rPr lang="en-US" sz="2400" dirty="0" err="1"/>
              <a:t>iletişimlerini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faaliyetlerini</a:t>
            </a:r>
            <a:r>
              <a:rPr lang="en-US" sz="2400" dirty="0"/>
              <a:t> </a:t>
            </a:r>
            <a:r>
              <a:rPr lang="en-US" sz="2400" dirty="0" err="1"/>
              <a:t>kaydediyor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inceliyor</a:t>
            </a:r>
            <a:r>
              <a:rPr lang="en-US" sz="2400" dirty="0"/>
              <a:t>.
</a:t>
            </a:r>
            <a:r>
              <a:rPr lang="en-US" sz="2400" dirty="0" err="1"/>
              <a:t>İşyerinde</a:t>
            </a:r>
            <a:r>
              <a:rPr lang="en-US" sz="2400" dirty="0"/>
              <a:t> fitness </a:t>
            </a:r>
            <a:r>
              <a:rPr lang="en-US" sz="2400" dirty="0" err="1"/>
              <a:t>takipçilerinin</a:t>
            </a:r>
            <a:r>
              <a:rPr lang="en-US" sz="2400" dirty="0"/>
              <a:t> </a:t>
            </a:r>
            <a:r>
              <a:rPr lang="en-US" sz="2400" dirty="0" err="1"/>
              <a:t>kullanılması</a:t>
            </a:r>
            <a:r>
              <a:rPr lang="en-US" sz="2400" dirty="0"/>
              <a:t>, </a:t>
            </a:r>
            <a:r>
              <a:rPr lang="en-US" sz="2400" dirty="0" err="1"/>
              <a:t>potansiyel</a:t>
            </a:r>
            <a:r>
              <a:rPr lang="en-US" sz="2400" dirty="0"/>
              <a:t> yeni </a:t>
            </a:r>
            <a:r>
              <a:rPr lang="en-US" sz="2400" dirty="0" err="1"/>
              <a:t>yasal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etik</a:t>
            </a:r>
            <a:r>
              <a:rPr lang="en-US" sz="2400" dirty="0"/>
              <a:t> </a:t>
            </a:r>
            <a:r>
              <a:rPr lang="en-US" sz="2400" dirty="0" err="1"/>
              <a:t>sorunların</a:t>
            </a:r>
            <a:r>
              <a:rPr lang="en-US" sz="2400" dirty="0"/>
              <a:t> </a:t>
            </a:r>
            <a:r>
              <a:rPr lang="en-US" sz="2400" dirty="0" err="1"/>
              <a:t>önünü</a:t>
            </a:r>
            <a:r>
              <a:rPr lang="en-US" sz="2400" dirty="0"/>
              <a:t> </a:t>
            </a:r>
            <a:r>
              <a:rPr lang="en-US" sz="2400" dirty="0" err="1"/>
              <a:t>açmıştır</a:t>
            </a:r>
            <a:r>
              <a:rPr lang="en-US" sz="2400" dirty="0"/>
              <a:t>.</a:t>
            </a:r>
            <a:endParaRPr lang="en-US" sz="2600" dirty="0"/>
          </a:p>
          <a:p>
            <a:pPr>
              <a:spcBef>
                <a:spcPts val="600"/>
              </a:spcBef>
            </a:pPr>
            <a:endParaRPr lang="en-US" sz="28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82132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46062" y="1066800"/>
            <a:ext cx="8542338" cy="5804666"/>
          </a:xfrm>
        </p:spPr>
        <p:txBody>
          <a:bodyPr/>
          <a:lstStyle/>
          <a:p>
            <a:pPr lvl="1"/>
            <a:r>
              <a:rPr lang="en-US" sz="2600" dirty="0" err="1"/>
              <a:t>Gelişmiş</a:t>
            </a:r>
            <a:r>
              <a:rPr lang="en-US" sz="2600" dirty="0"/>
              <a:t> </a:t>
            </a:r>
            <a:r>
              <a:rPr lang="en-US" sz="2600" dirty="0" err="1"/>
              <a:t>gözetim</a:t>
            </a:r>
            <a:r>
              <a:rPr lang="en-US" sz="2600" dirty="0"/>
              <a:t> </a:t>
            </a:r>
            <a:r>
              <a:rPr lang="en-US" sz="2600" dirty="0" err="1"/>
              <a:t>teknolojilerinin</a:t>
            </a:r>
            <a:r>
              <a:rPr lang="en-US" sz="2600" dirty="0"/>
              <a:t> </a:t>
            </a:r>
            <a:r>
              <a:rPr lang="en-US" sz="2600" dirty="0" err="1"/>
              <a:t>yetenekleri</a:t>
            </a:r>
            <a:r>
              <a:rPr lang="en-US" sz="2600" dirty="0"/>
              <a:t> </a:t>
            </a:r>
            <a:r>
              <a:rPr lang="en-US" sz="2600" dirty="0" err="1"/>
              <a:t>nelerdir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hangi </a:t>
            </a:r>
            <a:r>
              <a:rPr lang="en-US" sz="2600" dirty="0" err="1"/>
              <a:t>etik</a:t>
            </a:r>
            <a:r>
              <a:rPr lang="en-US" sz="2600" dirty="0"/>
              <a:t> </a:t>
            </a:r>
            <a:r>
              <a:rPr lang="en-US" sz="2600" dirty="0" err="1"/>
              <a:t>sorunları</a:t>
            </a:r>
            <a:r>
              <a:rPr lang="en-US" sz="2600" dirty="0"/>
              <a:t> </a:t>
            </a:r>
            <a:r>
              <a:rPr lang="en-US" sz="2600" dirty="0" err="1"/>
              <a:t>gündeme</a:t>
            </a:r>
            <a:r>
              <a:rPr lang="en-US" sz="2600" dirty="0"/>
              <a:t> </a:t>
            </a:r>
            <a:r>
              <a:rPr lang="en-US" sz="2600" dirty="0" err="1"/>
              <a:t>getirirler</a:t>
            </a:r>
            <a:r>
              <a:rPr lang="en-US" sz="2600" dirty="0"/>
              <a:t>?
</a:t>
            </a:r>
            <a:r>
              <a:rPr lang="en-US" sz="2600" dirty="0" err="1"/>
              <a:t>Güvenlik</a:t>
            </a:r>
            <a:r>
              <a:rPr lang="en-US" sz="2600" dirty="0"/>
              <a:t> </a:t>
            </a:r>
            <a:r>
              <a:rPr lang="en-US" sz="2600" dirty="0" err="1"/>
              <a:t>kameraları</a:t>
            </a:r>
            <a:r>
              <a:rPr lang="en-US" sz="2600" dirty="0"/>
              <a:t>, </a:t>
            </a:r>
            <a:r>
              <a:rPr lang="en-US" sz="2600" dirty="0" err="1"/>
              <a:t>dünyanın</a:t>
            </a:r>
            <a:r>
              <a:rPr lang="en-US" sz="2600" dirty="0"/>
              <a:t> </a:t>
            </a:r>
            <a:r>
              <a:rPr lang="en-US" sz="2600" dirty="0" err="1"/>
              <a:t>dört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yanındaki</a:t>
            </a:r>
            <a:r>
              <a:rPr lang="en-US" sz="2600" dirty="0"/>
              <a:t> </a:t>
            </a:r>
            <a:r>
              <a:rPr lang="en-US" sz="2600" dirty="0" err="1"/>
              <a:t>büyük</a:t>
            </a:r>
            <a:r>
              <a:rPr lang="en-US" sz="2600" dirty="0"/>
              <a:t> </a:t>
            </a:r>
            <a:r>
              <a:rPr lang="en-US" sz="2600" dirty="0" err="1"/>
              <a:t>şehirlerde</a:t>
            </a:r>
            <a:r>
              <a:rPr lang="en-US" sz="2600" dirty="0"/>
              <a:t> </a:t>
            </a:r>
            <a:r>
              <a:rPr lang="en-US" sz="2600" dirty="0" err="1"/>
              <a:t>suç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terörist</a:t>
            </a:r>
            <a:r>
              <a:rPr lang="en-US" sz="2600" dirty="0"/>
              <a:t> </a:t>
            </a:r>
            <a:r>
              <a:rPr lang="en-US" sz="2600" dirty="0" err="1"/>
              <a:t>faaliyetleri</a:t>
            </a:r>
            <a:r>
              <a:rPr lang="en-US" sz="2600" dirty="0"/>
              <a:t> </a:t>
            </a:r>
            <a:r>
              <a:rPr lang="en-US" sz="2600" dirty="0" err="1"/>
              <a:t>caydırmak</a:t>
            </a:r>
            <a:r>
              <a:rPr lang="en-US" sz="2600" dirty="0"/>
              <a:t> için </a:t>
            </a:r>
            <a:r>
              <a:rPr lang="en-US" sz="2600" dirty="0" err="1"/>
              <a:t>kullanılmaktadır</a:t>
            </a:r>
            <a:r>
              <a:rPr lang="en-US" sz="2600" dirty="0"/>
              <a:t>. 
Bir </a:t>
            </a:r>
            <a:r>
              <a:rPr lang="en-US" sz="2600" dirty="0" err="1"/>
              <a:t>araç</a:t>
            </a:r>
            <a:r>
              <a:rPr lang="en-US" sz="2600" dirty="0"/>
              <a:t> </a:t>
            </a:r>
            <a:r>
              <a:rPr lang="en-US" sz="2600" dirty="0" err="1"/>
              <a:t>olay</a:t>
            </a:r>
            <a:r>
              <a:rPr lang="en-US" sz="2600" dirty="0"/>
              <a:t> </a:t>
            </a:r>
            <a:r>
              <a:rPr lang="en-US" sz="2600" dirty="0" err="1"/>
              <a:t>veri</a:t>
            </a:r>
            <a:r>
              <a:rPr lang="en-US" sz="2600" dirty="0"/>
              <a:t> </a:t>
            </a:r>
            <a:r>
              <a:rPr lang="en-US" sz="2600" dirty="0" err="1"/>
              <a:t>kaydedicisi</a:t>
            </a:r>
            <a:r>
              <a:rPr lang="en-US" sz="2600" dirty="0"/>
              <a:t> (EDR): </a:t>
            </a:r>
            <a:r>
              <a:rPr lang="en-US" sz="2600" dirty="0" err="1"/>
              <a:t>Aracın</a:t>
            </a:r>
            <a:r>
              <a:rPr lang="en-US" sz="2600" dirty="0"/>
              <a:t> </a:t>
            </a:r>
            <a:r>
              <a:rPr lang="en-US" sz="2600" dirty="0" err="1"/>
              <a:t>hava</a:t>
            </a:r>
            <a:r>
              <a:rPr lang="en-US" sz="2600" dirty="0"/>
              <a:t> </a:t>
            </a:r>
            <a:r>
              <a:rPr lang="en-US" sz="2600" dirty="0" err="1"/>
              <a:t>yastıklarını</a:t>
            </a:r>
            <a:r>
              <a:rPr lang="en-US" sz="2600" dirty="0"/>
              <a:t> </a:t>
            </a:r>
            <a:r>
              <a:rPr lang="en-US" sz="2600" dirty="0" err="1"/>
              <a:t>açacak</a:t>
            </a:r>
            <a:r>
              <a:rPr lang="en-US" sz="2600" dirty="0"/>
              <a:t> </a:t>
            </a:r>
            <a:r>
              <a:rPr lang="en-US" sz="2600" dirty="0" err="1"/>
              <a:t>kadar</a:t>
            </a:r>
            <a:r>
              <a:rPr lang="en-US" sz="2600" dirty="0"/>
              <a:t> </a:t>
            </a:r>
            <a:r>
              <a:rPr lang="en-US" sz="2600" dirty="0" err="1"/>
              <a:t>ciddi</a:t>
            </a:r>
            <a:r>
              <a:rPr lang="en-US" sz="2600" dirty="0"/>
              <a:t> </a:t>
            </a:r>
            <a:r>
              <a:rPr lang="en-US" sz="2600" dirty="0" err="1"/>
              <a:t>olan</a:t>
            </a:r>
            <a:r>
              <a:rPr lang="en-US" sz="2600" dirty="0"/>
              <a:t> </a:t>
            </a:r>
            <a:r>
              <a:rPr lang="en-US" sz="2600" dirty="0" err="1"/>
              <a:t>herhangi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araç</a:t>
            </a:r>
            <a:r>
              <a:rPr lang="en-US" sz="2600" dirty="0"/>
              <a:t> </a:t>
            </a:r>
            <a:r>
              <a:rPr lang="en-US" sz="2600" dirty="0" err="1"/>
              <a:t>kazasından</a:t>
            </a:r>
            <a:r>
              <a:rPr lang="en-US" sz="2600" dirty="0"/>
              <a:t> </a:t>
            </a:r>
            <a:r>
              <a:rPr lang="en-US" sz="2600" dirty="0" err="1"/>
              <a:t>önce</a:t>
            </a:r>
            <a:r>
              <a:rPr lang="en-US" sz="2600" dirty="0"/>
              <a:t>, </a:t>
            </a:r>
            <a:r>
              <a:rPr lang="en-US" sz="2600" dirty="0" err="1"/>
              <a:t>sırasında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sonrasında</a:t>
            </a:r>
            <a:r>
              <a:rPr lang="en-US" sz="2600" dirty="0"/>
              <a:t> </a:t>
            </a:r>
            <a:r>
              <a:rPr lang="en-US" sz="2600" dirty="0" err="1"/>
              <a:t>birkaç</a:t>
            </a:r>
            <a:r>
              <a:rPr lang="en-US" sz="2600" dirty="0"/>
              <a:t> </a:t>
            </a:r>
            <a:r>
              <a:rPr lang="en-US" sz="2600" dirty="0" err="1"/>
              <a:t>saniye</a:t>
            </a:r>
            <a:r>
              <a:rPr lang="en-US" sz="2600" dirty="0"/>
              <a:t> </a:t>
            </a:r>
            <a:r>
              <a:rPr lang="en-US" sz="2600" dirty="0" err="1"/>
              <a:t>boyunca</a:t>
            </a:r>
            <a:r>
              <a:rPr lang="en-US" sz="2600" dirty="0"/>
              <a:t> </a:t>
            </a:r>
            <a:r>
              <a:rPr lang="en-US" sz="2600" dirty="0" err="1"/>
              <a:t>verileri</a:t>
            </a:r>
            <a:r>
              <a:rPr lang="en-US" sz="2600" dirty="0"/>
              <a:t> </a:t>
            </a:r>
            <a:r>
              <a:rPr lang="en-US" sz="2600" dirty="0" err="1"/>
              <a:t>kaydeder</a:t>
            </a:r>
            <a:r>
              <a:rPr lang="en-US" sz="2600" dirty="0"/>
              <a:t>
</a:t>
            </a:r>
            <a:r>
              <a:rPr lang="en-US" sz="2600" dirty="0" err="1"/>
              <a:t>Birçok</a:t>
            </a:r>
            <a:r>
              <a:rPr lang="en-US" sz="2600" dirty="0"/>
              <a:t> </a:t>
            </a:r>
            <a:r>
              <a:rPr lang="en-US" sz="2600" dirty="0" err="1"/>
              <a:t>kişi</a:t>
            </a:r>
            <a:r>
              <a:rPr lang="en-US" sz="2600" dirty="0"/>
              <a:t>, </a:t>
            </a:r>
            <a:r>
              <a:rPr lang="en-US" sz="2600" dirty="0" err="1"/>
              <a:t>çoğu</a:t>
            </a:r>
            <a:r>
              <a:rPr lang="en-US" sz="2600" dirty="0"/>
              <a:t> </a:t>
            </a:r>
            <a:r>
              <a:rPr lang="en-US" sz="2600" dirty="0" err="1"/>
              <a:t>arabanın</a:t>
            </a:r>
            <a:r>
              <a:rPr lang="en-US" sz="2600" dirty="0"/>
              <a:t> </a:t>
            </a:r>
            <a:r>
              <a:rPr lang="en-US" sz="2600" dirty="0" err="1"/>
              <a:t>artık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EDR </a:t>
            </a:r>
            <a:r>
              <a:rPr lang="en-US" sz="2600" dirty="0" err="1"/>
              <a:t>ile</a:t>
            </a:r>
            <a:r>
              <a:rPr lang="en-US" sz="2600" dirty="0"/>
              <a:t> </a:t>
            </a:r>
            <a:r>
              <a:rPr lang="en-US" sz="2600" dirty="0" err="1"/>
              <a:t>donatıldığının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bu</a:t>
            </a:r>
            <a:r>
              <a:rPr lang="en-US" sz="2600" dirty="0"/>
              <a:t> </a:t>
            </a:r>
            <a:r>
              <a:rPr lang="en-US" sz="2600" dirty="0" err="1"/>
              <a:t>cihazdan</a:t>
            </a:r>
            <a:r>
              <a:rPr lang="en-US" sz="2600" dirty="0"/>
              <a:t> </a:t>
            </a:r>
            <a:r>
              <a:rPr lang="en-US" sz="2600" dirty="0" err="1"/>
              <a:t>gelen</a:t>
            </a:r>
            <a:r>
              <a:rPr lang="en-US" sz="2600" dirty="0"/>
              <a:t> </a:t>
            </a:r>
            <a:r>
              <a:rPr lang="en-US" sz="2600" dirty="0" err="1"/>
              <a:t>verilerin</a:t>
            </a:r>
            <a:r>
              <a:rPr lang="en-US" sz="2600" dirty="0"/>
              <a:t> </a:t>
            </a:r>
            <a:r>
              <a:rPr lang="en-US" sz="2600" dirty="0" err="1"/>
              <a:t>mahkemede</a:t>
            </a:r>
            <a:r>
              <a:rPr lang="en-US" sz="2600" dirty="0"/>
              <a:t> </a:t>
            </a:r>
            <a:r>
              <a:rPr lang="en-US" sz="2600" dirty="0" err="1"/>
              <a:t>kanıt</a:t>
            </a:r>
            <a:r>
              <a:rPr lang="en-US" sz="2600" dirty="0"/>
              <a:t> </a:t>
            </a:r>
            <a:r>
              <a:rPr lang="en-US" sz="2600" dirty="0" err="1"/>
              <a:t>olarak</a:t>
            </a:r>
            <a:r>
              <a:rPr lang="en-US" sz="2600" dirty="0"/>
              <a:t> </a:t>
            </a:r>
            <a:r>
              <a:rPr lang="en-US" sz="2600" dirty="0" err="1"/>
              <a:t>kullanılabileceğinin</a:t>
            </a:r>
            <a:r>
              <a:rPr lang="en-US" sz="2600" dirty="0"/>
              <a:t> </a:t>
            </a:r>
            <a:r>
              <a:rPr lang="en-US" sz="2600" dirty="0" err="1"/>
              <a:t>farkında</a:t>
            </a:r>
            <a:r>
              <a:rPr lang="en-US" sz="2600" dirty="0"/>
              <a:t> </a:t>
            </a:r>
            <a:r>
              <a:rPr lang="en-US" sz="2600" dirty="0" err="1"/>
              <a:t>değil</a:t>
            </a:r>
            <a:r>
              <a:rPr lang="en-US" sz="2600" dirty="0"/>
              <a:t>.
</a:t>
            </a:r>
            <a:r>
              <a:rPr lang="en-US" sz="2600" dirty="0" err="1"/>
              <a:t>Takip</a:t>
            </a:r>
            <a:r>
              <a:rPr lang="en-US" sz="2600" dirty="0"/>
              <a:t> </a:t>
            </a:r>
            <a:r>
              <a:rPr lang="en-US" sz="2600" dirty="0" err="1"/>
              <a:t>uygulamaları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kişinin</a:t>
            </a:r>
            <a:r>
              <a:rPr lang="en-US" sz="2600" dirty="0"/>
              <a:t> cep </a:t>
            </a:r>
            <a:r>
              <a:rPr lang="en-US" sz="2600" dirty="0" err="1"/>
              <a:t>telefonuna</a:t>
            </a:r>
            <a:r>
              <a:rPr lang="en-US" sz="2600" dirty="0"/>
              <a:t> </a:t>
            </a:r>
            <a:r>
              <a:rPr lang="en-US" sz="2600" dirty="0" err="1"/>
              <a:t>indirilebilir</a:t>
            </a:r>
            <a:r>
              <a:rPr lang="en-US" sz="2600" dirty="0"/>
              <a:t>; </a:t>
            </a:r>
            <a:r>
              <a:rPr lang="en-US" sz="2600" dirty="0" err="1"/>
              <a:t>Telefon</a:t>
            </a:r>
            <a:r>
              <a:rPr lang="en-US" sz="2600" dirty="0"/>
              <a:t> </a:t>
            </a:r>
            <a:r>
              <a:rPr lang="en-US" sz="2600" dirty="0" err="1"/>
              <a:t>sahibinin</a:t>
            </a:r>
            <a:r>
              <a:rPr lang="en-US" sz="2600" dirty="0"/>
              <a:t> </a:t>
            </a:r>
            <a:r>
              <a:rPr lang="en-US" sz="2600" dirty="0" err="1"/>
              <a:t>izni</a:t>
            </a:r>
            <a:r>
              <a:rPr lang="en-US" sz="2600" dirty="0"/>
              <a:t> </a:t>
            </a:r>
            <a:r>
              <a:rPr lang="en-US" sz="2600" dirty="0" err="1"/>
              <a:t>olmadan</a:t>
            </a:r>
            <a:r>
              <a:rPr lang="en-US" sz="2600" dirty="0"/>
              <a:t> </a:t>
            </a:r>
            <a:r>
              <a:rPr lang="en-US" sz="2600" dirty="0" err="1"/>
              <a:t>bunu</a:t>
            </a:r>
            <a:r>
              <a:rPr lang="en-US" sz="2600" dirty="0"/>
              <a:t> </a:t>
            </a:r>
            <a:r>
              <a:rPr lang="en-US" sz="2600" dirty="0" err="1"/>
              <a:t>yapmak</a:t>
            </a:r>
            <a:r>
              <a:rPr lang="en-US" sz="2600" dirty="0"/>
              <a:t> </a:t>
            </a:r>
            <a:r>
              <a:rPr lang="en-US" sz="2600" dirty="0" err="1"/>
              <a:t>yasa</a:t>
            </a:r>
            <a:r>
              <a:rPr lang="en-US" sz="2600" dirty="0"/>
              <a:t> </a:t>
            </a:r>
            <a:r>
              <a:rPr lang="en-US" sz="2600" dirty="0" err="1"/>
              <a:t>dışıdır</a:t>
            </a:r>
            <a:r>
              <a:rPr lang="en-US" sz="26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0" y="290459"/>
            <a:ext cx="8026400" cy="527837"/>
          </a:xfrm>
        </p:spPr>
        <p:txBody>
          <a:bodyPr/>
          <a:lstStyle/>
          <a:p>
            <a:r>
              <a:rPr lang="en-US" sz="4000" dirty="0"/>
              <a:t>Summary, Part 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2019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3676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5842</TotalTime>
  <Words>5028</Words>
  <Application>Microsoft Office PowerPoint</Application>
  <PresentationFormat>Ekran Gösterisi (4:3)</PresentationFormat>
  <Paragraphs>150</Paragraphs>
  <Slides>42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Bilgi Teknolojilerinde Etik</vt:lpstr>
      <vt:lpstr>Öğrenme Hedefleri, Bölüm 1</vt:lpstr>
      <vt:lpstr>Öğrenme Hedefleri, Bölüm 2</vt:lpstr>
      <vt:lpstr>Kuruluşlar Daha İyi Kararlar Almak İçin Kişisel Verileri Toplar</vt:lpstr>
      <vt:lpstr>Gizliliğin Korunması ve Kanun</vt:lpstr>
      <vt:lpstr>Information Privacy</vt:lpstr>
      <vt:lpstr>Gizlilik Yasaları, Uygulamalar ve Mahkeme Kararları: Finansal Veriler, Bölüm 1</vt:lpstr>
      <vt:lpstr>Privacy Laws, Applications, and Court Rulings:  Financial Data, Part 2</vt:lpstr>
      <vt:lpstr>Gizlilik Yasaları, Uygulamalar ve Mahkeme Kararları: Finansal Veriler, Bölüm 3</vt:lpstr>
      <vt:lpstr>Gizlilik Yasaları, Uygulamalar ve Mahkeme Kararları: Sağlık Bilgileri</vt:lpstr>
      <vt:lpstr>Gizlilik Yasaları, Uygulamalar ve Mahkeme Kararları: Çocukların Kişisel Verileri</vt:lpstr>
      <vt:lpstr>Gizlilik Yasaları, Uygulamalar ve Mahkeme Kararları: Elektronik Gözetim—Zaman Çizelgesi</vt:lpstr>
      <vt:lpstr>Gizlilik Yasaları, Uygulamalar ve Mahkeme Kararları: Elektronik Gözetim, Bölüm 1</vt:lpstr>
      <vt:lpstr>Gizlilik Yasaları, Uygulamalar ve Mahkeme Kararları: Elektronik Gözetim, Bölüm 2</vt:lpstr>
      <vt:lpstr>Gizlilik Yasaları, Uygulamalar ve Mahkeme Kararları: Elektronik Gözetim, Bölüm 3</vt:lpstr>
      <vt:lpstr>Gizlilik Yasaları, Uygulamalar ve Mahkeme Kararları: Elektronik Gözetim, Bölüm 4</vt:lpstr>
      <vt:lpstr>Gizlilik Yasaları, Uygulamalar ve Mahkeme Kararları: Elektronik Gözetim, Bölüm 5</vt:lpstr>
      <vt:lpstr>Gizlilik Yasaları, Uygulamalar ve Mahkeme Kararları: Elektronik Gözetim, Bölüm 6</vt:lpstr>
      <vt:lpstr>Gizlilik Yasaları, Uygulamalar ve Mahkeme Kararları: Elektronik Gözetim, Bölüm 7</vt:lpstr>
      <vt:lpstr>Gizlilik Yasaları, Uygulamalar ve Mahkeme Kararları: Elektronik Gözetim, Bölüm 8</vt:lpstr>
      <vt:lpstr>Gizlilik Yasaları, Uygulamalar ve Mahkeme Kararları: Elektronik Gözetim, Bölüm 9</vt:lpstr>
      <vt:lpstr>Gizlilik Yasaları, Uygulamalar ve Mahkeme Kararları: Adil Bilgi Uygulamaları, Bölüm 1</vt:lpstr>
      <vt:lpstr>Gizlilik Yasaları, Uygulamalar ve Mahkeme Kararları: Adil Bilgi Uygulamaları, Bölüm 2</vt:lpstr>
      <vt:lpstr>Gizlilik Yasaları, Uygulamalar ve Mahkeme Kararları: Adil Bilgi Uygulamaları, Bölüm 3</vt:lpstr>
      <vt:lpstr>Gizlilik Yasaları, Uygulamalar ve Mahkeme Kararları: Adil Bilgi Uygulamaları, Bölüm 4</vt:lpstr>
      <vt:lpstr>Gizlilik Yasaları, Uygulamalar ve Mahkeme Kararları: Devlet Kayıtlarına Erişim</vt:lpstr>
      <vt:lpstr>Temel Gizlilik ve Anonimlik Sorunları: Tüketici Profili Oluşturma, Bölüm 1</vt:lpstr>
      <vt:lpstr>Temel Gizlilik ve Anonimlik Sorunları: Tüketici Profili Oluşturma, Bölüm 2</vt:lpstr>
      <vt:lpstr>Temel Gizlilik ve Anonimlik Sorunları: Elektronik Keşif</vt:lpstr>
      <vt:lpstr>Temel Gizlilik ve Anonimlik Sorunları: İşyeri İzleme</vt:lpstr>
      <vt:lpstr>Temel Gizlilik ve Anonimlik Sorunları: Gelişmiş Gözetim Teknolojisi, Bölüm 1</vt:lpstr>
      <vt:lpstr>Temel Gizlilik ve Anonimlik Sorunları: Gelişmiş Gözetim Teknolojisi, Bölüm 2</vt:lpstr>
      <vt:lpstr>Temel Gizlilik ve Anonimlik Sorunları: Gelişmiş Gözetim Teknolojisi, Bölüm 3</vt:lpstr>
      <vt:lpstr>Özet, Bölüm 1</vt:lpstr>
      <vt:lpstr>Özet, Bölüm 2</vt:lpstr>
      <vt:lpstr>Özet, Bölüm 3</vt:lpstr>
      <vt:lpstr>Özet, Bölüm 4</vt:lpstr>
      <vt:lpstr>Summary, Part 5</vt:lpstr>
      <vt:lpstr>Summary, Part 6</vt:lpstr>
      <vt:lpstr>Summary, Part 7</vt:lpstr>
      <vt:lpstr>Summary, Part 8</vt:lpstr>
      <vt:lpstr>Summary, Part 9</vt:lpstr>
    </vt:vector>
  </TitlesOfParts>
  <Company>Course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karahocaa</cp:lastModifiedBy>
  <cp:revision>362</cp:revision>
  <cp:lastPrinted>2010-11-12T17:54:40Z</cp:lastPrinted>
  <dcterms:created xsi:type="dcterms:W3CDTF">2007-02-15T20:50:52Z</dcterms:created>
  <dcterms:modified xsi:type="dcterms:W3CDTF">2023-10-22T09:47:28Z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1933890983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Alyssa.Pratt@cengage.com</vt:lpwstr>
  </property>
  <property fmtid="{D5CDD505-2E9C-101B-9397-08002B2CF9AE}" pid="6" name="_AuthorEmailDisplayName">
    <vt:lpwstr>Pratt, Alyssa</vt:lpwstr>
  </property>
  <property fmtid="{D5CDD505-2E9C-101B-9397-08002B2CF9AE}" pid="7" name="_PreviousAdHocReviewCycleID">
    <vt:i4>-685122576</vt:i4>
  </property>
</Properties>
</file>