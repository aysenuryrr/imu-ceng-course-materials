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51" r:id="rId1"/>
  </p:sldMasterIdLst>
  <p:notesMasterIdLst>
    <p:notesMasterId r:id="rId46"/>
  </p:notesMasterIdLst>
  <p:handoutMasterIdLst>
    <p:handoutMasterId r:id="rId47"/>
  </p:handoutMasterIdLst>
  <p:sldIdLst>
    <p:sldId id="264" r:id="rId2"/>
    <p:sldId id="261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91" r:id="rId18"/>
    <p:sldId id="280" r:id="rId19"/>
    <p:sldId id="281" r:id="rId20"/>
    <p:sldId id="282" r:id="rId21"/>
    <p:sldId id="283" r:id="rId22"/>
    <p:sldId id="284" r:id="rId23"/>
    <p:sldId id="285" r:id="rId24"/>
    <p:sldId id="286" r:id="rId25"/>
    <p:sldId id="287" r:id="rId26"/>
    <p:sldId id="288" r:id="rId27"/>
    <p:sldId id="289" r:id="rId28"/>
    <p:sldId id="290" r:id="rId29"/>
    <p:sldId id="292" r:id="rId30"/>
    <p:sldId id="293" r:id="rId31"/>
    <p:sldId id="294" r:id="rId32"/>
    <p:sldId id="295" r:id="rId33"/>
    <p:sldId id="296" r:id="rId34"/>
    <p:sldId id="297" r:id="rId35"/>
    <p:sldId id="298" r:id="rId36"/>
    <p:sldId id="299" r:id="rId37"/>
    <p:sldId id="300" r:id="rId38"/>
    <p:sldId id="301" r:id="rId39"/>
    <p:sldId id="302" r:id="rId40"/>
    <p:sldId id="303" r:id="rId41"/>
    <p:sldId id="304" r:id="rId42"/>
    <p:sldId id="306" r:id="rId43"/>
    <p:sldId id="307" r:id="rId44"/>
    <p:sldId id="308" r:id="rId45"/>
  </p:sldIdLst>
  <p:sldSz cx="9144000" cy="6858000" type="screen4x3"/>
  <p:notesSz cx="9372600" cy="70866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Nanette Stillwell" initials="NBS" lastIdx="5" clrIdx="0"/>
  <p:cmAuthor id="1" name="Gerald Titchener" initials="GT" lastIdx="1" clrIdx="1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70A5"/>
    <a:srgbClr val="FFFFFF"/>
    <a:srgbClr val="96CDEE"/>
    <a:srgbClr val="0F3F5D"/>
    <a:srgbClr val="01773A"/>
    <a:srgbClr val="156B13"/>
    <a:srgbClr val="008000"/>
    <a:srgbClr val="F20000"/>
    <a:srgbClr val="66CCFF"/>
    <a:srgbClr val="3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493" autoAdjust="0"/>
    <p:restoredTop sz="93886" autoAdjust="0"/>
  </p:normalViewPr>
  <p:slideViewPr>
    <p:cSldViewPr>
      <p:cViewPr>
        <p:scale>
          <a:sx n="70" d="100"/>
          <a:sy n="70" d="100"/>
        </p:scale>
        <p:origin x="426" y="-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4832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handoutMaster" Target="handoutMasters/handout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308971" y="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/>
          <a:lstStyle>
            <a:lvl1pPr algn="r">
              <a:defRPr sz="1200"/>
            </a:lvl1pPr>
          </a:lstStyle>
          <a:p>
            <a:fld id="{4EE4060F-EC6E-45B5-96F1-A60F0585115B}" type="datetimeFigureOut">
              <a:rPr lang="en-US" smtClean="0"/>
              <a:pPr/>
              <a:t>8/16/2017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73104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308971" y="673104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 anchor="b"/>
          <a:lstStyle>
            <a:lvl1pPr algn="r">
              <a:defRPr sz="1200"/>
            </a:lvl1pPr>
          </a:lstStyle>
          <a:p>
            <a:fld id="{A987596C-5E44-4393-BE44-DB7D499825F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42064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/>
          <a:lstStyle>
            <a:lvl1pPr algn="l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308971" y="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/>
          <a:lstStyle>
            <a:lvl1pPr algn="r">
              <a:defRPr sz="1200"/>
            </a:lvl1pPr>
          </a:lstStyle>
          <a:p>
            <a:pPr>
              <a:defRPr/>
            </a:pPr>
            <a:fld id="{46950642-C6F2-4E46-90C1-0B12B643B3D7}" type="datetimeFigureOut">
              <a:rPr lang="en-US"/>
              <a:pPr>
                <a:defRPr/>
              </a:pPr>
              <a:t>8/16/2017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14650" y="531813"/>
            <a:ext cx="3543300" cy="26574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046" tIns="47023" rIns="94046" bIns="47023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37260" y="3366135"/>
            <a:ext cx="7498080" cy="3188970"/>
          </a:xfrm>
          <a:prstGeom prst="rect">
            <a:avLst/>
          </a:prstGeom>
        </p:spPr>
        <p:txBody>
          <a:bodyPr vert="horz" lIns="94046" tIns="47023" rIns="94046" bIns="47023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73104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308971" y="673104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 anchor="b"/>
          <a:lstStyle>
            <a:lvl1pPr algn="r">
              <a:defRPr sz="1200"/>
            </a:lvl1pPr>
          </a:lstStyle>
          <a:p>
            <a:pPr>
              <a:defRPr/>
            </a:pPr>
            <a:fld id="{CAA8545F-A231-4F50-B1F1-95F56EBB643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64050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jpe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8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Title_Slide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134" y="254000"/>
            <a:ext cx="8713465" cy="652675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8500" y="2712698"/>
            <a:ext cx="7747000" cy="377026"/>
          </a:xfrm>
        </p:spPr>
        <p:txBody>
          <a:bodyPr anchor="b"/>
          <a:lstStyle>
            <a:lvl1pPr algn="ctr">
              <a:defRPr sz="28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8500" y="3352800"/>
            <a:ext cx="7747000" cy="235962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3482340" y="223520"/>
            <a:ext cx="2125980" cy="9855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Rules_Single_A.png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627124" y="481304"/>
            <a:ext cx="10034016" cy="99113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6812283" y="4885106"/>
            <a:ext cx="2080291" cy="1926127"/>
          </a:xfrm>
          <a:custGeom>
            <a:avLst/>
            <a:gdLst>
              <a:gd name="connsiteX0" fmla="*/ 0 w 1973580"/>
              <a:gd name="connsiteY0" fmla="*/ 0 h 1389864"/>
              <a:gd name="connsiteX1" fmla="*/ 1973580 w 1973580"/>
              <a:gd name="connsiteY1" fmla="*/ 0 h 1389864"/>
              <a:gd name="connsiteX2" fmla="*/ 1973580 w 1973580"/>
              <a:gd name="connsiteY2" fmla="*/ 1389864 h 1389864"/>
              <a:gd name="connsiteX3" fmla="*/ 0 w 1973580"/>
              <a:gd name="connsiteY3" fmla="*/ 1389864 h 1389864"/>
              <a:gd name="connsiteX4" fmla="*/ 0 w 1973580"/>
              <a:gd name="connsiteY4" fmla="*/ 0 h 1389864"/>
              <a:gd name="connsiteX0" fmla="*/ 0 w 1973580"/>
              <a:gd name="connsiteY0" fmla="*/ 0 h 1389864"/>
              <a:gd name="connsiteX1" fmla="*/ 1935480 w 1973580"/>
              <a:gd name="connsiteY1" fmla="*/ 60960 h 1389864"/>
              <a:gd name="connsiteX2" fmla="*/ 1973580 w 1973580"/>
              <a:gd name="connsiteY2" fmla="*/ 1389864 h 1389864"/>
              <a:gd name="connsiteX3" fmla="*/ 0 w 1973580"/>
              <a:gd name="connsiteY3" fmla="*/ 1389864 h 1389864"/>
              <a:gd name="connsiteX4" fmla="*/ 0 w 1973580"/>
              <a:gd name="connsiteY4" fmla="*/ 0 h 1389864"/>
              <a:gd name="connsiteX0" fmla="*/ 0 w 1973580"/>
              <a:gd name="connsiteY0" fmla="*/ 54731 h 1444595"/>
              <a:gd name="connsiteX1" fmla="*/ 1577340 w 1973580"/>
              <a:gd name="connsiteY1" fmla="*/ 1391 h 1444595"/>
              <a:gd name="connsiteX2" fmla="*/ 1935480 w 1973580"/>
              <a:gd name="connsiteY2" fmla="*/ 115691 h 1444595"/>
              <a:gd name="connsiteX3" fmla="*/ 1973580 w 1973580"/>
              <a:gd name="connsiteY3" fmla="*/ 1444595 h 1444595"/>
              <a:gd name="connsiteX4" fmla="*/ 0 w 1973580"/>
              <a:gd name="connsiteY4" fmla="*/ 1444595 h 1444595"/>
              <a:gd name="connsiteX5" fmla="*/ 0 w 1973580"/>
              <a:gd name="connsiteY5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0 w 2080291"/>
              <a:gd name="connsiteY6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60960 w 2080291"/>
              <a:gd name="connsiteY6" fmla="*/ 1030092 h 1444595"/>
              <a:gd name="connsiteX7" fmla="*/ 0 w 2080291"/>
              <a:gd name="connsiteY7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144780 w 2080291"/>
              <a:gd name="connsiteY6" fmla="*/ 999612 h 1444595"/>
              <a:gd name="connsiteX7" fmla="*/ 0 w 2080291"/>
              <a:gd name="connsiteY7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144780 w 2080291"/>
              <a:gd name="connsiteY6" fmla="*/ 999612 h 1444595"/>
              <a:gd name="connsiteX7" fmla="*/ 0 w 2080291"/>
              <a:gd name="connsiteY7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99060 w 2080291"/>
              <a:gd name="connsiteY6" fmla="*/ 991992 h 1444595"/>
              <a:gd name="connsiteX7" fmla="*/ 0 w 2080291"/>
              <a:gd name="connsiteY7" fmla="*/ 54731 h 1444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80291" h="1444595">
                <a:moveTo>
                  <a:pt x="0" y="54731"/>
                </a:moveTo>
                <a:cubicBezTo>
                  <a:pt x="520700" y="67431"/>
                  <a:pt x="1056640" y="-11309"/>
                  <a:pt x="1577340" y="1391"/>
                </a:cubicBezTo>
                <a:lnTo>
                  <a:pt x="1935480" y="115691"/>
                </a:lnTo>
                <a:cubicBezTo>
                  <a:pt x="1932940" y="209671"/>
                  <a:pt x="2082800" y="334132"/>
                  <a:pt x="2080260" y="428112"/>
                </a:cubicBezTo>
                <a:lnTo>
                  <a:pt x="1973580" y="1444595"/>
                </a:lnTo>
                <a:lnTo>
                  <a:pt x="0" y="1444595"/>
                </a:lnTo>
                <a:cubicBezTo>
                  <a:pt x="0" y="1319127"/>
                  <a:pt x="99060" y="1117460"/>
                  <a:pt x="99060" y="991992"/>
                </a:cubicBezTo>
                <a:lnTo>
                  <a:pt x="0" y="5473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 descr="Audio.png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5369" y="5389519"/>
            <a:ext cx="987056" cy="104094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76" r="23794"/>
          <a:stretch/>
        </p:blipFill>
        <p:spPr>
          <a:xfrm>
            <a:off x="8674488" y="5121741"/>
            <a:ext cx="275507" cy="710099"/>
          </a:xfrm>
          <a:prstGeom prst="rect">
            <a:avLst/>
          </a:prstGeom>
        </p:spPr>
      </p:pic>
      <p:pic>
        <p:nvPicPr>
          <p:cNvPr id="13" name="Picture 12" descr="Swirl_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688654">
            <a:off x="7441068" y="6393019"/>
            <a:ext cx="386047" cy="285072"/>
          </a:xfrm>
          <a:prstGeom prst="rect">
            <a:avLst/>
          </a:prstGeom>
        </p:spPr>
      </p:pic>
      <p:pic>
        <p:nvPicPr>
          <p:cNvPr id="14" name="Picture 13" descr="Swirl_3.png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073124">
            <a:off x="7908376" y="5449329"/>
            <a:ext cx="591497" cy="245691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39373" y="5831840"/>
            <a:ext cx="672857" cy="745880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>
          <a:xfrm>
            <a:off x="1204120" y="6363869"/>
            <a:ext cx="6201666" cy="366183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 dirty="0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6415635"/>
            <a:ext cx="1151034" cy="354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084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1600" y="2228188"/>
            <a:ext cx="6172200" cy="377026"/>
          </a:xfrm>
        </p:spPr>
        <p:txBody>
          <a:bodyPr anchor="ctr"/>
          <a:lstStyle>
            <a:lvl1pPr algn="l">
              <a:defRPr sz="2800" b="0" cap="none" baseline="0">
                <a:solidFill>
                  <a:srgbClr val="055C9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41600" y="2942670"/>
            <a:ext cx="6172200" cy="265457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6" name="Picture 5" descr="Rules_Single_A.pn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2" y="6487629"/>
            <a:ext cx="11423745" cy="90835"/>
          </a:xfrm>
          <a:prstGeom prst="rect">
            <a:avLst/>
          </a:prstGeom>
        </p:spPr>
      </p:pic>
      <p:pic>
        <p:nvPicPr>
          <p:cNvPr id="4" name="Picture 3" descr="Audio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07" y="361953"/>
            <a:ext cx="1840495" cy="1940983"/>
          </a:xfrm>
          <a:prstGeom prst="rect">
            <a:avLst/>
          </a:prstGeom>
        </p:spPr>
      </p:pic>
      <p:pic>
        <p:nvPicPr>
          <p:cNvPr id="11" name="Picture 10" descr="Swirl_3.png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69126">
            <a:off x="1431691" y="1916271"/>
            <a:ext cx="908570" cy="670924"/>
          </a:xfrm>
          <a:prstGeom prst="rect">
            <a:avLst/>
          </a:prstGeom>
        </p:spPr>
      </p:pic>
      <p:pic>
        <p:nvPicPr>
          <p:cNvPr id="12" name="Picture 11" descr="Swirl_2.png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873741" flipH="1">
            <a:off x="218018" y="3551101"/>
            <a:ext cx="795867" cy="83325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879649" y="2604920"/>
            <a:ext cx="1101550" cy="1221097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04" y="4534755"/>
            <a:ext cx="596838" cy="795784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76" r="23794"/>
          <a:stretch/>
        </p:blipFill>
        <p:spPr>
          <a:xfrm>
            <a:off x="737542" y="4804753"/>
            <a:ext cx="252342" cy="650393"/>
          </a:xfrm>
          <a:prstGeom prst="rect">
            <a:avLst/>
          </a:prstGeom>
        </p:spPr>
      </p:pic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>
          <a:xfrm>
            <a:off x="1597682" y="6578465"/>
            <a:ext cx="6781693" cy="244535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 dirty="0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18720" y="6363035"/>
            <a:ext cx="1400289" cy="430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735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6258"/>
            <a:ext cx="8026400" cy="29623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7" name="Picture 6" descr="Rules_Single_B.pn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3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2" y="6487629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2" y="6578465"/>
            <a:ext cx="6781693" cy="244535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7177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610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06258"/>
            <a:ext cx="8026400" cy="29623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8" name="Picture 7" descr="Rules_Single_B.pn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3"/>
            <a:ext cx="628992" cy="697255"/>
          </a:xfrm>
          <a:prstGeom prst="rect">
            <a:avLst/>
          </a:prstGeom>
        </p:spPr>
      </p:pic>
      <p:pic>
        <p:nvPicPr>
          <p:cNvPr id="22" name="Picture 21" descr="Rules_Single_A.png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2" y="6487629"/>
            <a:ext cx="11423745" cy="90835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1597682" y="6578465"/>
            <a:ext cx="6781693" cy="244535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0488" y="6305978"/>
            <a:ext cx="1403024" cy="431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393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647033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5125" y="1538818"/>
            <a:ext cx="8415338" cy="14129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8376166" y="6513743"/>
            <a:ext cx="312906" cy="215444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B40067-BD2A-418A-98BB-08A98047DC4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5125" y="480785"/>
            <a:ext cx="8415338" cy="296235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65126" y="6611007"/>
            <a:ext cx="8014247" cy="2119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4092161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2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914400" rtl="0" eaLnBrk="1" latinLnBrk="0" hangingPunct="1">
        <a:lnSpc>
          <a:spcPct val="95000"/>
        </a:lnSpc>
        <a:spcBef>
          <a:spcPts val="12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00050" indent="-171450" algn="l" defTabSz="914400" rtl="0" eaLnBrk="1" latinLnBrk="0" hangingPunct="1">
        <a:lnSpc>
          <a:spcPct val="95000"/>
        </a:lnSpc>
        <a:spcBef>
          <a:spcPts val="6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71500" indent="-114300" algn="l" defTabSz="914400" rtl="0" eaLnBrk="1" latinLnBrk="0" hangingPunct="1">
        <a:lnSpc>
          <a:spcPct val="95000"/>
        </a:lnSpc>
        <a:spcBef>
          <a:spcPct val="20000"/>
        </a:spcBef>
        <a:buClr>
          <a:schemeClr val="tx1">
            <a:lumMod val="75000"/>
            <a:lumOff val="25000"/>
          </a:schemeClr>
        </a:buClr>
        <a:buFont typeface="Arial" pitchFamily="34" charset="0"/>
        <a:buChar char="-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2950" indent="-114300" algn="l" defTabSz="914400" rtl="0" eaLnBrk="1" latinLnBrk="0" hangingPunct="1">
        <a:lnSpc>
          <a:spcPct val="95000"/>
        </a:lnSpc>
        <a:spcBef>
          <a:spcPct val="20000"/>
        </a:spcBef>
        <a:buFont typeface="Arial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14400" indent="-114300" algn="l" defTabSz="914400" rtl="0" eaLnBrk="1" latinLnBrk="0" hangingPunct="1">
        <a:lnSpc>
          <a:spcPct val="95000"/>
        </a:lnSpc>
        <a:spcBef>
          <a:spcPct val="20000"/>
        </a:spcBef>
        <a:buFont typeface="Arial" pitchFamily="34" charset="0"/>
        <a:buChar char="-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828800"/>
            <a:ext cx="7747000" cy="620170"/>
          </a:xfrm>
        </p:spPr>
        <p:txBody>
          <a:bodyPr anchor="ctr"/>
          <a:lstStyle/>
          <a:p>
            <a:r>
              <a:rPr lang="en-US" sz="4700" b="1" dirty="0"/>
              <a:t>Ethics in Information Technology</a:t>
            </a:r>
            <a:endParaRPr lang="en-US" sz="47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3124200"/>
            <a:ext cx="7747000" cy="2326021"/>
          </a:xfrm>
        </p:spPr>
        <p:txBody>
          <a:bodyPr/>
          <a:lstStyle/>
          <a:p>
            <a:r>
              <a:rPr lang="en-US" sz="3400" dirty="0"/>
              <a:t>Chapter 3</a:t>
            </a:r>
          </a:p>
          <a:p>
            <a:r>
              <a:rPr lang="en-US" sz="3800" b="1" dirty="0"/>
              <a:t>Cyberattacks and Cybersecurity</a:t>
            </a:r>
          </a:p>
          <a:p>
            <a:endParaRPr lang="en-US" sz="1050" b="1" dirty="0"/>
          </a:p>
          <a:p>
            <a:endParaRPr lang="en-US" sz="1050" b="1" dirty="0"/>
          </a:p>
          <a:p>
            <a:r>
              <a:rPr lang="en-US" sz="2400" b="1" dirty="0">
                <a:solidFill>
                  <a:schemeClr val="accent2"/>
                </a:solidFill>
              </a:rPr>
              <a:t>George W. Reynolds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1066801" y="6477000"/>
            <a:ext cx="6248400" cy="244535"/>
          </a:xfrm>
        </p:spPr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146048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5131" y="460303"/>
            <a:ext cx="5528860" cy="523220"/>
          </a:xfrm>
        </p:spPr>
        <p:txBody>
          <a:bodyPr/>
          <a:lstStyle/>
          <a:p>
            <a:r>
              <a:rPr lang="en-US" sz="4000" dirty="0"/>
              <a:t>Learning Objectives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type="body" idx="1"/>
          </p:nvPr>
        </p:nvSpPr>
        <p:spPr>
          <a:xfrm>
            <a:off x="2425131" y="1196638"/>
            <a:ext cx="6337869" cy="3908762"/>
          </a:xfrm>
        </p:spPr>
        <p:txBody>
          <a:bodyPr/>
          <a:lstStyle/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Why are computer incidents so prevalent, and what are their effects?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What can be done to implement a strong security program to prevent cyberattacks?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What actions must be taken in the event of a successful security intrusion?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4282897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65125" y="1219200"/>
            <a:ext cx="8415338" cy="4470455"/>
          </a:xfrm>
        </p:spPr>
        <p:txBody>
          <a:bodyPr/>
          <a:lstStyle/>
          <a:p>
            <a:r>
              <a:rPr lang="en-US" sz="2800" dirty="0"/>
              <a:t>Making decisions regarding IT security involves weighing complex trade-offs: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How much effort and money should be spent to safeguard against computer crime?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What should be done if recommended IT security safeguards make conducting business more difficult, resulting in lost sales and increased costs?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If a firm is a victim of a cybercrime, should it pursue prosecution of the criminals, maintain a low profile to avoid negative publicity, inform affected customers, or take some other action?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The Threat Landscape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214668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143000"/>
            <a:ext cx="8415338" cy="5178341"/>
          </a:xfrm>
        </p:spPr>
        <p:txBody>
          <a:bodyPr/>
          <a:lstStyle/>
          <a:p>
            <a:r>
              <a:rPr lang="en-US" altLang="en-US" sz="2800" dirty="0"/>
              <a:t>Increasing complexity increases vulnerability</a:t>
            </a:r>
          </a:p>
          <a:p>
            <a:pPr lvl="1">
              <a:spcBef>
                <a:spcPts val="300"/>
              </a:spcBef>
              <a:buClr>
                <a:schemeClr val="accent2"/>
              </a:buClr>
            </a:pPr>
            <a:r>
              <a:rPr lang="en-US" altLang="en-US" sz="2600" dirty="0"/>
              <a:t>As more devices are added, the number of network entry points grows, increasing security risks</a:t>
            </a:r>
          </a:p>
          <a:p>
            <a:r>
              <a:rPr lang="en-US" sz="2800" dirty="0"/>
              <a:t>Expanding and changing systems introduce new risks: IT organizations must:</a:t>
            </a:r>
          </a:p>
          <a:p>
            <a:pPr lvl="1">
              <a:spcBef>
                <a:spcPts val="300"/>
              </a:spcBef>
              <a:buClr>
                <a:schemeClr val="accent2"/>
              </a:buClr>
            </a:pPr>
            <a:r>
              <a:rPr lang="en-US" altLang="en-US" sz="2600" dirty="0"/>
              <a:t>Keep up with technological change</a:t>
            </a:r>
          </a:p>
          <a:p>
            <a:pPr lvl="1">
              <a:spcBef>
                <a:spcPts val="300"/>
              </a:spcBef>
              <a:buClr>
                <a:schemeClr val="accent2"/>
              </a:buClr>
            </a:pPr>
            <a:r>
              <a:rPr lang="en-US" altLang="en-US" sz="2600" dirty="0"/>
              <a:t>Perform ongoing security assessments</a:t>
            </a:r>
          </a:p>
          <a:p>
            <a:pPr lvl="1">
              <a:spcBef>
                <a:spcPts val="300"/>
              </a:spcBef>
              <a:buClr>
                <a:schemeClr val="accent2"/>
              </a:buClr>
            </a:pPr>
            <a:r>
              <a:rPr lang="en-US" altLang="en-US" sz="2600" dirty="0"/>
              <a:t>Implement approaches for dealing with new risks</a:t>
            </a:r>
          </a:p>
          <a:p>
            <a:r>
              <a:rPr lang="en-US" altLang="en-US" sz="2800" dirty="0"/>
              <a:t>Increasing prevalence of BYOD policies</a:t>
            </a:r>
          </a:p>
          <a:p>
            <a:pPr lvl="1">
              <a:spcBef>
                <a:spcPts val="300"/>
              </a:spcBef>
              <a:buClr>
                <a:schemeClr val="accent2"/>
              </a:buClr>
            </a:pPr>
            <a:r>
              <a:rPr lang="en-US" altLang="en-US" sz="2600" b="1" dirty="0"/>
              <a:t>Bring your own device (BYOD): </a:t>
            </a:r>
            <a:r>
              <a:rPr lang="en-US" altLang="en-US" sz="2600" dirty="0"/>
              <a:t>Business policy that </a:t>
            </a:r>
            <a:br>
              <a:rPr lang="en-US" altLang="en-US" sz="2600" dirty="0"/>
            </a:br>
            <a:r>
              <a:rPr lang="en-US" altLang="en-US" sz="2600" dirty="0"/>
              <a:t>permits employees to use their own mobile devices to access company computing resources</a:t>
            </a:r>
            <a:endParaRPr lang="en-US" sz="26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343229"/>
            <a:ext cx="8026400" cy="422295"/>
          </a:xfrm>
        </p:spPr>
        <p:txBody>
          <a:bodyPr/>
          <a:lstStyle/>
          <a:p>
            <a:r>
              <a:rPr lang="en-US" altLang="en-US" sz="3200" dirty="0"/>
              <a:t>Why Computer Incidents Are So Prevalent, Part 1</a:t>
            </a:r>
            <a:endParaRPr lang="en-US" sz="3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0547504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538818"/>
            <a:ext cx="8245476" cy="4445832"/>
          </a:xfrm>
        </p:spPr>
        <p:txBody>
          <a:bodyPr/>
          <a:lstStyle/>
          <a:p>
            <a:r>
              <a:rPr lang="en-US" sz="2800" dirty="0"/>
              <a:t>Growing </a:t>
            </a:r>
            <a:r>
              <a:rPr lang="en-US" altLang="en-US" sz="2800" dirty="0"/>
              <a:t>reliance on commercial software with known vulnerabilities</a:t>
            </a:r>
          </a:p>
          <a:p>
            <a:pPr lvl="1">
              <a:buClr>
                <a:schemeClr val="accent2"/>
              </a:buClr>
            </a:pPr>
            <a:r>
              <a:rPr lang="en-US" altLang="en-US" sz="2600" b="1" dirty="0"/>
              <a:t>Exploit:</a:t>
            </a:r>
            <a:r>
              <a:rPr lang="en-US" altLang="en-US" sz="2600" dirty="0"/>
              <a:t> An attack on an information system that takes advantage of a particular system vulnerability</a:t>
            </a:r>
          </a:p>
          <a:p>
            <a:pPr lvl="1">
              <a:buClr>
                <a:schemeClr val="accent2"/>
              </a:buClr>
            </a:pPr>
            <a:r>
              <a:rPr lang="en-US" altLang="en-US" sz="2600" b="1" dirty="0"/>
              <a:t>Zero-day attack: </a:t>
            </a:r>
            <a:r>
              <a:rPr lang="en-US" altLang="en-US" sz="2600" dirty="0"/>
              <a:t>Takes place before the security community or software developer becomes aware of </a:t>
            </a:r>
            <a:br>
              <a:rPr lang="en-US" altLang="en-US" sz="2600" dirty="0"/>
            </a:br>
            <a:r>
              <a:rPr lang="en-US" altLang="en-US" sz="2600" dirty="0"/>
              <a:t>and repairs a vulnerability</a:t>
            </a:r>
          </a:p>
          <a:p>
            <a:r>
              <a:rPr lang="en-US" altLang="en-US" sz="2800" dirty="0"/>
              <a:t>Increasing sophistication of those who would do harm</a:t>
            </a:r>
          </a:p>
          <a:p>
            <a:endParaRPr lang="en-US" altLang="en-US" sz="2800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343228"/>
            <a:ext cx="8026400" cy="422295"/>
          </a:xfrm>
        </p:spPr>
        <p:txBody>
          <a:bodyPr/>
          <a:lstStyle/>
          <a:p>
            <a:r>
              <a:rPr lang="en-US" altLang="en-US" sz="3200" dirty="0"/>
              <a:t>Why Computer Incidents Are So Prevalent, Part 2</a:t>
            </a: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8063917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 descr="Table 3-1: This table presents a list of type of perpetrators of computer crime, along with descriptions. &#10;Black hat hacker: Someone who violates computer or Internet security maliciously or for illegal personal gain.&#10;Cracker: An individual who causes problems, steals data, and corrupts systems.&#10;Malicious insider: An employee or contractor who attempts to gain financially and/or disrupt a company’s information systems.&#10;Industrial spy: An individual who captures trade secrets to gain an unfair competitive advantage.&#10;Cybercriminal: Someone who attacks a computer system for financial gain. &#10;Hacktivist: An individual whose goal is to promote a political ideology.&#10;Cyberterrorist: Someone who attempts to destroy government infrastructure, financial institutions, and other corporations, utilities, and emergency response units.&#10;&#10;&#10;&#10;&#10;&#10;&#10;&#10;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0483880"/>
              </p:ext>
            </p:extLst>
          </p:nvPr>
        </p:nvGraphicFramePr>
        <p:xfrm>
          <a:off x="228600" y="1219200"/>
          <a:ext cx="8686799" cy="499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6129">
                  <a:extLst>
                    <a:ext uri="{9D8B030D-6E8A-4147-A177-3AD203B41FA5}">
                      <a16:colId xmlns:a16="http://schemas.microsoft.com/office/drawing/2014/main" val="323376496"/>
                    </a:ext>
                  </a:extLst>
                </a:gridCol>
                <a:gridCol w="6310670">
                  <a:extLst>
                    <a:ext uri="{9D8B030D-6E8A-4147-A177-3AD203B41FA5}">
                      <a16:colId xmlns:a16="http://schemas.microsoft.com/office/drawing/2014/main" val="39215569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Type of Perpetrator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8887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Black</a:t>
                      </a:r>
                      <a:r>
                        <a:rPr lang="en-US" sz="2000" baseline="0" dirty="0"/>
                        <a:t> hat hacker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Someone who violates computer or Internet security maliciously or for illegal personal gain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8601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Cracker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An individual who causes problems, steals data, and corrupts systems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20707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Malicious insider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An employee or contractor who attempts to gain financially and/or disrupt a company’s information systems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7608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Industrial</a:t>
                      </a:r>
                      <a:r>
                        <a:rPr lang="en-US" sz="2000" baseline="0" dirty="0"/>
                        <a:t> spy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An individual who captures trade secrets to gain an unfair competitive advantage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9066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Cybercriminal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Someone who attacks a computer system for financial gain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90702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Hacktivist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An individual whose goal is to promote a political ideology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3820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Cyberterrorist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Someone who attempts to destroy government infrastructure, financial institutions, and other</a:t>
                      </a:r>
                      <a:r>
                        <a:rPr lang="en-US" sz="2000" baseline="0" dirty="0"/>
                        <a:t> </a:t>
                      </a:r>
                      <a:r>
                        <a:rPr lang="en-US" sz="2000" dirty="0"/>
                        <a:t>corporations, utilities, and emergency response units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3835331"/>
                  </a:ext>
                </a:extLst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316843"/>
            <a:ext cx="8026400" cy="475066"/>
          </a:xfrm>
        </p:spPr>
        <p:txBody>
          <a:bodyPr/>
          <a:lstStyle/>
          <a:p>
            <a:r>
              <a:rPr lang="en-US" sz="3600" dirty="0"/>
              <a:t>Classifying Perpetrators of Computer Crime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5857864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294068"/>
            <a:ext cx="8169275" cy="5259132"/>
          </a:xfrm>
        </p:spPr>
        <p:txBody>
          <a:bodyPr/>
          <a:lstStyle/>
          <a:p>
            <a:r>
              <a:rPr lang="en-US" sz="2700" b="1" dirty="0"/>
              <a:t>Ransomware: </a:t>
            </a:r>
            <a:r>
              <a:rPr lang="en-US" sz="2700" dirty="0"/>
              <a:t>Malware that stops you from using your computer or accessing your data until you meet certain demands, such as paying a ransom</a:t>
            </a:r>
          </a:p>
          <a:p>
            <a:r>
              <a:rPr lang="en-US" sz="2700" b="1" dirty="0"/>
              <a:t>Virus: </a:t>
            </a:r>
            <a:r>
              <a:rPr lang="en-US" sz="2700" dirty="0"/>
              <a:t>A piece of programming code, disguised as something else, that causes a computer to behave in an unexpected and usually undesirable manner</a:t>
            </a:r>
          </a:p>
          <a:p>
            <a:r>
              <a:rPr lang="en-US" sz="2700" b="1" dirty="0"/>
              <a:t>Worm: </a:t>
            </a:r>
            <a:r>
              <a:rPr lang="en-US" sz="2700" dirty="0"/>
              <a:t>A harmful program that resides in the active memory of the computer and duplicates itself</a:t>
            </a:r>
          </a:p>
          <a:p>
            <a:r>
              <a:rPr lang="en-US" sz="2700" b="1" dirty="0"/>
              <a:t>Trojan horse</a:t>
            </a:r>
            <a:r>
              <a:rPr lang="en-US" sz="2700" dirty="0"/>
              <a:t>: A program in which malicious code is hidden inside a seemingly harmless program</a:t>
            </a:r>
          </a:p>
          <a:p>
            <a:pPr lvl="1">
              <a:spcBef>
                <a:spcPts val="300"/>
              </a:spcBef>
              <a:buClr>
                <a:schemeClr val="accent2"/>
              </a:buClr>
            </a:pPr>
            <a:r>
              <a:rPr lang="en-US" sz="2500" b="1" dirty="0"/>
              <a:t>Logic bomb: </a:t>
            </a:r>
            <a:r>
              <a:rPr lang="en-US" sz="2500" dirty="0"/>
              <a:t>Executes when triggered by a specific event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Types of Exploits, Part 1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7990451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197017"/>
            <a:ext cx="8559800" cy="5051383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2600" b="1" dirty="0"/>
              <a:t>Blended threat: </a:t>
            </a:r>
            <a:r>
              <a:rPr lang="en-US" sz="2600" dirty="0"/>
              <a:t>An attack that combines the features of a virus, worm, Trojan horse, and other malicious code into a single payload</a:t>
            </a:r>
          </a:p>
          <a:p>
            <a:pPr>
              <a:spcBef>
                <a:spcPts val="600"/>
              </a:spcBef>
            </a:pPr>
            <a:r>
              <a:rPr lang="en-US" sz="2600" b="1" dirty="0"/>
              <a:t>Spam: </a:t>
            </a:r>
            <a:r>
              <a:rPr lang="en-US" sz="2600" dirty="0"/>
              <a:t>The use of email systems to send unsolicited email to large numbers of people</a:t>
            </a:r>
          </a:p>
          <a:p>
            <a:pPr lvl="1">
              <a:buClr>
                <a:schemeClr val="accent2"/>
              </a:buClr>
            </a:pPr>
            <a:r>
              <a:rPr lang="en-US" sz="2400" b="1" dirty="0"/>
              <a:t>Controlling the Assault of Non-Solicited Pornography and Marketing (CAN-SPAM) Act: </a:t>
            </a:r>
            <a:r>
              <a:rPr lang="en-US" sz="2400" dirty="0"/>
              <a:t>Makes spam legal with certain restrictions—the email must include: a real return address, a label specifying that it is an ad or solicitation, and a way for recipients to opt out of future emails</a:t>
            </a:r>
          </a:p>
          <a:p>
            <a:pPr lvl="1">
              <a:buClr>
                <a:schemeClr val="accent2"/>
              </a:buClr>
            </a:pPr>
            <a:r>
              <a:rPr lang="en-US" sz="2400" b="1" dirty="0"/>
              <a:t>CAPTCHA (Completely Automated Public Turing Test to Tell Computers and Humans Apart): </a:t>
            </a:r>
            <a:r>
              <a:rPr lang="en-US" sz="2400" dirty="0"/>
              <a:t>Software that generates and grades tests that humans can pass but computer programs cannot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Types of Exploits, Part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1105427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231389"/>
            <a:ext cx="8686800" cy="4255011"/>
          </a:xfrm>
        </p:spPr>
        <p:txBody>
          <a:bodyPr/>
          <a:lstStyle/>
          <a:p>
            <a:r>
              <a:rPr lang="en-US" sz="2700" b="1" dirty="0"/>
              <a:t>Distributed denial-of-service (DDoS) attack: </a:t>
            </a:r>
            <a:r>
              <a:rPr lang="en-US" sz="2700" dirty="0"/>
              <a:t>An attack that takes over computers via the Internet, causing them to flood a target site with demands for data and other small tasks</a:t>
            </a:r>
          </a:p>
          <a:p>
            <a:r>
              <a:rPr lang="en-US" sz="2700" b="1" dirty="0"/>
              <a:t>Rootkit: </a:t>
            </a:r>
            <a:r>
              <a:rPr lang="en-US" sz="2700" dirty="0"/>
              <a:t>A set of programs that enables its user to gain administrator-level access to a computer without the end user’s consent or knowledge</a:t>
            </a:r>
          </a:p>
          <a:p>
            <a:r>
              <a:rPr lang="en-US" sz="2700" b="1" dirty="0"/>
              <a:t>Advanced persistent threat (APT): </a:t>
            </a:r>
            <a:r>
              <a:rPr lang="en-US" sz="2700" dirty="0"/>
              <a:t>An attack in which an intruder gains access to a network and stays there—undetected—with the intention of stealing data over a period of weeks or months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Types of Exploits, Part 3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2427943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295400"/>
            <a:ext cx="8415338" cy="5249899"/>
          </a:xfrm>
        </p:spPr>
        <p:txBody>
          <a:bodyPr/>
          <a:lstStyle/>
          <a:p>
            <a:r>
              <a:rPr lang="en-US" sz="2700" b="1" dirty="0"/>
              <a:t>Phishing: </a:t>
            </a:r>
            <a:r>
              <a:rPr lang="en-US" sz="2700" dirty="0"/>
              <a:t>The act of fraudulently using email to try to get the recipient to reveal personal data</a:t>
            </a:r>
          </a:p>
          <a:p>
            <a:r>
              <a:rPr lang="en-US" sz="2700" b="1" dirty="0"/>
              <a:t>Spear phishing: </a:t>
            </a:r>
            <a:r>
              <a:rPr lang="en-US" sz="2700" dirty="0"/>
              <a:t>A variation of phishing in which the phisher sends fraudulent emails to an organization’s employees</a:t>
            </a:r>
          </a:p>
          <a:p>
            <a:r>
              <a:rPr lang="en-US" sz="2700" b="1" dirty="0"/>
              <a:t>Smishing</a:t>
            </a:r>
            <a:r>
              <a:rPr lang="en-US" sz="2700" dirty="0"/>
              <a:t>: A variation of phishing in which the victims receive a legitimate-looking text message telling them to call a specific phone number or log on to a website</a:t>
            </a:r>
          </a:p>
          <a:p>
            <a:r>
              <a:rPr lang="en-US" sz="2700" b="1" dirty="0"/>
              <a:t>Vishing: </a:t>
            </a:r>
            <a:r>
              <a:rPr lang="en-US" sz="2700" dirty="0"/>
              <a:t>A variation of phishing in which the victims receive a voice-mail message telling them to call a phone number or access a website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Types of Exploits, Part 4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5107378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314691"/>
            <a:ext cx="8559800" cy="4478149"/>
          </a:xfrm>
        </p:spPr>
        <p:txBody>
          <a:bodyPr/>
          <a:lstStyle/>
          <a:p>
            <a:r>
              <a:rPr lang="en-US" sz="2600" b="1" dirty="0"/>
              <a:t>Cyberespionage</a:t>
            </a:r>
            <a:r>
              <a:rPr lang="en-US" sz="2600" dirty="0"/>
              <a:t>: The deployment of malware that steals data from government agencies, military contractors, political organizations, or manufacturing firms</a:t>
            </a:r>
          </a:p>
          <a:p>
            <a:r>
              <a:rPr lang="en-US" sz="2600" b="1" dirty="0"/>
              <a:t>Cyberterrorism: </a:t>
            </a:r>
            <a:r>
              <a:rPr lang="en-US" sz="2600" dirty="0"/>
              <a:t>The intimidation of a government or a civilian population by using IT to disable critical national infrastructure</a:t>
            </a:r>
          </a:p>
          <a:p>
            <a:pPr lvl="1">
              <a:buClr>
                <a:schemeClr val="accent2"/>
              </a:buClr>
            </a:pPr>
            <a:r>
              <a:rPr lang="en-US" sz="2300" b="1" dirty="0"/>
              <a:t>Department of Homeland Security (DHS): </a:t>
            </a:r>
            <a:r>
              <a:rPr lang="en-US" sz="2300" dirty="0"/>
              <a:t>A federal agency whose goal is to provide for a safer, more secure America, resilient against terrorism and other potential threats</a:t>
            </a:r>
          </a:p>
          <a:p>
            <a:pPr lvl="1">
              <a:buClr>
                <a:schemeClr val="accent2"/>
              </a:buClr>
            </a:pPr>
            <a:r>
              <a:rPr lang="en-US" sz="2500" b="1" dirty="0"/>
              <a:t>U.S. Computer Emergency Readiness Team (US-CERT): </a:t>
            </a:r>
            <a:r>
              <a:rPr lang="en-US" sz="2500" dirty="0"/>
              <a:t>A DHS and public/private sector partnership; serves as a clearinghouse for information on new security threats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Types of Exploits, Part 5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9571717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335340"/>
            <a:ext cx="8415338" cy="4058034"/>
          </a:xfrm>
        </p:spPr>
        <p:txBody>
          <a:bodyPr/>
          <a:lstStyle/>
          <a:p>
            <a:r>
              <a:rPr lang="en-US" sz="2600" dirty="0"/>
              <a:t>Computer Fraud and Abuse Act </a:t>
            </a:r>
          </a:p>
          <a:p>
            <a:pPr lvl="1">
              <a:buClr>
                <a:schemeClr val="accent2"/>
              </a:buClr>
            </a:pPr>
            <a:r>
              <a:rPr lang="en-US" sz="2400" dirty="0"/>
              <a:t>Addresses fraud and related activities in association with computers, including: </a:t>
            </a:r>
          </a:p>
          <a:p>
            <a:pPr lvl="2"/>
            <a:r>
              <a:rPr lang="en-US" sz="2200" dirty="0"/>
              <a:t>Accessing a computer without authorization</a:t>
            </a:r>
          </a:p>
          <a:p>
            <a:pPr lvl="2"/>
            <a:r>
              <a:rPr lang="en-US" sz="2200" dirty="0"/>
              <a:t>Transmitting code that causes harm to a computer</a:t>
            </a:r>
          </a:p>
          <a:p>
            <a:pPr lvl="2"/>
            <a:r>
              <a:rPr lang="en-US" sz="2200" dirty="0"/>
              <a:t>Trafficking of computer passwords</a:t>
            </a:r>
          </a:p>
          <a:p>
            <a:pPr lvl="2"/>
            <a:r>
              <a:rPr lang="en-US" sz="2200" dirty="0"/>
              <a:t>Threatening to cause damage to a protected computer</a:t>
            </a:r>
          </a:p>
          <a:p>
            <a:r>
              <a:rPr lang="en-US" sz="2600" dirty="0"/>
              <a:t>Fraud and Related Activity in Connection with Access </a:t>
            </a:r>
            <a:br>
              <a:rPr lang="en-US" sz="2600" dirty="0"/>
            </a:br>
            <a:r>
              <a:rPr lang="en-US" sz="2600" dirty="0"/>
              <a:t>Devices Statute </a:t>
            </a:r>
          </a:p>
          <a:p>
            <a:pPr lvl="1">
              <a:buClr>
                <a:schemeClr val="accent2"/>
              </a:buClr>
            </a:pPr>
            <a:r>
              <a:rPr lang="en-US" sz="2400" dirty="0"/>
              <a:t>Covers false claims regarding unauthorized use of credit cards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160230"/>
            <a:ext cx="8382000" cy="788293"/>
          </a:xfrm>
        </p:spPr>
        <p:txBody>
          <a:bodyPr/>
          <a:lstStyle/>
          <a:p>
            <a:r>
              <a:rPr lang="en-US" sz="3000" dirty="0"/>
              <a:t>Federal Laws for Prosecuting Computer Attacks, Part 1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2840919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320391"/>
            <a:ext cx="8415338" cy="3404009"/>
          </a:xfrm>
        </p:spPr>
        <p:txBody>
          <a:bodyPr/>
          <a:lstStyle/>
          <a:p>
            <a:r>
              <a:rPr lang="en-US" sz="2600" dirty="0"/>
              <a:t>Stored Wire and Electronic Communications and Transactional Records Access Statutes</a:t>
            </a:r>
          </a:p>
          <a:p>
            <a:pPr lvl="1">
              <a:buClr>
                <a:schemeClr val="accent2"/>
              </a:buClr>
            </a:pPr>
            <a:r>
              <a:rPr lang="en-US" sz="2400" dirty="0"/>
              <a:t>Focuses on unlawful access to stored communications to obtain, alter, or prevent authorized access to a wire or electronic communication while it is in electronic storage</a:t>
            </a:r>
          </a:p>
          <a:p>
            <a:r>
              <a:rPr lang="en-US" sz="2600" dirty="0"/>
              <a:t>USA Patriot Act </a:t>
            </a:r>
          </a:p>
          <a:p>
            <a:pPr lvl="1">
              <a:buClr>
                <a:schemeClr val="accent2"/>
              </a:buClr>
            </a:pPr>
            <a:r>
              <a:rPr lang="en-US" sz="2400" dirty="0"/>
              <a:t>Defines cyberterrorism and associated penalties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160230"/>
            <a:ext cx="8382000" cy="788293"/>
          </a:xfrm>
        </p:spPr>
        <p:txBody>
          <a:bodyPr/>
          <a:lstStyle/>
          <a:p>
            <a:r>
              <a:rPr lang="en-US" sz="3000" dirty="0"/>
              <a:t>Federal Laws for Prosecuting Computer Attacks, Part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3989417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1000" y="1219200"/>
            <a:ext cx="8542338" cy="5186035"/>
          </a:xfrm>
        </p:spPr>
        <p:txBody>
          <a:bodyPr/>
          <a:lstStyle/>
          <a:p>
            <a:r>
              <a:rPr lang="en-US" sz="2800" b="1" dirty="0"/>
              <a:t>CIA security triad: </a:t>
            </a:r>
            <a:r>
              <a:rPr lang="en-US" sz="2800" dirty="0"/>
              <a:t>The confidentiality, integrity, and availability of systems and data</a:t>
            </a:r>
          </a:p>
          <a:p>
            <a:pPr>
              <a:spcBef>
                <a:spcPts val="300"/>
              </a:spcBef>
            </a:pPr>
            <a:r>
              <a:rPr lang="en-US" sz="2800" dirty="0"/>
              <a:t>IT security practices focus on the CIA security triad:</a:t>
            </a:r>
          </a:p>
          <a:p>
            <a:pPr lvl="1">
              <a:buClr>
                <a:schemeClr val="accent2"/>
              </a:buClr>
            </a:pPr>
            <a:r>
              <a:rPr lang="en-US" sz="2500" i="1" dirty="0"/>
              <a:t>Confidentiality</a:t>
            </a:r>
            <a:r>
              <a:rPr lang="en-US" sz="2500" dirty="0"/>
              <a:t> ensures only those individuals with proper authority can access sensitive data</a:t>
            </a:r>
          </a:p>
          <a:p>
            <a:pPr lvl="1">
              <a:buClr>
                <a:schemeClr val="accent2"/>
              </a:buClr>
            </a:pPr>
            <a:r>
              <a:rPr lang="en-US" sz="2500" i="1" dirty="0"/>
              <a:t>Integrity</a:t>
            </a:r>
            <a:r>
              <a:rPr lang="en-US" sz="2500" dirty="0"/>
              <a:t> ensures data can only be changed by authorized users</a:t>
            </a:r>
          </a:p>
          <a:p>
            <a:pPr lvl="1">
              <a:buClr>
                <a:schemeClr val="accent2"/>
              </a:buClr>
            </a:pPr>
            <a:r>
              <a:rPr lang="en-US" sz="2500" dirty="0"/>
              <a:t> </a:t>
            </a:r>
            <a:r>
              <a:rPr lang="en-US" sz="2500" i="1" dirty="0"/>
              <a:t>Availability</a:t>
            </a:r>
            <a:r>
              <a:rPr lang="en-US" sz="2500" dirty="0"/>
              <a:t> ensures data can be accessed when and where needed</a:t>
            </a:r>
          </a:p>
          <a:p>
            <a:r>
              <a:rPr lang="en-US" sz="2800" dirty="0"/>
              <a:t>CIA security must be implemented at the organization, network, application, and end-user levels</a:t>
            </a:r>
          </a:p>
          <a:p>
            <a:pPr lvl="1">
              <a:buClr>
                <a:schemeClr val="accent2"/>
              </a:buClr>
            </a:pPr>
            <a:endParaRPr lang="en-US" sz="2500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CIA Security Triad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5442507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Implementing CIA security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pic>
        <p:nvPicPr>
          <p:cNvPr id="6" name="Content Placeholder 4" descr="Figure 3-4: This figure shows how CIA security is implemented at the organization, network, application and end-user levels. Each level is represented by one of four concentric circles. &#10;In the middle, is the end-user level, which includes the following elements: security education, authentication methods, antivirus software, and data encryption. &#10;The next circle is the application level, which includes the following elements: Authentication methods, user roles and accounts, and data encryption. &#10;The next circle is the network level, which includes the following elements: authentication methods, routers, proxy servers-VPN, intrusion detection system, firewall, and encryption. &#10;The outermost circle is the organization level, which includes the following elements: security strategy, disaster recovery, security audit, security dashboard, risk assessment, security policies, and regulatory standards compliance.  &#10;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1031380"/>
            <a:ext cx="5334000" cy="5334000"/>
          </a:xfrm>
        </p:spPr>
      </p:pic>
    </p:spTree>
    <p:extLst>
      <p:ext uri="{BB962C8B-B14F-4D97-AF65-F5344CB8AC3E}">
        <p14:creationId xmlns:p14="http://schemas.microsoft.com/office/powerpoint/2010/main" val="13299669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295400"/>
            <a:ext cx="8415338" cy="4273478"/>
          </a:xfrm>
        </p:spPr>
        <p:txBody>
          <a:bodyPr/>
          <a:lstStyle/>
          <a:p>
            <a:r>
              <a:rPr lang="en-US" sz="2800" dirty="0"/>
              <a:t>Implementing CIA requires a risk-based security strategy with an active governance process and a well-defined disaster-recovery plan.</a:t>
            </a:r>
          </a:p>
          <a:p>
            <a:r>
              <a:rPr lang="en-US" sz="2800" b="1" dirty="0"/>
              <a:t>Risk assessment: </a:t>
            </a:r>
            <a:r>
              <a:rPr lang="en-US" sz="2800" dirty="0"/>
              <a:t>The process of assessing security-related risks to an organization’s computers and networks from both internal and external threats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A completed risk assessment identifies the biggest threats to a company and helps focus security efforts on the areas of highest payoff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316844"/>
            <a:ext cx="8026400" cy="475066"/>
          </a:xfrm>
        </p:spPr>
        <p:txBody>
          <a:bodyPr/>
          <a:lstStyle/>
          <a:p>
            <a:r>
              <a:rPr lang="en-US" sz="3600" dirty="0"/>
              <a:t>Implementing CIA at the Organization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9997963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 descr="This table presents the eight steps that are part of the general risk assessment process. &#10;Step 1: Identify the set of IT assets of most concern.&#10;Step 2: Identify the loss events or the risks/threats that could occur.&#10;Step 3: Assess the frequency of events or the likelihood of each potential threat.&#10;Step 4: Determine the impact of each threat occurring.&#10;Step 5: Determine how each threat can be mitigated.&#10;Step 6: Assess the feasibility of implementing the mitigation options.&#10;Step 7: Perform a cost-benefit analysis to ensure that your efforts will be cost effective.&#10;Step 8: Decide whether or not to implement a countermeasure.&#10;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1377144"/>
              </p:ext>
            </p:extLst>
          </p:nvPr>
        </p:nvGraphicFramePr>
        <p:xfrm>
          <a:off x="366238" y="1122820"/>
          <a:ext cx="8415338" cy="515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875">
                  <a:extLst>
                    <a:ext uri="{9D8B030D-6E8A-4147-A177-3AD203B41FA5}">
                      <a16:colId xmlns:a16="http://schemas.microsoft.com/office/drawing/2014/main" val="3844281672"/>
                    </a:ext>
                  </a:extLst>
                </a:gridCol>
                <a:gridCol w="7637463">
                  <a:extLst>
                    <a:ext uri="{9D8B030D-6E8A-4147-A177-3AD203B41FA5}">
                      <a16:colId xmlns:a16="http://schemas.microsoft.com/office/drawing/2014/main" val="33520060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9372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Identify the set of IT assets of most concern.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2320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Identify the loss events or the risks/threats that could occur.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01183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Assess the frequency of events or the likelihood of each potential threat.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02824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Determine the impact of each threat occurring.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4880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Determine how each threat can be mitigated.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3934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Assess the feasibility of implementing the mitigation options.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6261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Perform a cost-benefit analysis to ensure that your efforts will be cost effective.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6560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Decide whether or not to implement a countermeasure.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550095"/>
                  </a:ext>
                </a:extLst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8"/>
            <a:ext cx="8026400" cy="527837"/>
          </a:xfrm>
        </p:spPr>
        <p:txBody>
          <a:bodyPr/>
          <a:lstStyle/>
          <a:p>
            <a:r>
              <a:rPr lang="en-US" sz="4000" dirty="0"/>
              <a:t>General Risk Assessment Process</a:t>
            </a:r>
            <a:endParaRPr lang="en-US" sz="3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15421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6" y="1538818"/>
            <a:ext cx="8014250" cy="3019288"/>
          </a:xfrm>
        </p:spPr>
        <p:txBody>
          <a:bodyPr/>
          <a:lstStyle/>
          <a:p>
            <a:r>
              <a:rPr lang="en-US" sz="2800" b="1" dirty="0"/>
              <a:t>Disaster recovery plan: </a:t>
            </a:r>
            <a:r>
              <a:rPr lang="en-US" sz="2800" dirty="0"/>
              <a:t>A documented process for recovering an organization’s business information system assets—including hardware, software, data, networks, and facilities—in the event of a disaster</a:t>
            </a:r>
          </a:p>
          <a:p>
            <a:r>
              <a:rPr lang="en-US" sz="2800" b="1" dirty="0"/>
              <a:t>Mission-critical processes</a:t>
            </a:r>
            <a:r>
              <a:rPr lang="en-US" sz="2800" dirty="0"/>
              <a:t>: Business processes that are more pivotal to continued operations and goal attainment than others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Disaster Recovery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4027713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3582519"/>
          </a:xfrm>
        </p:spPr>
        <p:txBody>
          <a:bodyPr/>
          <a:lstStyle/>
          <a:p>
            <a:r>
              <a:rPr lang="en-US" sz="2800" b="1" dirty="0"/>
              <a:t>Security policy: </a:t>
            </a:r>
            <a:r>
              <a:rPr lang="en-US" sz="2800" dirty="0"/>
              <a:t>A policy that defines an organization’s security requirements, as well as the controls and sanctions needed to meet those requirements</a:t>
            </a:r>
          </a:p>
          <a:p>
            <a:pPr lvl="1"/>
            <a:r>
              <a:rPr lang="en-US" sz="2600" dirty="0"/>
              <a:t>A good security policy delineates responsibilities and the behavior expected of members of the organization.</a:t>
            </a:r>
          </a:p>
          <a:p>
            <a:r>
              <a:rPr lang="en-US" sz="2800" b="1" dirty="0"/>
              <a:t>Security audit: </a:t>
            </a:r>
            <a:r>
              <a:rPr lang="en-US" sz="2800" dirty="0"/>
              <a:t>An audit that evaluates whether an organization has a well-considered security policy in place and if it is being followed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Security Policies and Security Audits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4523446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73062" y="1219200"/>
            <a:ext cx="8313738" cy="5218352"/>
          </a:xfrm>
        </p:spPr>
        <p:txBody>
          <a:bodyPr/>
          <a:lstStyle/>
          <a:p>
            <a:r>
              <a:rPr lang="en-US" sz="2800" dirty="0"/>
              <a:t>An organization may be required to comply with external standards; examples include: 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Bank Secrecy Law of 1970</a:t>
            </a:r>
          </a:p>
          <a:p>
            <a:pPr lvl="2"/>
            <a:r>
              <a:rPr lang="en-US" sz="2400" dirty="0"/>
              <a:t>Requires financial institutions in the United States to assist U.S. government agencies in detecting and preventing money laundering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Federal Information Security Management Act</a:t>
            </a:r>
          </a:p>
          <a:p>
            <a:pPr lvl="2"/>
            <a:r>
              <a:rPr lang="en-US" sz="2400" dirty="0"/>
              <a:t>Requires every federal agency to provide information security for the data and information systems that support the agency’s operations and assets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Health Insurance Portability and Accountability Act</a:t>
            </a:r>
          </a:p>
          <a:p>
            <a:pPr lvl="2"/>
            <a:r>
              <a:rPr lang="en-US" sz="2400" dirty="0"/>
              <a:t>Regulates the use and disclosure of an individual’s health information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Regulatory Standards Compliance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0217732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73062" y="1295400"/>
            <a:ext cx="8415338" cy="4321183"/>
          </a:xfrm>
        </p:spPr>
        <p:txBody>
          <a:bodyPr/>
          <a:lstStyle/>
          <a:p>
            <a:r>
              <a:rPr lang="en-US" sz="2800" dirty="0"/>
              <a:t>Security dashboard software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Provides a comprehensive display of all key performance indicators related to an organization’s security defenses, including:</a:t>
            </a:r>
          </a:p>
          <a:p>
            <a:pPr lvl="2"/>
            <a:r>
              <a:rPr lang="en-US" sz="2400" dirty="0"/>
              <a:t>Threats</a:t>
            </a:r>
          </a:p>
          <a:p>
            <a:pPr lvl="2"/>
            <a:r>
              <a:rPr lang="en-US" sz="2400" dirty="0"/>
              <a:t>Exposures</a:t>
            </a:r>
          </a:p>
          <a:p>
            <a:pPr lvl="2"/>
            <a:r>
              <a:rPr lang="en-US" sz="2400" dirty="0"/>
              <a:t>Policy compliance</a:t>
            </a:r>
          </a:p>
          <a:p>
            <a:pPr lvl="2"/>
            <a:r>
              <a:rPr lang="en-US" sz="2400" dirty="0"/>
              <a:t>Incident alerts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Reduces the effort required to monitor, identify and respond to threats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Security Dashboards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6425480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143000"/>
            <a:ext cx="8415338" cy="5169107"/>
          </a:xfrm>
        </p:spPr>
        <p:txBody>
          <a:bodyPr/>
          <a:lstStyle/>
          <a:p>
            <a:r>
              <a:rPr lang="en-US" sz="2800" dirty="0"/>
              <a:t>Authentication methods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An organization must authenticate users attempting to access its network</a:t>
            </a:r>
          </a:p>
          <a:p>
            <a:pPr lvl="2">
              <a:spcBef>
                <a:spcPts val="200"/>
              </a:spcBef>
            </a:pPr>
            <a:r>
              <a:rPr lang="en-US" sz="2400" dirty="0"/>
              <a:t>Username and password</a:t>
            </a:r>
          </a:p>
          <a:p>
            <a:pPr lvl="2">
              <a:spcBef>
                <a:spcPts val="200"/>
              </a:spcBef>
            </a:pPr>
            <a:r>
              <a:rPr lang="en-US" sz="2400" dirty="0"/>
              <a:t>Smart card and a PIN</a:t>
            </a:r>
          </a:p>
          <a:p>
            <a:pPr lvl="2">
              <a:spcBef>
                <a:spcPts val="200"/>
              </a:spcBef>
            </a:pPr>
            <a:r>
              <a:rPr lang="en-US" sz="2400" dirty="0"/>
              <a:t>Fingerprint</a:t>
            </a:r>
          </a:p>
          <a:p>
            <a:pPr lvl="2">
              <a:spcBef>
                <a:spcPts val="200"/>
              </a:spcBef>
            </a:pPr>
            <a:r>
              <a:rPr lang="en-US" sz="2400" dirty="0"/>
              <a:t>Voice pattern sample</a:t>
            </a:r>
          </a:p>
          <a:p>
            <a:pPr lvl="2">
              <a:spcBef>
                <a:spcPts val="200"/>
              </a:spcBef>
            </a:pPr>
            <a:r>
              <a:rPr lang="en-US" sz="2400" dirty="0"/>
              <a:t>Retina scan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Multifactor authentication schemes include: </a:t>
            </a:r>
          </a:p>
          <a:p>
            <a:pPr lvl="2">
              <a:spcBef>
                <a:spcPts val="200"/>
              </a:spcBef>
            </a:pPr>
            <a:r>
              <a:rPr lang="en-US" sz="2400" dirty="0"/>
              <a:t>Biometrics</a:t>
            </a:r>
          </a:p>
          <a:p>
            <a:pPr lvl="2">
              <a:spcBef>
                <a:spcPts val="200"/>
              </a:spcBef>
            </a:pPr>
            <a:r>
              <a:rPr lang="en-US" sz="2400" dirty="0"/>
              <a:t>One-time passwords</a:t>
            </a:r>
          </a:p>
          <a:p>
            <a:pPr lvl="2">
              <a:spcBef>
                <a:spcPts val="200"/>
              </a:spcBef>
            </a:pPr>
            <a:r>
              <a:rPr lang="en-US" sz="2400" dirty="0"/>
              <a:t>Hardware tokens that plug into a USB port and generate a password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Implementing CIA at the Network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5283552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219200"/>
            <a:ext cx="8415338" cy="5359159"/>
          </a:xfrm>
        </p:spPr>
        <p:txBody>
          <a:bodyPr/>
          <a:lstStyle/>
          <a:p>
            <a:r>
              <a:rPr lang="en-US" sz="2700" b="1" dirty="0"/>
              <a:t>Firewall: </a:t>
            </a:r>
            <a:r>
              <a:rPr lang="en-US" sz="2700" dirty="0"/>
              <a:t>A system of software and/or hardware that stands guard between an organization’s internal network and the Internet</a:t>
            </a:r>
          </a:p>
          <a:p>
            <a:pPr lvl="1">
              <a:buClr>
                <a:schemeClr val="accent2"/>
              </a:buClr>
            </a:pPr>
            <a:r>
              <a:rPr lang="en-US" sz="2500" b="1" dirty="0"/>
              <a:t>Next-generation firewall (NGFW): </a:t>
            </a:r>
            <a:r>
              <a:rPr lang="en-US" sz="2500" dirty="0"/>
              <a:t>A hardware- or software-based network security system that blocks attacks by filtering network traffic based on packet contents</a:t>
            </a:r>
          </a:p>
          <a:p>
            <a:r>
              <a:rPr lang="en-US" sz="2700" b="1" dirty="0"/>
              <a:t>Router: </a:t>
            </a:r>
            <a:r>
              <a:rPr lang="en-US" sz="2700" dirty="0"/>
              <a:t>A networking device that connects multiple networks and transmits data packets between networks</a:t>
            </a:r>
          </a:p>
          <a:p>
            <a:pPr lvl="1">
              <a:buClr>
                <a:schemeClr val="accent2"/>
              </a:buClr>
            </a:pPr>
            <a:r>
              <a:rPr lang="en-US" sz="2500" dirty="0"/>
              <a:t>Allows you to: </a:t>
            </a:r>
          </a:p>
          <a:p>
            <a:pPr lvl="2">
              <a:spcBef>
                <a:spcPts val="300"/>
              </a:spcBef>
            </a:pPr>
            <a:r>
              <a:rPr lang="en-US" sz="2300" dirty="0"/>
              <a:t>Create a secure network by assigning it a passphrase</a:t>
            </a:r>
          </a:p>
          <a:p>
            <a:pPr lvl="2">
              <a:spcBef>
                <a:spcPts val="300"/>
              </a:spcBef>
            </a:pPr>
            <a:r>
              <a:rPr lang="en-US" sz="2300" dirty="0"/>
              <a:t>Specify a unique media access control (MAC) address for each legitimate device connected to the network and prevent access by any other device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Firewalls &amp; Routers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599203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219200"/>
            <a:ext cx="8415338" cy="5119863"/>
          </a:xfrm>
        </p:spPr>
        <p:txBody>
          <a:bodyPr/>
          <a:lstStyle/>
          <a:p>
            <a:r>
              <a:rPr lang="en-US" sz="2700" b="1" dirty="0"/>
              <a:t>Encryption: </a:t>
            </a:r>
            <a:r>
              <a:rPr lang="en-US" sz="2700" dirty="0"/>
              <a:t>The process of scrambling messages or data in such a way that only authorized parties can read it</a:t>
            </a:r>
          </a:p>
          <a:p>
            <a:r>
              <a:rPr lang="en-US" sz="2700" b="1" dirty="0"/>
              <a:t>Encryption key: </a:t>
            </a:r>
            <a:r>
              <a:rPr lang="en-US" sz="2700" dirty="0"/>
              <a:t>A value that is applied to unencrypted text to produce encrypted text that is unreadable by those without the encryption key</a:t>
            </a:r>
          </a:p>
          <a:p>
            <a:pPr lvl="1">
              <a:spcBef>
                <a:spcPts val="300"/>
              </a:spcBef>
              <a:buClr>
                <a:schemeClr val="accent2"/>
              </a:buClr>
            </a:pPr>
            <a:r>
              <a:rPr lang="en-US" sz="2500" dirty="0"/>
              <a:t>Two types of encryption algorithms: </a:t>
            </a:r>
          </a:p>
          <a:p>
            <a:pPr lvl="2">
              <a:spcBef>
                <a:spcPts val="300"/>
              </a:spcBef>
            </a:pPr>
            <a:r>
              <a:rPr lang="en-US" sz="2500" dirty="0"/>
              <a:t>Symmetric and asymmetric</a:t>
            </a:r>
          </a:p>
          <a:p>
            <a:r>
              <a:rPr lang="en-US" sz="2700" b="1" dirty="0"/>
              <a:t>Transport Layer Security (TLS): </a:t>
            </a:r>
            <a:r>
              <a:rPr lang="en-US" sz="2700" dirty="0"/>
              <a:t>A communications protocol that ensures privacy between communicating applications and their users on the Internet</a:t>
            </a:r>
          </a:p>
          <a:p>
            <a:pPr lvl="1">
              <a:spcBef>
                <a:spcPts val="300"/>
              </a:spcBef>
              <a:buClr>
                <a:schemeClr val="accent2"/>
              </a:buClr>
            </a:pPr>
            <a:r>
              <a:rPr lang="en-US" sz="2500" dirty="0"/>
              <a:t>TLS enables a client (e.g., a web browser) to initiate a temporary private conversation with a server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Encryption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5678644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143000"/>
            <a:ext cx="8321675" cy="5680786"/>
          </a:xfrm>
        </p:spPr>
        <p:txBody>
          <a:bodyPr/>
          <a:lstStyle/>
          <a:p>
            <a:r>
              <a:rPr lang="en-US" sz="2700" b="1" dirty="0"/>
              <a:t>Proxy server:</a:t>
            </a:r>
            <a:r>
              <a:rPr lang="en-US" sz="2700" dirty="0"/>
              <a:t> Acts as an intermediary between a web browser and another server on the Internet</a:t>
            </a:r>
          </a:p>
          <a:p>
            <a:pPr lvl="1">
              <a:buClr>
                <a:schemeClr val="accent2"/>
              </a:buClr>
            </a:pPr>
            <a:r>
              <a:rPr lang="en-US" sz="2500" dirty="0"/>
              <a:t>You enter the URL for a website into your browser.</a:t>
            </a:r>
          </a:p>
          <a:p>
            <a:pPr lvl="1">
              <a:spcBef>
                <a:spcPts val="300"/>
              </a:spcBef>
              <a:buClr>
                <a:schemeClr val="accent2"/>
              </a:buClr>
            </a:pPr>
            <a:r>
              <a:rPr lang="en-US" sz="2500" dirty="0"/>
              <a:t>The request is forwarded to the proxy server, which relays the request to the server where the website is hosted. </a:t>
            </a:r>
          </a:p>
          <a:p>
            <a:pPr lvl="1">
              <a:spcBef>
                <a:spcPts val="300"/>
              </a:spcBef>
              <a:buClr>
                <a:schemeClr val="accent2"/>
              </a:buClr>
            </a:pPr>
            <a:r>
              <a:rPr lang="en-US" sz="2500" dirty="0"/>
              <a:t>The web page is returned to the proxy server, which then passes it on to you.</a:t>
            </a:r>
          </a:p>
          <a:p>
            <a:pPr lvl="1">
              <a:spcBef>
                <a:spcPts val="300"/>
              </a:spcBef>
              <a:buClr>
                <a:schemeClr val="accent2"/>
              </a:buClr>
            </a:pPr>
            <a:r>
              <a:rPr lang="en-US" sz="2500" dirty="0"/>
              <a:t>Result: The website sees the proxy server as the actual </a:t>
            </a:r>
            <a:br>
              <a:rPr lang="en-US" sz="2500" dirty="0"/>
            </a:br>
            <a:r>
              <a:rPr lang="en-US" sz="2500" dirty="0"/>
              <a:t>visitor and not you.</a:t>
            </a:r>
          </a:p>
          <a:p>
            <a:pPr>
              <a:spcBef>
                <a:spcPts val="600"/>
              </a:spcBef>
            </a:pPr>
            <a:r>
              <a:rPr lang="en-US" sz="2700" b="1" dirty="0"/>
              <a:t>Virtual private network (VPN): </a:t>
            </a:r>
            <a:r>
              <a:rPr lang="en-US" sz="2700" dirty="0"/>
              <a:t>Enables remote users to securely access an organization’s computing resources </a:t>
            </a:r>
            <a:br>
              <a:rPr lang="en-US" sz="2700" dirty="0"/>
            </a:br>
            <a:r>
              <a:rPr lang="en-US" sz="2700" dirty="0"/>
              <a:t>and share data  by transmitting and receiving encrypted data over public networks, such as the Internet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316844"/>
            <a:ext cx="8026400" cy="475066"/>
          </a:xfrm>
        </p:spPr>
        <p:txBody>
          <a:bodyPr/>
          <a:lstStyle/>
          <a:p>
            <a:r>
              <a:rPr lang="en-US" sz="3600" dirty="0"/>
              <a:t>Proxy Servers and Virtual Private Networks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015064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219200"/>
            <a:ext cx="8415338" cy="4639732"/>
          </a:xfrm>
        </p:spPr>
        <p:txBody>
          <a:bodyPr/>
          <a:lstStyle/>
          <a:p>
            <a:r>
              <a:rPr lang="en-US" sz="2700" b="1" dirty="0"/>
              <a:t>Intrusion detection system (IDS): </a:t>
            </a:r>
            <a:r>
              <a:rPr lang="en-US" sz="2700" dirty="0"/>
              <a:t>Software and/or hardware that monitors system resources and activities and issues an alert when it detects network traffic attempting to circumvent security measures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Two approaches to intrusion detection:</a:t>
            </a:r>
          </a:p>
          <a:p>
            <a:pPr lvl="2"/>
            <a:r>
              <a:rPr lang="en-US" sz="2400" dirty="0"/>
              <a:t>Knowledge-based: Contains information about specific attacks and system vulnerabilities and watches for attempts to exploit these vulnerabilities (e.g., repeated failed login attempts).</a:t>
            </a:r>
          </a:p>
          <a:p>
            <a:pPr lvl="2"/>
            <a:r>
              <a:rPr lang="en-US" sz="2400" dirty="0"/>
              <a:t>Behavior-based: Models normal behavior of a system and its users based on reference information; compares current activity to this model, looking for deviations (e.g., unusual traffic at odd hours)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Intrusion Detection System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0159384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295400"/>
            <a:ext cx="8245475" cy="5330690"/>
          </a:xfrm>
        </p:spPr>
        <p:txBody>
          <a:bodyPr/>
          <a:lstStyle/>
          <a:p>
            <a:r>
              <a:rPr lang="en-US" sz="2800" dirty="0"/>
              <a:t>Authentication methods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Single-factor: Requires only one credential </a:t>
            </a:r>
            <a:br>
              <a:rPr lang="en-US" sz="2600" dirty="0"/>
            </a:br>
            <a:r>
              <a:rPr lang="en-US" sz="2600" dirty="0"/>
              <a:t>(e.g., a password)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Two-factor: Requires two types of credentials</a:t>
            </a:r>
            <a:br>
              <a:rPr lang="en-US" sz="2600" dirty="0"/>
            </a:br>
            <a:r>
              <a:rPr lang="en-US" sz="2600" dirty="0"/>
              <a:t>(e.g., a bank card and a PIN)</a:t>
            </a:r>
          </a:p>
          <a:p>
            <a:r>
              <a:rPr lang="en-US" sz="2800" dirty="0"/>
              <a:t>User roles and accounts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Used to give users authority to perform their responsibilities within an application and nothing more</a:t>
            </a:r>
          </a:p>
          <a:p>
            <a:r>
              <a:rPr lang="en-US" sz="2800" dirty="0"/>
              <a:t>Data encryption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Protects data being used within an application from unauthorized access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316843"/>
            <a:ext cx="8026400" cy="475066"/>
          </a:xfrm>
        </p:spPr>
        <p:txBody>
          <a:bodyPr/>
          <a:lstStyle/>
          <a:p>
            <a:r>
              <a:rPr lang="en-US" sz="3600" dirty="0"/>
              <a:t>Implementing CIA at the Application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2958414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066800"/>
            <a:ext cx="8415338" cy="5830827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2700" dirty="0"/>
              <a:t>Security education</a:t>
            </a:r>
          </a:p>
          <a:p>
            <a:pPr lvl="1">
              <a:spcBef>
                <a:spcPts val="300"/>
              </a:spcBef>
              <a:buClr>
                <a:schemeClr val="accent2"/>
              </a:buClr>
            </a:pPr>
            <a:r>
              <a:rPr lang="en-US" sz="2600" dirty="0"/>
              <a:t>Educate end users about the importance of security so they are motivated to understand and follow security policies.</a:t>
            </a:r>
          </a:p>
          <a:p>
            <a:pPr>
              <a:spcBef>
                <a:spcPts val="600"/>
              </a:spcBef>
            </a:pPr>
            <a:r>
              <a:rPr lang="en-US" sz="2700" dirty="0"/>
              <a:t>Authentication methods</a:t>
            </a:r>
          </a:p>
          <a:p>
            <a:pPr lvl="1">
              <a:spcBef>
                <a:spcPts val="300"/>
              </a:spcBef>
              <a:buClr>
                <a:schemeClr val="accent2"/>
              </a:buClr>
            </a:pPr>
            <a:r>
              <a:rPr lang="en-US" sz="2600" dirty="0"/>
              <a:t>Require end users to implement a security  passcode that must be entered before their device accepts further input.</a:t>
            </a:r>
          </a:p>
          <a:p>
            <a:pPr>
              <a:spcBef>
                <a:spcPts val="600"/>
              </a:spcBef>
            </a:pPr>
            <a:r>
              <a:rPr lang="en-US" sz="2700" dirty="0"/>
              <a:t>Antivirus software</a:t>
            </a:r>
          </a:p>
          <a:p>
            <a:pPr lvl="1">
              <a:spcBef>
                <a:spcPts val="300"/>
              </a:spcBef>
              <a:buClr>
                <a:schemeClr val="accent2"/>
              </a:buClr>
            </a:pPr>
            <a:r>
              <a:rPr lang="en-US" sz="2600" b="1" dirty="0"/>
              <a:t>Virus signature</a:t>
            </a:r>
            <a:r>
              <a:rPr lang="en-US" sz="2600" dirty="0"/>
              <a:t>: A specific sequence of bytes  that indicates the presence of a previously identified virus</a:t>
            </a:r>
          </a:p>
          <a:p>
            <a:pPr>
              <a:spcBef>
                <a:spcPts val="600"/>
              </a:spcBef>
            </a:pPr>
            <a:r>
              <a:rPr lang="en-US" sz="2700" dirty="0"/>
              <a:t>Data encryption</a:t>
            </a:r>
          </a:p>
          <a:p>
            <a:pPr lvl="1">
              <a:spcBef>
                <a:spcPts val="300"/>
              </a:spcBef>
              <a:buClr>
                <a:schemeClr val="accent2"/>
              </a:buClr>
            </a:pPr>
            <a:r>
              <a:rPr lang="en-US" sz="2600" dirty="0"/>
              <a:t>Full-disk encryption protects storage devices and/or hard drives so they cannot be removed from a computer and plugged into another computing device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303668"/>
            <a:ext cx="8026400" cy="501419"/>
          </a:xfrm>
        </p:spPr>
        <p:txBody>
          <a:bodyPr/>
          <a:lstStyle/>
          <a:p>
            <a:r>
              <a:rPr lang="en-US" sz="3800" dirty="0"/>
              <a:t>Implementing CIA at the End-User-Level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2157663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3582519"/>
          </a:xfrm>
        </p:spPr>
        <p:txBody>
          <a:bodyPr/>
          <a:lstStyle/>
          <a:p>
            <a:r>
              <a:rPr lang="en-US" sz="2800" dirty="0"/>
              <a:t>An organization should be prepared for the worst—a successful attack that defeats all or some of a system’s defenses and damages data and information systems.</a:t>
            </a:r>
          </a:p>
          <a:p>
            <a:r>
              <a:rPr lang="en-US" sz="2800" dirty="0"/>
              <a:t>In a security incident, the primary goal must be to regain control and limit damage, not to attempt to monitor or catch an intruder.</a:t>
            </a:r>
          </a:p>
          <a:p>
            <a:r>
              <a:rPr lang="en-US" sz="2800" dirty="0"/>
              <a:t>A well-developed response plan helps keep an incident under technical and emotional control.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Response to Cyberattack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7112051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73062" y="1295400"/>
            <a:ext cx="8237538" cy="4507388"/>
          </a:xfrm>
        </p:spPr>
        <p:txBody>
          <a:bodyPr/>
          <a:lstStyle/>
          <a:p>
            <a:r>
              <a:rPr lang="en-US" sz="2700" dirty="0"/>
              <a:t>A key element of any response plan is to define who to notify and who not to notify in the event of a computer security incident.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Questions to cover include: </a:t>
            </a:r>
          </a:p>
          <a:p>
            <a:pPr lvl="2"/>
            <a:r>
              <a:rPr lang="en-US" sz="2500" dirty="0"/>
              <a:t>Within the company, who needs to be notified, and what information does each person need to have?</a:t>
            </a:r>
          </a:p>
          <a:p>
            <a:pPr lvl="2"/>
            <a:r>
              <a:rPr lang="en-US" sz="2500" dirty="0"/>
              <a:t>Under what conditions should the company contact major customers and suppliers? </a:t>
            </a:r>
          </a:p>
          <a:p>
            <a:pPr lvl="2"/>
            <a:r>
              <a:rPr lang="en-US" sz="2500" dirty="0"/>
              <a:t>How does the company inform them of a disruption in business without unnecessarily alarming them? </a:t>
            </a:r>
          </a:p>
          <a:p>
            <a:pPr lvl="2"/>
            <a:r>
              <a:rPr lang="en-US" sz="2500" dirty="0"/>
              <a:t>When should local authorities or the FBI be contacted?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Incident Notification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2983369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2259080"/>
          </a:xfrm>
        </p:spPr>
        <p:txBody>
          <a:bodyPr/>
          <a:lstStyle/>
          <a:p>
            <a:r>
              <a:rPr lang="en-US" sz="2800" dirty="0"/>
              <a:t>An organization should document all details of a security incident as it works to resolve a security incident.</a:t>
            </a:r>
          </a:p>
          <a:p>
            <a:r>
              <a:rPr lang="en-US" sz="2800" dirty="0"/>
              <a:t>Capture all system events, the specific actions taken (what, when, and who), and all external conversations (what, when, and who) in a logbook</a:t>
            </a:r>
            <a:r>
              <a:rPr lang="en-US" sz="3200" dirty="0"/>
              <a:t>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316843"/>
            <a:ext cx="8026400" cy="475066"/>
          </a:xfrm>
        </p:spPr>
        <p:txBody>
          <a:bodyPr/>
          <a:lstStyle/>
          <a:p>
            <a:r>
              <a:rPr lang="en-US" sz="3600" dirty="0"/>
              <a:t>Protection of Evidence and Activity Logs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5850229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295400"/>
            <a:ext cx="8415338" cy="4624343"/>
          </a:xfrm>
        </p:spPr>
        <p:txBody>
          <a:bodyPr/>
          <a:lstStyle/>
          <a:p>
            <a:r>
              <a:rPr lang="en-US" sz="2800" dirty="0"/>
              <a:t>Eradication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Before the IT security group begins eradication efforts, it must collect and log all possible criminal evidence and then verify all backups are current, complete, and free of malware.</a:t>
            </a:r>
          </a:p>
          <a:p>
            <a:r>
              <a:rPr lang="en-US" sz="2800" dirty="0"/>
              <a:t>Incident Follow-Up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An essential part of follow-up is to determine how the organization’s security was compromised so that it does not happen again.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A formal incident report includes a detailed chronology of events and the impact of the incident.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2766"/>
            <a:ext cx="8026400" cy="523220"/>
          </a:xfrm>
        </p:spPr>
        <p:txBody>
          <a:bodyPr/>
          <a:lstStyle/>
          <a:p>
            <a:r>
              <a:rPr lang="en-US" sz="4000" dirty="0"/>
              <a:t>Eradication and Incident Follow-Up</a:t>
            </a:r>
            <a:r>
              <a:rPr lang="en-US" dirty="0"/>
              <a:t>	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049480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3019288"/>
          </a:xfrm>
        </p:spPr>
        <p:txBody>
          <a:bodyPr/>
          <a:lstStyle/>
          <a:p>
            <a:r>
              <a:rPr lang="en-US" sz="2800" b="1" dirty="0"/>
              <a:t>Managed security service provider (MSSP): </a:t>
            </a:r>
            <a:r>
              <a:rPr lang="en-US" sz="2800" dirty="0"/>
              <a:t>A company that monitors, manages, and maintains computer and network security for other organizations.</a:t>
            </a:r>
          </a:p>
          <a:p>
            <a:r>
              <a:rPr lang="en-US" sz="2800" dirty="0"/>
              <a:t>Many small and midsized organizations use an MSSP because the level of in-house network security expertise needed to protect their business operations is too costly to acquire and maintain.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Using an MSSP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1683501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3019288"/>
          </a:xfrm>
        </p:spPr>
        <p:txBody>
          <a:bodyPr/>
          <a:lstStyle/>
          <a:p>
            <a:r>
              <a:rPr lang="en-US" sz="2800" b="1" dirty="0"/>
              <a:t>Computer forensics: </a:t>
            </a:r>
            <a:r>
              <a:rPr lang="en-US" sz="2800" dirty="0"/>
              <a:t>Combines elements of law and computer science to collect, examine, and preserve data from computer devices and networks in a manner that preserves the integrity of the data gathered so it is admissible as evidence in court.</a:t>
            </a:r>
          </a:p>
          <a:p>
            <a:r>
              <a:rPr lang="en-US" sz="2800" dirty="0"/>
              <a:t>Proper handling of a computer forensics investigation is the key to fighting computer crime successfully in court.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Computer Forensics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5179359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143000"/>
            <a:ext cx="8415338" cy="4713598"/>
          </a:xfrm>
        </p:spPr>
        <p:txBody>
          <a:bodyPr/>
          <a:lstStyle/>
          <a:p>
            <a:r>
              <a:rPr lang="en-US" sz="2800" b="1" dirty="0"/>
              <a:t>Why are computer incidents so prevalent, and what are their effects?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Reasons include: </a:t>
            </a:r>
          </a:p>
          <a:p>
            <a:pPr lvl="2"/>
            <a:r>
              <a:rPr lang="en-US" sz="2400" dirty="0"/>
              <a:t>Increasing computing complexity</a:t>
            </a:r>
          </a:p>
          <a:p>
            <a:pPr lvl="2"/>
            <a:r>
              <a:rPr lang="en-US" sz="2400" dirty="0"/>
              <a:t>Expanding and changing systems</a:t>
            </a:r>
          </a:p>
          <a:p>
            <a:pPr lvl="2"/>
            <a:r>
              <a:rPr lang="en-US" sz="2400" dirty="0"/>
              <a:t>An increase in the prevalence of BYOD policies</a:t>
            </a:r>
          </a:p>
          <a:p>
            <a:pPr lvl="2"/>
            <a:r>
              <a:rPr lang="en-US" sz="2400" dirty="0"/>
              <a:t>A growing reliance on software with known vulnerabilities</a:t>
            </a:r>
          </a:p>
          <a:p>
            <a:pPr lvl="2"/>
            <a:r>
              <a:rPr lang="en-US" sz="2400" dirty="0"/>
              <a:t>Increasing sophistication of those who would do harm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Exploit: An attack on an information system that takes advantage of a particular system vulnerability (often a result of poor system design or implementation)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8"/>
            <a:ext cx="8026400" cy="527837"/>
          </a:xfrm>
        </p:spPr>
        <p:txBody>
          <a:bodyPr/>
          <a:lstStyle/>
          <a:p>
            <a:r>
              <a:rPr lang="en-US" sz="4000" dirty="0"/>
              <a:t>Summary, Part 1</a:t>
            </a:r>
            <a:endParaRPr lang="en-US" sz="3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40471413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143000"/>
            <a:ext cx="8415338" cy="5218352"/>
          </a:xfrm>
        </p:spPr>
        <p:txBody>
          <a:bodyPr/>
          <a:lstStyle/>
          <a:p>
            <a:r>
              <a:rPr lang="en-US" sz="2800" b="1" dirty="0"/>
              <a:t>Why are computer incidents so prevalent, and what are their effects?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Perpetrators of computer crime:</a:t>
            </a:r>
          </a:p>
          <a:p>
            <a:pPr lvl="2">
              <a:spcBef>
                <a:spcPts val="300"/>
              </a:spcBef>
            </a:pPr>
            <a:r>
              <a:rPr lang="en-US" sz="2400" dirty="0"/>
              <a:t>Black hat hacker</a:t>
            </a:r>
          </a:p>
          <a:p>
            <a:pPr lvl="2">
              <a:spcBef>
                <a:spcPts val="300"/>
              </a:spcBef>
            </a:pPr>
            <a:r>
              <a:rPr lang="en-US" sz="2400" dirty="0"/>
              <a:t>Cracker</a:t>
            </a:r>
          </a:p>
          <a:p>
            <a:pPr lvl="2">
              <a:spcBef>
                <a:spcPts val="300"/>
              </a:spcBef>
            </a:pPr>
            <a:r>
              <a:rPr lang="en-US" sz="2400" dirty="0"/>
              <a:t>Malicious insider</a:t>
            </a:r>
          </a:p>
          <a:p>
            <a:pPr lvl="2">
              <a:spcBef>
                <a:spcPts val="300"/>
              </a:spcBef>
            </a:pPr>
            <a:r>
              <a:rPr lang="en-US" sz="2400" dirty="0"/>
              <a:t>Industrial spy</a:t>
            </a:r>
          </a:p>
          <a:p>
            <a:pPr lvl="2">
              <a:spcBef>
                <a:spcPts val="300"/>
              </a:spcBef>
            </a:pPr>
            <a:r>
              <a:rPr lang="en-US" sz="2400" dirty="0"/>
              <a:t>Cybercriminal</a:t>
            </a:r>
          </a:p>
          <a:p>
            <a:pPr lvl="2">
              <a:spcBef>
                <a:spcPts val="300"/>
              </a:spcBef>
            </a:pPr>
            <a:r>
              <a:rPr lang="en-US" sz="2400" dirty="0"/>
              <a:t>Hacktivist</a:t>
            </a:r>
          </a:p>
          <a:p>
            <a:pPr lvl="2">
              <a:spcBef>
                <a:spcPts val="300"/>
              </a:spcBef>
            </a:pPr>
            <a:r>
              <a:rPr lang="en-US" sz="2400" dirty="0"/>
              <a:t>Cyberterrorist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White hat hacker: Hired by an organization to test the security of its information systems allowing the organization to improve its defenses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Summary, Part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6447646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143000"/>
            <a:ext cx="8415338" cy="5820824"/>
          </a:xfrm>
        </p:spPr>
        <p:txBody>
          <a:bodyPr/>
          <a:lstStyle/>
          <a:p>
            <a:r>
              <a:rPr lang="en-US" sz="2800" b="1" dirty="0"/>
              <a:t>Why are computer incidents so prevalent, and what are their effects?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Common computer exploits:</a:t>
            </a:r>
          </a:p>
          <a:p>
            <a:pPr lvl="2"/>
            <a:r>
              <a:rPr lang="en-US" sz="2500" dirty="0"/>
              <a:t>Ransomware, viruses, and worms</a:t>
            </a:r>
          </a:p>
          <a:p>
            <a:pPr lvl="2"/>
            <a:r>
              <a:rPr lang="en-US" sz="2500" dirty="0"/>
              <a:t>Trojan horses</a:t>
            </a:r>
          </a:p>
          <a:p>
            <a:pPr lvl="2"/>
            <a:r>
              <a:rPr lang="en-US" sz="2500" dirty="0"/>
              <a:t>Logic bombs</a:t>
            </a:r>
          </a:p>
          <a:p>
            <a:pPr lvl="2"/>
            <a:r>
              <a:rPr lang="en-US" sz="2500" dirty="0"/>
              <a:t>Blended threats</a:t>
            </a:r>
          </a:p>
          <a:p>
            <a:pPr lvl="2"/>
            <a:r>
              <a:rPr lang="en-US" sz="2500" dirty="0"/>
              <a:t>Spam</a:t>
            </a:r>
          </a:p>
          <a:p>
            <a:pPr lvl="2"/>
            <a:r>
              <a:rPr lang="en-US" sz="2500" dirty="0"/>
              <a:t>DDoS attacks and rootkits</a:t>
            </a:r>
          </a:p>
          <a:p>
            <a:pPr lvl="2"/>
            <a:r>
              <a:rPr lang="en-US" sz="2500" dirty="0"/>
              <a:t>Advanced persistent threats</a:t>
            </a:r>
          </a:p>
          <a:p>
            <a:pPr lvl="2"/>
            <a:r>
              <a:rPr lang="en-US" sz="2500" dirty="0"/>
              <a:t>Phishing, spear phishing, smishing, and vishing</a:t>
            </a:r>
          </a:p>
          <a:p>
            <a:pPr lvl="2"/>
            <a:r>
              <a:rPr lang="en-US" sz="2500" dirty="0"/>
              <a:t>Cyberespionage and cyberterrorism</a:t>
            </a: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Summary, Part 3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63958014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4" y="1143000"/>
            <a:ext cx="8550275" cy="4759765"/>
          </a:xfrm>
        </p:spPr>
        <p:txBody>
          <a:bodyPr/>
          <a:lstStyle/>
          <a:p>
            <a:r>
              <a:rPr lang="en-US" sz="2800" b="1" dirty="0"/>
              <a:t>Why are computer incidents so prevalent, and what are their effects?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Department of Homeland Security (DHS): Federal agency with the responsibility to provide for a “safer, more secure America, which is resilient against terrorism and other potential threats.”</a:t>
            </a:r>
          </a:p>
          <a:p>
            <a:pPr lvl="2"/>
            <a:r>
              <a:rPr lang="en-US" sz="2400" dirty="0"/>
              <a:t>Office of Cybersecurity and Communications is responsible for enhancing the security, resilience, and reliability of U.S. cyber- and communications infrastructure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US-CERT: A partnership between DHS and the public and private sectors established to protect the nation’s Internet infrastructure against cyberattacks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Summary, Part 4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06606840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4" y="1143000"/>
            <a:ext cx="8550275" cy="3776418"/>
          </a:xfrm>
        </p:spPr>
        <p:txBody>
          <a:bodyPr/>
          <a:lstStyle/>
          <a:p>
            <a:r>
              <a:rPr lang="en-US" sz="2800" b="1" dirty="0"/>
              <a:t>Why are computer incidents so prevalent, and what are their effects?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Laws enacted to combat computer-related crime:</a:t>
            </a:r>
          </a:p>
          <a:p>
            <a:pPr lvl="2"/>
            <a:r>
              <a:rPr lang="en-US" sz="2500" dirty="0"/>
              <a:t>Computer Fraud and Abuse Act</a:t>
            </a:r>
          </a:p>
          <a:p>
            <a:pPr lvl="2"/>
            <a:r>
              <a:rPr lang="en-US" sz="2500" dirty="0"/>
              <a:t>Fraud and Related Activity in Connection with Access </a:t>
            </a:r>
            <a:br>
              <a:rPr lang="en-US" sz="2500" dirty="0"/>
            </a:br>
            <a:r>
              <a:rPr lang="en-US" sz="2500" dirty="0"/>
              <a:t>Devices Statute</a:t>
            </a:r>
          </a:p>
          <a:p>
            <a:pPr lvl="2"/>
            <a:r>
              <a:rPr lang="en-US" sz="2500" dirty="0"/>
              <a:t>Stored Wire and Electronic Communications and</a:t>
            </a:r>
            <a:br>
              <a:rPr lang="en-US" sz="2500" dirty="0"/>
            </a:br>
            <a:r>
              <a:rPr lang="en-US" sz="2500" dirty="0"/>
              <a:t>Transactional Records Access Statutes</a:t>
            </a:r>
          </a:p>
          <a:p>
            <a:pPr lvl="2"/>
            <a:r>
              <a:rPr lang="en-US" sz="2500" dirty="0"/>
              <a:t>USA Patriot Act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Summary, Part 5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88758966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00062" y="1143000"/>
            <a:ext cx="8550275" cy="3736407"/>
          </a:xfrm>
        </p:spPr>
        <p:txBody>
          <a:bodyPr/>
          <a:lstStyle/>
          <a:p>
            <a:r>
              <a:rPr lang="en-US" sz="2800" b="1" dirty="0"/>
              <a:t>What can be done to implement a strong security program to prevent cyberattacks?</a:t>
            </a:r>
          </a:p>
          <a:p>
            <a:r>
              <a:rPr lang="en-US" sz="2800" dirty="0"/>
              <a:t>CIA security triad: Confidentiality, integrity, and availability of IT resources and data</a:t>
            </a:r>
          </a:p>
          <a:p>
            <a:r>
              <a:rPr lang="en-US" sz="2800" dirty="0"/>
              <a:t>An organization’s security strategy must include security measures at the organization, network, application, and end-user levels</a:t>
            </a:r>
          </a:p>
          <a:p>
            <a:endParaRPr lang="en-US" sz="28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Summary, Part 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8028188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00062" y="1143000"/>
            <a:ext cx="8550275" cy="4876720"/>
          </a:xfrm>
        </p:spPr>
        <p:txBody>
          <a:bodyPr/>
          <a:lstStyle/>
          <a:p>
            <a:r>
              <a:rPr lang="en-US" sz="2800" b="1" dirty="0"/>
              <a:t>What can be done to implement a strong security program to prevent cyberattacks?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Key elements of a risk-based security strategy:</a:t>
            </a:r>
          </a:p>
          <a:p>
            <a:pPr lvl="2"/>
            <a:r>
              <a:rPr lang="en-US" sz="2400" dirty="0"/>
              <a:t>A risk assessment to identify and prioritize threats</a:t>
            </a:r>
          </a:p>
          <a:p>
            <a:pPr lvl="2"/>
            <a:r>
              <a:rPr lang="en-US" sz="2400" dirty="0"/>
              <a:t>A well-defined disaster recovery plan that ensures the availability of key data and information technology assets</a:t>
            </a:r>
          </a:p>
          <a:p>
            <a:pPr lvl="2"/>
            <a:r>
              <a:rPr lang="en-US" sz="2400" dirty="0"/>
              <a:t>Definition of security policies to guide employees to follow recommended processes and practices</a:t>
            </a:r>
          </a:p>
          <a:p>
            <a:pPr lvl="2"/>
            <a:r>
              <a:rPr lang="en-US" sz="2400" dirty="0"/>
              <a:t>Periodic security audits to ensure end users are following established policies and to assess adequacy of security policies</a:t>
            </a:r>
          </a:p>
          <a:p>
            <a:pPr lvl="2"/>
            <a:r>
              <a:rPr lang="en-US" sz="2400" dirty="0"/>
              <a:t>Compliance standards defined by external parties</a:t>
            </a:r>
          </a:p>
          <a:p>
            <a:pPr lvl="2"/>
            <a:r>
              <a:rPr lang="en-US" sz="2400" dirty="0"/>
              <a:t>Use of a security dashboard to track key performance indicators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Summary, Part 7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16065255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00062" y="1143000"/>
            <a:ext cx="8550275" cy="5307607"/>
          </a:xfrm>
        </p:spPr>
        <p:txBody>
          <a:bodyPr/>
          <a:lstStyle/>
          <a:p>
            <a:r>
              <a:rPr lang="en-US" sz="2800" b="1" dirty="0"/>
              <a:t>What can be done to implement a strong security program to prevent cyberattacks?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Reasonable assurance: Manager’s must use their judgment to ensure that the cost of control does not exceed the system’s benefits or the risks involved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Network security layer—key elements: Authentication methods, a firewall, routers, encryption, proxy servers, </a:t>
            </a:r>
            <a:br>
              <a:rPr lang="en-US" sz="2600" dirty="0"/>
            </a:br>
            <a:r>
              <a:rPr lang="en-US" sz="2600" dirty="0"/>
              <a:t>VPN, and an IDS 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Application security layer—key elements: Authentication methods, user roles and accounts, and data encryption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End-user security layer—key elements: Security </a:t>
            </a:r>
            <a:br>
              <a:rPr lang="en-US" sz="2600" dirty="0"/>
            </a:br>
            <a:r>
              <a:rPr lang="en-US" sz="2600" dirty="0"/>
              <a:t>education, authentication methods, antivirus software, </a:t>
            </a:r>
            <a:br>
              <a:rPr lang="en-US" sz="2600" dirty="0"/>
            </a:br>
            <a:r>
              <a:rPr lang="en-US" sz="2600" dirty="0"/>
              <a:t>and data encryption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Summary, Part 8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44637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00062" y="1143000"/>
            <a:ext cx="8550275" cy="4693593"/>
          </a:xfrm>
        </p:spPr>
        <p:txBody>
          <a:bodyPr/>
          <a:lstStyle/>
          <a:p>
            <a:r>
              <a:rPr lang="en-US" sz="2800" b="1" dirty="0"/>
              <a:t>What actions must be taken in the event of a successful security intrusion?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A response plan must be developed well in advance of any incident, and should address:</a:t>
            </a:r>
          </a:p>
          <a:p>
            <a:pPr lvl="2"/>
            <a:r>
              <a:rPr lang="en-US" sz="2400" dirty="0"/>
              <a:t>Notification</a:t>
            </a:r>
          </a:p>
          <a:p>
            <a:pPr lvl="2"/>
            <a:r>
              <a:rPr lang="en-US" sz="2400" dirty="0"/>
              <a:t>Protection of evidence and activity logs</a:t>
            </a:r>
          </a:p>
          <a:p>
            <a:pPr lvl="2"/>
            <a:r>
              <a:rPr lang="en-US" sz="2400" dirty="0"/>
              <a:t>Containment</a:t>
            </a:r>
          </a:p>
          <a:p>
            <a:pPr lvl="2"/>
            <a:r>
              <a:rPr lang="en-US" sz="2400" dirty="0"/>
              <a:t>Eradication</a:t>
            </a:r>
          </a:p>
          <a:p>
            <a:pPr lvl="2"/>
            <a:r>
              <a:rPr lang="en-US" sz="2400" dirty="0"/>
              <a:t>Follow-up</a:t>
            </a:r>
          </a:p>
          <a:p>
            <a:r>
              <a:rPr lang="en-US" sz="2600" dirty="0"/>
              <a:t>Organizations must implement fixes against well-known vulnerabilities and conduct periodic IT security audits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Summary, Part 9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12099010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00062" y="1143000"/>
            <a:ext cx="8550275" cy="3991862"/>
          </a:xfrm>
        </p:spPr>
        <p:txBody>
          <a:bodyPr/>
          <a:lstStyle/>
          <a:p>
            <a:r>
              <a:rPr lang="en-US" sz="2800" b="1" dirty="0"/>
              <a:t>What actions must be taken in the event of a successful security intrusion?</a:t>
            </a:r>
          </a:p>
          <a:p>
            <a:r>
              <a:rPr lang="en-US" sz="2800" dirty="0"/>
              <a:t>Many organizations use a managed security service provider (MSSP) to monitor, manage, and maintain their computer and network security</a:t>
            </a:r>
          </a:p>
          <a:p>
            <a:r>
              <a:rPr lang="en-US" sz="2800" dirty="0"/>
              <a:t>Experts trained in computer forensics collect, examine, and preserve data from computer devices and networks, in a manner that preserves the integrity of the data so it is admissible as evidence in a court of law.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Summary, Part 10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18400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engage">
      <a:dk1>
        <a:srgbClr val="000000"/>
      </a:dk1>
      <a:lt1>
        <a:srgbClr val="FFFFFF"/>
      </a:lt1>
      <a:dk2>
        <a:srgbClr val="000000"/>
      </a:dk2>
      <a:lt2>
        <a:srgbClr val="AAAEB4"/>
      </a:lt2>
      <a:accent1>
        <a:srgbClr val="0D3857"/>
      </a:accent1>
      <a:accent2>
        <a:srgbClr val="055C91"/>
      </a:accent2>
      <a:accent3>
        <a:srgbClr val="81C0DA"/>
      </a:accent3>
      <a:accent4>
        <a:srgbClr val="B0D3DF"/>
      </a:accent4>
      <a:accent5>
        <a:srgbClr val="E0DCCD"/>
      </a:accent5>
      <a:accent6>
        <a:srgbClr val="7C7666"/>
      </a:accent6>
      <a:hlink>
        <a:srgbClr val="055C91"/>
      </a:hlink>
      <a:folHlink>
        <a:srgbClr val="81C0DA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7839</TotalTime>
  <Words>5264</Words>
  <Application>Microsoft Office PowerPoint</Application>
  <PresentationFormat>On-screen Show (4:3)</PresentationFormat>
  <Paragraphs>340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8" baseType="lpstr">
      <vt:lpstr>Arial</vt:lpstr>
      <vt:lpstr>Calibri</vt:lpstr>
      <vt:lpstr>Calibri Light</vt:lpstr>
      <vt:lpstr>Office Theme</vt:lpstr>
      <vt:lpstr>Ethics in Information Technology</vt:lpstr>
      <vt:lpstr>Learning Objectives</vt:lpstr>
      <vt:lpstr>The Threat Landscape</vt:lpstr>
      <vt:lpstr>Why Computer Incidents Are So Prevalent, Part 1</vt:lpstr>
      <vt:lpstr>Why Computer Incidents Are So Prevalent, Part 2</vt:lpstr>
      <vt:lpstr>Classifying Perpetrators of Computer Crime</vt:lpstr>
      <vt:lpstr>Types of Exploits, Part 1</vt:lpstr>
      <vt:lpstr>Types of Exploits, Part 2</vt:lpstr>
      <vt:lpstr>Types of Exploits, Part 3</vt:lpstr>
      <vt:lpstr>Types of Exploits, Part 4</vt:lpstr>
      <vt:lpstr>Types of Exploits, Part 5</vt:lpstr>
      <vt:lpstr>Federal Laws for Prosecuting Computer Attacks, Part 1</vt:lpstr>
      <vt:lpstr>Federal Laws for Prosecuting Computer Attacks, Part 2</vt:lpstr>
      <vt:lpstr>CIA Security Triad</vt:lpstr>
      <vt:lpstr>Implementing CIA security</vt:lpstr>
      <vt:lpstr>Implementing CIA at the Organization Level</vt:lpstr>
      <vt:lpstr>General Risk Assessment Process</vt:lpstr>
      <vt:lpstr>Disaster Recovery</vt:lpstr>
      <vt:lpstr>Security Policies and Security Audits</vt:lpstr>
      <vt:lpstr>Regulatory Standards Compliance</vt:lpstr>
      <vt:lpstr>Security Dashboards</vt:lpstr>
      <vt:lpstr>Implementing CIA at the Network Level</vt:lpstr>
      <vt:lpstr>Firewalls &amp; Routers</vt:lpstr>
      <vt:lpstr>Encryption</vt:lpstr>
      <vt:lpstr>Proxy Servers and Virtual Private Networks</vt:lpstr>
      <vt:lpstr>Intrusion Detection System</vt:lpstr>
      <vt:lpstr>Implementing CIA at the Application Level</vt:lpstr>
      <vt:lpstr>Implementing CIA at the End-User-Level</vt:lpstr>
      <vt:lpstr>Response to Cyberattack</vt:lpstr>
      <vt:lpstr>Incident Notification</vt:lpstr>
      <vt:lpstr>Protection of Evidence and Activity Logs</vt:lpstr>
      <vt:lpstr>Eradication and Incident Follow-Up </vt:lpstr>
      <vt:lpstr>Using an MSSP</vt:lpstr>
      <vt:lpstr>Computer Forensics</vt:lpstr>
      <vt:lpstr>Summary, Part 1</vt:lpstr>
      <vt:lpstr>Summary, Part 2</vt:lpstr>
      <vt:lpstr>Summary, Part 3</vt:lpstr>
      <vt:lpstr>Summary, Part 4</vt:lpstr>
      <vt:lpstr>Summary, Part 5</vt:lpstr>
      <vt:lpstr>Summary, Part 6</vt:lpstr>
      <vt:lpstr>Summary, Part 7</vt:lpstr>
      <vt:lpstr>Summary, Part 8</vt:lpstr>
      <vt:lpstr>Summary, Part 9</vt:lpstr>
      <vt:lpstr>Summary, Part 10</vt:lpstr>
    </vt:vector>
  </TitlesOfParts>
  <Company>Course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Author</dc:creator>
  <cp:lastModifiedBy>Mary Pat Shaffer</cp:lastModifiedBy>
  <cp:revision>377</cp:revision>
  <cp:lastPrinted>2010-11-12T17:54:40Z</cp:lastPrinted>
  <dcterms:created xsi:type="dcterms:W3CDTF">2007-02-15T20:50:52Z</dcterms:created>
  <dcterms:modified xsi:type="dcterms:W3CDTF">2017-08-17T01:46:21Z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1933890983</vt:i4>
  </property>
  <property fmtid="{D5CDD505-2E9C-101B-9397-08002B2CF9AE}" pid="3" name="_NewReviewCycle">
    <vt:lpwstr/>
  </property>
  <property fmtid="{D5CDD505-2E9C-101B-9397-08002B2CF9AE}" pid="4" name="_EmailSubject">
    <vt:lpwstr>Cengage Branding/Accessibility </vt:lpwstr>
  </property>
  <property fmtid="{D5CDD505-2E9C-101B-9397-08002B2CF9AE}" pid="5" name="_AuthorEmail">
    <vt:lpwstr>Alyssa.Pratt@cengage.com</vt:lpwstr>
  </property>
  <property fmtid="{D5CDD505-2E9C-101B-9397-08002B2CF9AE}" pid="6" name="_AuthorEmailDisplayName">
    <vt:lpwstr>Pratt, Alyssa</vt:lpwstr>
  </property>
  <property fmtid="{D5CDD505-2E9C-101B-9397-08002B2CF9AE}" pid="7" name="_PreviousAdHocReviewCycleID">
    <vt:i4>-685122576</vt:i4>
  </property>
</Properties>
</file>