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6"/>
  </p:notesMasterIdLst>
  <p:handoutMasterIdLst>
    <p:handoutMasterId r:id="rId37"/>
  </p:handoutMasterIdLst>
  <p:sldIdLst>
    <p:sldId id="264" r:id="rId2"/>
    <p:sldId id="261" r:id="rId3"/>
    <p:sldId id="266" r:id="rId4"/>
    <p:sldId id="267" r:id="rId5"/>
    <p:sldId id="298" r:id="rId6"/>
    <p:sldId id="268" r:id="rId7"/>
    <p:sldId id="269" r:id="rId8"/>
    <p:sldId id="270" r:id="rId9"/>
    <p:sldId id="271" r:id="rId10"/>
    <p:sldId id="286" r:id="rId11"/>
    <p:sldId id="299" r:id="rId12"/>
    <p:sldId id="287" r:id="rId13"/>
    <p:sldId id="288" r:id="rId14"/>
    <p:sldId id="289" r:id="rId15"/>
    <p:sldId id="290" r:id="rId16"/>
    <p:sldId id="291" r:id="rId17"/>
    <p:sldId id="292" r:id="rId18"/>
    <p:sldId id="293" r:id="rId19"/>
    <p:sldId id="294" r:id="rId20"/>
    <p:sldId id="295" r:id="rId21"/>
    <p:sldId id="296" r:id="rId22"/>
    <p:sldId id="272" r:id="rId23"/>
    <p:sldId id="273" r:id="rId24"/>
    <p:sldId id="274" r:id="rId25"/>
    <p:sldId id="275" r:id="rId26"/>
    <p:sldId id="277" r:id="rId27"/>
    <p:sldId id="278" r:id="rId28"/>
    <p:sldId id="279" r:id="rId29"/>
    <p:sldId id="280" r:id="rId30"/>
    <p:sldId id="281" r:id="rId31"/>
    <p:sldId id="282" r:id="rId32"/>
    <p:sldId id="283" r:id="rId33"/>
    <p:sldId id="284" r:id="rId34"/>
    <p:sldId id="285" r:id="rId35"/>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86" autoAdjust="0"/>
    <p:restoredTop sz="99857" autoAdjust="0"/>
  </p:normalViewPr>
  <p:slideViewPr>
    <p:cSldViewPr>
      <p:cViewPr>
        <p:scale>
          <a:sx n="66" d="100"/>
          <a:sy n="66" d="100"/>
        </p:scale>
        <p:origin x="167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8/17/2017</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8/17/2017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Ethics in Information Technology</a:t>
            </a:r>
            <a:endParaRPr lang="en-US" sz="4700" dirty="0"/>
          </a:p>
        </p:txBody>
      </p:sp>
      <p:sp>
        <p:nvSpPr>
          <p:cNvPr id="3" name="Subtitle 2"/>
          <p:cNvSpPr>
            <a:spLocks noGrp="1"/>
          </p:cNvSpPr>
          <p:nvPr>
            <p:ph type="subTitle" idx="1"/>
          </p:nvPr>
        </p:nvSpPr>
        <p:spPr>
          <a:xfrm>
            <a:off x="609600" y="3124200"/>
            <a:ext cx="7747000" cy="2326021"/>
          </a:xfrm>
        </p:spPr>
        <p:txBody>
          <a:bodyPr/>
          <a:lstStyle/>
          <a:p>
            <a:r>
              <a:rPr lang="en-US" sz="3400" dirty="0"/>
              <a:t>Chapter 10</a:t>
            </a:r>
          </a:p>
          <a:p>
            <a:r>
              <a:rPr lang="en-US" sz="3800" b="1" dirty="0"/>
              <a:t>Ethics of IT Organizations</a:t>
            </a:r>
          </a:p>
          <a:p>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a:t>Learning Objectives</a:t>
            </a:r>
          </a:p>
        </p:txBody>
      </p:sp>
      <p:sp>
        <p:nvSpPr>
          <p:cNvPr id="4" name="Content Placeholder 3"/>
          <p:cNvSpPr>
            <a:spLocks noGrp="1"/>
          </p:cNvSpPr>
          <p:nvPr>
            <p:ph type="body" idx="1"/>
          </p:nvPr>
        </p:nvSpPr>
        <p:spPr>
          <a:xfrm>
            <a:off x="2425131" y="1143000"/>
            <a:ext cx="6337869" cy="4185761"/>
          </a:xfrm>
        </p:spPr>
        <p:txBody>
          <a:bodyPr/>
          <a:lstStyle/>
          <a:p>
            <a:pPr marL="457200" indent="-457200">
              <a:lnSpc>
                <a:spcPct val="100000"/>
              </a:lnSpc>
              <a:buFont typeface="Arial" panose="020B0604020202020204" pitchFamily="34" charset="0"/>
              <a:buChar char="•"/>
            </a:pPr>
            <a:r>
              <a:rPr lang="en-US" sz="2800" dirty="0">
                <a:solidFill>
                  <a:schemeClr val="tx1"/>
                </a:solidFill>
              </a:rPr>
              <a:t>What key legal and ethical issues are associated with the use of contingent workers, H-1B visa holders, and offshore outsourcing companies?</a:t>
            </a:r>
          </a:p>
          <a:p>
            <a:pPr marL="457200" indent="-457200">
              <a:lnSpc>
                <a:spcPct val="100000"/>
              </a:lnSpc>
              <a:buFont typeface="Arial" panose="020B0604020202020204" pitchFamily="34" charset="0"/>
              <a:buChar char="•"/>
            </a:pPr>
            <a:r>
              <a:rPr lang="en-US" sz="2800" dirty="0">
                <a:solidFill>
                  <a:schemeClr val="tx1"/>
                </a:solidFill>
              </a:rPr>
              <a:t>What is whistle-blowing, and what ethical issues are associated with it?</a:t>
            </a:r>
          </a:p>
          <a:p>
            <a:pPr marL="457200" indent="-457200">
              <a:lnSpc>
                <a:spcPct val="100000"/>
              </a:lnSpc>
              <a:buFont typeface="Arial" panose="020B0604020202020204" pitchFamily="34" charset="0"/>
              <a:buChar char="•"/>
            </a:pPr>
            <a:r>
              <a:rPr lang="en-US" sz="2800" dirty="0">
                <a:solidFill>
                  <a:schemeClr val="tx1"/>
                </a:solidFill>
              </a:rPr>
              <a:t>What is green computing, and what are organizations doing to support this initiative?</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219200"/>
            <a:ext cx="8415338" cy="4972130"/>
          </a:xfrm>
        </p:spPr>
        <p:txBody>
          <a:bodyPr/>
          <a:lstStyle/>
          <a:p>
            <a:r>
              <a:rPr lang="en-US" sz="2800" b="1" dirty="0"/>
              <a:t>Contingent work: </a:t>
            </a:r>
            <a:r>
              <a:rPr lang="en-US" sz="2800" dirty="0"/>
              <a:t>A job situation in which a worker</a:t>
            </a:r>
            <a:br>
              <a:rPr lang="en-US" sz="2800" dirty="0"/>
            </a:br>
            <a:r>
              <a:rPr lang="en-US" sz="2800" dirty="0"/>
              <a:t>does not have an explicit or implicit contract for long-term employment</a:t>
            </a:r>
          </a:p>
          <a:p>
            <a:r>
              <a:rPr lang="en-US" sz="2800" dirty="0"/>
              <a:t>Firms use contingent IT workers if they experience large fluctuations in technical staffing needs.</a:t>
            </a:r>
          </a:p>
          <a:p>
            <a:pPr lvl="1">
              <a:buClr>
                <a:schemeClr val="accent2"/>
              </a:buClr>
            </a:pPr>
            <a:r>
              <a:rPr lang="en-US" sz="2600" dirty="0"/>
              <a:t>Whether they work, when they work, and how much </a:t>
            </a:r>
            <a:br>
              <a:rPr lang="en-US" sz="2600" dirty="0"/>
            </a:br>
            <a:r>
              <a:rPr lang="en-US" sz="2600" dirty="0"/>
              <a:t>they work depends on the company’s need for them.</a:t>
            </a:r>
          </a:p>
          <a:p>
            <a:r>
              <a:rPr lang="en-US" sz="2800" dirty="0"/>
              <a:t>Organizations can obtain contingent workers through: </a:t>
            </a:r>
          </a:p>
          <a:p>
            <a:pPr lvl="1">
              <a:buClr>
                <a:schemeClr val="accent2"/>
              </a:buClr>
            </a:pPr>
            <a:r>
              <a:rPr lang="en-US" sz="2600" dirty="0"/>
              <a:t>Temporary staffing firms</a:t>
            </a:r>
          </a:p>
          <a:p>
            <a:pPr lvl="1">
              <a:buClr>
                <a:schemeClr val="accent2"/>
              </a:buClr>
            </a:pPr>
            <a:r>
              <a:rPr lang="en-US" sz="2600" dirty="0"/>
              <a:t>Employee leasing organizations</a:t>
            </a:r>
          </a:p>
          <a:p>
            <a:pPr lvl="1">
              <a:buClr>
                <a:schemeClr val="accent2"/>
              </a:buClr>
            </a:pPr>
            <a:r>
              <a:rPr lang="en-US" sz="2600" dirty="0"/>
              <a:t>Professional employer organizations (PEOs)</a:t>
            </a:r>
          </a:p>
        </p:txBody>
      </p:sp>
      <p:sp>
        <p:nvSpPr>
          <p:cNvPr id="3" name="Title 2"/>
          <p:cNvSpPr>
            <a:spLocks noGrp="1"/>
          </p:cNvSpPr>
          <p:nvPr>
            <p:ph type="title"/>
          </p:nvPr>
        </p:nvSpPr>
        <p:spPr>
          <a:xfrm>
            <a:off x="812800" y="290459"/>
            <a:ext cx="8026400" cy="527837"/>
          </a:xfrm>
        </p:spPr>
        <p:txBody>
          <a:bodyPr/>
          <a:lstStyle/>
          <a:p>
            <a:r>
              <a:rPr lang="en-US" sz="4000" dirty="0"/>
              <a:t>Use of Contingent Workers,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219200"/>
            <a:ext cx="8415338" cy="4733604"/>
          </a:xfrm>
        </p:spPr>
        <p:txBody>
          <a:bodyPr/>
          <a:lstStyle/>
          <a:p>
            <a:pPr>
              <a:spcBef>
                <a:spcPts val="800"/>
              </a:spcBef>
            </a:pPr>
            <a:r>
              <a:rPr lang="en-US" sz="2800" dirty="0"/>
              <a:t>Temporary staffing firms recruit, train, and test job seekers, and then assign them to clients as needed.</a:t>
            </a:r>
          </a:p>
          <a:p>
            <a:pPr>
              <a:spcBef>
                <a:spcPts val="800"/>
              </a:spcBef>
            </a:pPr>
            <a:r>
              <a:rPr lang="en-US" sz="2800" dirty="0"/>
              <a:t>Employee leasing: A subscribing firm transfers its workforce to a leasing firm, which handles all human-resource-related activities and costs; the workers become employees of the leasing firm</a:t>
            </a:r>
          </a:p>
          <a:p>
            <a:pPr lvl="1">
              <a:buClr>
                <a:schemeClr val="accent2"/>
              </a:buClr>
            </a:pPr>
            <a:r>
              <a:rPr lang="en-US" sz="2600" dirty="0"/>
              <a:t>Coemployment relationship: One in which two </a:t>
            </a:r>
            <a:br>
              <a:rPr lang="en-US" sz="2600" dirty="0"/>
            </a:br>
            <a:r>
              <a:rPr lang="en-US" sz="2600" dirty="0"/>
              <a:t>employers have legal rights and duties with respect to </a:t>
            </a:r>
            <a:br>
              <a:rPr lang="en-US" sz="2600" dirty="0"/>
            </a:br>
            <a:r>
              <a:rPr lang="en-US" sz="2600" dirty="0"/>
              <a:t>the same employee or group of employees</a:t>
            </a:r>
          </a:p>
          <a:p>
            <a:pPr>
              <a:spcBef>
                <a:spcPts val="800"/>
              </a:spcBef>
            </a:pPr>
            <a:r>
              <a:rPr lang="en-US" sz="2800" dirty="0"/>
              <a:t>PEO: A business entity that hires the employees of its clients and assumes responsibility for all HR functions</a:t>
            </a:r>
          </a:p>
        </p:txBody>
      </p:sp>
      <p:sp>
        <p:nvSpPr>
          <p:cNvPr id="3" name="Title 2"/>
          <p:cNvSpPr>
            <a:spLocks noGrp="1"/>
          </p:cNvSpPr>
          <p:nvPr>
            <p:ph type="title"/>
          </p:nvPr>
        </p:nvSpPr>
        <p:spPr>
          <a:xfrm>
            <a:off x="812800" y="290459"/>
            <a:ext cx="8026400" cy="527837"/>
          </a:xfrm>
        </p:spPr>
        <p:txBody>
          <a:bodyPr/>
          <a:lstStyle/>
          <a:p>
            <a:r>
              <a:rPr lang="en-US" sz="4000" dirty="0"/>
              <a:t>Use of Contingent Workers,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1983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448321"/>
            <a:ext cx="8415338" cy="3885679"/>
          </a:xfrm>
        </p:spPr>
        <p:txBody>
          <a:bodyPr/>
          <a:lstStyle/>
          <a:p>
            <a:r>
              <a:rPr lang="en-US" sz="2800" dirty="0"/>
              <a:t>The </a:t>
            </a:r>
            <a:r>
              <a:rPr lang="en-US" sz="2800" b="1" dirty="0"/>
              <a:t>gig economy</a:t>
            </a:r>
            <a:r>
              <a:rPr lang="en-US" sz="2800" dirty="0"/>
              <a:t>: Refers to a work environment in which temporary positions are common and organizations contract with independent workers for short-term engagements</a:t>
            </a:r>
          </a:p>
          <a:p>
            <a:r>
              <a:rPr lang="en-US" sz="2800" b="1" dirty="0"/>
              <a:t>Independent contractor: </a:t>
            </a:r>
            <a:r>
              <a:rPr lang="en-US" sz="2800" dirty="0"/>
              <a:t>An individual who provides services to another individual or organization according to terms defined in a written contract or within a verbal agreement</a:t>
            </a:r>
          </a:p>
          <a:p>
            <a:pPr lvl="1">
              <a:buClr>
                <a:schemeClr val="accent2"/>
              </a:buClr>
            </a:pPr>
            <a:endParaRPr lang="en-US" sz="2600" dirty="0"/>
          </a:p>
        </p:txBody>
      </p:sp>
      <p:sp>
        <p:nvSpPr>
          <p:cNvPr id="3" name="Title 2"/>
          <p:cNvSpPr>
            <a:spLocks noGrp="1"/>
          </p:cNvSpPr>
          <p:nvPr>
            <p:ph type="title"/>
          </p:nvPr>
        </p:nvSpPr>
        <p:spPr>
          <a:xfrm>
            <a:off x="812800" y="290459"/>
            <a:ext cx="8026400" cy="527837"/>
          </a:xfrm>
        </p:spPr>
        <p:txBody>
          <a:bodyPr/>
          <a:lstStyle/>
          <a:p>
            <a:r>
              <a:rPr lang="en-US" sz="4000" dirty="0"/>
              <a:t>Use of Contingent Workers,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66929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295400"/>
            <a:ext cx="8415338" cy="4855175"/>
          </a:xfrm>
        </p:spPr>
        <p:txBody>
          <a:bodyPr/>
          <a:lstStyle/>
          <a:p>
            <a:r>
              <a:rPr lang="en-US" sz="2800" b="1" dirty="0"/>
              <a:t>From the employee’s perspective</a:t>
            </a:r>
          </a:p>
          <a:p>
            <a:pPr lvl="1">
              <a:buClr>
                <a:schemeClr val="accent2"/>
              </a:buClr>
            </a:pPr>
            <a:r>
              <a:rPr lang="en-US" sz="2600" dirty="0"/>
              <a:t>Freedom to select from among temporary jobs and </a:t>
            </a:r>
            <a:br>
              <a:rPr lang="en-US" sz="2600" dirty="0"/>
            </a:br>
            <a:r>
              <a:rPr lang="en-US" sz="2600" dirty="0"/>
              <a:t>projects around the world</a:t>
            </a:r>
          </a:p>
          <a:p>
            <a:pPr lvl="1">
              <a:buClr>
                <a:schemeClr val="accent2"/>
              </a:buClr>
            </a:pPr>
            <a:r>
              <a:rPr lang="en-US" sz="2600" dirty="0"/>
              <a:t>Opportunity to change “jobs” frequently</a:t>
            </a:r>
          </a:p>
          <a:p>
            <a:pPr lvl="1">
              <a:buClr>
                <a:schemeClr val="accent2"/>
              </a:buClr>
            </a:pPr>
            <a:r>
              <a:rPr lang="en-US" sz="2600" dirty="0"/>
              <a:t>Greater flexibility in terms of work hours and location</a:t>
            </a:r>
          </a:p>
          <a:p>
            <a:r>
              <a:rPr lang="en-US" sz="2800" b="1" dirty="0"/>
              <a:t>From the employer’s perspective:</a:t>
            </a:r>
          </a:p>
          <a:p>
            <a:pPr lvl="1">
              <a:buClr>
                <a:schemeClr val="accent2"/>
              </a:buClr>
            </a:pPr>
            <a:r>
              <a:rPr lang="en-US" sz="2600" dirty="0"/>
              <a:t>Ability to choose the best individuals for a specific project </a:t>
            </a:r>
            <a:br>
              <a:rPr lang="en-US" sz="2600" dirty="0"/>
            </a:br>
            <a:r>
              <a:rPr lang="en-US" sz="2600" dirty="0"/>
              <a:t>from a larger pool of candidates</a:t>
            </a:r>
          </a:p>
          <a:p>
            <a:pPr lvl="1">
              <a:buClr>
                <a:schemeClr val="accent2"/>
              </a:buClr>
            </a:pPr>
            <a:r>
              <a:rPr lang="en-US" sz="2600" dirty="0"/>
              <a:t>Financial pressure to reduce staff and associated costs, </a:t>
            </a:r>
            <a:br>
              <a:rPr lang="en-US" sz="2600" dirty="0"/>
            </a:br>
            <a:r>
              <a:rPr lang="en-US" sz="2600" dirty="0"/>
              <a:t>such as payroll, benefits, office space, and training</a:t>
            </a:r>
          </a:p>
          <a:p>
            <a:pPr lvl="1">
              <a:buClr>
                <a:schemeClr val="accent2"/>
              </a:buClr>
            </a:pPr>
            <a:r>
              <a:rPr lang="en-US" sz="2600" dirty="0"/>
              <a:t>Enables organization to focus on core functions</a:t>
            </a:r>
          </a:p>
        </p:txBody>
      </p:sp>
      <p:sp>
        <p:nvSpPr>
          <p:cNvPr id="3" name="Title 2"/>
          <p:cNvSpPr>
            <a:spLocks noGrp="1"/>
          </p:cNvSpPr>
          <p:nvPr>
            <p:ph type="title"/>
          </p:nvPr>
        </p:nvSpPr>
        <p:spPr>
          <a:xfrm>
            <a:off x="762000" y="81395"/>
            <a:ext cx="8026400" cy="945965"/>
          </a:xfrm>
        </p:spPr>
        <p:txBody>
          <a:bodyPr/>
          <a:lstStyle/>
          <a:p>
            <a:r>
              <a:rPr lang="en-US" sz="3600" dirty="0"/>
              <a:t>Factors Behind the Trend Toward Independent Contractors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872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10-3 (part 1): This table presents a checklist of questions a manager should ask when using contingent workers:&#10;&#10;Have you reviewed the definition of an employee in your company’s policies and pension plan documents to ensure it is not so broad that it encompasses contingent workers, thus entitling them to benefits?&#10;Are you careful not to use the same contingent workers on an extended basis? Do you make sure the assignments are finite, with break periods in between?&#10;Do you use contracts that specifically designate workers as contingent workers?&#10;Are you aware that the actual circumstances of the working relationship determine whether a worker is considered an employee in various contexts, and that a company’s definition of a contingent worker may not be accepted as accurate by a government agency or court?&#10;"/>
          <p:cNvGraphicFramePr>
            <a:graphicFrameLocks noGrp="1"/>
          </p:cNvGraphicFramePr>
          <p:nvPr>
            <p:ph idx="1"/>
            <p:extLst>
              <p:ext uri="{D42A27DB-BD31-4B8C-83A1-F6EECF244321}">
                <p14:modId xmlns:p14="http://schemas.microsoft.com/office/powerpoint/2010/main" val="1118919024"/>
              </p:ext>
            </p:extLst>
          </p:nvPr>
        </p:nvGraphicFramePr>
        <p:xfrm>
          <a:off x="304799" y="1143000"/>
          <a:ext cx="8483601" cy="5311140"/>
        </p:xfrm>
        <a:graphic>
          <a:graphicData uri="http://schemas.openxmlformats.org/drawingml/2006/table">
            <a:tbl>
              <a:tblPr firstRow="1" bandRow="1">
                <a:tableStyleId>{5C22544A-7EE6-4342-B048-85BDC9FD1C3A}</a:tableStyleId>
              </a:tblPr>
              <a:tblGrid>
                <a:gridCol w="7239001">
                  <a:extLst>
                    <a:ext uri="{9D8B030D-6E8A-4147-A177-3AD203B41FA5}">
                      <a16:colId xmlns:a16="http://schemas.microsoft.com/office/drawing/2014/main" val="627808164"/>
                    </a:ext>
                  </a:extLst>
                </a:gridCol>
                <a:gridCol w="600790">
                  <a:extLst>
                    <a:ext uri="{9D8B030D-6E8A-4147-A177-3AD203B41FA5}">
                      <a16:colId xmlns:a16="http://schemas.microsoft.com/office/drawing/2014/main" val="639025638"/>
                    </a:ext>
                  </a:extLst>
                </a:gridCol>
                <a:gridCol w="643810">
                  <a:extLst>
                    <a:ext uri="{9D8B030D-6E8A-4147-A177-3AD203B41FA5}">
                      <a16:colId xmlns:a16="http://schemas.microsoft.com/office/drawing/2014/main" val="4175181965"/>
                    </a:ext>
                  </a:extLst>
                </a:gridCol>
              </a:tblGrid>
              <a:tr h="370840">
                <a:tc>
                  <a:txBody>
                    <a:bodyPr/>
                    <a:lstStyle/>
                    <a:p>
                      <a:r>
                        <a:rPr lang="en-US" sz="21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4084354752"/>
                  </a:ext>
                </a:extLst>
              </a:tr>
              <a:tr h="370840">
                <a:tc>
                  <a:txBody>
                    <a:bodyPr/>
                    <a:lstStyle/>
                    <a:p>
                      <a:pPr marL="342900" indent="-342900">
                        <a:spcBef>
                          <a:spcPts val="300"/>
                        </a:spcBef>
                        <a:buClr>
                          <a:schemeClr val="accent2"/>
                        </a:buClr>
                        <a:buFont typeface="Arial" panose="020B0604020202020204" pitchFamily="34" charset="0"/>
                        <a:buChar char="•"/>
                      </a:pPr>
                      <a:r>
                        <a:rPr lang="en-US" sz="2200" dirty="0"/>
                        <a:t>Have you reviewed the definition of an employee in your company’s policies and pension plan documents to ensure it is not so broad that it encompasses contingent workers, thus entitling them to benefits?</a:t>
                      </a:r>
                    </a:p>
                    <a:p>
                      <a:pPr marL="342900" indent="-342900">
                        <a:spcBef>
                          <a:spcPts val="300"/>
                        </a:spcBef>
                        <a:buClr>
                          <a:schemeClr val="accent2"/>
                        </a:buClr>
                        <a:buFont typeface="Arial" panose="020B0604020202020204" pitchFamily="34" charset="0"/>
                        <a:buChar char="•"/>
                      </a:pPr>
                      <a:r>
                        <a:rPr lang="en-US" sz="2200" dirty="0"/>
                        <a:t>Are you careful not to use the same contingent workers on an extended basis? Do you make sure the assignments are finite, with break periods in between?</a:t>
                      </a:r>
                    </a:p>
                    <a:p>
                      <a:pPr marL="342900" indent="-342900">
                        <a:spcBef>
                          <a:spcPts val="300"/>
                        </a:spcBef>
                        <a:buClr>
                          <a:schemeClr val="accent2"/>
                        </a:buClr>
                        <a:buFont typeface="Arial" panose="020B0604020202020204" pitchFamily="34" charset="0"/>
                        <a:buChar char="•"/>
                      </a:pPr>
                      <a:r>
                        <a:rPr lang="en-US" sz="2200" dirty="0"/>
                        <a:t>Do you use contracts that specifically designate workers </a:t>
                      </a:r>
                      <a:br>
                        <a:rPr lang="en-US" sz="2200" dirty="0"/>
                      </a:br>
                      <a:r>
                        <a:rPr lang="en-US" sz="2200" dirty="0"/>
                        <a:t>as contingent workers?</a:t>
                      </a:r>
                    </a:p>
                    <a:p>
                      <a:pPr marL="342900" indent="-342900">
                        <a:spcBef>
                          <a:spcPts val="300"/>
                        </a:spcBef>
                        <a:buClr>
                          <a:schemeClr val="accent2"/>
                        </a:buClr>
                        <a:buFont typeface="Arial" panose="020B0604020202020204" pitchFamily="34" charset="0"/>
                        <a:buChar char="•"/>
                      </a:pPr>
                      <a:r>
                        <a:rPr lang="en-US" sz="2200" dirty="0"/>
                        <a:t>Are you aware that the actual circumstances of the working relationship determine whether a worker is considered an employee in various contexts, and that a company’s definition of a contingent worker may not be accepted by a government agency or court?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78572352"/>
                  </a:ext>
                </a:extLst>
              </a:tr>
            </a:tbl>
          </a:graphicData>
        </a:graphic>
      </p:graphicFrame>
      <p:sp>
        <p:nvSpPr>
          <p:cNvPr id="3" name="Title 2"/>
          <p:cNvSpPr>
            <a:spLocks noGrp="1"/>
          </p:cNvSpPr>
          <p:nvPr>
            <p:ph type="title"/>
          </p:nvPr>
        </p:nvSpPr>
        <p:spPr>
          <a:xfrm>
            <a:off x="762000" y="107684"/>
            <a:ext cx="8026400" cy="893386"/>
          </a:xfrm>
        </p:spPr>
        <p:txBody>
          <a:bodyPr/>
          <a:lstStyle/>
          <a:p>
            <a:r>
              <a:rPr lang="en-US" sz="3400" dirty="0"/>
              <a:t>Manager’s Checklist for the Use of </a:t>
            </a:r>
            <a:br>
              <a:rPr lang="en-US" sz="3400" dirty="0"/>
            </a:br>
            <a:r>
              <a:rPr lang="en-US" sz="3400" dirty="0"/>
              <a:t>Contingent Workers,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7039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10-3 (part 2): This table presents a checklist of questions a manager should ask when using contingent workers:&#10;&#10;Are you and other managers and workers aware that staffing firm employees are covered by antidiscrimination laws and therefore you cannot discriminate against them on the basis of race, color, religion, sex, national origin, or disability?&#10;Do you avoid telling contingent workers where, when, and how to do their jobs and instead work through the contingent worker’s manager to communicate job requirements?&#10;Do you request that contingent workers use their own equipment and resources, such as computers and email accounts?&#10;Do you avoid training your contingent workers?&#10;When leasing employees from an agency, do you let the agency do its job? Do you avoid asking to see résumés and getting involved with compensation, performance feedback, counseling, or day-to-day supervision?&#10;"/>
          <p:cNvGraphicFramePr>
            <a:graphicFrameLocks noGrp="1"/>
          </p:cNvGraphicFramePr>
          <p:nvPr>
            <p:ph idx="1"/>
            <p:extLst>
              <p:ext uri="{D42A27DB-BD31-4B8C-83A1-F6EECF244321}">
                <p14:modId xmlns:p14="http://schemas.microsoft.com/office/powerpoint/2010/main" val="2914718086"/>
              </p:ext>
            </p:extLst>
          </p:nvPr>
        </p:nvGraphicFramePr>
        <p:xfrm>
          <a:off x="304799" y="1066800"/>
          <a:ext cx="8483600" cy="5349240"/>
        </p:xfrm>
        <a:graphic>
          <a:graphicData uri="http://schemas.openxmlformats.org/drawingml/2006/table">
            <a:tbl>
              <a:tblPr firstRow="1" bandRow="1">
                <a:tableStyleId>{5C22544A-7EE6-4342-B048-85BDC9FD1C3A}</a:tableStyleId>
              </a:tblPr>
              <a:tblGrid>
                <a:gridCol w="7318521">
                  <a:extLst>
                    <a:ext uri="{9D8B030D-6E8A-4147-A177-3AD203B41FA5}">
                      <a16:colId xmlns:a16="http://schemas.microsoft.com/office/drawing/2014/main" val="627808164"/>
                    </a:ext>
                  </a:extLst>
                </a:gridCol>
                <a:gridCol w="587354">
                  <a:extLst>
                    <a:ext uri="{9D8B030D-6E8A-4147-A177-3AD203B41FA5}">
                      <a16:colId xmlns:a16="http://schemas.microsoft.com/office/drawing/2014/main" val="639025638"/>
                    </a:ext>
                  </a:extLst>
                </a:gridCol>
                <a:gridCol w="577725">
                  <a:extLst>
                    <a:ext uri="{9D8B030D-6E8A-4147-A177-3AD203B41FA5}">
                      <a16:colId xmlns:a16="http://schemas.microsoft.com/office/drawing/2014/main" val="4175181965"/>
                    </a:ext>
                  </a:extLst>
                </a:gridCol>
              </a:tblGrid>
              <a:tr h="370840">
                <a:tc>
                  <a:txBody>
                    <a:bodyPr/>
                    <a:lstStyle/>
                    <a:p>
                      <a:r>
                        <a:rPr lang="en-US" sz="21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4084354752"/>
                  </a:ext>
                </a:extLst>
              </a:tr>
              <a:tr h="370840">
                <a:tc>
                  <a:txBody>
                    <a:bodyPr/>
                    <a:lstStyle/>
                    <a:p>
                      <a:pPr marL="342900" indent="-342900">
                        <a:spcBef>
                          <a:spcPts val="300"/>
                        </a:spcBef>
                        <a:buClr>
                          <a:schemeClr val="accent2"/>
                        </a:buClr>
                        <a:buFont typeface="Arial" panose="020B0604020202020204" pitchFamily="34" charset="0"/>
                        <a:buChar char="•"/>
                      </a:pPr>
                      <a:r>
                        <a:rPr lang="en-US" sz="2200" dirty="0"/>
                        <a:t>Are you, other managers, and workers aware that staffing firm employees are covered by antidiscrimination laws and cannot discriminate against them on the basis of race, color, religion, sex, national origin, or disability?</a:t>
                      </a:r>
                    </a:p>
                    <a:p>
                      <a:pPr marL="342900" indent="-342900">
                        <a:spcBef>
                          <a:spcPts val="300"/>
                        </a:spcBef>
                        <a:buClr>
                          <a:schemeClr val="accent2"/>
                        </a:buClr>
                        <a:buFont typeface="Arial" panose="020B0604020202020204" pitchFamily="34" charset="0"/>
                        <a:buChar char="•"/>
                      </a:pPr>
                      <a:r>
                        <a:rPr lang="en-US" sz="2200" dirty="0"/>
                        <a:t>Do you avoid telling contingent workers where, when, and how to do their jobs and work through the contingent worker’s manager to communicate job requirements?</a:t>
                      </a:r>
                    </a:p>
                    <a:p>
                      <a:pPr marL="342900" indent="-342900">
                        <a:spcBef>
                          <a:spcPts val="300"/>
                        </a:spcBef>
                        <a:buClr>
                          <a:schemeClr val="accent2"/>
                        </a:buClr>
                        <a:buFont typeface="Arial" panose="020B0604020202020204" pitchFamily="34" charset="0"/>
                        <a:buChar char="•"/>
                      </a:pPr>
                      <a:r>
                        <a:rPr lang="en-US" sz="2200" dirty="0"/>
                        <a:t>Do you request that contingent workers use their own equipment/resources, such as computers/email accounts?</a:t>
                      </a:r>
                    </a:p>
                    <a:p>
                      <a:pPr marL="342900" indent="-342900">
                        <a:spcBef>
                          <a:spcPts val="300"/>
                        </a:spcBef>
                        <a:buClr>
                          <a:schemeClr val="accent2"/>
                        </a:buClr>
                        <a:buFont typeface="Arial" panose="020B0604020202020204" pitchFamily="34" charset="0"/>
                        <a:buChar char="•"/>
                      </a:pPr>
                      <a:r>
                        <a:rPr lang="en-US" sz="2200" dirty="0"/>
                        <a:t>Do you avoid training your contingent workers?</a:t>
                      </a:r>
                    </a:p>
                    <a:p>
                      <a:pPr marL="342900" indent="-342900">
                        <a:spcBef>
                          <a:spcPts val="300"/>
                        </a:spcBef>
                        <a:buClr>
                          <a:schemeClr val="accent2"/>
                        </a:buClr>
                        <a:buFont typeface="Arial" panose="020B0604020202020204" pitchFamily="34" charset="0"/>
                        <a:buChar char="•"/>
                      </a:pPr>
                      <a:r>
                        <a:rPr lang="en-US" sz="2200" dirty="0"/>
                        <a:t>When leasing employees from an agency, do you let the agency do its job? Do you avoid asking to see résumés and getting involved with compensation, performance feedback, counseling, or day-to-day supervision?</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78572352"/>
                  </a:ext>
                </a:extLst>
              </a:tr>
            </a:tbl>
          </a:graphicData>
        </a:graphic>
      </p:graphicFrame>
      <p:sp>
        <p:nvSpPr>
          <p:cNvPr id="3" name="Title 2"/>
          <p:cNvSpPr>
            <a:spLocks noGrp="1"/>
          </p:cNvSpPr>
          <p:nvPr>
            <p:ph type="title"/>
          </p:nvPr>
        </p:nvSpPr>
        <p:spPr>
          <a:xfrm>
            <a:off x="762000" y="107684"/>
            <a:ext cx="8026400" cy="893386"/>
          </a:xfrm>
        </p:spPr>
        <p:txBody>
          <a:bodyPr/>
          <a:lstStyle/>
          <a:p>
            <a:r>
              <a:rPr lang="en-US" sz="3400" dirty="0"/>
              <a:t>Manager’s Checklist for the Use of </a:t>
            </a:r>
            <a:br>
              <a:rPr lang="en-US" sz="3400" dirty="0"/>
            </a:br>
            <a:r>
              <a:rPr lang="en-US" sz="3400" dirty="0"/>
              <a:t>Contingent Workers,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9781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476884"/>
          </a:xfrm>
        </p:spPr>
        <p:txBody>
          <a:bodyPr/>
          <a:lstStyle/>
          <a:p>
            <a:r>
              <a:rPr lang="en-US" sz="2800" b="1" dirty="0"/>
              <a:t>H-1B visa</a:t>
            </a:r>
            <a:r>
              <a:rPr lang="en-US" sz="2800" dirty="0"/>
              <a:t>: A temporary work visa granted by the U.S. Citizenship and Immigration Services (USCIS) for people who work in specialty occupations</a:t>
            </a:r>
          </a:p>
          <a:p>
            <a:pPr lvl="1">
              <a:buClr>
                <a:schemeClr val="accent2"/>
              </a:buClr>
            </a:pPr>
            <a:r>
              <a:rPr lang="en-US" sz="2600" dirty="0"/>
              <a:t>A person can work as an H-1B employee for a </a:t>
            </a:r>
            <a:br>
              <a:rPr lang="en-US" sz="2600" dirty="0"/>
            </a:br>
            <a:r>
              <a:rPr lang="en-US" sz="2600" dirty="0"/>
              <a:t>maximum continuous period of six years</a:t>
            </a:r>
          </a:p>
          <a:p>
            <a:r>
              <a:rPr lang="en-US" sz="2800" dirty="0"/>
              <a:t>Top countries of birth for H1-B workers in 2015: </a:t>
            </a:r>
          </a:p>
          <a:p>
            <a:pPr lvl="1">
              <a:buClr>
                <a:schemeClr val="accent2"/>
              </a:buClr>
            </a:pPr>
            <a:r>
              <a:rPr lang="en-US" sz="2600" dirty="0"/>
              <a:t>India and China</a:t>
            </a:r>
          </a:p>
          <a:p>
            <a:r>
              <a:rPr lang="en-US" sz="2800" dirty="0"/>
              <a:t>Congress sets an annual cap on the number of visas </a:t>
            </a:r>
            <a:br>
              <a:rPr lang="en-US" sz="2800" dirty="0"/>
            </a:br>
            <a:r>
              <a:rPr lang="en-US" sz="2800" dirty="0"/>
              <a:t>but allows many exceptions:</a:t>
            </a:r>
          </a:p>
          <a:p>
            <a:pPr lvl="1">
              <a:buClr>
                <a:schemeClr val="accent2"/>
              </a:buClr>
            </a:pPr>
            <a:r>
              <a:rPr lang="en-US" sz="2600" dirty="0"/>
              <a:t>60,000</a:t>
            </a:r>
            <a:r>
              <a:rPr lang="en-US" dirty="0"/>
              <a:t> </a:t>
            </a:r>
            <a:r>
              <a:rPr lang="en-US" sz="2600" dirty="0"/>
              <a:t>with an additional 20,000 for foreign graduates</a:t>
            </a:r>
            <a:br>
              <a:rPr lang="en-US" sz="2600" dirty="0"/>
            </a:br>
            <a:r>
              <a:rPr lang="en-US" sz="2600" dirty="0"/>
              <a:t> of U.S. universities with advanced degrees</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H1-B Workers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37237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361323"/>
            <a:ext cx="8415338" cy="3907993"/>
          </a:xfrm>
        </p:spPr>
        <p:txBody>
          <a:bodyPr/>
          <a:lstStyle/>
          <a:p>
            <a:r>
              <a:rPr lang="en-US" sz="2700" dirty="0"/>
              <a:t>Companies using H-1B visas must offer a wage that is at least 95 percent of the average salary for the occupation.</a:t>
            </a:r>
          </a:p>
          <a:p>
            <a:pPr lvl="1">
              <a:buClr>
                <a:schemeClr val="accent2"/>
              </a:buClr>
            </a:pPr>
            <a:r>
              <a:rPr lang="en-US" sz="2600" dirty="0"/>
              <a:t>Wages in IT vary substantially, so unethical companies </a:t>
            </a:r>
            <a:br>
              <a:rPr lang="en-US" sz="2600" dirty="0"/>
            </a:br>
            <a:r>
              <a:rPr lang="en-US" sz="2600" dirty="0"/>
              <a:t>can get around the average salary requirement.</a:t>
            </a:r>
          </a:p>
          <a:p>
            <a:r>
              <a:rPr lang="en-US" sz="2700" dirty="0"/>
              <a:t>Companies that use H-1B visas must declare they will </a:t>
            </a:r>
            <a:br>
              <a:rPr lang="en-US" sz="2700" dirty="0"/>
            </a:br>
            <a:r>
              <a:rPr lang="en-US" sz="2700" dirty="0"/>
              <a:t>not displace American workers.</a:t>
            </a:r>
          </a:p>
          <a:p>
            <a:r>
              <a:rPr lang="en-US" sz="2700" dirty="0"/>
              <a:t>Companies can obtain an exemption if 15 percent or more of their workers are on H-1B visas and the H-1B workers are paid &gt; $60,000 a year.</a:t>
            </a:r>
          </a:p>
        </p:txBody>
      </p:sp>
      <p:sp>
        <p:nvSpPr>
          <p:cNvPr id="3" name="Title 2"/>
          <p:cNvSpPr>
            <a:spLocks noGrp="1"/>
          </p:cNvSpPr>
          <p:nvPr>
            <p:ph type="title"/>
          </p:nvPr>
        </p:nvSpPr>
        <p:spPr>
          <a:xfrm>
            <a:off x="762000" y="290459"/>
            <a:ext cx="8026400" cy="527837"/>
          </a:xfrm>
        </p:spPr>
        <p:txBody>
          <a:bodyPr/>
          <a:lstStyle/>
          <a:p>
            <a:r>
              <a:rPr lang="en-US" sz="4000" dirty="0"/>
              <a:t>Gaming the H1-B Visa Program,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0445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10340"/>
            <a:ext cx="8415338" cy="3085460"/>
          </a:xfrm>
        </p:spPr>
        <p:txBody>
          <a:bodyPr/>
          <a:lstStyle/>
          <a:p>
            <a:r>
              <a:rPr lang="en-US" sz="2800" dirty="0"/>
              <a:t>In 2015, the majority of H-1B workers were computer programmers and systems analysts, with a median salary of $61,131–$71,150.</a:t>
            </a:r>
          </a:p>
          <a:p>
            <a:r>
              <a:rPr lang="en-US" sz="2800" dirty="0"/>
              <a:t>The median salary for U.S. workers in those same positions is higher:</a:t>
            </a:r>
          </a:p>
          <a:p>
            <a:pPr lvl="1">
              <a:buClr>
                <a:schemeClr val="accent2"/>
              </a:buClr>
            </a:pPr>
            <a:r>
              <a:rPr lang="en-US" sz="2600" dirty="0"/>
              <a:t>U.S. computer programmers = $79,840 </a:t>
            </a:r>
          </a:p>
          <a:p>
            <a:pPr lvl="1">
              <a:buClr>
                <a:schemeClr val="accent2"/>
              </a:buClr>
            </a:pPr>
            <a:r>
              <a:rPr lang="en-US" sz="2600" dirty="0"/>
              <a:t>U.S. systems analysts = $87,220</a:t>
            </a:r>
          </a:p>
        </p:txBody>
      </p:sp>
      <p:sp>
        <p:nvSpPr>
          <p:cNvPr id="3" name="Title 2"/>
          <p:cNvSpPr>
            <a:spLocks noGrp="1"/>
          </p:cNvSpPr>
          <p:nvPr>
            <p:ph type="title"/>
          </p:nvPr>
        </p:nvSpPr>
        <p:spPr>
          <a:xfrm>
            <a:off x="762000" y="290459"/>
            <a:ext cx="8026400" cy="527837"/>
          </a:xfrm>
        </p:spPr>
        <p:txBody>
          <a:bodyPr/>
          <a:lstStyle/>
          <a:p>
            <a:r>
              <a:rPr lang="en-US" sz="4000" dirty="0"/>
              <a:t>Gaming the H1-B Visa Program,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0731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4" y="1143000"/>
            <a:ext cx="8702676" cy="5132687"/>
          </a:xfrm>
        </p:spPr>
        <p:txBody>
          <a:bodyPr/>
          <a:lstStyle/>
          <a:p>
            <a:r>
              <a:rPr lang="en-US" sz="2700" dirty="0"/>
              <a:t>Many U.S. companies complain they have trouble </a:t>
            </a:r>
            <a:br>
              <a:rPr lang="en-US" sz="2700" dirty="0"/>
            </a:br>
            <a:r>
              <a:rPr lang="en-US" sz="2700" dirty="0"/>
              <a:t>finding enough qualified U.S. IT workers</a:t>
            </a:r>
          </a:p>
          <a:p>
            <a:pPr lvl="1">
              <a:buClr>
                <a:schemeClr val="accent2"/>
              </a:buClr>
            </a:pPr>
            <a:r>
              <a:rPr lang="en-US" sz="2500" dirty="0"/>
              <a:t>Critics challenge whether the U.S. needs to continue </a:t>
            </a:r>
            <a:br>
              <a:rPr lang="en-US" sz="2500" dirty="0"/>
            </a:br>
            <a:r>
              <a:rPr lang="en-US" sz="2500" dirty="0"/>
              <a:t>importing tens of thousands of H-1B workers each year</a:t>
            </a:r>
          </a:p>
          <a:p>
            <a:pPr>
              <a:spcBef>
                <a:spcPts val="800"/>
              </a:spcBef>
            </a:pPr>
            <a:r>
              <a:rPr lang="en-US" sz="2700" dirty="0"/>
              <a:t>The National Center for Education Statistics estimate:</a:t>
            </a:r>
          </a:p>
          <a:p>
            <a:pPr lvl="1">
              <a:spcBef>
                <a:spcPts val="300"/>
              </a:spcBef>
              <a:buClr>
                <a:schemeClr val="accent2"/>
              </a:buClr>
            </a:pPr>
            <a:r>
              <a:rPr lang="en-US" sz="2600" dirty="0"/>
              <a:t>130,000 U.S. computer and information science </a:t>
            </a:r>
            <a:br>
              <a:rPr lang="en-US" sz="2600" dirty="0"/>
            </a:br>
            <a:r>
              <a:rPr lang="en-US" sz="2600" dirty="0"/>
              <a:t>graduates each year</a:t>
            </a:r>
          </a:p>
          <a:p>
            <a:r>
              <a:rPr lang="en-US" sz="2700" dirty="0"/>
              <a:t> BLS projection:</a:t>
            </a:r>
          </a:p>
          <a:p>
            <a:pPr lvl="1">
              <a:spcBef>
                <a:spcPts val="300"/>
              </a:spcBef>
              <a:buClr>
                <a:schemeClr val="accent2"/>
              </a:buClr>
            </a:pPr>
            <a:r>
              <a:rPr lang="en-US" sz="2600" dirty="0"/>
              <a:t>An increase of 53,000 new U.S. tech jobs per year </a:t>
            </a:r>
            <a:br>
              <a:rPr lang="en-US" sz="2600" dirty="0"/>
            </a:br>
            <a:r>
              <a:rPr lang="en-US" sz="2600" dirty="0"/>
              <a:t>from 2014 to 2024</a:t>
            </a:r>
          </a:p>
          <a:p>
            <a:pPr>
              <a:spcBef>
                <a:spcPts val="800"/>
              </a:spcBef>
            </a:pPr>
            <a:r>
              <a:rPr lang="en-US" sz="2700" dirty="0"/>
              <a:t>The supply of U.S. computer/information science graduates is substantially larger than the demand</a:t>
            </a:r>
          </a:p>
        </p:txBody>
      </p:sp>
      <p:sp>
        <p:nvSpPr>
          <p:cNvPr id="3" name="Title 2"/>
          <p:cNvSpPr>
            <a:spLocks noGrp="1"/>
          </p:cNvSpPr>
          <p:nvPr>
            <p:ph type="title"/>
          </p:nvPr>
        </p:nvSpPr>
        <p:spPr>
          <a:xfrm>
            <a:off x="762000" y="290459"/>
            <a:ext cx="8026400" cy="527837"/>
          </a:xfrm>
        </p:spPr>
        <p:txBody>
          <a:bodyPr/>
          <a:lstStyle/>
          <a:p>
            <a:r>
              <a:rPr lang="en-US" sz="4000" dirty="0"/>
              <a:t>The Need for H1-B Workers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8282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4" y="1219200"/>
            <a:ext cx="8626475" cy="4884414"/>
          </a:xfrm>
        </p:spPr>
        <p:txBody>
          <a:bodyPr/>
          <a:lstStyle/>
          <a:p>
            <a:r>
              <a:rPr lang="en-US" sz="2700" dirty="0"/>
              <a:t>Opinions vary about whether hiring H-1B workers </a:t>
            </a:r>
            <a:br>
              <a:rPr lang="en-US" sz="2700" dirty="0"/>
            </a:br>
            <a:r>
              <a:rPr lang="en-US" sz="2700" dirty="0"/>
              <a:t>affects job opportunities and wages for U.S. workers</a:t>
            </a:r>
          </a:p>
          <a:p>
            <a:r>
              <a:rPr lang="en-US" sz="2700" dirty="0"/>
              <a:t>Many factors affect an individual’s salary, including</a:t>
            </a:r>
            <a:r>
              <a:rPr lang="en-US" sz="2800" dirty="0"/>
              <a:t>:</a:t>
            </a:r>
          </a:p>
          <a:p>
            <a:pPr lvl="1">
              <a:buClr>
                <a:schemeClr val="accent2"/>
              </a:buClr>
            </a:pPr>
            <a:r>
              <a:rPr lang="en-US" sz="2600" dirty="0"/>
              <a:t>Age, education, experience, citizenship status, race, </a:t>
            </a:r>
            <a:br>
              <a:rPr lang="en-US" sz="2600" dirty="0"/>
            </a:br>
            <a:r>
              <a:rPr lang="en-US" sz="2600" dirty="0"/>
              <a:t>sex, and employment location </a:t>
            </a:r>
          </a:p>
          <a:p>
            <a:r>
              <a:rPr lang="en-US" sz="2700" dirty="0"/>
              <a:t>Determining the impact of H-1B visas would require </a:t>
            </a:r>
            <a:br>
              <a:rPr lang="en-US" sz="2700" dirty="0"/>
            </a:br>
            <a:r>
              <a:rPr lang="en-US" sz="2700" dirty="0"/>
              <a:t>taking all these factors into account.</a:t>
            </a:r>
          </a:p>
          <a:p>
            <a:r>
              <a:rPr lang="en-US" sz="2700" dirty="0"/>
              <a:t>However, the law of supply and demand makes clear:</a:t>
            </a:r>
          </a:p>
          <a:p>
            <a:pPr lvl="1">
              <a:buClr>
                <a:schemeClr val="accent2"/>
              </a:buClr>
            </a:pPr>
            <a:r>
              <a:rPr lang="en-US" sz="2500" dirty="0"/>
              <a:t>When the supply of workers exceeds the demand for a specific job classification in a specific geographic area, an increase in unemployment and a decrease in salaries are likely.</a:t>
            </a:r>
          </a:p>
        </p:txBody>
      </p:sp>
      <p:sp>
        <p:nvSpPr>
          <p:cNvPr id="3" name="Title 2"/>
          <p:cNvSpPr>
            <a:spLocks noGrp="1"/>
          </p:cNvSpPr>
          <p:nvPr>
            <p:ph type="title"/>
          </p:nvPr>
        </p:nvSpPr>
        <p:spPr>
          <a:xfrm>
            <a:off x="762000" y="292766"/>
            <a:ext cx="8026400" cy="523220"/>
          </a:xfrm>
        </p:spPr>
        <p:txBody>
          <a:bodyPr/>
          <a:lstStyle/>
          <a:p>
            <a:r>
              <a:rPr lang="en-US" sz="4000" dirty="0"/>
              <a:t>Effects of H1-B Visa Program</a:t>
            </a:r>
            <a:r>
              <a:rPr lang="en-US" dirty="0"/>
              <a:t>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5362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438138"/>
          </a:xfrm>
        </p:spPr>
        <p:txBody>
          <a:bodyPr/>
          <a:lstStyle/>
          <a:p>
            <a:r>
              <a:rPr lang="en-US" sz="2800" b="1" dirty="0"/>
              <a:t>Outsourcing: </a:t>
            </a:r>
            <a:r>
              <a:rPr lang="en-US" sz="2800" dirty="0"/>
              <a:t>A long-term business arrangement in which a company contracts for services with an outside organization with expertise in a specific function</a:t>
            </a:r>
          </a:p>
          <a:p>
            <a:pPr lvl="1">
              <a:spcBef>
                <a:spcPts val="400"/>
              </a:spcBef>
              <a:buClr>
                <a:schemeClr val="accent2"/>
              </a:buClr>
            </a:pPr>
            <a:r>
              <a:rPr lang="en-US" sz="2600" dirty="0"/>
              <a:t>To lower costs </a:t>
            </a:r>
          </a:p>
          <a:p>
            <a:pPr lvl="1">
              <a:spcBef>
                <a:spcPts val="400"/>
              </a:spcBef>
              <a:buClr>
                <a:schemeClr val="accent2"/>
              </a:buClr>
            </a:pPr>
            <a:r>
              <a:rPr lang="en-US" sz="2600" dirty="0"/>
              <a:t>To obtain strategic flexibility</a:t>
            </a:r>
          </a:p>
          <a:p>
            <a:pPr lvl="1">
              <a:spcBef>
                <a:spcPts val="400"/>
              </a:spcBef>
              <a:buClr>
                <a:schemeClr val="accent2"/>
              </a:buClr>
            </a:pPr>
            <a:r>
              <a:rPr lang="en-US" sz="2600" dirty="0"/>
              <a:t>To keep the firm’s staff focused on core competencies</a:t>
            </a:r>
          </a:p>
          <a:p>
            <a:r>
              <a:rPr lang="en-US" sz="2800" b="1" dirty="0"/>
              <a:t>Offshore outsourcing: </a:t>
            </a:r>
            <a:r>
              <a:rPr lang="en-US" sz="2800" dirty="0"/>
              <a:t>A form of outsourcing in which services are provided by an organization whose employees are in a foreign country</a:t>
            </a:r>
          </a:p>
          <a:p>
            <a:pPr lvl="1">
              <a:spcBef>
                <a:spcPts val="800"/>
              </a:spcBef>
              <a:buClr>
                <a:schemeClr val="accent2"/>
              </a:buClr>
            </a:pPr>
            <a:r>
              <a:rPr lang="en-US" sz="2600" dirty="0"/>
              <a:t>The use of offshore outsourcing in the IT field is common</a:t>
            </a:r>
          </a:p>
        </p:txBody>
      </p:sp>
      <p:sp>
        <p:nvSpPr>
          <p:cNvPr id="3" name="Title 2"/>
          <p:cNvSpPr>
            <a:spLocks noGrp="1"/>
          </p:cNvSpPr>
          <p:nvPr>
            <p:ph type="title"/>
          </p:nvPr>
        </p:nvSpPr>
        <p:spPr>
          <a:xfrm>
            <a:off x="762000" y="290459"/>
            <a:ext cx="8026400" cy="527837"/>
          </a:xfrm>
        </p:spPr>
        <p:txBody>
          <a:bodyPr/>
          <a:lstStyle/>
          <a:p>
            <a:r>
              <a:rPr lang="en-US" sz="4000" dirty="0"/>
              <a:t>Outsourcing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218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his table lists some pros and cons of using offshore outsourcing:&#10;&#10;Pros:&#10;Cost savings gained by employing foreign workers&#10;Teams working in different time zones: Can speed up software development efforts and provide continuous support for key software applications&#10;&#10;Cons:&#10;Lay-offs of domestic staff&#10;Difficulty in finding a reputable vendor&#10;New time/resource costs: Select an offshore vendor, travel and communication, develop a good working relationship with the vendor&#10;Misunderstanding due to cultural and language differences&#10;Potential risks to customer data&#10;Does not advance the development of U.S. IT workers&#10;"/>
          <p:cNvGraphicFramePr>
            <a:graphicFrameLocks noGrp="1"/>
          </p:cNvGraphicFramePr>
          <p:nvPr>
            <p:ph idx="1"/>
            <p:extLst>
              <p:ext uri="{D42A27DB-BD31-4B8C-83A1-F6EECF244321}">
                <p14:modId xmlns:p14="http://schemas.microsoft.com/office/powerpoint/2010/main" val="1898209814"/>
              </p:ext>
            </p:extLst>
          </p:nvPr>
        </p:nvGraphicFramePr>
        <p:xfrm>
          <a:off x="457200" y="1143000"/>
          <a:ext cx="8153400" cy="531368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3417662741"/>
                    </a:ext>
                  </a:extLst>
                </a:gridCol>
                <a:gridCol w="4419600">
                  <a:extLst>
                    <a:ext uri="{9D8B030D-6E8A-4147-A177-3AD203B41FA5}">
                      <a16:colId xmlns:a16="http://schemas.microsoft.com/office/drawing/2014/main" val="932724666"/>
                    </a:ext>
                  </a:extLst>
                </a:gridCol>
              </a:tblGrid>
              <a:tr h="370840">
                <a:tc>
                  <a:txBody>
                    <a:bodyPr/>
                    <a:lstStyle/>
                    <a:p>
                      <a:r>
                        <a:rPr lang="en-US" sz="2400" dirty="0"/>
                        <a:t>Pros</a:t>
                      </a:r>
                    </a:p>
                  </a:txBody>
                  <a:tcPr/>
                </a:tc>
                <a:tc>
                  <a:txBody>
                    <a:bodyPr/>
                    <a:lstStyle/>
                    <a:p>
                      <a:r>
                        <a:rPr lang="en-US" sz="2400" dirty="0"/>
                        <a:t>Cons</a:t>
                      </a:r>
                    </a:p>
                  </a:txBody>
                  <a:tcPr/>
                </a:tc>
                <a:extLst>
                  <a:ext uri="{0D108BD9-81ED-4DB2-BD59-A6C34878D82A}">
                    <a16:rowId xmlns:a16="http://schemas.microsoft.com/office/drawing/2014/main" val="4035617924"/>
                  </a:ext>
                </a:extLst>
              </a:tr>
              <a:tr h="370840">
                <a:tc>
                  <a:txBody>
                    <a:bodyPr/>
                    <a:lstStyle/>
                    <a:p>
                      <a:pPr marL="34290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Cost savings gained by employing foreign workers</a:t>
                      </a:r>
                    </a:p>
                    <a:p>
                      <a:pPr marL="34290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Teams working in different </a:t>
                      </a:r>
                      <a:br>
                        <a:rPr lang="en-US" sz="2200" kern="1200" dirty="0">
                          <a:solidFill>
                            <a:schemeClr val="dk1"/>
                          </a:solidFill>
                          <a:effectLst/>
                          <a:latin typeface="+mn-lt"/>
                          <a:ea typeface="+mn-ea"/>
                          <a:cs typeface="+mn-cs"/>
                        </a:rPr>
                      </a:br>
                      <a:r>
                        <a:rPr lang="en-US" sz="2200" kern="1200" dirty="0">
                          <a:solidFill>
                            <a:schemeClr val="dk1"/>
                          </a:solidFill>
                          <a:effectLst/>
                          <a:latin typeface="+mn-lt"/>
                          <a:ea typeface="+mn-ea"/>
                          <a:cs typeface="+mn-cs"/>
                        </a:rPr>
                        <a:t>time zones:</a:t>
                      </a:r>
                    </a:p>
                    <a:p>
                      <a:pPr marL="800100" lvl="1"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Can speed up software development efforts</a:t>
                      </a:r>
                    </a:p>
                    <a:p>
                      <a:pPr marL="800100" lvl="1"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Provide continuous support for key software applications</a:t>
                      </a:r>
                    </a:p>
                    <a:p>
                      <a:pPr>
                        <a:spcBef>
                          <a:spcPts val="400"/>
                        </a:spcBef>
                      </a:pPr>
                      <a:endParaRPr lang="en-US" dirty="0"/>
                    </a:p>
                  </a:txBody>
                  <a:tcPr/>
                </a:tc>
                <a:tc>
                  <a:txBody>
                    <a:bodyPr/>
                    <a:lstStyle/>
                    <a:p>
                      <a:pPr marL="342900" marR="0" lvl="0" indent="-34290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Char char="•"/>
                        <a:tabLst/>
                        <a:defRPr/>
                      </a:pPr>
                      <a:r>
                        <a:rPr lang="en-US" sz="2200" kern="1200" dirty="0">
                          <a:solidFill>
                            <a:schemeClr val="dk1"/>
                          </a:solidFill>
                          <a:effectLst/>
                          <a:latin typeface="+mn-lt"/>
                          <a:ea typeface="+mn-ea"/>
                          <a:cs typeface="+mn-cs"/>
                        </a:rPr>
                        <a:t>Lay-offs of domestic staff</a:t>
                      </a:r>
                    </a:p>
                    <a:p>
                      <a:pPr marL="342900" lvl="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Difficulty in finding a reputable vendor</a:t>
                      </a:r>
                    </a:p>
                    <a:p>
                      <a:pPr marL="342900" lvl="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New</a:t>
                      </a:r>
                      <a:r>
                        <a:rPr lang="en-US" sz="2200" kern="1200" baseline="0" dirty="0">
                          <a:solidFill>
                            <a:schemeClr val="dk1"/>
                          </a:solidFill>
                          <a:effectLst/>
                          <a:latin typeface="+mn-lt"/>
                          <a:ea typeface="+mn-ea"/>
                          <a:cs typeface="+mn-cs"/>
                        </a:rPr>
                        <a:t> time/resource </a:t>
                      </a:r>
                      <a:r>
                        <a:rPr lang="en-US" sz="2200" kern="1200" dirty="0">
                          <a:solidFill>
                            <a:schemeClr val="dk1"/>
                          </a:solidFill>
                          <a:effectLst/>
                          <a:latin typeface="+mn-lt"/>
                          <a:ea typeface="+mn-ea"/>
                          <a:cs typeface="+mn-cs"/>
                        </a:rPr>
                        <a:t>costs:</a:t>
                      </a:r>
                    </a:p>
                    <a:p>
                      <a:pPr marL="800100" lvl="1"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Selecting an offshore vendor</a:t>
                      </a:r>
                    </a:p>
                    <a:p>
                      <a:pPr marL="800100" lvl="1"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Travel and communication</a:t>
                      </a:r>
                    </a:p>
                    <a:p>
                      <a:pPr marL="800100" lvl="1"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Developing a good working relationship with the vendor</a:t>
                      </a:r>
                    </a:p>
                    <a:p>
                      <a:pPr marL="342900" lvl="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Misunderstandings due to cultural and language differences</a:t>
                      </a:r>
                    </a:p>
                    <a:p>
                      <a:pPr marL="342900" lvl="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Potential risks to customer data</a:t>
                      </a:r>
                    </a:p>
                    <a:p>
                      <a:pPr marL="342900" lvl="0" indent="-342900">
                        <a:spcBef>
                          <a:spcPts val="400"/>
                        </a:spcBef>
                        <a:buClr>
                          <a:schemeClr val="accent2"/>
                        </a:buClr>
                        <a:buFont typeface="Arial" panose="020B0604020202020204" pitchFamily="34" charset="0"/>
                        <a:buChar char="•"/>
                      </a:pPr>
                      <a:r>
                        <a:rPr lang="en-US" sz="2200" kern="1200" dirty="0">
                          <a:solidFill>
                            <a:schemeClr val="dk1"/>
                          </a:solidFill>
                          <a:effectLst/>
                          <a:latin typeface="+mn-lt"/>
                          <a:ea typeface="+mn-ea"/>
                          <a:cs typeface="+mn-cs"/>
                        </a:rPr>
                        <a:t>Does not advance</a:t>
                      </a:r>
                      <a:r>
                        <a:rPr lang="en-US" sz="2200" kern="1200" baseline="0" dirty="0">
                          <a:solidFill>
                            <a:schemeClr val="dk1"/>
                          </a:solidFill>
                          <a:effectLst/>
                          <a:latin typeface="+mn-lt"/>
                          <a:ea typeface="+mn-ea"/>
                          <a:cs typeface="+mn-cs"/>
                        </a:rPr>
                        <a:t> the development of U.S. IT workers</a:t>
                      </a:r>
                      <a:endParaRPr lang="en-US" sz="2200" kern="1200" dirty="0">
                        <a:solidFill>
                          <a:schemeClr val="dk1"/>
                        </a:solidFill>
                        <a:effectLst/>
                        <a:latin typeface="+mn-lt"/>
                        <a:ea typeface="+mn-ea"/>
                        <a:cs typeface="+mn-cs"/>
                      </a:endParaRPr>
                    </a:p>
                  </a:txBody>
                  <a:tcPr/>
                </a:tc>
                <a:extLst>
                  <a:ext uri="{0D108BD9-81ED-4DB2-BD59-A6C34878D82A}">
                    <a16:rowId xmlns:a16="http://schemas.microsoft.com/office/drawing/2014/main" val="4095359839"/>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a:t>Pros and Cons of Offshore Outsourcing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19062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310411"/>
          </a:xfrm>
        </p:spPr>
        <p:txBody>
          <a:bodyPr/>
          <a:lstStyle/>
          <a:p>
            <a:r>
              <a:rPr lang="en-US" sz="2800" dirty="0"/>
              <a:t>Ensure that the outsourcing firm can provide:</a:t>
            </a:r>
          </a:p>
          <a:p>
            <a:pPr lvl="1">
              <a:buClr>
                <a:schemeClr val="accent2"/>
              </a:buClr>
            </a:pPr>
            <a:r>
              <a:rPr lang="en-US" sz="2600" dirty="0"/>
              <a:t>Employees with the required expertise in the necessary technologies</a:t>
            </a:r>
          </a:p>
          <a:p>
            <a:pPr lvl="1">
              <a:buClr>
                <a:schemeClr val="accent2"/>
              </a:buClr>
            </a:pPr>
            <a:r>
              <a:rPr lang="en-US" sz="2600" dirty="0"/>
              <a:t>A project manager who speaks the employer’s native language</a:t>
            </a:r>
          </a:p>
          <a:p>
            <a:pPr lvl="1">
              <a:buClr>
                <a:schemeClr val="accent2"/>
              </a:buClr>
            </a:pPr>
            <a:r>
              <a:rPr lang="en-US" sz="2600" dirty="0"/>
              <a:t>A pool of staff large enough to meet the needs of the project</a:t>
            </a:r>
          </a:p>
          <a:p>
            <a:pPr lvl="1">
              <a:buClr>
                <a:schemeClr val="accent2"/>
              </a:buClr>
            </a:pPr>
            <a:r>
              <a:rPr lang="en-US" sz="2600" dirty="0"/>
              <a:t>A state-of-the-art telecommunications setup</a:t>
            </a:r>
          </a:p>
          <a:p>
            <a:pPr lvl="1">
              <a:buClr>
                <a:schemeClr val="accent2"/>
              </a:buClr>
            </a:pPr>
            <a:r>
              <a:rPr lang="en-US" sz="2600" dirty="0"/>
              <a:t>High-quality on-site managers and supervisors</a:t>
            </a:r>
          </a:p>
          <a:p>
            <a:endParaRPr lang="en-US" dirty="0"/>
          </a:p>
        </p:txBody>
      </p:sp>
      <p:sp>
        <p:nvSpPr>
          <p:cNvPr id="3" name="Title 2"/>
          <p:cNvSpPr>
            <a:spLocks noGrp="1"/>
          </p:cNvSpPr>
          <p:nvPr>
            <p:ph type="title"/>
          </p:nvPr>
        </p:nvSpPr>
        <p:spPr>
          <a:xfrm>
            <a:off x="762000" y="81393"/>
            <a:ext cx="8026400" cy="945965"/>
          </a:xfrm>
        </p:spPr>
        <p:txBody>
          <a:bodyPr/>
          <a:lstStyle/>
          <a:p>
            <a:r>
              <a:rPr lang="en-US" sz="3600" dirty="0"/>
              <a:t>Strategies for Successful </a:t>
            </a:r>
            <a:br>
              <a:rPr lang="en-US" sz="3600" dirty="0"/>
            </a:br>
            <a:r>
              <a:rPr lang="en-US" sz="3600" dirty="0"/>
              <a:t>Offshore Outsourcing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8987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88482"/>
            <a:ext cx="8415338" cy="4419671"/>
          </a:xfrm>
        </p:spPr>
        <p:txBody>
          <a:bodyPr/>
          <a:lstStyle/>
          <a:p>
            <a:pPr marL="365760" indent="-256032">
              <a:defRPr/>
            </a:pPr>
            <a:r>
              <a:rPr lang="en-US" altLang="en-US" sz="2800" b="1" dirty="0"/>
              <a:t>Whistle-blowing: </a:t>
            </a:r>
            <a:r>
              <a:rPr lang="en-US" altLang="en-US" sz="2800" dirty="0"/>
              <a:t>An effort to attract public attention to a negligent, illegal, unethical, abusive, or dangerous act by an organization</a:t>
            </a:r>
          </a:p>
          <a:p>
            <a:pPr marL="429768" indent="-246888">
              <a:defRPr/>
            </a:pPr>
            <a:r>
              <a:rPr lang="en-US" altLang="en-US" sz="2800" dirty="0"/>
              <a:t>Whistle-blower usually has personal knowledge of what is happening because of his/her role within the organization.</a:t>
            </a:r>
          </a:p>
          <a:p>
            <a:pPr marL="658368" lvl="1" indent="-246888">
              <a:buClr>
                <a:schemeClr val="accent2"/>
              </a:buClr>
              <a:defRPr/>
            </a:pPr>
            <a:r>
              <a:rPr lang="en-US" altLang="en-US" sz="2600" dirty="0"/>
              <a:t>May be an employee or a person with special knowledge gained from a position as an auditor or business partner</a:t>
            </a:r>
          </a:p>
          <a:p>
            <a:pPr marL="429768" indent="-246888">
              <a:defRPr/>
            </a:pPr>
            <a:r>
              <a:rPr lang="en-US" altLang="en-US" sz="2800" dirty="0"/>
              <a:t>No comprehensive federal law protects whistle-blowers from retaliatory acts.</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Whistle-Blowing,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76398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88482"/>
            <a:ext cx="8415338" cy="4361194"/>
          </a:xfrm>
        </p:spPr>
        <p:txBody>
          <a:bodyPr/>
          <a:lstStyle/>
          <a:p>
            <a:pPr marL="365760" indent="-256032">
              <a:defRPr/>
            </a:pPr>
            <a:r>
              <a:rPr lang="en-US" altLang="en-US" sz="2800" b="1" dirty="0"/>
              <a:t>False Claims Act</a:t>
            </a:r>
            <a:r>
              <a:rPr lang="en-US" altLang="en-US" sz="2800" dirty="0"/>
              <a:t>: Established during the U.S. Civil War to combat fraud by companies that sold supplies to the Union Army</a:t>
            </a:r>
          </a:p>
          <a:p>
            <a:pPr marL="658368" lvl="1" indent="-246888">
              <a:buClr>
                <a:schemeClr val="accent2"/>
              </a:buClr>
              <a:defRPr/>
            </a:pPr>
            <a:r>
              <a:rPr lang="en-US" altLang="en-US" sz="2800" b="1" dirty="0"/>
              <a:t>Qui tam</a:t>
            </a:r>
            <a:r>
              <a:rPr lang="en-US" altLang="en-US" sz="2800" dirty="0"/>
              <a:t> provision: Allows a private citizen to file a suit in the name of the U.S. government, charging fraud by government contractors</a:t>
            </a:r>
          </a:p>
          <a:p>
            <a:pPr marL="658368" lvl="1" indent="-246888">
              <a:buClr>
                <a:schemeClr val="accent2"/>
              </a:buClr>
              <a:defRPr/>
            </a:pPr>
            <a:r>
              <a:rPr lang="en-US" altLang="en-US" sz="2800" dirty="0"/>
              <a:t>Violators are liable for three times the dollar amount for which the government was defrauded.</a:t>
            </a:r>
          </a:p>
          <a:p>
            <a:pPr marL="658368" lvl="1" indent="-246888">
              <a:buClr>
                <a:schemeClr val="accent2"/>
              </a:buClr>
              <a:defRPr/>
            </a:pPr>
            <a:r>
              <a:rPr lang="en-US" altLang="en-US" sz="2800" dirty="0"/>
              <a:t>Whistle-blower is offered compensation.</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Whistle-Blowing,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21075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235279"/>
          </a:xfrm>
        </p:spPr>
        <p:txBody>
          <a:bodyPr/>
          <a:lstStyle/>
          <a:p>
            <a:r>
              <a:rPr lang="en-US" sz="2700" dirty="0"/>
              <a:t>Anyone considering becoming a whistle-blower should seek legal counsel.</a:t>
            </a:r>
          </a:p>
          <a:p>
            <a:pPr>
              <a:spcBef>
                <a:spcPts val="800"/>
              </a:spcBef>
            </a:pPr>
            <a:r>
              <a:rPr lang="en-US" sz="2700" dirty="0"/>
              <a:t>Key steps and issues a potential whistle-blower should consider:</a:t>
            </a:r>
          </a:p>
          <a:p>
            <a:pPr lvl="1">
              <a:spcBef>
                <a:spcPts val="500"/>
              </a:spcBef>
              <a:buClr>
                <a:schemeClr val="accent2"/>
              </a:buClr>
            </a:pPr>
            <a:r>
              <a:rPr lang="en-US" sz="2600" dirty="0"/>
              <a:t>Assess the seriousness of the situation</a:t>
            </a:r>
          </a:p>
          <a:p>
            <a:pPr lvl="1">
              <a:spcBef>
                <a:spcPts val="500"/>
              </a:spcBef>
              <a:buClr>
                <a:schemeClr val="accent2"/>
              </a:buClr>
            </a:pPr>
            <a:r>
              <a:rPr lang="en-US" sz="2600" dirty="0"/>
              <a:t>Begin documentation</a:t>
            </a:r>
          </a:p>
          <a:p>
            <a:pPr lvl="1">
              <a:spcBef>
                <a:spcPts val="500"/>
              </a:spcBef>
              <a:buClr>
                <a:schemeClr val="accent2"/>
              </a:buClr>
            </a:pPr>
            <a:r>
              <a:rPr lang="en-US" sz="2600" dirty="0"/>
              <a:t>Attempt to address the situation internally</a:t>
            </a:r>
          </a:p>
          <a:p>
            <a:pPr lvl="1">
              <a:spcBef>
                <a:spcPts val="500"/>
              </a:spcBef>
              <a:buClr>
                <a:schemeClr val="accent2"/>
              </a:buClr>
            </a:pPr>
            <a:r>
              <a:rPr lang="en-US" sz="2600" dirty="0"/>
              <a:t>Consider escalating the situation within the company</a:t>
            </a:r>
          </a:p>
          <a:p>
            <a:pPr lvl="1">
              <a:spcBef>
                <a:spcPts val="500"/>
              </a:spcBef>
              <a:buClr>
                <a:schemeClr val="accent2"/>
              </a:buClr>
            </a:pPr>
            <a:r>
              <a:rPr lang="en-US" sz="2600" dirty="0"/>
              <a:t>Assess the implications of becoming a whistle-blower</a:t>
            </a:r>
          </a:p>
          <a:p>
            <a:pPr lvl="1">
              <a:spcBef>
                <a:spcPts val="500"/>
              </a:spcBef>
              <a:buClr>
                <a:schemeClr val="accent2"/>
              </a:buClr>
            </a:pPr>
            <a:r>
              <a:rPr lang="en-US" sz="2600" dirty="0"/>
              <a:t>Use experienced resources to develop an action plan</a:t>
            </a:r>
          </a:p>
          <a:p>
            <a:pPr lvl="1">
              <a:spcBef>
                <a:spcPts val="500"/>
              </a:spcBef>
              <a:buClr>
                <a:schemeClr val="accent2"/>
              </a:buClr>
            </a:pPr>
            <a:r>
              <a:rPr lang="en-US" sz="2600" dirty="0"/>
              <a:t>Execute the action plan </a:t>
            </a:r>
          </a:p>
          <a:p>
            <a:pPr lvl="1">
              <a:spcBef>
                <a:spcPts val="500"/>
              </a:spcBef>
              <a:buClr>
                <a:schemeClr val="accent2"/>
              </a:buClr>
            </a:pPr>
            <a:r>
              <a:rPr lang="en-US" sz="2600" dirty="0"/>
              <a:t>Live with the consequences</a:t>
            </a:r>
          </a:p>
        </p:txBody>
      </p:sp>
      <p:sp>
        <p:nvSpPr>
          <p:cNvPr id="3" name="Title 2"/>
          <p:cNvSpPr>
            <a:spLocks noGrp="1"/>
          </p:cNvSpPr>
          <p:nvPr>
            <p:ph type="title"/>
          </p:nvPr>
        </p:nvSpPr>
        <p:spPr>
          <a:xfrm>
            <a:off x="762000" y="316844"/>
            <a:ext cx="8026400" cy="475066"/>
          </a:xfrm>
        </p:spPr>
        <p:txBody>
          <a:bodyPr/>
          <a:lstStyle/>
          <a:p>
            <a:r>
              <a:rPr lang="en-US" sz="3600" dirty="0"/>
              <a:t>Dealing with a Whistle-Blowing Situation</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35060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874907"/>
          </a:xfrm>
        </p:spPr>
        <p:txBody>
          <a:bodyPr/>
          <a:lstStyle/>
          <a:p>
            <a:r>
              <a:rPr lang="en-US" sz="2800" dirty="0"/>
              <a:t>Electronic devices contain materials, that are potentially harmful to humans and the environment, including: </a:t>
            </a:r>
          </a:p>
          <a:p>
            <a:pPr lvl="1">
              <a:buClr>
                <a:schemeClr val="accent2"/>
              </a:buClr>
            </a:pPr>
            <a:r>
              <a:rPr lang="en-US" sz="2600" dirty="0"/>
              <a:t>Beryllium, cadmium, lead, mercury, brominated flame retardants (BFRs), selenium, and polyvinyl chloride</a:t>
            </a:r>
          </a:p>
          <a:p>
            <a:r>
              <a:rPr lang="en-US" sz="2800" b="1" dirty="0"/>
              <a:t>Green computing: </a:t>
            </a:r>
            <a:r>
              <a:rPr lang="en-US" sz="2800" dirty="0"/>
              <a:t>Concerned with the efficient and environmentally responsible manufacture, operation, and disposal of IT-related products, including:</a:t>
            </a:r>
          </a:p>
          <a:p>
            <a:pPr lvl="1">
              <a:buClr>
                <a:schemeClr val="accent2"/>
              </a:buClr>
            </a:pPr>
            <a:r>
              <a:rPr lang="en-US" sz="2600" dirty="0"/>
              <a:t>Laptops, smartphones, storage devices, printers, and printer materials, such as cartridges, and toner</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Green Computing,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424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84414"/>
          </a:xfrm>
        </p:spPr>
        <p:txBody>
          <a:bodyPr/>
          <a:lstStyle/>
          <a:p>
            <a:r>
              <a:rPr lang="en-US" sz="2700" dirty="0"/>
              <a:t>Green computing has three goals:</a:t>
            </a:r>
          </a:p>
          <a:p>
            <a:pPr lvl="1">
              <a:buClr>
                <a:schemeClr val="accent2"/>
              </a:buClr>
            </a:pPr>
            <a:r>
              <a:rPr lang="en-US" sz="2600" dirty="0"/>
              <a:t>Reduce the use of hazardous materials</a:t>
            </a:r>
          </a:p>
          <a:p>
            <a:pPr lvl="1">
              <a:buClr>
                <a:schemeClr val="accent2"/>
              </a:buClr>
            </a:pPr>
            <a:r>
              <a:rPr lang="en-US" sz="2600" dirty="0"/>
              <a:t>Allow companies to lower their power-related costs</a:t>
            </a:r>
          </a:p>
          <a:p>
            <a:pPr lvl="1">
              <a:buClr>
                <a:schemeClr val="accent2"/>
              </a:buClr>
            </a:pPr>
            <a:r>
              <a:rPr lang="en-US" sz="2600" dirty="0"/>
              <a:t>Enable the safe disposal or recycling of computers and computer-related equipment</a:t>
            </a:r>
          </a:p>
          <a:p>
            <a:pPr>
              <a:spcBef>
                <a:spcPts val="800"/>
              </a:spcBef>
            </a:pPr>
            <a:r>
              <a:rPr lang="en-US" sz="2700" dirty="0"/>
              <a:t>Electronic Product Environmental Assessment Tool (EPEAT)</a:t>
            </a:r>
          </a:p>
          <a:p>
            <a:pPr lvl="1">
              <a:spcBef>
                <a:spcPts val="800"/>
              </a:spcBef>
              <a:buClr>
                <a:schemeClr val="accent2"/>
              </a:buClr>
            </a:pPr>
            <a:r>
              <a:rPr lang="en-US" sz="2500" dirty="0"/>
              <a:t>Enables purchasers to compare and select electronic </a:t>
            </a:r>
            <a:br>
              <a:rPr lang="en-US" sz="2500" dirty="0"/>
            </a:br>
            <a:r>
              <a:rPr lang="en-US" sz="2500" dirty="0"/>
              <a:t>products based on 51 environmental criteria </a:t>
            </a:r>
          </a:p>
          <a:p>
            <a:pPr lvl="1">
              <a:spcBef>
                <a:spcPts val="800"/>
              </a:spcBef>
              <a:buClr>
                <a:schemeClr val="accent2"/>
              </a:buClr>
            </a:pPr>
            <a:r>
              <a:rPr lang="en-US" sz="2500" dirty="0"/>
              <a:t>Products are ranked in EPEAT according to three tiers of environmental performance:</a:t>
            </a:r>
          </a:p>
          <a:p>
            <a:pPr lvl="2"/>
            <a:r>
              <a:rPr lang="en-US" sz="2400" dirty="0"/>
              <a:t>Gold, Silver, and Bronze</a:t>
            </a:r>
          </a:p>
        </p:txBody>
      </p:sp>
      <p:sp>
        <p:nvSpPr>
          <p:cNvPr id="3" name="Title 2"/>
          <p:cNvSpPr>
            <a:spLocks noGrp="1"/>
          </p:cNvSpPr>
          <p:nvPr>
            <p:ph type="title"/>
          </p:nvPr>
        </p:nvSpPr>
        <p:spPr>
          <a:xfrm>
            <a:off x="762000" y="290459"/>
            <a:ext cx="8026400" cy="527837"/>
          </a:xfrm>
        </p:spPr>
        <p:txBody>
          <a:bodyPr/>
          <a:lstStyle/>
          <a:p>
            <a:r>
              <a:rPr lang="en-US" sz="4000" dirty="0"/>
              <a:t>Green Computing,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21166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273478"/>
          </a:xfrm>
        </p:spPr>
        <p:txBody>
          <a:bodyPr/>
          <a:lstStyle/>
          <a:p>
            <a:r>
              <a:rPr lang="en-US" sz="2800" b="1" dirty="0"/>
              <a:t>What key legal and ethical issues are associated with the use of contingent workers, H-1B visa holders, and offshore outsourcing companies?</a:t>
            </a:r>
          </a:p>
          <a:p>
            <a:pPr lvl="1">
              <a:buClr>
                <a:schemeClr val="accent2"/>
              </a:buClr>
            </a:pPr>
            <a:r>
              <a:rPr lang="en-US" sz="2600" dirty="0"/>
              <a:t>Contingent work: A job situation in which an individual does not have an explicit or implicit contract for long-term employment</a:t>
            </a:r>
          </a:p>
          <a:p>
            <a:pPr lvl="1">
              <a:buClr>
                <a:schemeClr val="accent2"/>
              </a:buClr>
            </a:pPr>
            <a:r>
              <a:rPr lang="en-US" sz="2600" dirty="0"/>
              <a:t>Organizations can obtain contingent workers through: </a:t>
            </a:r>
          </a:p>
          <a:p>
            <a:pPr lvl="2"/>
            <a:r>
              <a:rPr lang="en-US" sz="2400" dirty="0"/>
              <a:t>Temporary staffing firms</a:t>
            </a:r>
          </a:p>
          <a:p>
            <a:pPr lvl="2"/>
            <a:r>
              <a:rPr lang="en-US" sz="2400" dirty="0"/>
              <a:t>Employee leasing organizations</a:t>
            </a:r>
          </a:p>
          <a:p>
            <a:pPr lvl="2"/>
            <a:r>
              <a:rPr lang="en-US" sz="2400" dirty="0"/>
              <a:t>Professional employment organizations</a:t>
            </a:r>
            <a:endParaRPr lang="en-US" sz="2400" b="1" dirty="0"/>
          </a:p>
        </p:txBody>
      </p:sp>
      <p:sp>
        <p:nvSpPr>
          <p:cNvPr id="3" name="Title 2"/>
          <p:cNvSpPr>
            <a:spLocks noGrp="1"/>
          </p:cNvSpPr>
          <p:nvPr>
            <p:ph type="title"/>
          </p:nvPr>
        </p:nvSpPr>
        <p:spPr>
          <a:xfrm>
            <a:off x="762000" y="290459"/>
            <a:ext cx="8026400" cy="527837"/>
          </a:xfrm>
        </p:spPr>
        <p:txBody>
          <a:bodyPr/>
          <a:lstStyle/>
          <a:p>
            <a:r>
              <a:rPr lang="en-US" sz="4000" dirty="0"/>
              <a:t>Summary,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266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5336846"/>
          </a:xfrm>
        </p:spPr>
        <p:txBody>
          <a:bodyPr/>
          <a:lstStyle/>
          <a:p>
            <a:r>
              <a:rPr lang="en-US" sz="2800" b="1" dirty="0"/>
              <a:t>What key legal and ethical issues are associated with the use of contingent workers, H-1B visa holders, and offshore outsourcing companies?</a:t>
            </a:r>
          </a:p>
          <a:p>
            <a:pPr lvl="1">
              <a:buClr>
                <a:schemeClr val="accent2"/>
              </a:buClr>
            </a:pPr>
            <a:r>
              <a:rPr lang="en-US" sz="2600" dirty="0"/>
              <a:t>Temporary staffing firms recruit, train, and test job seekers in a wide range of job categories and skill levels, and then assign them to clients as needed.</a:t>
            </a:r>
          </a:p>
          <a:p>
            <a:pPr lvl="1">
              <a:buClr>
                <a:schemeClr val="accent2"/>
              </a:buClr>
            </a:pPr>
            <a:r>
              <a:rPr lang="en-US" sz="2600" dirty="0"/>
              <a:t>Employee leasing: A subscribing firm transfers its workforce to a leasing firm, which handles all human-resource-related activities and costs; the workers become employees of the leasing firm</a:t>
            </a:r>
          </a:p>
          <a:p>
            <a:pPr lvl="1">
              <a:buClr>
                <a:schemeClr val="accent2"/>
              </a:buClr>
            </a:pPr>
            <a:r>
              <a:rPr lang="en-US" sz="2600" dirty="0"/>
              <a:t>Coemployment relationship: One in which two employers have legal rights and duties with respect to the same employee or group of employees</a:t>
            </a:r>
          </a:p>
        </p:txBody>
      </p:sp>
      <p:sp>
        <p:nvSpPr>
          <p:cNvPr id="3" name="Title 2"/>
          <p:cNvSpPr>
            <a:spLocks noGrp="1"/>
          </p:cNvSpPr>
          <p:nvPr>
            <p:ph type="title"/>
          </p:nvPr>
        </p:nvSpPr>
        <p:spPr>
          <a:xfrm>
            <a:off x="762000" y="290459"/>
            <a:ext cx="8026400" cy="527837"/>
          </a:xfrm>
        </p:spPr>
        <p:txBody>
          <a:bodyPr/>
          <a:lstStyle/>
          <a:p>
            <a:r>
              <a:rPr lang="en-US" sz="4000" dirty="0"/>
              <a:t>Summary,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3629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37618"/>
            <a:ext cx="8415338" cy="4653582"/>
          </a:xfrm>
        </p:spPr>
        <p:txBody>
          <a:bodyPr/>
          <a:lstStyle/>
          <a:p>
            <a:r>
              <a:rPr lang="en-US" sz="2800" b="1" dirty="0"/>
              <a:t>What key legal and ethical issues are associated with the use of contingent workers, H-1B visa holders, and offshore outsourcing companies?</a:t>
            </a:r>
          </a:p>
          <a:p>
            <a:pPr lvl="1">
              <a:spcBef>
                <a:spcPts val="1000"/>
              </a:spcBef>
              <a:buClr>
                <a:schemeClr val="accent2"/>
              </a:buClr>
            </a:pPr>
            <a:r>
              <a:rPr lang="en-US" sz="2600" dirty="0"/>
              <a:t>PEO: A business entity that hires the employees of its clients and assumes responsibility for all HR functions</a:t>
            </a:r>
          </a:p>
          <a:p>
            <a:pPr lvl="1">
              <a:spcBef>
                <a:spcPts val="1000"/>
              </a:spcBef>
              <a:buClr>
                <a:schemeClr val="accent2"/>
              </a:buClr>
            </a:pPr>
            <a:r>
              <a:rPr lang="en-US" sz="2600" dirty="0"/>
              <a:t>Gig economy: A work environment in which temporary positions are common, and organizations contract with independent workers for short-term engagements</a:t>
            </a:r>
          </a:p>
          <a:p>
            <a:pPr lvl="1">
              <a:spcBef>
                <a:spcPts val="1000"/>
              </a:spcBef>
              <a:buClr>
                <a:schemeClr val="accent2"/>
              </a:buClr>
            </a:pPr>
            <a:r>
              <a:rPr lang="en-US" sz="2600" dirty="0"/>
              <a:t>Independent contractor: An worker who provides services to an organization according to terms defined in a written contract or a verbal agreement</a:t>
            </a:r>
          </a:p>
        </p:txBody>
      </p:sp>
      <p:sp>
        <p:nvSpPr>
          <p:cNvPr id="3" name="Title 2"/>
          <p:cNvSpPr>
            <a:spLocks noGrp="1"/>
          </p:cNvSpPr>
          <p:nvPr>
            <p:ph type="title"/>
          </p:nvPr>
        </p:nvSpPr>
        <p:spPr>
          <a:xfrm>
            <a:off x="762000" y="290459"/>
            <a:ext cx="8026400" cy="527837"/>
          </a:xfrm>
        </p:spPr>
        <p:txBody>
          <a:bodyPr/>
          <a:lstStyle/>
          <a:p>
            <a:r>
              <a:rPr lang="en-US" sz="4000" dirty="0"/>
              <a:t>Summary,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4835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43000"/>
            <a:ext cx="8415338" cy="5259901"/>
          </a:xfrm>
        </p:spPr>
        <p:txBody>
          <a:bodyPr/>
          <a:lstStyle/>
          <a:p>
            <a:r>
              <a:rPr lang="en-US" sz="2800" b="1" dirty="0"/>
              <a:t>What key legal and ethical issues are associated with the use of contingent workers, H-1B visa holders, and offshore outsourcing companies?</a:t>
            </a:r>
          </a:p>
          <a:p>
            <a:pPr lvl="1">
              <a:buClr>
                <a:schemeClr val="accent2"/>
              </a:buClr>
            </a:pPr>
            <a:r>
              <a:rPr lang="en-US" sz="2600" dirty="0"/>
              <a:t>Organizations must be careful how they pay and treat contingent workers to avoid the risk of class action </a:t>
            </a:r>
            <a:br>
              <a:rPr lang="en-US" sz="2600" dirty="0"/>
            </a:br>
            <a:r>
              <a:rPr lang="en-US" sz="2600" dirty="0"/>
              <a:t>lawsuits over misclassification of workers.</a:t>
            </a:r>
          </a:p>
          <a:p>
            <a:pPr lvl="1">
              <a:buClr>
                <a:schemeClr val="accent2"/>
              </a:buClr>
            </a:pPr>
            <a:r>
              <a:rPr lang="en-US" sz="2600" dirty="0"/>
              <a:t>Advantages of contingent workers: Firms don’t have to provide benefits, can easily adjust the number of workers to meet business needs, and do not incur training costs</a:t>
            </a:r>
          </a:p>
          <a:p>
            <a:pPr lvl="1">
              <a:buClr>
                <a:schemeClr val="accent2"/>
              </a:buClr>
            </a:pPr>
            <a:r>
              <a:rPr lang="en-US" sz="2600" dirty="0"/>
              <a:t>Disadvantages of contingent workers: Workers may have a low level of commitment to the company, and the skills/knowledge a contingent worker are lost when the worker departs at a project’s completion</a:t>
            </a:r>
          </a:p>
        </p:txBody>
      </p:sp>
      <p:sp>
        <p:nvSpPr>
          <p:cNvPr id="3" name="Title 2"/>
          <p:cNvSpPr>
            <a:spLocks noGrp="1"/>
          </p:cNvSpPr>
          <p:nvPr>
            <p:ph type="title"/>
          </p:nvPr>
        </p:nvSpPr>
        <p:spPr>
          <a:xfrm>
            <a:off x="762000" y="290459"/>
            <a:ext cx="8026400" cy="527837"/>
          </a:xfrm>
        </p:spPr>
        <p:txBody>
          <a:bodyPr/>
          <a:lstStyle/>
          <a:p>
            <a:r>
              <a:rPr lang="en-US" sz="4000" dirty="0"/>
              <a:t>Summary,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0868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143000"/>
            <a:ext cx="8559800" cy="5265544"/>
          </a:xfrm>
        </p:spPr>
        <p:txBody>
          <a:bodyPr/>
          <a:lstStyle/>
          <a:p>
            <a:r>
              <a:rPr lang="en-US" sz="2800" b="1" dirty="0"/>
              <a:t>What key legal and ethical issues are associated with </a:t>
            </a:r>
            <a:br>
              <a:rPr lang="en-US" sz="2800" b="1" dirty="0"/>
            </a:br>
            <a:r>
              <a:rPr lang="en-US" sz="2800" b="1" dirty="0"/>
              <a:t>the use of contingent workers, H-1B visa holders, and offshore outsourcing companies?</a:t>
            </a:r>
          </a:p>
          <a:p>
            <a:pPr lvl="1">
              <a:spcBef>
                <a:spcPts val="500"/>
              </a:spcBef>
              <a:buClr>
                <a:schemeClr val="accent2"/>
              </a:buClr>
            </a:pPr>
            <a:r>
              <a:rPr lang="en-US" sz="2600" dirty="0"/>
              <a:t>H-1B visa: A temporary work visa for people who work </a:t>
            </a:r>
            <a:br>
              <a:rPr lang="en-US" sz="2600" dirty="0"/>
            </a:br>
            <a:r>
              <a:rPr lang="en-US" sz="2600" dirty="0"/>
              <a:t>in specialty occupations</a:t>
            </a:r>
          </a:p>
          <a:p>
            <a:pPr lvl="2">
              <a:spcBef>
                <a:spcPts val="500"/>
              </a:spcBef>
            </a:pPr>
            <a:r>
              <a:rPr lang="en-US" sz="2400" dirty="0"/>
              <a:t>Used to obtain essential technical skills or knowledge that cannot be readily found in the U.S.</a:t>
            </a:r>
          </a:p>
          <a:p>
            <a:pPr lvl="1">
              <a:spcBef>
                <a:spcPts val="500"/>
              </a:spcBef>
              <a:buClr>
                <a:schemeClr val="accent2"/>
              </a:buClr>
            </a:pPr>
            <a:r>
              <a:rPr lang="en-US" sz="2600" dirty="0"/>
              <a:t>Congress sets an annual cap on the number of H-1B visas; the number issued varies due to exceptions.</a:t>
            </a:r>
          </a:p>
          <a:p>
            <a:pPr lvl="1">
              <a:spcBef>
                <a:spcPts val="500"/>
              </a:spcBef>
              <a:buClr>
                <a:schemeClr val="accent2"/>
              </a:buClr>
            </a:pPr>
            <a:r>
              <a:rPr lang="en-US" sz="2600" dirty="0"/>
              <a:t>Companies using H-1B visas must offer a wage at least 95% of the average salary for the occupation</a:t>
            </a:r>
          </a:p>
          <a:p>
            <a:pPr lvl="2">
              <a:spcBef>
                <a:spcPts val="400"/>
              </a:spcBef>
            </a:pPr>
            <a:r>
              <a:rPr lang="en-US" sz="2400" dirty="0"/>
              <a:t>Wages in IT vary substantially, so unethical companies can get around the average salary requirement.</a:t>
            </a:r>
          </a:p>
        </p:txBody>
      </p:sp>
      <p:sp>
        <p:nvSpPr>
          <p:cNvPr id="3" name="Title 2"/>
          <p:cNvSpPr>
            <a:spLocks noGrp="1"/>
          </p:cNvSpPr>
          <p:nvPr>
            <p:ph type="title"/>
          </p:nvPr>
        </p:nvSpPr>
        <p:spPr>
          <a:xfrm>
            <a:off x="762000" y="290459"/>
            <a:ext cx="8026400" cy="527837"/>
          </a:xfrm>
        </p:spPr>
        <p:txBody>
          <a:bodyPr/>
          <a:lstStyle/>
          <a:p>
            <a:r>
              <a:rPr lang="en-US" sz="4000" dirty="0"/>
              <a:t>Summary,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8451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515082"/>
          </a:xfrm>
        </p:spPr>
        <p:txBody>
          <a:bodyPr/>
          <a:lstStyle/>
          <a:p>
            <a:r>
              <a:rPr lang="en-US" sz="2800" b="1" dirty="0"/>
              <a:t>What key legal and ethical issues are associated with the use of contingent workers, H-1B visa holders, and offshore outsourcing companies?</a:t>
            </a:r>
          </a:p>
          <a:p>
            <a:pPr lvl="1">
              <a:spcBef>
                <a:spcPts val="1200"/>
              </a:spcBef>
              <a:buClr>
                <a:schemeClr val="accent2"/>
              </a:buClr>
            </a:pPr>
            <a:r>
              <a:rPr lang="en-US" sz="2600" dirty="0"/>
              <a:t>Companies that employ H-1B workers are required to declare they will not displace American workers.</a:t>
            </a:r>
          </a:p>
          <a:p>
            <a:pPr lvl="2"/>
            <a:r>
              <a:rPr lang="en-US" sz="2400" dirty="0"/>
              <a:t>Exemptions: If 15 percent or more of their workers are on </a:t>
            </a:r>
            <a:br>
              <a:rPr lang="en-US" sz="2400" dirty="0"/>
            </a:br>
            <a:r>
              <a:rPr lang="en-US" sz="2400" dirty="0"/>
              <a:t>H-1B visas and H-1B workers are paid at least $60,000 a year</a:t>
            </a:r>
          </a:p>
          <a:p>
            <a:pPr lvl="1">
              <a:buClr>
                <a:schemeClr val="accent2"/>
              </a:buClr>
            </a:pPr>
            <a:r>
              <a:rPr lang="en-US" sz="2600" dirty="0"/>
              <a:t>Many U.S. companies say they have trouble finding enough qualified U.S. IT workers.</a:t>
            </a:r>
          </a:p>
          <a:p>
            <a:pPr lvl="2"/>
            <a:r>
              <a:rPr lang="en-US" sz="2400" dirty="0"/>
              <a:t>Critics challenge whether the U.S. needs to continue </a:t>
            </a:r>
            <a:br>
              <a:rPr lang="en-US" sz="2400" dirty="0"/>
            </a:br>
            <a:r>
              <a:rPr lang="en-US" sz="2400" dirty="0"/>
              <a:t>importing tens of thousands of H-1B workers each year.</a:t>
            </a:r>
          </a:p>
        </p:txBody>
      </p:sp>
      <p:sp>
        <p:nvSpPr>
          <p:cNvPr id="3" name="Title 2"/>
          <p:cNvSpPr>
            <a:spLocks noGrp="1"/>
          </p:cNvSpPr>
          <p:nvPr>
            <p:ph type="title"/>
          </p:nvPr>
        </p:nvSpPr>
        <p:spPr>
          <a:xfrm>
            <a:off x="762000" y="290459"/>
            <a:ext cx="8026400" cy="527837"/>
          </a:xfrm>
        </p:spPr>
        <p:txBody>
          <a:bodyPr/>
          <a:lstStyle/>
          <a:p>
            <a:r>
              <a:rPr lang="en-US" sz="4000" dirty="0"/>
              <a:t>Summary,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37705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196533"/>
          </a:xfrm>
        </p:spPr>
        <p:txBody>
          <a:bodyPr/>
          <a:lstStyle/>
          <a:p>
            <a:r>
              <a:rPr lang="en-US" sz="2800" b="1" dirty="0"/>
              <a:t>What key legal and ethical issues are associated with the use of contingent workers, H-1B visa holders, and offshore outsourcing companies?</a:t>
            </a:r>
          </a:p>
          <a:p>
            <a:pPr lvl="1">
              <a:spcBef>
                <a:spcPts val="1200"/>
              </a:spcBef>
              <a:buClr>
                <a:schemeClr val="accent2"/>
              </a:buClr>
            </a:pPr>
            <a:r>
              <a:rPr lang="en-US" sz="2600" dirty="0"/>
              <a:t>In 2015, the number of degrees awarded in the field of computer and information sciences at postsecondary institutions in the U.S. = 130,000</a:t>
            </a:r>
          </a:p>
          <a:p>
            <a:pPr lvl="1">
              <a:buClr>
                <a:schemeClr val="accent2"/>
              </a:buClr>
            </a:pPr>
            <a:r>
              <a:rPr lang="en-US" sz="2600" dirty="0"/>
              <a:t>BLS projects an increase of 53,000 new U.S. tech jobs per year from 2014 to 2024</a:t>
            </a:r>
          </a:p>
          <a:p>
            <a:pPr lvl="1">
              <a:buClr>
                <a:schemeClr val="accent2"/>
              </a:buClr>
            </a:pPr>
            <a:r>
              <a:rPr lang="en-US" sz="2600" dirty="0"/>
              <a:t>Opinions vary as to whether or not the hiring of H-1B workers affects job opportunities and wages.</a:t>
            </a:r>
          </a:p>
        </p:txBody>
      </p:sp>
      <p:sp>
        <p:nvSpPr>
          <p:cNvPr id="3" name="Title 2"/>
          <p:cNvSpPr>
            <a:spLocks noGrp="1"/>
          </p:cNvSpPr>
          <p:nvPr>
            <p:ph type="title"/>
          </p:nvPr>
        </p:nvSpPr>
        <p:spPr>
          <a:xfrm>
            <a:off x="762000" y="290459"/>
            <a:ext cx="8026400" cy="527837"/>
          </a:xfrm>
        </p:spPr>
        <p:txBody>
          <a:bodyPr/>
          <a:lstStyle/>
          <a:p>
            <a:r>
              <a:rPr lang="en-US" sz="4000" dirty="0"/>
              <a:t>Summary, Part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0859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43000"/>
            <a:ext cx="8415338" cy="4576637"/>
          </a:xfrm>
        </p:spPr>
        <p:txBody>
          <a:bodyPr/>
          <a:lstStyle/>
          <a:p>
            <a:r>
              <a:rPr lang="en-US" sz="2800" b="1" dirty="0"/>
              <a:t>What key legal and ethical issues are associated with the use of contingent workers, H-1B visa holders, and offshore outsourcing companies?</a:t>
            </a:r>
          </a:p>
          <a:p>
            <a:pPr lvl="1">
              <a:buClr>
                <a:schemeClr val="accent2"/>
              </a:buClr>
            </a:pPr>
            <a:r>
              <a:rPr lang="en-US" sz="2600" dirty="0"/>
              <a:t>Outsourcing: A long-term business arrangement in which </a:t>
            </a:r>
            <a:br>
              <a:rPr lang="en-US" sz="2600" dirty="0"/>
            </a:br>
            <a:r>
              <a:rPr lang="en-US" sz="2600" dirty="0"/>
              <a:t>a company contracts for services with an outside organization </a:t>
            </a:r>
          </a:p>
          <a:p>
            <a:pPr lvl="1">
              <a:buClr>
                <a:schemeClr val="accent2"/>
              </a:buClr>
            </a:pPr>
            <a:r>
              <a:rPr lang="en-US" sz="2600" dirty="0"/>
              <a:t>Offshore outsourcing: Services are provided by an organization whose employees are in a foreign country</a:t>
            </a:r>
          </a:p>
          <a:p>
            <a:pPr lvl="1">
              <a:buClr>
                <a:schemeClr val="accent2"/>
              </a:buClr>
            </a:pPr>
            <a:r>
              <a:rPr lang="en-US" sz="2600" dirty="0"/>
              <a:t>Successful offshoring: Requires daily interaction between software development and business teams, and a </a:t>
            </a:r>
            <a:br>
              <a:rPr lang="en-US" sz="2600" dirty="0"/>
            </a:br>
            <a:r>
              <a:rPr lang="en-US" sz="2600" dirty="0"/>
              <a:t>hands-on approach to project management</a:t>
            </a:r>
          </a:p>
        </p:txBody>
      </p:sp>
      <p:sp>
        <p:nvSpPr>
          <p:cNvPr id="3" name="Title 2"/>
          <p:cNvSpPr>
            <a:spLocks noGrp="1"/>
          </p:cNvSpPr>
          <p:nvPr>
            <p:ph type="title"/>
          </p:nvPr>
        </p:nvSpPr>
        <p:spPr>
          <a:xfrm>
            <a:off x="762000" y="290459"/>
            <a:ext cx="8026400" cy="527837"/>
          </a:xfrm>
        </p:spPr>
        <p:txBody>
          <a:bodyPr/>
          <a:lstStyle/>
          <a:p>
            <a:r>
              <a:rPr lang="en-US" sz="4000" dirty="0"/>
              <a:t>Summary, Part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62560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470455"/>
          </a:xfrm>
        </p:spPr>
        <p:txBody>
          <a:bodyPr/>
          <a:lstStyle/>
          <a:p>
            <a:r>
              <a:rPr lang="en-US" sz="2800" b="1" dirty="0"/>
              <a:t>What is whistle-blowing, and what ethical issues are associated with it?</a:t>
            </a:r>
          </a:p>
          <a:p>
            <a:pPr lvl="1">
              <a:buClr>
                <a:schemeClr val="accent2"/>
              </a:buClr>
            </a:pPr>
            <a:r>
              <a:rPr lang="en-US" sz="2600" dirty="0"/>
              <a:t>Whistle-blowing: An effort to attract public attention to a negligent, illegal, unethical, abusive, or dangerous act by </a:t>
            </a:r>
            <a:br>
              <a:rPr lang="en-US" sz="2600" dirty="0"/>
            </a:br>
            <a:r>
              <a:rPr lang="en-US" sz="2600" dirty="0"/>
              <a:t>an organization</a:t>
            </a:r>
          </a:p>
          <a:p>
            <a:pPr lvl="1">
              <a:buClr>
                <a:schemeClr val="accent2"/>
              </a:buClr>
            </a:pPr>
            <a:r>
              <a:rPr lang="en-US" sz="2600" dirty="0"/>
              <a:t>Whistle-blower protection laws allow employees to alert the proper authorities to employer actions that are unethical, illegal, or unsafe, or that violate specific public policies.</a:t>
            </a:r>
          </a:p>
          <a:p>
            <a:pPr lvl="1">
              <a:buClr>
                <a:schemeClr val="accent2"/>
              </a:buClr>
            </a:pPr>
            <a:r>
              <a:rPr lang="en-US" sz="2600" dirty="0"/>
              <a:t>No comprehensive federal law protects whistle-blowers from retaliatory acts.</a:t>
            </a:r>
          </a:p>
        </p:txBody>
      </p:sp>
      <p:sp>
        <p:nvSpPr>
          <p:cNvPr id="3" name="Title 2"/>
          <p:cNvSpPr>
            <a:spLocks noGrp="1"/>
          </p:cNvSpPr>
          <p:nvPr>
            <p:ph type="title"/>
          </p:nvPr>
        </p:nvSpPr>
        <p:spPr>
          <a:xfrm>
            <a:off x="762000" y="290459"/>
            <a:ext cx="8026400" cy="527837"/>
          </a:xfrm>
        </p:spPr>
        <p:txBody>
          <a:bodyPr/>
          <a:lstStyle/>
          <a:p>
            <a:r>
              <a:rPr lang="en-US" sz="4000" dirty="0"/>
              <a:t>Summary, Part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80265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3988015"/>
          </a:xfrm>
        </p:spPr>
        <p:txBody>
          <a:bodyPr/>
          <a:lstStyle/>
          <a:p>
            <a:r>
              <a:rPr lang="en-US" sz="2800" b="1" dirty="0"/>
              <a:t>What is whistle-blowing, and what ethical issues are associated with it?</a:t>
            </a:r>
          </a:p>
          <a:p>
            <a:pPr lvl="1">
              <a:buClr>
                <a:schemeClr val="accent2"/>
              </a:buClr>
            </a:pPr>
            <a:r>
              <a:rPr lang="en-US" sz="2600" dirty="0"/>
              <a:t>Ethical considerations of whistle-blowing: </a:t>
            </a:r>
          </a:p>
          <a:p>
            <a:pPr lvl="2">
              <a:spcBef>
                <a:spcPts val="300"/>
              </a:spcBef>
            </a:pPr>
            <a:r>
              <a:rPr lang="en-US" sz="2500" dirty="0"/>
              <a:t>Is the high price of whistle-blowing worth it?</a:t>
            </a:r>
          </a:p>
          <a:p>
            <a:pPr lvl="2">
              <a:spcBef>
                <a:spcPts val="300"/>
              </a:spcBef>
            </a:pPr>
            <a:r>
              <a:rPr lang="en-US" sz="2500" dirty="0"/>
              <a:t>Have all other means of dealing with the problem been exhausted?</a:t>
            </a:r>
          </a:p>
          <a:p>
            <a:pPr lvl="2">
              <a:spcBef>
                <a:spcPts val="300"/>
              </a:spcBef>
            </a:pPr>
            <a:r>
              <a:rPr lang="en-US" sz="2500" dirty="0"/>
              <a:t>Does whistle-blowing violate an obligation of loyalty to the organization?</a:t>
            </a:r>
          </a:p>
          <a:p>
            <a:pPr lvl="2">
              <a:spcBef>
                <a:spcPts val="300"/>
              </a:spcBef>
            </a:pPr>
            <a:r>
              <a:rPr lang="en-US" sz="2500" dirty="0"/>
              <a:t>Will public exposure of the problem actually correct it and protect others from harm?</a:t>
            </a:r>
          </a:p>
        </p:txBody>
      </p:sp>
      <p:sp>
        <p:nvSpPr>
          <p:cNvPr id="3" name="Title 2"/>
          <p:cNvSpPr>
            <a:spLocks noGrp="1"/>
          </p:cNvSpPr>
          <p:nvPr>
            <p:ph type="title"/>
          </p:nvPr>
        </p:nvSpPr>
        <p:spPr>
          <a:xfrm>
            <a:off x="762000" y="290459"/>
            <a:ext cx="8026400" cy="527837"/>
          </a:xfrm>
        </p:spPr>
        <p:txBody>
          <a:bodyPr/>
          <a:lstStyle/>
          <a:p>
            <a:r>
              <a:rPr lang="en-US" sz="4000" dirty="0"/>
              <a:t>Summary, Part 10</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11963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4815164"/>
          </a:xfrm>
        </p:spPr>
        <p:txBody>
          <a:bodyPr/>
          <a:lstStyle/>
          <a:p>
            <a:r>
              <a:rPr lang="en-US" sz="2800" b="1" dirty="0"/>
              <a:t>What is whistle-blowing, and what ethical issues are associated with it?</a:t>
            </a:r>
          </a:p>
          <a:p>
            <a:pPr lvl="1">
              <a:buClr>
                <a:schemeClr val="accent2"/>
              </a:buClr>
            </a:pPr>
            <a:r>
              <a:rPr lang="en-US" sz="2600" dirty="0"/>
              <a:t>Steps in an effective whistle-blowing process: </a:t>
            </a:r>
          </a:p>
          <a:p>
            <a:pPr marL="457200" lvl="2" indent="0">
              <a:buNone/>
            </a:pPr>
            <a:r>
              <a:rPr lang="en-US" sz="2500" dirty="0"/>
              <a:t>(1) Assess the seriousness of the situation</a:t>
            </a:r>
          </a:p>
          <a:p>
            <a:pPr marL="457200" lvl="2" indent="0">
              <a:buNone/>
            </a:pPr>
            <a:r>
              <a:rPr lang="en-US" sz="2500" dirty="0"/>
              <a:t>(2) Begin documentation</a:t>
            </a:r>
          </a:p>
          <a:p>
            <a:pPr marL="457200" lvl="2" indent="0">
              <a:buNone/>
            </a:pPr>
            <a:r>
              <a:rPr lang="en-US" sz="2500" dirty="0"/>
              <a:t>(3) Attempt to address the situation internally</a:t>
            </a:r>
          </a:p>
          <a:p>
            <a:pPr marL="457200" lvl="2" indent="0">
              <a:buNone/>
            </a:pPr>
            <a:r>
              <a:rPr lang="en-US" sz="2500" dirty="0"/>
              <a:t>(4) Consider escalating the situation within the company</a:t>
            </a:r>
          </a:p>
          <a:p>
            <a:pPr marL="457200" lvl="2" indent="0">
              <a:buNone/>
            </a:pPr>
            <a:r>
              <a:rPr lang="en-US" sz="2500" dirty="0"/>
              <a:t>(5) Assess the implications of becoming a whistle-blower</a:t>
            </a:r>
          </a:p>
          <a:p>
            <a:pPr marL="457200" lvl="2" indent="0">
              <a:buNone/>
            </a:pPr>
            <a:r>
              <a:rPr lang="en-US" sz="2500" dirty="0"/>
              <a:t>(6) Use experienced resources to develop an action plan</a:t>
            </a:r>
          </a:p>
          <a:p>
            <a:pPr marL="457200" lvl="2" indent="0">
              <a:buNone/>
            </a:pPr>
            <a:r>
              <a:rPr lang="en-US" sz="2500" dirty="0"/>
              <a:t>(7) Execute the action plan</a:t>
            </a:r>
          </a:p>
          <a:p>
            <a:pPr marL="457200" lvl="2" indent="0">
              <a:buNone/>
            </a:pPr>
            <a:r>
              <a:rPr lang="en-US" sz="2500" dirty="0"/>
              <a:t>(8) Live with the consequences</a:t>
            </a:r>
          </a:p>
        </p:txBody>
      </p:sp>
      <p:sp>
        <p:nvSpPr>
          <p:cNvPr id="3" name="Title 2"/>
          <p:cNvSpPr>
            <a:spLocks noGrp="1"/>
          </p:cNvSpPr>
          <p:nvPr>
            <p:ph type="title"/>
          </p:nvPr>
        </p:nvSpPr>
        <p:spPr>
          <a:xfrm>
            <a:off x="762000" y="290459"/>
            <a:ext cx="8026400" cy="527837"/>
          </a:xfrm>
        </p:spPr>
        <p:txBody>
          <a:bodyPr/>
          <a:lstStyle/>
          <a:p>
            <a:r>
              <a:rPr lang="en-US" sz="4000" dirty="0"/>
              <a:t>Summary, Part 11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83434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211922"/>
          </a:xfrm>
        </p:spPr>
        <p:txBody>
          <a:bodyPr/>
          <a:lstStyle/>
          <a:p>
            <a:r>
              <a:rPr lang="en-US" sz="2800" b="1" dirty="0"/>
              <a:t>What is green computing, and what are organizations doing to support this initiative?</a:t>
            </a:r>
          </a:p>
          <a:p>
            <a:pPr lvl="1">
              <a:buClr>
                <a:schemeClr val="accent2"/>
              </a:buClr>
            </a:pPr>
            <a:r>
              <a:rPr lang="en-US" sz="2600" dirty="0"/>
              <a:t>Green computing: Concerned with the efficient and environmentally responsible design, manufacture, operation, and disposal of IT-related products</a:t>
            </a:r>
          </a:p>
          <a:p>
            <a:pPr lvl="1">
              <a:buClr>
                <a:schemeClr val="accent2"/>
              </a:buClr>
            </a:pPr>
            <a:r>
              <a:rPr lang="en-US" sz="2600" dirty="0"/>
              <a:t>Green computing has three goals:</a:t>
            </a:r>
          </a:p>
          <a:p>
            <a:pPr lvl="2">
              <a:buClr>
                <a:schemeClr val="accent2"/>
              </a:buClr>
              <a:buFont typeface="Arial" panose="020B0604020202020204" pitchFamily="34" charset="0"/>
              <a:buChar char="•"/>
            </a:pPr>
            <a:r>
              <a:rPr lang="en-US" sz="2400" dirty="0"/>
              <a:t>Reduce the use of hazardous materials</a:t>
            </a:r>
          </a:p>
          <a:p>
            <a:pPr lvl="2">
              <a:buClr>
                <a:schemeClr val="accent2"/>
              </a:buClr>
              <a:buFont typeface="Arial" panose="020B0604020202020204" pitchFamily="34" charset="0"/>
              <a:buChar char="•"/>
            </a:pPr>
            <a:r>
              <a:rPr lang="en-US" sz="2400" dirty="0"/>
              <a:t>Allow companies to lower their power-related costs</a:t>
            </a:r>
          </a:p>
          <a:p>
            <a:pPr lvl="2">
              <a:buClr>
                <a:schemeClr val="accent2"/>
              </a:buClr>
              <a:buFont typeface="Arial" panose="020B0604020202020204" pitchFamily="34" charset="0"/>
              <a:buChar char="•"/>
            </a:pPr>
            <a:r>
              <a:rPr lang="en-US" sz="2400" dirty="0"/>
              <a:t>Enable the safe disposal or recycling of computers and computer-related equipment</a:t>
            </a:r>
          </a:p>
        </p:txBody>
      </p:sp>
      <p:sp>
        <p:nvSpPr>
          <p:cNvPr id="3" name="Title 2"/>
          <p:cNvSpPr>
            <a:spLocks noGrp="1"/>
          </p:cNvSpPr>
          <p:nvPr>
            <p:ph type="title"/>
          </p:nvPr>
        </p:nvSpPr>
        <p:spPr>
          <a:xfrm>
            <a:off x="762000" y="290459"/>
            <a:ext cx="8026400" cy="527837"/>
          </a:xfrm>
        </p:spPr>
        <p:txBody>
          <a:bodyPr/>
          <a:lstStyle/>
          <a:p>
            <a:r>
              <a:rPr lang="en-US" sz="4000" dirty="0"/>
              <a:t>Summary, Part 12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30860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43000"/>
            <a:ext cx="8415338" cy="5102935"/>
          </a:xfrm>
        </p:spPr>
        <p:txBody>
          <a:bodyPr/>
          <a:lstStyle/>
          <a:p>
            <a:r>
              <a:rPr lang="en-US" sz="2800" b="1" dirty="0"/>
              <a:t>What is green computing, and what are organizations doing to support this initiative?</a:t>
            </a:r>
          </a:p>
          <a:p>
            <a:pPr lvl="1">
              <a:spcBef>
                <a:spcPts val="400"/>
              </a:spcBef>
              <a:buClr>
                <a:schemeClr val="accent2"/>
              </a:buClr>
            </a:pPr>
            <a:r>
              <a:rPr lang="en-US" sz="2600" dirty="0"/>
              <a:t>Electronic Product Environmental Assessment Tool (EPEAT)</a:t>
            </a:r>
          </a:p>
          <a:p>
            <a:pPr lvl="2">
              <a:spcBef>
                <a:spcPts val="400"/>
              </a:spcBef>
            </a:pPr>
            <a:r>
              <a:rPr lang="en-US" sz="2400" dirty="0"/>
              <a:t>Enables purchasers to evaluate, compare, and select </a:t>
            </a:r>
            <a:br>
              <a:rPr lang="en-US" sz="2400" dirty="0"/>
            </a:br>
            <a:r>
              <a:rPr lang="en-US" sz="2400" dirty="0"/>
              <a:t>electronic products based on 51 environmental criteria</a:t>
            </a:r>
          </a:p>
          <a:p>
            <a:pPr lvl="1">
              <a:buClr>
                <a:schemeClr val="accent2"/>
              </a:buClr>
            </a:pPr>
            <a:r>
              <a:rPr lang="en-US" sz="2600" dirty="0"/>
              <a:t>The EU’s Restriction of Hazardous Substances Directive:</a:t>
            </a:r>
          </a:p>
          <a:p>
            <a:pPr lvl="2">
              <a:spcBef>
                <a:spcPts val="300"/>
              </a:spcBef>
            </a:pPr>
            <a:r>
              <a:rPr lang="en-US" sz="2400" dirty="0"/>
              <a:t>Restricts the use of many hazardous materials in computer manufacturing</a:t>
            </a:r>
          </a:p>
          <a:p>
            <a:pPr lvl="2">
              <a:spcBef>
                <a:spcPts val="300"/>
              </a:spcBef>
            </a:pPr>
            <a:r>
              <a:rPr lang="en-US" sz="2400" dirty="0"/>
              <a:t>Requires manufacturers to use at least 65% reusable </a:t>
            </a:r>
            <a:br>
              <a:rPr lang="en-US" sz="2400" dirty="0"/>
            </a:br>
            <a:r>
              <a:rPr lang="en-US" sz="2400" dirty="0"/>
              <a:t>or recyclable components</a:t>
            </a:r>
          </a:p>
          <a:p>
            <a:pPr lvl="2">
              <a:spcBef>
                <a:spcPts val="300"/>
              </a:spcBef>
            </a:pPr>
            <a:r>
              <a:rPr lang="en-US" sz="2400" dirty="0"/>
              <a:t>Implements a plan to manage products at the end of their </a:t>
            </a:r>
            <a:br>
              <a:rPr lang="en-US" sz="2400" dirty="0"/>
            </a:br>
            <a:r>
              <a:rPr lang="en-US" sz="2400" dirty="0"/>
              <a:t>life cycle in an environmentally safe manner</a:t>
            </a:r>
          </a:p>
          <a:p>
            <a:pPr lvl="2">
              <a:spcBef>
                <a:spcPts val="300"/>
              </a:spcBef>
            </a:pPr>
            <a:r>
              <a:rPr lang="en-US" sz="2400" dirty="0"/>
              <a:t>Reduces or eliminate toxic material in their packaging</a:t>
            </a:r>
            <a:endParaRPr lang="en-US" sz="6800" dirty="0"/>
          </a:p>
        </p:txBody>
      </p:sp>
      <p:sp>
        <p:nvSpPr>
          <p:cNvPr id="3" name="Title 2"/>
          <p:cNvSpPr>
            <a:spLocks noGrp="1"/>
          </p:cNvSpPr>
          <p:nvPr>
            <p:ph type="title"/>
          </p:nvPr>
        </p:nvSpPr>
        <p:spPr>
          <a:xfrm>
            <a:off x="762000" y="290459"/>
            <a:ext cx="8026400" cy="527837"/>
          </a:xfrm>
        </p:spPr>
        <p:txBody>
          <a:bodyPr/>
          <a:lstStyle/>
          <a:p>
            <a:r>
              <a:rPr lang="en-US" sz="4000" dirty="0"/>
              <a:t>Summary, Part 13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51264896"/>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7769</TotalTime>
  <Words>3635</Words>
  <Application>Microsoft Office PowerPoint</Application>
  <PresentationFormat>On-screen Show (4:3)</PresentationFormat>
  <Paragraphs>267</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Ethics in Information Technology</vt:lpstr>
      <vt:lpstr>Learning Objectives</vt:lpstr>
      <vt:lpstr>Use of Contingent Workers, Part 1</vt:lpstr>
      <vt:lpstr>Use of Contingent Workers, Part 2</vt:lpstr>
      <vt:lpstr>Use of Contingent Workers, Part 3</vt:lpstr>
      <vt:lpstr>Factors Behind the Trend Toward Independent Contractors </vt:lpstr>
      <vt:lpstr>Manager’s Checklist for the Use of  Contingent Workers, Part 1</vt:lpstr>
      <vt:lpstr>Manager’s Checklist for the Use of  Contingent Workers, Part 2</vt:lpstr>
      <vt:lpstr>H1-B Workers</vt:lpstr>
      <vt:lpstr>Gaming the H1-B Visa Program, Part 1</vt:lpstr>
      <vt:lpstr>Gaming the H1-B Visa Program, Part 2</vt:lpstr>
      <vt:lpstr>The Need for H1-B Workers</vt:lpstr>
      <vt:lpstr>Effects of H1-B Visa Program </vt:lpstr>
      <vt:lpstr>Outsourcing</vt:lpstr>
      <vt:lpstr>Pros and Cons of Offshore Outsourcing</vt:lpstr>
      <vt:lpstr>Strategies for Successful  Offshore Outsourcing</vt:lpstr>
      <vt:lpstr>Whistle-Blowing, Part 1</vt:lpstr>
      <vt:lpstr>Whistle-Blowing, Part 2</vt:lpstr>
      <vt:lpstr>Dealing with a Whistle-Blowing Situation</vt:lpstr>
      <vt:lpstr>Green Computing, Part 1</vt:lpstr>
      <vt:lpstr>Green Computing, Part 2</vt:lpstr>
      <vt:lpstr>Summary, Part 1</vt:lpstr>
      <vt:lpstr>Summary, Part 2</vt:lpstr>
      <vt:lpstr>Summary, Part 3</vt:lpstr>
      <vt:lpstr>Summary, Part 4</vt:lpstr>
      <vt:lpstr>Summary, Part 5</vt:lpstr>
      <vt:lpstr>Summary, Part 6</vt:lpstr>
      <vt:lpstr>Summary, Part 7</vt:lpstr>
      <vt:lpstr>Summary, Part 8</vt:lpstr>
      <vt:lpstr>Summary, Part 9</vt:lpstr>
      <vt:lpstr>Summary, Part 10</vt:lpstr>
      <vt:lpstr>Summary, Part 11</vt:lpstr>
      <vt:lpstr>Summary, Part 12</vt:lpstr>
      <vt:lpstr>Summary, Part 13</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Mary Pat Shaffer</cp:lastModifiedBy>
  <cp:revision>444</cp:revision>
  <cp:lastPrinted>2010-11-12T17:54:40Z</cp:lastPrinted>
  <dcterms:created xsi:type="dcterms:W3CDTF">2007-02-15T20:50:52Z</dcterms:created>
  <dcterms:modified xsi:type="dcterms:W3CDTF">2017-08-18T19:34:24Z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