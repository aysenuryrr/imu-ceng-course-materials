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260" r:id="rId4"/>
    <p:sldId id="261" r:id="rId5"/>
    <p:sldId id="262" r:id="rId6"/>
    <p:sldId id="264" r:id="rId7"/>
    <p:sldId id="280" r:id="rId8"/>
    <p:sldId id="265" r:id="rId9"/>
    <p:sldId id="266" r:id="rId10"/>
    <p:sldId id="267" r:id="rId11"/>
    <p:sldId id="271" r:id="rId12"/>
    <p:sldId id="272" r:id="rId13"/>
    <p:sldId id="290" r:id="rId14"/>
    <p:sldId id="310" r:id="rId15"/>
    <p:sldId id="293" r:id="rId16"/>
    <p:sldId id="297" r:id="rId17"/>
    <p:sldId id="298" r:id="rId18"/>
    <p:sldId id="299" r:id="rId19"/>
    <p:sldId id="311" r:id="rId20"/>
    <p:sldId id="300" r:id="rId21"/>
    <p:sldId id="302" r:id="rId22"/>
    <p:sldId id="301" r:id="rId23"/>
    <p:sldId id="303" r:id="rId24"/>
    <p:sldId id="304" r:id="rId25"/>
    <p:sldId id="307" r:id="rId26"/>
    <p:sldId id="305" r:id="rId2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p:cNvSpPr>
            <a:spLocks noGrp="1"/>
          </p:cNvSpPr>
          <p:nvPr>
            <p:ph type="dt" sz="half" idx="10"/>
          </p:nvPr>
        </p:nvSpPr>
        <p:spPr/>
        <p:txBody>
          <a:bodyPr/>
          <a:lstStyle/>
          <a:p>
            <a:fld id="{32354E5F-2277-45C8-994E-6559F4D4AE0B}" type="datetimeFigureOut">
              <a:rPr lang="tr-TR" smtClean="0"/>
              <a:t>17.05.2024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410798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2354E5F-2277-45C8-994E-6559F4D4AE0B}" type="datetimeFigureOut">
              <a:rPr lang="tr-TR" smtClean="0"/>
              <a:t>17.05.2024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911403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Veri Yer Tutucusu 3"/>
          <p:cNvSpPr>
            <a:spLocks noGrp="1"/>
          </p:cNvSpPr>
          <p:nvPr>
            <p:ph type="dt" sz="half" idx="10"/>
          </p:nvPr>
        </p:nvSpPr>
        <p:spPr/>
        <p:txBody>
          <a:bodyPr/>
          <a:lstStyle/>
          <a:p>
            <a:fld id="{32354E5F-2277-45C8-994E-6559F4D4AE0B}" type="datetimeFigureOut">
              <a:rPr lang="tr-TR" smtClean="0"/>
              <a:t>17.05.2024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220534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32354E5F-2277-45C8-994E-6559F4D4AE0B}" type="datetimeFigureOut">
              <a:rPr lang="tr-TR" smtClean="0"/>
              <a:t>17.05.2024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2874383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32354E5F-2277-45C8-994E-6559F4D4AE0B}" type="datetimeFigureOut">
              <a:rPr lang="tr-TR" smtClean="0"/>
              <a:t>17.05.2024</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1429442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32354E5F-2277-45C8-994E-6559F4D4AE0B}" type="datetimeFigureOut">
              <a:rPr lang="tr-TR" smtClean="0"/>
              <a:t>17.05.2024</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3893639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32354E5F-2277-45C8-994E-6559F4D4AE0B}" type="datetimeFigureOut">
              <a:rPr lang="tr-TR" smtClean="0"/>
              <a:t>17.05.2024</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3764680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32354E5F-2277-45C8-994E-6559F4D4AE0B}" type="datetimeFigureOut">
              <a:rPr lang="tr-TR" smtClean="0"/>
              <a:t>17.05.2024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2441538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32354E5F-2277-45C8-994E-6559F4D4AE0B}" type="datetimeFigureOut">
              <a:rPr lang="tr-TR" smtClean="0"/>
              <a:t>17.05.2024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2788741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2354E5F-2277-45C8-994E-6559F4D4AE0B}" type="datetimeFigureOut">
              <a:rPr lang="tr-TR" smtClean="0"/>
              <a:t>17.05.2024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17330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2354E5F-2277-45C8-994E-6559F4D4AE0B}" type="datetimeFigureOut">
              <a:rPr lang="tr-TR" smtClean="0"/>
              <a:t>17.05.2024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F710BCE-70CD-4273-8CDC-8852AF604AFC}" type="slidenum">
              <a:rPr lang="tr-TR" smtClean="0"/>
              <a:t>‹#›</a:t>
            </a:fld>
            <a:endParaRPr lang="tr-TR"/>
          </a:p>
        </p:txBody>
      </p:sp>
    </p:spTree>
    <p:extLst>
      <p:ext uri="{BB962C8B-B14F-4D97-AF65-F5344CB8AC3E}">
        <p14:creationId xmlns:p14="http://schemas.microsoft.com/office/powerpoint/2010/main" val="2964465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54E5F-2277-45C8-994E-6559F4D4AE0B}" type="datetimeFigureOut">
              <a:rPr lang="tr-TR" smtClean="0"/>
              <a:t>17.05.2024</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710BCE-70CD-4273-8CDC-8852AF604AFC}" type="slidenum">
              <a:rPr lang="tr-TR" smtClean="0"/>
              <a:t>‹#›</a:t>
            </a:fld>
            <a:endParaRPr lang="tr-TR"/>
          </a:p>
        </p:txBody>
      </p:sp>
    </p:spTree>
    <p:extLst>
      <p:ext uri="{BB962C8B-B14F-4D97-AF65-F5344CB8AC3E}">
        <p14:creationId xmlns:p14="http://schemas.microsoft.com/office/powerpoint/2010/main" val="1557200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karczmarczuk.users.greyc.fr/TEACH/OGL/Doc/manual-3.0/glLight.x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err="1"/>
              <a:t>OpenGL</a:t>
            </a:r>
            <a:r>
              <a:rPr lang="tr-TR" dirty="0"/>
              <a:t> </a:t>
            </a:r>
            <a:r>
              <a:rPr lang="tr-TR" dirty="0" err="1"/>
              <a:t>Pipeline</a:t>
            </a:r>
            <a:endParaRPr lang="tr-TR" dirty="0"/>
          </a:p>
        </p:txBody>
      </p:sp>
      <p:sp>
        <p:nvSpPr>
          <p:cNvPr id="3" name="Alt Başlık 2"/>
          <p:cNvSpPr>
            <a:spLocks noGrp="1"/>
          </p:cNvSpPr>
          <p:nvPr>
            <p:ph type="subTitle" idx="1"/>
          </p:nvPr>
        </p:nvSpPr>
        <p:spPr/>
        <p:txBody>
          <a:bodyPr/>
          <a:lstStyle/>
          <a:p>
            <a:endParaRPr lang="tr-TR" dirty="0"/>
          </a:p>
        </p:txBody>
      </p:sp>
    </p:spTree>
    <p:extLst>
      <p:ext uri="{BB962C8B-B14F-4D97-AF65-F5344CB8AC3E}">
        <p14:creationId xmlns:p14="http://schemas.microsoft.com/office/powerpoint/2010/main" val="683982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OpenGL</a:t>
            </a:r>
            <a:r>
              <a:rPr lang="tr-TR" dirty="0"/>
              <a:t> </a:t>
            </a:r>
            <a:r>
              <a:rPr lang="tr-TR" dirty="0" err="1"/>
              <a:t>Pipeline</a:t>
            </a:r>
            <a:endParaRPr lang="tr-TR" dirty="0"/>
          </a:p>
        </p:txBody>
      </p:sp>
      <p:pic>
        <p:nvPicPr>
          <p:cNvPr id="4" name="Picture 2" descr="http://math.hws.edu/graphicsbook/c3/opengl-transform-pipelin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790829"/>
            <a:ext cx="9610458" cy="1587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814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Nesne Koordinatları(Object </a:t>
            </a:r>
            <a:r>
              <a:rPr lang="tr-TR" b="1" dirty="0" err="1"/>
              <a:t>Coordinates</a:t>
            </a:r>
            <a:r>
              <a:rPr lang="tr-TR" b="1" dirty="0"/>
              <a:t>)</a:t>
            </a:r>
            <a:endParaRPr lang="tr-TR" dirty="0"/>
          </a:p>
        </p:txBody>
      </p:sp>
      <p:sp>
        <p:nvSpPr>
          <p:cNvPr id="3" name="İçerik Yer Tutucusu 2"/>
          <p:cNvSpPr>
            <a:spLocks noGrp="1"/>
          </p:cNvSpPr>
          <p:nvPr>
            <p:ph idx="1"/>
          </p:nvPr>
        </p:nvSpPr>
        <p:spPr/>
        <p:txBody>
          <a:bodyPr/>
          <a:lstStyle/>
          <a:p>
            <a:pPr algn="just"/>
            <a:r>
              <a:rPr lang="tr-TR" dirty="0"/>
              <a:t>Bir nesneyi çizmek için kullandığınız koordinatlara </a:t>
            </a:r>
            <a:r>
              <a:rPr lang="tr-TR" b="1" dirty="0"/>
              <a:t>nesne koordinatları(</a:t>
            </a:r>
            <a:r>
              <a:rPr lang="tr-TR" b="1" dirty="0" err="1"/>
              <a:t>object</a:t>
            </a:r>
            <a:r>
              <a:rPr lang="tr-TR" b="1" dirty="0"/>
              <a:t> </a:t>
            </a:r>
            <a:r>
              <a:rPr lang="tr-TR" b="1" dirty="0" err="1"/>
              <a:t>coordinates</a:t>
            </a:r>
            <a:r>
              <a:rPr lang="tr-TR" b="1" dirty="0"/>
              <a:t>) </a:t>
            </a:r>
            <a:r>
              <a:rPr lang="tr-TR" dirty="0"/>
              <a:t>denir. Nesne koordinat sistemi, çizilen nesneye uygun olacak şekilde seçilir. Daha sonra, nesnenin boyutunu, yönünü ve genel sahnedeki konumunu ayarlamak için bir modelleme dönüşümü uygulanabilir. Modelleme dönüşümü, bir nesnenin köşelerine/</a:t>
            </a:r>
            <a:r>
              <a:rPr lang="tr-TR" dirty="0" err="1"/>
              <a:t>vertex</a:t>
            </a:r>
            <a:r>
              <a:rPr lang="tr-TR" dirty="0"/>
              <a:t> uygulanan ilk dönüşümdür.</a:t>
            </a:r>
          </a:p>
        </p:txBody>
      </p:sp>
      <p:pic>
        <p:nvPicPr>
          <p:cNvPr id="4" name="Picture 2" descr="http://math.hws.edu/graphicsbook/c3/opengl-transform-pip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236" y="4938283"/>
            <a:ext cx="9610458" cy="1587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6675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World </a:t>
            </a:r>
            <a:r>
              <a:rPr lang="tr-TR" b="1" dirty="0" err="1"/>
              <a:t>Coordinates</a:t>
            </a:r>
            <a:endParaRPr lang="tr-TR" dirty="0"/>
          </a:p>
        </p:txBody>
      </p:sp>
      <p:sp>
        <p:nvSpPr>
          <p:cNvPr id="3" name="İçerik Yer Tutucusu 2"/>
          <p:cNvSpPr>
            <a:spLocks noGrp="1"/>
          </p:cNvSpPr>
          <p:nvPr>
            <p:ph idx="1"/>
          </p:nvPr>
        </p:nvSpPr>
        <p:spPr/>
        <p:txBody>
          <a:bodyPr/>
          <a:lstStyle/>
          <a:p>
            <a:pPr algn="just"/>
            <a:r>
              <a:rPr lang="tr-TR" dirty="0"/>
              <a:t>Sahnenin tamamını oluşturduğunuz koordinatlara dünya koordinatları (</a:t>
            </a:r>
            <a:r>
              <a:rPr lang="tr-TR" b="1" dirty="0" err="1"/>
              <a:t>world</a:t>
            </a:r>
            <a:r>
              <a:rPr lang="tr-TR" b="1" dirty="0"/>
              <a:t> </a:t>
            </a:r>
            <a:r>
              <a:rPr lang="tr-TR" b="1" dirty="0" err="1"/>
              <a:t>coordinates</a:t>
            </a:r>
            <a:r>
              <a:rPr lang="tr-TR" dirty="0"/>
              <a:t>) denir. Dünya koordinatları yaratmakta olduğunuz hayali 3B dünyanın koordinatlarıdır. Modelleme dönüşümü, nesne koordinatlarından dünya koordinatlarına eşlenir.</a:t>
            </a:r>
          </a:p>
        </p:txBody>
      </p:sp>
      <p:pic>
        <p:nvPicPr>
          <p:cNvPr id="4" name="Picture 2" descr="http://math.hws.edu/graphicsbook/c3/opengl-transform-pip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397956"/>
            <a:ext cx="9610458" cy="1587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06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Eye</a:t>
            </a:r>
            <a:r>
              <a:rPr lang="tr-TR" dirty="0"/>
              <a:t> </a:t>
            </a:r>
            <a:r>
              <a:rPr lang="tr-TR" dirty="0" err="1"/>
              <a:t>Coordinate</a:t>
            </a:r>
            <a:endParaRPr lang="tr-TR" b="1" dirty="0"/>
          </a:p>
        </p:txBody>
      </p:sp>
      <p:sp>
        <p:nvSpPr>
          <p:cNvPr id="3" name="İçerik Yer Tutucusu 2"/>
          <p:cNvSpPr>
            <a:spLocks noGrp="1"/>
          </p:cNvSpPr>
          <p:nvPr>
            <p:ph idx="1"/>
          </p:nvPr>
        </p:nvSpPr>
        <p:spPr/>
        <p:txBody>
          <a:bodyPr>
            <a:normAutofit/>
          </a:bodyPr>
          <a:lstStyle/>
          <a:p>
            <a:pPr algn="just"/>
            <a:r>
              <a:rPr lang="tr-TR" dirty="0"/>
              <a:t>Gerçek dünyada ne gördüğünüz, nerede durduğunuza ve baktığınız yöne bağlıdır. Yani, "izleyicinin" konumunu, izleyicinin nereye baktığını  ve izleyicinin kafasını nasıl eğdiğini bilmeden sahnenin resmini yapamazsınız. (</a:t>
            </a:r>
            <a:r>
              <a:rPr lang="tr-TR" b="1" dirty="0" err="1"/>
              <a:t>Eye</a:t>
            </a:r>
            <a:r>
              <a:rPr lang="tr-TR" b="1" dirty="0"/>
              <a:t> </a:t>
            </a:r>
            <a:r>
              <a:rPr lang="tr-TR" b="1" dirty="0" err="1"/>
              <a:t>coordinate</a:t>
            </a:r>
            <a:r>
              <a:rPr lang="tr-TR" b="1" dirty="0"/>
              <a:t> </a:t>
            </a:r>
            <a:r>
              <a:rPr lang="tr-TR" dirty="0"/>
              <a:t>olarak bilinir.)</a:t>
            </a:r>
          </a:p>
          <a:p>
            <a:pPr algn="just"/>
            <a:r>
              <a:rPr lang="tr-TR" dirty="0"/>
              <a:t>Göz koordinatları, ekranda çizim yapmak için gerçekten kullanmak istediğiniz (neredeyse) koordinatlardır. Dünya koordinatlarından göz koordinatlarına dönüşüm, </a:t>
            </a:r>
            <a:r>
              <a:rPr lang="tr-TR" b="1" dirty="0"/>
              <a:t>görüntüleme dönüşümü/  </a:t>
            </a:r>
            <a:r>
              <a:rPr lang="tr-TR" b="1" dirty="0" err="1"/>
              <a:t>viewing</a:t>
            </a:r>
            <a:r>
              <a:rPr lang="tr-TR" b="1" dirty="0"/>
              <a:t> </a:t>
            </a:r>
            <a:r>
              <a:rPr lang="tr-TR" b="1" dirty="0" err="1"/>
              <a:t>transformation</a:t>
            </a:r>
            <a:r>
              <a:rPr lang="tr-TR" b="1" dirty="0"/>
              <a:t> </a:t>
            </a:r>
            <a:r>
              <a:rPr lang="tr-TR" dirty="0"/>
              <a:t>olarak adlandırılır.</a:t>
            </a:r>
          </a:p>
        </p:txBody>
      </p:sp>
      <p:pic>
        <p:nvPicPr>
          <p:cNvPr id="4" name="Picture 2" descr="http://math.hws.edu/graphicsbook/c3/opengl-transform-pip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9232" y="5534474"/>
            <a:ext cx="7458478" cy="108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4555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Klip Koordinatları/ Clip </a:t>
            </a:r>
            <a:r>
              <a:rPr lang="tr-TR" b="1" dirty="0" err="1"/>
              <a:t>Coordinates</a:t>
            </a:r>
            <a:endParaRPr lang="tr-TR" b="1" dirty="0"/>
          </a:p>
        </p:txBody>
      </p:sp>
      <p:sp>
        <p:nvSpPr>
          <p:cNvPr id="3" name="İçerik Yer Tutucusu 2"/>
          <p:cNvSpPr>
            <a:spLocks noGrp="1"/>
          </p:cNvSpPr>
          <p:nvPr>
            <p:ph idx="1"/>
          </p:nvPr>
        </p:nvSpPr>
        <p:spPr>
          <a:xfrm>
            <a:off x="838200" y="1418663"/>
            <a:ext cx="10515600" cy="4351338"/>
          </a:xfrm>
        </p:spPr>
        <p:txBody>
          <a:bodyPr>
            <a:normAutofit fontScale="85000" lnSpcReduction="20000"/>
          </a:bodyPr>
          <a:lstStyle/>
          <a:p>
            <a:pPr algn="just"/>
            <a:r>
              <a:rPr lang="tr-TR" dirty="0"/>
              <a:t>İzleyici tüm 3B dünyayı göremez, yalnızca ekranın dikdörtgen bölgesi olan görüntü alanına uyan kısmı veya görüntünün çizileceği görüntü alanını görebilir. Sahnenin, görüntü alanının kenarlarından "kırpıldığını" söylüyoruz. </a:t>
            </a:r>
          </a:p>
          <a:p>
            <a:pPr algn="just"/>
            <a:r>
              <a:rPr lang="tr-TR" dirty="0"/>
              <a:t>Ayrıca, </a:t>
            </a:r>
            <a:r>
              <a:rPr lang="tr-TR" dirty="0" err="1"/>
              <a:t>OpenGL'de</a:t>
            </a:r>
            <a:r>
              <a:rPr lang="tr-TR" dirty="0"/>
              <a:t> izleyici, göz koordinat sisteminde yalnızca sınırlı bir z değeri aralığını görebilir. Daha büyük veya daha küçük z değerlerine sahip noktalar kırpılır ve görüntüye dönüştürülmez. </a:t>
            </a:r>
          </a:p>
          <a:p>
            <a:pPr algn="just"/>
            <a:r>
              <a:rPr lang="tr-TR" dirty="0"/>
              <a:t>Gerçekte görüntüye dönüştürülen alan hacmi </a:t>
            </a:r>
            <a:r>
              <a:rPr lang="tr-TR" b="1" dirty="0">
                <a:solidFill>
                  <a:srgbClr val="FF0000"/>
                </a:solidFill>
              </a:rPr>
              <a:t>görüntüleme hacmi/</a:t>
            </a:r>
            <a:r>
              <a:rPr lang="tr-TR" b="1" dirty="0" err="1">
                <a:solidFill>
                  <a:srgbClr val="FF0000"/>
                </a:solidFill>
              </a:rPr>
              <a:t>view</a:t>
            </a:r>
            <a:r>
              <a:rPr lang="tr-TR" b="1" dirty="0">
                <a:solidFill>
                  <a:srgbClr val="FF0000"/>
                </a:solidFill>
              </a:rPr>
              <a:t> </a:t>
            </a:r>
            <a:r>
              <a:rPr lang="tr-TR" b="1" dirty="0" err="1">
                <a:solidFill>
                  <a:srgbClr val="FF0000"/>
                </a:solidFill>
              </a:rPr>
              <a:t>volume</a:t>
            </a:r>
            <a:r>
              <a:rPr lang="tr-TR" b="1" dirty="0">
                <a:solidFill>
                  <a:srgbClr val="FF0000"/>
                </a:solidFill>
              </a:rPr>
              <a:t> </a:t>
            </a:r>
            <a:r>
              <a:rPr lang="tr-TR" dirty="0"/>
              <a:t>denir. Görüntüleme hacminde olmayan şeyler kırpılır ve görülemez.</a:t>
            </a:r>
          </a:p>
          <a:p>
            <a:pPr algn="just"/>
            <a:r>
              <a:rPr lang="tr-TR" dirty="0"/>
              <a:t>Çizim amacıyla </a:t>
            </a:r>
            <a:r>
              <a:rPr lang="tr-TR" dirty="0" err="1"/>
              <a:t>OpenGL</a:t>
            </a:r>
            <a:r>
              <a:rPr lang="tr-TR" dirty="0"/>
              <a:t>, görüntüleme hacmini bir </a:t>
            </a:r>
            <a:r>
              <a:rPr lang="tr-TR" dirty="0" err="1"/>
              <a:t>kübe</a:t>
            </a:r>
            <a:r>
              <a:rPr lang="tr-TR" dirty="0"/>
              <a:t> eşleyen bir koordinat dönüşümü uygular. Küp başlangıç ​​noktasında ortalanır ve x-yönünde, y-yönünde ve z-yönünde -1'den 1'e uzanır. Bu küp üzerindeki koordinat sistemine klip koordinatları/</a:t>
            </a:r>
            <a:r>
              <a:rPr lang="tr-TR" b="1" dirty="0"/>
              <a:t> </a:t>
            </a:r>
            <a:r>
              <a:rPr lang="tr-TR" b="1" dirty="0" err="1"/>
              <a:t>clip</a:t>
            </a:r>
            <a:r>
              <a:rPr lang="tr-TR" b="1" dirty="0"/>
              <a:t> </a:t>
            </a:r>
            <a:r>
              <a:rPr lang="tr-TR" b="1" dirty="0" err="1"/>
              <a:t>coordinates</a:t>
            </a:r>
            <a:r>
              <a:rPr lang="tr-TR" dirty="0"/>
              <a:t> adı verilir.</a:t>
            </a:r>
          </a:p>
          <a:p>
            <a:pPr algn="just"/>
            <a:r>
              <a:rPr lang="tr-TR" dirty="0"/>
              <a:t>Göz koordinatlarından klip koordinatlarına dönüşüm </a:t>
            </a:r>
            <a:r>
              <a:rPr lang="tr-TR" b="1" dirty="0">
                <a:solidFill>
                  <a:srgbClr val="FF0000"/>
                </a:solidFill>
              </a:rPr>
              <a:t>projeksiyon dönüşümü/</a:t>
            </a:r>
            <a:r>
              <a:rPr lang="tr-TR" b="1" dirty="0" err="1">
                <a:solidFill>
                  <a:srgbClr val="FF0000"/>
                </a:solidFill>
              </a:rPr>
              <a:t>projection</a:t>
            </a:r>
            <a:r>
              <a:rPr lang="tr-TR" b="1" dirty="0">
                <a:solidFill>
                  <a:srgbClr val="FF0000"/>
                </a:solidFill>
              </a:rPr>
              <a:t> </a:t>
            </a:r>
            <a:r>
              <a:rPr lang="tr-TR" b="1" dirty="0" err="1">
                <a:solidFill>
                  <a:srgbClr val="FF0000"/>
                </a:solidFill>
              </a:rPr>
              <a:t>transformation</a:t>
            </a:r>
            <a:r>
              <a:rPr lang="tr-TR" b="1" dirty="0">
                <a:solidFill>
                  <a:srgbClr val="FF0000"/>
                </a:solidFill>
              </a:rPr>
              <a:t> </a:t>
            </a:r>
            <a:r>
              <a:rPr lang="tr-TR" dirty="0"/>
              <a:t>olarak adlandırılır.</a:t>
            </a:r>
          </a:p>
        </p:txBody>
      </p:sp>
      <p:pic>
        <p:nvPicPr>
          <p:cNvPr id="4" name="Picture 2" descr="http://math.hws.edu/graphicsbook/c3/opengl-transform-pipeline.png">
            <a:extLst>
              <a:ext uri="{FF2B5EF4-FFF2-40B4-BE49-F238E27FC236}">
                <a16:creationId xmlns:a16="http://schemas.microsoft.com/office/drawing/2014/main" id="{FD7B4FE0-4677-54E7-C5A5-AB8492517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1335" y="5624086"/>
            <a:ext cx="7458478" cy="108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1986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Cihaz Koordinatları/ Device </a:t>
            </a:r>
            <a:r>
              <a:rPr lang="tr-TR" b="1" dirty="0" err="1"/>
              <a:t>Coordinates</a:t>
            </a:r>
            <a:endParaRPr lang="tr-TR" dirty="0"/>
          </a:p>
        </p:txBody>
      </p:sp>
      <p:sp>
        <p:nvSpPr>
          <p:cNvPr id="3" name="İçerik Yer Tutucusu 2"/>
          <p:cNvSpPr>
            <a:spLocks noGrp="1"/>
          </p:cNvSpPr>
          <p:nvPr>
            <p:ph idx="1"/>
          </p:nvPr>
        </p:nvSpPr>
        <p:spPr/>
        <p:txBody>
          <a:bodyPr/>
          <a:lstStyle/>
          <a:p>
            <a:pPr algn="just"/>
            <a:r>
              <a:rPr lang="tr-TR" dirty="0" err="1"/>
              <a:t>Pipeline’nın</a:t>
            </a:r>
            <a:r>
              <a:rPr lang="tr-TR" dirty="0"/>
              <a:t> sonunda bilgisayar ekranı gibi fiziksel bir görüntüleme cihazında gerçek çizimin gerçekleştiği 2D koordinat sistemi olan </a:t>
            </a:r>
            <a:r>
              <a:rPr lang="tr-TR" b="1" dirty="0">
                <a:solidFill>
                  <a:srgbClr val="FF0000"/>
                </a:solidFill>
              </a:rPr>
              <a:t>cihaz koordinatları/ </a:t>
            </a:r>
            <a:r>
              <a:rPr lang="tr-TR" b="1" dirty="0" err="1">
                <a:solidFill>
                  <a:srgbClr val="FF0000"/>
                </a:solidFill>
              </a:rPr>
              <a:t>device</a:t>
            </a:r>
            <a:r>
              <a:rPr lang="tr-TR" b="1" dirty="0">
                <a:solidFill>
                  <a:srgbClr val="FF0000"/>
                </a:solidFill>
              </a:rPr>
              <a:t> </a:t>
            </a:r>
            <a:r>
              <a:rPr lang="tr-TR" b="1" dirty="0" err="1">
                <a:solidFill>
                  <a:srgbClr val="FF0000"/>
                </a:solidFill>
              </a:rPr>
              <a:t>coordinates</a:t>
            </a:r>
            <a:r>
              <a:rPr lang="tr-TR" b="1" dirty="0">
                <a:solidFill>
                  <a:srgbClr val="FF0000"/>
                </a:solidFill>
              </a:rPr>
              <a:t> </a:t>
            </a:r>
            <a:r>
              <a:rPr lang="tr-TR" dirty="0"/>
              <a:t>vardır. Normalde, cihaz koordinatlarında </a:t>
            </a:r>
            <a:r>
              <a:rPr lang="tr-TR" b="1" dirty="0"/>
              <a:t>piksel</a:t>
            </a:r>
            <a:r>
              <a:rPr lang="tr-TR" dirty="0"/>
              <a:t> ölçü birimidir. Çizim bölgesi, piksellerden oluşan bir dikdörtgendir. Bu, görüntü alanı adı verilen dikdörtgendir. Görüntü alanı dönüşümü, x ve y‘ </a:t>
            </a:r>
            <a:r>
              <a:rPr lang="tr-TR" dirty="0" err="1"/>
              <a:t>yi</a:t>
            </a:r>
            <a:r>
              <a:rPr lang="tr-TR" dirty="0"/>
              <a:t> klip koordinatlarından alır ve bunları görüntü alanına sığacak şekilde ölçeklendirir.</a:t>
            </a:r>
          </a:p>
        </p:txBody>
      </p:sp>
      <p:pic>
        <p:nvPicPr>
          <p:cNvPr id="4" name="Picture 2" descr="http://math.hws.edu/graphicsbook/c3/opengl-transform-pip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364" y="4924429"/>
            <a:ext cx="9610458" cy="1587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223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OpenGL</a:t>
            </a:r>
            <a:r>
              <a:rPr lang="tr-TR" dirty="0"/>
              <a:t> </a:t>
            </a:r>
            <a:r>
              <a:rPr lang="tr-TR" dirty="0" err="1"/>
              <a:t>Pipeline</a:t>
            </a:r>
            <a:endParaRPr lang="tr-TR" dirty="0"/>
          </a:p>
        </p:txBody>
      </p:sp>
      <p:sp>
        <p:nvSpPr>
          <p:cNvPr id="3" name="İçerik Yer Tutucusu 2"/>
          <p:cNvSpPr>
            <a:spLocks noGrp="1"/>
          </p:cNvSpPr>
          <p:nvPr>
            <p:ph idx="1"/>
          </p:nvPr>
        </p:nvSpPr>
        <p:spPr/>
        <p:txBody>
          <a:bodyPr/>
          <a:lstStyle/>
          <a:p>
            <a:r>
              <a:rPr lang="tr-TR" dirty="0"/>
              <a:t>Dönüşüm dizisini bir kez daha gözden geçirelim. Sahnenin bir parçası olan ve sahneden yapmak istediğimiz görüntüde görünebilecek bir çizgi veya üçgen gibi bir ilkel düşünün. İlkel, aşağıdaki işlem sırasından geçer:</a:t>
            </a:r>
          </a:p>
          <a:p>
            <a:endParaRPr lang="tr-TR" dirty="0"/>
          </a:p>
          <a:p>
            <a:endParaRPr lang="tr-TR" dirty="0"/>
          </a:p>
        </p:txBody>
      </p:sp>
      <p:pic>
        <p:nvPicPr>
          <p:cNvPr id="1026" name="Picture 2" descr="http://math.hws.edu/graphicsbook/c3/opengl-transform-pip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7065" y="3932021"/>
            <a:ext cx="8908340" cy="1471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2638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OpenGL</a:t>
            </a:r>
            <a:r>
              <a:rPr lang="tr-TR" dirty="0"/>
              <a:t> </a:t>
            </a:r>
            <a:r>
              <a:rPr lang="tr-TR" dirty="0" err="1"/>
              <a:t>Pipeline</a:t>
            </a:r>
            <a:endParaRPr lang="tr-TR" dirty="0"/>
          </a:p>
        </p:txBody>
      </p:sp>
      <p:sp>
        <p:nvSpPr>
          <p:cNvPr id="3" name="İçerik Yer Tutucusu 2"/>
          <p:cNvSpPr>
            <a:spLocks noGrp="1"/>
          </p:cNvSpPr>
          <p:nvPr>
            <p:ph idx="1"/>
          </p:nvPr>
        </p:nvSpPr>
        <p:spPr/>
        <p:txBody>
          <a:bodyPr>
            <a:normAutofit fontScale="85000" lnSpcReduction="20000"/>
          </a:bodyPr>
          <a:lstStyle/>
          <a:p>
            <a:pPr marL="514350" indent="-514350" algn="just">
              <a:buFont typeface="+mj-lt"/>
              <a:buAutoNum type="arabicPeriod"/>
            </a:pPr>
            <a:r>
              <a:rPr lang="tr-TR" dirty="0"/>
              <a:t>Nesneyi/Obje tanımlayan noktalar, glVertex3f gibi yöntemler kullanılarak nesne koordinatlarında belirtilir.</a:t>
            </a:r>
          </a:p>
          <a:p>
            <a:pPr marL="514350" indent="-514350" algn="just">
              <a:buFont typeface="+mj-lt"/>
              <a:buAutoNum type="arabicPeriod"/>
            </a:pPr>
            <a:r>
              <a:rPr lang="tr-TR" dirty="0"/>
              <a:t>Noktalar ilk olarak, objeyi dünyaya yerleştiren modelleme dönüşümü ile objeyi göz koordinatlarına eşleyen görüntüleme dönüşümünün bir kombinasyonu olan model görünümü dönüşümüne tabi tutulur.</a:t>
            </a:r>
          </a:p>
          <a:p>
            <a:pPr marL="514350" indent="-514350" algn="just">
              <a:buFont typeface="+mj-lt"/>
              <a:buAutoNum type="arabicPeriod"/>
            </a:pPr>
            <a:r>
              <a:rPr lang="tr-TR" dirty="0"/>
              <a:t>İzleyici dönüşümü, izleyicinin görebildiği görünüm hacmini klip koordinat küpü ile eşlemek için uygulanır. Dönüştürülen obje bu küpün dışında yer alıyorsa görüntünün parçası olmayacak ve işlem duracaktır. Objenin bir kısmı içeride ve bir kısmı dışarıdaysa, dışarıda kalan kısım kırpılıp atılır ve sadece kalan kısım daha fazla işlenir.</a:t>
            </a:r>
          </a:p>
          <a:p>
            <a:pPr marL="514350" indent="-514350" algn="just">
              <a:buFont typeface="+mj-lt"/>
              <a:buAutoNum type="arabicPeriod"/>
            </a:pPr>
            <a:r>
              <a:rPr lang="tr-TR" dirty="0"/>
              <a:t>Son olarak, görüntü alanı dönüşümü, objeyi görüntüleme cihazında çizmek için gerçekten kullanılacak cihaz koordinatlarını üretmek için uygulanır. Bundan sonra, temelin parçası olan tek tek piksellerin nasıl renklendirileceğine karar vermek yeterlidir.</a:t>
            </a:r>
          </a:p>
        </p:txBody>
      </p:sp>
    </p:spTree>
    <p:extLst>
      <p:ext uri="{BB962C8B-B14F-4D97-AF65-F5344CB8AC3E}">
        <p14:creationId xmlns:p14="http://schemas.microsoft.com/office/powerpoint/2010/main" val="1815422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 </a:t>
            </a:r>
            <a:r>
              <a:rPr lang="tr-TR" b="1" dirty="0" err="1"/>
              <a:t>The</a:t>
            </a:r>
            <a:r>
              <a:rPr lang="tr-TR" b="1" dirty="0"/>
              <a:t> </a:t>
            </a:r>
            <a:r>
              <a:rPr lang="tr-TR" b="1" dirty="0" err="1"/>
              <a:t>Viewport</a:t>
            </a:r>
            <a:r>
              <a:rPr lang="tr-TR" b="1" dirty="0"/>
              <a:t> </a:t>
            </a:r>
            <a:r>
              <a:rPr lang="tr-TR" b="1" dirty="0" err="1"/>
              <a:t>Transformation</a:t>
            </a:r>
            <a:endParaRPr lang="tr-TR" b="1" dirty="0"/>
          </a:p>
        </p:txBody>
      </p:sp>
      <p:sp>
        <p:nvSpPr>
          <p:cNvPr id="3" name="İçerik Yer Tutucusu 2"/>
          <p:cNvSpPr>
            <a:spLocks noGrp="1"/>
          </p:cNvSpPr>
          <p:nvPr>
            <p:ph idx="1"/>
          </p:nvPr>
        </p:nvSpPr>
        <p:spPr/>
        <p:txBody>
          <a:bodyPr/>
          <a:lstStyle/>
          <a:p>
            <a:pPr algn="just"/>
            <a:r>
              <a:rPr lang="tr-TR" dirty="0"/>
              <a:t>Dönüşümlerin en basiti, görüntü alanı dönüşümüdür. X ve Y klip koordinatlarını, görüntüleme cihazında kullanılan koordinatlara dönüştürür. Görüntü alanı dönüşümünü belirtmek için, dikdörtgenin yalnızca sahnenin oluşturulacağı cihazda belirtilmesi gerekir. Bu, </a:t>
            </a:r>
            <a:r>
              <a:rPr lang="tr-TR" dirty="0" err="1"/>
              <a:t>glViewport</a:t>
            </a:r>
            <a:r>
              <a:rPr lang="tr-TR" dirty="0"/>
              <a:t> işlevi kullanılarak yapılır.</a:t>
            </a:r>
          </a:p>
          <a:p>
            <a:pPr algn="just"/>
            <a:endParaRPr lang="tr-TR" dirty="0"/>
          </a:p>
          <a:p>
            <a:pPr algn="just"/>
            <a:r>
              <a:rPr lang="en-US" dirty="0" err="1"/>
              <a:t>glViewport</a:t>
            </a:r>
            <a:r>
              <a:rPr lang="en-US" dirty="0"/>
              <a:t>( x, y, width, height );</a:t>
            </a:r>
            <a:endParaRPr lang="tr-TR" dirty="0"/>
          </a:p>
        </p:txBody>
      </p:sp>
      <p:pic>
        <p:nvPicPr>
          <p:cNvPr id="4" name="Picture 2" descr="http://math.hws.edu/graphicsbook/c3/opengl-transform-pip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0119" y="5081948"/>
            <a:ext cx="8908340" cy="1471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3726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err="1"/>
              <a:t>The</a:t>
            </a:r>
            <a:r>
              <a:rPr lang="tr-TR" b="1" dirty="0"/>
              <a:t> </a:t>
            </a:r>
            <a:r>
              <a:rPr lang="tr-TR" b="1" dirty="0" err="1"/>
              <a:t>Projection</a:t>
            </a:r>
            <a:r>
              <a:rPr lang="tr-TR" b="1" dirty="0"/>
              <a:t> </a:t>
            </a:r>
            <a:r>
              <a:rPr lang="tr-TR" b="1" dirty="0" err="1"/>
              <a:t>Transformation</a:t>
            </a:r>
            <a:endParaRPr lang="tr-TR" dirty="0"/>
          </a:p>
        </p:txBody>
      </p:sp>
      <p:sp>
        <p:nvSpPr>
          <p:cNvPr id="3" name="İçerik Yer Tutucusu 2"/>
          <p:cNvSpPr>
            <a:spLocks noGrp="1"/>
          </p:cNvSpPr>
          <p:nvPr>
            <p:ph idx="1"/>
          </p:nvPr>
        </p:nvSpPr>
        <p:spPr/>
        <p:txBody>
          <a:bodyPr>
            <a:normAutofit fontScale="92500" lnSpcReduction="20000"/>
          </a:bodyPr>
          <a:lstStyle/>
          <a:p>
            <a:pPr algn="just"/>
            <a:r>
              <a:rPr lang="tr-TR" dirty="0"/>
              <a:t>Projeksiyon </a:t>
            </a:r>
            <a:r>
              <a:rPr lang="tr-TR" dirty="0" err="1"/>
              <a:t>transformation</a:t>
            </a:r>
            <a:r>
              <a:rPr lang="tr-TR" dirty="0"/>
              <a:t> </a:t>
            </a:r>
            <a:r>
              <a:rPr lang="tr-TR" dirty="0" err="1"/>
              <a:t>OpenGL'de</a:t>
            </a:r>
            <a:r>
              <a:rPr lang="tr-TR" dirty="0"/>
              <a:t> bir matris olarak temsil edilir. </a:t>
            </a:r>
          </a:p>
          <a:p>
            <a:pPr algn="just"/>
            <a:r>
              <a:rPr lang="tr-TR" dirty="0" err="1"/>
              <a:t>OpenGL</a:t>
            </a:r>
            <a:r>
              <a:rPr lang="tr-TR" dirty="0"/>
              <a:t>, projeksiyon matrisini </a:t>
            </a:r>
            <a:r>
              <a:rPr lang="tr-TR" dirty="0" err="1"/>
              <a:t>modelview</a:t>
            </a:r>
            <a:r>
              <a:rPr lang="tr-TR" dirty="0"/>
              <a:t> dönüşümünü temsil eden matristen ayrı olarak izler.</a:t>
            </a:r>
          </a:p>
          <a:p>
            <a:pPr algn="just"/>
            <a:r>
              <a:rPr lang="tr-TR" dirty="0"/>
              <a:t> </a:t>
            </a:r>
            <a:r>
              <a:rPr lang="tr-TR" dirty="0" err="1"/>
              <a:t>GlRotatef</a:t>
            </a:r>
            <a:r>
              <a:rPr lang="tr-TR" dirty="0"/>
              <a:t> gibi aynı dönüştürme işlevleri her iki matrise da uygulanabilir, bu nedenle </a:t>
            </a:r>
            <a:r>
              <a:rPr lang="tr-TR" dirty="0" err="1"/>
              <a:t>OpenGL</a:t>
            </a:r>
            <a:r>
              <a:rPr lang="tr-TR" dirty="0"/>
              <a:t> bu işlevlerin hangi matris için geçerli olduğunu bilmek için bir yola ihtiyaç duyar. Bu, matris </a:t>
            </a:r>
            <a:r>
              <a:rPr lang="tr-TR" dirty="0" err="1"/>
              <a:t>modu</a:t>
            </a:r>
            <a:r>
              <a:rPr lang="tr-TR" dirty="0"/>
              <a:t> adı verilen bir </a:t>
            </a:r>
            <a:r>
              <a:rPr lang="tr-TR" dirty="0" err="1"/>
              <a:t>OpenGL</a:t>
            </a:r>
            <a:r>
              <a:rPr lang="tr-TR" dirty="0"/>
              <a:t> durum özelliği tarafından belirlenir. </a:t>
            </a:r>
          </a:p>
          <a:p>
            <a:pPr algn="just"/>
            <a:r>
              <a:rPr lang="tr-TR" dirty="0"/>
              <a:t>Matris </a:t>
            </a:r>
            <a:r>
              <a:rPr lang="tr-TR" dirty="0" err="1"/>
              <a:t>modunun</a:t>
            </a:r>
            <a:r>
              <a:rPr lang="tr-TR" dirty="0"/>
              <a:t> değeri, GL_PROJECTION veya GL_MODELVIEW gibi bir sabittir. </a:t>
            </a:r>
            <a:r>
              <a:rPr lang="tr-TR" dirty="0" err="1"/>
              <a:t>GlRotatef</a:t>
            </a:r>
            <a:r>
              <a:rPr lang="tr-TR" dirty="0"/>
              <a:t> gibi bir işlev çağrıldığında, bir matrisi değiştirir; hangi matrisin değiştirileceği, matris </a:t>
            </a:r>
            <a:r>
              <a:rPr lang="tr-TR" dirty="0" err="1"/>
              <a:t>modunun</a:t>
            </a:r>
            <a:r>
              <a:rPr lang="tr-TR" dirty="0"/>
              <a:t> mevcut değerine bağlıdır. Değer, </a:t>
            </a:r>
            <a:r>
              <a:rPr lang="tr-TR" dirty="0" err="1"/>
              <a:t>glMatrixMode</a:t>
            </a:r>
            <a:r>
              <a:rPr lang="tr-TR" dirty="0"/>
              <a:t> işlevi çağrılarak ayarlanır.</a:t>
            </a:r>
          </a:p>
          <a:p>
            <a:pPr marL="0" indent="0">
              <a:buNone/>
            </a:pPr>
            <a:r>
              <a:rPr lang="tr-TR" dirty="0"/>
              <a:t> </a:t>
            </a:r>
          </a:p>
        </p:txBody>
      </p:sp>
      <p:pic>
        <p:nvPicPr>
          <p:cNvPr id="4" name="Picture 2" descr="http://math.hws.edu/graphicsbook/c3/opengl-transform-pip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6836" y="5386748"/>
            <a:ext cx="8288060" cy="1368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042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normAutofit/>
          </a:bodyPr>
          <a:lstStyle/>
          <a:p>
            <a:r>
              <a:rPr lang="tr-TR" dirty="0"/>
              <a:t>Başlangıç değeri </a:t>
            </a:r>
            <a:r>
              <a:rPr lang="tr-TR" dirty="0" err="1"/>
              <a:t>GL_MODELVIEW'dir</a:t>
            </a:r>
            <a:r>
              <a:rPr lang="tr-TR" dirty="0"/>
              <a:t>. </a:t>
            </a:r>
          </a:p>
          <a:p>
            <a:r>
              <a:rPr lang="tr-TR" dirty="0"/>
              <a:t>Projeksiyon matrisi üzerinde çalışmak istiyorsanız, önce</a:t>
            </a:r>
          </a:p>
          <a:p>
            <a:pPr algn="ctr"/>
            <a:r>
              <a:rPr lang="en-US" dirty="0" err="1">
                <a:solidFill>
                  <a:srgbClr val="FF0000"/>
                </a:solidFill>
              </a:rPr>
              <a:t>glMatrixMode</a:t>
            </a:r>
            <a:r>
              <a:rPr lang="en-US" dirty="0">
                <a:solidFill>
                  <a:srgbClr val="FF0000"/>
                </a:solidFill>
              </a:rPr>
              <a:t>(GL_PROJECTION);</a:t>
            </a:r>
          </a:p>
          <a:p>
            <a:r>
              <a:rPr lang="en-US" dirty="0"/>
              <a:t>If you want to go back to working on the </a:t>
            </a:r>
            <a:r>
              <a:rPr lang="en-US" dirty="0" err="1"/>
              <a:t>modelview</a:t>
            </a:r>
            <a:r>
              <a:rPr lang="en-US" dirty="0"/>
              <a:t> matrix, you must call</a:t>
            </a:r>
          </a:p>
          <a:p>
            <a:pPr algn="ctr"/>
            <a:r>
              <a:rPr lang="en-US" dirty="0" err="1">
                <a:solidFill>
                  <a:srgbClr val="FF0000"/>
                </a:solidFill>
              </a:rPr>
              <a:t>glMartrixMode</a:t>
            </a:r>
            <a:r>
              <a:rPr lang="en-US" dirty="0">
                <a:solidFill>
                  <a:srgbClr val="FF0000"/>
                </a:solidFill>
              </a:rPr>
              <a:t>(GL_MODELVIEW)</a:t>
            </a:r>
            <a:endParaRPr lang="tr-TR" dirty="0">
              <a:solidFill>
                <a:srgbClr val="FF0000"/>
              </a:solidFill>
            </a:endParaRPr>
          </a:p>
        </p:txBody>
      </p:sp>
    </p:spTree>
    <p:extLst>
      <p:ext uri="{BB962C8B-B14F-4D97-AF65-F5344CB8AC3E}">
        <p14:creationId xmlns:p14="http://schemas.microsoft.com/office/powerpoint/2010/main" val="2008070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HIDDEN SURFACE REMOVAL</a:t>
            </a:r>
          </a:p>
        </p:txBody>
      </p:sp>
      <p:sp>
        <p:nvSpPr>
          <p:cNvPr id="3" name="İçerik Yer Tutucusu 2"/>
          <p:cNvSpPr>
            <a:spLocks noGrp="1"/>
          </p:cNvSpPr>
          <p:nvPr>
            <p:ph idx="1"/>
          </p:nvPr>
        </p:nvSpPr>
        <p:spPr/>
        <p:txBody>
          <a:bodyPr>
            <a:normAutofit fontScale="92500" lnSpcReduction="10000"/>
          </a:bodyPr>
          <a:lstStyle/>
          <a:p>
            <a:pPr algn="just"/>
            <a:r>
              <a:rPr lang="tr-TR" dirty="0"/>
              <a:t>Bilgisayar grafiklerinin en zorlu işlerinden biri olarak kabul edilir. 3 boyutlu uzayda katı nesnelerden bahsetmeye başladığımızda, izleyiciye daha yakın olan bazı nesnelerin, diğer nesneleri kısmen veya tamamen örtme eğiliminde olduğu ima edilir. Aslında tek bir nesne olsa bile bazı yüzleri görünmez (arka yüzler) ve bazıları kısmen görünür (yan yüzler). Gerçek zamanlı olarak kaplanmış yüzeyler olması durumunda, kaplanacak yüzleri belirleme hesaplama açısından ve aynı zamanda analitik olarak yorucudur.</a:t>
            </a:r>
          </a:p>
          <a:p>
            <a:pPr algn="just"/>
            <a:r>
              <a:rPr lang="tr-TR" dirty="0"/>
              <a:t>Sadece tel çerçeve tipindeki çizimler görüntülendiğinde, görev, gösterilmemesi gereken çizgileri belirleyerek, "gizli çizgi kaldırma" ile biraz basitleştirilir. Bununla birlikte, katı nesneler düşünüldüğünde, görev daha karmaşık hale gelir çünkü çıkarılması için tüm yüzeylerin tanımlanması gerekir.</a:t>
            </a:r>
          </a:p>
        </p:txBody>
      </p:sp>
    </p:spTree>
    <p:extLst>
      <p:ext uri="{BB962C8B-B14F-4D97-AF65-F5344CB8AC3E}">
        <p14:creationId xmlns:p14="http://schemas.microsoft.com/office/powerpoint/2010/main" val="835266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5D29F6-59E0-EC14-16C1-FCDFD8428B82}"/>
              </a:ext>
            </a:extLst>
          </p:cNvPr>
          <p:cNvSpPr>
            <a:spLocks noGrp="1"/>
          </p:cNvSpPr>
          <p:nvPr>
            <p:ph type="title"/>
          </p:nvPr>
        </p:nvSpPr>
        <p:spPr/>
        <p:txBody>
          <a:bodyPr/>
          <a:lstStyle/>
          <a:p>
            <a:r>
              <a:rPr lang="tr-TR" dirty="0" err="1"/>
              <a:t>The</a:t>
            </a:r>
            <a:r>
              <a:rPr lang="tr-TR" dirty="0"/>
              <a:t> Depth – </a:t>
            </a:r>
            <a:r>
              <a:rPr lang="tr-TR" dirty="0" err="1"/>
              <a:t>Buffer</a:t>
            </a:r>
            <a:r>
              <a:rPr lang="tr-TR" dirty="0"/>
              <a:t> </a:t>
            </a:r>
            <a:r>
              <a:rPr lang="tr-TR" dirty="0" err="1"/>
              <a:t>algorithm</a:t>
            </a:r>
            <a:endParaRPr lang="tr-TR" dirty="0"/>
          </a:p>
        </p:txBody>
      </p:sp>
      <p:sp>
        <p:nvSpPr>
          <p:cNvPr id="3" name="İçerik Yer Tutucusu 2">
            <a:extLst>
              <a:ext uri="{FF2B5EF4-FFF2-40B4-BE49-F238E27FC236}">
                <a16:creationId xmlns:a16="http://schemas.microsoft.com/office/drawing/2014/main" id="{172FDD11-C280-A299-B13D-A37DD44C0DEE}"/>
              </a:ext>
            </a:extLst>
          </p:cNvPr>
          <p:cNvSpPr>
            <a:spLocks noGrp="1"/>
          </p:cNvSpPr>
          <p:nvPr>
            <p:ph idx="1"/>
          </p:nvPr>
        </p:nvSpPr>
        <p:spPr/>
        <p:txBody>
          <a:bodyPr>
            <a:normAutofit fontScale="85000" lnSpcReduction="20000"/>
          </a:bodyPr>
          <a:lstStyle/>
          <a:p>
            <a:pPr marL="514350" indent="-514350">
              <a:buFont typeface="+mj-lt"/>
              <a:buAutoNum type="arabicPeriod"/>
            </a:pPr>
            <a:r>
              <a:rPr lang="tr-TR" b="0" i="0" dirty="0">
                <a:solidFill>
                  <a:srgbClr val="0D0D0D"/>
                </a:solidFill>
                <a:effectLst/>
                <a:highlight>
                  <a:srgbClr val="FFFFFF"/>
                </a:highlight>
                <a:latin typeface="Söhne"/>
              </a:rPr>
              <a:t>Bir derinlik (Z-</a:t>
            </a:r>
            <a:r>
              <a:rPr lang="tr-TR" b="0" i="0" dirty="0" err="1">
                <a:solidFill>
                  <a:srgbClr val="0D0D0D"/>
                </a:solidFill>
                <a:effectLst/>
                <a:highlight>
                  <a:srgbClr val="FFFFFF"/>
                </a:highlight>
                <a:latin typeface="Söhne"/>
              </a:rPr>
              <a:t>Buffer</a:t>
            </a:r>
            <a:r>
              <a:rPr lang="tr-TR" b="0" i="0" dirty="0">
                <a:solidFill>
                  <a:srgbClr val="0D0D0D"/>
                </a:solidFill>
                <a:effectLst/>
                <a:highlight>
                  <a:srgbClr val="FFFFFF"/>
                </a:highlight>
                <a:latin typeface="Söhne"/>
              </a:rPr>
              <a:t>) tamponu ve bir renk tamponu oluşturulur.</a:t>
            </a:r>
          </a:p>
          <a:p>
            <a:pPr marL="514350" indent="-514350" algn="l">
              <a:buFont typeface="+mj-lt"/>
              <a:buAutoNum type="arabicPeriod"/>
            </a:pPr>
            <a:r>
              <a:rPr lang="tr-TR" b="0" i="0" dirty="0">
                <a:solidFill>
                  <a:srgbClr val="0D0D0D"/>
                </a:solidFill>
                <a:effectLst/>
                <a:highlight>
                  <a:srgbClr val="FFFFFF"/>
                </a:highlight>
                <a:latin typeface="Söhne"/>
              </a:rPr>
              <a:t>Derinlik tamponundaki tüm değerler başlangıçta en uzak mesafeyi alır.</a:t>
            </a:r>
          </a:p>
          <a:p>
            <a:pPr marL="514350" indent="-514350" algn="l">
              <a:buFont typeface="+mj-lt"/>
              <a:buAutoNum type="arabicPeriod"/>
            </a:pPr>
            <a:r>
              <a:rPr lang="tr-TR" b="0" i="0" dirty="0">
                <a:solidFill>
                  <a:srgbClr val="0D0D0D"/>
                </a:solidFill>
                <a:effectLst/>
                <a:highlight>
                  <a:srgbClr val="FFFFFF"/>
                </a:highlight>
                <a:latin typeface="Söhne"/>
              </a:rPr>
              <a:t>Renk tamponu genellikle siyah/arka plan rengine ayarlanır.</a:t>
            </a:r>
          </a:p>
          <a:p>
            <a:pPr marL="514350" indent="-514350" algn="l">
              <a:buFont typeface="+mj-lt"/>
              <a:buAutoNum type="arabicPeriod"/>
            </a:pPr>
            <a:r>
              <a:rPr lang="tr-TR" b="0" i="0" dirty="0">
                <a:solidFill>
                  <a:srgbClr val="0D0D0D"/>
                </a:solidFill>
                <a:effectLst/>
                <a:highlight>
                  <a:srgbClr val="FFFFFF"/>
                </a:highlight>
                <a:latin typeface="Söhne"/>
              </a:rPr>
              <a:t>Her bir üçgen veya çokgen, 3B koordinatlardan 2B ekrana projelendirilir ve piksel düzeyine dönüştürülür.</a:t>
            </a:r>
          </a:p>
          <a:p>
            <a:pPr marL="514350" indent="-514350" algn="l">
              <a:buFont typeface="+mj-lt"/>
              <a:buAutoNum type="arabicPeriod"/>
            </a:pPr>
            <a:r>
              <a:rPr lang="tr-TR" b="0" i="0" dirty="0">
                <a:solidFill>
                  <a:srgbClr val="0D0D0D"/>
                </a:solidFill>
                <a:effectLst/>
                <a:highlight>
                  <a:srgbClr val="FFFFFF"/>
                </a:highlight>
                <a:latin typeface="Söhne"/>
              </a:rPr>
              <a:t>Her piksel için derinlik değeri (z-değeri) hesaplanır.</a:t>
            </a:r>
          </a:p>
          <a:p>
            <a:pPr marL="514350" indent="-514350" algn="l">
              <a:buFont typeface="+mj-lt"/>
              <a:buAutoNum type="arabicPeriod"/>
            </a:pPr>
            <a:r>
              <a:rPr lang="tr-TR" b="0" i="0" dirty="0">
                <a:solidFill>
                  <a:srgbClr val="0D0D0D"/>
                </a:solidFill>
                <a:effectLst/>
                <a:highlight>
                  <a:srgbClr val="FFFFFF"/>
                </a:highlight>
                <a:latin typeface="Söhne"/>
              </a:rPr>
              <a:t>Her pikselin z-değeri derinlik tamponundaki mevcut değer ile karşılaştırılır.</a:t>
            </a:r>
          </a:p>
          <a:p>
            <a:pPr marL="514350" indent="-514350" algn="l">
              <a:buFont typeface="+mj-lt"/>
              <a:buAutoNum type="arabicPeriod"/>
            </a:pPr>
            <a:r>
              <a:rPr lang="tr-TR" b="0" i="0" dirty="0">
                <a:solidFill>
                  <a:srgbClr val="0D0D0D"/>
                </a:solidFill>
                <a:effectLst/>
                <a:highlight>
                  <a:srgbClr val="FFFFFF"/>
                </a:highlight>
                <a:latin typeface="Söhne"/>
              </a:rPr>
              <a:t>Eğer yeni z-değeri daha küçükse (yani izlenilen yüzey daha yakında ise), derinlik tamponundaki değer güncellenir ve renk tamponuna bu yüzeyin rengi yazılır.</a:t>
            </a:r>
          </a:p>
          <a:p>
            <a:pPr marL="514350" indent="-514350" algn="l">
              <a:buFont typeface="+mj-lt"/>
              <a:buAutoNum type="arabicPeriod"/>
            </a:pPr>
            <a:r>
              <a:rPr lang="tr-TR" b="0" i="0" dirty="0">
                <a:solidFill>
                  <a:srgbClr val="0D0D0D"/>
                </a:solidFill>
                <a:effectLst/>
                <a:highlight>
                  <a:srgbClr val="FFFFFF"/>
                </a:highlight>
                <a:latin typeface="Söhne"/>
              </a:rPr>
              <a:t>Eğer yeni z-değeri daha büyük veya eşitse, mevcut değerler korunur.</a:t>
            </a:r>
          </a:p>
          <a:p>
            <a:pPr marL="514350" indent="-514350">
              <a:buFont typeface="+mj-lt"/>
              <a:buAutoNum type="arabicPeriod"/>
            </a:pPr>
            <a:r>
              <a:rPr lang="tr-TR" b="0" i="0" dirty="0">
                <a:solidFill>
                  <a:srgbClr val="0D0D0D"/>
                </a:solidFill>
                <a:effectLst/>
                <a:highlight>
                  <a:srgbClr val="FFFFFF"/>
                </a:highlight>
                <a:latin typeface="Söhne"/>
              </a:rPr>
              <a:t>Tüm çokgenler işlendiğinde, renk tamponu sahnenin doğru derinlik sırasına göre çizilmiş görüntüsünü içerir.</a:t>
            </a:r>
          </a:p>
          <a:p>
            <a:pPr algn="l">
              <a:buFont typeface="Arial" panose="020B0604020202020204" pitchFamily="34" charset="0"/>
              <a:buChar char="•"/>
            </a:pPr>
            <a:endParaRPr lang="tr-TR" b="0" i="0" dirty="0">
              <a:solidFill>
                <a:srgbClr val="0D0D0D"/>
              </a:solidFill>
              <a:effectLst/>
              <a:highlight>
                <a:srgbClr val="FFFFFF"/>
              </a:highlight>
              <a:latin typeface="Söhne"/>
            </a:endParaRPr>
          </a:p>
          <a:p>
            <a:endParaRPr lang="tr-TR" dirty="0"/>
          </a:p>
        </p:txBody>
      </p:sp>
    </p:spTree>
    <p:extLst>
      <p:ext uri="{BB962C8B-B14F-4D97-AF65-F5344CB8AC3E}">
        <p14:creationId xmlns:p14="http://schemas.microsoft.com/office/powerpoint/2010/main" val="3281750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The</a:t>
            </a:r>
            <a:r>
              <a:rPr lang="tr-TR" dirty="0"/>
              <a:t> Depth – </a:t>
            </a:r>
            <a:r>
              <a:rPr lang="tr-TR" dirty="0" err="1"/>
              <a:t>Buffer</a:t>
            </a:r>
            <a:r>
              <a:rPr lang="tr-TR" dirty="0"/>
              <a:t> </a:t>
            </a:r>
            <a:r>
              <a:rPr lang="tr-TR" dirty="0" err="1"/>
              <a:t>algorithm</a:t>
            </a:r>
            <a:endParaRPr lang="tr-TR" dirty="0"/>
          </a:p>
        </p:txBody>
      </p:sp>
      <p:sp>
        <p:nvSpPr>
          <p:cNvPr id="3" name="İçerik Yer Tutucusu 2"/>
          <p:cNvSpPr>
            <a:spLocks noGrp="1"/>
          </p:cNvSpPr>
          <p:nvPr>
            <p:ph idx="1"/>
          </p:nvPr>
        </p:nvSpPr>
        <p:spPr/>
        <p:txBody>
          <a:bodyPr>
            <a:normAutofit lnSpcReduction="10000"/>
          </a:bodyPr>
          <a:lstStyle/>
          <a:p>
            <a:pPr algn="just"/>
            <a:r>
              <a:rPr lang="tr-TR" b="1" dirty="0"/>
              <a:t>Derinlik tamponu/arabelleği</a:t>
            </a:r>
            <a:r>
              <a:rPr lang="tr-TR" dirty="0"/>
              <a:t>, tıpkı renk arabelleği gibi parça başına bilgi depolayan ve renk arabelleğiyle aynı genişliğe ve yüksekliğe sahip bir arabellektir. Derinlik tamponu, </a:t>
            </a:r>
            <a:r>
              <a:rPr lang="tr-TR" dirty="0" err="1"/>
              <a:t>pencereleme</a:t>
            </a:r>
            <a:r>
              <a:rPr lang="tr-TR" dirty="0"/>
              <a:t> sistemi tarafından otomatik olarak oluşturulur ve derinlik değerlerini 16, 24 veya 32 bit kayan değerler olarak depolar. Çoğu sistemde 24 bit hassasiyetli bir derinlik tamponu görürsünüz.</a:t>
            </a:r>
          </a:p>
          <a:p>
            <a:pPr algn="just"/>
            <a:r>
              <a:rPr lang="tr-TR" dirty="0"/>
              <a:t>Derinlik testi etkinleştirildiğinde </a:t>
            </a:r>
            <a:r>
              <a:rPr lang="tr-TR" dirty="0" err="1"/>
              <a:t>OpenGL</a:t>
            </a:r>
            <a:r>
              <a:rPr lang="tr-TR" dirty="0"/>
              <a:t>, bir parçanın derinlik değerini derinlik arabelleğinin içeriğine göre test eder. </a:t>
            </a:r>
            <a:r>
              <a:rPr lang="tr-TR" dirty="0" err="1"/>
              <a:t>OpenGL</a:t>
            </a:r>
            <a:r>
              <a:rPr lang="tr-TR" dirty="0"/>
              <a:t> bir derinlik testi gerçekleştirir ve bu test başarılı olursa, parça oluşturulur ve derinlik tamponu yeni derinlik değeriyle güncellenir. Derinlik testi başarısız olursa, parça atılır.</a:t>
            </a:r>
          </a:p>
        </p:txBody>
      </p:sp>
    </p:spTree>
    <p:extLst>
      <p:ext uri="{BB962C8B-B14F-4D97-AF65-F5344CB8AC3E}">
        <p14:creationId xmlns:p14="http://schemas.microsoft.com/office/powerpoint/2010/main" val="3901386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The</a:t>
            </a:r>
            <a:r>
              <a:rPr lang="tr-TR" dirty="0"/>
              <a:t> Depth – </a:t>
            </a:r>
            <a:r>
              <a:rPr lang="tr-TR" dirty="0" err="1"/>
              <a:t>Buffer</a:t>
            </a:r>
            <a:r>
              <a:rPr lang="tr-TR" dirty="0"/>
              <a:t> </a:t>
            </a:r>
            <a:r>
              <a:rPr lang="tr-TR" dirty="0" err="1"/>
              <a:t>algorithm</a:t>
            </a:r>
            <a:endParaRPr lang="tr-TR" dirty="0"/>
          </a:p>
        </p:txBody>
      </p:sp>
      <p:sp>
        <p:nvSpPr>
          <p:cNvPr id="3" name="İçerik Yer Tutucusu 2"/>
          <p:cNvSpPr>
            <a:spLocks noGrp="1"/>
          </p:cNvSpPr>
          <p:nvPr>
            <p:ph idx="1"/>
          </p:nvPr>
        </p:nvSpPr>
        <p:spPr/>
        <p:txBody>
          <a:bodyPr/>
          <a:lstStyle/>
          <a:p>
            <a:r>
              <a:rPr lang="en-US" dirty="0"/>
              <a:t>Depth testing is disabled by default so to enable depth testing we need to enable it with the GL_DEPTH_TEST option:</a:t>
            </a:r>
          </a:p>
          <a:p>
            <a:endParaRPr lang="en-US" dirty="0"/>
          </a:p>
          <a:p>
            <a:r>
              <a:rPr lang="tr-TR" dirty="0" err="1"/>
              <a:t>glEnable</a:t>
            </a:r>
            <a:r>
              <a:rPr lang="tr-TR" dirty="0"/>
              <a:t>(GL_DEPTH_TEST); </a:t>
            </a:r>
          </a:p>
        </p:txBody>
      </p:sp>
    </p:spTree>
    <p:extLst>
      <p:ext uri="{BB962C8B-B14F-4D97-AF65-F5344CB8AC3E}">
        <p14:creationId xmlns:p14="http://schemas.microsoft.com/office/powerpoint/2010/main" val="1297214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The</a:t>
            </a:r>
            <a:r>
              <a:rPr lang="tr-TR" dirty="0"/>
              <a:t> Depth – </a:t>
            </a:r>
            <a:r>
              <a:rPr lang="tr-TR" dirty="0" err="1"/>
              <a:t>Buffer</a:t>
            </a:r>
            <a:r>
              <a:rPr lang="tr-TR" dirty="0"/>
              <a:t> </a:t>
            </a:r>
            <a:r>
              <a:rPr lang="tr-TR" dirty="0" err="1"/>
              <a:t>algorithm</a:t>
            </a:r>
            <a:endParaRPr lang="tr-TR" dirty="0"/>
          </a:p>
        </p:txBody>
      </p:sp>
      <p:sp>
        <p:nvSpPr>
          <p:cNvPr id="3" name="İçerik Yer Tutucusu 2"/>
          <p:cNvSpPr>
            <a:spLocks noGrp="1"/>
          </p:cNvSpPr>
          <p:nvPr>
            <p:ph idx="1"/>
          </p:nvPr>
        </p:nvSpPr>
        <p:spPr/>
        <p:txBody>
          <a:bodyPr/>
          <a:lstStyle/>
          <a:p>
            <a:r>
              <a:rPr lang="tr-TR" dirty="0"/>
              <a:t>Etkinleştirildikten sonra </a:t>
            </a:r>
            <a:r>
              <a:rPr lang="tr-TR" dirty="0" err="1"/>
              <a:t>OpenGL</a:t>
            </a:r>
            <a:r>
              <a:rPr lang="tr-TR" dirty="0"/>
              <a:t>, derinlik testini geçtiyse parçaları z-değerlerini otomatik olarak derinlik tamponunda saklar ve derinlik testini buna göre geçemezlerse parçaları atar. Derinlik testini etkinleştirdiyseniz, GL_DEPTH_BUFFER_BIT kullanarak her çerçeveden önce derinlik tamponunu da temizlemelisiniz; aksi halde son karedeki derinlik değerlerine takılı kalırsınız.</a:t>
            </a:r>
          </a:p>
          <a:p>
            <a:r>
              <a:rPr lang="tr-TR" dirty="0" err="1"/>
              <a:t>glClear</a:t>
            </a:r>
            <a:r>
              <a:rPr lang="tr-TR" dirty="0"/>
              <a:t>(GL_COLOR_BUFFER_BIT | GL_DEPTH_BUFFER_BIT); </a:t>
            </a:r>
          </a:p>
        </p:txBody>
      </p:sp>
    </p:spTree>
    <p:extLst>
      <p:ext uri="{BB962C8B-B14F-4D97-AF65-F5344CB8AC3E}">
        <p14:creationId xmlns:p14="http://schemas.microsoft.com/office/powerpoint/2010/main" val="1439101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Stencil</a:t>
            </a:r>
            <a:r>
              <a:rPr lang="tr-TR" dirty="0"/>
              <a:t> </a:t>
            </a:r>
            <a:r>
              <a:rPr lang="tr-TR" dirty="0" err="1"/>
              <a:t>Buffer</a:t>
            </a:r>
            <a:r>
              <a:rPr lang="tr-TR" dirty="0"/>
              <a:t> (Şablon tamponu)</a:t>
            </a:r>
          </a:p>
        </p:txBody>
      </p:sp>
      <p:sp>
        <p:nvSpPr>
          <p:cNvPr id="3" name="İçerik Yer Tutucusu 2"/>
          <p:cNvSpPr>
            <a:spLocks noGrp="1"/>
          </p:cNvSpPr>
          <p:nvPr>
            <p:ph idx="1"/>
          </p:nvPr>
        </p:nvSpPr>
        <p:spPr/>
        <p:txBody>
          <a:bodyPr>
            <a:normAutofit fontScale="92500" lnSpcReduction="10000"/>
          </a:bodyPr>
          <a:lstStyle/>
          <a:p>
            <a:pPr algn="just"/>
            <a:r>
              <a:rPr lang="tr-TR" dirty="0"/>
              <a:t>Şablon arabelleği, hangi parçaların çizilmesi ve hangilerinin çizilmemesi gerektiği sorusu üzerinde size daha fazla kontrol sağlayan derinlik arabelleğinin </a:t>
            </a:r>
            <a:r>
              <a:rPr lang="tr-TR" b="1" dirty="0"/>
              <a:t>isteğe</a:t>
            </a:r>
            <a:r>
              <a:rPr lang="tr-TR" dirty="0"/>
              <a:t> bağlı bir uzantısıdır. </a:t>
            </a:r>
            <a:r>
              <a:rPr lang="tr-TR" b="0" i="0" dirty="0">
                <a:solidFill>
                  <a:srgbClr val="0D0D0D"/>
                </a:solidFill>
                <a:effectLst/>
                <a:highlight>
                  <a:srgbClr val="FFFFFF"/>
                </a:highlight>
                <a:latin typeface="Söhne"/>
              </a:rPr>
              <a:t>Özellikle </a:t>
            </a:r>
            <a:r>
              <a:rPr lang="tr-TR" b="0" i="0" dirty="0" err="1">
                <a:solidFill>
                  <a:srgbClr val="0D0D0D"/>
                </a:solidFill>
                <a:effectLst/>
                <a:highlight>
                  <a:srgbClr val="FFFFFF"/>
                </a:highlight>
                <a:latin typeface="Söhne"/>
              </a:rPr>
              <a:t>OpenGL</a:t>
            </a:r>
            <a:r>
              <a:rPr lang="tr-TR" b="0" i="0" dirty="0">
                <a:solidFill>
                  <a:srgbClr val="0D0D0D"/>
                </a:solidFill>
                <a:effectLst/>
                <a:highlight>
                  <a:srgbClr val="FFFFFF"/>
                </a:highlight>
                <a:latin typeface="Söhne"/>
              </a:rPr>
              <a:t> ve Direct3D gibi grafik </a:t>
            </a:r>
            <a:r>
              <a:rPr lang="tr-TR" b="0" i="0" dirty="0" err="1">
                <a:solidFill>
                  <a:srgbClr val="0D0D0D"/>
                </a:solidFill>
                <a:effectLst/>
                <a:highlight>
                  <a:srgbClr val="FFFFFF"/>
                </a:highlight>
                <a:latin typeface="Söhne"/>
              </a:rPr>
              <a:t>API'lerinde</a:t>
            </a:r>
            <a:r>
              <a:rPr lang="tr-TR" b="0" i="0" dirty="0">
                <a:solidFill>
                  <a:srgbClr val="0D0D0D"/>
                </a:solidFill>
                <a:effectLst/>
                <a:highlight>
                  <a:srgbClr val="FFFFFF"/>
                </a:highlight>
                <a:latin typeface="Söhne"/>
              </a:rPr>
              <a:t> çeşitli görsel efektleri ve özel işlemleri kolaylaştırmak için kullanılır.</a:t>
            </a:r>
            <a:endParaRPr lang="tr-TR" dirty="0"/>
          </a:p>
          <a:p>
            <a:pPr algn="just"/>
            <a:r>
              <a:rPr lang="tr-TR" dirty="0"/>
              <a:t>Derinlik tamponu gibi, her piksel için bir değer saklanır.</a:t>
            </a:r>
          </a:p>
          <a:p>
            <a:pPr algn="just"/>
            <a:r>
              <a:rPr lang="tr-TR" dirty="0"/>
              <a:t>Bu değerin ne zaman ve nasıl değişeceği ve bu değere bağlı olarak bir parçanın ne zaman çizilmesi gerektiğini kontrol edebilirsiniz. Derinlik testi başarısız olursa, şablon testi artık bir parçanın çizilip çizilmediğini belirlemez, ancak bu parçalar şablon arabelleğindeki değerleri yine de etkileyebilir!</a:t>
            </a:r>
          </a:p>
          <a:p>
            <a:pPr algn="just"/>
            <a:r>
              <a:rPr lang="tr-TR" dirty="0" err="1"/>
              <a:t>glEnable</a:t>
            </a:r>
            <a:r>
              <a:rPr lang="tr-TR" dirty="0"/>
              <a:t>(GL_STENCIL_TEST);</a:t>
            </a:r>
          </a:p>
        </p:txBody>
      </p:sp>
    </p:spTree>
    <p:extLst>
      <p:ext uri="{BB962C8B-B14F-4D97-AF65-F5344CB8AC3E}">
        <p14:creationId xmlns:p14="http://schemas.microsoft.com/office/powerpoint/2010/main" val="985105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FB4B15-21F8-1012-F488-EB43A9A0651E}"/>
              </a:ext>
            </a:extLst>
          </p:cNvPr>
          <p:cNvSpPr>
            <a:spLocks noGrp="1"/>
          </p:cNvSpPr>
          <p:nvPr>
            <p:ph type="title"/>
          </p:nvPr>
        </p:nvSpPr>
        <p:spPr/>
        <p:txBody>
          <a:bodyPr/>
          <a:lstStyle/>
          <a:p>
            <a:r>
              <a:rPr lang="tr-TR" dirty="0" err="1"/>
              <a:t>Stencil</a:t>
            </a:r>
            <a:r>
              <a:rPr lang="tr-TR" dirty="0"/>
              <a:t> </a:t>
            </a:r>
            <a:r>
              <a:rPr lang="tr-TR" dirty="0" err="1"/>
              <a:t>Buffer</a:t>
            </a:r>
            <a:r>
              <a:rPr lang="tr-TR" dirty="0"/>
              <a:t> (Şablon tamponu)</a:t>
            </a:r>
          </a:p>
        </p:txBody>
      </p:sp>
      <p:sp>
        <p:nvSpPr>
          <p:cNvPr id="3" name="İçerik Yer Tutucusu 2">
            <a:extLst>
              <a:ext uri="{FF2B5EF4-FFF2-40B4-BE49-F238E27FC236}">
                <a16:creationId xmlns:a16="http://schemas.microsoft.com/office/drawing/2014/main" id="{B145E1C7-4DBC-45A0-7957-BBA5022CFC64}"/>
              </a:ext>
            </a:extLst>
          </p:cNvPr>
          <p:cNvSpPr>
            <a:spLocks noGrp="1"/>
          </p:cNvSpPr>
          <p:nvPr>
            <p:ph idx="1"/>
          </p:nvPr>
        </p:nvSpPr>
        <p:spPr/>
        <p:txBody>
          <a:bodyPr>
            <a:normAutofit fontScale="92500" lnSpcReduction="20000"/>
          </a:bodyPr>
          <a:lstStyle/>
          <a:p>
            <a:pPr algn="just"/>
            <a:r>
              <a:rPr lang="tr-TR" dirty="0"/>
              <a:t>Yansıma ve Gölgeler: Yansıma ve gölge efektlerini hesaplamak ve uygulamak için kullanılır.</a:t>
            </a:r>
          </a:p>
          <a:p>
            <a:pPr algn="just"/>
            <a:r>
              <a:rPr lang="tr-TR" dirty="0"/>
              <a:t>Karmaşık Geometri Çizimi: Delikler, kesikler veya belirli alanlarda karmaşık şekiller çizmek için kullanılır.</a:t>
            </a:r>
          </a:p>
          <a:p>
            <a:pPr algn="just"/>
            <a:r>
              <a:rPr lang="tr-TR" dirty="0"/>
              <a:t>Çok Aşamalı </a:t>
            </a:r>
            <a:r>
              <a:rPr lang="tr-TR" dirty="0" err="1"/>
              <a:t>Render</a:t>
            </a:r>
            <a:r>
              <a:rPr lang="tr-TR" dirty="0"/>
              <a:t> Teknikleri: Birden fazla geçişli </a:t>
            </a:r>
            <a:r>
              <a:rPr lang="tr-TR" dirty="0" err="1"/>
              <a:t>render</a:t>
            </a:r>
            <a:r>
              <a:rPr lang="tr-TR" dirty="0"/>
              <a:t> tekniklerinde, belirli geçişlerde hangi piksellerin çizileceğini kontrol etmek için kullanılır.</a:t>
            </a:r>
          </a:p>
          <a:p>
            <a:pPr algn="l"/>
            <a:r>
              <a:rPr lang="tr-TR" b="1" i="0" dirty="0">
                <a:solidFill>
                  <a:srgbClr val="0D0D0D"/>
                </a:solidFill>
                <a:effectLst/>
                <a:highlight>
                  <a:srgbClr val="FFFFFF"/>
                </a:highlight>
                <a:latin typeface="Söhne"/>
              </a:rPr>
              <a:t>Avantajları</a:t>
            </a:r>
          </a:p>
          <a:p>
            <a:pPr lvl="1"/>
            <a:r>
              <a:rPr lang="tr-TR" b="1" i="0" dirty="0">
                <a:solidFill>
                  <a:srgbClr val="0D0D0D"/>
                </a:solidFill>
                <a:effectLst/>
                <a:highlight>
                  <a:srgbClr val="FFFFFF"/>
                </a:highlight>
                <a:latin typeface="Söhne"/>
              </a:rPr>
              <a:t>Esneklik</a:t>
            </a:r>
            <a:r>
              <a:rPr lang="tr-TR" b="0" i="0" dirty="0">
                <a:solidFill>
                  <a:srgbClr val="0D0D0D"/>
                </a:solidFill>
                <a:effectLst/>
                <a:highlight>
                  <a:srgbClr val="FFFFFF"/>
                </a:highlight>
                <a:latin typeface="Söhne"/>
              </a:rPr>
              <a:t>: Karmaşık görsel efektlerin kolayca uygulanmasını sağlar.</a:t>
            </a:r>
          </a:p>
          <a:p>
            <a:pPr lvl="1"/>
            <a:r>
              <a:rPr lang="tr-TR" b="1" i="0" dirty="0">
                <a:solidFill>
                  <a:srgbClr val="0D0D0D"/>
                </a:solidFill>
                <a:effectLst/>
                <a:highlight>
                  <a:srgbClr val="FFFFFF"/>
                </a:highlight>
                <a:latin typeface="Söhne"/>
              </a:rPr>
              <a:t>Kontrol</a:t>
            </a:r>
            <a:r>
              <a:rPr lang="tr-TR" b="0" i="0" dirty="0">
                <a:solidFill>
                  <a:srgbClr val="0D0D0D"/>
                </a:solidFill>
                <a:effectLst/>
                <a:highlight>
                  <a:srgbClr val="FFFFFF"/>
                </a:highlight>
                <a:latin typeface="Söhne"/>
              </a:rPr>
              <a:t>: Çizim işlemleri üzerinde hassas kontrol sağlar.</a:t>
            </a:r>
          </a:p>
          <a:p>
            <a:pPr algn="l"/>
            <a:r>
              <a:rPr lang="tr-TR" b="1" i="0" dirty="0">
                <a:solidFill>
                  <a:srgbClr val="0D0D0D"/>
                </a:solidFill>
                <a:effectLst/>
                <a:highlight>
                  <a:srgbClr val="FFFFFF"/>
                </a:highlight>
                <a:latin typeface="Söhne"/>
              </a:rPr>
              <a:t>Dezavantajları</a:t>
            </a:r>
          </a:p>
          <a:p>
            <a:pPr lvl="1"/>
            <a:r>
              <a:rPr lang="tr-TR" b="1" i="0" dirty="0">
                <a:solidFill>
                  <a:srgbClr val="0D0D0D"/>
                </a:solidFill>
                <a:effectLst/>
                <a:highlight>
                  <a:srgbClr val="FFFFFF"/>
                </a:highlight>
                <a:latin typeface="Söhne"/>
              </a:rPr>
              <a:t>Performans</a:t>
            </a:r>
            <a:r>
              <a:rPr lang="tr-TR" b="0" i="0" dirty="0">
                <a:solidFill>
                  <a:srgbClr val="0D0D0D"/>
                </a:solidFill>
                <a:effectLst/>
                <a:highlight>
                  <a:srgbClr val="FFFFFF"/>
                </a:highlight>
                <a:latin typeface="Söhne"/>
              </a:rPr>
              <a:t>: Ekstra tampon kullanımı ve testler, performans üzerinde olumsuz etki yapabilir.</a:t>
            </a:r>
          </a:p>
          <a:p>
            <a:pPr lvl="1"/>
            <a:r>
              <a:rPr lang="tr-TR" b="1" i="0" dirty="0">
                <a:solidFill>
                  <a:srgbClr val="0D0D0D"/>
                </a:solidFill>
                <a:effectLst/>
                <a:highlight>
                  <a:srgbClr val="FFFFFF"/>
                </a:highlight>
                <a:latin typeface="Söhne"/>
              </a:rPr>
              <a:t>Hafıza Kullanımı</a:t>
            </a:r>
            <a:r>
              <a:rPr lang="tr-TR" b="0" i="0" dirty="0">
                <a:solidFill>
                  <a:srgbClr val="0D0D0D"/>
                </a:solidFill>
                <a:effectLst/>
                <a:highlight>
                  <a:srgbClr val="FFFFFF"/>
                </a:highlight>
                <a:latin typeface="Söhne"/>
              </a:rPr>
              <a:t>: Şablon tamponu ek hafıza kullanır.</a:t>
            </a:r>
          </a:p>
          <a:p>
            <a:pPr algn="just"/>
            <a:endParaRPr lang="tr-TR" dirty="0"/>
          </a:p>
        </p:txBody>
      </p:sp>
    </p:spTree>
    <p:extLst>
      <p:ext uri="{BB962C8B-B14F-4D97-AF65-F5344CB8AC3E}">
        <p14:creationId xmlns:p14="http://schemas.microsoft.com/office/powerpoint/2010/main" val="3865023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LIGHT</a:t>
            </a:r>
          </a:p>
        </p:txBody>
      </p:sp>
      <p:sp>
        <p:nvSpPr>
          <p:cNvPr id="3" name="İçerik Yer Tutucusu 2"/>
          <p:cNvSpPr>
            <a:spLocks noGrp="1"/>
          </p:cNvSpPr>
          <p:nvPr>
            <p:ph idx="1"/>
          </p:nvPr>
        </p:nvSpPr>
        <p:spPr/>
        <p:txBody>
          <a:bodyPr/>
          <a:lstStyle/>
          <a:p>
            <a:pPr algn="just"/>
            <a:r>
              <a:rPr lang="tr-TR" dirty="0"/>
              <a:t>Gerçek dünyadaki aydınlatma son derece karmaşıktır ve çok fazla faktöre bağlıdır, bu, sahip olduğumuz sınırlı işlem gücüne dayanarak hesaplayamayacağımız bir şeydir. Bu nedenle </a:t>
            </a:r>
            <a:r>
              <a:rPr lang="tr-TR" dirty="0" err="1"/>
              <a:t>OpenGL'de</a:t>
            </a:r>
            <a:r>
              <a:rPr lang="tr-TR" dirty="0"/>
              <a:t> aydınlatma, işlenmesi çok daha kolay olan ve nispeten benzer görünen basitleştirilmiş modeller kullanan gerçeklik tahminlerine dayanmaktadır. Bu aydınlatma modelleri, anladığımız şekliyle ışık fiziğine dayanmaktadır. Bu modellerden birine </a:t>
            </a:r>
            <a:r>
              <a:rPr lang="tr-TR" dirty="0" err="1"/>
              <a:t>Phong</a:t>
            </a:r>
            <a:r>
              <a:rPr lang="tr-TR" dirty="0"/>
              <a:t> aydınlatma modeli denir. </a:t>
            </a:r>
            <a:r>
              <a:rPr lang="tr-TR" dirty="0" err="1"/>
              <a:t>Phong</a:t>
            </a:r>
            <a:r>
              <a:rPr lang="tr-TR" dirty="0"/>
              <a:t> aydınlatma modelinin ana yapı taşları 3 bileşenden oluşur: ortam, dağınık ve </a:t>
            </a:r>
            <a:r>
              <a:rPr lang="tr-TR" dirty="0" err="1"/>
              <a:t>speküler</a:t>
            </a:r>
            <a:r>
              <a:rPr lang="tr-TR" dirty="0"/>
              <a:t> aydınlatma. </a:t>
            </a:r>
          </a:p>
        </p:txBody>
      </p:sp>
      <p:sp>
        <p:nvSpPr>
          <p:cNvPr id="4" name="Dikdörtgen 3"/>
          <p:cNvSpPr/>
          <p:nvPr/>
        </p:nvSpPr>
        <p:spPr>
          <a:xfrm>
            <a:off x="1191491" y="5988734"/>
            <a:ext cx="9462654" cy="369332"/>
          </a:xfrm>
          <a:prstGeom prst="rect">
            <a:avLst/>
          </a:prstGeom>
        </p:spPr>
        <p:txBody>
          <a:bodyPr wrap="square">
            <a:spAutoFit/>
          </a:bodyPr>
          <a:lstStyle/>
          <a:p>
            <a:r>
              <a:rPr lang="tr-TR" dirty="0"/>
              <a:t>https://github.com/tartley/opengl-tutorials/tree/master/pyopengl</a:t>
            </a:r>
          </a:p>
        </p:txBody>
      </p:sp>
    </p:spTree>
    <p:extLst>
      <p:ext uri="{BB962C8B-B14F-4D97-AF65-F5344CB8AC3E}">
        <p14:creationId xmlns:p14="http://schemas.microsoft.com/office/powerpoint/2010/main" val="270586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LIGHT</a:t>
            </a:r>
          </a:p>
        </p:txBody>
      </p:sp>
      <p:sp>
        <p:nvSpPr>
          <p:cNvPr id="3" name="İçerik Yer Tutucusu 2"/>
          <p:cNvSpPr>
            <a:spLocks noGrp="1"/>
          </p:cNvSpPr>
          <p:nvPr>
            <p:ph idx="1"/>
          </p:nvPr>
        </p:nvSpPr>
        <p:spPr/>
        <p:txBody>
          <a:bodyPr>
            <a:normAutofit lnSpcReduction="10000"/>
          </a:bodyPr>
          <a:lstStyle/>
          <a:p>
            <a:pPr algn="just"/>
            <a:r>
              <a:rPr lang="tr-TR" dirty="0" err="1"/>
              <a:t>Ambient</a:t>
            </a:r>
            <a:r>
              <a:rPr lang="tr-TR" dirty="0"/>
              <a:t> </a:t>
            </a:r>
            <a:r>
              <a:rPr lang="tr-TR" dirty="0" err="1"/>
              <a:t>lighting</a:t>
            </a:r>
            <a:r>
              <a:rPr lang="tr-TR" dirty="0"/>
              <a:t>/Ortam aydınlatması: Karanlık olsa bile, dünyanın herhangi bir yerinde (ay, uzak bir ışık) genellikle hala bir miktar ışık vardır, bu nedenle nesneler neredeyse hiçbir zaman tamamen karanlık değildir. Bunu </a:t>
            </a:r>
            <a:r>
              <a:rPr lang="tr-TR" dirty="0" err="1"/>
              <a:t>simüle</a:t>
            </a:r>
            <a:r>
              <a:rPr lang="tr-TR" dirty="0"/>
              <a:t> etmek için, nesneye her zaman biraz renk veren bir ortam aydınlatma sabiti kullanıyoruz.</a:t>
            </a:r>
          </a:p>
          <a:p>
            <a:pPr algn="just"/>
            <a:r>
              <a:rPr lang="tr-TR" dirty="0" err="1"/>
              <a:t>Diffuse</a:t>
            </a:r>
            <a:r>
              <a:rPr lang="tr-TR" dirty="0"/>
              <a:t> </a:t>
            </a:r>
            <a:r>
              <a:rPr lang="tr-TR" dirty="0" err="1"/>
              <a:t>lighting</a:t>
            </a:r>
            <a:r>
              <a:rPr lang="tr-TR" dirty="0"/>
              <a:t>/Yaygın aydınlatma: Bu, aydınlatma modelinin görsel olarak en önemli bileşenidir. Bir nesnenin bir parçası ışık kaynağına ne kadar çok bakarsa, o kadar parlak olur.</a:t>
            </a:r>
          </a:p>
          <a:p>
            <a:pPr algn="just"/>
            <a:r>
              <a:rPr lang="tr-TR" dirty="0" err="1"/>
              <a:t>Specular</a:t>
            </a:r>
            <a:r>
              <a:rPr lang="tr-TR" dirty="0"/>
              <a:t> </a:t>
            </a:r>
            <a:r>
              <a:rPr lang="tr-TR" dirty="0" err="1"/>
              <a:t>lighting</a:t>
            </a:r>
            <a:r>
              <a:rPr lang="tr-TR" dirty="0"/>
              <a:t>/</a:t>
            </a:r>
            <a:r>
              <a:rPr lang="tr-TR" dirty="0" err="1"/>
              <a:t>Speküler</a:t>
            </a:r>
            <a:r>
              <a:rPr lang="tr-TR" dirty="0"/>
              <a:t> aydınlatma: Parlak nesneler üzerinde görünen bir ışığın parlak noktasını </a:t>
            </a:r>
            <a:r>
              <a:rPr lang="tr-TR" dirty="0" err="1"/>
              <a:t>simüle</a:t>
            </a:r>
            <a:r>
              <a:rPr lang="tr-TR" dirty="0"/>
              <a:t> eder. </a:t>
            </a:r>
            <a:r>
              <a:rPr lang="tr-TR" dirty="0" err="1"/>
              <a:t>Speküler</a:t>
            </a:r>
            <a:r>
              <a:rPr lang="tr-TR" dirty="0"/>
              <a:t> vurgular, nesnenin renginden çok ışığın rengine meyillidir.</a:t>
            </a:r>
          </a:p>
        </p:txBody>
      </p:sp>
    </p:spTree>
    <p:extLst>
      <p:ext uri="{BB962C8B-B14F-4D97-AF65-F5344CB8AC3E}">
        <p14:creationId xmlns:p14="http://schemas.microsoft.com/office/powerpoint/2010/main" val="1496617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2050" name="Picture 2" descr="https://learnopengl.com/img/lighting/basic_lighting_phon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366630"/>
            <a:ext cx="10158730" cy="2742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794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Ambient</a:t>
            </a:r>
            <a:r>
              <a:rPr lang="tr-TR" dirty="0"/>
              <a:t> </a:t>
            </a:r>
            <a:r>
              <a:rPr lang="tr-TR" dirty="0" err="1"/>
              <a:t>lighting</a:t>
            </a:r>
            <a:endParaRPr lang="tr-TR" dirty="0"/>
          </a:p>
        </p:txBody>
      </p:sp>
      <p:sp>
        <p:nvSpPr>
          <p:cNvPr id="3" name="İçerik Yer Tutucusu 2"/>
          <p:cNvSpPr>
            <a:spLocks noGrp="1"/>
          </p:cNvSpPr>
          <p:nvPr>
            <p:ph idx="1"/>
          </p:nvPr>
        </p:nvSpPr>
        <p:spPr/>
        <p:txBody>
          <a:bodyPr>
            <a:normAutofit fontScale="92500" lnSpcReduction="10000"/>
          </a:bodyPr>
          <a:lstStyle/>
          <a:p>
            <a:pPr algn="just"/>
            <a:r>
              <a:rPr lang="tr-TR" dirty="0"/>
              <a:t>Işık genellikle tek bir ışık kaynağından değil, hemen görülemedikleri zaman bile etrafımıza dağılmış birçok ışık kaynağından gelir. Işığın özelliklerinden biri, birçok yöne dağılıp sekerek doğrudan görülemeyen noktalara ulaşmasıdır; ışık böylece diğer yüzeyler üzerinde yansıyabilir ve bir nesnenin aydınlatması üzerinde dolaylı bir etkiye sahip olabilir. Bunu dikkate alan algoritmalara küresel aydınlatma algoritmaları denir, ancak bunların hesaplanması karmaşık ve pahalıdır.</a:t>
            </a:r>
          </a:p>
          <a:p>
            <a:pPr marL="0" indent="0" algn="just">
              <a:buNone/>
            </a:pPr>
            <a:endParaRPr lang="tr-TR" dirty="0"/>
          </a:p>
          <a:p>
            <a:pPr algn="just"/>
            <a:r>
              <a:rPr lang="tr-TR" dirty="0"/>
              <a:t>Sahneye ortam aydınlatması eklemek gerçekten çok kolay. Işığın rengini alıyoruz, küçük bir sabit ortam faktörü ile çarpıyoruz, bunu nesnenin rengiyle çarpıyoruz ve bunu küp nesnesinin </a:t>
            </a:r>
            <a:r>
              <a:rPr lang="tr-TR" dirty="0" err="1"/>
              <a:t>gölgelendiricisindeki</a:t>
            </a:r>
            <a:r>
              <a:rPr lang="tr-TR" dirty="0"/>
              <a:t> parçanın rengi olarak kullanıyoruz:</a:t>
            </a:r>
          </a:p>
        </p:txBody>
      </p:sp>
      <p:sp>
        <p:nvSpPr>
          <p:cNvPr id="4" name="Metin kutusu 3">
            <a:extLst>
              <a:ext uri="{FF2B5EF4-FFF2-40B4-BE49-F238E27FC236}">
                <a16:creationId xmlns:a16="http://schemas.microsoft.com/office/drawing/2014/main" id="{47937517-24B7-F17A-0AE6-3142B42CCBEC}"/>
              </a:ext>
            </a:extLst>
          </p:cNvPr>
          <p:cNvSpPr txBox="1"/>
          <p:nvPr/>
        </p:nvSpPr>
        <p:spPr>
          <a:xfrm>
            <a:off x="838200" y="6202363"/>
            <a:ext cx="2396233" cy="369332"/>
          </a:xfrm>
          <a:prstGeom prst="rect">
            <a:avLst/>
          </a:prstGeom>
          <a:noFill/>
        </p:spPr>
        <p:txBody>
          <a:bodyPr wrap="none" rtlCol="0">
            <a:spAutoFit/>
          </a:bodyPr>
          <a:lstStyle/>
          <a:p>
            <a:r>
              <a:rPr lang="tr-TR" dirty="0"/>
              <a:t>ambientLightSample.py</a:t>
            </a:r>
          </a:p>
        </p:txBody>
      </p:sp>
    </p:spTree>
    <p:extLst>
      <p:ext uri="{BB962C8B-B14F-4D97-AF65-F5344CB8AC3E}">
        <p14:creationId xmlns:p14="http://schemas.microsoft.com/office/powerpoint/2010/main" val="2652547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Diffuse</a:t>
            </a:r>
            <a:r>
              <a:rPr lang="tr-TR" dirty="0"/>
              <a:t> </a:t>
            </a:r>
            <a:r>
              <a:rPr lang="tr-TR" dirty="0" err="1"/>
              <a:t>lighting</a:t>
            </a:r>
            <a:endParaRPr lang="tr-TR" dirty="0"/>
          </a:p>
        </p:txBody>
      </p:sp>
      <p:sp>
        <p:nvSpPr>
          <p:cNvPr id="3" name="İçerik Yer Tutucusu 2"/>
          <p:cNvSpPr>
            <a:spLocks noGrp="1"/>
          </p:cNvSpPr>
          <p:nvPr>
            <p:ph idx="1"/>
          </p:nvPr>
        </p:nvSpPr>
        <p:spPr/>
        <p:txBody>
          <a:bodyPr>
            <a:normAutofit/>
          </a:bodyPr>
          <a:lstStyle/>
          <a:p>
            <a:pPr algn="just"/>
            <a:r>
              <a:rPr lang="tr-TR" sz="2400" dirty="0"/>
              <a:t>Ortam aydınlatması tek başına en ilginç sonuçları vermez ancak dağınık aydınlatma/</a:t>
            </a:r>
            <a:r>
              <a:rPr lang="tr-TR" sz="2400" dirty="0" err="1"/>
              <a:t>Diffuse</a:t>
            </a:r>
            <a:r>
              <a:rPr lang="tr-TR" sz="2400" dirty="0"/>
              <a:t> </a:t>
            </a:r>
            <a:r>
              <a:rPr lang="tr-TR" sz="2400" dirty="0" err="1"/>
              <a:t>lighting</a:t>
            </a:r>
            <a:r>
              <a:rPr lang="tr-TR" sz="2400" dirty="0"/>
              <a:t> nesne üzerinde önemli bir görsel etki yaratmaya başlayacaktır. </a:t>
            </a:r>
            <a:r>
              <a:rPr lang="tr-TR" sz="2400" dirty="0" err="1"/>
              <a:t>Diffuse</a:t>
            </a:r>
            <a:r>
              <a:rPr lang="tr-TR" sz="2400" dirty="0"/>
              <a:t> </a:t>
            </a:r>
            <a:r>
              <a:rPr lang="tr-TR" sz="2400" dirty="0" err="1"/>
              <a:t>lighting</a:t>
            </a:r>
            <a:r>
              <a:rPr lang="tr-TR" sz="2400" dirty="0"/>
              <a:t> nesneye, parçaları bir ışık kaynağından gelen ışık ışınlarına ne kadar yakın hizalanırsa o kadar fazla parlaklık verir. </a:t>
            </a:r>
          </a:p>
          <a:p>
            <a:pPr algn="just"/>
            <a:r>
              <a:rPr lang="tr-TR" sz="2400" dirty="0"/>
              <a:t>Işık ışınının parçaya hangi açıyla dokunduğunu ölçmemiz gerekiyor. Işık ışını nesnenin yüzeyine dikse, ışık en büyük etkiye sahiptir. Işık ışını ile parça arasındaki açıyı ölçmek için </a:t>
            </a:r>
            <a:r>
              <a:rPr lang="tr-TR" sz="2400" b="1" dirty="0"/>
              <a:t>normal</a:t>
            </a:r>
            <a:r>
              <a:rPr lang="tr-TR" sz="2400" dirty="0"/>
              <a:t> vektörü, yani parçanın yüzeyine dik bir vektör (burada sarı ok olarak gösterilmiştir) kullanılır.</a:t>
            </a:r>
          </a:p>
        </p:txBody>
      </p:sp>
      <p:pic>
        <p:nvPicPr>
          <p:cNvPr id="3074" name="Picture 2" descr="https://learnopengl.com/img/lighting/diffuse_ligh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3661" y="4254365"/>
            <a:ext cx="3304885" cy="2380700"/>
          </a:xfrm>
          <a:prstGeom prst="rect">
            <a:avLst/>
          </a:prstGeom>
          <a:noFill/>
          <a:extLst>
            <a:ext uri="{909E8E84-426E-40DD-AFC4-6F175D3DCCD1}">
              <a14:hiddenFill xmlns:a14="http://schemas.microsoft.com/office/drawing/2010/main">
                <a:solidFill>
                  <a:srgbClr val="FFFFFF"/>
                </a:solidFill>
              </a14:hiddenFill>
            </a:ext>
          </a:extLst>
        </p:spPr>
      </p:pic>
      <p:sp>
        <p:nvSpPr>
          <p:cNvPr id="4" name="Dikdörtgen 3"/>
          <p:cNvSpPr/>
          <p:nvPr/>
        </p:nvSpPr>
        <p:spPr>
          <a:xfrm>
            <a:off x="360218" y="5988734"/>
            <a:ext cx="6594764" cy="646331"/>
          </a:xfrm>
          <a:prstGeom prst="rect">
            <a:avLst/>
          </a:prstGeom>
        </p:spPr>
        <p:txBody>
          <a:bodyPr wrap="square">
            <a:spAutoFit/>
          </a:bodyPr>
          <a:lstStyle/>
          <a:p>
            <a:r>
              <a:rPr lang="tr-TR" dirty="0"/>
              <a:t>https://www.tomdalling.com/blog/modern-opengl/06-diffuse-point-lighting/</a:t>
            </a:r>
          </a:p>
        </p:txBody>
      </p:sp>
    </p:spTree>
    <p:extLst>
      <p:ext uri="{BB962C8B-B14F-4D97-AF65-F5344CB8AC3E}">
        <p14:creationId xmlns:p14="http://schemas.microsoft.com/office/powerpoint/2010/main" val="3737719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Enabling Lights</a:t>
            </a:r>
            <a:endParaRPr lang="tr-TR" dirty="0"/>
          </a:p>
        </p:txBody>
      </p:sp>
      <p:sp>
        <p:nvSpPr>
          <p:cNvPr id="3" name="İçerik Yer Tutucusu 2"/>
          <p:cNvSpPr>
            <a:spLocks noGrp="1"/>
          </p:cNvSpPr>
          <p:nvPr>
            <p:ph idx="1"/>
          </p:nvPr>
        </p:nvSpPr>
        <p:spPr/>
        <p:txBody>
          <a:bodyPr/>
          <a:lstStyle/>
          <a:p>
            <a:pPr marL="0" indent="0">
              <a:buNone/>
            </a:pPr>
            <a:r>
              <a:rPr lang="en-US" dirty="0"/>
              <a:t>To enable lights from a single source (Light0):</a:t>
            </a:r>
            <a:endParaRPr lang="tr-TR" dirty="0"/>
          </a:p>
          <a:p>
            <a:pPr marL="0" indent="0">
              <a:buNone/>
            </a:pPr>
            <a:r>
              <a:rPr lang="en-US" dirty="0" err="1"/>
              <a:t>glEnable</a:t>
            </a:r>
            <a:r>
              <a:rPr lang="en-US" dirty="0"/>
              <a:t>(GL_LIGHTING); </a:t>
            </a:r>
            <a:endParaRPr lang="tr-TR" dirty="0"/>
          </a:p>
          <a:p>
            <a:pPr marL="0" indent="0">
              <a:buNone/>
            </a:pPr>
            <a:r>
              <a:rPr lang="en-US" dirty="0" err="1"/>
              <a:t>glEnable</a:t>
            </a:r>
            <a:r>
              <a:rPr lang="en-US" dirty="0"/>
              <a:t>(GL_LIGHT0);</a:t>
            </a:r>
            <a:endParaRPr lang="tr-TR" dirty="0"/>
          </a:p>
          <a:p>
            <a:pPr marL="0" indent="0">
              <a:buNone/>
            </a:pPr>
            <a:endParaRPr lang="tr-TR" dirty="0"/>
          </a:p>
          <a:p>
            <a:pPr marL="0" indent="0">
              <a:buNone/>
            </a:pPr>
            <a:r>
              <a:rPr lang="en-US" dirty="0"/>
              <a:t>Light 0: white light (1.0, 1.0, 1.0, 1.0) in RGBA</a:t>
            </a:r>
            <a:endParaRPr lang="tr-TR" dirty="0"/>
          </a:p>
          <a:p>
            <a:pPr marL="0" indent="0">
              <a:buNone/>
            </a:pPr>
            <a:endParaRPr lang="tr-TR" dirty="0"/>
          </a:p>
          <a:p>
            <a:pPr marL="0" indent="0">
              <a:buNone/>
            </a:pPr>
            <a:r>
              <a:rPr lang="en-US" dirty="0"/>
              <a:t>• Once lighting is enabled, colors assigned by </a:t>
            </a:r>
            <a:r>
              <a:rPr lang="en-US" dirty="0" err="1"/>
              <a:t>glColor</a:t>
            </a:r>
            <a:r>
              <a:rPr lang="en-US" dirty="0"/>
              <a:t>*( ) are no longer used</a:t>
            </a:r>
            <a:endParaRPr lang="tr-TR" dirty="0"/>
          </a:p>
        </p:txBody>
      </p:sp>
    </p:spTree>
    <p:extLst>
      <p:ext uri="{BB962C8B-B14F-4D97-AF65-F5344CB8AC3E}">
        <p14:creationId xmlns:p14="http://schemas.microsoft.com/office/powerpoint/2010/main" val="1261569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Kod Örnekleri</a:t>
            </a:r>
          </a:p>
        </p:txBody>
      </p:sp>
      <p:sp>
        <p:nvSpPr>
          <p:cNvPr id="3" name="İçerik Yer Tutucusu 2"/>
          <p:cNvSpPr>
            <a:spLocks noGrp="1"/>
          </p:cNvSpPr>
          <p:nvPr>
            <p:ph idx="1"/>
          </p:nvPr>
        </p:nvSpPr>
        <p:spPr/>
        <p:txBody>
          <a:bodyPr/>
          <a:lstStyle/>
          <a:p>
            <a:r>
              <a:rPr lang="tr-TR" dirty="0" err="1"/>
              <a:t>PyOpenGL</a:t>
            </a:r>
            <a:r>
              <a:rPr lang="tr-TR" dirty="0"/>
              <a:t> Kodları için Kaynak</a:t>
            </a:r>
          </a:p>
          <a:p>
            <a:r>
              <a:rPr lang="tr-TR" dirty="0" err="1"/>
              <a:t>Light</a:t>
            </a:r>
            <a:r>
              <a:rPr lang="tr-TR" dirty="0"/>
              <a:t> için: http://bazaar.launchpad.net/~mcfletch/pyopengl-demo/trunk/view/head:/PyOpenGL-Demo/redbook/teapots.py</a:t>
            </a:r>
          </a:p>
          <a:p>
            <a:endParaRPr lang="tr-TR" dirty="0"/>
          </a:p>
          <a:p>
            <a:r>
              <a:rPr lang="tr-TR" dirty="0">
                <a:hlinkClick r:id="rId2"/>
              </a:rPr>
              <a:t>https://karczmarczuk.users.greyc.fr/TEACH/OGL/Doc/manual-3.0/glLight.xhtml</a:t>
            </a:r>
            <a:r>
              <a:rPr lang="tr-TR" dirty="0"/>
              <a:t> </a:t>
            </a:r>
          </a:p>
        </p:txBody>
      </p:sp>
    </p:spTree>
    <p:extLst>
      <p:ext uri="{BB962C8B-B14F-4D97-AF65-F5344CB8AC3E}">
        <p14:creationId xmlns:p14="http://schemas.microsoft.com/office/powerpoint/2010/main" val="1747226455"/>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1342</TotalTime>
  <Words>1962</Words>
  <Application>Microsoft Office PowerPoint</Application>
  <PresentationFormat>Geniş ekran</PresentationFormat>
  <Paragraphs>106</Paragraphs>
  <Slides>26</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26</vt:i4>
      </vt:variant>
    </vt:vector>
  </HeadingPairs>
  <TitlesOfParts>
    <vt:vector size="31" baseType="lpstr">
      <vt:lpstr>Arial</vt:lpstr>
      <vt:lpstr>Calibri</vt:lpstr>
      <vt:lpstr>Calibri Light</vt:lpstr>
      <vt:lpstr>Söhne</vt:lpstr>
      <vt:lpstr>Office Teması</vt:lpstr>
      <vt:lpstr>OpenGL Pipeline</vt:lpstr>
      <vt:lpstr>OpenGL Pipeline</vt:lpstr>
      <vt:lpstr>Nesne Koordinatları(Object Coordinates)</vt:lpstr>
      <vt:lpstr>World Coordinates</vt:lpstr>
      <vt:lpstr>Eye Coordinate</vt:lpstr>
      <vt:lpstr>Klip Koordinatları/ Clip Coordinates</vt:lpstr>
      <vt:lpstr>Cihaz Koordinatları/ Device Coordinates</vt:lpstr>
      <vt:lpstr>OpenGL Pipeline</vt:lpstr>
      <vt:lpstr>OpenGL Pipeline</vt:lpstr>
      <vt:lpstr> The Viewport Transformation</vt:lpstr>
      <vt:lpstr>The Projection Transformation</vt:lpstr>
      <vt:lpstr>PowerPoint Sunusu</vt:lpstr>
      <vt:lpstr>HIDDEN SURFACE REMOVAL</vt:lpstr>
      <vt:lpstr>The Depth – Buffer algorithm</vt:lpstr>
      <vt:lpstr>The Depth – Buffer algorithm</vt:lpstr>
      <vt:lpstr>The Depth – Buffer algorithm</vt:lpstr>
      <vt:lpstr>The Depth – Buffer algorithm</vt:lpstr>
      <vt:lpstr>Stencil Buffer (Şablon tamponu)</vt:lpstr>
      <vt:lpstr>Stencil Buffer (Şablon tamponu)</vt:lpstr>
      <vt:lpstr>LIGHT</vt:lpstr>
      <vt:lpstr>LIGHT</vt:lpstr>
      <vt:lpstr>PowerPoint Sunusu</vt:lpstr>
      <vt:lpstr>Ambient lighting</vt:lpstr>
      <vt:lpstr>Diffuse lighting</vt:lpstr>
      <vt:lpstr>Enabling Lights</vt:lpstr>
      <vt:lpstr>Kod Örnekleri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Kamera</dc:title>
  <dc:creator>SERPİL</dc:creator>
  <cp:lastModifiedBy>Serpil  Üstebay</cp:lastModifiedBy>
  <cp:revision>75</cp:revision>
  <dcterms:created xsi:type="dcterms:W3CDTF">2020-11-16T10:13:48Z</dcterms:created>
  <dcterms:modified xsi:type="dcterms:W3CDTF">2024-05-17T10:29:28Z</dcterms:modified>
</cp:coreProperties>
</file>