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62" r:id="rId5"/>
    <p:sldId id="259" r:id="rId6"/>
    <p:sldId id="283" r:id="rId7"/>
    <p:sldId id="263" r:id="rId8"/>
    <p:sldId id="265" r:id="rId9"/>
    <p:sldId id="264" r:id="rId10"/>
    <p:sldId id="285" r:id="rId11"/>
    <p:sldId id="284" r:id="rId12"/>
    <p:sldId id="266" r:id="rId13"/>
    <p:sldId id="267" r:id="rId14"/>
    <p:sldId id="269" r:id="rId15"/>
    <p:sldId id="268" r:id="rId16"/>
    <p:sldId id="286" r:id="rId17"/>
    <p:sldId id="288" r:id="rId18"/>
    <p:sldId id="270" r:id="rId19"/>
    <p:sldId id="271" r:id="rId20"/>
    <p:sldId id="272" r:id="rId21"/>
    <p:sldId id="273" r:id="rId22"/>
    <p:sldId id="274" r:id="rId23"/>
    <p:sldId id="275" r:id="rId24"/>
    <p:sldId id="276" r:id="rId25"/>
    <p:sldId id="278" r:id="rId26"/>
    <p:sldId id="277" r:id="rId27"/>
    <p:sldId id="279" r:id="rId28"/>
    <p:sldId id="282" r:id="rId29"/>
    <p:sldId id="280" r:id="rId30"/>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524000" y="1122363"/>
            <a:ext cx="9144000" cy="2387600"/>
          </a:xfrm>
        </p:spPr>
        <p:txBody>
          <a:bodyPr anchor="b"/>
          <a:lstStyle>
            <a:lvl1pPr algn="ctr">
              <a:defRPr sz="6000"/>
            </a:lvl1pPr>
          </a:lstStyle>
          <a:p>
            <a:r>
              <a:rPr lang="tr-TR" smtClean="0"/>
              <a:t>Asıl başlık stili için tıklatın</a:t>
            </a:r>
            <a:endParaRPr lang="tr-TR"/>
          </a:p>
        </p:txBody>
      </p:sp>
      <p:sp>
        <p:nvSpPr>
          <p:cNvPr id="3" name="Alt Başlık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smtClean="0"/>
              <a:t>Asıl alt başlık stilini düzenlemek için tıklayın</a:t>
            </a:r>
            <a:endParaRPr lang="tr-TR"/>
          </a:p>
        </p:txBody>
      </p:sp>
      <p:sp>
        <p:nvSpPr>
          <p:cNvPr id="4" name="Veri Yer Tutucusu 3"/>
          <p:cNvSpPr>
            <a:spLocks noGrp="1"/>
          </p:cNvSpPr>
          <p:nvPr>
            <p:ph type="dt" sz="half" idx="10"/>
          </p:nvPr>
        </p:nvSpPr>
        <p:spPr/>
        <p:txBody>
          <a:bodyPr/>
          <a:lstStyle/>
          <a:p>
            <a:fld id="{5B50AA08-575A-40D9-8D76-BDE7C2120B05}" type="datetimeFigureOut">
              <a:rPr lang="tr-TR" smtClean="0"/>
              <a:t>19.03.2024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5E154C42-C96D-4291-A9C1-44070AFF1A02}" type="slidenum">
              <a:rPr lang="tr-TR" smtClean="0"/>
              <a:t>‹#›</a:t>
            </a:fld>
            <a:endParaRPr lang="tr-TR"/>
          </a:p>
        </p:txBody>
      </p:sp>
    </p:spTree>
    <p:extLst>
      <p:ext uri="{BB962C8B-B14F-4D97-AF65-F5344CB8AC3E}">
        <p14:creationId xmlns:p14="http://schemas.microsoft.com/office/powerpoint/2010/main" val="3625138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idx="1"/>
          </p:nvPr>
        </p:nvSpPr>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5B50AA08-575A-40D9-8D76-BDE7C2120B05}" type="datetimeFigureOut">
              <a:rPr lang="tr-TR" smtClean="0"/>
              <a:t>19.03.2024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5E154C42-C96D-4291-A9C1-44070AFF1A02}" type="slidenum">
              <a:rPr lang="tr-TR" smtClean="0"/>
              <a:t>‹#›</a:t>
            </a:fld>
            <a:endParaRPr lang="tr-TR"/>
          </a:p>
        </p:txBody>
      </p:sp>
    </p:spTree>
    <p:extLst>
      <p:ext uri="{BB962C8B-B14F-4D97-AF65-F5344CB8AC3E}">
        <p14:creationId xmlns:p14="http://schemas.microsoft.com/office/powerpoint/2010/main" val="782062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831850" y="1709738"/>
            <a:ext cx="10515600" cy="2852737"/>
          </a:xfrm>
        </p:spPr>
        <p:txBody>
          <a:bodyPr anchor="b"/>
          <a:lstStyle>
            <a:lvl1pPr>
              <a:defRPr sz="6000"/>
            </a:lvl1pPr>
          </a:lstStyle>
          <a:p>
            <a:r>
              <a:rPr lang="tr-TR" smtClean="0"/>
              <a:t>Asıl başlık stili için tıklatın</a:t>
            </a:r>
            <a:endParaRPr lang="tr-TR"/>
          </a:p>
        </p:txBody>
      </p:sp>
      <p:sp>
        <p:nvSpPr>
          <p:cNvPr id="3" name="Metin Yer Tutucusu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smtClean="0"/>
              <a:t>Asıl metin stillerini düzenle</a:t>
            </a:r>
          </a:p>
        </p:txBody>
      </p:sp>
      <p:sp>
        <p:nvSpPr>
          <p:cNvPr id="4" name="Veri Yer Tutucusu 3"/>
          <p:cNvSpPr>
            <a:spLocks noGrp="1"/>
          </p:cNvSpPr>
          <p:nvPr>
            <p:ph type="dt" sz="half" idx="10"/>
          </p:nvPr>
        </p:nvSpPr>
        <p:spPr/>
        <p:txBody>
          <a:bodyPr/>
          <a:lstStyle/>
          <a:p>
            <a:fld id="{5B50AA08-575A-40D9-8D76-BDE7C2120B05}" type="datetimeFigureOut">
              <a:rPr lang="tr-TR" smtClean="0"/>
              <a:t>19.03.2024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5E154C42-C96D-4291-A9C1-44070AFF1A02}" type="slidenum">
              <a:rPr lang="tr-TR" smtClean="0"/>
              <a:t>‹#›</a:t>
            </a:fld>
            <a:endParaRPr lang="tr-TR"/>
          </a:p>
        </p:txBody>
      </p:sp>
    </p:spTree>
    <p:extLst>
      <p:ext uri="{BB962C8B-B14F-4D97-AF65-F5344CB8AC3E}">
        <p14:creationId xmlns:p14="http://schemas.microsoft.com/office/powerpoint/2010/main" val="26157750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838200" y="1825625"/>
            <a:ext cx="5181600" cy="435133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6172200" y="1825625"/>
            <a:ext cx="5181600" cy="435133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5B50AA08-575A-40D9-8D76-BDE7C2120B05}" type="datetimeFigureOut">
              <a:rPr lang="tr-TR" smtClean="0"/>
              <a:t>19.03.2024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5E154C42-C96D-4291-A9C1-44070AFF1A02}" type="slidenum">
              <a:rPr lang="tr-TR" smtClean="0"/>
              <a:t>‹#›</a:t>
            </a:fld>
            <a:endParaRPr lang="tr-TR"/>
          </a:p>
        </p:txBody>
      </p:sp>
    </p:spTree>
    <p:extLst>
      <p:ext uri="{BB962C8B-B14F-4D97-AF65-F5344CB8AC3E}">
        <p14:creationId xmlns:p14="http://schemas.microsoft.com/office/powerpoint/2010/main" val="4174968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839788" y="365125"/>
            <a:ext cx="10515600" cy="1325563"/>
          </a:xfrm>
        </p:spPr>
        <p:txBody>
          <a:bodyPr/>
          <a:lstStyle/>
          <a:p>
            <a:r>
              <a:rPr lang="tr-TR" smtClean="0"/>
              <a:t>Asıl başlık stili için tıklatın</a:t>
            </a:r>
            <a:endParaRPr lang="tr-TR"/>
          </a:p>
        </p:txBody>
      </p:sp>
      <p:sp>
        <p:nvSpPr>
          <p:cNvPr id="3" name="Metin Yer Tutucusu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4" name="İçerik Yer Tutucusu 3"/>
          <p:cNvSpPr>
            <a:spLocks noGrp="1"/>
          </p:cNvSpPr>
          <p:nvPr>
            <p:ph sz="half" idx="2"/>
          </p:nvPr>
        </p:nvSpPr>
        <p:spPr>
          <a:xfrm>
            <a:off x="839788" y="2505075"/>
            <a:ext cx="5157787" cy="368458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a:t>
            </a:r>
          </a:p>
        </p:txBody>
      </p:sp>
      <p:sp>
        <p:nvSpPr>
          <p:cNvPr id="6" name="İçerik Yer Tutucusu 5"/>
          <p:cNvSpPr>
            <a:spLocks noGrp="1"/>
          </p:cNvSpPr>
          <p:nvPr>
            <p:ph sz="quarter" idx="4"/>
          </p:nvPr>
        </p:nvSpPr>
        <p:spPr>
          <a:xfrm>
            <a:off x="6172200" y="2505075"/>
            <a:ext cx="5183188" cy="368458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5B50AA08-575A-40D9-8D76-BDE7C2120B05}" type="datetimeFigureOut">
              <a:rPr lang="tr-TR" smtClean="0"/>
              <a:t>19.03.2024</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5E154C42-C96D-4291-A9C1-44070AFF1A02}" type="slidenum">
              <a:rPr lang="tr-TR" smtClean="0"/>
              <a:t>‹#›</a:t>
            </a:fld>
            <a:endParaRPr lang="tr-TR"/>
          </a:p>
        </p:txBody>
      </p:sp>
    </p:spTree>
    <p:extLst>
      <p:ext uri="{BB962C8B-B14F-4D97-AF65-F5344CB8AC3E}">
        <p14:creationId xmlns:p14="http://schemas.microsoft.com/office/powerpoint/2010/main" val="3855995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5B50AA08-575A-40D9-8D76-BDE7C2120B05}" type="datetimeFigureOut">
              <a:rPr lang="tr-TR" smtClean="0"/>
              <a:t>19.03.2024</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5E154C42-C96D-4291-A9C1-44070AFF1A02}" type="slidenum">
              <a:rPr lang="tr-TR" smtClean="0"/>
              <a:t>‹#›</a:t>
            </a:fld>
            <a:endParaRPr lang="tr-TR"/>
          </a:p>
        </p:txBody>
      </p:sp>
    </p:spTree>
    <p:extLst>
      <p:ext uri="{BB962C8B-B14F-4D97-AF65-F5344CB8AC3E}">
        <p14:creationId xmlns:p14="http://schemas.microsoft.com/office/powerpoint/2010/main" val="1252213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5B50AA08-575A-40D9-8D76-BDE7C2120B05}" type="datetimeFigureOut">
              <a:rPr lang="tr-TR" smtClean="0"/>
              <a:t>19.03.2024</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5E154C42-C96D-4291-A9C1-44070AFF1A02}" type="slidenum">
              <a:rPr lang="tr-TR" smtClean="0"/>
              <a:t>‹#›</a:t>
            </a:fld>
            <a:endParaRPr lang="tr-TR"/>
          </a:p>
        </p:txBody>
      </p:sp>
    </p:spTree>
    <p:extLst>
      <p:ext uri="{BB962C8B-B14F-4D97-AF65-F5344CB8AC3E}">
        <p14:creationId xmlns:p14="http://schemas.microsoft.com/office/powerpoint/2010/main" val="644644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tr-TR"/>
          </a:p>
        </p:txBody>
      </p:sp>
      <p:sp>
        <p:nvSpPr>
          <p:cNvPr id="3" name="İçerik Yer Tutucus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Veri Yer Tutucusu 4"/>
          <p:cNvSpPr>
            <a:spLocks noGrp="1"/>
          </p:cNvSpPr>
          <p:nvPr>
            <p:ph type="dt" sz="half" idx="10"/>
          </p:nvPr>
        </p:nvSpPr>
        <p:spPr/>
        <p:txBody>
          <a:bodyPr/>
          <a:lstStyle/>
          <a:p>
            <a:fld id="{5B50AA08-575A-40D9-8D76-BDE7C2120B05}" type="datetimeFigureOut">
              <a:rPr lang="tr-TR" smtClean="0"/>
              <a:t>19.03.2024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5E154C42-C96D-4291-A9C1-44070AFF1A02}" type="slidenum">
              <a:rPr lang="tr-TR" smtClean="0"/>
              <a:t>‹#›</a:t>
            </a:fld>
            <a:endParaRPr lang="tr-TR"/>
          </a:p>
        </p:txBody>
      </p:sp>
    </p:spTree>
    <p:extLst>
      <p:ext uri="{BB962C8B-B14F-4D97-AF65-F5344CB8AC3E}">
        <p14:creationId xmlns:p14="http://schemas.microsoft.com/office/powerpoint/2010/main" val="905880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839788" y="457200"/>
            <a:ext cx="3932237" cy="1600200"/>
          </a:xfrm>
        </p:spPr>
        <p:txBody>
          <a:bodyPr anchor="b"/>
          <a:lstStyle>
            <a:lvl1pPr>
              <a:defRPr sz="3200"/>
            </a:lvl1pPr>
          </a:lstStyle>
          <a:p>
            <a:r>
              <a:rPr lang="tr-TR" smtClean="0"/>
              <a:t>Asıl başlık stili için tıklatın</a:t>
            </a:r>
            <a:endParaRPr lang="tr-TR"/>
          </a:p>
        </p:txBody>
      </p:sp>
      <p:sp>
        <p:nvSpPr>
          <p:cNvPr id="3" name="Resim Yer Tutucusu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smtClean="0"/>
              <a:t>Asıl metin stillerini düzenle</a:t>
            </a:r>
          </a:p>
        </p:txBody>
      </p:sp>
      <p:sp>
        <p:nvSpPr>
          <p:cNvPr id="5" name="Veri Yer Tutucusu 4"/>
          <p:cNvSpPr>
            <a:spLocks noGrp="1"/>
          </p:cNvSpPr>
          <p:nvPr>
            <p:ph type="dt" sz="half" idx="10"/>
          </p:nvPr>
        </p:nvSpPr>
        <p:spPr/>
        <p:txBody>
          <a:bodyPr/>
          <a:lstStyle/>
          <a:p>
            <a:fld id="{5B50AA08-575A-40D9-8D76-BDE7C2120B05}" type="datetimeFigureOut">
              <a:rPr lang="tr-TR" smtClean="0"/>
              <a:t>19.03.2024</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5E154C42-C96D-4291-A9C1-44070AFF1A02}" type="slidenum">
              <a:rPr lang="tr-TR" smtClean="0"/>
              <a:t>‹#›</a:t>
            </a:fld>
            <a:endParaRPr lang="tr-TR"/>
          </a:p>
        </p:txBody>
      </p:sp>
    </p:spTree>
    <p:extLst>
      <p:ext uri="{BB962C8B-B14F-4D97-AF65-F5344CB8AC3E}">
        <p14:creationId xmlns:p14="http://schemas.microsoft.com/office/powerpoint/2010/main" val="4252067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5B50AA08-575A-40D9-8D76-BDE7C2120B05}" type="datetimeFigureOut">
              <a:rPr lang="tr-TR" smtClean="0"/>
              <a:t>19.03.2024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5E154C42-C96D-4291-A9C1-44070AFF1A02}" type="slidenum">
              <a:rPr lang="tr-TR" smtClean="0"/>
              <a:t>‹#›</a:t>
            </a:fld>
            <a:endParaRPr lang="tr-TR"/>
          </a:p>
        </p:txBody>
      </p:sp>
    </p:spTree>
    <p:extLst>
      <p:ext uri="{BB962C8B-B14F-4D97-AF65-F5344CB8AC3E}">
        <p14:creationId xmlns:p14="http://schemas.microsoft.com/office/powerpoint/2010/main" val="2771773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8724900" y="365125"/>
            <a:ext cx="2628900" cy="5811838"/>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838200" y="365125"/>
            <a:ext cx="7734300" cy="5811838"/>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5B50AA08-575A-40D9-8D76-BDE7C2120B05}" type="datetimeFigureOut">
              <a:rPr lang="tr-TR" smtClean="0"/>
              <a:t>19.03.2024</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5E154C42-C96D-4291-A9C1-44070AFF1A02}" type="slidenum">
              <a:rPr lang="tr-TR" smtClean="0"/>
              <a:t>‹#›</a:t>
            </a:fld>
            <a:endParaRPr lang="tr-TR"/>
          </a:p>
        </p:txBody>
      </p:sp>
    </p:spTree>
    <p:extLst>
      <p:ext uri="{BB962C8B-B14F-4D97-AF65-F5344CB8AC3E}">
        <p14:creationId xmlns:p14="http://schemas.microsoft.com/office/powerpoint/2010/main" val="3488512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50AA08-575A-40D9-8D76-BDE7C2120B05}" type="datetimeFigureOut">
              <a:rPr lang="tr-TR" smtClean="0"/>
              <a:t>19.03.2024</a:t>
            </a:fld>
            <a:endParaRPr lang="tr-TR"/>
          </a:p>
        </p:txBody>
      </p:sp>
      <p:sp>
        <p:nvSpPr>
          <p:cNvPr id="5" name="Altbilgi Yer Tutucusu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154C42-C96D-4291-A9C1-44070AFF1A02}" type="slidenum">
              <a:rPr lang="tr-TR" smtClean="0"/>
              <a:t>‹#›</a:t>
            </a:fld>
            <a:endParaRPr lang="tr-TR"/>
          </a:p>
        </p:txBody>
      </p:sp>
    </p:spTree>
    <p:extLst>
      <p:ext uri="{BB962C8B-B14F-4D97-AF65-F5344CB8AC3E}">
        <p14:creationId xmlns:p14="http://schemas.microsoft.com/office/powerpoint/2010/main" val="2313103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emf"/></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25.emf"/><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0.png"/><Relationship Id="rId1" Type="http://schemas.openxmlformats.org/officeDocument/2006/relationships/slideLayout" Target="../slideLayouts/slideLayout2.xml"/><Relationship Id="rId4" Type="http://schemas.openxmlformats.org/officeDocument/2006/relationships/image" Target="../media/image26.emf"/></Relationships>
</file>

<file path=ppt/slides/_rels/slide21.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 Id="rId5" Type="http://schemas.openxmlformats.org/officeDocument/2006/relationships/image" Target="../media/image30.emf"/><Relationship Id="rId4" Type="http://schemas.openxmlformats.org/officeDocument/2006/relationships/image" Target="../media/image29.emf"/></Relationships>
</file>

<file path=ppt/slides/_rels/slide2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ctrTitle"/>
          </p:nvPr>
        </p:nvSpPr>
        <p:spPr/>
        <p:txBody>
          <a:bodyPr/>
          <a:lstStyle/>
          <a:p>
            <a:r>
              <a:rPr lang="tr-TR" dirty="0" err="1" smtClean="0"/>
              <a:t>OpenGL</a:t>
            </a:r>
            <a:r>
              <a:rPr lang="tr-TR" dirty="0" smtClean="0"/>
              <a:t> 2D Dönüşümler</a:t>
            </a:r>
            <a:endParaRPr lang="tr-TR" dirty="0"/>
          </a:p>
        </p:txBody>
      </p:sp>
      <p:sp>
        <p:nvSpPr>
          <p:cNvPr id="3" name="Alt Başlık 2"/>
          <p:cNvSpPr>
            <a:spLocks noGrp="1"/>
          </p:cNvSpPr>
          <p:nvPr>
            <p:ph type="subTitle" idx="1"/>
          </p:nvPr>
        </p:nvSpPr>
        <p:spPr/>
        <p:txBody>
          <a:bodyPr/>
          <a:lstStyle/>
          <a:p>
            <a:endParaRPr lang="tr-TR"/>
          </a:p>
        </p:txBody>
      </p:sp>
    </p:spTree>
    <p:extLst>
      <p:ext uri="{BB962C8B-B14F-4D97-AF65-F5344CB8AC3E}">
        <p14:creationId xmlns:p14="http://schemas.microsoft.com/office/powerpoint/2010/main" val="13871103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2D düzlemde Nokta</a:t>
            </a:r>
            <a:endParaRPr lang="tr-TR" dirty="0"/>
          </a:p>
        </p:txBody>
      </p:sp>
      <mc:AlternateContent xmlns:mc="http://schemas.openxmlformats.org/markup-compatibility/2006" xmlns:a14="http://schemas.microsoft.com/office/drawing/2010/main">
        <mc:Choice Requires="a14">
          <p:sp>
            <p:nvSpPr>
              <p:cNvPr id="3" name="İçerik Yer Tutucusu 2"/>
              <p:cNvSpPr>
                <a:spLocks noGrp="1"/>
              </p:cNvSpPr>
              <p:nvPr>
                <p:ph idx="1"/>
              </p:nvPr>
            </p:nvSpPr>
            <p:spPr>
              <a:xfrm>
                <a:off x="6573287" y="1573371"/>
                <a:ext cx="3867498" cy="4325461"/>
              </a:xfrm>
            </p:spPr>
            <p:txBody>
              <a:bodyPr/>
              <a:lstStyle/>
              <a:p>
                <a:pPr marL="0" indent="0">
                  <a:buNone/>
                </a:pPr>
                <a14:m>
                  <m:oMath xmlns:m="http://schemas.openxmlformats.org/officeDocument/2006/math">
                    <m:r>
                      <a:rPr lang="tr-TR" b="0" i="1" smtClean="0">
                        <a:latin typeface="Cambria Math" panose="02040503050406030204" pitchFamily="18" charset="0"/>
                      </a:rPr>
                      <m:t>𝑃</m:t>
                    </m:r>
                    <m:r>
                      <a:rPr lang="tr-TR" b="0" i="1" smtClean="0">
                        <a:latin typeface="Cambria Math" panose="02040503050406030204" pitchFamily="18" charset="0"/>
                      </a:rPr>
                      <m:t>=</m:t>
                    </m:r>
                    <m:d>
                      <m:dPr>
                        <m:begChr m:val="["/>
                        <m:endChr m:val="]"/>
                        <m:ctrlPr>
                          <a:rPr lang="tr-TR" b="0" i="1" smtClean="0">
                            <a:latin typeface="Cambria Math" panose="02040503050406030204" pitchFamily="18" charset="0"/>
                          </a:rPr>
                        </m:ctrlPr>
                      </m:dPr>
                      <m:e>
                        <m:m>
                          <m:mPr>
                            <m:mcs>
                              <m:mc>
                                <m:mcPr>
                                  <m:count m:val="1"/>
                                  <m:mcJc m:val="center"/>
                                </m:mcPr>
                              </m:mc>
                            </m:mcs>
                            <m:ctrlPr>
                              <a:rPr lang="tr-TR" b="0" i="1" smtClean="0">
                                <a:latin typeface="Cambria Math" panose="02040503050406030204" pitchFamily="18" charset="0"/>
                              </a:rPr>
                            </m:ctrlPr>
                          </m:mPr>
                          <m:mr>
                            <m:e>
                              <m:r>
                                <m:rPr>
                                  <m:brk m:alnAt="7"/>
                                </m:rPr>
                                <a:rPr lang="tr-TR" b="0" i="1" smtClean="0">
                                  <a:latin typeface="Cambria Math" panose="02040503050406030204" pitchFamily="18" charset="0"/>
                                </a:rPr>
                                <m:t>𝑥</m:t>
                              </m:r>
                            </m:e>
                          </m:mr>
                          <m:mr>
                            <m:e>
                              <m:r>
                                <a:rPr lang="tr-TR" b="0" i="1" smtClean="0">
                                  <a:latin typeface="Cambria Math" panose="02040503050406030204" pitchFamily="18" charset="0"/>
                                </a:rPr>
                                <m:t>𝑦</m:t>
                              </m:r>
                            </m:e>
                          </m:mr>
                        </m:m>
                      </m:e>
                    </m:d>
                  </m:oMath>
                </a14:m>
                <a:r>
                  <a:rPr lang="tr-TR" dirty="0" smtClean="0"/>
                  <a:t>  </a:t>
                </a:r>
                <a:r>
                  <a:rPr lang="tr-TR" dirty="0" err="1" smtClean="0"/>
                  <a:t>sutun</a:t>
                </a:r>
                <a:r>
                  <a:rPr lang="tr-TR" dirty="0" smtClean="0"/>
                  <a:t> matrisi</a:t>
                </a:r>
              </a:p>
              <a:p>
                <a:pPr marL="0" indent="0">
                  <a:buNone/>
                </a:pPr>
                <a:endParaRPr lang="tr-TR" dirty="0"/>
              </a:p>
              <a:p>
                <a:pPr marL="0" indent="0">
                  <a:buNone/>
                </a:pPr>
                <a14:m>
                  <m:oMath xmlns:m="http://schemas.openxmlformats.org/officeDocument/2006/math">
                    <m:r>
                      <a:rPr lang="tr-TR" b="0" i="1" smtClean="0">
                        <a:latin typeface="Cambria Math" panose="02040503050406030204" pitchFamily="18" charset="0"/>
                      </a:rPr>
                      <m:t>𝑃</m:t>
                    </m:r>
                    <m:r>
                      <a:rPr lang="tr-TR" b="0" i="1" smtClean="0">
                        <a:latin typeface="Cambria Math" panose="02040503050406030204" pitchFamily="18" charset="0"/>
                      </a:rPr>
                      <m:t>=</m:t>
                    </m:r>
                    <m:d>
                      <m:dPr>
                        <m:begChr m:val="["/>
                        <m:endChr m:val="]"/>
                        <m:ctrlPr>
                          <a:rPr lang="tr-TR" b="0" i="1" smtClean="0">
                            <a:latin typeface="Cambria Math" panose="02040503050406030204" pitchFamily="18" charset="0"/>
                          </a:rPr>
                        </m:ctrlPr>
                      </m:dPr>
                      <m:e>
                        <m:m>
                          <m:mPr>
                            <m:mcs>
                              <m:mc>
                                <m:mcPr>
                                  <m:count m:val="2"/>
                                  <m:mcJc m:val="center"/>
                                </m:mcPr>
                              </m:mc>
                            </m:mcs>
                            <m:ctrlPr>
                              <a:rPr lang="tr-TR" b="0" i="1" smtClean="0">
                                <a:latin typeface="Cambria Math" panose="02040503050406030204" pitchFamily="18" charset="0"/>
                              </a:rPr>
                            </m:ctrlPr>
                          </m:mPr>
                          <m:mr>
                            <m:e>
                              <m:r>
                                <m:rPr>
                                  <m:brk m:alnAt="7"/>
                                </m:rPr>
                                <a:rPr lang="tr-TR" b="0" i="1" smtClean="0">
                                  <a:latin typeface="Cambria Math" panose="02040503050406030204" pitchFamily="18" charset="0"/>
                                </a:rPr>
                                <m:t>𝑥</m:t>
                              </m:r>
                            </m:e>
                            <m:e>
                              <m:r>
                                <a:rPr lang="tr-TR" b="0" i="1" smtClean="0">
                                  <a:latin typeface="Cambria Math" panose="02040503050406030204" pitchFamily="18" charset="0"/>
                                </a:rPr>
                                <m:t>𝑦</m:t>
                              </m:r>
                            </m:e>
                          </m:mr>
                        </m:m>
                      </m:e>
                    </m:d>
                  </m:oMath>
                </a14:m>
                <a:r>
                  <a:rPr lang="tr-TR" dirty="0" smtClean="0"/>
                  <a:t> satır matrisi</a:t>
                </a:r>
              </a:p>
              <a:p>
                <a:pPr marL="0" indent="0">
                  <a:buNone/>
                </a:pPr>
                <a:endParaRPr lang="tr-TR" dirty="0"/>
              </a:p>
              <a:p>
                <a:pPr marL="0" indent="0">
                  <a:buNone/>
                </a:pPr>
                <a:r>
                  <a:rPr lang="tr-TR" dirty="0" smtClean="0"/>
                  <a:t>Şekillerinde ifade edilir.</a:t>
                </a:r>
                <a:endParaRPr lang="tr-TR" dirty="0"/>
              </a:p>
            </p:txBody>
          </p:sp>
        </mc:Choice>
        <mc:Fallback xmlns="">
          <p:sp>
            <p:nvSpPr>
              <p:cNvPr id="3" name="İçerik Yer Tutucusu 2"/>
              <p:cNvSpPr>
                <a:spLocks noGrp="1" noRot="1" noChangeAspect="1" noMove="1" noResize="1" noEditPoints="1" noAdjustHandles="1" noChangeArrowheads="1" noChangeShapeType="1" noTextEdit="1"/>
              </p:cNvSpPr>
              <p:nvPr>
                <p:ph idx="1"/>
              </p:nvPr>
            </p:nvSpPr>
            <p:spPr>
              <a:xfrm>
                <a:off x="6573287" y="1573371"/>
                <a:ext cx="3867498" cy="4325461"/>
              </a:xfrm>
              <a:blipFill>
                <a:blip r:embed="rId2"/>
                <a:stretch>
                  <a:fillRect l="-3150"/>
                </a:stretch>
              </a:blipFill>
            </p:spPr>
            <p:txBody>
              <a:bodyPr/>
              <a:lstStyle/>
              <a:p>
                <a:r>
                  <a:rPr lang="tr-TR">
                    <a:noFill/>
                  </a:rPr>
                  <a:t> </a:t>
                </a:r>
              </a:p>
            </p:txBody>
          </p:sp>
        </mc:Fallback>
      </mc:AlternateContent>
      <p:cxnSp>
        <p:nvCxnSpPr>
          <p:cNvPr id="7" name="Düz Ok Bağlayıcısı 6"/>
          <p:cNvCxnSpPr/>
          <p:nvPr/>
        </p:nvCxnSpPr>
        <p:spPr>
          <a:xfrm flipV="1">
            <a:off x="878378" y="5253644"/>
            <a:ext cx="4455621" cy="166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0" name="Düz Ok Bağlayıcısı 9"/>
          <p:cNvCxnSpPr/>
          <p:nvPr/>
        </p:nvCxnSpPr>
        <p:spPr>
          <a:xfrm flipV="1">
            <a:off x="878378" y="1429790"/>
            <a:ext cx="0" cy="385710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1" name="Oval 10"/>
          <p:cNvSpPr/>
          <p:nvPr/>
        </p:nvSpPr>
        <p:spPr>
          <a:xfrm>
            <a:off x="2709949" y="3657600"/>
            <a:ext cx="99753"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Metin kutusu 11"/>
          <p:cNvSpPr txBox="1"/>
          <p:nvPr/>
        </p:nvSpPr>
        <p:spPr>
          <a:xfrm>
            <a:off x="2809702" y="3175462"/>
            <a:ext cx="1077539" cy="523220"/>
          </a:xfrm>
          <a:prstGeom prst="rect">
            <a:avLst/>
          </a:prstGeom>
          <a:noFill/>
        </p:spPr>
        <p:txBody>
          <a:bodyPr wrap="none" rtlCol="0">
            <a:spAutoFit/>
          </a:bodyPr>
          <a:lstStyle/>
          <a:p>
            <a:r>
              <a:rPr lang="tr-TR" sz="2800" dirty="0" smtClean="0"/>
              <a:t>P(x, y)</a:t>
            </a:r>
            <a:endParaRPr lang="tr-TR" sz="2800" dirty="0"/>
          </a:p>
        </p:txBody>
      </p:sp>
      <p:cxnSp>
        <p:nvCxnSpPr>
          <p:cNvPr id="14" name="Düz Bağlayıcı 13"/>
          <p:cNvCxnSpPr/>
          <p:nvPr/>
        </p:nvCxnSpPr>
        <p:spPr>
          <a:xfrm>
            <a:off x="2759825" y="3732414"/>
            <a:ext cx="0" cy="152123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5" name="Düz Bağlayıcı 14"/>
          <p:cNvCxnSpPr>
            <a:stCxn id="11" idx="6"/>
          </p:cNvCxnSpPr>
          <p:nvPr/>
        </p:nvCxnSpPr>
        <p:spPr>
          <a:xfrm flipH="1">
            <a:off x="885650" y="3749040"/>
            <a:ext cx="1924052"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8" name="Dikdörtgen 17"/>
          <p:cNvSpPr/>
          <p:nvPr/>
        </p:nvSpPr>
        <p:spPr>
          <a:xfrm>
            <a:off x="2617799" y="5529500"/>
            <a:ext cx="284052" cy="369332"/>
          </a:xfrm>
          <a:prstGeom prst="rect">
            <a:avLst/>
          </a:prstGeom>
        </p:spPr>
        <p:txBody>
          <a:bodyPr wrap="none">
            <a:spAutoFit/>
          </a:bodyPr>
          <a:lstStyle/>
          <a:p>
            <a:r>
              <a:rPr lang="tr-TR" dirty="0"/>
              <a:t>x</a:t>
            </a:r>
          </a:p>
        </p:txBody>
      </p:sp>
      <p:sp>
        <p:nvSpPr>
          <p:cNvPr id="19" name="Dikdörtgen 18"/>
          <p:cNvSpPr/>
          <p:nvPr/>
        </p:nvSpPr>
        <p:spPr>
          <a:xfrm>
            <a:off x="404519" y="3749040"/>
            <a:ext cx="288862" cy="369332"/>
          </a:xfrm>
          <a:prstGeom prst="rect">
            <a:avLst/>
          </a:prstGeom>
        </p:spPr>
        <p:txBody>
          <a:bodyPr wrap="none">
            <a:spAutoFit/>
          </a:bodyPr>
          <a:lstStyle/>
          <a:p>
            <a:r>
              <a:rPr lang="tr-TR" dirty="0" smtClean="0"/>
              <a:t>y</a:t>
            </a:r>
            <a:endParaRPr lang="tr-TR" dirty="0"/>
          </a:p>
        </p:txBody>
      </p:sp>
    </p:spTree>
    <p:extLst>
      <p:ext uri="{BB962C8B-B14F-4D97-AF65-F5344CB8AC3E}">
        <p14:creationId xmlns:p14="http://schemas.microsoft.com/office/powerpoint/2010/main" val="352641483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Unvan 1"/>
          <p:cNvSpPr>
            <a:spLocks noGrp="1"/>
          </p:cNvSpPr>
          <p:nvPr>
            <p:ph type="title"/>
          </p:nvPr>
        </p:nvSpPr>
        <p:spPr>
          <a:xfrm>
            <a:off x="838200" y="365125"/>
            <a:ext cx="10515600" cy="1325563"/>
          </a:xfrm>
        </p:spPr>
        <p:txBody>
          <a:bodyPr/>
          <a:lstStyle/>
          <a:p>
            <a:r>
              <a:rPr lang="tr-TR" dirty="0" smtClean="0"/>
              <a:t>2D düzlemde Şekil</a:t>
            </a:r>
            <a:endParaRPr lang="tr-TR" dirty="0"/>
          </a:p>
        </p:txBody>
      </p:sp>
      <mc:AlternateContent xmlns:mc="http://schemas.openxmlformats.org/markup-compatibility/2006" xmlns:a14="http://schemas.microsoft.com/office/drawing/2010/main">
        <mc:Choice Requires="a14">
          <p:sp>
            <p:nvSpPr>
              <p:cNvPr id="6" name="İçerik Yer Tutucusu 2"/>
              <p:cNvSpPr>
                <a:spLocks noGrp="1"/>
              </p:cNvSpPr>
              <p:nvPr>
                <p:ph idx="1"/>
              </p:nvPr>
            </p:nvSpPr>
            <p:spPr>
              <a:xfrm>
                <a:off x="6573287" y="1573371"/>
                <a:ext cx="3867498" cy="4325461"/>
              </a:xfrm>
            </p:spPr>
            <p:txBody>
              <a:bodyPr/>
              <a:lstStyle/>
              <a:p>
                <a:pPr marL="0" indent="0">
                  <a:buNone/>
                </a:pPr>
                <a:endParaRPr lang="tr-TR" dirty="0" smtClean="0"/>
              </a:p>
              <a:p>
                <a:pPr marL="0" indent="0">
                  <a:buNone/>
                </a:pPr>
                <a14:m>
                  <m:oMath xmlns:m="http://schemas.openxmlformats.org/officeDocument/2006/math">
                    <m:r>
                      <a:rPr lang="tr-TR" b="0" i="1" smtClean="0">
                        <a:latin typeface="Cambria Math" panose="02040503050406030204" pitchFamily="18" charset="0"/>
                      </a:rPr>
                      <m:t>𝑃</m:t>
                    </m:r>
                    <m:r>
                      <a:rPr lang="tr-TR" b="0" i="1" smtClean="0">
                        <a:latin typeface="Cambria Math" panose="02040503050406030204" pitchFamily="18" charset="0"/>
                      </a:rPr>
                      <m:t>=</m:t>
                    </m:r>
                    <m:d>
                      <m:dPr>
                        <m:begChr m:val="["/>
                        <m:endChr m:val="]"/>
                        <m:ctrlPr>
                          <a:rPr lang="tr-TR" b="0" i="1" smtClean="0">
                            <a:latin typeface="Cambria Math" panose="02040503050406030204" pitchFamily="18" charset="0"/>
                          </a:rPr>
                        </m:ctrlPr>
                      </m:dPr>
                      <m:e>
                        <m:eqArr>
                          <m:eqArrPr>
                            <m:ctrlPr>
                              <a:rPr lang="tr-TR" b="0" i="1" smtClean="0">
                                <a:latin typeface="Cambria Math" panose="02040503050406030204" pitchFamily="18" charset="0"/>
                              </a:rPr>
                            </m:ctrlPr>
                          </m:eqArrPr>
                          <m:e>
                            <m:m>
                              <m:mPr>
                                <m:mcs>
                                  <m:mc>
                                    <m:mcPr>
                                      <m:count m:val="2"/>
                                      <m:mcJc m:val="center"/>
                                    </m:mcPr>
                                  </m:mc>
                                </m:mcs>
                                <m:ctrlPr>
                                  <a:rPr lang="tr-TR" b="0" i="1" smtClean="0">
                                    <a:latin typeface="Cambria Math" panose="02040503050406030204" pitchFamily="18" charset="0"/>
                                  </a:rPr>
                                </m:ctrlPr>
                              </m:mPr>
                              <m:m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𝑎</m:t>
                                      </m:r>
                                    </m:sub>
                                  </m:sSub>
                                </m:e>
                                <m:e>
                                  <m:sSub>
                                    <m:sSubPr>
                                      <m:ctrlPr>
                                        <a:rPr lang="tr-TR" i="1">
                                          <a:latin typeface="Cambria Math" panose="02040503050406030204" pitchFamily="18" charset="0"/>
                                        </a:rPr>
                                      </m:ctrlPr>
                                    </m:sSubPr>
                                    <m:e>
                                      <m:r>
                                        <a:rPr lang="tr-TR" i="1">
                                          <a:latin typeface="Cambria Math" panose="02040503050406030204" pitchFamily="18" charset="0"/>
                                        </a:rPr>
                                        <m:t>𝑦</m:t>
                                      </m:r>
                                    </m:e>
                                    <m:sub>
                                      <m:r>
                                        <a:rPr lang="tr-TR" i="1">
                                          <a:latin typeface="Cambria Math" panose="02040503050406030204" pitchFamily="18" charset="0"/>
                                        </a:rPr>
                                        <m:t>𝑎</m:t>
                                      </m:r>
                                    </m:sub>
                                  </m:sSub>
                                </m:e>
                              </m:mr>
                            </m:m>
                          </m:e>
                          <m:e>
                            <m:m>
                              <m:mPr>
                                <m:mcs>
                                  <m:mc>
                                    <m:mcPr>
                                      <m:count m:val="2"/>
                                      <m:mcJc m:val="center"/>
                                    </m:mcPr>
                                  </m:mc>
                                </m:mcs>
                                <m:ctrlPr>
                                  <a:rPr lang="tr-TR" b="0" i="1" smtClean="0">
                                    <a:latin typeface="Cambria Math" panose="02040503050406030204" pitchFamily="18" charset="0"/>
                                  </a:rPr>
                                </m:ctrlPr>
                              </m:mPr>
                              <m:m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𝑏</m:t>
                                      </m:r>
                                    </m:sub>
                                  </m:sSub>
                                </m:e>
                                <m:e>
                                  <m:sSub>
                                    <m:sSubPr>
                                      <m:ctrlPr>
                                        <a:rPr lang="tr-TR" i="1">
                                          <a:latin typeface="Cambria Math" panose="02040503050406030204" pitchFamily="18" charset="0"/>
                                        </a:rPr>
                                      </m:ctrlPr>
                                    </m:sSubPr>
                                    <m:e>
                                      <m:r>
                                        <a:rPr lang="tr-TR" i="1">
                                          <a:latin typeface="Cambria Math" panose="02040503050406030204" pitchFamily="18" charset="0"/>
                                        </a:rPr>
                                        <m:t>𝑦</m:t>
                                      </m:r>
                                    </m:e>
                                    <m:sub>
                                      <m:r>
                                        <a:rPr lang="tr-TR" i="1">
                                          <a:latin typeface="Cambria Math" panose="02040503050406030204" pitchFamily="18" charset="0"/>
                                        </a:rPr>
                                        <m:t>𝑏</m:t>
                                      </m:r>
                                    </m:sub>
                                  </m:sSub>
                                </m:e>
                              </m:mr>
                            </m:m>
                          </m:e>
                          <m:e>
                            <m:m>
                              <m:mPr>
                                <m:mcs>
                                  <m:mc>
                                    <m:mcPr>
                                      <m:count m:val="2"/>
                                      <m:mcJc m:val="center"/>
                                    </m:mcPr>
                                  </m:mc>
                                </m:mcs>
                                <m:ctrlPr>
                                  <a:rPr lang="tr-TR" b="0" i="1" smtClean="0">
                                    <a:latin typeface="Cambria Math" panose="02040503050406030204" pitchFamily="18" charset="0"/>
                                  </a:rPr>
                                </m:ctrlPr>
                              </m:mPr>
                              <m:mr>
                                <m:e>
                                  <m:sSub>
                                    <m:sSubPr>
                                      <m:ctrlPr>
                                        <a:rPr lang="tr-TR" i="1">
                                          <a:latin typeface="Cambria Math" panose="02040503050406030204" pitchFamily="18" charset="0"/>
                                        </a:rPr>
                                      </m:ctrlPr>
                                    </m:sSubPr>
                                    <m:e>
                                      <m:r>
                                        <a:rPr lang="tr-TR" i="1">
                                          <a:latin typeface="Cambria Math" panose="02040503050406030204" pitchFamily="18" charset="0"/>
                                        </a:rPr>
                                        <m:t>𝑥</m:t>
                                      </m:r>
                                    </m:e>
                                    <m:sub>
                                      <m:r>
                                        <a:rPr lang="tr-TR" i="1">
                                          <a:latin typeface="Cambria Math" panose="02040503050406030204" pitchFamily="18" charset="0"/>
                                        </a:rPr>
                                        <m:t>𝑐</m:t>
                                      </m:r>
                                    </m:sub>
                                  </m:sSub>
                                </m:e>
                                <m:e>
                                  <m:sSub>
                                    <m:sSubPr>
                                      <m:ctrlPr>
                                        <a:rPr lang="tr-TR" i="1">
                                          <a:latin typeface="Cambria Math" panose="02040503050406030204" pitchFamily="18" charset="0"/>
                                        </a:rPr>
                                      </m:ctrlPr>
                                    </m:sSubPr>
                                    <m:e>
                                      <m:r>
                                        <a:rPr lang="tr-TR" i="1">
                                          <a:latin typeface="Cambria Math" panose="02040503050406030204" pitchFamily="18" charset="0"/>
                                        </a:rPr>
                                        <m:t>𝑦</m:t>
                                      </m:r>
                                    </m:e>
                                    <m:sub>
                                      <m:r>
                                        <a:rPr lang="tr-TR" i="1">
                                          <a:latin typeface="Cambria Math" panose="02040503050406030204" pitchFamily="18" charset="0"/>
                                        </a:rPr>
                                        <m:t>𝑐</m:t>
                                      </m:r>
                                    </m:sub>
                                  </m:sSub>
                                </m:e>
                              </m:mr>
                            </m:m>
                          </m:e>
                          <m:e>
                            <m:m>
                              <m:mPr>
                                <m:mcs>
                                  <m:mc>
                                    <m:mcPr>
                                      <m:count m:val="2"/>
                                      <m:mcJc m:val="center"/>
                                    </m:mcPr>
                                  </m:mc>
                                </m:mcs>
                                <m:ctrlPr>
                                  <a:rPr lang="tr-TR" b="0" i="1" smtClean="0">
                                    <a:latin typeface="Cambria Math" panose="02040503050406030204" pitchFamily="18" charset="0"/>
                                  </a:rPr>
                                </m:ctrlPr>
                              </m:mPr>
                              <m:mr>
                                <m:e>
                                  <m:sSub>
                                    <m:sSubPr>
                                      <m:ctrlPr>
                                        <a:rPr lang="tr-TR"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𝑑</m:t>
                                      </m:r>
                                    </m:sub>
                                  </m:sSub>
                                </m:e>
                                <m:e>
                                  <m:sSub>
                                    <m:sSubPr>
                                      <m:ctrlPr>
                                        <a:rPr lang="tr-TR" i="1" smtClean="0">
                                          <a:latin typeface="Cambria Math" panose="02040503050406030204" pitchFamily="18" charset="0"/>
                                        </a:rPr>
                                      </m:ctrlPr>
                                    </m:sSubPr>
                                    <m:e>
                                      <m:r>
                                        <a:rPr lang="tr-TR" b="0" i="1" smtClean="0">
                                          <a:latin typeface="Cambria Math" panose="02040503050406030204" pitchFamily="18" charset="0"/>
                                        </a:rPr>
                                        <m:t>𝑦</m:t>
                                      </m:r>
                                    </m:e>
                                    <m:sub>
                                      <m:r>
                                        <a:rPr lang="tr-TR" b="0" i="1" smtClean="0">
                                          <a:latin typeface="Cambria Math" panose="02040503050406030204" pitchFamily="18" charset="0"/>
                                        </a:rPr>
                                        <m:t>𝑑</m:t>
                                      </m:r>
                                    </m:sub>
                                  </m:sSub>
                                </m:e>
                              </m:mr>
                            </m:m>
                          </m:e>
                        </m:eqArr>
                      </m:e>
                    </m:d>
                  </m:oMath>
                </a14:m>
                <a:r>
                  <a:rPr lang="tr-TR" dirty="0" smtClean="0"/>
                  <a:t> </a:t>
                </a:r>
              </a:p>
              <a:p>
                <a:pPr marL="0" indent="0">
                  <a:buNone/>
                </a:pPr>
                <a:endParaRPr lang="tr-TR" dirty="0"/>
              </a:p>
            </p:txBody>
          </p:sp>
        </mc:Choice>
        <mc:Fallback xmlns="">
          <p:sp>
            <p:nvSpPr>
              <p:cNvPr id="6" name="İçerik Yer Tutucusu 2"/>
              <p:cNvSpPr>
                <a:spLocks noGrp="1" noRot="1" noChangeAspect="1" noMove="1" noResize="1" noEditPoints="1" noAdjustHandles="1" noChangeArrowheads="1" noChangeShapeType="1" noTextEdit="1"/>
              </p:cNvSpPr>
              <p:nvPr>
                <p:ph idx="1"/>
              </p:nvPr>
            </p:nvSpPr>
            <p:spPr>
              <a:xfrm>
                <a:off x="6573287" y="1573371"/>
                <a:ext cx="3867498" cy="4325461"/>
              </a:xfrm>
              <a:blipFill>
                <a:blip r:embed="rId2"/>
                <a:stretch>
                  <a:fillRect/>
                </a:stretch>
              </a:blipFill>
            </p:spPr>
            <p:txBody>
              <a:bodyPr/>
              <a:lstStyle/>
              <a:p>
                <a:r>
                  <a:rPr lang="tr-TR">
                    <a:noFill/>
                  </a:rPr>
                  <a:t> </a:t>
                </a:r>
              </a:p>
            </p:txBody>
          </p:sp>
        </mc:Fallback>
      </mc:AlternateContent>
      <p:cxnSp>
        <p:nvCxnSpPr>
          <p:cNvPr id="7" name="Düz Ok Bağlayıcısı 6"/>
          <p:cNvCxnSpPr/>
          <p:nvPr/>
        </p:nvCxnSpPr>
        <p:spPr>
          <a:xfrm flipV="1">
            <a:off x="878378" y="5253644"/>
            <a:ext cx="4455621" cy="166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8" name="Düz Ok Bağlayıcısı 7"/>
          <p:cNvCxnSpPr/>
          <p:nvPr/>
        </p:nvCxnSpPr>
        <p:spPr>
          <a:xfrm flipV="1">
            <a:off x="878378" y="1429790"/>
            <a:ext cx="0" cy="385710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2709949" y="3657600"/>
            <a:ext cx="99753"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10" name="Metin kutusu 9"/>
              <p:cNvSpPr txBox="1"/>
              <p:nvPr/>
            </p:nvSpPr>
            <p:spPr>
              <a:xfrm>
                <a:off x="1363698" y="3856762"/>
                <a:ext cx="1470274" cy="523220"/>
              </a:xfrm>
              <a:prstGeom prst="rect">
                <a:avLst/>
              </a:prstGeom>
              <a:noFill/>
            </p:spPr>
            <p:txBody>
              <a:bodyPr wrap="none" rtlCol="0">
                <a:spAutoFit/>
              </a:bodyPr>
              <a:lstStyle/>
              <a:p>
                <a:r>
                  <a:rPr lang="tr-TR" sz="2800" dirty="0" smtClean="0"/>
                  <a:t>A(</a:t>
                </a:r>
                <a14:m>
                  <m:oMath xmlns:m="http://schemas.openxmlformats.org/officeDocument/2006/math">
                    <m:sSub>
                      <m:sSubPr>
                        <m:ctrlPr>
                          <a:rPr lang="tr-TR" sz="2800" i="1" smtClean="0">
                            <a:latin typeface="Cambria Math" panose="02040503050406030204" pitchFamily="18" charset="0"/>
                          </a:rPr>
                        </m:ctrlPr>
                      </m:sSubPr>
                      <m:e>
                        <m:r>
                          <a:rPr lang="tr-TR" sz="2800" b="0" i="1" smtClean="0">
                            <a:latin typeface="Cambria Math" panose="02040503050406030204" pitchFamily="18" charset="0"/>
                          </a:rPr>
                          <m:t>𝑥</m:t>
                        </m:r>
                      </m:e>
                      <m:sub>
                        <m:r>
                          <a:rPr lang="tr-TR" sz="2800" b="0" i="1" smtClean="0">
                            <a:latin typeface="Cambria Math" panose="02040503050406030204" pitchFamily="18" charset="0"/>
                          </a:rPr>
                          <m:t>𝑎</m:t>
                        </m:r>
                      </m:sub>
                    </m:sSub>
                    <m:r>
                      <a:rPr lang="tr-TR" sz="2800" b="0" i="1" smtClean="0">
                        <a:latin typeface="Cambria Math" panose="02040503050406030204" pitchFamily="18" charset="0"/>
                      </a:rPr>
                      <m:t>,</m:t>
                    </m:r>
                    <m:sSub>
                      <m:sSubPr>
                        <m:ctrlPr>
                          <a:rPr lang="tr-TR" sz="2800" i="1" smtClean="0">
                            <a:latin typeface="Cambria Math" panose="02040503050406030204" pitchFamily="18" charset="0"/>
                          </a:rPr>
                        </m:ctrlPr>
                      </m:sSubPr>
                      <m:e>
                        <m:r>
                          <a:rPr lang="tr-TR" sz="2800" b="0" i="1" smtClean="0">
                            <a:latin typeface="Cambria Math" panose="02040503050406030204" pitchFamily="18" charset="0"/>
                          </a:rPr>
                          <m:t>𝑦</m:t>
                        </m:r>
                      </m:e>
                      <m:sub>
                        <m:r>
                          <a:rPr lang="tr-TR" sz="2800" b="0" i="1" smtClean="0">
                            <a:latin typeface="Cambria Math" panose="02040503050406030204" pitchFamily="18" charset="0"/>
                          </a:rPr>
                          <m:t>𝑎</m:t>
                        </m:r>
                      </m:sub>
                    </m:sSub>
                  </m:oMath>
                </a14:m>
                <a:r>
                  <a:rPr lang="tr-TR" sz="2800" dirty="0" smtClean="0"/>
                  <a:t>)</a:t>
                </a:r>
                <a:endParaRPr lang="tr-TR" sz="2800" dirty="0"/>
              </a:p>
            </p:txBody>
          </p:sp>
        </mc:Choice>
        <mc:Fallback xmlns="">
          <p:sp>
            <p:nvSpPr>
              <p:cNvPr id="10" name="Metin kutusu 9"/>
              <p:cNvSpPr txBox="1">
                <a:spLocks noRot="1" noChangeAspect="1" noMove="1" noResize="1" noEditPoints="1" noAdjustHandles="1" noChangeArrowheads="1" noChangeShapeType="1" noTextEdit="1"/>
              </p:cNvSpPr>
              <p:nvPr/>
            </p:nvSpPr>
            <p:spPr>
              <a:xfrm>
                <a:off x="1363698" y="3856762"/>
                <a:ext cx="1470274" cy="523220"/>
              </a:xfrm>
              <a:prstGeom prst="rect">
                <a:avLst/>
              </a:prstGeom>
              <a:blipFill>
                <a:blip r:embed="rId3"/>
                <a:stretch>
                  <a:fillRect l="-8714" t="-11628" r="-7884" b="-32558"/>
                </a:stretch>
              </a:blipFill>
            </p:spPr>
            <p:txBody>
              <a:bodyPr/>
              <a:lstStyle/>
              <a:p>
                <a:r>
                  <a:rPr lang="tr-TR">
                    <a:noFill/>
                  </a:rPr>
                  <a:t> </a:t>
                </a:r>
              </a:p>
            </p:txBody>
          </p:sp>
        </mc:Fallback>
      </mc:AlternateContent>
      <p:cxnSp>
        <p:nvCxnSpPr>
          <p:cNvPr id="11" name="Düz Bağlayıcı 10"/>
          <p:cNvCxnSpPr/>
          <p:nvPr/>
        </p:nvCxnSpPr>
        <p:spPr>
          <a:xfrm>
            <a:off x="2759825" y="3732414"/>
            <a:ext cx="0" cy="152123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12" name="Düz Bağlayıcı 11"/>
          <p:cNvCxnSpPr>
            <a:stCxn id="9" idx="6"/>
          </p:cNvCxnSpPr>
          <p:nvPr/>
        </p:nvCxnSpPr>
        <p:spPr>
          <a:xfrm flipH="1">
            <a:off x="885650" y="3749040"/>
            <a:ext cx="1924052"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13" name="Dikdörtgen 12"/>
          <p:cNvSpPr/>
          <p:nvPr/>
        </p:nvSpPr>
        <p:spPr>
          <a:xfrm>
            <a:off x="2617799" y="5529500"/>
            <a:ext cx="955198" cy="369332"/>
          </a:xfrm>
          <a:prstGeom prst="rect">
            <a:avLst/>
          </a:prstGeom>
        </p:spPr>
        <p:txBody>
          <a:bodyPr wrap="none">
            <a:spAutoFit/>
          </a:bodyPr>
          <a:lstStyle/>
          <a:p>
            <a:r>
              <a:rPr lang="tr-TR" dirty="0" smtClean="0"/>
              <a:t>X ekseni</a:t>
            </a:r>
            <a:endParaRPr lang="tr-TR" dirty="0"/>
          </a:p>
        </p:txBody>
      </p:sp>
      <p:sp>
        <p:nvSpPr>
          <p:cNvPr id="14" name="Dikdörtgen 13"/>
          <p:cNvSpPr/>
          <p:nvPr/>
        </p:nvSpPr>
        <p:spPr>
          <a:xfrm>
            <a:off x="91701" y="3170297"/>
            <a:ext cx="461665" cy="854849"/>
          </a:xfrm>
          <a:prstGeom prst="rect">
            <a:avLst/>
          </a:prstGeom>
        </p:spPr>
        <p:txBody>
          <a:bodyPr vert="vert270" wrap="none">
            <a:spAutoFit/>
          </a:bodyPr>
          <a:lstStyle/>
          <a:p>
            <a:r>
              <a:rPr lang="tr-TR" dirty="0" smtClean="0"/>
              <a:t>Y ekseni</a:t>
            </a:r>
            <a:endParaRPr lang="tr-TR" dirty="0"/>
          </a:p>
        </p:txBody>
      </p:sp>
      <p:sp>
        <p:nvSpPr>
          <p:cNvPr id="15" name="Dikdörtgen 14"/>
          <p:cNvSpPr/>
          <p:nvPr/>
        </p:nvSpPr>
        <p:spPr>
          <a:xfrm>
            <a:off x="2719134" y="2330768"/>
            <a:ext cx="2103830" cy="1479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19" name="Metin kutusu 18"/>
              <p:cNvSpPr txBox="1"/>
              <p:nvPr/>
            </p:nvSpPr>
            <p:spPr>
              <a:xfrm>
                <a:off x="1345662" y="1782128"/>
                <a:ext cx="1466555" cy="523220"/>
              </a:xfrm>
              <a:prstGeom prst="rect">
                <a:avLst/>
              </a:prstGeom>
              <a:noFill/>
            </p:spPr>
            <p:txBody>
              <a:bodyPr wrap="none" rtlCol="0">
                <a:spAutoFit/>
              </a:bodyPr>
              <a:lstStyle/>
              <a:p>
                <a:r>
                  <a:rPr lang="tr-TR" sz="2800" dirty="0" smtClean="0"/>
                  <a:t>B(</a:t>
                </a:r>
                <a14:m>
                  <m:oMath xmlns:m="http://schemas.openxmlformats.org/officeDocument/2006/math">
                    <m:sSub>
                      <m:sSubPr>
                        <m:ctrlPr>
                          <a:rPr lang="tr-TR" sz="2800" i="1" smtClean="0">
                            <a:latin typeface="Cambria Math" panose="02040503050406030204" pitchFamily="18" charset="0"/>
                          </a:rPr>
                        </m:ctrlPr>
                      </m:sSubPr>
                      <m:e>
                        <m:r>
                          <a:rPr lang="tr-TR" sz="2800" b="0" i="1" smtClean="0">
                            <a:latin typeface="Cambria Math" panose="02040503050406030204" pitchFamily="18" charset="0"/>
                          </a:rPr>
                          <m:t>𝑥</m:t>
                        </m:r>
                      </m:e>
                      <m:sub>
                        <m:r>
                          <a:rPr lang="tr-TR" sz="2800" b="0" i="1" smtClean="0">
                            <a:latin typeface="Cambria Math" panose="02040503050406030204" pitchFamily="18" charset="0"/>
                          </a:rPr>
                          <m:t>𝑏</m:t>
                        </m:r>
                      </m:sub>
                    </m:sSub>
                    <m:r>
                      <a:rPr lang="tr-TR" sz="2800" b="0" i="1" smtClean="0">
                        <a:latin typeface="Cambria Math" panose="02040503050406030204" pitchFamily="18" charset="0"/>
                      </a:rPr>
                      <m:t>,</m:t>
                    </m:r>
                    <m:sSub>
                      <m:sSubPr>
                        <m:ctrlPr>
                          <a:rPr lang="tr-TR" sz="2800" i="1" smtClean="0">
                            <a:latin typeface="Cambria Math" panose="02040503050406030204" pitchFamily="18" charset="0"/>
                          </a:rPr>
                        </m:ctrlPr>
                      </m:sSubPr>
                      <m:e>
                        <m:r>
                          <a:rPr lang="tr-TR" sz="2800" b="0" i="1" smtClean="0">
                            <a:latin typeface="Cambria Math" panose="02040503050406030204" pitchFamily="18" charset="0"/>
                          </a:rPr>
                          <m:t>𝑦</m:t>
                        </m:r>
                      </m:e>
                      <m:sub>
                        <m:r>
                          <a:rPr lang="tr-TR" sz="2800" b="0" i="1" smtClean="0">
                            <a:latin typeface="Cambria Math" panose="02040503050406030204" pitchFamily="18" charset="0"/>
                          </a:rPr>
                          <m:t>𝑏</m:t>
                        </m:r>
                      </m:sub>
                    </m:sSub>
                  </m:oMath>
                </a14:m>
                <a:r>
                  <a:rPr lang="tr-TR" sz="2800" dirty="0" smtClean="0"/>
                  <a:t>)</a:t>
                </a:r>
                <a:endParaRPr lang="tr-TR" sz="2800" dirty="0"/>
              </a:p>
            </p:txBody>
          </p:sp>
        </mc:Choice>
        <mc:Fallback xmlns="">
          <p:sp>
            <p:nvSpPr>
              <p:cNvPr id="19" name="Metin kutusu 18"/>
              <p:cNvSpPr txBox="1">
                <a:spLocks noRot="1" noChangeAspect="1" noMove="1" noResize="1" noEditPoints="1" noAdjustHandles="1" noChangeArrowheads="1" noChangeShapeType="1" noTextEdit="1"/>
              </p:cNvSpPr>
              <p:nvPr/>
            </p:nvSpPr>
            <p:spPr>
              <a:xfrm>
                <a:off x="1345662" y="1782128"/>
                <a:ext cx="1466555" cy="523220"/>
              </a:xfrm>
              <a:prstGeom prst="rect">
                <a:avLst/>
              </a:prstGeom>
              <a:blipFill>
                <a:blip r:embed="rId4"/>
                <a:stretch>
                  <a:fillRect l="-8750" t="-10465" r="-7917" b="-3255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0" name="Metin kutusu 19"/>
              <p:cNvSpPr txBox="1"/>
              <p:nvPr/>
            </p:nvSpPr>
            <p:spPr>
              <a:xfrm>
                <a:off x="3925583" y="1749118"/>
                <a:ext cx="1395447" cy="523220"/>
              </a:xfrm>
              <a:prstGeom prst="rect">
                <a:avLst/>
              </a:prstGeom>
              <a:noFill/>
            </p:spPr>
            <p:txBody>
              <a:bodyPr wrap="none" rtlCol="0">
                <a:spAutoFit/>
              </a:bodyPr>
              <a:lstStyle/>
              <a:p>
                <a:r>
                  <a:rPr lang="tr-TR" sz="2800" dirty="0" smtClean="0"/>
                  <a:t>C(</a:t>
                </a:r>
                <a14:m>
                  <m:oMath xmlns:m="http://schemas.openxmlformats.org/officeDocument/2006/math">
                    <m:sSub>
                      <m:sSubPr>
                        <m:ctrlPr>
                          <a:rPr lang="tr-TR" sz="2800" i="1" smtClean="0">
                            <a:latin typeface="Cambria Math" panose="02040503050406030204" pitchFamily="18" charset="0"/>
                          </a:rPr>
                        </m:ctrlPr>
                      </m:sSubPr>
                      <m:e>
                        <m:r>
                          <a:rPr lang="tr-TR" sz="2800" b="0" i="1" smtClean="0">
                            <a:latin typeface="Cambria Math" panose="02040503050406030204" pitchFamily="18" charset="0"/>
                          </a:rPr>
                          <m:t>𝑥</m:t>
                        </m:r>
                      </m:e>
                      <m:sub>
                        <m:r>
                          <a:rPr lang="tr-TR" sz="2800" b="0" i="1" smtClean="0">
                            <a:latin typeface="Cambria Math" panose="02040503050406030204" pitchFamily="18" charset="0"/>
                          </a:rPr>
                          <m:t>𝑐</m:t>
                        </m:r>
                      </m:sub>
                    </m:sSub>
                    <m:r>
                      <a:rPr lang="tr-TR" sz="2800" b="0" i="1" smtClean="0">
                        <a:latin typeface="Cambria Math" panose="02040503050406030204" pitchFamily="18" charset="0"/>
                      </a:rPr>
                      <m:t>,</m:t>
                    </m:r>
                    <m:sSub>
                      <m:sSubPr>
                        <m:ctrlPr>
                          <a:rPr lang="tr-TR" sz="2800" i="1" smtClean="0">
                            <a:latin typeface="Cambria Math" panose="02040503050406030204" pitchFamily="18" charset="0"/>
                          </a:rPr>
                        </m:ctrlPr>
                      </m:sSubPr>
                      <m:e>
                        <m:r>
                          <a:rPr lang="tr-TR" sz="2800" b="0" i="1" smtClean="0">
                            <a:latin typeface="Cambria Math" panose="02040503050406030204" pitchFamily="18" charset="0"/>
                          </a:rPr>
                          <m:t>𝑦</m:t>
                        </m:r>
                      </m:e>
                      <m:sub>
                        <m:r>
                          <a:rPr lang="tr-TR" sz="2800" b="0" i="1" smtClean="0">
                            <a:latin typeface="Cambria Math" panose="02040503050406030204" pitchFamily="18" charset="0"/>
                          </a:rPr>
                          <m:t>𝑐</m:t>
                        </m:r>
                      </m:sub>
                    </m:sSub>
                  </m:oMath>
                </a14:m>
                <a:r>
                  <a:rPr lang="tr-TR" sz="2800" dirty="0" smtClean="0"/>
                  <a:t>)</a:t>
                </a:r>
                <a:endParaRPr lang="tr-TR" sz="2800" dirty="0"/>
              </a:p>
            </p:txBody>
          </p:sp>
        </mc:Choice>
        <mc:Fallback xmlns="">
          <p:sp>
            <p:nvSpPr>
              <p:cNvPr id="20" name="Metin kutusu 19"/>
              <p:cNvSpPr txBox="1">
                <a:spLocks noRot="1" noChangeAspect="1" noMove="1" noResize="1" noEditPoints="1" noAdjustHandles="1" noChangeArrowheads="1" noChangeShapeType="1" noTextEdit="1"/>
              </p:cNvSpPr>
              <p:nvPr/>
            </p:nvSpPr>
            <p:spPr>
              <a:xfrm>
                <a:off x="3925583" y="1749118"/>
                <a:ext cx="1395447" cy="523220"/>
              </a:xfrm>
              <a:prstGeom prst="rect">
                <a:avLst/>
              </a:prstGeom>
              <a:blipFill>
                <a:blip r:embed="rId5"/>
                <a:stretch>
                  <a:fillRect l="-9170" t="-11628" r="-7860" b="-32558"/>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21" name="Metin kutusu 20"/>
              <p:cNvSpPr txBox="1"/>
              <p:nvPr/>
            </p:nvSpPr>
            <p:spPr>
              <a:xfrm>
                <a:off x="4036516" y="3843099"/>
                <a:ext cx="1517082" cy="523220"/>
              </a:xfrm>
              <a:prstGeom prst="rect">
                <a:avLst/>
              </a:prstGeom>
              <a:noFill/>
            </p:spPr>
            <p:txBody>
              <a:bodyPr wrap="none" rtlCol="0">
                <a:spAutoFit/>
              </a:bodyPr>
              <a:lstStyle/>
              <a:p>
                <a:r>
                  <a:rPr lang="tr-TR" sz="2800" dirty="0" smtClean="0"/>
                  <a:t>D(</a:t>
                </a:r>
                <a14:m>
                  <m:oMath xmlns:m="http://schemas.openxmlformats.org/officeDocument/2006/math">
                    <m:sSub>
                      <m:sSubPr>
                        <m:ctrlPr>
                          <a:rPr lang="tr-TR" sz="2800" i="1" smtClean="0">
                            <a:latin typeface="Cambria Math" panose="02040503050406030204" pitchFamily="18" charset="0"/>
                          </a:rPr>
                        </m:ctrlPr>
                      </m:sSubPr>
                      <m:e>
                        <m:r>
                          <a:rPr lang="tr-TR" sz="2800" b="0" i="1" smtClean="0">
                            <a:latin typeface="Cambria Math" panose="02040503050406030204" pitchFamily="18" charset="0"/>
                          </a:rPr>
                          <m:t>𝑥</m:t>
                        </m:r>
                      </m:e>
                      <m:sub>
                        <m:r>
                          <a:rPr lang="tr-TR" sz="2800" b="0" i="1" smtClean="0">
                            <a:latin typeface="Cambria Math" panose="02040503050406030204" pitchFamily="18" charset="0"/>
                          </a:rPr>
                          <m:t>𝑑</m:t>
                        </m:r>
                      </m:sub>
                    </m:sSub>
                    <m:r>
                      <a:rPr lang="tr-TR" sz="2800" b="0" i="1" smtClean="0">
                        <a:latin typeface="Cambria Math" panose="02040503050406030204" pitchFamily="18" charset="0"/>
                      </a:rPr>
                      <m:t>,</m:t>
                    </m:r>
                    <m:sSub>
                      <m:sSubPr>
                        <m:ctrlPr>
                          <a:rPr lang="tr-TR" sz="2800" i="1" smtClean="0">
                            <a:latin typeface="Cambria Math" panose="02040503050406030204" pitchFamily="18" charset="0"/>
                          </a:rPr>
                        </m:ctrlPr>
                      </m:sSubPr>
                      <m:e>
                        <m:r>
                          <a:rPr lang="tr-TR" sz="2800" b="0" i="1" smtClean="0">
                            <a:latin typeface="Cambria Math" panose="02040503050406030204" pitchFamily="18" charset="0"/>
                          </a:rPr>
                          <m:t>𝑦</m:t>
                        </m:r>
                      </m:e>
                      <m:sub>
                        <m:r>
                          <a:rPr lang="tr-TR" sz="2800" b="0" i="1" smtClean="0">
                            <a:latin typeface="Cambria Math" panose="02040503050406030204" pitchFamily="18" charset="0"/>
                          </a:rPr>
                          <m:t>𝑑</m:t>
                        </m:r>
                      </m:sub>
                    </m:sSub>
                  </m:oMath>
                </a14:m>
                <a:r>
                  <a:rPr lang="tr-TR" sz="2800" dirty="0" smtClean="0"/>
                  <a:t>)</a:t>
                </a:r>
                <a:endParaRPr lang="tr-TR" sz="2800" dirty="0"/>
              </a:p>
            </p:txBody>
          </p:sp>
        </mc:Choice>
        <mc:Fallback xmlns="">
          <p:sp>
            <p:nvSpPr>
              <p:cNvPr id="21" name="Metin kutusu 20"/>
              <p:cNvSpPr txBox="1">
                <a:spLocks noRot="1" noChangeAspect="1" noMove="1" noResize="1" noEditPoints="1" noAdjustHandles="1" noChangeArrowheads="1" noChangeShapeType="1" noTextEdit="1"/>
              </p:cNvSpPr>
              <p:nvPr/>
            </p:nvSpPr>
            <p:spPr>
              <a:xfrm>
                <a:off x="4036516" y="3843099"/>
                <a:ext cx="1517082" cy="523220"/>
              </a:xfrm>
              <a:prstGeom prst="rect">
                <a:avLst/>
              </a:prstGeom>
              <a:blipFill>
                <a:blip r:embed="rId6"/>
                <a:stretch>
                  <a:fillRect l="-8032" t="-10465" r="-7631" b="-32558"/>
                </a:stretch>
              </a:blipFill>
            </p:spPr>
            <p:txBody>
              <a:bodyPr/>
              <a:lstStyle/>
              <a:p>
                <a:r>
                  <a:rPr lang="tr-TR">
                    <a:noFill/>
                  </a:rPr>
                  <a:t> </a:t>
                </a:r>
              </a:p>
            </p:txBody>
          </p:sp>
        </mc:Fallback>
      </mc:AlternateContent>
      <p:cxnSp>
        <p:nvCxnSpPr>
          <p:cNvPr id="22" name="Düz Bağlayıcı 21"/>
          <p:cNvCxnSpPr/>
          <p:nvPr/>
        </p:nvCxnSpPr>
        <p:spPr>
          <a:xfrm flipH="1">
            <a:off x="919549" y="2321630"/>
            <a:ext cx="1924052"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cxnSp>
        <p:nvCxnSpPr>
          <p:cNvPr id="23" name="Düz Bağlayıcı 22"/>
          <p:cNvCxnSpPr/>
          <p:nvPr/>
        </p:nvCxnSpPr>
        <p:spPr>
          <a:xfrm>
            <a:off x="4822964" y="3732414"/>
            <a:ext cx="0" cy="1521230"/>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39680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2D Temel İşlemler</a:t>
            </a:r>
            <a:endParaRPr lang="tr-TR" dirty="0"/>
          </a:p>
        </p:txBody>
      </p:sp>
      <p:sp>
        <p:nvSpPr>
          <p:cNvPr id="3" name="İçerik Yer Tutucusu 2"/>
          <p:cNvSpPr>
            <a:spLocks noGrp="1"/>
          </p:cNvSpPr>
          <p:nvPr>
            <p:ph idx="1"/>
          </p:nvPr>
        </p:nvSpPr>
        <p:spPr/>
        <p:txBody>
          <a:bodyPr/>
          <a:lstStyle/>
          <a:p>
            <a:r>
              <a:rPr lang="tr-TR" dirty="0" smtClean="0"/>
              <a:t>Öteleme </a:t>
            </a:r>
          </a:p>
          <a:p>
            <a:r>
              <a:rPr lang="tr-TR" dirty="0" smtClean="0"/>
              <a:t>Ölçekleme </a:t>
            </a:r>
          </a:p>
          <a:p>
            <a:r>
              <a:rPr lang="tr-TR" dirty="0" smtClean="0"/>
              <a:t>Yansıtma </a:t>
            </a:r>
          </a:p>
          <a:p>
            <a:r>
              <a:rPr lang="tr-TR" dirty="0" smtClean="0"/>
              <a:t>Döndürme </a:t>
            </a:r>
          </a:p>
          <a:p>
            <a:r>
              <a:rPr lang="tr-TR" dirty="0" smtClean="0"/>
              <a:t>Herhangi bir nokta etrafında döndürme </a:t>
            </a:r>
          </a:p>
          <a:p>
            <a:r>
              <a:rPr lang="tr-TR" dirty="0" smtClean="0"/>
              <a:t>Herhangi bir doğruya göre yansıtma</a:t>
            </a:r>
            <a:endParaRPr lang="tr-TR" dirty="0"/>
          </a:p>
        </p:txBody>
      </p:sp>
    </p:spTree>
    <p:extLst>
      <p:ext uri="{BB962C8B-B14F-4D97-AF65-F5344CB8AC3E}">
        <p14:creationId xmlns:p14="http://schemas.microsoft.com/office/powerpoint/2010/main" val="26912141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Öteleme(</a:t>
            </a:r>
            <a:r>
              <a:rPr lang="tr-TR" dirty="0" err="1" smtClean="0"/>
              <a:t>Transform</a:t>
            </a:r>
            <a:r>
              <a:rPr lang="tr-TR" dirty="0" smtClean="0"/>
              <a:t>)</a:t>
            </a:r>
            <a:endParaRPr lang="tr-TR" dirty="0"/>
          </a:p>
        </p:txBody>
      </p:sp>
      <p:cxnSp>
        <p:nvCxnSpPr>
          <p:cNvPr id="4" name="Düz Ok Bağlayıcısı 3"/>
          <p:cNvCxnSpPr/>
          <p:nvPr/>
        </p:nvCxnSpPr>
        <p:spPr>
          <a:xfrm flipV="1">
            <a:off x="878378" y="5253644"/>
            <a:ext cx="4455621" cy="1662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 name="Düz Ok Bağlayıcısı 4"/>
          <p:cNvCxnSpPr/>
          <p:nvPr/>
        </p:nvCxnSpPr>
        <p:spPr>
          <a:xfrm flipV="1">
            <a:off x="878378" y="1429790"/>
            <a:ext cx="0" cy="385710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6" name="Oval 5"/>
          <p:cNvSpPr/>
          <p:nvPr/>
        </p:nvSpPr>
        <p:spPr>
          <a:xfrm>
            <a:off x="2709949" y="3657600"/>
            <a:ext cx="99753" cy="18288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10"/>
          <p:cNvSpPr/>
          <p:nvPr/>
        </p:nvSpPr>
        <p:spPr>
          <a:xfrm>
            <a:off x="1323331" y="3180388"/>
            <a:ext cx="2103830" cy="1479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2800" b="1" dirty="0">
              <a:solidFill>
                <a:schemeClr val="tx1">
                  <a:lumMod val="95000"/>
                  <a:lumOff val="5000"/>
                </a:schemeClr>
              </a:solidFill>
            </a:endParaRPr>
          </a:p>
        </p:txBody>
      </p:sp>
      <p:sp>
        <p:nvSpPr>
          <p:cNvPr id="17" name="Dikdörtgen 16"/>
          <p:cNvSpPr/>
          <p:nvPr/>
        </p:nvSpPr>
        <p:spPr>
          <a:xfrm>
            <a:off x="2521082" y="1992500"/>
            <a:ext cx="2103830" cy="147966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19" name="Düz Bağlayıcı 18"/>
          <p:cNvCxnSpPr/>
          <p:nvPr/>
        </p:nvCxnSpPr>
        <p:spPr>
          <a:xfrm>
            <a:off x="1323331" y="4660053"/>
            <a:ext cx="0" cy="61021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Düz Bağlayıcı 20"/>
          <p:cNvCxnSpPr/>
          <p:nvPr/>
        </p:nvCxnSpPr>
        <p:spPr>
          <a:xfrm>
            <a:off x="2521082" y="3472165"/>
            <a:ext cx="0" cy="1798105"/>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cxnSp>
        <p:nvCxnSpPr>
          <p:cNvPr id="27" name="Düz Bağlayıcı 26"/>
          <p:cNvCxnSpPr/>
          <p:nvPr/>
        </p:nvCxnSpPr>
        <p:spPr>
          <a:xfrm flipH="1">
            <a:off x="878378" y="3472165"/>
            <a:ext cx="1642704" cy="0"/>
          </a:xfrm>
          <a:prstGeom prst="line">
            <a:avLst/>
          </a:prstGeom>
          <a:ln>
            <a:prstDash val="sysDash"/>
          </a:ln>
        </p:spPr>
        <p:style>
          <a:lnRef idx="1">
            <a:schemeClr val="accent2"/>
          </a:lnRef>
          <a:fillRef idx="0">
            <a:schemeClr val="accent2"/>
          </a:fillRef>
          <a:effectRef idx="0">
            <a:schemeClr val="accent2"/>
          </a:effectRef>
          <a:fontRef idx="minor">
            <a:schemeClr val="tx1"/>
          </a:fontRef>
        </p:style>
      </p:cxnSp>
      <p:cxnSp>
        <p:nvCxnSpPr>
          <p:cNvPr id="33" name="Düz Bağlayıcı 32"/>
          <p:cNvCxnSpPr/>
          <p:nvPr/>
        </p:nvCxnSpPr>
        <p:spPr>
          <a:xfrm flipH="1">
            <a:off x="878378" y="4660053"/>
            <a:ext cx="444953" cy="0"/>
          </a:xfrm>
          <a:prstGeom prst="line">
            <a:avLst/>
          </a:prstGeom>
        </p:spPr>
        <p:style>
          <a:lnRef idx="1">
            <a:schemeClr val="accent1"/>
          </a:lnRef>
          <a:fillRef idx="0">
            <a:schemeClr val="accent1"/>
          </a:fillRef>
          <a:effectRef idx="0">
            <a:schemeClr val="accent1"/>
          </a:effectRef>
          <a:fontRef idx="minor">
            <a:schemeClr val="tx1"/>
          </a:fontRef>
        </p:style>
      </p:cxnSp>
      <p:sp>
        <p:nvSpPr>
          <p:cNvPr id="34" name="Sağ Ayraç 33"/>
          <p:cNvSpPr/>
          <p:nvPr/>
        </p:nvSpPr>
        <p:spPr>
          <a:xfrm rot="5400000">
            <a:off x="1772561" y="4954012"/>
            <a:ext cx="299288" cy="1197752"/>
          </a:xfrm>
          <a:prstGeom prst="rightBrace">
            <a:avLst>
              <a:gd name="adj1" fmla="val 8333"/>
              <a:gd name="adj2" fmla="val 51388"/>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35" name="Sağ Ayraç 34"/>
          <p:cNvSpPr/>
          <p:nvPr/>
        </p:nvSpPr>
        <p:spPr>
          <a:xfrm rot="10800000">
            <a:off x="470965" y="3472165"/>
            <a:ext cx="367234" cy="1187888"/>
          </a:xfrm>
          <a:prstGeom prst="rightBrace">
            <a:avLst>
              <a:gd name="adj1" fmla="val 8333"/>
              <a:gd name="adj2" fmla="val 51388"/>
            </a:avLst>
          </a:prstGeom>
          <a:ln w="28575">
            <a:solidFill>
              <a:srgbClr val="7030A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mc:AlternateContent xmlns:mc="http://schemas.openxmlformats.org/markup-compatibility/2006" xmlns:a14="http://schemas.microsoft.com/office/drawing/2010/main">
        <mc:Choice Requires="a14">
          <p:sp>
            <p:nvSpPr>
              <p:cNvPr id="36" name="Metin kutusu 35"/>
              <p:cNvSpPr txBox="1"/>
              <p:nvPr/>
            </p:nvSpPr>
            <p:spPr>
              <a:xfrm>
                <a:off x="1736735" y="5898832"/>
                <a:ext cx="3211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𝑥</m:t>
                      </m:r>
                    </m:oMath>
                  </m:oMathPara>
                </a14:m>
                <a:endParaRPr lang="tr-TR" dirty="0"/>
              </a:p>
            </p:txBody>
          </p:sp>
        </mc:Choice>
        <mc:Fallback xmlns="">
          <p:sp>
            <p:nvSpPr>
              <p:cNvPr id="36" name="Metin kutusu 35"/>
              <p:cNvSpPr txBox="1">
                <a:spLocks noRot="1" noChangeAspect="1" noMove="1" noResize="1" noEditPoints="1" noAdjustHandles="1" noChangeArrowheads="1" noChangeShapeType="1" noTextEdit="1"/>
              </p:cNvSpPr>
              <p:nvPr/>
            </p:nvSpPr>
            <p:spPr>
              <a:xfrm>
                <a:off x="1736735" y="5898832"/>
                <a:ext cx="321178" cy="276999"/>
              </a:xfrm>
              <a:prstGeom prst="rect">
                <a:avLst/>
              </a:prstGeom>
              <a:blipFill>
                <a:blip r:embed="rId2"/>
                <a:stretch>
                  <a:fillRect l="-16981" r="-9434" b="-666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39" name="Metin kutusu 38"/>
              <p:cNvSpPr txBox="1"/>
              <p:nvPr/>
            </p:nvSpPr>
            <p:spPr>
              <a:xfrm>
                <a:off x="109607" y="3610540"/>
                <a:ext cx="242054" cy="276999"/>
              </a:xfrm>
              <a:prstGeom prst="rect">
                <a:avLst/>
              </a:prstGeom>
              <a:noFill/>
            </p:spPr>
            <p:txBody>
              <a:bodyPr wrap="square" lIns="0" tIns="0" rIns="0" bIns="0" rtlCol="0">
                <a:spAutoFit/>
              </a:bodyPr>
              <a:lstStyle/>
              <a:p>
                <a14:m>
                  <m:oMath xmlns:m="http://schemas.openxmlformats.org/officeDocument/2006/math">
                    <m:r>
                      <a:rPr lang="tr-TR" i="1" smtClean="0">
                        <a:latin typeface="Cambria Math" panose="02040503050406030204" pitchFamily="18" charset="0"/>
                        <a:ea typeface="Cambria Math" panose="02040503050406030204" pitchFamily="18" charset="0"/>
                      </a:rPr>
                      <m:t>∆</m:t>
                    </m:r>
                  </m:oMath>
                </a14:m>
                <a:r>
                  <a:rPr lang="tr-TR" dirty="0" smtClean="0"/>
                  <a:t>y</a:t>
                </a:r>
                <a:endParaRPr lang="tr-TR" dirty="0"/>
              </a:p>
            </p:txBody>
          </p:sp>
        </mc:Choice>
        <mc:Fallback xmlns="">
          <p:sp>
            <p:nvSpPr>
              <p:cNvPr id="39" name="Metin kutusu 38"/>
              <p:cNvSpPr txBox="1">
                <a:spLocks noRot="1" noChangeAspect="1" noMove="1" noResize="1" noEditPoints="1" noAdjustHandles="1" noChangeArrowheads="1" noChangeShapeType="1" noTextEdit="1"/>
              </p:cNvSpPr>
              <p:nvPr/>
            </p:nvSpPr>
            <p:spPr>
              <a:xfrm>
                <a:off x="109607" y="3610540"/>
                <a:ext cx="242054" cy="276999"/>
              </a:xfrm>
              <a:prstGeom prst="rect">
                <a:avLst/>
              </a:prstGeom>
              <a:blipFill>
                <a:blip r:embed="rId3"/>
                <a:stretch>
                  <a:fillRect l="-35000" t="-28261" r="-55000" b="-5000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42" name="Metin kutusu 41"/>
              <p:cNvSpPr txBox="1"/>
              <p:nvPr/>
            </p:nvSpPr>
            <p:spPr>
              <a:xfrm>
                <a:off x="6096000" y="2732332"/>
                <a:ext cx="5050924" cy="1414170"/>
              </a:xfrm>
              <a:prstGeom prst="rect">
                <a:avLst/>
              </a:prstGeom>
              <a:noFill/>
            </p:spPr>
            <p:txBody>
              <a:bodyPr wrap="square" lIns="0" tIns="0" rIns="0" bIns="0" rtlCol="0">
                <a:spAutoFit/>
              </a:bodyPr>
              <a:lstStyle/>
              <a:p>
                <a:r>
                  <a:rPr lang="tr-TR" sz="4800" b="0" dirty="0" smtClean="0"/>
                  <a:t>P’</a:t>
                </a:r>
                <a14:m>
                  <m:oMath xmlns:m="http://schemas.openxmlformats.org/officeDocument/2006/math">
                    <m:r>
                      <a:rPr lang="tr-TR" sz="4800" b="0" i="1" smtClean="0">
                        <a:latin typeface="Cambria Math" panose="02040503050406030204" pitchFamily="18" charset="0"/>
                      </a:rPr>
                      <m:t>=</m:t>
                    </m:r>
                    <m:d>
                      <m:dPr>
                        <m:begChr m:val="["/>
                        <m:endChr m:val="]"/>
                        <m:ctrlPr>
                          <a:rPr lang="tr-TR" sz="4800" b="0" i="1" smtClean="0">
                            <a:latin typeface="Cambria Math" panose="02040503050406030204" pitchFamily="18" charset="0"/>
                          </a:rPr>
                        </m:ctrlPr>
                      </m:dPr>
                      <m:e>
                        <m:m>
                          <m:mPr>
                            <m:mcs>
                              <m:mc>
                                <m:mcPr>
                                  <m:count m:val="1"/>
                                  <m:mcJc m:val="center"/>
                                </m:mcPr>
                              </m:mc>
                            </m:mcs>
                            <m:ctrlPr>
                              <a:rPr lang="tr-TR" sz="4800" b="0" i="1" smtClean="0">
                                <a:latin typeface="Cambria Math" panose="02040503050406030204" pitchFamily="18" charset="0"/>
                              </a:rPr>
                            </m:ctrlPr>
                          </m:mPr>
                          <m:mr>
                            <m:e>
                              <m:r>
                                <m:rPr>
                                  <m:brk m:alnAt="7"/>
                                </m:rPr>
                                <a:rPr lang="tr-TR" sz="4800" b="0" i="1" smtClean="0">
                                  <a:latin typeface="Cambria Math" panose="02040503050406030204" pitchFamily="18" charset="0"/>
                                </a:rPr>
                                <m:t>𝑥</m:t>
                              </m:r>
                              <m:r>
                                <a:rPr lang="tr-TR" sz="4800" b="0" i="1" smtClean="0">
                                  <a:latin typeface="Cambria Math" panose="02040503050406030204" pitchFamily="18" charset="0"/>
                                </a:rPr>
                                <m:t>′</m:t>
                              </m:r>
                            </m:e>
                          </m:mr>
                          <m:mr>
                            <m:e>
                              <m:r>
                                <a:rPr lang="tr-TR" sz="4800" b="0" i="1" smtClean="0">
                                  <a:latin typeface="Cambria Math" panose="02040503050406030204" pitchFamily="18" charset="0"/>
                                </a:rPr>
                                <m:t>𝑦</m:t>
                              </m:r>
                              <m:r>
                                <a:rPr lang="tr-TR" sz="4800" b="0" i="1" smtClean="0">
                                  <a:latin typeface="Cambria Math" panose="02040503050406030204" pitchFamily="18" charset="0"/>
                                </a:rPr>
                                <m:t>′</m:t>
                              </m:r>
                            </m:e>
                          </m:mr>
                        </m:m>
                      </m:e>
                    </m:d>
                  </m:oMath>
                </a14:m>
                <a:r>
                  <a:rPr lang="tr-TR" sz="4800" dirty="0" smtClean="0"/>
                  <a:t>=</a:t>
                </a:r>
                <a14:m>
                  <m:oMath xmlns:m="http://schemas.openxmlformats.org/officeDocument/2006/math">
                    <m:d>
                      <m:dPr>
                        <m:begChr m:val="["/>
                        <m:endChr m:val="]"/>
                        <m:ctrlPr>
                          <a:rPr lang="tr-TR" sz="4800" b="0" i="1" smtClean="0">
                            <a:latin typeface="Cambria Math" panose="02040503050406030204" pitchFamily="18" charset="0"/>
                          </a:rPr>
                        </m:ctrlPr>
                      </m:dPr>
                      <m:e>
                        <m:m>
                          <m:mPr>
                            <m:mcs>
                              <m:mc>
                                <m:mcPr>
                                  <m:count m:val="1"/>
                                  <m:mcJc m:val="center"/>
                                </m:mcPr>
                              </m:mc>
                            </m:mcs>
                            <m:ctrlPr>
                              <a:rPr lang="tr-TR" sz="4800" b="0" i="1" smtClean="0">
                                <a:latin typeface="Cambria Math" panose="02040503050406030204" pitchFamily="18" charset="0"/>
                              </a:rPr>
                            </m:ctrlPr>
                          </m:mPr>
                          <m:mr>
                            <m:e>
                              <m:r>
                                <m:rPr>
                                  <m:brk m:alnAt="7"/>
                                </m:rPr>
                                <a:rPr lang="tr-TR" sz="4800" b="0" i="1" smtClean="0">
                                  <a:latin typeface="Cambria Math" panose="02040503050406030204" pitchFamily="18" charset="0"/>
                                </a:rPr>
                                <m:t>𝑥</m:t>
                              </m:r>
                              <m:r>
                                <a:rPr lang="tr-TR" sz="4800" b="0" i="1" smtClean="0">
                                  <a:latin typeface="Cambria Math" panose="02040503050406030204" pitchFamily="18" charset="0"/>
                                </a:rPr>
                                <m:t>+</m:t>
                              </m:r>
                              <m:r>
                                <a:rPr lang="tr-TR" sz="4800" i="1" smtClean="0">
                                  <a:latin typeface="Cambria Math" panose="02040503050406030204" pitchFamily="18" charset="0"/>
                                  <a:ea typeface="Cambria Math" panose="02040503050406030204" pitchFamily="18" charset="0"/>
                                </a:rPr>
                                <m:t>∆</m:t>
                              </m:r>
                              <m:r>
                                <a:rPr lang="tr-TR" sz="4800" b="0" i="1" smtClean="0">
                                  <a:latin typeface="Cambria Math" panose="02040503050406030204" pitchFamily="18" charset="0"/>
                                  <a:ea typeface="Cambria Math" panose="02040503050406030204" pitchFamily="18" charset="0"/>
                                </a:rPr>
                                <m:t>𝑥</m:t>
                              </m:r>
                              <m:r>
                                <m:rPr>
                                  <m:nor/>
                                </m:rPr>
                                <a:rPr lang="tr-TR" sz="4800" dirty="0"/>
                                <m:t> </m:t>
                              </m:r>
                            </m:e>
                          </m:mr>
                          <m:mr>
                            <m:e>
                              <m:r>
                                <a:rPr lang="tr-TR" sz="4800" b="0" i="1" smtClean="0">
                                  <a:latin typeface="Cambria Math" panose="02040503050406030204" pitchFamily="18" charset="0"/>
                                </a:rPr>
                                <m:t>𝑦</m:t>
                              </m:r>
                              <m:r>
                                <a:rPr lang="tr-TR" sz="4800" b="0" i="1" smtClean="0">
                                  <a:latin typeface="Cambria Math" panose="02040503050406030204" pitchFamily="18" charset="0"/>
                                </a:rPr>
                                <m:t>+∆</m:t>
                              </m:r>
                              <m:r>
                                <m:rPr>
                                  <m:nor/>
                                </m:rPr>
                                <a:rPr lang="tr-TR" sz="4800" b="0" i="0" smtClean="0">
                                  <a:latin typeface="Cambria Math" panose="02040503050406030204" pitchFamily="18" charset="0"/>
                                  <a:ea typeface="Cambria Math" panose="02040503050406030204" pitchFamily="18" charset="0"/>
                                </a:rPr>
                                <m:t>y</m:t>
                              </m:r>
                              <m:r>
                                <m:rPr>
                                  <m:nor/>
                                </m:rPr>
                                <a:rPr lang="tr-TR" sz="4800" dirty="0"/>
                                <m:t> </m:t>
                              </m:r>
                            </m:e>
                          </m:mr>
                        </m:m>
                      </m:e>
                    </m:d>
                  </m:oMath>
                </a14:m>
                <a:endParaRPr lang="tr-TR" sz="4800" dirty="0"/>
              </a:p>
            </p:txBody>
          </p:sp>
        </mc:Choice>
        <mc:Fallback xmlns="">
          <p:sp>
            <p:nvSpPr>
              <p:cNvPr id="42" name="Metin kutusu 41"/>
              <p:cNvSpPr txBox="1">
                <a:spLocks noRot="1" noChangeAspect="1" noMove="1" noResize="1" noEditPoints="1" noAdjustHandles="1" noChangeArrowheads="1" noChangeShapeType="1" noTextEdit="1"/>
              </p:cNvSpPr>
              <p:nvPr/>
            </p:nvSpPr>
            <p:spPr>
              <a:xfrm>
                <a:off x="6096000" y="2732332"/>
                <a:ext cx="5050924" cy="1414170"/>
              </a:xfrm>
              <a:prstGeom prst="rect">
                <a:avLst/>
              </a:prstGeom>
              <a:blipFill>
                <a:blip r:embed="rId4"/>
                <a:stretch>
                  <a:fillRect l="-7238" b="-3017"/>
                </a:stretch>
              </a:blipFill>
            </p:spPr>
            <p:txBody>
              <a:bodyPr/>
              <a:lstStyle/>
              <a:p>
                <a:r>
                  <a:rPr lang="tr-TR">
                    <a:noFill/>
                  </a:rPr>
                  <a:t> </a:t>
                </a:r>
              </a:p>
            </p:txBody>
          </p:sp>
        </mc:Fallback>
      </mc:AlternateContent>
      <p:sp>
        <p:nvSpPr>
          <p:cNvPr id="43" name="Metin kutusu 42"/>
          <p:cNvSpPr txBox="1"/>
          <p:nvPr/>
        </p:nvSpPr>
        <p:spPr>
          <a:xfrm>
            <a:off x="1416873" y="4103389"/>
            <a:ext cx="396262" cy="584775"/>
          </a:xfrm>
          <a:prstGeom prst="rect">
            <a:avLst/>
          </a:prstGeom>
          <a:noFill/>
        </p:spPr>
        <p:txBody>
          <a:bodyPr wrap="none" rtlCol="0">
            <a:spAutoFit/>
          </a:bodyPr>
          <a:lstStyle/>
          <a:p>
            <a:r>
              <a:rPr lang="tr-TR" sz="3200" dirty="0" smtClean="0"/>
              <a:t>P</a:t>
            </a:r>
            <a:endParaRPr lang="tr-TR" sz="3200" dirty="0"/>
          </a:p>
        </p:txBody>
      </p:sp>
      <p:sp>
        <p:nvSpPr>
          <p:cNvPr id="44" name="Metin kutusu 43"/>
          <p:cNvSpPr txBox="1"/>
          <p:nvPr/>
        </p:nvSpPr>
        <p:spPr>
          <a:xfrm>
            <a:off x="2611571" y="2895175"/>
            <a:ext cx="508473" cy="584775"/>
          </a:xfrm>
          <a:prstGeom prst="rect">
            <a:avLst/>
          </a:prstGeom>
          <a:noFill/>
        </p:spPr>
        <p:txBody>
          <a:bodyPr wrap="none" rtlCol="0">
            <a:spAutoFit/>
          </a:bodyPr>
          <a:lstStyle/>
          <a:p>
            <a:r>
              <a:rPr lang="tr-TR" sz="3200" dirty="0" smtClean="0"/>
              <a:t>P’</a:t>
            </a:r>
            <a:endParaRPr lang="tr-TR" sz="3200" dirty="0"/>
          </a:p>
        </p:txBody>
      </p:sp>
    </p:spTree>
    <p:extLst>
      <p:ext uri="{BB962C8B-B14F-4D97-AF65-F5344CB8AC3E}">
        <p14:creationId xmlns:p14="http://schemas.microsoft.com/office/powerpoint/2010/main" val="326364382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Homojen Koordinat Sistemi</a:t>
            </a:r>
          </a:p>
        </p:txBody>
      </p:sp>
      <p:sp>
        <p:nvSpPr>
          <p:cNvPr id="3" name="İçerik Yer Tutucusu 2"/>
          <p:cNvSpPr>
            <a:spLocks noGrp="1"/>
          </p:cNvSpPr>
          <p:nvPr>
            <p:ph idx="1"/>
          </p:nvPr>
        </p:nvSpPr>
        <p:spPr/>
        <p:txBody>
          <a:bodyPr>
            <a:normAutofit/>
          </a:bodyPr>
          <a:lstStyle/>
          <a:p>
            <a:pPr algn="just"/>
            <a:r>
              <a:rPr lang="tr-TR" sz="3200" dirty="0"/>
              <a:t>Homojen koordinat sistemi, bilgisayar grafiklerinde, özellikle de 3 boyutlu grafik programlamada yaygın olarak kullanılan matematiksel bir çerçevedir. Uzaydaki noktaları ve vektörleri temsil etmek için homojen koordinat olarak bilinen ek bir koordinat ekleyerek Kartezyen koordinat sistemini genişletir. Homojen koordinatlar genellikle (x, y, z, w) olarak gösterilir; burada (x, y, z) standart Kartezyen koordinatlardır ve w homojen koordinattır.</a:t>
            </a:r>
          </a:p>
        </p:txBody>
      </p:sp>
    </p:spTree>
    <p:extLst>
      <p:ext uri="{BB962C8B-B14F-4D97-AF65-F5344CB8AC3E}">
        <p14:creationId xmlns:p14="http://schemas.microsoft.com/office/powerpoint/2010/main" val="560621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Homojen Koordinat Sistemi</a:t>
            </a:r>
            <a:endParaRPr lang="tr-TR" dirty="0"/>
          </a:p>
        </p:txBody>
      </p:sp>
      <mc:AlternateContent xmlns:mc="http://schemas.openxmlformats.org/markup-compatibility/2006">
        <mc:Choice xmlns:a14="http://schemas.microsoft.com/office/drawing/2010/main" Requires="a14">
          <p:sp>
            <p:nvSpPr>
              <p:cNvPr id="3" name="İçerik Yer Tutucusu 2"/>
              <p:cNvSpPr>
                <a:spLocks noGrp="1"/>
              </p:cNvSpPr>
              <p:nvPr>
                <p:ph idx="1"/>
              </p:nvPr>
            </p:nvSpPr>
            <p:spPr/>
            <p:txBody>
              <a:bodyPr>
                <a:normAutofit/>
              </a:bodyPr>
              <a:lstStyle/>
              <a:p>
                <a:r>
                  <a:rPr lang="tr-TR" i="1" dirty="0" smtClean="0">
                    <a:latin typeface="Cambria Math" panose="02040503050406030204" pitchFamily="18" charset="0"/>
                  </a:rPr>
                  <a:t>Genel </a:t>
                </a:r>
                <a:r>
                  <a:rPr lang="tr-TR" i="1" dirty="0" smtClean="0">
                    <a:latin typeface="Cambria Math" panose="02040503050406030204" pitchFamily="18" charset="0"/>
                  </a:rPr>
                  <a:t>bir doğrusal dönüşüm biçimi şu şekilde yazılabilir:</a:t>
                </a:r>
              </a:p>
              <a:p>
                <a:pPr marL="0" indent="0">
                  <a:buNone/>
                </a:pPr>
                <a:endParaRPr lang="tr-TR"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p>
                        <m:sSupPr>
                          <m:ctrlPr>
                            <a:rPr lang="tr-TR" b="0" i="1" smtClean="0">
                              <a:latin typeface="Cambria Math" panose="02040503050406030204" pitchFamily="18" charset="0"/>
                            </a:rPr>
                          </m:ctrlPr>
                        </m:sSupPr>
                        <m:e>
                          <m:r>
                            <a:rPr lang="tr-TR" b="0" i="1" smtClean="0">
                              <a:latin typeface="Cambria Math" panose="02040503050406030204" pitchFamily="18" charset="0"/>
                            </a:rPr>
                            <m:t>𝑥</m:t>
                          </m:r>
                        </m:e>
                        <m:sup>
                          <m:r>
                            <a:rPr lang="tr-TR" b="0" i="1" smtClean="0">
                              <a:latin typeface="Cambria Math" panose="02040503050406030204" pitchFamily="18" charset="0"/>
                            </a:rPr>
                            <m:t>′</m:t>
                          </m:r>
                        </m:sup>
                      </m:sSup>
                      <m:r>
                        <a:rPr lang="tr-TR" b="0" i="1" smtClean="0">
                          <a:latin typeface="Cambria Math" panose="02040503050406030204" pitchFamily="18" charset="0"/>
                        </a:rPr>
                        <m:t>=</m:t>
                      </m:r>
                      <m:r>
                        <a:rPr lang="tr-TR" b="0" i="1" smtClean="0">
                          <a:latin typeface="Cambria Math" panose="02040503050406030204" pitchFamily="18" charset="0"/>
                        </a:rPr>
                        <m:t>𝑎𝑥</m:t>
                      </m:r>
                      <m:r>
                        <a:rPr lang="tr-TR" b="0" i="1" smtClean="0">
                          <a:latin typeface="Cambria Math" panose="02040503050406030204" pitchFamily="18" charset="0"/>
                        </a:rPr>
                        <m:t>+</m:t>
                      </m:r>
                      <m:r>
                        <a:rPr lang="tr-TR" b="0" i="1" smtClean="0">
                          <a:latin typeface="Cambria Math" panose="02040503050406030204" pitchFamily="18" charset="0"/>
                        </a:rPr>
                        <m:t>𝑏𝑦</m:t>
                      </m:r>
                      <m:r>
                        <a:rPr lang="tr-TR" b="0" i="1" smtClean="0">
                          <a:latin typeface="Cambria Math" panose="02040503050406030204" pitchFamily="18" charset="0"/>
                        </a:rPr>
                        <m:t>+</m:t>
                      </m:r>
                      <m:r>
                        <a:rPr lang="tr-TR" b="0" i="1" smtClean="0">
                          <a:latin typeface="Cambria Math" panose="02040503050406030204" pitchFamily="18" charset="0"/>
                        </a:rPr>
                        <m:t>𝑐</m:t>
                      </m:r>
                    </m:oMath>
                  </m:oMathPara>
                </a14:m>
                <a:endParaRPr lang="tr-TR" b="0" dirty="0" smtClean="0"/>
              </a:p>
              <a:p>
                <a:pPr marL="0" indent="0">
                  <a:buNone/>
                </a:pPr>
                <a14:m>
                  <m:oMath xmlns:m="http://schemas.openxmlformats.org/officeDocument/2006/math">
                    <m:sSup>
                      <m:sSupPr>
                        <m:ctrlPr>
                          <a:rPr lang="tr-TR" b="0" i="1" smtClean="0">
                            <a:latin typeface="Cambria Math" panose="02040503050406030204" pitchFamily="18" charset="0"/>
                          </a:rPr>
                        </m:ctrlPr>
                      </m:sSupPr>
                      <m:e>
                        <m:r>
                          <a:rPr lang="tr-TR" b="0" i="1" smtClean="0">
                            <a:latin typeface="Cambria Math" panose="02040503050406030204" pitchFamily="18" charset="0"/>
                          </a:rPr>
                          <m:t>𝑦</m:t>
                        </m:r>
                      </m:e>
                      <m:sup>
                        <m:r>
                          <a:rPr lang="tr-TR" b="0" i="1" smtClean="0">
                            <a:latin typeface="Cambria Math" panose="02040503050406030204" pitchFamily="18" charset="0"/>
                          </a:rPr>
                          <m:t>′</m:t>
                        </m:r>
                      </m:sup>
                    </m:sSup>
                    <m:r>
                      <a:rPr lang="tr-TR" b="0" i="1" smtClean="0">
                        <a:latin typeface="Cambria Math" panose="02040503050406030204" pitchFamily="18" charset="0"/>
                      </a:rPr>
                      <m:t>=</m:t>
                    </m:r>
                    <m:r>
                      <a:rPr lang="tr-TR" b="0" i="1" smtClean="0">
                        <a:latin typeface="Cambria Math" panose="02040503050406030204" pitchFamily="18" charset="0"/>
                      </a:rPr>
                      <m:t>𝑑𝑥</m:t>
                    </m:r>
                    <m:r>
                      <a:rPr lang="tr-TR" b="0" i="1" smtClean="0">
                        <a:latin typeface="Cambria Math" panose="02040503050406030204" pitchFamily="18" charset="0"/>
                      </a:rPr>
                      <m:t>+</m:t>
                    </m:r>
                    <m:r>
                      <a:rPr lang="tr-TR" b="0" i="1" smtClean="0">
                        <a:latin typeface="Cambria Math" panose="02040503050406030204" pitchFamily="18" charset="0"/>
                      </a:rPr>
                      <m:t>𝑒𝑦</m:t>
                    </m:r>
                    <m:r>
                      <a:rPr lang="tr-TR" b="0" i="1" smtClean="0">
                        <a:latin typeface="Cambria Math" panose="02040503050406030204" pitchFamily="18" charset="0"/>
                      </a:rPr>
                      <m:t>+</m:t>
                    </m:r>
                    <m:r>
                      <a:rPr lang="tr-TR" b="0" i="1" smtClean="0">
                        <a:latin typeface="Cambria Math" panose="02040503050406030204" pitchFamily="18" charset="0"/>
                      </a:rPr>
                      <m:t>𝑓</m:t>
                    </m:r>
                  </m:oMath>
                </a14:m>
                <a:r>
                  <a:rPr lang="tr-TR" b="0" dirty="0" smtClean="0"/>
                  <a:t>    </a:t>
                </a:r>
              </a:p>
              <a:p>
                <a:endParaRPr lang="tr-TR" sz="3600" dirty="0"/>
              </a:p>
              <a:p>
                <a:pPr marL="3657600" lvl="8" indent="0">
                  <a:buNone/>
                </a:pPr>
                <a14:m>
                  <m:oMath xmlns:m="http://schemas.openxmlformats.org/officeDocument/2006/math">
                    <m:d>
                      <m:dPr>
                        <m:begChr m:val="["/>
                        <m:endChr m:val="]"/>
                        <m:ctrlPr>
                          <a:rPr lang="tr-TR" sz="3600" i="1">
                            <a:latin typeface="Cambria Math" panose="02040503050406030204" pitchFamily="18" charset="0"/>
                          </a:rPr>
                        </m:ctrlPr>
                      </m:dPr>
                      <m:e>
                        <m:m>
                          <m:mPr>
                            <m:mcs>
                              <m:mc>
                                <m:mcPr>
                                  <m:count m:val="1"/>
                                  <m:mcJc m:val="center"/>
                                </m:mcPr>
                              </m:mc>
                            </m:mcs>
                            <m:ctrlPr>
                              <a:rPr lang="tr-TR" sz="3600" i="1">
                                <a:latin typeface="Cambria Math" panose="02040503050406030204" pitchFamily="18" charset="0"/>
                              </a:rPr>
                            </m:ctrlPr>
                          </m:mPr>
                          <m:mr>
                            <m:e>
                              <m:r>
                                <m:rPr>
                                  <m:brk m:alnAt="7"/>
                                </m:rPr>
                                <a:rPr lang="tr-TR" sz="3600" i="1">
                                  <a:latin typeface="Cambria Math" panose="02040503050406030204" pitchFamily="18" charset="0"/>
                                </a:rPr>
                                <m:t>𝑥</m:t>
                              </m:r>
                              <m:r>
                                <a:rPr lang="tr-TR" sz="3600" i="1">
                                  <a:latin typeface="Cambria Math" panose="02040503050406030204" pitchFamily="18" charset="0"/>
                                </a:rPr>
                                <m:t>′</m:t>
                              </m:r>
                            </m:e>
                          </m:mr>
                          <m:mr>
                            <m:e>
                              <m:r>
                                <a:rPr lang="tr-TR" sz="3600" i="1">
                                  <a:latin typeface="Cambria Math" panose="02040503050406030204" pitchFamily="18" charset="0"/>
                                </a:rPr>
                                <m:t>𝑦</m:t>
                              </m:r>
                              <m:r>
                                <a:rPr lang="tr-TR" sz="3600" i="1">
                                  <a:latin typeface="Cambria Math" panose="02040503050406030204" pitchFamily="18" charset="0"/>
                                </a:rPr>
                                <m:t>′</m:t>
                              </m:r>
                            </m:e>
                          </m:mr>
                          <m:mr>
                            <m:e>
                              <m:r>
                                <a:rPr lang="tr-TR" sz="3600" i="1">
                                  <a:latin typeface="Cambria Math" panose="02040503050406030204" pitchFamily="18" charset="0"/>
                                </a:rPr>
                                <m:t>1</m:t>
                              </m:r>
                            </m:e>
                          </m:mr>
                        </m:m>
                      </m:e>
                    </m:d>
                    <m:r>
                      <a:rPr lang="tr-TR" sz="3600" i="1">
                        <a:latin typeface="Cambria Math" panose="02040503050406030204" pitchFamily="18" charset="0"/>
                      </a:rPr>
                      <m:t>=</m:t>
                    </m:r>
                    <m:d>
                      <m:dPr>
                        <m:begChr m:val="["/>
                        <m:endChr m:val="]"/>
                        <m:ctrlPr>
                          <a:rPr lang="tr-TR" sz="3600" i="1">
                            <a:latin typeface="Cambria Math" panose="02040503050406030204" pitchFamily="18" charset="0"/>
                          </a:rPr>
                        </m:ctrlPr>
                      </m:dPr>
                      <m:e>
                        <m:m>
                          <m:mPr>
                            <m:mcs>
                              <m:mc>
                                <m:mcPr>
                                  <m:count m:val="3"/>
                                  <m:mcJc m:val="center"/>
                                </m:mcPr>
                              </m:mc>
                            </m:mcs>
                            <m:ctrlPr>
                              <a:rPr lang="tr-TR" sz="3600" i="1">
                                <a:latin typeface="Cambria Math" panose="02040503050406030204" pitchFamily="18" charset="0"/>
                              </a:rPr>
                            </m:ctrlPr>
                          </m:mPr>
                          <m:mr>
                            <m:e>
                              <m:r>
                                <m:rPr>
                                  <m:brk m:alnAt="7"/>
                                </m:rPr>
                                <a:rPr lang="tr-TR" sz="3600" i="1">
                                  <a:latin typeface="Cambria Math" panose="02040503050406030204" pitchFamily="18" charset="0"/>
                                </a:rPr>
                                <m:t>𝑎</m:t>
                              </m:r>
                            </m:e>
                            <m:e>
                              <m:r>
                                <a:rPr lang="tr-TR" sz="3600" i="1">
                                  <a:latin typeface="Cambria Math" panose="02040503050406030204" pitchFamily="18" charset="0"/>
                                </a:rPr>
                                <m:t>𝑏</m:t>
                              </m:r>
                            </m:e>
                            <m:e>
                              <m:r>
                                <a:rPr lang="tr-TR" sz="3600" i="1">
                                  <a:latin typeface="Cambria Math" panose="02040503050406030204" pitchFamily="18" charset="0"/>
                                </a:rPr>
                                <m:t>𝑐</m:t>
                              </m:r>
                            </m:e>
                          </m:mr>
                          <m:mr>
                            <m:e>
                              <m:r>
                                <a:rPr lang="tr-TR" sz="3600" i="1">
                                  <a:latin typeface="Cambria Math" panose="02040503050406030204" pitchFamily="18" charset="0"/>
                                </a:rPr>
                                <m:t>𝑑</m:t>
                              </m:r>
                            </m:e>
                            <m:e>
                              <m:r>
                                <a:rPr lang="tr-TR" sz="3600" i="1">
                                  <a:latin typeface="Cambria Math" panose="02040503050406030204" pitchFamily="18" charset="0"/>
                                </a:rPr>
                                <m:t>𝑒</m:t>
                              </m:r>
                            </m:e>
                            <m:e>
                              <m:r>
                                <a:rPr lang="tr-TR" sz="3600" i="1">
                                  <a:latin typeface="Cambria Math" panose="02040503050406030204" pitchFamily="18" charset="0"/>
                                </a:rPr>
                                <m:t>𝑓</m:t>
                              </m:r>
                            </m:e>
                          </m:mr>
                          <m:mr>
                            <m:e>
                              <m:r>
                                <a:rPr lang="tr-TR" sz="3600" i="1">
                                  <a:latin typeface="Cambria Math" panose="02040503050406030204" pitchFamily="18" charset="0"/>
                                </a:rPr>
                                <m:t>0</m:t>
                              </m:r>
                            </m:e>
                            <m:e>
                              <m:r>
                                <a:rPr lang="tr-TR" sz="3600" i="1">
                                  <a:latin typeface="Cambria Math" panose="02040503050406030204" pitchFamily="18" charset="0"/>
                                </a:rPr>
                                <m:t>0</m:t>
                              </m:r>
                            </m:e>
                            <m:e>
                              <m:r>
                                <a:rPr lang="tr-TR" sz="3600" i="1">
                                  <a:latin typeface="Cambria Math" panose="02040503050406030204" pitchFamily="18" charset="0"/>
                                </a:rPr>
                                <m:t>1</m:t>
                              </m:r>
                            </m:e>
                          </m:mr>
                        </m:m>
                      </m:e>
                    </m:d>
                  </m:oMath>
                </a14:m>
                <a:r>
                  <a:rPr lang="tr-TR" sz="3600" dirty="0"/>
                  <a:t>*</a:t>
                </a:r>
                <a14:m>
                  <m:oMath xmlns:m="http://schemas.openxmlformats.org/officeDocument/2006/math">
                    <m:d>
                      <m:dPr>
                        <m:begChr m:val="["/>
                        <m:endChr m:val="]"/>
                        <m:ctrlPr>
                          <a:rPr lang="tr-TR" sz="3600" i="1">
                            <a:latin typeface="Cambria Math" panose="02040503050406030204" pitchFamily="18" charset="0"/>
                          </a:rPr>
                        </m:ctrlPr>
                      </m:dPr>
                      <m:e>
                        <m:m>
                          <m:mPr>
                            <m:mcs>
                              <m:mc>
                                <m:mcPr>
                                  <m:count m:val="1"/>
                                  <m:mcJc m:val="center"/>
                                </m:mcPr>
                              </m:mc>
                            </m:mcs>
                            <m:ctrlPr>
                              <a:rPr lang="tr-TR" sz="3600" i="1">
                                <a:latin typeface="Cambria Math" panose="02040503050406030204" pitchFamily="18" charset="0"/>
                              </a:rPr>
                            </m:ctrlPr>
                          </m:mPr>
                          <m:mr>
                            <m:e>
                              <m:r>
                                <m:rPr>
                                  <m:brk m:alnAt="7"/>
                                </m:rPr>
                                <a:rPr lang="tr-TR" sz="3600" i="1">
                                  <a:latin typeface="Cambria Math" panose="02040503050406030204" pitchFamily="18" charset="0"/>
                                </a:rPr>
                                <m:t>𝑥</m:t>
                              </m:r>
                            </m:e>
                          </m:mr>
                          <m:mr>
                            <m:e>
                              <m:r>
                                <a:rPr lang="tr-TR" sz="3600" i="1">
                                  <a:latin typeface="Cambria Math" panose="02040503050406030204" pitchFamily="18" charset="0"/>
                                </a:rPr>
                                <m:t>𝑦</m:t>
                              </m:r>
                            </m:e>
                          </m:mr>
                          <m:mr>
                            <m:e>
                              <m:r>
                                <a:rPr lang="tr-TR" sz="3600" i="1">
                                  <a:latin typeface="Cambria Math" panose="02040503050406030204" pitchFamily="18" charset="0"/>
                                </a:rPr>
                                <m:t>1</m:t>
                              </m:r>
                            </m:e>
                          </m:mr>
                        </m:m>
                      </m:e>
                    </m:d>
                  </m:oMath>
                </a14:m>
                <a:endParaRPr lang="tr-TR" sz="3600" b="0" dirty="0" smtClean="0"/>
              </a:p>
              <a:p>
                <a:pPr marL="0" indent="0">
                  <a:buNone/>
                </a:pPr>
                <a:endParaRPr lang="tr-TR" b="0" dirty="0" smtClean="0"/>
              </a:p>
              <a:p>
                <a:endParaRPr lang="tr-TR" dirty="0"/>
              </a:p>
            </p:txBody>
          </p:sp>
        </mc:Choice>
        <mc:Fallback>
          <p:sp>
            <p:nvSpPr>
              <p:cNvPr id="3" name="İçerik Yer Tutucusu 2"/>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tr-TR">
                    <a:noFill/>
                  </a:rPr>
                  <a:t> </a:t>
                </a:r>
              </a:p>
            </p:txBody>
          </p:sp>
        </mc:Fallback>
      </mc:AlternateContent>
      <p:sp>
        <p:nvSpPr>
          <p:cNvPr id="4" name="Sağ Ayraç 3"/>
          <p:cNvSpPr/>
          <p:nvPr/>
        </p:nvSpPr>
        <p:spPr>
          <a:xfrm>
            <a:off x="3920836" y="2826327"/>
            <a:ext cx="180109" cy="886691"/>
          </a:xfrm>
          <a:prstGeom prst="rightBrace">
            <a:avLst/>
          </a:prstGeom>
          <a:ln w="38100">
            <a:prstDash val="sysDash"/>
          </a:ln>
        </p:spPr>
        <p:style>
          <a:lnRef idx="1">
            <a:schemeClr val="dk1"/>
          </a:lnRef>
          <a:fillRef idx="0">
            <a:schemeClr val="dk1"/>
          </a:fillRef>
          <a:effectRef idx="0">
            <a:schemeClr val="dk1"/>
          </a:effectRef>
          <a:fontRef idx="minor">
            <a:schemeClr val="tx1"/>
          </a:fontRef>
        </p:style>
        <p:txBody>
          <a:bodyPr rtlCol="0" anchor="ctr"/>
          <a:lstStyle/>
          <a:p>
            <a:pPr algn="ctr"/>
            <a:endParaRPr lang="tr-TR"/>
          </a:p>
        </p:txBody>
      </p:sp>
      <p:sp>
        <p:nvSpPr>
          <p:cNvPr id="12" name="Sol Yukarı Ok 11"/>
          <p:cNvSpPr/>
          <p:nvPr/>
        </p:nvSpPr>
        <p:spPr>
          <a:xfrm rot="10800000" flipH="1">
            <a:off x="5133109" y="3089563"/>
            <a:ext cx="1510146" cy="911731"/>
          </a:xfrm>
          <a:prstGeom prst="leftUpArrow">
            <a:avLst>
              <a:gd name="adj1" fmla="val 8266"/>
              <a:gd name="adj2" fmla="val 25000"/>
              <a:gd name="adj3" fmla="val 25000"/>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tr-TR"/>
          </a:p>
        </p:txBody>
      </p:sp>
      <p:sp>
        <p:nvSpPr>
          <p:cNvPr id="13" name="Dikdörtgen 12"/>
          <p:cNvSpPr/>
          <p:nvPr/>
        </p:nvSpPr>
        <p:spPr>
          <a:xfrm>
            <a:off x="5888181" y="4143808"/>
            <a:ext cx="2050473" cy="568036"/>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4" name="Dikdörtgen 13"/>
          <p:cNvSpPr/>
          <p:nvPr/>
        </p:nvSpPr>
        <p:spPr>
          <a:xfrm rot="5400000">
            <a:off x="7536873" y="4742513"/>
            <a:ext cx="2050473" cy="568036"/>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289943352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3"/>
          <p:cNvSpPr>
            <a:spLocks noGrp="1"/>
          </p:cNvSpPr>
          <p:nvPr>
            <p:ph type="title"/>
          </p:nvPr>
        </p:nvSpPr>
        <p:spPr/>
        <p:txBody>
          <a:bodyPr/>
          <a:lstStyle/>
          <a:p>
            <a:r>
              <a:rPr lang="tr-TR" dirty="0" smtClean="0"/>
              <a:t>Matris Çarpımı</a:t>
            </a:r>
            <a:endParaRPr lang="tr-TR" dirty="0"/>
          </a:p>
        </p:txBody>
      </p:sp>
      <mc:AlternateContent xmlns:mc="http://schemas.openxmlformats.org/markup-compatibility/2006" xmlns:a14="http://schemas.microsoft.com/office/drawing/2010/main">
        <mc:Choice Requires="a14">
          <p:sp>
            <p:nvSpPr>
              <p:cNvPr id="5" name="İçerik Yer Tutucusu 4"/>
              <p:cNvSpPr>
                <a:spLocks noGrp="1"/>
              </p:cNvSpPr>
              <p:nvPr>
                <p:ph sz="half" idx="1"/>
              </p:nvPr>
            </p:nvSpPr>
            <p:spPr>
              <a:xfrm>
                <a:off x="5566062" y="3845215"/>
                <a:ext cx="5181600" cy="1208520"/>
              </a:xfrm>
            </p:spPr>
            <p:txBody>
              <a:bodyPr>
                <a:normAutofit fontScale="92500"/>
              </a:bodyPr>
              <a:lstStyle/>
              <a:p>
                <a:pPr marL="0" indent="0">
                  <a:buNone/>
                </a:pPr>
                <a14:m>
                  <m:oMathPara xmlns:m="http://schemas.openxmlformats.org/officeDocument/2006/math">
                    <m:oMathParaPr>
                      <m:jc m:val="centerGroup"/>
                    </m:oMathParaPr>
                    <m:oMath xmlns:m="http://schemas.openxmlformats.org/officeDocument/2006/math">
                      <m:d>
                        <m:dPr>
                          <m:begChr m:val="["/>
                          <m:endChr m:val="]"/>
                          <m:ctrlPr>
                            <a:rPr lang="tr-TR" i="1">
                              <a:latin typeface="Cambria Math" panose="02040503050406030204" pitchFamily="18" charset="0"/>
                            </a:rPr>
                          </m:ctrlPr>
                        </m:dPr>
                        <m:e>
                          <m:sSup>
                            <m:sSupPr>
                              <m:ctrlPr>
                                <a:rPr lang="tr-TR" i="1">
                                  <a:latin typeface="Cambria Math" panose="02040503050406030204" pitchFamily="18" charset="0"/>
                                </a:rPr>
                              </m:ctrlPr>
                            </m:sSupPr>
                            <m:e>
                              <m:r>
                                <a:rPr lang="tr-TR" i="1">
                                  <a:latin typeface="Cambria Math" panose="02040503050406030204" pitchFamily="18" charset="0"/>
                                </a:rPr>
                                <m:t>𝑥</m:t>
                              </m:r>
                            </m:e>
                            <m:sup>
                              <m:r>
                                <a:rPr lang="tr-TR" i="1">
                                  <a:latin typeface="Cambria Math" panose="02040503050406030204" pitchFamily="18" charset="0"/>
                                </a:rPr>
                                <m:t>′</m:t>
                              </m:r>
                            </m:sup>
                          </m:sSup>
                          <m:r>
                            <a:rPr lang="tr-TR" i="1">
                              <a:latin typeface="Cambria Math" panose="02040503050406030204" pitchFamily="18" charset="0"/>
                            </a:rPr>
                            <m:t> </m:t>
                          </m:r>
                          <m:sSup>
                            <m:sSupPr>
                              <m:ctrlPr>
                                <a:rPr lang="tr-TR" i="1">
                                  <a:latin typeface="Cambria Math" panose="02040503050406030204" pitchFamily="18" charset="0"/>
                                </a:rPr>
                              </m:ctrlPr>
                            </m:sSupPr>
                            <m:e>
                              <m:r>
                                <a:rPr lang="tr-TR" i="1">
                                  <a:latin typeface="Cambria Math" panose="02040503050406030204" pitchFamily="18" charset="0"/>
                                </a:rPr>
                                <m:t>𝑦</m:t>
                              </m:r>
                            </m:e>
                            <m:sup>
                              <m:r>
                                <a:rPr lang="tr-TR" i="1">
                                  <a:latin typeface="Cambria Math" panose="02040503050406030204" pitchFamily="18" charset="0"/>
                                </a:rPr>
                                <m:t>′</m:t>
                              </m:r>
                            </m:sup>
                          </m:sSup>
                          <m:r>
                            <a:rPr lang="tr-TR" i="1">
                              <a:latin typeface="Cambria Math" panose="02040503050406030204" pitchFamily="18" charset="0"/>
                            </a:rPr>
                            <m:t> </m:t>
                          </m:r>
                          <m:r>
                            <a:rPr lang="tr-TR" i="1">
                              <a:latin typeface="Cambria Math" panose="02040503050406030204" pitchFamily="18" charset="0"/>
                            </a:rPr>
                            <m:t>𝑧</m:t>
                          </m:r>
                          <m:r>
                            <a:rPr lang="tr-TR" i="1">
                              <a:latin typeface="Cambria Math" panose="02040503050406030204" pitchFamily="18" charset="0"/>
                            </a:rPr>
                            <m:t>′</m:t>
                          </m:r>
                        </m:e>
                      </m:d>
                      <m:r>
                        <a:rPr lang="tr-TR" i="1">
                          <a:latin typeface="Cambria Math" panose="02040503050406030204" pitchFamily="18" charset="0"/>
                        </a:rPr>
                        <m:t>=</m:t>
                      </m:r>
                      <m:d>
                        <m:dPr>
                          <m:begChr m:val="["/>
                          <m:endChr m:val="]"/>
                          <m:ctrlPr>
                            <a:rPr lang="tr-TR" b="0" i="1" smtClean="0">
                              <a:latin typeface="Cambria Math" panose="02040503050406030204" pitchFamily="18" charset="0"/>
                            </a:rPr>
                          </m:ctrlPr>
                        </m:dPr>
                        <m:e>
                          <m:r>
                            <a:rPr lang="tr-TR" b="0" i="1" smtClean="0">
                              <a:latin typeface="Cambria Math" panose="02040503050406030204" pitchFamily="18" charset="0"/>
                            </a:rPr>
                            <m:t>𝑥</m:t>
                          </m:r>
                          <m:r>
                            <a:rPr lang="tr-TR" b="0" i="1" smtClean="0">
                              <a:latin typeface="Cambria Math" panose="02040503050406030204" pitchFamily="18" charset="0"/>
                            </a:rPr>
                            <m:t> </m:t>
                          </m:r>
                          <m:r>
                            <a:rPr lang="tr-TR" b="0" i="1" smtClean="0">
                              <a:latin typeface="Cambria Math" panose="02040503050406030204" pitchFamily="18" charset="0"/>
                            </a:rPr>
                            <m:t>𝑦</m:t>
                          </m:r>
                          <m:r>
                            <a:rPr lang="tr-TR" b="0" i="1" smtClean="0">
                              <a:latin typeface="Cambria Math" panose="02040503050406030204" pitchFamily="18" charset="0"/>
                            </a:rPr>
                            <m:t> 1</m:t>
                          </m:r>
                        </m:e>
                      </m:d>
                      <m:r>
                        <a:rPr lang="tr-TR" b="0" i="1" smtClean="0">
                          <a:latin typeface="Cambria Math" panose="02040503050406030204" pitchFamily="18" charset="0"/>
                        </a:rPr>
                        <m:t>∗</m:t>
                      </m:r>
                      <m:d>
                        <m:dPr>
                          <m:begChr m:val="["/>
                          <m:endChr m:val="]"/>
                          <m:ctrlPr>
                            <a:rPr lang="tr-TR" i="1">
                              <a:latin typeface="Cambria Math" panose="02040503050406030204" pitchFamily="18" charset="0"/>
                            </a:rPr>
                          </m:ctrlPr>
                        </m:dPr>
                        <m:e>
                          <m:m>
                            <m:mPr>
                              <m:mcs>
                                <m:mc>
                                  <m:mcPr>
                                    <m:count m:val="3"/>
                                    <m:mcJc m:val="center"/>
                                  </m:mcPr>
                                </m:mc>
                              </m:mcs>
                              <m:ctrlPr>
                                <a:rPr lang="tr-TR" i="1">
                                  <a:latin typeface="Cambria Math" panose="02040503050406030204" pitchFamily="18" charset="0"/>
                                </a:rPr>
                              </m:ctrlPr>
                            </m:mPr>
                            <m:mr>
                              <m:e>
                                <m:r>
                                  <m:rPr>
                                    <m:brk m:alnAt="7"/>
                                  </m:rPr>
                                  <a:rPr lang="tr-TR" i="1">
                                    <a:latin typeface="Cambria Math" panose="02040503050406030204" pitchFamily="18" charset="0"/>
                                  </a:rPr>
                                  <m:t>𝑎</m:t>
                                </m:r>
                              </m:e>
                              <m:e>
                                <m:r>
                                  <a:rPr lang="tr-TR" i="1">
                                    <a:latin typeface="Cambria Math" panose="02040503050406030204" pitchFamily="18" charset="0"/>
                                  </a:rPr>
                                  <m:t>𝑏</m:t>
                                </m:r>
                              </m:e>
                              <m:e>
                                <m:r>
                                  <a:rPr lang="tr-TR" i="1">
                                    <a:latin typeface="Cambria Math" panose="02040503050406030204" pitchFamily="18" charset="0"/>
                                  </a:rPr>
                                  <m:t>𝑐</m:t>
                                </m:r>
                              </m:e>
                            </m:mr>
                            <m:mr>
                              <m:e>
                                <m:r>
                                  <a:rPr lang="tr-TR" i="1">
                                    <a:latin typeface="Cambria Math" panose="02040503050406030204" pitchFamily="18" charset="0"/>
                                  </a:rPr>
                                  <m:t>𝑑</m:t>
                                </m:r>
                              </m:e>
                              <m:e>
                                <m:r>
                                  <a:rPr lang="tr-TR" i="1">
                                    <a:latin typeface="Cambria Math" panose="02040503050406030204" pitchFamily="18" charset="0"/>
                                  </a:rPr>
                                  <m:t>𝑒</m:t>
                                </m:r>
                              </m:e>
                              <m:e>
                                <m:r>
                                  <a:rPr lang="tr-TR" i="1">
                                    <a:latin typeface="Cambria Math" panose="02040503050406030204" pitchFamily="18" charset="0"/>
                                  </a:rPr>
                                  <m:t>𝑓</m:t>
                                </m:r>
                              </m:e>
                            </m:mr>
                            <m:mr>
                              <m:e>
                                <m:r>
                                  <a:rPr lang="tr-TR" i="1">
                                    <a:latin typeface="Cambria Math" panose="02040503050406030204" pitchFamily="18" charset="0"/>
                                  </a:rPr>
                                  <m:t>0</m:t>
                                </m:r>
                              </m:e>
                              <m:e>
                                <m:r>
                                  <a:rPr lang="tr-TR" i="1">
                                    <a:latin typeface="Cambria Math" panose="02040503050406030204" pitchFamily="18" charset="0"/>
                                  </a:rPr>
                                  <m:t>0</m:t>
                                </m:r>
                              </m:e>
                              <m:e>
                                <m:r>
                                  <a:rPr lang="tr-TR" i="1">
                                    <a:latin typeface="Cambria Math" panose="02040503050406030204" pitchFamily="18" charset="0"/>
                                  </a:rPr>
                                  <m:t>1</m:t>
                                </m:r>
                              </m:e>
                            </m:mr>
                          </m:m>
                        </m:e>
                      </m:d>
                    </m:oMath>
                  </m:oMathPara>
                </a14:m>
                <a:endParaRPr lang="tr-TR" dirty="0"/>
              </a:p>
            </p:txBody>
          </p:sp>
        </mc:Choice>
        <mc:Fallback xmlns="">
          <p:sp>
            <p:nvSpPr>
              <p:cNvPr id="5" name="İçerik Yer Tutucusu 4"/>
              <p:cNvSpPr>
                <a:spLocks noGrp="1" noRot="1" noChangeAspect="1" noMove="1" noResize="1" noEditPoints="1" noAdjustHandles="1" noChangeArrowheads="1" noChangeShapeType="1" noTextEdit="1"/>
              </p:cNvSpPr>
              <p:nvPr>
                <p:ph sz="half" idx="1"/>
              </p:nvPr>
            </p:nvSpPr>
            <p:spPr>
              <a:xfrm>
                <a:off x="5566062" y="3845215"/>
                <a:ext cx="5181600" cy="1208520"/>
              </a:xfrm>
              <a:blipFill>
                <a:blip r:embed="rId2"/>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 name="İçerik Yer Tutucusu 5"/>
              <p:cNvSpPr>
                <a:spLocks noGrp="1"/>
              </p:cNvSpPr>
              <p:nvPr>
                <p:ph sz="half" idx="2"/>
              </p:nvPr>
            </p:nvSpPr>
            <p:spPr>
              <a:xfrm>
                <a:off x="838199" y="3845215"/>
                <a:ext cx="3498274" cy="1208520"/>
              </a:xfrm>
            </p:spPr>
            <p:txBody>
              <a:bodyPr>
                <a:normAutofit fontScale="92500"/>
              </a:bodyPr>
              <a:lstStyle/>
              <a:p>
                <a:pPr marL="0" indent="0">
                  <a:buNone/>
                </a:pPr>
                <a14:m>
                  <m:oMath xmlns:m="http://schemas.openxmlformats.org/officeDocument/2006/math">
                    <m:d>
                      <m:dPr>
                        <m:begChr m:val="["/>
                        <m:endChr m:val="]"/>
                        <m:ctrlPr>
                          <a:rPr lang="tr-TR" i="1">
                            <a:latin typeface="Cambria Math" panose="02040503050406030204" pitchFamily="18" charset="0"/>
                          </a:rPr>
                        </m:ctrlPr>
                      </m:dPr>
                      <m:e>
                        <m:m>
                          <m:mPr>
                            <m:mcs>
                              <m:mc>
                                <m:mcPr>
                                  <m:count m:val="1"/>
                                  <m:mcJc m:val="center"/>
                                </m:mcPr>
                              </m:mc>
                            </m:mcs>
                            <m:ctrlPr>
                              <a:rPr lang="tr-TR" i="1">
                                <a:latin typeface="Cambria Math" panose="02040503050406030204" pitchFamily="18" charset="0"/>
                              </a:rPr>
                            </m:ctrlPr>
                          </m:mPr>
                          <m:mr>
                            <m:e>
                              <m:r>
                                <m:rPr>
                                  <m:brk m:alnAt="7"/>
                                </m:rPr>
                                <a:rPr lang="tr-TR" i="1">
                                  <a:latin typeface="Cambria Math" panose="02040503050406030204" pitchFamily="18" charset="0"/>
                                </a:rPr>
                                <m:t>𝑥</m:t>
                              </m:r>
                              <m:r>
                                <a:rPr lang="tr-TR" i="1">
                                  <a:latin typeface="Cambria Math" panose="02040503050406030204" pitchFamily="18" charset="0"/>
                                </a:rPr>
                                <m:t>′</m:t>
                              </m:r>
                            </m:e>
                          </m:mr>
                          <m:mr>
                            <m:e>
                              <m:r>
                                <a:rPr lang="tr-TR" i="1">
                                  <a:latin typeface="Cambria Math" panose="02040503050406030204" pitchFamily="18" charset="0"/>
                                </a:rPr>
                                <m:t>𝑦</m:t>
                              </m:r>
                              <m:r>
                                <a:rPr lang="tr-TR" i="1">
                                  <a:latin typeface="Cambria Math" panose="02040503050406030204" pitchFamily="18" charset="0"/>
                                </a:rPr>
                                <m:t>′</m:t>
                              </m:r>
                            </m:e>
                          </m:mr>
                          <m:mr>
                            <m:e>
                              <m:r>
                                <a:rPr lang="tr-TR" i="1">
                                  <a:latin typeface="Cambria Math" panose="02040503050406030204" pitchFamily="18" charset="0"/>
                                </a:rPr>
                                <m:t>1</m:t>
                              </m:r>
                            </m:e>
                          </m:mr>
                        </m:m>
                      </m:e>
                    </m:d>
                    <m:r>
                      <a:rPr lang="tr-TR" i="1">
                        <a:latin typeface="Cambria Math" panose="02040503050406030204" pitchFamily="18" charset="0"/>
                      </a:rPr>
                      <m:t>=</m:t>
                    </m:r>
                    <m:d>
                      <m:dPr>
                        <m:begChr m:val="["/>
                        <m:endChr m:val="]"/>
                        <m:ctrlPr>
                          <a:rPr lang="tr-TR" i="1">
                            <a:latin typeface="Cambria Math" panose="02040503050406030204" pitchFamily="18" charset="0"/>
                          </a:rPr>
                        </m:ctrlPr>
                      </m:dPr>
                      <m:e>
                        <m:m>
                          <m:mPr>
                            <m:mcs>
                              <m:mc>
                                <m:mcPr>
                                  <m:count m:val="3"/>
                                  <m:mcJc m:val="center"/>
                                </m:mcPr>
                              </m:mc>
                            </m:mcs>
                            <m:ctrlPr>
                              <a:rPr lang="tr-TR" i="1">
                                <a:latin typeface="Cambria Math" panose="02040503050406030204" pitchFamily="18" charset="0"/>
                              </a:rPr>
                            </m:ctrlPr>
                          </m:mPr>
                          <m:mr>
                            <m:e>
                              <m:r>
                                <m:rPr>
                                  <m:brk m:alnAt="7"/>
                                </m:rPr>
                                <a:rPr lang="tr-TR" i="1">
                                  <a:latin typeface="Cambria Math" panose="02040503050406030204" pitchFamily="18" charset="0"/>
                                </a:rPr>
                                <m:t>𝑎</m:t>
                              </m:r>
                            </m:e>
                            <m:e>
                              <m:r>
                                <a:rPr lang="tr-TR" i="1">
                                  <a:latin typeface="Cambria Math" panose="02040503050406030204" pitchFamily="18" charset="0"/>
                                </a:rPr>
                                <m:t>𝑏</m:t>
                              </m:r>
                            </m:e>
                            <m:e>
                              <m:r>
                                <a:rPr lang="tr-TR" i="1">
                                  <a:latin typeface="Cambria Math" panose="02040503050406030204" pitchFamily="18" charset="0"/>
                                </a:rPr>
                                <m:t>𝑐</m:t>
                              </m:r>
                            </m:e>
                          </m:mr>
                          <m:mr>
                            <m:e>
                              <m:r>
                                <a:rPr lang="tr-TR" i="1">
                                  <a:latin typeface="Cambria Math" panose="02040503050406030204" pitchFamily="18" charset="0"/>
                                </a:rPr>
                                <m:t>𝑑</m:t>
                              </m:r>
                            </m:e>
                            <m:e>
                              <m:r>
                                <a:rPr lang="tr-TR" i="1">
                                  <a:latin typeface="Cambria Math" panose="02040503050406030204" pitchFamily="18" charset="0"/>
                                </a:rPr>
                                <m:t>𝑒</m:t>
                              </m:r>
                            </m:e>
                            <m:e>
                              <m:r>
                                <a:rPr lang="tr-TR" i="1">
                                  <a:latin typeface="Cambria Math" panose="02040503050406030204" pitchFamily="18" charset="0"/>
                                </a:rPr>
                                <m:t>𝑓</m:t>
                              </m:r>
                            </m:e>
                          </m:mr>
                          <m:mr>
                            <m:e>
                              <m:r>
                                <a:rPr lang="tr-TR" i="1">
                                  <a:latin typeface="Cambria Math" panose="02040503050406030204" pitchFamily="18" charset="0"/>
                                </a:rPr>
                                <m:t>0</m:t>
                              </m:r>
                            </m:e>
                            <m:e>
                              <m:r>
                                <a:rPr lang="tr-TR" i="1">
                                  <a:latin typeface="Cambria Math" panose="02040503050406030204" pitchFamily="18" charset="0"/>
                                </a:rPr>
                                <m:t>0</m:t>
                              </m:r>
                            </m:e>
                            <m:e>
                              <m:r>
                                <a:rPr lang="tr-TR" i="1">
                                  <a:latin typeface="Cambria Math" panose="02040503050406030204" pitchFamily="18" charset="0"/>
                                </a:rPr>
                                <m:t>1</m:t>
                              </m:r>
                            </m:e>
                          </m:mr>
                        </m:m>
                      </m:e>
                    </m:d>
                  </m:oMath>
                </a14:m>
                <a:r>
                  <a:rPr lang="tr-TR" dirty="0"/>
                  <a:t>*</a:t>
                </a:r>
                <a14:m>
                  <m:oMath xmlns:m="http://schemas.openxmlformats.org/officeDocument/2006/math">
                    <m:d>
                      <m:dPr>
                        <m:begChr m:val="["/>
                        <m:endChr m:val="]"/>
                        <m:ctrlPr>
                          <a:rPr lang="tr-TR" i="1">
                            <a:latin typeface="Cambria Math" panose="02040503050406030204" pitchFamily="18" charset="0"/>
                          </a:rPr>
                        </m:ctrlPr>
                      </m:dPr>
                      <m:e>
                        <m:m>
                          <m:mPr>
                            <m:mcs>
                              <m:mc>
                                <m:mcPr>
                                  <m:count m:val="1"/>
                                  <m:mcJc m:val="center"/>
                                </m:mcPr>
                              </m:mc>
                            </m:mcs>
                            <m:ctrlPr>
                              <a:rPr lang="tr-TR" i="1">
                                <a:latin typeface="Cambria Math" panose="02040503050406030204" pitchFamily="18" charset="0"/>
                              </a:rPr>
                            </m:ctrlPr>
                          </m:mPr>
                          <m:mr>
                            <m:e>
                              <m:r>
                                <m:rPr>
                                  <m:brk m:alnAt="7"/>
                                </m:rPr>
                                <a:rPr lang="tr-TR" i="1">
                                  <a:latin typeface="Cambria Math" panose="02040503050406030204" pitchFamily="18" charset="0"/>
                                </a:rPr>
                                <m:t>𝑥</m:t>
                              </m:r>
                            </m:e>
                          </m:mr>
                          <m:mr>
                            <m:e>
                              <m:r>
                                <a:rPr lang="tr-TR" i="1">
                                  <a:latin typeface="Cambria Math" panose="02040503050406030204" pitchFamily="18" charset="0"/>
                                </a:rPr>
                                <m:t>𝑦</m:t>
                              </m:r>
                            </m:e>
                          </m:mr>
                          <m:mr>
                            <m:e>
                              <m:r>
                                <a:rPr lang="tr-TR" i="1">
                                  <a:latin typeface="Cambria Math" panose="02040503050406030204" pitchFamily="18" charset="0"/>
                                </a:rPr>
                                <m:t>1</m:t>
                              </m:r>
                            </m:e>
                          </m:mr>
                        </m:m>
                      </m:e>
                    </m:d>
                  </m:oMath>
                </a14:m>
                <a:endParaRPr lang="tr-TR" dirty="0"/>
              </a:p>
            </p:txBody>
          </p:sp>
        </mc:Choice>
        <mc:Fallback xmlns="">
          <p:sp>
            <p:nvSpPr>
              <p:cNvPr id="6" name="İçerik Yer Tutucusu 5"/>
              <p:cNvSpPr>
                <a:spLocks noGrp="1" noRot="1" noChangeAspect="1" noMove="1" noResize="1" noEditPoints="1" noAdjustHandles="1" noChangeArrowheads="1" noChangeShapeType="1" noTextEdit="1"/>
              </p:cNvSpPr>
              <p:nvPr>
                <p:ph sz="half" idx="2"/>
              </p:nvPr>
            </p:nvSpPr>
            <p:spPr>
              <a:xfrm>
                <a:off x="838199" y="3845215"/>
                <a:ext cx="3498274" cy="1208520"/>
              </a:xfrm>
              <a:blipFill>
                <a:blip r:embed="rId3"/>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İçerik Yer Tutucusu 5"/>
              <p:cNvSpPr txBox="1">
                <a:spLocks/>
              </p:cNvSpPr>
              <p:nvPr/>
            </p:nvSpPr>
            <p:spPr>
              <a:xfrm>
                <a:off x="838199" y="1690687"/>
                <a:ext cx="9455727" cy="1939203"/>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tr-TR" dirty="0" smtClean="0"/>
                  <a:t>A ve B iki matris olduğu varsayılsın. Matris çarpımında matrislerin yer değiştirme özelliği yoktur. </a:t>
                </a:r>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tr-TR" b="0" i="1" smtClean="0">
                          <a:latin typeface="Cambria Math" panose="02040503050406030204" pitchFamily="18" charset="0"/>
                          <a:ea typeface="Cambria Math" panose="02040503050406030204" pitchFamily="18" charset="0"/>
                        </a:rPr>
                        <m:t>𝐴𝑥𝐵</m:t>
                      </m:r>
                      <m:r>
                        <a:rPr lang="tr-TR"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𝐵𝑥𝐴</m:t>
                      </m:r>
                    </m:oMath>
                  </m:oMathPara>
                </a14:m>
                <a:endParaRPr lang="tr-TR" dirty="0" smtClean="0"/>
              </a:p>
              <a:p>
                <a:pPr marL="0" indent="0">
                  <a:buFont typeface="Arial" panose="020B0604020202020204" pitchFamily="34" charset="0"/>
                  <a:buNone/>
                </a:pPr>
                <a:r>
                  <a:rPr lang="tr-TR" dirty="0" smtClean="0"/>
                  <a:t>Bir önceki homojen koordinat sistemindeki lineer dönüşüm katsayılar matrisini aşağıdaki gibi düzenler isek eşitlik sağlanır. Katsayıların yerleşime dikkat ediniz.</a:t>
                </a:r>
                <a:endParaRPr lang="tr-TR" dirty="0"/>
              </a:p>
            </p:txBody>
          </p:sp>
        </mc:Choice>
        <mc:Fallback xmlns="">
          <p:sp>
            <p:nvSpPr>
              <p:cNvPr id="7" name="İçerik Yer Tutucusu 5"/>
              <p:cNvSpPr txBox="1">
                <a:spLocks noRot="1" noChangeAspect="1" noMove="1" noResize="1" noEditPoints="1" noAdjustHandles="1" noChangeArrowheads="1" noChangeShapeType="1" noTextEdit="1"/>
              </p:cNvSpPr>
              <p:nvPr/>
            </p:nvSpPr>
            <p:spPr>
              <a:xfrm>
                <a:off x="838199" y="1690687"/>
                <a:ext cx="9455727" cy="1939203"/>
              </a:xfrm>
              <a:prstGeom prst="rect">
                <a:avLst/>
              </a:prstGeom>
              <a:blipFill>
                <a:blip r:embed="rId4"/>
                <a:stretch>
                  <a:fillRect l="-966" t="-7233" b="-2201"/>
                </a:stretch>
              </a:blipFill>
            </p:spPr>
            <p:txBody>
              <a:bodyPr/>
              <a:lstStyle/>
              <a:p>
                <a:r>
                  <a:rPr lang="tr-TR">
                    <a:noFill/>
                  </a:rPr>
                  <a:t> </a:t>
                </a:r>
              </a:p>
            </p:txBody>
          </p:sp>
        </mc:Fallback>
      </mc:AlternateContent>
      <p:sp>
        <p:nvSpPr>
          <p:cNvPr id="8" name="Dikdörtgen 7"/>
          <p:cNvSpPr/>
          <p:nvPr/>
        </p:nvSpPr>
        <p:spPr>
          <a:xfrm>
            <a:off x="7481454" y="4143808"/>
            <a:ext cx="1025237" cy="442047"/>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Dikdörtgen 8"/>
          <p:cNvSpPr/>
          <p:nvPr/>
        </p:nvSpPr>
        <p:spPr>
          <a:xfrm>
            <a:off x="1814081" y="3748232"/>
            <a:ext cx="1589809" cy="420110"/>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Dikdörtgen 9"/>
          <p:cNvSpPr/>
          <p:nvPr/>
        </p:nvSpPr>
        <p:spPr>
          <a:xfrm rot="5400000">
            <a:off x="3068638" y="4057796"/>
            <a:ext cx="1423844" cy="568036"/>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 name="Dikdörtgen 10"/>
          <p:cNvSpPr/>
          <p:nvPr/>
        </p:nvSpPr>
        <p:spPr>
          <a:xfrm rot="5400000">
            <a:off x="8326003" y="4172817"/>
            <a:ext cx="1405662" cy="507423"/>
          </a:xfrm>
          <a:prstGeom prst="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1867106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Öteleme</a:t>
            </a:r>
            <a:endParaRPr lang="tr-TR" dirty="0"/>
          </a:p>
        </p:txBody>
      </p:sp>
      <mc:AlternateContent xmlns:mc="http://schemas.openxmlformats.org/markup-compatibility/2006">
        <mc:Choice xmlns:a14="http://schemas.microsoft.com/office/drawing/2010/main" Requires="a14">
          <p:sp>
            <p:nvSpPr>
              <p:cNvPr id="3" name="İçerik Yer Tutucusu 2"/>
              <p:cNvSpPr>
                <a:spLocks noGrp="1"/>
              </p:cNvSpPr>
              <p:nvPr>
                <p:ph idx="1"/>
              </p:nvPr>
            </p:nvSpPr>
            <p:spPr>
              <a:xfrm>
                <a:off x="300872" y="1881044"/>
                <a:ext cx="10515600" cy="4351338"/>
              </a:xfrm>
            </p:spPr>
            <p:txBody>
              <a:bodyPr/>
              <a:lstStyle/>
              <a:p>
                <a:pPr marL="0" indent="0">
                  <a:buNone/>
                </a:pPr>
                <a:endParaRPr lang="tr-TR" i="1" dirty="0">
                  <a:latin typeface="Cambria Math" panose="02040503050406030204" pitchFamily="18" charset="0"/>
                </a:endParaRPr>
              </a:p>
              <a:p>
                <a:pPr marL="0" indent="0">
                  <a:buNone/>
                </a:pPr>
                <a14:m>
                  <m:oMath xmlns:m="http://schemas.openxmlformats.org/officeDocument/2006/math">
                    <m:d>
                      <m:dPr>
                        <m:begChr m:val="["/>
                        <m:endChr m:val="]"/>
                        <m:ctrlPr>
                          <a:rPr lang="tr-TR" i="1">
                            <a:latin typeface="Cambria Math" panose="02040503050406030204" pitchFamily="18" charset="0"/>
                          </a:rPr>
                        </m:ctrlPr>
                      </m:dPr>
                      <m:e>
                        <m:m>
                          <m:mPr>
                            <m:mcs>
                              <m:mc>
                                <m:mcPr>
                                  <m:count m:val="1"/>
                                  <m:mcJc m:val="center"/>
                                </m:mcPr>
                              </m:mc>
                            </m:mcs>
                            <m:ctrlPr>
                              <a:rPr lang="tr-TR" i="1">
                                <a:latin typeface="Cambria Math" panose="02040503050406030204" pitchFamily="18" charset="0"/>
                              </a:rPr>
                            </m:ctrlPr>
                          </m:mPr>
                          <m:mr>
                            <m:e>
                              <m:r>
                                <m:rPr>
                                  <m:brk m:alnAt="7"/>
                                </m:rPr>
                                <a:rPr lang="tr-TR" i="1">
                                  <a:latin typeface="Cambria Math" panose="02040503050406030204" pitchFamily="18" charset="0"/>
                                </a:rPr>
                                <m:t>𝑥</m:t>
                              </m:r>
                              <m:r>
                                <a:rPr lang="tr-TR" i="1">
                                  <a:latin typeface="Cambria Math" panose="02040503050406030204" pitchFamily="18" charset="0"/>
                                </a:rPr>
                                <m:t>′</m:t>
                              </m:r>
                            </m:e>
                          </m:mr>
                          <m:mr>
                            <m:e>
                              <m:r>
                                <a:rPr lang="tr-TR" i="1">
                                  <a:latin typeface="Cambria Math" panose="02040503050406030204" pitchFamily="18" charset="0"/>
                                </a:rPr>
                                <m:t>𝑦</m:t>
                              </m:r>
                              <m:r>
                                <a:rPr lang="tr-TR" i="1">
                                  <a:latin typeface="Cambria Math" panose="02040503050406030204" pitchFamily="18" charset="0"/>
                                </a:rPr>
                                <m:t>′</m:t>
                              </m:r>
                            </m:e>
                          </m:mr>
                          <m:mr>
                            <m:e>
                              <m:r>
                                <a:rPr lang="tr-TR" i="1">
                                  <a:latin typeface="Cambria Math" panose="02040503050406030204" pitchFamily="18" charset="0"/>
                                </a:rPr>
                                <m:t>1</m:t>
                              </m:r>
                            </m:e>
                          </m:mr>
                        </m:m>
                      </m:e>
                    </m:d>
                    <m:r>
                      <a:rPr lang="tr-TR" i="1">
                        <a:latin typeface="Cambria Math" panose="02040503050406030204" pitchFamily="18" charset="0"/>
                      </a:rPr>
                      <m:t>=</m:t>
                    </m:r>
                    <m:d>
                      <m:dPr>
                        <m:begChr m:val="["/>
                        <m:endChr m:val="]"/>
                        <m:ctrlPr>
                          <a:rPr lang="tr-TR" i="1">
                            <a:latin typeface="Cambria Math" panose="02040503050406030204" pitchFamily="18" charset="0"/>
                          </a:rPr>
                        </m:ctrlPr>
                      </m:dPr>
                      <m:e>
                        <m:m>
                          <m:mPr>
                            <m:mcs>
                              <m:mc>
                                <m:mcPr>
                                  <m:count m:val="3"/>
                                  <m:mcJc m:val="center"/>
                                </m:mcPr>
                              </m:mc>
                            </m:mcs>
                            <m:ctrlPr>
                              <a:rPr lang="tr-TR" i="1">
                                <a:latin typeface="Cambria Math" panose="02040503050406030204" pitchFamily="18" charset="0"/>
                              </a:rPr>
                            </m:ctrlPr>
                          </m:mPr>
                          <m:mr>
                            <m:e>
                              <m:r>
                                <m:rPr>
                                  <m:brk m:alnAt="7"/>
                                </m:rPr>
                                <a:rPr lang="tr-TR" b="0" i="1" smtClean="0">
                                  <a:latin typeface="Cambria Math" panose="02040503050406030204" pitchFamily="18" charset="0"/>
                                </a:rPr>
                                <m:t>1</m:t>
                              </m:r>
                            </m:e>
                            <m:e>
                              <m:r>
                                <a:rPr lang="tr-TR" b="0" i="1" smtClean="0">
                                  <a:latin typeface="Cambria Math" panose="02040503050406030204" pitchFamily="18" charset="0"/>
                                </a:rPr>
                                <m:t>0</m:t>
                              </m:r>
                            </m:e>
                            <m:e>
                              <m:r>
                                <a:rPr lang="tr-TR" b="0" i="1" smtClean="0">
                                  <a:latin typeface="Cambria Math" panose="02040503050406030204" pitchFamily="18" charset="0"/>
                                </a:rPr>
                                <m:t>𝑡𝑥</m:t>
                              </m:r>
                            </m:e>
                          </m:mr>
                          <m:mr>
                            <m:e>
                              <m:r>
                                <a:rPr lang="tr-TR" b="0" i="1" smtClean="0">
                                  <a:latin typeface="Cambria Math" panose="02040503050406030204" pitchFamily="18" charset="0"/>
                                </a:rPr>
                                <m:t>0</m:t>
                              </m:r>
                            </m:e>
                            <m:e>
                              <m:r>
                                <a:rPr lang="tr-TR" b="0" i="1" smtClean="0">
                                  <a:latin typeface="Cambria Math" panose="02040503050406030204" pitchFamily="18" charset="0"/>
                                </a:rPr>
                                <m:t>1</m:t>
                              </m:r>
                            </m:e>
                            <m:e>
                              <m:r>
                                <a:rPr lang="tr-TR" b="0" i="1" smtClean="0">
                                  <a:latin typeface="Cambria Math" panose="02040503050406030204" pitchFamily="18" charset="0"/>
                                </a:rPr>
                                <m:t>𝑡𝑦</m:t>
                              </m:r>
                            </m:e>
                          </m:mr>
                          <m:mr>
                            <m:e>
                              <m:r>
                                <a:rPr lang="tr-TR" b="0" i="1" smtClean="0">
                                  <a:latin typeface="Cambria Math" panose="02040503050406030204" pitchFamily="18" charset="0"/>
                                </a:rPr>
                                <m:t>0</m:t>
                              </m:r>
                            </m:e>
                            <m:e>
                              <m:r>
                                <a:rPr lang="tr-TR" i="1">
                                  <a:latin typeface="Cambria Math" panose="02040503050406030204" pitchFamily="18" charset="0"/>
                                </a:rPr>
                                <m:t>0</m:t>
                              </m:r>
                            </m:e>
                            <m:e>
                              <m:r>
                                <a:rPr lang="tr-TR" i="1">
                                  <a:latin typeface="Cambria Math" panose="02040503050406030204" pitchFamily="18" charset="0"/>
                                </a:rPr>
                                <m:t>1</m:t>
                              </m:r>
                            </m:e>
                          </m:mr>
                        </m:m>
                      </m:e>
                    </m:d>
                  </m:oMath>
                </a14:m>
                <a:r>
                  <a:rPr lang="tr-TR" dirty="0"/>
                  <a:t>*</a:t>
                </a:r>
                <a14:m>
                  <m:oMath xmlns:m="http://schemas.openxmlformats.org/officeDocument/2006/math">
                    <m:d>
                      <m:dPr>
                        <m:begChr m:val="["/>
                        <m:endChr m:val="]"/>
                        <m:ctrlPr>
                          <a:rPr lang="tr-TR" i="1">
                            <a:latin typeface="Cambria Math" panose="02040503050406030204" pitchFamily="18" charset="0"/>
                          </a:rPr>
                        </m:ctrlPr>
                      </m:dPr>
                      <m:e>
                        <m:m>
                          <m:mPr>
                            <m:mcs>
                              <m:mc>
                                <m:mcPr>
                                  <m:count m:val="1"/>
                                  <m:mcJc m:val="center"/>
                                </m:mcPr>
                              </m:mc>
                            </m:mcs>
                            <m:ctrlPr>
                              <a:rPr lang="tr-TR" i="1">
                                <a:latin typeface="Cambria Math" panose="02040503050406030204" pitchFamily="18" charset="0"/>
                              </a:rPr>
                            </m:ctrlPr>
                          </m:mPr>
                          <m:mr>
                            <m:e>
                              <m:r>
                                <m:rPr>
                                  <m:brk m:alnAt="7"/>
                                </m:rPr>
                                <a:rPr lang="tr-TR" i="1">
                                  <a:latin typeface="Cambria Math" panose="02040503050406030204" pitchFamily="18" charset="0"/>
                                </a:rPr>
                                <m:t>𝑥</m:t>
                              </m:r>
                            </m:e>
                          </m:mr>
                          <m:mr>
                            <m:e>
                              <m:r>
                                <a:rPr lang="tr-TR" i="1">
                                  <a:latin typeface="Cambria Math" panose="02040503050406030204" pitchFamily="18" charset="0"/>
                                </a:rPr>
                                <m:t>𝑦</m:t>
                              </m:r>
                            </m:e>
                          </m:mr>
                          <m:mr>
                            <m:e>
                              <m:r>
                                <a:rPr lang="tr-TR" i="1">
                                  <a:latin typeface="Cambria Math" panose="02040503050406030204" pitchFamily="18" charset="0"/>
                                </a:rPr>
                                <m:t>1</m:t>
                              </m:r>
                            </m:e>
                          </m:mr>
                        </m:m>
                      </m:e>
                    </m:d>
                  </m:oMath>
                </a14:m>
                <a:endParaRPr lang="tr-TR" dirty="0"/>
              </a:p>
            </p:txBody>
          </p:sp>
        </mc:Choice>
        <mc:Fallback>
          <p:sp>
            <p:nvSpPr>
              <p:cNvPr id="3" name="İçerik Yer Tutucusu 2"/>
              <p:cNvSpPr>
                <a:spLocks noGrp="1" noRot="1" noChangeAspect="1" noMove="1" noResize="1" noEditPoints="1" noAdjustHandles="1" noChangeArrowheads="1" noChangeShapeType="1" noTextEdit="1"/>
              </p:cNvSpPr>
              <p:nvPr>
                <p:ph idx="1"/>
              </p:nvPr>
            </p:nvSpPr>
            <p:spPr>
              <a:xfrm>
                <a:off x="300872" y="1881044"/>
                <a:ext cx="10515600" cy="4351338"/>
              </a:xfrm>
              <a:blipFill>
                <a:blip r:embed="rId2"/>
                <a:stretch>
                  <a:fillRect/>
                </a:stretch>
              </a:blipFill>
            </p:spPr>
            <p:txBody>
              <a:bodyPr/>
              <a:lstStyle/>
              <a:p>
                <a:r>
                  <a:rPr lang="tr-TR">
                    <a:noFill/>
                  </a:rPr>
                  <a:t> </a:t>
                </a:r>
              </a:p>
            </p:txBody>
          </p:sp>
        </mc:Fallback>
      </mc:AlternateContent>
      <p:pic>
        <p:nvPicPr>
          <p:cNvPr id="5" name="Resim 4"/>
          <p:cNvPicPr>
            <a:picLocks noChangeAspect="1"/>
          </p:cNvPicPr>
          <p:nvPr/>
        </p:nvPicPr>
        <p:blipFill>
          <a:blip r:embed="rId3"/>
          <a:stretch>
            <a:fillRect/>
          </a:stretch>
        </p:blipFill>
        <p:spPr>
          <a:xfrm>
            <a:off x="2297547" y="3733075"/>
            <a:ext cx="3261125" cy="2771543"/>
          </a:xfrm>
          <a:prstGeom prst="rect">
            <a:avLst/>
          </a:prstGeom>
        </p:spPr>
      </p:pic>
      <p:pic>
        <p:nvPicPr>
          <p:cNvPr id="6" name="Resim 5"/>
          <p:cNvPicPr>
            <a:picLocks noChangeAspect="1"/>
          </p:cNvPicPr>
          <p:nvPr/>
        </p:nvPicPr>
        <p:blipFill>
          <a:blip r:embed="rId4"/>
          <a:stretch>
            <a:fillRect/>
          </a:stretch>
        </p:blipFill>
        <p:spPr>
          <a:xfrm>
            <a:off x="7326345" y="3319804"/>
            <a:ext cx="3752502" cy="3314889"/>
          </a:xfrm>
          <a:prstGeom prst="rect">
            <a:avLst/>
          </a:prstGeom>
        </p:spPr>
      </p:pic>
      <p:sp>
        <p:nvSpPr>
          <p:cNvPr id="7" name="Şeritli Sağ Ok 6"/>
          <p:cNvSpPr/>
          <p:nvPr/>
        </p:nvSpPr>
        <p:spPr>
          <a:xfrm>
            <a:off x="5712835" y="4977248"/>
            <a:ext cx="1305185" cy="283198"/>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850881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pic>
        <p:nvPicPr>
          <p:cNvPr id="4" name="İçerik Yer Tutucusu 3"/>
          <p:cNvPicPr>
            <a:picLocks noGrp="1" noChangeAspect="1"/>
          </p:cNvPicPr>
          <p:nvPr>
            <p:ph idx="1"/>
          </p:nvPr>
        </p:nvPicPr>
        <p:blipFill rotWithShape="1">
          <a:blip r:embed="rId2"/>
          <a:srcRect l="49896" t="20878" r="28598" b="33087"/>
          <a:stretch/>
        </p:blipFill>
        <p:spPr>
          <a:xfrm>
            <a:off x="838200" y="493568"/>
            <a:ext cx="7656802" cy="5072063"/>
          </a:xfrm>
          <a:prstGeom prst="rect">
            <a:avLst/>
          </a:prstGeom>
        </p:spPr>
      </p:pic>
    </p:spTree>
    <p:extLst>
      <p:ext uri="{BB962C8B-B14F-4D97-AF65-F5344CB8AC3E}">
        <p14:creationId xmlns:p14="http://schemas.microsoft.com/office/powerpoint/2010/main" val="2847855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Öteleme-</a:t>
            </a:r>
            <a:r>
              <a:rPr lang="tr-TR" dirty="0" err="1" smtClean="0"/>
              <a:t>Python</a:t>
            </a:r>
            <a:r>
              <a:rPr lang="tr-TR" dirty="0" smtClean="0"/>
              <a:t> </a:t>
            </a:r>
            <a:r>
              <a:rPr lang="tr-TR" dirty="0" err="1" smtClean="0"/>
              <a:t>Code</a:t>
            </a:r>
            <a:endParaRPr lang="tr-TR" dirty="0"/>
          </a:p>
        </p:txBody>
      </p:sp>
      <p:sp>
        <p:nvSpPr>
          <p:cNvPr id="3" name="İçerik Yer Tutucusu 2"/>
          <p:cNvSpPr>
            <a:spLocks noGrp="1"/>
          </p:cNvSpPr>
          <p:nvPr>
            <p:ph idx="1"/>
          </p:nvPr>
        </p:nvSpPr>
        <p:spPr/>
        <p:txBody>
          <a:bodyPr/>
          <a:lstStyle/>
          <a:p>
            <a:r>
              <a:rPr lang="tr-TR" dirty="0" err="1"/>
              <a:t>import</a:t>
            </a:r>
            <a:r>
              <a:rPr lang="tr-TR" dirty="0"/>
              <a:t> </a:t>
            </a:r>
            <a:r>
              <a:rPr lang="tr-TR" dirty="0" err="1"/>
              <a:t>numpy</a:t>
            </a:r>
            <a:r>
              <a:rPr lang="tr-TR" dirty="0"/>
              <a:t> as </a:t>
            </a:r>
            <a:r>
              <a:rPr lang="tr-TR" dirty="0" err="1"/>
              <a:t>np</a:t>
            </a:r>
            <a:r>
              <a:rPr lang="tr-TR" dirty="0"/>
              <a:t># Define </a:t>
            </a:r>
            <a:r>
              <a:rPr lang="tr-TR" dirty="0" err="1"/>
              <a:t>the</a:t>
            </a:r>
            <a:r>
              <a:rPr lang="tr-TR" dirty="0"/>
              <a:t> </a:t>
            </a:r>
            <a:r>
              <a:rPr lang="tr-TR" dirty="0" err="1"/>
              <a:t>homogeneous</a:t>
            </a:r>
            <a:r>
              <a:rPr lang="tr-TR" dirty="0"/>
              <a:t> </a:t>
            </a:r>
            <a:r>
              <a:rPr lang="tr-TR" dirty="0" err="1"/>
              <a:t>transformation</a:t>
            </a:r>
            <a:r>
              <a:rPr lang="tr-TR" dirty="0"/>
              <a:t> </a:t>
            </a:r>
            <a:r>
              <a:rPr lang="tr-TR" dirty="0" err="1"/>
              <a:t>matrix</a:t>
            </a:r>
            <a:r>
              <a:rPr lang="tr-TR" dirty="0"/>
              <a:t> </a:t>
            </a:r>
            <a:r>
              <a:rPr lang="tr-TR" dirty="0" err="1"/>
              <a:t>for</a:t>
            </a:r>
            <a:r>
              <a:rPr lang="tr-TR" dirty="0"/>
              <a:t> </a:t>
            </a:r>
            <a:r>
              <a:rPr lang="tr-TR" dirty="0" err="1"/>
              <a:t>translationdef</a:t>
            </a:r>
            <a:r>
              <a:rPr lang="tr-TR" dirty="0"/>
              <a:t> translation_matrix_2D(</a:t>
            </a:r>
            <a:r>
              <a:rPr lang="tr-TR" dirty="0" err="1"/>
              <a:t>tx</a:t>
            </a:r>
            <a:r>
              <a:rPr lang="tr-TR" dirty="0"/>
              <a:t>, </a:t>
            </a:r>
            <a:r>
              <a:rPr lang="tr-TR" dirty="0" err="1"/>
              <a:t>ty</a:t>
            </a:r>
            <a:r>
              <a:rPr lang="tr-TR" dirty="0"/>
              <a:t>):    </a:t>
            </a:r>
            <a:r>
              <a:rPr lang="tr-TR" dirty="0" err="1"/>
              <a:t>return</a:t>
            </a:r>
            <a:r>
              <a:rPr lang="tr-TR" dirty="0"/>
              <a:t> </a:t>
            </a:r>
            <a:r>
              <a:rPr lang="tr-TR" dirty="0" err="1"/>
              <a:t>np.array</a:t>
            </a:r>
            <a:r>
              <a:rPr lang="tr-TR" dirty="0"/>
              <a:t>([        [1, 0,  </a:t>
            </a:r>
            <a:r>
              <a:rPr lang="tr-TR" dirty="0" err="1"/>
              <a:t>tx</a:t>
            </a:r>
            <a:r>
              <a:rPr lang="tr-TR" dirty="0"/>
              <a:t>],        [0, 1, </a:t>
            </a:r>
            <a:r>
              <a:rPr lang="tr-TR" dirty="0" err="1"/>
              <a:t>ty</a:t>
            </a:r>
            <a:r>
              <a:rPr lang="tr-TR" dirty="0"/>
              <a:t>],        [0, 0, 1]])</a:t>
            </a:r>
            <a:r>
              <a:rPr lang="tr-TR" dirty="0" err="1"/>
              <a:t>point</a:t>
            </a:r>
            <a:r>
              <a:rPr lang="tr-TR" dirty="0"/>
              <a:t> = </a:t>
            </a:r>
            <a:r>
              <a:rPr lang="tr-TR" dirty="0" err="1"/>
              <a:t>np.array</a:t>
            </a:r>
            <a:r>
              <a:rPr lang="tr-TR" dirty="0"/>
              <a:t>([1, 2])  # Point (x, y,1) in 2D </a:t>
            </a:r>
            <a:r>
              <a:rPr lang="tr-TR" dirty="0" err="1"/>
              <a:t>spacetx</a:t>
            </a:r>
            <a:r>
              <a:rPr lang="tr-TR" dirty="0"/>
              <a:t> = 5  # </a:t>
            </a:r>
            <a:r>
              <a:rPr lang="tr-TR" dirty="0" err="1"/>
              <a:t>Translate</a:t>
            </a:r>
            <a:r>
              <a:rPr lang="tr-TR" dirty="0"/>
              <a:t> 3 </a:t>
            </a:r>
            <a:r>
              <a:rPr lang="tr-TR" dirty="0" err="1"/>
              <a:t>units</a:t>
            </a:r>
            <a:r>
              <a:rPr lang="tr-TR" dirty="0"/>
              <a:t> </a:t>
            </a:r>
            <a:r>
              <a:rPr lang="tr-TR" dirty="0" err="1"/>
              <a:t>along</a:t>
            </a:r>
            <a:r>
              <a:rPr lang="tr-TR" dirty="0"/>
              <a:t> </a:t>
            </a:r>
            <a:r>
              <a:rPr lang="tr-TR" dirty="0" err="1"/>
              <a:t>the</a:t>
            </a:r>
            <a:r>
              <a:rPr lang="tr-TR" dirty="0"/>
              <a:t> x-</a:t>
            </a:r>
            <a:r>
              <a:rPr lang="tr-TR" dirty="0" err="1"/>
              <a:t>axisty</a:t>
            </a:r>
            <a:r>
              <a:rPr lang="tr-TR" dirty="0"/>
              <a:t> = 1  # </a:t>
            </a:r>
            <a:r>
              <a:rPr lang="tr-TR" dirty="0" err="1"/>
              <a:t>Translate</a:t>
            </a:r>
            <a:r>
              <a:rPr lang="tr-TR" dirty="0"/>
              <a:t> 4 </a:t>
            </a:r>
            <a:r>
              <a:rPr lang="tr-TR" dirty="0" err="1"/>
              <a:t>units</a:t>
            </a:r>
            <a:r>
              <a:rPr lang="tr-TR" dirty="0"/>
              <a:t> </a:t>
            </a:r>
            <a:r>
              <a:rPr lang="tr-TR" dirty="0" err="1"/>
              <a:t>along</a:t>
            </a:r>
            <a:r>
              <a:rPr lang="tr-TR" dirty="0"/>
              <a:t> </a:t>
            </a:r>
            <a:r>
              <a:rPr lang="tr-TR" dirty="0" err="1"/>
              <a:t>the</a:t>
            </a:r>
            <a:r>
              <a:rPr lang="tr-TR" dirty="0"/>
              <a:t> y-</a:t>
            </a:r>
            <a:r>
              <a:rPr lang="tr-TR" dirty="0" err="1"/>
              <a:t>axis</a:t>
            </a:r>
            <a:r>
              <a:rPr lang="tr-TR" dirty="0"/>
              <a:t># </a:t>
            </a:r>
            <a:r>
              <a:rPr lang="tr-TR" dirty="0" err="1"/>
              <a:t>Apply</a:t>
            </a:r>
            <a:r>
              <a:rPr lang="tr-TR" dirty="0"/>
              <a:t> </a:t>
            </a:r>
            <a:r>
              <a:rPr lang="tr-TR" dirty="0" err="1"/>
              <a:t>the</a:t>
            </a:r>
            <a:r>
              <a:rPr lang="tr-TR" dirty="0"/>
              <a:t> </a:t>
            </a:r>
            <a:r>
              <a:rPr lang="tr-TR" dirty="0" err="1"/>
              <a:t>translation</a:t>
            </a:r>
            <a:r>
              <a:rPr lang="tr-TR" dirty="0"/>
              <a:t> </a:t>
            </a:r>
            <a:r>
              <a:rPr lang="tr-TR" dirty="0" err="1"/>
              <a:t>transformationtransform_matrix</a:t>
            </a:r>
            <a:r>
              <a:rPr lang="tr-TR" dirty="0"/>
              <a:t> = translation_matrix_2D(</a:t>
            </a:r>
            <a:r>
              <a:rPr lang="tr-TR" dirty="0" err="1"/>
              <a:t>tx</a:t>
            </a:r>
            <a:r>
              <a:rPr lang="tr-TR" dirty="0"/>
              <a:t>, </a:t>
            </a:r>
            <a:r>
              <a:rPr lang="tr-TR" dirty="0" err="1"/>
              <a:t>ty</a:t>
            </a:r>
            <a:r>
              <a:rPr lang="tr-TR" dirty="0"/>
              <a:t>)</a:t>
            </a:r>
            <a:r>
              <a:rPr lang="tr-TR" dirty="0" err="1"/>
              <a:t>transformed_point</a:t>
            </a:r>
            <a:r>
              <a:rPr lang="tr-TR" dirty="0"/>
              <a:t> = np.dot(</a:t>
            </a:r>
            <a:r>
              <a:rPr lang="tr-TR" dirty="0" err="1"/>
              <a:t>transform_matrix</a:t>
            </a:r>
            <a:r>
              <a:rPr lang="tr-TR" dirty="0"/>
              <a:t>, </a:t>
            </a:r>
            <a:r>
              <a:rPr lang="tr-TR" dirty="0" err="1"/>
              <a:t>np.append</a:t>
            </a:r>
            <a:r>
              <a:rPr lang="tr-TR" dirty="0"/>
              <a:t>(</a:t>
            </a:r>
            <a:r>
              <a:rPr lang="tr-TR" dirty="0" err="1"/>
              <a:t>point</a:t>
            </a:r>
            <a:r>
              <a:rPr lang="tr-TR" dirty="0"/>
              <a:t>, 1))# </a:t>
            </a:r>
            <a:r>
              <a:rPr lang="tr-TR" dirty="0" err="1"/>
              <a:t>Print</a:t>
            </a:r>
            <a:r>
              <a:rPr lang="tr-TR" dirty="0"/>
              <a:t> </a:t>
            </a:r>
            <a:r>
              <a:rPr lang="tr-TR" dirty="0" err="1"/>
              <a:t>the</a:t>
            </a:r>
            <a:r>
              <a:rPr lang="tr-TR" dirty="0"/>
              <a:t> </a:t>
            </a:r>
            <a:r>
              <a:rPr lang="tr-TR" dirty="0" err="1"/>
              <a:t>resultprint</a:t>
            </a:r>
            <a:r>
              <a:rPr lang="tr-TR" dirty="0"/>
              <a:t>("</a:t>
            </a:r>
            <a:r>
              <a:rPr lang="tr-TR" dirty="0" err="1"/>
              <a:t>Original</a:t>
            </a:r>
            <a:r>
              <a:rPr lang="tr-TR" dirty="0"/>
              <a:t> Point (X,Y):", </a:t>
            </a:r>
            <a:r>
              <a:rPr lang="tr-TR" dirty="0" err="1"/>
              <a:t>point</a:t>
            </a:r>
            <a:r>
              <a:rPr lang="tr-TR" dirty="0"/>
              <a:t>[:2])</a:t>
            </a:r>
            <a:r>
              <a:rPr lang="tr-TR" dirty="0" err="1"/>
              <a:t>print</a:t>
            </a:r>
            <a:r>
              <a:rPr lang="tr-TR" dirty="0"/>
              <a:t>("</a:t>
            </a:r>
            <a:r>
              <a:rPr lang="tr-TR" dirty="0" err="1"/>
              <a:t>Transformed</a:t>
            </a:r>
            <a:r>
              <a:rPr lang="tr-TR" dirty="0"/>
              <a:t> Point (X',Y'):", </a:t>
            </a:r>
            <a:r>
              <a:rPr lang="tr-TR" dirty="0" err="1"/>
              <a:t>transformed_point</a:t>
            </a:r>
            <a:r>
              <a:rPr lang="tr-TR" dirty="0"/>
              <a:t>[:2])</a:t>
            </a:r>
          </a:p>
        </p:txBody>
      </p:sp>
    </p:spTree>
    <p:extLst>
      <p:ext uri="{BB962C8B-B14F-4D97-AF65-F5344CB8AC3E}">
        <p14:creationId xmlns:p14="http://schemas.microsoft.com/office/powerpoint/2010/main" val="487760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2D Döndürme</a:t>
            </a:r>
            <a:endParaRPr lang="tr-TR" dirty="0"/>
          </a:p>
        </p:txBody>
      </p:sp>
      <p:sp>
        <p:nvSpPr>
          <p:cNvPr id="3" name="İçerik Yer Tutucusu 2"/>
          <p:cNvSpPr>
            <a:spLocks noGrp="1"/>
          </p:cNvSpPr>
          <p:nvPr>
            <p:ph idx="1"/>
          </p:nvPr>
        </p:nvSpPr>
        <p:spPr/>
        <p:txBody>
          <a:bodyPr/>
          <a:lstStyle/>
          <a:p>
            <a:r>
              <a:rPr lang="tr-TR" dirty="0" err="1" smtClean="0"/>
              <a:t>OpenGL</a:t>
            </a:r>
            <a:r>
              <a:rPr lang="tr-TR" dirty="0" smtClean="0"/>
              <a:t> döndürme işleminde </a:t>
            </a:r>
            <a:r>
              <a:rPr lang="tr-TR" dirty="0" err="1" smtClean="0"/>
              <a:t>orjin</a:t>
            </a:r>
            <a:r>
              <a:rPr lang="tr-TR" dirty="0" smtClean="0"/>
              <a:t>(0,0) referans alınır.</a:t>
            </a:r>
          </a:p>
          <a:p>
            <a:pPr marL="0" indent="0">
              <a:buNone/>
            </a:pPr>
            <a:endParaRPr lang="tr-TR" dirty="0"/>
          </a:p>
          <a:p>
            <a:endParaRPr lang="tr-TR" dirty="0"/>
          </a:p>
        </p:txBody>
      </p:sp>
      <p:pic>
        <p:nvPicPr>
          <p:cNvPr id="4" name="Resim 3"/>
          <p:cNvPicPr>
            <a:picLocks noChangeAspect="1"/>
          </p:cNvPicPr>
          <p:nvPr/>
        </p:nvPicPr>
        <p:blipFill>
          <a:blip r:embed="rId2"/>
          <a:stretch>
            <a:fillRect/>
          </a:stretch>
        </p:blipFill>
        <p:spPr>
          <a:xfrm>
            <a:off x="1529453" y="2470992"/>
            <a:ext cx="7365858" cy="3705971"/>
          </a:xfrm>
          <a:prstGeom prst="rect">
            <a:avLst/>
          </a:prstGeom>
        </p:spPr>
      </p:pic>
    </p:spTree>
    <p:extLst>
      <p:ext uri="{BB962C8B-B14F-4D97-AF65-F5344CB8AC3E}">
        <p14:creationId xmlns:p14="http://schemas.microsoft.com/office/powerpoint/2010/main" val="4231380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2D Döndürme</a:t>
            </a:r>
            <a:endParaRPr lang="tr-TR" dirty="0"/>
          </a:p>
        </p:txBody>
      </p:sp>
      <p:pic>
        <p:nvPicPr>
          <p:cNvPr id="4" name="İçerik Yer Tutucusu 3"/>
          <p:cNvPicPr>
            <a:picLocks noGrp="1" noChangeAspect="1"/>
          </p:cNvPicPr>
          <p:nvPr>
            <p:ph idx="1"/>
          </p:nvPr>
        </p:nvPicPr>
        <p:blipFill>
          <a:blip r:embed="rId2"/>
          <a:stretch>
            <a:fillRect/>
          </a:stretch>
        </p:blipFill>
        <p:spPr>
          <a:xfrm>
            <a:off x="7035204" y="2810583"/>
            <a:ext cx="4318596" cy="3366380"/>
          </a:xfrm>
          <a:prstGeom prst="rect">
            <a:avLst/>
          </a:prstGeom>
        </p:spPr>
      </p:pic>
      <mc:AlternateContent xmlns:mc="http://schemas.openxmlformats.org/markup-compatibility/2006" xmlns:a14="http://schemas.microsoft.com/office/drawing/2010/main">
        <mc:Choice Requires="a14">
          <p:sp>
            <p:nvSpPr>
              <p:cNvPr id="5" name="İçerik Yer Tutucusu 2"/>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dirty="0" smtClean="0"/>
                  <a:t>OpenGL döndürme işleminde </a:t>
                </a:r>
                <a:r>
                  <a:rPr lang="tr-TR" dirty="0" err="1" smtClean="0"/>
                  <a:t>orjin</a:t>
                </a:r>
                <a:r>
                  <a:rPr lang="tr-TR" dirty="0" smtClean="0"/>
                  <a:t>(0,0) referans alınır.</a:t>
                </a:r>
              </a:p>
              <a:p>
                <a:endParaRPr lang="tr-TR" dirty="0" smtClean="0"/>
              </a:p>
              <a:p>
                <a14:m>
                  <m:oMath xmlns:m="http://schemas.openxmlformats.org/officeDocument/2006/math">
                    <m:r>
                      <a:rPr lang="tr-TR" b="0" i="1" smtClean="0">
                        <a:latin typeface="Cambria Math" panose="02040503050406030204" pitchFamily="18" charset="0"/>
                      </a:rPr>
                      <m:t>𝑥</m:t>
                    </m:r>
                    <m:r>
                      <a:rPr lang="tr-TR" b="0" i="1" smtClean="0">
                        <a:latin typeface="Cambria Math" panose="02040503050406030204" pitchFamily="18" charset="0"/>
                      </a:rPr>
                      <m:t>=</m:t>
                    </m:r>
                    <m:r>
                      <a:rPr lang="tr-TR" b="0" i="1" smtClean="0">
                        <a:latin typeface="Cambria Math" panose="02040503050406030204" pitchFamily="18" charset="0"/>
                      </a:rPr>
                      <m:t>𝑟</m:t>
                    </m:r>
                    <m:r>
                      <a:rPr lang="tr-TR" b="0" i="1" smtClean="0">
                        <a:latin typeface="Cambria Math" panose="02040503050406030204" pitchFamily="18" charset="0"/>
                      </a:rPr>
                      <m:t>∗</m:t>
                    </m:r>
                    <m:func>
                      <m:funcPr>
                        <m:ctrlPr>
                          <a:rPr lang="tr-TR" b="0" i="1" smtClean="0">
                            <a:latin typeface="Cambria Math" panose="02040503050406030204" pitchFamily="18" charset="0"/>
                          </a:rPr>
                        </m:ctrlPr>
                      </m:funcPr>
                      <m:fName>
                        <m:r>
                          <m:rPr>
                            <m:sty m:val="p"/>
                          </m:rPr>
                          <a:rPr lang="tr-TR" b="0" i="0" smtClean="0">
                            <a:latin typeface="Cambria Math" panose="02040503050406030204" pitchFamily="18" charset="0"/>
                          </a:rPr>
                          <m:t>cos</m:t>
                        </m:r>
                      </m:fName>
                      <m:e>
                        <m:r>
                          <a:rPr lang="tr-TR" b="0" i="1" smtClean="0">
                            <a:latin typeface="Cambria Math" panose="02040503050406030204" pitchFamily="18" charset="0"/>
                            <a:ea typeface="Cambria Math" panose="02040503050406030204" pitchFamily="18" charset="0"/>
                          </a:rPr>
                          <m:t>∅</m:t>
                        </m:r>
                      </m:e>
                    </m:func>
                  </m:oMath>
                </a14:m>
                <a:endParaRPr lang="tr-TR" b="0" dirty="0" smtClean="0"/>
              </a:p>
              <a:p>
                <a14:m>
                  <m:oMath xmlns:m="http://schemas.openxmlformats.org/officeDocument/2006/math">
                    <m:r>
                      <a:rPr lang="tr-TR" b="0" i="1" smtClean="0">
                        <a:latin typeface="Cambria Math" panose="02040503050406030204" pitchFamily="18" charset="0"/>
                      </a:rPr>
                      <m:t>𝑦</m:t>
                    </m:r>
                    <m:r>
                      <a:rPr lang="tr-TR" i="1">
                        <a:latin typeface="Cambria Math" panose="02040503050406030204" pitchFamily="18" charset="0"/>
                      </a:rPr>
                      <m:t>=</m:t>
                    </m:r>
                    <m:r>
                      <a:rPr lang="tr-TR" i="1">
                        <a:latin typeface="Cambria Math" panose="02040503050406030204" pitchFamily="18" charset="0"/>
                      </a:rPr>
                      <m:t>𝑟</m:t>
                    </m:r>
                    <m:r>
                      <a:rPr lang="tr-TR" i="1">
                        <a:latin typeface="Cambria Math" panose="02040503050406030204" pitchFamily="18" charset="0"/>
                      </a:rPr>
                      <m:t>∗</m:t>
                    </m:r>
                    <m:func>
                      <m:funcPr>
                        <m:ctrlPr>
                          <a:rPr lang="tr-TR" i="1" smtClean="0">
                            <a:latin typeface="Cambria Math" panose="02040503050406030204" pitchFamily="18" charset="0"/>
                          </a:rPr>
                        </m:ctrlPr>
                      </m:funcPr>
                      <m:fName>
                        <m:r>
                          <m:rPr>
                            <m:sty m:val="p"/>
                          </m:rPr>
                          <a:rPr lang="tr-TR" i="0" smtClean="0">
                            <a:latin typeface="Cambria Math" panose="02040503050406030204" pitchFamily="18" charset="0"/>
                          </a:rPr>
                          <m:t>sin</m:t>
                        </m:r>
                      </m:fName>
                      <m:e>
                        <m:r>
                          <a:rPr lang="tr-TR" i="1">
                            <a:latin typeface="Cambria Math" panose="02040503050406030204" pitchFamily="18" charset="0"/>
                            <a:ea typeface="Cambria Math" panose="02040503050406030204" pitchFamily="18" charset="0"/>
                          </a:rPr>
                          <m:t>∅</m:t>
                        </m:r>
                      </m:e>
                    </m:func>
                  </m:oMath>
                </a14:m>
                <a:endParaRPr lang="tr-TR" b="0" dirty="0" smtClean="0"/>
              </a:p>
              <a:p>
                <a:endParaRPr lang="tr-TR" b="0" dirty="0" smtClean="0"/>
              </a:p>
              <a:p>
                <a14:m>
                  <m:oMath xmlns:m="http://schemas.openxmlformats.org/officeDocument/2006/math">
                    <m:r>
                      <a:rPr lang="tr-TR" i="1">
                        <a:latin typeface="Cambria Math" panose="02040503050406030204" pitchFamily="18" charset="0"/>
                      </a:rPr>
                      <m:t>𝑥</m:t>
                    </m:r>
                    <m:r>
                      <a:rPr lang="tr-TR" b="0" i="1" smtClean="0">
                        <a:latin typeface="Cambria Math" panose="02040503050406030204" pitchFamily="18" charset="0"/>
                      </a:rPr>
                      <m:t>′</m:t>
                    </m:r>
                    <m:r>
                      <a:rPr lang="tr-TR" i="1">
                        <a:latin typeface="Cambria Math" panose="02040503050406030204" pitchFamily="18" charset="0"/>
                      </a:rPr>
                      <m:t>=</m:t>
                    </m:r>
                    <m:r>
                      <a:rPr lang="tr-TR" i="1">
                        <a:latin typeface="Cambria Math" panose="02040503050406030204" pitchFamily="18" charset="0"/>
                      </a:rPr>
                      <m:t>𝑟</m:t>
                    </m:r>
                    <m:r>
                      <a:rPr lang="tr-TR" i="1">
                        <a:latin typeface="Cambria Math" panose="02040503050406030204" pitchFamily="18" charset="0"/>
                      </a:rPr>
                      <m:t>∗</m:t>
                    </m:r>
                    <m:func>
                      <m:funcPr>
                        <m:ctrlPr>
                          <a:rPr lang="tr-TR" i="1">
                            <a:latin typeface="Cambria Math" panose="02040503050406030204" pitchFamily="18" charset="0"/>
                          </a:rPr>
                        </m:ctrlPr>
                      </m:funcPr>
                      <m:fName>
                        <m:r>
                          <m:rPr>
                            <m:sty m:val="p"/>
                          </m:rPr>
                          <a:rPr lang="tr-TR">
                            <a:latin typeface="Cambria Math" panose="02040503050406030204" pitchFamily="18" charset="0"/>
                          </a:rPr>
                          <m:t>cos</m:t>
                        </m:r>
                      </m:fName>
                      <m:e>
                        <m:r>
                          <a:rPr lang="tr-TR" b="0" i="1" smtClean="0">
                            <a:latin typeface="Cambria Math" panose="02040503050406030204" pitchFamily="18" charset="0"/>
                          </a:rPr>
                          <m:t>(</m:t>
                        </m:r>
                        <m:r>
                          <a:rPr lang="tr-TR" i="1">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sym typeface="Symbol" panose="05050102010706020507" pitchFamily="18" charset="2"/>
                          </a:rPr>
                          <m:t>)</m:t>
                        </m:r>
                      </m:e>
                    </m:func>
                  </m:oMath>
                </a14:m>
                <a:endParaRPr lang="tr-TR" dirty="0" smtClean="0"/>
              </a:p>
              <a:p>
                <a14:m>
                  <m:oMath xmlns:m="http://schemas.openxmlformats.org/officeDocument/2006/math">
                    <m:r>
                      <a:rPr lang="tr-TR" i="1">
                        <a:latin typeface="Cambria Math" panose="02040503050406030204" pitchFamily="18" charset="0"/>
                      </a:rPr>
                      <m:t>𝑦</m:t>
                    </m:r>
                    <m:r>
                      <a:rPr lang="tr-TR" b="0" i="1" smtClean="0">
                        <a:latin typeface="Cambria Math" panose="02040503050406030204" pitchFamily="18" charset="0"/>
                      </a:rPr>
                      <m:t>′</m:t>
                    </m:r>
                    <m:r>
                      <a:rPr lang="tr-TR" i="1">
                        <a:latin typeface="Cambria Math" panose="02040503050406030204" pitchFamily="18" charset="0"/>
                      </a:rPr>
                      <m:t>=</m:t>
                    </m:r>
                    <m:r>
                      <a:rPr lang="tr-TR" i="1">
                        <a:latin typeface="Cambria Math" panose="02040503050406030204" pitchFamily="18" charset="0"/>
                      </a:rPr>
                      <m:t>𝑟</m:t>
                    </m:r>
                    <m:r>
                      <a:rPr lang="tr-TR" i="1">
                        <a:latin typeface="Cambria Math" panose="02040503050406030204" pitchFamily="18" charset="0"/>
                      </a:rPr>
                      <m:t>∗</m:t>
                    </m:r>
                    <m:func>
                      <m:funcPr>
                        <m:ctrlPr>
                          <a:rPr lang="tr-TR" i="1">
                            <a:latin typeface="Cambria Math" panose="02040503050406030204" pitchFamily="18" charset="0"/>
                          </a:rPr>
                        </m:ctrlPr>
                      </m:funcPr>
                      <m:fName>
                        <m:r>
                          <m:rPr>
                            <m:sty m:val="p"/>
                          </m:rPr>
                          <a:rPr lang="tr-TR">
                            <a:latin typeface="Cambria Math" panose="02040503050406030204" pitchFamily="18" charset="0"/>
                          </a:rPr>
                          <m:t>sin</m:t>
                        </m:r>
                      </m:fName>
                      <m:e>
                        <m:r>
                          <a:rPr lang="tr-TR" b="0" i="1" smtClean="0">
                            <a:latin typeface="Cambria Math" panose="02040503050406030204" pitchFamily="18" charset="0"/>
                          </a:rPr>
                          <m:t>(</m:t>
                        </m:r>
                        <m:r>
                          <a:rPr lang="tr-TR" i="1">
                            <a:latin typeface="Cambria Math" panose="02040503050406030204" pitchFamily="18" charset="0"/>
                            <a:ea typeface="Cambria Math" panose="02040503050406030204" pitchFamily="18" charset="0"/>
                          </a:rPr>
                          <m:t>∅+</m:t>
                        </m:r>
                        <m:r>
                          <a:rPr lang="tr-TR" i="1">
                            <a:latin typeface="Cambria Math" panose="02040503050406030204" pitchFamily="18" charset="0"/>
                            <a:ea typeface="Cambria Math" panose="02040503050406030204" pitchFamily="18" charset="0"/>
                            <a:sym typeface="Symbol" panose="05050102010706020507" pitchFamily="18" charset="2"/>
                          </a:rPr>
                          <m:t></m:t>
                        </m:r>
                        <m:r>
                          <a:rPr lang="tr-TR" b="0" i="1" smtClean="0">
                            <a:latin typeface="Cambria Math" panose="02040503050406030204" pitchFamily="18" charset="0"/>
                          </a:rPr>
                          <m:t>)</m:t>
                        </m:r>
                      </m:e>
                    </m:func>
                  </m:oMath>
                </a14:m>
                <a:endParaRPr lang="tr-TR" dirty="0" smtClean="0"/>
              </a:p>
              <a:p>
                <a:endParaRPr lang="tr-TR" dirty="0"/>
              </a:p>
            </p:txBody>
          </p:sp>
        </mc:Choice>
        <mc:Fallback xmlns="">
          <p:sp>
            <p:nvSpPr>
              <p:cNvPr id="5" name="İçerik Yer Tutucusu 2"/>
              <p:cNvSpPr txBox="1">
                <a:spLocks noRot="1" noChangeAspect="1" noMove="1" noResize="1" noEditPoints="1" noAdjustHandles="1" noChangeArrowheads="1" noChangeShapeType="1" noTextEdit="1"/>
              </p:cNvSpPr>
              <p:nvPr/>
            </p:nvSpPr>
            <p:spPr>
              <a:xfrm>
                <a:off x="838200" y="1825625"/>
                <a:ext cx="10515600" cy="4351338"/>
              </a:xfrm>
              <a:prstGeom prst="rect">
                <a:avLst/>
              </a:prstGeom>
              <a:blipFill>
                <a:blip r:embed="rId3"/>
                <a:stretch>
                  <a:fillRect l="-1043" t="-2241"/>
                </a:stretch>
              </a:blipFill>
            </p:spPr>
            <p:txBody>
              <a:bodyPr/>
              <a:lstStyle/>
              <a:p>
                <a:r>
                  <a:rPr lang="tr-TR">
                    <a:noFill/>
                  </a:rPr>
                  <a:t> </a:t>
                </a:r>
              </a:p>
            </p:txBody>
          </p:sp>
        </mc:Fallback>
      </mc:AlternateContent>
    </p:spTree>
    <p:extLst>
      <p:ext uri="{BB962C8B-B14F-4D97-AF65-F5344CB8AC3E}">
        <p14:creationId xmlns:p14="http://schemas.microsoft.com/office/powerpoint/2010/main" val="1345824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2D Döndürme</a:t>
            </a:r>
          </a:p>
        </p:txBody>
      </p:sp>
      <mc:AlternateContent xmlns:mc="http://schemas.openxmlformats.org/markup-compatibility/2006" xmlns:a14="http://schemas.microsoft.com/office/drawing/2010/main">
        <mc:Choice Requires="a14">
          <p:sp>
            <p:nvSpPr>
              <p:cNvPr id="3" name="İçerik Yer Tutucusu 2"/>
              <p:cNvSpPr>
                <a:spLocks noGrp="1"/>
              </p:cNvSpPr>
              <p:nvPr>
                <p:ph idx="1"/>
              </p:nvPr>
            </p:nvSpPr>
            <p:spPr/>
            <p:txBody>
              <a:bodyPr>
                <a:normAutofit fontScale="77500" lnSpcReduction="20000"/>
              </a:bodyPr>
              <a:lstStyle/>
              <a:p>
                <a14:m>
                  <m:oMath xmlns:m="http://schemas.openxmlformats.org/officeDocument/2006/math">
                    <m:r>
                      <a:rPr lang="tr-TR" i="1" smtClean="0">
                        <a:latin typeface="Cambria Math" panose="02040503050406030204" pitchFamily="18" charset="0"/>
                      </a:rPr>
                      <m:t>𝑥</m:t>
                    </m:r>
                    <m:r>
                      <a:rPr lang="tr-TR" i="1" smtClean="0">
                        <a:latin typeface="Cambria Math" panose="02040503050406030204" pitchFamily="18" charset="0"/>
                      </a:rPr>
                      <m:t>=</m:t>
                    </m:r>
                    <m:r>
                      <a:rPr lang="tr-TR" i="1" smtClean="0">
                        <a:latin typeface="Cambria Math" panose="02040503050406030204" pitchFamily="18" charset="0"/>
                      </a:rPr>
                      <m:t>𝑟</m:t>
                    </m:r>
                    <m:r>
                      <a:rPr lang="tr-TR" i="1" smtClean="0">
                        <a:latin typeface="Cambria Math" panose="02040503050406030204" pitchFamily="18" charset="0"/>
                      </a:rPr>
                      <m:t>∗</m:t>
                    </m:r>
                    <m:func>
                      <m:funcPr>
                        <m:ctrlPr>
                          <a:rPr lang="tr-TR" i="1">
                            <a:latin typeface="Cambria Math" panose="02040503050406030204" pitchFamily="18" charset="0"/>
                          </a:rPr>
                        </m:ctrlPr>
                      </m:funcPr>
                      <m:fName>
                        <m:r>
                          <m:rPr>
                            <m:sty m:val="p"/>
                          </m:rPr>
                          <a:rPr lang="tr-TR">
                            <a:latin typeface="Cambria Math" panose="02040503050406030204" pitchFamily="18" charset="0"/>
                          </a:rPr>
                          <m:t>cos</m:t>
                        </m:r>
                      </m:fName>
                      <m:e>
                        <m:r>
                          <a:rPr lang="tr-TR" i="1">
                            <a:latin typeface="Cambria Math" panose="02040503050406030204" pitchFamily="18" charset="0"/>
                            <a:ea typeface="Cambria Math" panose="02040503050406030204" pitchFamily="18" charset="0"/>
                          </a:rPr>
                          <m:t>∅</m:t>
                        </m:r>
                      </m:e>
                    </m:func>
                  </m:oMath>
                </a14:m>
                <a:endParaRPr lang="tr-TR" dirty="0"/>
              </a:p>
              <a:p>
                <a14:m>
                  <m:oMath xmlns:m="http://schemas.openxmlformats.org/officeDocument/2006/math">
                    <m:r>
                      <a:rPr lang="tr-TR" i="1">
                        <a:latin typeface="Cambria Math" panose="02040503050406030204" pitchFamily="18" charset="0"/>
                      </a:rPr>
                      <m:t>𝑦</m:t>
                    </m:r>
                    <m:r>
                      <a:rPr lang="tr-TR" i="1">
                        <a:latin typeface="Cambria Math" panose="02040503050406030204" pitchFamily="18" charset="0"/>
                      </a:rPr>
                      <m:t>=</m:t>
                    </m:r>
                    <m:r>
                      <a:rPr lang="tr-TR" i="1">
                        <a:latin typeface="Cambria Math" panose="02040503050406030204" pitchFamily="18" charset="0"/>
                      </a:rPr>
                      <m:t>𝑟</m:t>
                    </m:r>
                    <m:r>
                      <a:rPr lang="tr-TR" i="1">
                        <a:latin typeface="Cambria Math" panose="02040503050406030204" pitchFamily="18" charset="0"/>
                      </a:rPr>
                      <m:t>∗</m:t>
                    </m:r>
                    <m:func>
                      <m:funcPr>
                        <m:ctrlPr>
                          <a:rPr lang="tr-TR" i="1">
                            <a:latin typeface="Cambria Math" panose="02040503050406030204" pitchFamily="18" charset="0"/>
                          </a:rPr>
                        </m:ctrlPr>
                      </m:funcPr>
                      <m:fName>
                        <m:r>
                          <m:rPr>
                            <m:sty m:val="p"/>
                          </m:rPr>
                          <a:rPr lang="tr-TR">
                            <a:latin typeface="Cambria Math" panose="02040503050406030204" pitchFamily="18" charset="0"/>
                          </a:rPr>
                          <m:t>sin</m:t>
                        </m:r>
                      </m:fName>
                      <m:e>
                        <m:r>
                          <a:rPr lang="tr-TR" i="1">
                            <a:latin typeface="Cambria Math" panose="02040503050406030204" pitchFamily="18" charset="0"/>
                            <a:ea typeface="Cambria Math" panose="02040503050406030204" pitchFamily="18" charset="0"/>
                          </a:rPr>
                          <m:t>∅</m:t>
                        </m:r>
                      </m:e>
                    </m:func>
                  </m:oMath>
                </a14:m>
                <a:endParaRPr lang="tr-TR" dirty="0"/>
              </a:p>
              <a:p>
                <a:endParaRPr lang="tr-TR" dirty="0"/>
              </a:p>
              <a:p>
                <a14:m>
                  <m:oMath xmlns:m="http://schemas.openxmlformats.org/officeDocument/2006/math">
                    <m:sSup>
                      <m:sSupPr>
                        <m:ctrlPr>
                          <a:rPr lang="tr-TR" i="1">
                            <a:latin typeface="Cambria Math" panose="02040503050406030204" pitchFamily="18" charset="0"/>
                          </a:rPr>
                        </m:ctrlPr>
                      </m:sSupPr>
                      <m:e>
                        <m:r>
                          <a:rPr lang="tr-TR" i="1">
                            <a:latin typeface="Cambria Math" panose="02040503050406030204" pitchFamily="18" charset="0"/>
                          </a:rPr>
                          <m:t>𝑥</m:t>
                        </m:r>
                      </m:e>
                      <m:sup>
                        <m:r>
                          <a:rPr lang="tr-TR" i="1">
                            <a:latin typeface="Cambria Math" panose="02040503050406030204" pitchFamily="18" charset="0"/>
                          </a:rPr>
                          <m:t>′</m:t>
                        </m:r>
                      </m:sup>
                    </m:sSup>
                    <m:r>
                      <a:rPr lang="tr-TR" i="1">
                        <a:latin typeface="Cambria Math" panose="02040503050406030204" pitchFamily="18" charset="0"/>
                      </a:rPr>
                      <m:t>=</m:t>
                    </m:r>
                    <m:r>
                      <a:rPr lang="tr-TR" i="1">
                        <a:latin typeface="Cambria Math" panose="02040503050406030204" pitchFamily="18" charset="0"/>
                      </a:rPr>
                      <m:t>𝑟</m:t>
                    </m:r>
                    <m:r>
                      <a:rPr lang="tr-TR" i="1">
                        <a:latin typeface="Cambria Math" panose="02040503050406030204" pitchFamily="18" charset="0"/>
                      </a:rPr>
                      <m:t>∗</m:t>
                    </m:r>
                    <m:func>
                      <m:funcPr>
                        <m:ctrlPr>
                          <a:rPr lang="tr-TR" i="1">
                            <a:latin typeface="Cambria Math" panose="02040503050406030204" pitchFamily="18" charset="0"/>
                          </a:rPr>
                        </m:ctrlPr>
                      </m:funcPr>
                      <m:fName>
                        <m:r>
                          <m:rPr>
                            <m:sty m:val="p"/>
                          </m:rPr>
                          <a:rPr lang="tr-TR">
                            <a:latin typeface="Cambria Math" panose="02040503050406030204" pitchFamily="18" charset="0"/>
                          </a:rPr>
                          <m:t>cos</m:t>
                        </m:r>
                      </m:fName>
                      <m:e>
                        <m:d>
                          <m:dPr>
                            <m:ctrlPr>
                              <a:rPr lang="tr-TR" i="1">
                                <a:latin typeface="Cambria Math" panose="02040503050406030204" pitchFamily="18" charset="0"/>
                                <a:ea typeface="Cambria Math" panose="02040503050406030204" pitchFamily="18" charset="0"/>
                              </a:rPr>
                            </m:ctrlPr>
                          </m:dPr>
                          <m:e>
                            <m:r>
                              <a:rPr lang="tr-TR" i="1">
                                <a:latin typeface="Cambria Math" panose="02040503050406030204" pitchFamily="18" charset="0"/>
                                <a:ea typeface="Cambria Math" panose="02040503050406030204" pitchFamily="18" charset="0"/>
                              </a:rPr>
                              <m:t>∅+</m:t>
                            </m:r>
                            <m:r>
                              <a:rPr lang="tr-TR" i="1">
                                <a:latin typeface="Cambria Math" panose="02040503050406030204" pitchFamily="18" charset="0"/>
                                <a:ea typeface="Cambria Math" panose="02040503050406030204" pitchFamily="18" charset="0"/>
                                <a:sym typeface="Symbol" panose="05050102010706020507" pitchFamily="18" charset="2"/>
                              </a:rPr>
                              <m:t></m:t>
                            </m:r>
                          </m:e>
                        </m:d>
                      </m:e>
                    </m:func>
                  </m:oMath>
                </a14:m>
                <a:endParaRPr lang="tr-TR" dirty="0" smtClean="0">
                  <a:ea typeface="Cambria Math" panose="02040503050406030204" pitchFamily="18" charset="0"/>
                  <a:sym typeface="Symbol" panose="05050102010706020507" pitchFamily="18" charset="2"/>
                </a:endParaRPr>
              </a:p>
              <a:p>
                <a14:m>
                  <m:oMath xmlns:m="http://schemas.openxmlformats.org/officeDocument/2006/math">
                    <m:sSup>
                      <m:sSupPr>
                        <m:ctrlPr>
                          <a:rPr lang="tr-TR" i="1">
                            <a:latin typeface="Cambria Math" panose="02040503050406030204" pitchFamily="18" charset="0"/>
                          </a:rPr>
                        </m:ctrlPr>
                      </m:sSupPr>
                      <m:e>
                        <m:r>
                          <a:rPr lang="tr-TR" i="1">
                            <a:latin typeface="Cambria Math" panose="02040503050406030204" pitchFamily="18" charset="0"/>
                          </a:rPr>
                          <m:t>𝑥</m:t>
                        </m:r>
                      </m:e>
                      <m:sup>
                        <m:r>
                          <a:rPr lang="tr-TR" i="1">
                            <a:latin typeface="Cambria Math" panose="02040503050406030204" pitchFamily="18" charset="0"/>
                          </a:rPr>
                          <m:t>′</m:t>
                        </m:r>
                      </m:sup>
                    </m:sSup>
                    <m:r>
                      <a:rPr lang="tr-TR" i="1">
                        <a:latin typeface="Cambria Math" panose="02040503050406030204" pitchFamily="18" charset="0"/>
                      </a:rPr>
                      <m:t>=</m:t>
                    </m:r>
                    <m:r>
                      <a:rPr lang="tr-TR" i="1">
                        <a:latin typeface="Cambria Math" panose="02040503050406030204" pitchFamily="18" charset="0"/>
                      </a:rPr>
                      <m:t>𝑟</m:t>
                    </m:r>
                    <m:r>
                      <a:rPr lang="tr-TR" i="1">
                        <a:latin typeface="Cambria Math" panose="02040503050406030204" pitchFamily="18" charset="0"/>
                      </a:rPr>
                      <m:t>∗</m:t>
                    </m:r>
                    <m:func>
                      <m:funcPr>
                        <m:ctrlPr>
                          <a:rPr lang="tr-TR" i="1">
                            <a:latin typeface="Cambria Math" panose="02040503050406030204" pitchFamily="18" charset="0"/>
                          </a:rPr>
                        </m:ctrlPr>
                      </m:funcPr>
                      <m:fName>
                        <m:r>
                          <m:rPr>
                            <m:sty m:val="p"/>
                          </m:rPr>
                          <a:rPr lang="tr-TR">
                            <a:latin typeface="Cambria Math" panose="02040503050406030204" pitchFamily="18" charset="0"/>
                          </a:rPr>
                          <m:t>cos</m:t>
                        </m:r>
                      </m:fName>
                      <m:e>
                        <m:d>
                          <m:dPr>
                            <m:ctrlPr>
                              <a:rPr lang="tr-TR" i="1">
                                <a:latin typeface="Cambria Math" panose="02040503050406030204" pitchFamily="18" charset="0"/>
                                <a:ea typeface="Cambria Math" panose="02040503050406030204" pitchFamily="18" charset="0"/>
                              </a:rPr>
                            </m:ctrlPr>
                          </m:dPr>
                          <m:e>
                            <m:r>
                              <a:rPr lang="tr-TR" i="1">
                                <a:latin typeface="Cambria Math" panose="02040503050406030204" pitchFamily="18" charset="0"/>
                                <a:ea typeface="Cambria Math" panose="02040503050406030204" pitchFamily="18" charset="0"/>
                              </a:rPr>
                              <m:t>∅</m:t>
                            </m:r>
                          </m:e>
                        </m:d>
                        <m:func>
                          <m:funcPr>
                            <m:ctrlPr>
                              <a:rPr lang="tr-TR" i="1">
                                <a:latin typeface="Cambria Math" panose="02040503050406030204" pitchFamily="18" charset="0"/>
                              </a:rPr>
                            </m:ctrlPr>
                          </m:funcPr>
                          <m:fName>
                            <m:r>
                              <m:rPr>
                                <m:sty m:val="p"/>
                              </m:rPr>
                              <a:rPr lang="tr-TR">
                                <a:latin typeface="Cambria Math" panose="02040503050406030204" pitchFamily="18" charset="0"/>
                              </a:rPr>
                              <m:t>cos</m:t>
                            </m:r>
                          </m:fName>
                          <m:e>
                            <m:d>
                              <m:dPr>
                                <m:ctrlPr>
                                  <a:rPr lang="tr-TR" i="1">
                                    <a:latin typeface="Cambria Math" panose="02040503050406030204" pitchFamily="18" charset="0"/>
                                    <a:ea typeface="Cambria Math" panose="02040503050406030204" pitchFamily="18" charset="0"/>
                                  </a:rPr>
                                </m:ctrlPr>
                              </m:dPr>
                              <m:e>
                                <m:r>
                                  <a:rPr lang="tr-TR" i="1">
                                    <a:latin typeface="Cambria Math" panose="02040503050406030204" pitchFamily="18" charset="0"/>
                                    <a:ea typeface="Cambria Math" panose="02040503050406030204" pitchFamily="18" charset="0"/>
                                    <a:sym typeface="Symbol" panose="05050102010706020507" pitchFamily="18" charset="2"/>
                                  </a:rPr>
                                  <m:t></m:t>
                                </m:r>
                              </m:e>
                            </m:d>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𝑟</m:t>
                            </m:r>
                            <m:r>
                              <a:rPr lang="tr-TR" b="0" i="1" smtClean="0">
                                <a:latin typeface="Cambria Math" panose="02040503050406030204" pitchFamily="18" charset="0"/>
                                <a:ea typeface="Cambria Math" panose="02040503050406030204" pitchFamily="18" charset="0"/>
                              </a:rPr>
                              <m:t>∗</m:t>
                            </m:r>
                            <m:func>
                              <m:funcPr>
                                <m:ctrlPr>
                                  <a:rPr lang="tr-TR" b="0" i="1" smtClean="0">
                                    <a:latin typeface="Cambria Math" panose="02040503050406030204" pitchFamily="18" charset="0"/>
                                    <a:ea typeface="Cambria Math" panose="02040503050406030204" pitchFamily="18" charset="0"/>
                                  </a:rPr>
                                </m:ctrlPr>
                              </m:funcPr>
                              <m:fName>
                                <m:r>
                                  <m:rPr>
                                    <m:sty m:val="p"/>
                                  </m:rPr>
                                  <a:rPr lang="tr-TR" b="0" i="0" smtClean="0">
                                    <a:latin typeface="Cambria Math" panose="02040503050406030204" pitchFamily="18" charset="0"/>
                                    <a:ea typeface="Cambria Math" panose="02040503050406030204" pitchFamily="18" charset="0"/>
                                  </a:rPr>
                                  <m:t>sin</m:t>
                                </m:r>
                              </m:fName>
                              <m:e>
                                <m:d>
                                  <m:dPr>
                                    <m:ctrlPr>
                                      <a:rPr lang="tr-TR" b="0" i="1" smtClean="0">
                                        <a:latin typeface="Cambria Math" panose="02040503050406030204" pitchFamily="18" charset="0"/>
                                        <a:ea typeface="Cambria Math" panose="02040503050406030204" pitchFamily="18" charset="0"/>
                                      </a:rPr>
                                    </m:ctrlPr>
                                  </m:dPr>
                                  <m:e>
                                    <m:r>
                                      <a:rPr lang="tr-TR" i="1">
                                        <a:latin typeface="Cambria Math" panose="02040503050406030204" pitchFamily="18" charset="0"/>
                                        <a:ea typeface="Cambria Math" panose="02040503050406030204" pitchFamily="18" charset="0"/>
                                      </a:rPr>
                                      <m:t>∅</m:t>
                                    </m:r>
                                  </m:e>
                                </m:d>
                              </m:e>
                            </m:func>
                            <m:func>
                              <m:funcPr>
                                <m:ctrlPr>
                                  <a:rPr lang="tr-TR" b="0" i="1" smtClean="0">
                                    <a:latin typeface="Cambria Math" panose="02040503050406030204" pitchFamily="18" charset="0"/>
                                    <a:ea typeface="Cambria Math" panose="02040503050406030204" pitchFamily="18" charset="0"/>
                                  </a:rPr>
                                </m:ctrlPr>
                              </m:funcPr>
                              <m:fName>
                                <m:r>
                                  <m:rPr>
                                    <m:sty m:val="p"/>
                                  </m:rPr>
                                  <a:rPr lang="tr-TR" b="0" i="0" smtClean="0">
                                    <a:latin typeface="Cambria Math" panose="02040503050406030204" pitchFamily="18" charset="0"/>
                                    <a:ea typeface="Cambria Math" panose="02040503050406030204" pitchFamily="18" charset="0"/>
                                  </a:rPr>
                                  <m:t>sin</m:t>
                                </m:r>
                              </m:fName>
                              <m:e>
                                <m:d>
                                  <m:dPr>
                                    <m:ctrlPr>
                                      <a:rPr lang="tr-TR" b="0" i="1" smtClean="0">
                                        <a:latin typeface="Cambria Math" panose="02040503050406030204" pitchFamily="18" charset="0"/>
                                        <a:ea typeface="Cambria Math" panose="02040503050406030204" pitchFamily="18" charset="0"/>
                                      </a:rPr>
                                    </m:ctrlPr>
                                  </m:dPr>
                                  <m:e>
                                    <m:r>
                                      <a:rPr lang="tr-TR" i="1">
                                        <a:latin typeface="Cambria Math" panose="02040503050406030204" pitchFamily="18" charset="0"/>
                                        <a:ea typeface="Cambria Math" panose="02040503050406030204" pitchFamily="18" charset="0"/>
                                        <a:sym typeface="Symbol" panose="05050102010706020507" pitchFamily="18" charset="2"/>
                                      </a:rPr>
                                      <m:t></m:t>
                                    </m:r>
                                  </m:e>
                                </m:d>
                              </m:e>
                            </m:func>
                          </m:e>
                        </m:func>
                      </m:e>
                    </m:func>
                  </m:oMath>
                </a14:m>
                <a:endParaRPr lang="tr-TR" dirty="0" smtClean="0">
                  <a:ea typeface="Cambria Math" panose="02040503050406030204" pitchFamily="18" charset="0"/>
                  <a:sym typeface="Symbol" panose="05050102010706020507" pitchFamily="18" charset="2"/>
                </a:endParaRPr>
              </a:p>
              <a:p>
                <a14:m>
                  <m:oMath xmlns:m="http://schemas.openxmlformats.org/officeDocument/2006/math">
                    <m:sSup>
                      <m:sSupPr>
                        <m:ctrlPr>
                          <a:rPr lang="tr-TR" i="1" smtClean="0">
                            <a:solidFill>
                              <a:srgbClr val="FF0000"/>
                            </a:solidFill>
                            <a:latin typeface="Cambria Math" panose="02040503050406030204" pitchFamily="18" charset="0"/>
                          </a:rPr>
                        </m:ctrlPr>
                      </m:sSupPr>
                      <m:e>
                        <m:r>
                          <a:rPr lang="tr-TR" i="1">
                            <a:solidFill>
                              <a:srgbClr val="FF0000"/>
                            </a:solidFill>
                            <a:latin typeface="Cambria Math" panose="02040503050406030204" pitchFamily="18" charset="0"/>
                          </a:rPr>
                          <m:t>𝑥</m:t>
                        </m:r>
                      </m:e>
                      <m:sup>
                        <m:r>
                          <a:rPr lang="tr-TR" i="1">
                            <a:solidFill>
                              <a:srgbClr val="FF0000"/>
                            </a:solidFill>
                            <a:latin typeface="Cambria Math" panose="02040503050406030204" pitchFamily="18" charset="0"/>
                          </a:rPr>
                          <m:t>′</m:t>
                        </m:r>
                      </m:sup>
                    </m:sSup>
                    <m:r>
                      <a:rPr lang="tr-TR" i="1">
                        <a:solidFill>
                          <a:srgbClr val="FF0000"/>
                        </a:solidFill>
                        <a:latin typeface="Cambria Math" panose="02040503050406030204" pitchFamily="18" charset="0"/>
                      </a:rPr>
                      <m:t>=</m:t>
                    </m:r>
                    <m:func>
                      <m:funcPr>
                        <m:ctrlPr>
                          <a:rPr lang="tr-TR" i="1" smtClean="0">
                            <a:solidFill>
                              <a:srgbClr val="FF0000"/>
                            </a:solidFill>
                            <a:latin typeface="Cambria Math" panose="02040503050406030204" pitchFamily="18" charset="0"/>
                          </a:rPr>
                        </m:ctrlPr>
                      </m:funcPr>
                      <m:fName>
                        <m:r>
                          <m:rPr>
                            <m:sty m:val="p"/>
                          </m:rPr>
                          <a:rPr lang="tr-TR" b="0" i="0" smtClean="0">
                            <a:solidFill>
                              <a:srgbClr val="FF0000"/>
                            </a:solidFill>
                            <a:latin typeface="Cambria Math" panose="02040503050406030204" pitchFamily="18" charset="0"/>
                          </a:rPr>
                          <m:t>x</m:t>
                        </m:r>
                      </m:fName>
                      <m:e>
                        <m:func>
                          <m:funcPr>
                            <m:ctrlPr>
                              <a:rPr lang="tr-TR" i="1">
                                <a:solidFill>
                                  <a:srgbClr val="FF0000"/>
                                </a:solidFill>
                                <a:latin typeface="Cambria Math" panose="02040503050406030204" pitchFamily="18" charset="0"/>
                              </a:rPr>
                            </m:ctrlPr>
                          </m:funcPr>
                          <m:fName>
                            <m:r>
                              <m:rPr>
                                <m:sty m:val="p"/>
                              </m:rPr>
                              <a:rPr lang="tr-TR">
                                <a:solidFill>
                                  <a:srgbClr val="FF0000"/>
                                </a:solidFill>
                                <a:latin typeface="Cambria Math" panose="02040503050406030204" pitchFamily="18" charset="0"/>
                              </a:rPr>
                              <m:t>cos</m:t>
                            </m:r>
                          </m:fName>
                          <m:e>
                            <m:d>
                              <m:dPr>
                                <m:ctrlPr>
                                  <a:rPr lang="tr-TR" i="1">
                                    <a:solidFill>
                                      <a:srgbClr val="FF0000"/>
                                    </a:solidFill>
                                    <a:latin typeface="Cambria Math" panose="02040503050406030204" pitchFamily="18" charset="0"/>
                                    <a:ea typeface="Cambria Math" panose="02040503050406030204" pitchFamily="18" charset="0"/>
                                  </a:rPr>
                                </m:ctrlPr>
                              </m:dPr>
                              <m:e>
                                <m:r>
                                  <a:rPr lang="tr-TR" i="1">
                                    <a:solidFill>
                                      <a:srgbClr val="FF0000"/>
                                    </a:solidFill>
                                    <a:latin typeface="Cambria Math" panose="02040503050406030204" pitchFamily="18" charset="0"/>
                                    <a:ea typeface="Cambria Math" panose="02040503050406030204" pitchFamily="18" charset="0"/>
                                    <a:sym typeface="Symbol" panose="05050102010706020507" pitchFamily="18" charset="2"/>
                                  </a:rPr>
                                  <m:t></m:t>
                                </m:r>
                              </m:e>
                            </m:d>
                            <m:r>
                              <a:rPr lang="tr-TR" i="1">
                                <a:solidFill>
                                  <a:srgbClr val="FF0000"/>
                                </a:solidFill>
                                <a:latin typeface="Cambria Math" panose="02040503050406030204" pitchFamily="18" charset="0"/>
                                <a:ea typeface="Cambria Math" panose="02040503050406030204" pitchFamily="18" charset="0"/>
                              </a:rPr>
                              <m:t>−</m:t>
                            </m:r>
                            <m:r>
                              <a:rPr lang="tr-TR" b="0" i="1" smtClean="0">
                                <a:solidFill>
                                  <a:srgbClr val="FF0000"/>
                                </a:solidFill>
                                <a:latin typeface="Cambria Math" panose="02040503050406030204" pitchFamily="18" charset="0"/>
                                <a:ea typeface="Cambria Math" panose="02040503050406030204" pitchFamily="18" charset="0"/>
                              </a:rPr>
                              <m:t>𝑦</m:t>
                            </m:r>
                            <m:func>
                              <m:funcPr>
                                <m:ctrlPr>
                                  <a:rPr lang="tr-TR" i="1">
                                    <a:solidFill>
                                      <a:srgbClr val="FF0000"/>
                                    </a:solidFill>
                                    <a:latin typeface="Cambria Math" panose="02040503050406030204" pitchFamily="18" charset="0"/>
                                    <a:ea typeface="Cambria Math" panose="02040503050406030204" pitchFamily="18" charset="0"/>
                                  </a:rPr>
                                </m:ctrlPr>
                              </m:funcPr>
                              <m:fName>
                                <m:r>
                                  <m:rPr>
                                    <m:sty m:val="p"/>
                                  </m:rPr>
                                  <a:rPr lang="tr-TR">
                                    <a:solidFill>
                                      <a:srgbClr val="FF0000"/>
                                    </a:solidFill>
                                    <a:latin typeface="Cambria Math" panose="02040503050406030204" pitchFamily="18" charset="0"/>
                                    <a:ea typeface="Cambria Math" panose="02040503050406030204" pitchFamily="18" charset="0"/>
                                  </a:rPr>
                                  <m:t>sin</m:t>
                                </m:r>
                              </m:fName>
                              <m:e>
                                <m:d>
                                  <m:dPr>
                                    <m:ctrlPr>
                                      <a:rPr lang="tr-TR" i="1">
                                        <a:solidFill>
                                          <a:srgbClr val="FF0000"/>
                                        </a:solidFill>
                                        <a:latin typeface="Cambria Math" panose="02040503050406030204" pitchFamily="18" charset="0"/>
                                        <a:ea typeface="Cambria Math" panose="02040503050406030204" pitchFamily="18" charset="0"/>
                                      </a:rPr>
                                    </m:ctrlPr>
                                  </m:dPr>
                                  <m:e>
                                    <m:r>
                                      <a:rPr lang="tr-TR" i="1">
                                        <a:solidFill>
                                          <a:srgbClr val="FF0000"/>
                                        </a:solidFill>
                                        <a:latin typeface="Cambria Math" panose="02040503050406030204" pitchFamily="18" charset="0"/>
                                        <a:ea typeface="Cambria Math" panose="02040503050406030204" pitchFamily="18" charset="0"/>
                                        <a:sym typeface="Symbol" panose="05050102010706020507" pitchFamily="18" charset="2"/>
                                      </a:rPr>
                                      <m:t></m:t>
                                    </m:r>
                                  </m:e>
                                </m:d>
                              </m:e>
                            </m:func>
                          </m:e>
                        </m:func>
                      </m:e>
                    </m:func>
                  </m:oMath>
                </a14:m>
                <a:endParaRPr lang="tr-TR" dirty="0" smtClean="0"/>
              </a:p>
              <a:p>
                <a:endParaRPr lang="tr-TR" dirty="0"/>
              </a:p>
              <a:p>
                <a14:m>
                  <m:oMath xmlns:m="http://schemas.openxmlformats.org/officeDocument/2006/math">
                    <m:r>
                      <a:rPr lang="tr-TR" i="1">
                        <a:latin typeface="Cambria Math" panose="02040503050406030204" pitchFamily="18" charset="0"/>
                      </a:rPr>
                      <m:t>𝑦</m:t>
                    </m:r>
                    <m:r>
                      <a:rPr lang="tr-TR" i="1">
                        <a:latin typeface="Cambria Math" panose="02040503050406030204" pitchFamily="18" charset="0"/>
                      </a:rPr>
                      <m:t>′=</m:t>
                    </m:r>
                    <m:r>
                      <a:rPr lang="tr-TR" i="1">
                        <a:latin typeface="Cambria Math" panose="02040503050406030204" pitchFamily="18" charset="0"/>
                      </a:rPr>
                      <m:t>𝑟</m:t>
                    </m:r>
                    <m:r>
                      <a:rPr lang="tr-TR" i="1">
                        <a:latin typeface="Cambria Math" panose="02040503050406030204" pitchFamily="18" charset="0"/>
                      </a:rPr>
                      <m:t>∗</m:t>
                    </m:r>
                    <m:func>
                      <m:funcPr>
                        <m:ctrlPr>
                          <a:rPr lang="tr-TR" i="1">
                            <a:latin typeface="Cambria Math" panose="02040503050406030204" pitchFamily="18" charset="0"/>
                          </a:rPr>
                        </m:ctrlPr>
                      </m:funcPr>
                      <m:fName>
                        <m:r>
                          <m:rPr>
                            <m:sty m:val="p"/>
                          </m:rPr>
                          <a:rPr lang="tr-TR">
                            <a:latin typeface="Cambria Math" panose="02040503050406030204" pitchFamily="18" charset="0"/>
                          </a:rPr>
                          <m:t>sin</m:t>
                        </m:r>
                      </m:fName>
                      <m:e>
                        <m:r>
                          <a:rPr lang="tr-TR" i="1">
                            <a:latin typeface="Cambria Math" panose="02040503050406030204" pitchFamily="18" charset="0"/>
                          </a:rPr>
                          <m:t>(</m:t>
                        </m:r>
                        <m:r>
                          <a:rPr lang="tr-TR" i="1">
                            <a:latin typeface="Cambria Math" panose="02040503050406030204" pitchFamily="18" charset="0"/>
                            <a:ea typeface="Cambria Math" panose="02040503050406030204" pitchFamily="18" charset="0"/>
                          </a:rPr>
                          <m:t>∅+</m:t>
                        </m:r>
                        <m:r>
                          <a:rPr lang="tr-TR" i="1">
                            <a:latin typeface="Cambria Math" panose="02040503050406030204" pitchFamily="18" charset="0"/>
                            <a:ea typeface="Cambria Math" panose="02040503050406030204" pitchFamily="18" charset="0"/>
                            <a:sym typeface="Symbol" panose="05050102010706020507" pitchFamily="18" charset="2"/>
                          </a:rPr>
                          <m:t></m:t>
                        </m:r>
                        <m:r>
                          <a:rPr lang="tr-TR" i="1">
                            <a:latin typeface="Cambria Math" panose="02040503050406030204" pitchFamily="18" charset="0"/>
                          </a:rPr>
                          <m:t>)</m:t>
                        </m:r>
                      </m:e>
                    </m:func>
                  </m:oMath>
                </a14:m>
                <a:endParaRPr lang="tr-TR" dirty="0">
                  <a:ea typeface="Cambria Math" panose="02040503050406030204" pitchFamily="18" charset="0"/>
                  <a:sym typeface="Symbol" panose="05050102010706020507" pitchFamily="18" charset="2"/>
                </a:endParaRPr>
              </a:p>
              <a:p>
                <a14:m>
                  <m:oMath xmlns:m="http://schemas.openxmlformats.org/officeDocument/2006/math">
                    <m:sSup>
                      <m:sSupPr>
                        <m:ctrlPr>
                          <a:rPr lang="tr-TR" i="1">
                            <a:latin typeface="Cambria Math" panose="02040503050406030204" pitchFamily="18" charset="0"/>
                          </a:rPr>
                        </m:ctrlPr>
                      </m:sSupPr>
                      <m:e>
                        <m:r>
                          <a:rPr lang="tr-TR" b="0" i="1" smtClean="0">
                            <a:latin typeface="Cambria Math" panose="02040503050406030204" pitchFamily="18" charset="0"/>
                          </a:rPr>
                          <m:t>𝑦</m:t>
                        </m:r>
                      </m:e>
                      <m:sup>
                        <m:r>
                          <a:rPr lang="tr-TR" i="1">
                            <a:latin typeface="Cambria Math" panose="02040503050406030204" pitchFamily="18" charset="0"/>
                          </a:rPr>
                          <m:t>′</m:t>
                        </m:r>
                      </m:sup>
                    </m:sSup>
                    <m:r>
                      <a:rPr lang="tr-TR" i="1">
                        <a:latin typeface="Cambria Math" panose="02040503050406030204" pitchFamily="18" charset="0"/>
                      </a:rPr>
                      <m:t>=</m:t>
                    </m:r>
                    <m:r>
                      <a:rPr lang="tr-TR" i="1">
                        <a:latin typeface="Cambria Math" panose="02040503050406030204" pitchFamily="18" charset="0"/>
                      </a:rPr>
                      <m:t>𝑟</m:t>
                    </m:r>
                    <m:r>
                      <a:rPr lang="tr-TR" i="1">
                        <a:latin typeface="Cambria Math" panose="02040503050406030204" pitchFamily="18" charset="0"/>
                      </a:rPr>
                      <m:t>∗</m:t>
                    </m:r>
                    <m:func>
                      <m:funcPr>
                        <m:ctrlPr>
                          <a:rPr lang="tr-TR" i="1">
                            <a:latin typeface="Cambria Math" panose="02040503050406030204" pitchFamily="18" charset="0"/>
                          </a:rPr>
                        </m:ctrlPr>
                      </m:funcPr>
                      <m:fName>
                        <m:r>
                          <m:rPr>
                            <m:sty m:val="p"/>
                          </m:rPr>
                          <a:rPr lang="tr-TR" b="0" i="0" smtClean="0">
                            <a:latin typeface="Cambria Math" panose="02040503050406030204" pitchFamily="18" charset="0"/>
                          </a:rPr>
                          <m:t>sin</m:t>
                        </m:r>
                      </m:fName>
                      <m:e>
                        <m:d>
                          <m:dPr>
                            <m:ctrlPr>
                              <a:rPr lang="tr-TR" i="1">
                                <a:latin typeface="Cambria Math" panose="02040503050406030204" pitchFamily="18" charset="0"/>
                                <a:ea typeface="Cambria Math" panose="02040503050406030204" pitchFamily="18" charset="0"/>
                              </a:rPr>
                            </m:ctrlPr>
                          </m:dPr>
                          <m:e>
                            <m:r>
                              <a:rPr lang="tr-TR" i="1">
                                <a:latin typeface="Cambria Math" panose="02040503050406030204" pitchFamily="18" charset="0"/>
                                <a:ea typeface="Cambria Math" panose="02040503050406030204" pitchFamily="18" charset="0"/>
                              </a:rPr>
                              <m:t>∅</m:t>
                            </m:r>
                          </m:e>
                        </m:d>
                        <m:func>
                          <m:funcPr>
                            <m:ctrlPr>
                              <a:rPr lang="tr-TR" i="1">
                                <a:latin typeface="Cambria Math" panose="02040503050406030204" pitchFamily="18" charset="0"/>
                              </a:rPr>
                            </m:ctrlPr>
                          </m:funcPr>
                          <m:fName>
                            <m:r>
                              <m:rPr>
                                <m:sty m:val="p"/>
                              </m:rPr>
                              <a:rPr lang="tr-TR">
                                <a:latin typeface="Cambria Math" panose="02040503050406030204" pitchFamily="18" charset="0"/>
                              </a:rPr>
                              <m:t>cos</m:t>
                            </m:r>
                          </m:fName>
                          <m:e>
                            <m:d>
                              <m:dPr>
                                <m:ctrlPr>
                                  <a:rPr lang="tr-TR" i="1">
                                    <a:latin typeface="Cambria Math" panose="02040503050406030204" pitchFamily="18" charset="0"/>
                                    <a:ea typeface="Cambria Math" panose="02040503050406030204" pitchFamily="18" charset="0"/>
                                  </a:rPr>
                                </m:ctrlPr>
                              </m:dPr>
                              <m:e>
                                <m:r>
                                  <a:rPr lang="tr-TR" i="1">
                                    <a:latin typeface="Cambria Math" panose="02040503050406030204" pitchFamily="18" charset="0"/>
                                    <a:ea typeface="Cambria Math" panose="02040503050406030204" pitchFamily="18" charset="0"/>
                                    <a:sym typeface="Symbol" panose="05050102010706020507" pitchFamily="18" charset="2"/>
                                  </a:rPr>
                                  <m:t></m:t>
                                </m:r>
                              </m:e>
                            </m:d>
                            <m:r>
                              <a:rPr lang="tr-TR" i="1">
                                <a:latin typeface="Cambria Math" panose="02040503050406030204" pitchFamily="18" charset="0"/>
                                <a:ea typeface="Cambria Math" panose="02040503050406030204" pitchFamily="18" charset="0"/>
                              </a:rPr>
                              <m:t>−</m:t>
                            </m:r>
                            <m:r>
                              <a:rPr lang="tr-TR" i="1">
                                <a:latin typeface="Cambria Math" panose="02040503050406030204" pitchFamily="18" charset="0"/>
                                <a:ea typeface="Cambria Math" panose="02040503050406030204" pitchFamily="18" charset="0"/>
                              </a:rPr>
                              <m:t>𝑟</m:t>
                            </m:r>
                            <m:r>
                              <a:rPr lang="tr-TR" i="1">
                                <a:latin typeface="Cambria Math" panose="02040503050406030204" pitchFamily="18" charset="0"/>
                                <a:ea typeface="Cambria Math" panose="02040503050406030204" pitchFamily="18" charset="0"/>
                              </a:rPr>
                              <m:t>∗</m:t>
                            </m:r>
                            <m:func>
                              <m:funcPr>
                                <m:ctrlPr>
                                  <a:rPr lang="tr-TR" i="1">
                                    <a:latin typeface="Cambria Math" panose="02040503050406030204" pitchFamily="18" charset="0"/>
                                    <a:ea typeface="Cambria Math" panose="02040503050406030204" pitchFamily="18" charset="0"/>
                                  </a:rPr>
                                </m:ctrlPr>
                              </m:funcPr>
                              <m:fName>
                                <m:r>
                                  <m:rPr>
                                    <m:sty m:val="p"/>
                                  </m:rPr>
                                  <a:rPr lang="tr-TR" b="0" i="0" smtClean="0">
                                    <a:latin typeface="Cambria Math" panose="02040503050406030204" pitchFamily="18" charset="0"/>
                                    <a:ea typeface="Cambria Math" panose="02040503050406030204" pitchFamily="18" charset="0"/>
                                  </a:rPr>
                                  <m:t>cos</m:t>
                                </m:r>
                              </m:fName>
                              <m:e>
                                <m:d>
                                  <m:dPr>
                                    <m:ctrlPr>
                                      <a:rPr lang="tr-TR" i="1">
                                        <a:latin typeface="Cambria Math" panose="02040503050406030204" pitchFamily="18" charset="0"/>
                                        <a:ea typeface="Cambria Math" panose="02040503050406030204" pitchFamily="18" charset="0"/>
                                      </a:rPr>
                                    </m:ctrlPr>
                                  </m:dPr>
                                  <m:e>
                                    <m:r>
                                      <a:rPr lang="tr-TR" i="1">
                                        <a:latin typeface="Cambria Math" panose="02040503050406030204" pitchFamily="18" charset="0"/>
                                        <a:ea typeface="Cambria Math" panose="02040503050406030204" pitchFamily="18" charset="0"/>
                                      </a:rPr>
                                      <m:t>∅</m:t>
                                    </m:r>
                                  </m:e>
                                </m:d>
                              </m:e>
                            </m:func>
                            <m:func>
                              <m:funcPr>
                                <m:ctrlPr>
                                  <a:rPr lang="tr-TR" i="1">
                                    <a:latin typeface="Cambria Math" panose="02040503050406030204" pitchFamily="18" charset="0"/>
                                    <a:ea typeface="Cambria Math" panose="02040503050406030204" pitchFamily="18" charset="0"/>
                                  </a:rPr>
                                </m:ctrlPr>
                              </m:funcPr>
                              <m:fName>
                                <m:r>
                                  <m:rPr>
                                    <m:sty m:val="p"/>
                                  </m:rPr>
                                  <a:rPr lang="tr-TR">
                                    <a:latin typeface="Cambria Math" panose="02040503050406030204" pitchFamily="18" charset="0"/>
                                    <a:ea typeface="Cambria Math" panose="02040503050406030204" pitchFamily="18" charset="0"/>
                                  </a:rPr>
                                  <m:t>sin</m:t>
                                </m:r>
                              </m:fName>
                              <m:e>
                                <m:d>
                                  <m:dPr>
                                    <m:ctrlPr>
                                      <a:rPr lang="tr-TR" i="1">
                                        <a:latin typeface="Cambria Math" panose="02040503050406030204" pitchFamily="18" charset="0"/>
                                        <a:ea typeface="Cambria Math" panose="02040503050406030204" pitchFamily="18" charset="0"/>
                                      </a:rPr>
                                    </m:ctrlPr>
                                  </m:dPr>
                                  <m:e>
                                    <m:r>
                                      <a:rPr lang="tr-TR" i="1">
                                        <a:latin typeface="Cambria Math" panose="02040503050406030204" pitchFamily="18" charset="0"/>
                                        <a:ea typeface="Cambria Math" panose="02040503050406030204" pitchFamily="18" charset="0"/>
                                        <a:sym typeface="Symbol" panose="05050102010706020507" pitchFamily="18" charset="2"/>
                                      </a:rPr>
                                      <m:t></m:t>
                                    </m:r>
                                  </m:e>
                                </m:d>
                              </m:e>
                            </m:func>
                          </m:e>
                        </m:func>
                      </m:e>
                    </m:func>
                  </m:oMath>
                </a14:m>
                <a:endParaRPr lang="tr-TR" dirty="0">
                  <a:ea typeface="Cambria Math" panose="02040503050406030204" pitchFamily="18" charset="0"/>
                  <a:sym typeface="Symbol" panose="05050102010706020507" pitchFamily="18" charset="2"/>
                </a:endParaRPr>
              </a:p>
              <a:p>
                <a14:m>
                  <m:oMath xmlns:m="http://schemas.openxmlformats.org/officeDocument/2006/math">
                    <m:sSup>
                      <m:sSupPr>
                        <m:ctrlPr>
                          <a:rPr lang="tr-TR" i="1" smtClean="0">
                            <a:solidFill>
                              <a:srgbClr val="FF0000"/>
                            </a:solidFill>
                            <a:latin typeface="Cambria Math" panose="02040503050406030204" pitchFamily="18" charset="0"/>
                          </a:rPr>
                        </m:ctrlPr>
                      </m:sSupPr>
                      <m:e>
                        <m:r>
                          <a:rPr lang="tr-TR" b="0" i="1" smtClean="0">
                            <a:solidFill>
                              <a:srgbClr val="FF0000"/>
                            </a:solidFill>
                            <a:latin typeface="Cambria Math" panose="02040503050406030204" pitchFamily="18" charset="0"/>
                          </a:rPr>
                          <m:t>𝑦</m:t>
                        </m:r>
                      </m:e>
                      <m:sup>
                        <m:r>
                          <a:rPr lang="tr-TR" i="1">
                            <a:solidFill>
                              <a:srgbClr val="FF0000"/>
                            </a:solidFill>
                            <a:latin typeface="Cambria Math" panose="02040503050406030204" pitchFamily="18" charset="0"/>
                          </a:rPr>
                          <m:t>′</m:t>
                        </m:r>
                      </m:sup>
                    </m:sSup>
                    <m:r>
                      <a:rPr lang="tr-TR" i="1">
                        <a:solidFill>
                          <a:srgbClr val="FF0000"/>
                        </a:solidFill>
                        <a:latin typeface="Cambria Math" panose="02040503050406030204" pitchFamily="18" charset="0"/>
                      </a:rPr>
                      <m:t>=</m:t>
                    </m:r>
                    <m:func>
                      <m:funcPr>
                        <m:ctrlPr>
                          <a:rPr lang="tr-TR" i="1">
                            <a:solidFill>
                              <a:srgbClr val="FF0000"/>
                            </a:solidFill>
                            <a:latin typeface="Cambria Math" panose="02040503050406030204" pitchFamily="18" charset="0"/>
                          </a:rPr>
                        </m:ctrlPr>
                      </m:funcPr>
                      <m:fName>
                        <m:r>
                          <m:rPr>
                            <m:sty m:val="p"/>
                          </m:rPr>
                          <a:rPr lang="tr-TR" b="0" i="0" smtClean="0">
                            <a:solidFill>
                              <a:srgbClr val="FF0000"/>
                            </a:solidFill>
                            <a:latin typeface="Cambria Math" panose="02040503050406030204" pitchFamily="18" charset="0"/>
                          </a:rPr>
                          <m:t>y</m:t>
                        </m:r>
                      </m:fName>
                      <m:e>
                        <m:func>
                          <m:funcPr>
                            <m:ctrlPr>
                              <a:rPr lang="tr-TR" i="1">
                                <a:solidFill>
                                  <a:srgbClr val="FF0000"/>
                                </a:solidFill>
                                <a:latin typeface="Cambria Math" panose="02040503050406030204" pitchFamily="18" charset="0"/>
                              </a:rPr>
                            </m:ctrlPr>
                          </m:funcPr>
                          <m:fName>
                            <m:r>
                              <m:rPr>
                                <m:sty m:val="p"/>
                              </m:rPr>
                              <a:rPr lang="tr-TR">
                                <a:solidFill>
                                  <a:srgbClr val="FF0000"/>
                                </a:solidFill>
                                <a:latin typeface="Cambria Math" panose="02040503050406030204" pitchFamily="18" charset="0"/>
                              </a:rPr>
                              <m:t>cos</m:t>
                            </m:r>
                          </m:fName>
                          <m:e>
                            <m:d>
                              <m:dPr>
                                <m:ctrlPr>
                                  <a:rPr lang="tr-TR" i="1">
                                    <a:solidFill>
                                      <a:srgbClr val="FF0000"/>
                                    </a:solidFill>
                                    <a:latin typeface="Cambria Math" panose="02040503050406030204" pitchFamily="18" charset="0"/>
                                    <a:ea typeface="Cambria Math" panose="02040503050406030204" pitchFamily="18" charset="0"/>
                                  </a:rPr>
                                </m:ctrlPr>
                              </m:dPr>
                              <m:e>
                                <m:r>
                                  <a:rPr lang="tr-TR" i="1">
                                    <a:solidFill>
                                      <a:srgbClr val="FF0000"/>
                                    </a:solidFill>
                                    <a:latin typeface="Cambria Math" panose="02040503050406030204" pitchFamily="18" charset="0"/>
                                    <a:ea typeface="Cambria Math" panose="02040503050406030204" pitchFamily="18" charset="0"/>
                                    <a:sym typeface="Symbol" panose="05050102010706020507" pitchFamily="18" charset="2"/>
                                  </a:rPr>
                                  <m:t></m:t>
                                </m:r>
                              </m:e>
                            </m:d>
                            <m:r>
                              <a:rPr lang="tr-TR" i="1">
                                <a:solidFill>
                                  <a:srgbClr val="FF0000"/>
                                </a:solidFill>
                                <a:latin typeface="Cambria Math" panose="02040503050406030204" pitchFamily="18" charset="0"/>
                                <a:ea typeface="Cambria Math" panose="02040503050406030204" pitchFamily="18" charset="0"/>
                              </a:rPr>
                              <m:t>−</m:t>
                            </m:r>
                            <m:r>
                              <a:rPr lang="tr-TR" b="0" i="1" smtClean="0">
                                <a:solidFill>
                                  <a:srgbClr val="FF0000"/>
                                </a:solidFill>
                                <a:latin typeface="Cambria Math" panose="02040503050406030204" pitchFamily="18" charset="0"/>
                                <a:ea typeface="Cambria Math" panose="02040503050406030204" pitchFamily="18" charset="0"/>
                              </a:rPr>
                              <m:t>𝑥</m:t>
                            </m:r>
                            <m:func>
                              <m:funcPr>
                                <m:ctrlPr>
                                  <a:rPr lang="tr-TR" i="1">
                                    <a:solidFill>
                                      <a:srgbClr val="FF0000"/>
                                    </a:solidFill>
                                    <a:latin typeface="Cambria Math" panose="02040503050406030204" pitchFamily="18" charset="0"/>
                                    <a:ea typeface="Cambria Math" panose="02040503050406030204" pitchFamily="18" charset="0"/>
                                  </a:rPr>
                                </m:ctrlPr>
                              </m:funcPr>
                              <m:fName>
                                <m:r>
                                  <m:rPr>
                                    <m:sty m:val="p"/>
                                  </m:rPr>
                                  <a:rPr lang="tr-TR">
                                    <a:solidFill>
                                      <a:srgbClr val="FF0000"/>
                                    </a:solidFill>
                                    <a:latin typeface="Cambria Math" panose="02040503050406030204" pitchFamily="18" charset="0"/>
                                    <a:ea typeface="Cambria Math" panose="02040503050406030204" pitchFamily="18" charset="0"/>
                                  </a:rPr>
                                  <m:t>sin</m:t>
                                </m:r>
                              </m:fName>
                              <m:e>
                                <m:d>
                                  <m:dPr>
                                    <m:ctrlPr>
                                      <a:rPr lang="tr-TR" i="1">
                                        <a:solidFill>
                                          <a:srgbClr val="FF0000"/>
                                        </a:solidFill>
                                        <a:latin typeface="Cambria Math" panose="02040503050406030204" pitchFamily="18" charset="0"/>
                                        <a:ea typeface="Cambria Math" panose="02040503050406030204" pitchFamily="18" charset="0"/>
                                      </a:rPr>
                                    </m:ctrlPr>
                                  </m:dPr>
                                  <m:e>
                                    <m:r>
                                      <a:rPr lang="tr-TR" i="1">
                                        <a:solidFill>
                                          <a:srgbClr val="FF0000"/>
                                        </a:solidFill>
                                        <a:latin typeface="Cambria Math" panose="02040503050406030204" pitchFamily="18" charset="0"/>
                                        <a:ea typeface="Cambria Math" panose="02040503050406030204" pitchFamily="18" charset="0"/>
                                        <a:sym typeface="Symbol" panose="05050102010706020507" pitchFamily="18" charset="2"/>
                                      </a:rPr>
                                      <m:t></m:t>
                                    </m:r>
                                  </m:e>
                                </m:d>
                              </m:e>
                            </m:func>
                          </m:e>
                        </m:func>
                      </m:e>
                    </m:func>
                  </m:oMath>
                </a14:m>
                <a:endParaRPr lang="tr-TR" dirty="0"/>
              </a:p>
            </p:txBody>
          </p:sp>
        </mc:Choice>
        <mc:Fallback xmlns="">
          <p:sp>
            <p:nvSpPr>
              <p:cNvPr id="3" name="İçerik Yer Tutucusu 2"/>
              <p:cNvSpPr>
                <a:spLocks noGrp="1" noRot="1" noChangeAspect="1" noMove="1" noResize="1" noEditPoints="1" noAdjustHandles="1" noChangeArrowheads="1" noChangeShapeType="1" noTextEdit="1"/>
              </p:cNvSpPr>
              <p:nvPr>
                <p:ph idx="1"/>
              </p:nvPr>
            </p:nvSpPr>
            <p:spPr>
              <a:blipFill>
                <a:blip r:embed="rId2"/>
                <a:stretch>
                  <a:fillRect l="-696" t="-1401"/>
                </a:stretch>
              </a:blipFill>
            </p:spPr>
            <p:txBody>
              <a:bodyPr/>
              <a:lstStyle/>
              <a:p>
                <a:r>
                  <a:rPr lang="tr-TR">
                    <a:noFill/>
                  </a:rPr>
                  <a:t> </a:t>
                </a:r>
              </a:p>
            </p:txBody>
          </p:sp>
        </mc:Fallback>
      </mc:AlternateContent>
    </p:spTree>
    <p:extLst>
      <p:ext uri="{BB962C8B-B14F-4D97-AF65-F5344CB8AC3E}">
        <p14:creationId xmlns:p14="http://schemas.microsoft.com/office/powerpoint/2010/main" val="3814574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2D Döndürme</a:t>
            </a:r>
          </a:p>
        </p:txBody>
      </p:sp>
      <mc:AlternateContent xmlns:mc="http://schemas.openxmlformats.org/markup-compatibility/2006" xmlns:a14="http://schemas.microsoft.com/office/drawing/2010/main">
        <mc:Choice Requires="a14">
          <p:sp>
            <p:nvSpPr>
              <p:cNvPr id="3" name="İçerik Yer Tutucusu 2"/>
              <p:cNvSpPr>
                <a:spLocks noGrp="1"/>
              </p:cNvSpPr>
              <p:nvPr>
                <p:ph idx="1"/>
              </p:nvPr>
            </p:nvSpPr>
            <p:spPr/>
            <p:txBody>
              <a:bodyPr/>
              <a:lstStyle/>
              <a:p>
                <a:endParaRPr lang="tr-TR" i="1" dirty="0" smtClean="0">
                  <a:latin typeface="Cambria Math" panose="02040503050406030204" pitchFamily="18" charset="0"/>
                </a:endParaRPr>
              </a:p>
              <a:p>
                <a14:m>
                  <m:oMath xmlns:m="http://schemas.openxmlformats.org/officeDocument/2006/math">
                    <m:d>
                      <m:dPr>
                        <m:begChr m:val="["/>
                        <m:endChr m:val="]"/>
                        <m:ctrlPr>
                          <a:rPr lang="tr-TR" i="1">
                            <a:latin typeface="Cambria Math" panose="02040503050406030204" pitchFamily="18" charset="0"/>
                          </a:rPr>
                        </m:ctrlPr>
                      </m:dPr>
                      <m:e>
                        <m:m>
                          <m:mPr>
                            <m:mcs>
                              <m:mc>
                                <m:mcPr>
                                  <m:count m:val="1"/>
                                  <m:mcJc m:val="center"/>
                                </m:mcPr>
                              </m:mc>
                            </m:mcs>
                            <m:ctrlPr>
                              <a:rPr lang="tr-TR" i="1">
                                <a:latin typeface="Cambria Math" panose="02040503050406030204" pitchFamily="18" charset="0"/>
                              </a:rPr>
                            </m:ctrlPr>
                          </m:mPr>
                          <m:mr>
                            <m:e>
                              <m:r>
                                <m:rPr>
                                  <m:brk m:alnAt="7"/>
                                </m:rPr>
                                <a:rPr lang="tr-TR" i="1">
                                  <a:latin typeface="Cambria Math" panose="02040503050406030204" pitchFamily="18" charset="0"/>
                                </a:rPr>
                                <m:t>𝑥</m:t>
                              </m:r>
                              <m:r>
                                <a:rPr lang="tr-TR" i="1">
                                  <a:latin typeface="Cambria Math" panose="02040503050406030204" pitchFamily="18" charset="0"/>
                                </a:rPr>
                                <m:t>′</m:t>
                              </m:r>
                            </m:e>
                          </m:mr>
                          <m:mr>
                            <m:e>
                              <m:r>
                                <a:rPr lang="tr-TR" i="1">
                                  <a:latin typeface="Cambria Math" panose="02040503050406030204" pitchFamily="18" charset="0"/>
                                </a:rPr>
                                <m:t>𝑦</m:t>
                              </m:r>
                              <m:r>
                                <a:rPr lang="tr-TR" i="1">
                                  <a:latin typeface="Cambria Math" panose="02040503050406030204" pitchFamily="18" charset="0"/>
                                </a:rPr>
                                <m:t>′</m:t>
                              </m:r>
                            </m:e>
                          </m:mr>
                          <m:mr>
                            <m:e>
                              <m:r>
                                <a:rPr lang="tr-TR" i="1">
                                  <a:latin typeface="Cambria Math" panose="02040503050406030204" pitchFamily="18" charset="0"/>
                                </a:rPr>
                                <m:t>1</m:t>
                              </m:r>
                            </m:e>
                          </m:mr>
                        </m:m>
                      </m:e>
                    </m:d>
                    <m:r>
                      <a:rPr lang="tr-TR" i="1">
                        <a:latin typeface="Cambria Math" panose="02040503050406030204" pitchFamily="18" charset="0"/>
                      </a:rPr>
                      <m:t>=</m:t>
                    </m:r>
                    <m:d>
                      <m:dPr>
                        <m:begChr m:val="["/>
                        <m:endChr m:val="]"/>
                        <m:ctrlPr>
                          <a:rPr lang="tr-TR" i="1">
                            <a:latin typeface="Cambria Math" panose="02040503050406030204" pitchFamily="18" charset="0"/>
                          </a:rPr>
                        </m:ctrlPr>
                      </m:dPr>
                      <m:e>
                        <m:m>
                          <m:mPr>
                            <m:mcs>
                              <m:mc>
                                <m:mcPr>
                                  <m:count m:val="3"/>
                                  <m:mcJc m:val="center"/>
                                </m:mcPr>
                              </m:mc>
                            </m:mcs>
                            <m:ctrlPr>
                              <a:rPr lang="tr-TR" i="1">
                                <a:latin typeface="Cambria Math" panose="02040503050406030204" pitchFamily="18" charset="0"/>
                              </a:rPr>
                            </m:ctrlPr>
                          </m:mPr>
                          <m:mr>
                            <m:e>
                              <m:r>
                                <m:rPr>
                                  <m:sty m:val="p"/>
                                  <m:brk m:alnAt="7"/>
                                </m:rPr>
                                <a:rPr lang="tr-TR" b="0" i="0" smtClean="0">
                                  <a:latin typeface="Cambria Math" panose="02040503050406030204" pitchFamily="18" charset="0"/>
                                </a:rPr>
                                <m:t>c</m:t>
                              </m:r>
                              <m:r>
                                <m:rPr>
                                  <m:sty m:val="p"/>
                                </m:rPr>
                                <a:rPr lang="tr-TR" b="0" i="0" smtClean="0">
                                  <a:latin typeface="Cambria Math" panose="02040503050406030204" pitchFamily="18" charset="0"/>
                                </a:rPr>
                                <m:t>os</m:t>
                              </m:r>
                              <m:r>
                                <m:rPr>
                                  <m:brk m:alnAt="7"/>
                                </m:rPr>
                                <a:rPr lang="tr-TR" b="0" i="1" smtClean="0">
                                  <a:latin typeface="Cambria Math" panose="02040503050406030204" pitchFamily="18" charset="0"/>
                                </a:rPr>
                                <m:t>⁡</m:t>
                              </m:r>
                              <m:r>
                                <a:rPr lang="tr-TR" b="0" i="1" smtClean="0">
                                  <a:latin typeface="Cambria Math" panose="02040503050406030204" pitchFamily="18" charset="0"/>
                                </a:rPr>
                                <m:t>(</m:t>
                              </m:r>
                              <m:r>
                                <a:rPr lang="tr-TR" i="1">
                                  <a:latin typeface="Cambria Math" panose="02040503050406030204" pitchFamily="18" charset="0"/>
                                  <a:ea typeface="Cambria Math" panose="02040503050406030204" pitchFamily="18" charset="0"/>
                                  <a:sym typeface="Symbol" panose="05050102010706020507" pitchFamily="18" charset="2"/>
                                </a:rPr>
                                <m:t></m:t>
                              </m:r>
                              <m:r>
                                <m:rPr>
                                  <m:brk m:alnAt="7"/>
                                </m:rPr>
                                <a:rPr lang="tr-TR" b="0" i="1" smtClean="0">
                                  <a:latin typeface="Cambria Math" panose="02040503050406030204" pitchFamily="18" charset="0"/>
                                </a:rPr>
                                <m:t>)</m:t>
                              </m:r>
                            </m:e>
                            <m:e>
                              <m:r>
                                <a:rPr lang="tr-TR" b="0" i="1" smtClean="0">
                                  <a:latin typeface="Cambria Math" panose="02040503050406030204" pitchFamily="18" charset="0"/>
                                </a:rPr>
                                <m:t>−</m:t>
                              </m:r>
                              <m:r>
                                <m:rPr>
                                  <m:sty m:val="p"/>
                                </m:rPr>
                                <a:rPr lang="tr-TR" b="0" i="0" smtClean="0">
                                  <a:latin typeface="Cambria Math" panose="02040503050406030204" pitchFamily="18" charset="0"/>
                                </a:rPr>
                                <m:t>sin</m:t>
                              </m:r>
                              <m:r>
                                <a:rPr lang="tr-TR" b="0" i="1" smtClean="0">
                                  <a:latin typeface="Cambria Math" panose="02040503050406030204" pitchFamily="18" charset="0"/>
                                </a:rPr>
                                <m:t>⁡(</m:t>
                              </m:r>
                              <m:r>
                                <a:rPr lang="tr-TR" i="1">
                                  <a:latin typeface="Cambria Math" panose="02040503050406030204" pitchFamily="18" charset="0"/>
                                  <a:ea typeface="Cambria Math" panose="02040503050406030204" pitchFamily="18" charset="0"/>
                                  <a:sym typeface="Symbol" panose="05050102010706020507" pitchFamily="18" charset="2"/>
                                </a:rPr>
                                <m:t></m:t>
                              </m:r>
                              <m:r>
                                <a:rPr lang="tr-TR" b="0" i="1" smtClean="0">
                                  <a:latin typeface="Cambria Math" panose="02040503050406030204" pitchFamily="18" charset="0"/>
                                </a:rPr>
                                <m:t>)</m:t>
                              </m:r>
                            </m:e>
                            <m:e>
                              <m:r>
                                <a:rPr lang="tr-TR" b="0" i="1" smtClean="0">
                                  <a:latin typeface="Cambria Math" panose="02040503050406030204" pitchFamily="18" charset="0"/>
                                </a:rPr>
                                <m:t>0</m:t>
                              </m:r>
                            </m:e>
                          </m:mr>
                          <m:mr>
                            <m:e>
                              <m:r>
                                <m:rPr>
                                  <m:sty m:val="p"/>
                                </m:rPr>
                                <a:rPr lang="tr-TR" b="0" i="0" smtClean="0">
                                  <a:latin typeface="Cambria Math" panose="02040503050406030204" pitchFamily="18" charset="0"/>
                                </a:rPr>
                                <m:t>sin</m:t>
                              </m:r>
                              <m:r>
                                <a:rPr lang="tr-TR" b="0" i="1" smtClean="0">
                                  <a:latin typeface="Cambria Math" panose="02040503050406030204" pitchFamily="18" charset="0"/>
                                </a:rPr>
                                <m:t>⁡(</m:t>
                              </m:r>
                              <m:r>
                                <a:rPr lang="tr-TR" i="1">
                                  <a:latin typeface="Cambria Math" panose="02040503050406030204" pitchFamily="18" charset="0"/>
                                  <a:ea typeface="Cambria Math" panose="02040503050406030204" pitchFamily="18" charset="0"/>
                                  <a:sym typeface="Symbol" panose="05050102010706020507" pitchFamily="18" charset="2"/>
                                </a:rPr>
                                <m:t></m:t>
                              </m:r>
                              <m:r>
                                <a:rPr lang="tr-TR" b="0" i="1" smtClean="0">
                                  <a:latin typeface="Cambria Math" panose="02040503050406030204" pitchFamily="18" charset="0"/>
                                </a:rPr>
                                <m:t>)</m:t>
                              </m:r>
                            </m:e>
                            <m:e>
                              <m:r>
                                <m:rPr>
                                  <m:sty m:val="p"/>
                                </m:rPr>
                                <a:rPr lang="tr-TR" b="0" i="0" smtClean="0">
                                  <a:latin typeface="Cambria Math" panose="02040503050406030204" pitchFamily="18" charset="0"/>
                                </a:rPr>
                                <m:t>cos</m:t>
                              </m:r>
                              <m:r>
                                <a:rPr lang="tr-TR" b="0" i="1" smtClean="0">
                                  <a:latin typeface="Cambria Math" panose="02040503050406030204" pitchFamily="18" charset="0"/>
                                </a:rPr>
                                <m:t>⁡(</m:t>
                              </m:r>
                              <m:r>
                                <a:rPr lang="tr-TR" i="1">
                                  <a:latin typeface="Cambria Math" panose="02040503050406030204" pitchFamily="18" charset="0"/>
                                  <a:ea typeface="Cambria Math" panose="02040503050406030204" pitchFamily="18" charset="0"/>
                                  <a:sym typeface="Symbol" panose="05050102010706020507" pitchFamily="18" charset="2"/>
                                </a:rPr>
                                <m:t></m:t>
                              </m:r>
                              <m:r>
                                <a:rPr lang="tr-TR" b="0" i="1" smtClean="0">
                                  <a:latin typeface="Cambria Math" panose="02040503050406030204" pitchFamily="18" charset="0"/>
                                </a:rPr>
                                <m:t>)</m:t>
                              </m:r>
                            </m:e>
                            <m:e>
                              <m:r>
                                <a:rPr lang="tr-TR" b="0" i="1" smtClean="0">
                                  <a:latin typeface="Cambria Math" panose="02040503050406030204" pitchFamily="18" charset="0"/>
                                </a:rPr>
                                <m:t>0</m:t>
                              </m:r>
                            </m:e>
                          </m:mr>
                          <m:mr>
                            <m:e>
                              <m:r>
                                <a:rPr lang="tr-TR" i="1">
                                  <a:latin typeface="Cambria Math" panose="02040503050406030204" pitchFamily="18" charset="0"/>
                                </a:rPr>
                                <m:t>0</m:t>
                              </m:r>
                            </m:e>
                            <m:e>
                              <m:r>
                                <a:rPr lang="tr-TR" i="1">
                                  <a:latin typeface="Cambria Math" panose="02040503050406030204" pitchFamily="18" charset="0"/>
                                </a:rPr>
                                <m:t>0</m:t>
                              </m:r>
                            </m:e>
                            <m:e>
                              <m:r>
                                <a:rPr lang="tr-TR" i="1">
                                  <a:latin typeface="Cambria Math" panose="02040503050406030204" pitchFamily="18" charset="0"/>
                                </a:rPr>
                                <m:t>1</m:t>
                              </m:r>
                            </m:e>
                          </m:mr>
                        </m:m>
                      </m:e>
                    </m:d>
                  </m:oMath>
                </a14:m>
                <a:r>
                  <a:rPr lang="tr-TR" dirty="0"/>
                  <a:t>*</a:t>
                </a:r>
                <a14:m>
                  <m:oMath xmlns:m="http://schemas.openxmlformats.org/officeDocument/2006/math">
                    <m:d>
                      <m:dPr>
                        <m:begChr m:val="["/>
                        <m:endChr m:val="]"/>
                        <m:ctrlPr>
                          <a:rPr lang="tr-TR" i="1">
                            <a:latin typeface="Cambria Math" panose="02040503050406030204" pitchFamily="18" charset="0"/>
                          </a:rPr>
                        </m:ctrlPr>
                      </m:dPr>
                      <m:e>
                        <m:m>
                          <m:mPr>
                            <m:mcs>
                              <m:mc>
                                <m:mcPr>
                                  <m:count m:val="1"/>
                                  <m:mcJc m:val="center"/>
                                </m:mcPr>
                              </m:mc>
                            </m:mcs>
                            <m:ctrlPr>
                              <a:rPr lang="tr-TR" i="1">
                                <a:latin typeface="Cambria Math" panose="02040503050406030204" pitchFamily="18" charset="0"/>
                              </a:rPr>
                            </m:ctrlPr>
                          </m:mPr>
                          <m:mr>
                            <m:e>
                              <m:r>
                                <m:rPr>
                                  <m:brk m:alnAt="7"/>
                                </m:rPr>
                                <a:rPr lang="tr-TR" i="1">
                                  <a:latin typeface="Cambria Math" panose="02040503050406030204" pitchFamily="18" charset="0"/>
                                </a:rPr>
                                <m:t>𝑥</m:t>
                              </m:r>
                            </m:e>
                          </m:mr>
                          <m:mr>
                            <m:e>
                              <m:r>
                                <a:rPr lang="tr-TR" i="1">
                                  <a:latin typeface="Cambria Math" panose="02040503050406030204" pitchFamily="18" charset="0"/>
                                </a:rPr>
                                <m:t>𝑦</m:t>
                              </m:r>
                            </m:e>
                          </m:mr>
                          <m:mr>
                            <m:e>
                              <m:r>
                                <a:rPr lang="tr-TR" i="1">
                                  <a:latin typeface="Cambria Math" panose="02040503050406030204" pitchFamily="18" charset="0"/>
                                </a:rPr>
                                <m:t>1</m:t>
                              </m:r>
                            </m:e>
                          </m:mr>
                        </m:m>
                      </m:e>
                    </m:d>
                  </m:oMath>
                </a14:m>
                <a:endParaRPr lang="tr-TR" dirty="0"/>
              </a:p>
              <a:p>
                <a:endParaRPr lang="tr-TR" dirty="0"/>
              </a:p>
            </p:txBody>
          </p:sp>
        </mc:Choice>
        <mc:Fallback xmlns="">
          <p:sp>
            <p:nvSpPr>
              <p:cNvPr id="3" name="İçerik Yer Tutucusu 2"/>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tr-TR">
                    <a:noFill/>
                  </a:rPr>
                  <a:t> </a:t>
                </a:r>
              </a:p>
            </p:txBody>
          </p:sp>
        </mc:Fallback>
      </mc:AlternateContent>
      <p:pic>
        <p:nvPicPr>
          <p:cNvPr id="4" name="Resim 3"/>
          <p:cNvPicPr>
            <a:picLocks noChangeAspect="1"/>
          </p:cNvPicPr>
          <p:nvPr/>
        </p:nvPicPr>
        <p:blipFill>
          <a:blip r:embed="rId3"/>
          <a:stretch>
            <a:fillRect/>
          </a:stretch>
        </p:blipFill>
        <p:spPr>
          <a:xfrm>
            <a:off x="838200" y="4218795"/>
            <a:ext cx="2964229" cy="2327391"/>
          </a:xfrm>
          <a:prstGeom prst="rect">
            <a:avLst/>
          </a:prstGeom>
        </p:spPr>
      </p:pic>
      <p:pic>
        <p:nvPicPr>
          <p:cNvPr id="6" name="Resim 5"/>
          <p:cNvPicPr>
            <a:picLocks noChangeAspect="1"/>
          </p:cNvPicPr>
          <p:nvPr/>
        </p:nvPicPr>
        <p:blipFill>
          <a:blip r:embed="rId4"/>
          <a:stretch>
            <a:fillRect/>
          </a:stretch>
        </p:blipFill>
        <p:spPr>
          <a:xfrm>
            <a:off x="6938276" y="3488952"/>
            <a:ext cx="3192247" cy="3057234"/>
          </a:xfrm>
          <a:prstGeom prst="rect">
            <a:avLst/>
          </a:prstGeom>
        </p:spPr>
      </p:pic>
    </p:spTree>
    <p:extLst>
      <p:ext uri="{BB962C8B-B14F-4D97-AF65-F5344CB8AC3E}">
        <p14:creationId xmlns:p14="http://schemas.microsoft.com/office/powerpoint/2010/main" val="2674932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pic>
        <p:nvPicPr>
          <p:cNvPr id="4" name="İçerik Yer Tutucusu 3"/>
          <p:cNvPicPr>
            <a:picLocks noGrp="1" noChangeAspect="1"/>
          </p:cNvPicPr>
          <p:nvPr>
            <p:ph idx="1"/>
          </p:nvPr>
        </p:nvPicPr>
        <p:blipFill rotWithShape="1">
          <a:blip r:embed="rId2"/>
          <a:srcRect l="50000" t="17606" r="14295" b="9837"/>
          <a:stretch/>
        </p:blipFill>
        <p:spPr>
          <a:xfrm>
            <a:off x="1136070" y="365125"/>
            <a:ext cx="8704939" cy="5814002"/>
          </a:xfrm>
          <a:prstGeom prst="rect">
            <a:avLst/>
          </a:prstGeom>
        </p:spPr>
      </p:pic>
    </p:spTree>
    <p:extLst>
      <p:ext uri="{BB962C8B-B14F-4D97-AF65-F5344CB8AC3E}">
        <p14:creationId xmlns:p14="http://schemas.microsoft.com/office/powerpoint/2010/main" val="17791593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idx="1"/>
          </p:nvPr>
        </p:nvSpPr>
        <p:spPr bwMode="auto">
          <a:xfrm>
            <a:off x="2348344" y="226412"/>
            <a:ext cx="4357255" cy="618630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tr-TR" altLang="tr-TR" sz="1200" b="0" i="0" u="none" strike="noStrike" cap="none" normalizeH="0" baseline="0" dirty="0" err="1" smtClean="0">
                <a:ln>
                  <a:noFill/>
                </a:ln>
                <a:solidFill>
                  <a:srgbClr val="0033B3"/>
                </a:solidFill>
                <a:effectLst/>
                <a:latin typeface="JetBrains Mono"/>
              </a:rPr>
              <a:t>import</a:t>
            </a:r>
            <a:r>
              <a:rPr kumimoji="0" lang="tr-TR" altLang="tr-TR" sz="1200" b="0" i="0" u="none" strike="noStrike" cap="none" normalizeH="0" baseline="0" dirty="0" smtClean="0">
                <a:ln>
                  <a:noFill/>
                </a:ln>
                <a:solidFill>
                  <a:srgbClr val="0033B3"/>
                </a:solidFill>
                <a:effectLst/>
                <a:latin typeface="JetBrains Mono"/>
              </a:rPr>
              <a:t> </a:t>
            </a:r>
            <a:r>
              <a:rPr kumimoji="0" lang="tr-TR" altLang="tr-TR" sz="1200" b="0" i="0" u="none" strike="noStrike" cap="none" normalizeH="0" baseline="0" dirty="0" err="1" smtClean="0">
                <a:ln>
                  <a:noFill/>
                </a:ln>
                <a:solidFill>
                  <a:srgbClr val="080808"/>
                </a:solidFill>
                <a:effectLst/>
                <a:latin typeface="JetBrains Mono"/>
              </a:rPr>
              <a:t>numpy</a:t>
            </a: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smtClean="0">
                <a:ln>
                  <a:noFill/>
                </a:ln>
                <a:solidFill>
                  <a:srgbClr val="0033B3"/>
                </a:solidFill>
                <a:effectLst/>
                <a:latin typeface="JetBrains Mono"/>
              </a:rPr>
              <a:t>as </a:t>
            </a:r>
            <a:r>
              <a:rPr kumimoji="0" lang="tr-TR" altLang="tr-TR" sz="1200" b="0" i="0" u="none" strike="noStrike" cap="none" normalizeH="0" baseline="0" dirty="0" err="1" smtClean="0">
                <a:ln>
                  <a:noFill/>
                </a:ln>
                <a:solidFill>
                  <a:srgbClr val="080808"/>
                </a:solidFill>
                <a:effectLst/>
                <a:latin typeface="JetBrains Mono"/>
              </a:rPr>
              <a:t>np</a:t>
            </a:r>
            <a:r>
              <a:rPr kumimoji="0" lang="tr-TR" altLang="tr-TR" sz="1200" b="0" i="0" u="none" strike="noStrike" cap="none" normalizeH="0" baseline="0" dirty="0" smtClean="0">
                <a:ln>
                  <a:noFill/>
                </a:ln>
                <a:solidFill>
                  <a:srgbClr val="080808"/>
                </a:solidFill>
                <a:effectLst/>
                <a:latin typeface="JetBrains Mono"/>
              </a:rPr>
              <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0" u="none" strike="noStrike" cap="none" normalizeH="0" baseline="0" dirty="0" smtClean="0">
                <a:ln>
                  <a:noFill/>
                </a:ln>
                <a:solidFill>
                  <a:srgbClr val="080808"/>
                </a:solidFill>
                <a:effectLst/>
                <a:latin typeface="JetBrains Mono"/>
              </a:rPr>
              <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1" u="none" strike="noStrike" cap="none" normalizeH="0" baseline="0" dirty="0" smtClean="0">
                <a:ln>
                  <a:noFill/>
                </a:ln>
                <a:solidFill>
                  <a:srgbClr val="8C8C8C"/>
                </a:solidFill>
                <a:effectLst/>
                <a:latin typeface="JetBrains Mono"/>
              </a:rPr>
              <a:t># Define a </a:t>
            </a:r>
            <a:r>
              <a:rPr kumimoji="0" lang="tr-TR" altLang="tr-TR" sz="1200" b="0" i="1" u="none" strike="noStrike" cap="none" normalizeH="0" baseline="0" dirty="0" err="1" smtClean="0">
                <a:ln>
                  <a:noFill/>
                </a:ln>
                <a:solidFill>
                  <a:srgbClr val="8C8C8C"/>
                </a:solidFill>
                <a:effectLst/>
                <a:latin typeface="JetBrains Mono"/>
              </a:rPr>
              <a:t>function</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to</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perform</a:t>
            </a:r>
            <a:r>
              <a:rPr kumimoji="0" lang="tr-TR" altLang="tr-TR" sz="1200" b="0" i="1" u="none" strike="noStrike" cap="none" normalizeH="0" baseline="0" dirty="0" smtClean="0">
                <a:ln>
                  <a:noFill/>
                </a:ln>
                <a:solidFill>
                  <a:srgbClr val="8C8C8C"/>
                </a:solidFill>
                <a:effectLst/>
                <a:latin typeface="JetBrains Mono"/>
              </a:rPr>
              <a:t> 2D </a:t>
            </a:r>
            <a:r>
              <a:rPr kumimoji="0" lang="tr-TR" altLang="tr-TR" sz="1200" b="0" i="1" u="none" strike="noStrike" cap="none" normalizeH="0" baseline="0" dirty="0" err="1" smtClean="0">
                <a:ln>
                  <a:noFill/>
                </a:ln>
                <a:solidFill>
                  <a:srgbClr val="8C8C8C"/>
                </a:solidFill>
                <a:effectLst/>
                <a:latin typeface="JetBrains Mono"/>
              </a:rPr>
              <a:t>rotation</a:t>
            </a:r>
            <a:r>
              <a:rPr kumimoji="0" lang="tr-TR" altLang="tr-TR" sz="1200" b="0" i="1" u="none" strike="noStrike" cap="none" normalizeH="0" baseline="0" dirty="0" smtClean="0">
                <a:ln>
                  <a:noFill/>
                </a:ln>
                <a:solidFill>
                  <a:srgbClr val="8C8C8C"/>
                </a:solidFill>
                <a:effectLst/>
                <a:latin typeface="JetBrains Mono"/>
              </a:rPr>
              <a:t/>
            </a:r>
            <a:br>
              <a:rPr kumimoji="0" lang="tr-TR" altLang="tr-TR" sz="1200" b="0" i="1" u="none" strike="noStrike" cap="none" normalizeH="0" baseline="0" dirty="0" smtClean="0">
                <a:ln>
                  <a:noFill/>
                </a:ln>
                <a:solidFill>
                  <a:srgbClr val="8C8C8C"/>
                </a:solidFill>
                <a:effectLst/>
                <a:latin typeface="JetBrains Mono"/>
              </a:rPr>
            </a:br>
            <a:r>
              <a:rPr kumimoji="0" lang="tr-TR" altLang="tr-TR" sz="1200" b="0" i="0" u="none" strike="noStrike" cap="none" normalizeH="0" baseline="0" dirty="0" smtClean="0">
                <a:ln>
                  <a:noFill/>
                </a:ln>
                <a:solidFill>
                  <a:srgbClr val="0033B3"/>
                </a:solidFill>
                <a:effectLst/>
                <a:latin typeface="JetBrains Mono"/>
              </a:rPr>
              <a:t>def </a:t>
            </a:r>
            <a:r>
              <a:rPr kumimoji="0" lang="tr-TR" altLang="tr-TR" sz="1200" b="0" i="0" u="none" strike="noStrike" cap="none" normalizeH="0" baseline="0" dirty="0" err="1" smtClean="0">
                <a:ln>
                  <a:noFill/>
                </a:ln>
                <a:solidFill>
                  <a:srgbClr val="00627A"/>
                </a:solidFill>
                <a:effectLst/>
                <a:latin typeface="JetBrains Mono"/>
              </a:rPr>
              <a:t>rotate_point</a:t>
            </a:r>
            <a:r>
              <a:rPr kumimoji="0" lang="tr-TR" altLang="tr-TR" sz="1200" b="0" i="0" u="none" strike="noStrike" cap="none" normalizeH="0" baseline="0" dirty="0" smtClean="0">
                <a:ln>
                  <a:noFill/>
                </a:ln>
                <a:solidFill>
                  <a:srgbClr val="080808"/>
                </a:solidFill>
                <a:effectLst/>
                <a:latin typeface="JetBrains Mono"/>
              </a:rPr>
              <a:t>(x, y, </a:t>
            </a:r>
            <a:r>
              <a:rPr kumimoji="0" lang="tr-TR" altLang="tr-TR" sz="1200" b="0" i="0" u="none" strike="noStrike" cap="none" normalizeH="0" baseline="0" dirty="0" err="1" smtClean="0">
                <a:ln>
                  <a:noFill/>
                </a:ln>
                <a:solidFill>
                  <a:srgbClr val="080808"/>
                </a:solidFill>
                <a:effectLst/>
                <a:latin typeface="JetBrains Mono"/>
              </a:rPr>
              <a:t>angle</a:t>
            </a:r>
            <a:r>
              <a:rPr kumimoji="0" lang="tr-TR" altLang="tr-TR" sz="1200" b="0" i="0" u="none" strike="noStrike" cap="none" normalizeH="0" baseline="0" dirty="0" smtClean="0">
                <a:ln>
                  <a:noFill/>
                </a:ln>
                <a:solidFill>
                  <a:srgbClr val="080808"/>
                </a:solidFill>
                <a:effectLst/>
                <a:latin typeface="JetBrains Mono"/>
              </a:rPr>
              <a:t>):</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Convert</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the</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angle</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from</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degrees</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to</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radians</a:t>
            </a:r>
            <a:r>
              <a:rPr kumimoji="0" lang="tr-TR" altLang="tr-TR" sz="1200" b="0" i="1" u="none" strike="noStrike" cap="none" normalizeH="0" baseline="0" dirty="0" smtClean="0">
                <a:ln>
                  <a:noFill/>
                </a:ln>
                <a:solidFill>
                  <a:srgbClr val="8C8C8C"/>
                </a:solidFill>
                <a:effectLst/>
                <a:latin typeface="JetBrains Mono"/>
              </a:rPr>
              <a:t/>
            </a:r>
            <a:br>
              <a:rPr kumimoji="0" lang="tr-TR" altLang="tr-TR" sz="1200" b="0" i="1" u="none" strike="noStrike" cap="none" normalizeH="0" baseline="0" dirty="0" smtClean="0">
                <a:ln>
                  <a:noFill/>
                </a:ln>
                <a:solidFill>
                  <a:srgbClr val="8C8C8C"/>
                </a:solidFill>
                <a:effectLst/>
                <a:latin typeface="JetBrains Mono"/>
              </a:rPr>
            </a:b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0" u="none" strike="noStrike" cap="none" normalizeH="0" baseline="0" dirty="0" err="1" smtClean="0">
                <a:ln>
                  <a:noFill/>
                </a:ln>
                <a:solidFill>
                  <a:srgbClr val="000000"/>
                </a:solidFill>
                <a:effectLst/>
                <a:latin typeface="JetBrains Mono"/>
              </a:rPr>
              <a:t>theta</a:t>
            </a:r>
            <a:r>
              <a:rPr kumimoji="0" lang="tr-TR" altLang="tr-TR" sz="1200" b="0" i="0" u="none" strike="noStrike" cap="none" normalizeH="0" baseline="0" dirty="0" smtClean="0">
                <a:ln>
                  <a:noFill/>
                </a:ln>
                <a:solidFill>
                  <a:srgbClr val="000000"/>
                </a:solidFill>
                <a:effectLst/>
                <a:latin typeface="JetBrains Mono"/>
              </a:rPr>
              <a:t> </a:t>
            </a: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err="1" smtClean="0">
                <a:ln>
                  <a:noFill/>
                </a:ln>
                <a:solidFill>
                  <a:srgbClr val="080808"/>
                </a:solidFill>
                <a:effectLst/>
                <a:latin typeface="JetBrains Mono"/>
              </a:rPr>
              <a:t>np.radians</a:t>
            </a:r>
            <a:r>
              <a:rPr kumimoji="0" lang="tr-TR" altLang="tr-TR" sz="1200" b="0" i="0" u="none" strike="noStrike" cap="none" normalizeH="0" baseline="0" dirty="0" smtClean="0">
                <a:ln>
                  <a:noFill/>
                </a:ln>
                <a:solidFill>
                  <a:srgbClr val="080808"/>
                </a:solidFill>
                <a:effectLst/>
                <a:latin typeface="JetBrains Mono"/>
              </a:rPr>
              <a:t>(</a:t>
            </a:r>
            <a:r>
              <a:rPr kumimoji="0" lang="tr-TR" altLang="tr-TR" sz="1200" b="0" i="0" u="none" strike="noStrike" cap="none" normalizeH="0" baseline="0" dirty="0" err="1" smtClean="0">
                <a:ln>
                  <a:noFill/>
                </a:ln>
                <a:solidFill>
                  <a:srgbClr val="080808"/>
                </a:solidFill>
                <a:effectLst/>
                <a:latin typeface="JetBrains Mono"/>
              </a:rPr>
              <a:t>angle</a:t>
            </a:r>
            <a:r>
              <a:rPr kumimoji="0" lang="tr-TR" altLang="tr-TR" sz="1200" b="0" i="0" u="none" strike="noStrike" cap="none" normalizeH="0" baseline="0" dirty="0" smtClean="0">
                <a:ln>
                  <a:noFill/>
                </a:ln>
                <a:solidFill>
                  <a:srgbClr val="080808"/>
                </a:solidFill>
                <a:effectLst/>
                <a:latin typeface="JetBrains Mono"/>
              </a:rPr>
              <a:t>)</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0" u="none" strike="noStrike" cap="none" normalizeH="0" baseline="0" dirty="0" smtClean="0">
                <a:ln>
                  <a:noFill/>
                </a:ln>
                <a:solidFill>
                  <a:srgbClr val="080808"/>
                </a:solidFill>
                <a:effectLst/>
                <a:latin typeface="JetBrains Mono"/>
              </a:rPr>
              <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1" u="none" strike="noStrike" cap="none" normalizeH="0" baseline="0" dirty="0" smtClean="0">
                <a:ln>
                  <a:noFill/>
                </a:ln>
                <a:solidFill>
                  <a:srgbClr val="8C8C8C"/>
                </a:solidFill>
                <a:effectLst/>
                <a:latin typeface="JetBrains Mono"/>
              </a:rPr>
              <a:t># Define </a:t>
            </a:r>
            <a:r>
              <a:rPr kumimoji="0" lang="tr-TR" altLang="tr-TR" sz="1200" b="0" i="1" u="none" strike="noStrike" cap="none" normalizeH="0" baseline="0" dirty="0" err="1" smtClean="0">
                <a:ln>
                  <a:noFill/>
                </a:ln>
                <a:solidFill>
                  <a:srgbClr val="8C8C8C"/>
                </a:solidFill>
                <a:effectLst/>
                <a:latin typeface="JetBrains Mono"/>
              </a:rPr>
              <a:t>the</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rotation</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matrix</a:t>
            </a:r>
            <a:r>
              <a:rPr kumimoji="0" lang="tr-TR" altLang="tr-TR" sz="1200" b="0" i="1" u="none" strike="noStrike" cap="none" normalizeH="0" baseline="0" dirty="0" smtClean="0">
                <a:ln>
                  <a:noFill/>
                </a:ln>
                <a:solidFill>
                  <a:srgbClr val="8C8C8C"/>
                </a:solidFill>
                <a:effectLst/>
                <a:latin typeface="JetBrains Mono"/>
              </a:rPr>
              <a:t/>
            </a:r>
            <a:br>
              <a:rPr kumimoji="0" lang="tr-TR" altLang="tr-TR" sz="1200" b="0" i="1" u="none" strike="noStrike" cap="none" normalizeH="0" baseline="0" dirty="0" smtClean="0">
                <a:ln>
                  <a:noFill/>
                </a:ln>
                <a:solidFill>
                  <a:srgbClr val="8C8C8C"/>
                </a:solidFill>
                <a:effectLst/>
                <a:latin typeface="JetBrains Mono"/>
              </a:rPr>
            </a:b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0" u="none" strike="noStrike" cap="none" normalizeH="0" baseline="0" dirty="0" err="1" smtClean="0">
                <a:ln>
                  <a:noFill/>
                </a:ln>
                <a:solidFill>
                  <a:srgbClr val="000000"/>
                </a:solidFill>
                <a:effectLst/>
                <a:latin typeface="JetBrains Mono"/>
              </a:rPr>
              <a:t>rotation_matrix</a:t>
            </a:r>
            <a:r>
              <a:rPr kumimoji="0" lang="tr-TR" altLang="tr-TR" sz="1200" b="0" i="0" u="none" strike="noStrike" cap="none" normalizeH="0" baseline="0" dirty="0" smtClean="0">
                <a:ln>
                  <a:noFill/>
                </a:ln>
                <a:solidFill>
                  <a:srgbClr val="000000"/>
                </a:solidFill>
                <a:effectLst/>
                <a:latin typeface="JetBrains Mono"/>
              </a:rPr>
              <a:t> </a:t>
            </a: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err="1" smtClean="0">
                <a:ln>
                  <a:noFill/>
                </a:ln>
                <a:solidFill>
                  <a:srgbClr val="080808"/>
                </a:solidFill>
                <a:effectLst/>
                <a:latin typeface="JetBrains Mono"/>
              </a:rPr>
              <a:t>np.array</a:t>
            </a:r>
            <a:r>
              <a:rPr kumimoji="0" lang="tr-TR" altLang="tr-TR" sz="1200" b="0" i="0" u="none" strike="noStrike" cap="none" normalizeH="0" baseline="0" dirty="0" smtClean="0">
                <a:ln>
                  <a:noFill/>
                </a:ln>
                <a:solidFill>
                  <a:srgbClr val="080808"/>
                </a:solidFill>
                <a:effectLst/>
                <a:latin typeface="JetBrains Mono"/>
              </a:rPr>
              <a:t>([[</a:t>
            </a:r>
            <a:r>
              <a:rPr kumimoji="0" lang="tr-TR" altLang="tr-TR" sz="1200" b="0" i="0" u="none" strike="noStrike" cap="none" normalizeH="0" baseline="0" dirty="0" err="1" smtClean="0">
                <a:ln>
                  <a:noFill/>
                </a:ln>
                <a:solidFill>
                  <a:srgbClr val="080808"/>
                </a:solidFill>
                <a:effectLst/>
                <a:latin typeface="JetBrains Mono"/>
              </a:rPr>
              <a:t>np.cos</a:t>
            </a:r>
            <a:r>
              <a:rPr kumimoji="0" lang="tr-TR" altLang="tr-TR" sz="1200" b="0" i="0" u="none" strike="noStrike" cap="none" normalizeH="0" baseline="0" dirty="0" smtClean="0">
                <a:ln>
                  <a:noFill/>
                </a:ln>
                <a:solidFill>
                  <a:srgbClr val="080808"/>
                </a:solidFill>
                <a:effectLst/>
                <a:latin typeface="JetBrains Mono"/>
              </a:rPr>
              <a:t>(</a:t>
            </a:r>
            <a:r>
              <a:rPr kumimoji="0" lang="tr-TR" altLang="tr-TR" sz="1200" b="0" i="0" u="none" strike="noStrike" cap="none" normalizeH="0" baseline="0" dirty="0" err="1" smtClean="0">
                <a:ln>
                  <a:noFill/>
                </a:ln>
                <a:solidFill>
                  <a:srgbClr val="000000"/>
                </a:solidFill>
                <a:effectLst/>
                <a:latin typeface="JetBrains Mono"/>
              </a:rPr>
              <a:t>theta</a:t>
            </a: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err="1" smtClean="0">
                <a:ln>
                  <a:noFill/>
                </a:ln>
                <a:solidFill>
                  <a:srgbClr val="080808"/>
                </a:solidFill>
                <a:effectLst/>
                <a:latin typeface="JetBrains Mono"/>
              </a:rPr>
              <a:t>np.sin</a:t>
            </a:r>
            <a:r>
              <a:rPr kumimoji="0" lang="tr-TR" altLang="tr-TR" sz="1200" b="0" i="0" u="none" strike="noStrike" cap="none" normalizeH="0" baseline="0" dirty="0" smtClean="0">
                <a:ln>
                  <a:noFill/>
                </a:ln>
                <a:solidFill>
                  <a:srgbClr val="080808"/>
                </a:solidFill>
                <a:effectLst/>
                <a:latin typeface="JetBrains Mono"/>
              </a:rPr>
              <a:t>(</a:t>
            </a:r>
            <a:r>
              <a:rPr kumimoji="0" lang="tr-TR" altLang="tr-TR" sz="1200" b="0" i="0" u="none" strike="noStrike" cap="none" normalizeH="0" baseline="0" dirty="0" err="1" smtClean="0">
                <a:ln>
                  <a:noFill/>
                </a:ln>
                <a:solidFill>
                  <a:srgbClr val="000000"/>
                </a:solidFill>
                <a:effectLst/>
                <a:latin typeface="JetBrains Mono"/>
              </a:rPr>
              <a:t>theta</a:t>
            </a: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smtClean="0">
                <a:ln>
                  <a:noFill/>
                </a:ln>
                <a:solidFill>
                  <a:srgbClr val="1750EB"/>
                </a:solidFill>
                <a:effectLst/>
                <a:latin typeface="JetBrains Mono"/>
              </a:rPr>
              <a:t>0</a:t>
            </a:r>
            <a:r>
              <a:rPr kumimoji="0" lang="tr-TR" altLang="tr-TR" sz="1200" b="0" i="0" u="none" strike="noStrike" cap="none" normalizeH="0" baseline="0" dirty="0" smtClean="0">
                <a:ln>
                  <a:noFill/>
                </a:ln>
                <a:solidFill>
                  <a:srgbClr val="080808"/>
                </a:solidFill>
                <a:effectLst/>
                <a:latin typeface="JetBrains Mono"/>
              </a:rPr>
              <a:t>],</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err="1" smtClean="0">
                <a:ln>
                  <a:noFill/>
                </a:ln>
                <a:solidFill>
                  <a:srgbClr val="080808"/>
                </a:solidFill>
                <a:effectLst/>
                <a:latin typeface="JetBrains Mono"/>
              </a:rPr>
              <a:t>np.sin</a:t>
            </a:r>
            <a:r>
              <a:rPr kumimoji="0" lang="tr-TR" altLang="tr-TR" sz="1200" b="0" i="0" u="none" strike="noStrike" cap="none" normalizeH="0" baseline="0" dirty="0" smtClean="0">
                <a:ln>
                  <a:noFill/>
                </a:ln>
                <a:solidFill>
                  <a:srgbClr val="080808"/>
                </a:solidFill>
                <a:effectLst/>
                <a:latin typeface="JetBrains Mono"/>
              </a:rPr>
              <a:t>(</a:t>
            </a:r>
            <a:r>
              <a:rPr kumimoji="0" lang="tr-TR" altLang="tr-TR" sz="1200" b="0" i="0" u="none" strike="noStrike" cap="none" normalizeH="0" baseline="0" dirty="0" err="1" smtClean="0">
                <a:ln>
                  <a:noFill/>
                </a:ln>
                <a:solidFill>
                  <a:srgbClr val="000000"/>
                </a:solidFill>
                <a:effectLst/>
                <a:latin typeface="JetBrains Mono"/>
              </a:rPr>
              <a:t>theta</a:t>
            </a: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err="1" smtClean="0">
                <a:ln>
                  <a:noFill/>
                </a:ln>
                <a:solidFill>
                  <a:srgbClr val="080808"/>
                </a:solidFill>
                <a:effectLst/>
                <a:latin typeface="JetBrains Mono"/>
              </a:rPr>
              <a:t>np.cos</a:t>
            </a:r>
            <a:r>
              <a:rPr kumimoji="0" lang="tr-TR" altLang="tr-TR" sz="1200" b="0" i="0" u="none" strike="noStrike" cap="none" normalizeH="0" baseline="0" dirty="0" smtClean="0">
                <a:ln>
                  <a:noFill/>
                </a:ln>
                <a:solidFill>
                  <a:srgbClr val="080808"/>
                </a:solidFill>
                <a:effectLst/>
                <a:latin typeface="JetBrains Mono"/>
              </a:rPr>
              <a:t>(</a:t>
            </a:r>
            <a:r>
              <a:rPr kumimoji="0" lang="tr-TR" altLang="tr-TR" sz="1200" b="0" i="0" u="none" strike="noStrike" cap="none" normalizeH="0" baseline="0" dirty="0" err="1" smtClean="0">
                <a:ln>
                  <a:noFill/>
                </a:ln>
                <a:solidFill>
                  <a:srgbClr val="000000"/>
                </a:solidFill>
                <a:effectLst/>
                <a:latin typeface="JetBrains Mono"/>
              </a:rPr>
              <a:t>theta</a:t>
            </a: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smtClean="0">
                <a:ln>
                  <a:noFill/>
                </a:ln>
                <a:solidFill>
                  <a:srgbClr val="1750EB"/>
                </a:solidFill>
                <a:effectLst/>
                <a:latin typeface="JetBrains Mono"/>
              </a:rPr>
              <a:t>0</a:t>
            </a:r>
            <a:r>
              <a:rPr kumimoji="0" lang="tr-TR" altLang="tr-TR" sz="1200" b="0" i="0" u="none" strike="noStrike" cap="none" normalizeH="0" baseline="0" dirty="0" smtClean="0">
                <a:ln>
                  <a:noFill/>
                </a:ln>
                <a:solidFill>
                  <a:srgbClr val="080808"/>
                </a:solidFill>
                <a:effectLst/>
                <a:latin typeface="JetBrains Mono"/>
              </a:rPr>
              <a:t>],</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smtClean="0">
                <a:ln>
                  <a:noFill/>
                </a:ln>
                <a:solidFill>
                  <a:srgbClr val="1750EB"/>
                </a:solidFill>
                <a:effectLst/>
                <a:latin typeface="JetBrains Mono"/>
              </a:rPr>
              <a:t>0</a:t>
            </a: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smtClean="0">
                <a:ln>
                  <a:noFill/>
                </a:ln>
                <a:solidFill>
                  <a:srgbClr val="1750EB"/>
                </a:solidFill>
                <a:effectLst/>
                <a:latin typeface="JetBrains Mono"/>
              </a:rPr>
              <a:t>0</a:t>
            </a: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smtClean="0">
                <a:ln>
                  <a:noFill/>
                </a:ln>
                <a:solidFill>
                  <a:srgbClr val="1750EB"/>
                </a:solidFill>
                <a:effectLst/>
                <a:latin typeface="JetBrains Mono"/>
              </a:rPr>
              <a:t>1</a:t>
            </a:r>
            <a:r>
              <a:rPr kumimoji="0" lang="tr-TR" altLang="tr-TR" sz="1200" b="0" i="0" u="none" strike="noStrike" cap="none" normalizeH="0" baseline="0" dirty="0" smtClean="0">
                <a:ln>
                  <a:noFill/>
                </a:ln>
                <a:solidFill>
                  <a:srgbClr val="080808"/>
                </a:solidFill>
                <a:effectLst/>
                <a:latin typeface="JetBrains Mono"/>
              </a:rPr>
              <a:t>]])</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0" u="none" strike="noStrike" cap="none" normalizeH="0" baseline="0" dirty="0" smtClean="0">
                <a:ln>
                  <a:noFill/>
                </a:ln>
                <a:solidFill>
                  <a:srgbClr val="080808"/>
                </a:solidFill>
                <a:effectLst/>
                <a:latin typeface="JetBrains Mono"/>
              </a:rPr>
              <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1" u="none" strike="noStrike" cap="none" normalizeH="0" baseline="0" dirty="0" smtClean="0">
                <a:ln>
                  <a:noFill/>
                </a:ln>
                <a:solidFill>
                  <a:srgbClr val="8C8C8C"/>
                </a:solidFill>
                <a:effectLst/>
                <a:latin typeface="JetBrains Mono"/>
              </a:rPr>
              <a:t># Define </a:t>
            </a:r>
            <a:r>
              <a:rPr kumimoji="0" lang="tr-TR" altLang="tr-TR" sz="1200" b="0" i="1" u="none" strike="noStrike" cap="none" normalizeH="0" baseline="0" dirty="0" err="1" smtClean="0">
                <a:ln>
                  <a:noFill/>
                </a:ln>
                <a:solidFill>
                  <a:srgbClr val="8C8C8C"/>
                </a:solidFill>
                <a:effectLst/>
                <a:latin typeface="JetBrains Mono"/>
              </a:rPr>
              <a:t>the</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point</a:t>
            </a:r>
            <a:r>
              <a:rPr kumimoji="0" lang="tr-TR" altLang="tr-TR" sz="1200" b="0" i="1" u="none" strike="noStrike" cap="none" normalizeH="0" baseline="0" dirty="0" smtClean="0">
                <a:ln>
                  <a:noFill/>
                </a:ln>
                <a:solidFill>
                  <a:srgbClr val="8C8C8C"/>
                </a:solidFill>
                <a:effectLst/>
                <a:latin typeface="JetBrains Mono"/>
              </a:rPr>
              <a:t> as a </a:t>
            </a:r>
            <a:r>
              <a:rPr kumimoji="0" lang="tr-TR" altLang="tr-TR" sz="1200" b="0" i="1" u="none" strike="noStrike" cap="none" normalizeH="0" baseline="0" dirty="0" err="1" smtClean="0">
                <a:ln>
                  <a:noFill/>
                </a:ln>
                <a:solidFill>
                  <a:srgbClr val="8C8C8C"/>
                </a:solidFill>
                <a:effectLst/>
                <a:latin typeface="JetBrains Mono"/>
              </a:rPr>
              <a:t>column</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vector</a:t>
            </a:r>
            <a:r>
              <a:rPr kumimoji="0" lang="tr-TR" altLang="tr-TR" sz="1200" b="0" i="1" u="none" strike="noStrike" cap="none" normalizeH="0" baseline="0" dirty="0" smtClean="0">
                <a:ln>
                  <a:noFill/>
                </a:ln>
                <a:solidFill>
                  <a:srgbClr val="8C8C8C"/>
                </a:solidFill>
                <a:effectLst/>
                <a:latin typeface="JetBrains Mono"/>
              </a:rPr>
              <a:t/>
            </a:r>
            <a:br>
              <a:rPr kumimoji="0" lang="tr-TR" altLang="tr-TR" sz="1200" b="0" i="1" u="none" strike="noStrike" cap="none" normalizeH="0" baseline="0" dirty="0" smtClean="0">
                <a:ln>
                  <a:noFill/>
                </a:ln>
                <a:solidFill>
                  <a:srgbClr val="8C8C8C"/>
                </a:solidFill>
                <a:effectLst/>
                <a:latin typeface="JetBrains Mono"/>
              </a:rPr>
            </a:b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0" u="none" strike="noStrike" cap="none" normalizeH="0" baseline="0" dirty="0" err="1" smtClean="0">
                <a:ln>
                  <a:noFill/>
                </a:ln>
                <a:solidFill>
                  <a:srgbClr val="000000"/>
                </a:solidFill>
                <a:effectLst/>
                <a:latin typeface="JetBrains Mono"/>
              </a:rPr>
              <a:t>point</a:t>
            </a:r>
            <a:r>
              <a:rPr kumimoji="0" lang="tr-TR" altLang="tr-TR" sz="1200" b="0" i="0" u="none" strike="noStrike" cap="none" normalizeH="0" baseline="0" dirty="0" smtClean="0">
                <a:ln>
                  <a:noFill/>
                </a:ln>
                <a:solidFill>
                  <a:srgbClr val="000000"/>
                </a:solidFill>
                <a:effectLst/>
                <a:latin typeface="JetBrains Mono"/>
              </a:rPr>
              <a:t> </a:t>
            </a: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err="1" smtClean="0">
                <a:ln>
                  <a:noFill/>
                </a:ln>
                <a:solidFill>
                  <a:srgbClr val="080808"/>
                </a:solidFill>
                <a:effectLst/>
                <a:latin typeface="JetBrains Mono"/>
              </a:rPr>
              <a:t>np.array</a:t>
            </a:r>
            <a:r>
              <a:rPr kumimoji="0" lang="tr-TR" altLang="tr-TR" sz="1200" b="0" i="0" u="none" strike="noStrike" cap="none" normalizeH="0" baseline="0" dirty="0" smtClean="0">
                <a:ln>
                  <a:noFill/>
                </a:ln>
                <a:solidFill>
                  <a:srgbClr val="080808"/>
                </a:solidFill>
                <a:effectLst/>
                <a:latin typeface="JetBrains Mono"/>
              </a:rPr>
              <a:t>([x, y, </a:t>
            </a:r>
            <a:r>
              <a:rPr kumimoji="0" lang="tr-TR" altLang="tr-TR" sz="1200" b="0" i="0" u="none" strike="noStrike" cap="none" normalizeH="0" baseline="0" dirty="0" smtClean="0">
                <a:ln>
                  <a:noFill/>
                </a:ln>
                <a:solidFill>
                  <a:srgbClr val="1750EB"/>
                </a:solidFill>
                <a:effectLst/>
                <a:latin typeface="JetBrains Mono"/>
              </a:rPr>
              <a:t>1</a:t>
            </a:r>
            <a:r>
              <a:rPr kumimoji="0" lang="tr-TR" altLang="tr-TR" sz="1200" b="0" i="0" u="none" strike="noStrike" cap="none" normalizeH="0" baseline="0" dirty="0" smtClean="0">
                <a:ln>
                  <a:noFill/>
                </a:ln>
                <a:solidFill>
                  <a:srgbClr val="080808"/>
                </a:solidFill>
                <a:effectLst/>
                <a:latin typeface="JetBrains Mono"/>
              </a:rPr>
              <a:t>])</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0" u="none" strike="noStrike" cap="none" normalizeH="0" baseline="0" dirty="0" smtClean="0">
                <a:ln>
                  <a:noFill/>
                </a:ln>
                <a:solidFill>
                  <a:srgbClr val="080808"/>
                </a:solidFill>
                <a:effectLst/>
                <a:latin typeface="JetBrains Mono"/>
              </a:rPr>
              <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Perform</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the</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rotation</a:t>
            </a:r>
            <a:r>
              <a:rPr kumimoji="0" lang="tr-TR" altLang="tr-TR" sz="1200" b="0" i="1" u="none" strike="noStrike" cap="none" normalizeH="0" baseline="0" dirty="0" smtClean="0">
                <a:ln>
                  <a:noFill/>
                </a:ln>
                <a:solidFill>
                  <a:srgbClr val="8C8C8C"/>
                </a:solidFill>
                <a:effectLst/>
                <a:latin typeface="JetBrains Mono"/>
              </a:rPr>
              <a:t/>
            </a:r>
            <a:br>
              <a:rPr kumimoji="0" lang="tr-TR" altLang="tr-TR" sz="1200" b="0" i="1" u="none" strike="noStrike" cap="none" normalizeH="0" baseline="0" dirty="0" smtClean="0">
                <a:ln>
                  <a:noFill/>
                </a:ln>
                <a:solidFill>
                  <a:srgbClr val="8C8C8C"/>
                </a:solidFill>
                <a:effectLst/>
                <a:latin typeface="JetBrains Mono"/>
              </a:rPr>
            </a:b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0" u="none" strike="noStrike" cap="none" normalizeH="0" baseline="0" dirty="0" err="1" smtClean="0">
                <a:ln>
                  <a:noFill/>
                </a:ln>
                <a:solidFill>
                  <a:srgbClr val="000000"/>
                </a:solidFill>
                <a:effectLst/>
                <a:latin typeface="JetBrains Mono"/>
              </a:rPr>
              <a:t>rotated_point</a:t>
            </a:r>
            <a:r>
              <a:rPr kumimoji="0" lang="tr-TR" altLang="tr-TR" sz="1200" b="0" i="0" u="none" strike="noStrike" cap="none" normalizeH="0" baseline="0" dirty="0" smtClean="0">
                <a:ln>
                  <a:noFill/>
                </a:ln>
                <a:solidFill>
                  <a:srgbClr val="000000"/>
                </a:solidFill>
                <a:effectLst/>
                <a:latin typeface="JetBrains Mono"/>
              </a:rPr>
              <a:t> </a:t>
            </a:r>
            <a:r>
              <a:rPr kumimoji="0" lang="tr-TR" altLang="tr-TR" sz="1200" b="0" i="0" u="none" strike="noStrike" cap="none" normalizeH="0" baseline="0" dirty="0" smtClean="0">
                <a:ln>
                  <a:noFill/>
                </a:ln>
                <a:solidFill>
                  <a:srgbClr val="080808"/>
                </a:solidFill>
                <a:effectLst/>
                <a:latin typeface="JetBrains Mono"/>
              </a:rPr>
              <a:t>= np.dot(</a:t>
            </a:r>
            <a:r>
              <a:rPr kumimoji="0" lang="tr-TR" altLang="tr-TR" sz="1200" b="0" i="0" u="none" strike="noStrike" cap="none" normalizeH="0" baseline="0" dirty="0" err="1" smtClean="0">
                <a:ln>
                  <a:noFill/>
                </a:ln>
                <a:solidFill>
                  <a:srgbClr val="000000"/>
                </a:solidFill>
                <a:effectLst/>
                <a:latin typeface="JetBrains Mono"/>
              </a:rPr>
              <a:t>rotation_matrix</a:t>
            </a: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err="1" smtClean="0">
                <a:ln>
                  <a:noFill/>
                </a:ln>
                <a:solidFill>
                  <a:srgbClr val="000000"/>
                </a:solidFill>
                <a:effectLst/>
                <a:latin typeface="JetBrains Mono"/>
              </a:rPr>
              <a:t>point</a:t>
            </a:r>
            <a:r>
              <a:rPr kumimoji="0" lang="tr-TR" altLang="tr-TR" sz="1200" b="0" i="0" u="none" strike="noStrike" cap="none" normalizeH="0" baseline="0" dirty="0" smtClean="0">
                <a:ln>
                  <a:noFill/>
                </a:ln>
                <a:solidFill>
                  <a:srgbClr val="080808"/>
                </a:solidFill>
                <a:effectLst/>
                <a:latin typeface="JetBrains Mono"/>
              </a:rPr>
              <a:t>)</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0" u="none" strike="noStrike" cap="none" normalizeH="0" baseline="0" dirty="0" smtClean="0">
                <a:ln>
                  <a:noFill/>
                </a:ln>
                <a:solidFill>
                  <a:srgbClr val="080808"/>
                </a:solidFill>
                <a:effectLst/>
                <a:latin typeface="JetBrains Mono"/>
              </a:rPr>
              <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Extract</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the</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rotated</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coordinates</a:t>
            </a:r>
            <a:r>
              <a:rPr kumimoji="0" lang="tr-TR" altLang="tr-TR" sz="1200" b="0" i="1" u="none" strike="noStrike" cap="none" normalizeH="0" baseline="0" dirty="0" smtClean="0">
                <a:ln>
                  <a:noFill/>
                </a:ln>
                <a:solidFill>
                  <a:srgbClr val="8C8C8C"/>
                </a:solidFill>
                <a:effectLst/>
                <a:latin typeface="JetBrains Mono"/>
              </a:rPr>
              <a:t/>
            </a:r>
            <a:br>
              <a:rPr kumimoji="0" lang="tr-TR" altLang="tr-TR" sz="1200" b="0" i="1" u="none" strike="noStrike" cap="none" normalizeH="0" baseline="0" dirty="0" smtClean="0">
                <a:ln>
                  <a:noFill/>
                </a:ln>
                <a:solidFill>
                  <a:srgbClr val="8C8C8C"/>
                </a:solidFill>
                <a:effectLst/>
                <a:latin typeface="JetBrains Mono"/>
              </a:rPr>
            </a:b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0" u="none" strike="noStrike" cap="none" normalizeH="0" baseline="0" dirty="0" err="1" smtClean="0">
                <a:ln>
                  <a:noFill/>
                </a:ln>
                <a:solidFill>
                  <a:srgbClr val="080808"/>
                </a:solidFill>
                <a:effectLst/>
                <a:latin typeface="JetBrains Mono"/>
              </a:rPr>
              <a:t>rotated_x</a:t>
            </a: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err="1" smtClean="0">
                <a:ln>
                  <a:noFill/>
                </a:ln>
                <a:solidFill>
                  <a:srgbClr val="080808"/>
                </a:solidFill>
                <a:effectLst/>
                <a:latin typeface="JetBrains Mono"/>
              </a:rPr>
              <a:t>rotated_y</a:t>
            </a:r>
            <a:r>
              <a:rPr kumimoji="0" lang="tr-TR" altLang="tr-TR" sz="1200" b="0" i="0" u="none" strike="noStrike" cap="none" normalizeH="0" baseline="0" dirty="0" smtClean="0">
                <a:ln>
                  <a:noFill/>
                </a:ln>
                <a:solidFill>
                  <a:srgbClr val="080808"/>
                </a:solidFill>
                <a:effectLst/>
                <a:latin typeface="JetBrains Mono"/>
              </a:rPr>
              <a:t> = </a:t>
            </a:r>
            <a:r>
              <a:rPr kumimoji="0" lang="tr-TR" altLang="tr-TR" sz="1200" b="0" i="0" u="none" strike="noStrike" cap="none" normalizeH="0" baseline="0" dirty="0" err="1" smtClean="0">
                <a:ln>
                  <a:noFill/>
                </a:ln>
                <a:solidFill>
                  <a:srgbClr val="000000"/>
                </a:solidFill>
                <a:effectLst/>
                <a:latin typeface="JetBrains Mono"/>
              </a:rPr>
              <a:t>rotated_point</a:t>
            </a:r>
            <a:r>
              <a:rPr kumimoji="0" lang="tr-TR" altLang="tr-TR" sz="1200" b="0" i="0" u="none" strike="noStrike" cap="none" normalizeH="0" baseline="0" dirty="0" smtClean="0">
                <a:ln>
                  <a:noFill/>
                </a:ln>
                <a:solidFill>
                  <a:srgbClr val="080808"/>
                </a:solidFill>
                <a:effectLst/>
                <a:latin typeface="JetBrains Mono"/>
              </a:rPr>
              <a:t>[:</a:t>
            </a:r>
            <a:r>
              <a:rPr kumimoji="0" lang="tr-TR" altLang="tr-TR" sz="1200" b="0" i="0" u="none" strike="noStrike" cap="none" normalizeH="0" baseline="0" dirty="0" smtClean="0">
                <a:ln>
                  <a:noFill/>
                </a:ln>
                <a:solidFill>
                  <a:srgbClr val="1750EB"/>
                </a:solidFill>
                <a:effectLst/>
                <a:latin typeface="JetBrains Mono"/>
              </a:rPr>
              <a:t>2</a:t>
            </a:r>
            <a:r>
              <a:rPr kumimoji="0" lang="tr-TR" altLang="tr-TR" sz="1200" b="0" i="0" u="none" strike="noStrike" cap="none" normalizeH="0" baseline="0" dirty="0" smtClean="0">
                <a:ln>
                  <a:noFill/>
                </a:ln>
                <a:solidFill>
                  <a:srgbClr val="080808"/>
                </a:solidFill>
                <a:effectLst/>
                <a:latin typeface="JetBrains Mono"/>
              </a:rPr>
              <a:t>]  </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0" u="none" strike="noStrike" cap="none" normalizeH="0" baseline="0" dirty="0" smtClean="0">
                <a:ln>
                  <a:noFill/>
                </a:ln>
                <a:solidFill>
                  <a:srgbClr val="080808"/>
                </a:solidFill>
                <a:effectLst/>
                <a:latin typeface="JetBrains Mono"/>
              </a:rPr>
              <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err="1" smtClean="0">
                <a:ln>
                  <a:noFill/>
                </a:ln>
                <a:solidFill>
                  <a:srgbClr val="0033B3"/>
                </a:solidFill>
                <a:effectLst/>
                <a:latin typeface="JetBrains Mono"/>
              </a:rPr>
              <a:t>return</a:t>
            </a:r>
            <a:r>
              <a:rPr kumimoji="0" lang="tr-TR" altLang="tr-TR" sz="1200" b="0" i="0" u="none" strike="noStrike" cap="none" normalizeH="0" baseline="0" dirty="0" smtClean="0">
                <a:ln>
                  <a:noFill/>
                </a:ln>
                <a:solidFill>
                  <a:srgbClr val="0033B3"/>
                </a:solidFill>
                <a:effectLst/>
                <a:latin typeface="JetBrains Mono"/>
              </a:rPr>
              <a:t> </a:t>
            </a:r>
            <a:r>
              <a:rPr kumimoji="0" lang="tr-TR" altLang="tr-TR" sz="1200" b="0" i="0" u="none" strike="noStrike" cap="none" normalizeH="0" baseline="0" dirty="0" err="1" smtClean="0">
                <a:ln>
                  <a:noFill/>
                </a:ln>
                <a:solidFill>
                  <a:srgbClr val="000000"/>
                </a:solidFill>
                <a:effectLst/>
                <a:latin typeface="JetBrains Mono"/>
              </a:rPr>
              <a:t>rotated_x</a:t>
            </a: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err="1" smtClean="0">
                <a:ln>
                  <a:noFill/>
                </a:ln>
                <a:solidFill>
                  <a:srgbClr val="000000"/>
                </a:solidFill>
                <a:effectLst/>
                <a:latin typeface="JetBrains Mono"/>
              </a:rPr>
              <a:t>rotated_y</a:t>
            </a:r>
            <a:r>
              <a:rPr kumimoji="0" lang="tr-TR" altLang="tr-TR" sz="1200" b="0" i="0" u="none" strike="noStrike" cap="none" normalizeH="0" baseline="0" dirty="0" smtClean="0">
                <a:ln>
                  <a:noFill/>
                </a:ln>
                <a:solidFill>
                  <a:srgbClr val="000000"/>
                </a:solidFill>
                <a:effectLst/>
                <a:latin typeface="JetBrains Mono"/>
              </a:rPr>
              <a:t/>
            </a:r>
            <a:br>
              <a:rPr kumimoji="0" lang="tr-TR" altLang="tr-TR" sz="1200" b="0" i="0" u="none" strike="noStrike" cap="none" normalizeH="0" baseline="0" dirty="0" smtClean="0">
                <a:ln>
                  <a:noFill/>
                </a:ln>
                <a:solidFill>
                  <a:srgbClr val="000000"/>
                </a:solidFill>
                <a:effectLst/>
                <a:latin typeface="JetBrains Mono"/>
              </a:rPr>
            </a:br>
            <a:r>
              <a:rPr kumimoji="0" lang="tr-TR" altLang="tr-TR" sz="1200" b="0" i="0" u="none" strike="noStrike" cap="none" normalizeH="0" baseline="0" dirty="0" smtClean="0">
                <a:ln>
                  <a:noFill/>
                </a:ln>
                <a:solidFill>
                  <a:srgbClr val="000000"/>
                </a:solidFill>
                <a:effectLst/>
                <a:latin typeface="JetBrains Mono"/>
              </a:rPr>
              <a:t/>
            </a:r>
            <a:br>
              <a:rPr kumimoji="0" lang="tr-TR" altLang="tr-TR" sz="1200" b="0" i="0" u="none" strike="noStrike" cap="none" normalizeH="0" baseline="0" dirty="0" smtClean="0">
                <a:ln>
                  <a:noFill/>
                </a:ln>
                <a:solidFill>
                  <a:srgbClr val="000000"/>
                </a:solidFill>
                <a:effectLst/>
                <a:latin typeface="JetBrains Mono"/>
              </a:rPr>
            </a:b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Example</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usage</a:t>
            </a:r>
            <a:r>
              <a:rPr kumimoji="0" lang="tr-TR" altLang="tr-TR" sz="1200" b="0" i="1" u="none" strike="noStrike" cap="none" normalizeH="0" baseline="0" dirty="0" smtClean="0">
                <a:ln>
                  <a:noFill/>
                </a:ln>
                <a:solidFill>
                  <a:srgbClr val="8C8C8C"/>
                </a:solidFill>
                <a:effectLst/>
                <a:latin typeface="JetBrains Mono"/>
              </a:rPr>
              <a:t/>
            </a:r>
            <a:br>
              <a:rPr kumimoji="0" lang="tr-TR" altLang="tr-TR" sz="1200" b="0" i="1" u="none" strike="noStrike" cap="none" normalizeH="0" baseline="0" dirty="0" smtClean="0">
                <a:ln>
                  <a:noFill/>
                </a:ln>
                <a:solidFill>
                  <a:srgbClr val="8C8C8C"/>
                </a:solidFill>
                <a:effectLst/>
                <a:latin typeface="JetBrains Mono"/>
              </a:rPr>
            </a:br>
            <a:r>
              <a:rPr kumimoji="0" lang="tr-TR" altLang="tr-TR" sz="1200" b="0" i="0" u="none" strike="noStrike" cap="none" normalizeH="0" baseline="0" dirty="0" smtClean="0">
                <a:ln>
                  <a:noFill/>
                </a:ln>
                <a:solidFill>
                  <a:srgbClr val="080808"/>
                </a:solidFill>
                <a:effectLst/>
                <a:latin typeface="JetBrains Mono"/>
              </a:rPr>
              <a:t>x, y = </a:t>
            </a:r>
            <a:r>
              <a:rPr kumimoji="0" lang="tr-TR" altLang="tr-TR" sz="1200" b="0" i="0" u="none" strike="noStrike" cap="none" normalizeH="0" baseline="0" dirty="0" smtClean="0">
                <a:ln>
                  <a:noFill/>
                </a:ln>
                <a:solidFill>
                  <a:srgbClr val="1750EB"/>
                </a:solidFill>
                <a:effectLst/>
                <a:latin typeface="JetBrains Mono"/>
              </a:rPr>
              <a:t>1</a:t>
            </a: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smtClean="0">
                <a:ln>
                  <a:noFill/>
                </a:ln>
                <a:solidFill>
                  <a:srgbClr val="1750EB"/>
                </a:solidFill>
                <a:effectLst/>
                <a:latin typeface="JetBrains Mono"/>
              </a:rPr>
              <a:t>0  </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Coordinates</a:t>
            </a:r>
            <a:r>
              <a:rPr kumimoji="0" lang="tr-TR" altLang="tr-TR" sz="1200" b="0" i="1" u="none" strike="noStrike" cap="none" normalizeH="0" baseline="0" dirty="0" smtClean="0">
                <a:ln>
                  <a:noFill/>
                </a:ln>
                <a:solidFill>
                  <a:srgbClr val="8C8C8C"/>
                </a:solidFill>
                <a:effectLst/>
                <a:latin typeface="JetBrains Mono"/>
              </a:rPr>
              <a:t> of </a:t>
            </a:r>
            <a:r>
              <a:rPr kumimoji="0" lang="tr-TR" altLang="tr-TR" sz="1200" b="0" i="1" u="none" strike="noStrike" cap="none" normalizeH="0" baseline="0" dirty="0" err="1" smtClean="0">
                <a:ln>
                  <a:noFill/>
                </a:ln>
                <a:solidFill>
                  <a:srgbClr val="8C8C8C"/>
                </a:solidFill>
                <a:effectLst/>
                <a:latin typeface="JetBrains Mono"/>
              </a:rPr>
              <a:t>the</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point</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to</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rotate</a:t>
            </a:r>
            <a:r>
              <a:rPr kumimoji="0" lang="tr-TR" altLang="tr-TR" sz="1200" b="0" i="1" u="none" strike="noStrike" cap="none" normalizeH="0" baseline="0" dirty="0" smtClean="0">
                <a:ln>
                  <a:noFill/>
                </a:ln>
                <a:solidFill>
                  <a:srgbClr val="8C8C8C"/>
                </a:solidFill>
                <a:effectLst/>
                <a:latin typeface="JetBrains Mono"/>
              </a:rPr>
              <a:t/>
            </a:r>
            <a:br>
              <a:rPr kumimoji="0" lang="tr-TR" altLang="tr-TR" sz="1200" b="0" i="1" u="none" strike="noStrike" cap="none" normalizeH="0" baseline="0" dirty="0" smtClean="0">
                <a:ln>
                  <a:noFill/>
                </a:ln>
                <a:solidFill>
                  <a:srgbClr val="8C8C8C"/>
                </a:solidFill>
                <a:effectLst/>
                <a:latin typeface="JetBrains Mono"/>
              </a:rPr>
            </a:br>
            <a:r>
              <a:rPr kumimoji="0" lang="tr-TR" altLang="tr-TR" sz="1200" b="0" i="0" u="none" strike="noStrike" cap="none" normalizeH="0" baseline="0" dirty="0" err="1" smtClean="0">
                <a:ln>
                  <a:noFill/>
                </a:ln>
                <a:solidFill>
                  <a:srgbClr val="080808"/>
                </a:solidFill>
                <a:effectLst/>
                <a:latin typeface="JetBrains Mono"/>
              </a:rPr>
              <a:t>angle</a:t>
            </a:r>
            <a:r>
              <a:rPr kumimoji="0" lang="tr-TR" altLang="tr-TR" sz="1200" b="0" i="0" u="none" strike="noStrike" cap="none" normalizeH="0" baseline="0" dirty="0" smtClean="0">
                <a:ln>
                  <a:noFill/>
                </a:ln>
                <a:solidFill>
                  <a:srgbClr val="080808"/>
                </a:solidFill>
                <a:effectLst/>
                <a:latin typeface="JetBrains Mono"/>
              </a:rPr>
              <a:t> = </a:t>
            </a:r>
            <a:r>
              <a:rPr kumimoji="0" lang="tr-TR" altLang="tr-TR" sz="1200" b="0" i="0" u="none" strike="noStrike" cap="none" normalizeH="0" baseline="0" dirty="0" smtClean="0">
                <a:ln>
                  <a:noFill/>
                </a:ln>
                <a:solidFill>
                  <a:srgbClr val="1750EB"/>
                </a:solidFill>
                <a:effectLst/>
                <a:latin typeface="JetBrains Mono"/>
              </a:rPr>
              <a:t>45  </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Rotation</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angle</a:t>
            </a:r>
            <a:r>
              <a:rPr kumimoji="0" lang="tr-TR" altLang="tr-TR" sz="1200" b="0" i="1" u="none" strike="noStrike" cap="none" normalizeH="0" baseline="0" dirty="0" smtClean="0">
                <a:ln>
                  <a:noFill/>
                </a:ln>
                <a:solidFill>
                  <a:srgbClr val="8C8C8C"/>
                </a:solidFill>
                <a:effectLst/>
                <a:latin typeface="JetBrains Mono"/>
              </a:rPr>
              <a:t> in </a:t>
            </a:r>
            <a:r>
              <a:rPr kumimoji="0" lang="tr-TR" altLang="tr-TR" sz="1200" b="0" i="1" u="none" strike="noStrike" cap="none" normalizeH="0" baseline="0" dirty="0" err="1" smtClean="0">
                <a:ln>
                  <a:noFill/>
                </a:ln>
                <a:solidFill>
                  <a:srgbClr val="8C8C8C"/>
                </a:solidFill>
                <a:effectLst/>
                <a:latin typeface="JetBrains Mono"/>
              </a:rPr>
              <a:t>degrees</a:t>
            </a:r>
            <a:r>
              <a:rPr kumimoji="0" lang="tr-TR" altLang="tr-TR" sz="1200" b="0" i="1" u="none" strike="noStrike" cap="none" normalizeH="0" baseline="0" dirty="0" smtClean="0">
                <a:ln>
                  <a:noFill/>
                </a:ln>
                <a:solidFill>
                  <a:srgbClr val="8C8C8C"/>
                </a:solidFill>
                <a:effectLst/>
                <a:latin typeface="JetBrains Mono"/>
              </a:rPr>
              <a:t/>
            </a:r>
            <a:br>
              <a:rPr kumimoji="0" lang="tr-TR" altLang="tr-TR" sz="1200" b="0" i="1" u="none" strike="noStrike" cap="none" normalizeH="0" baseline="0" dirty="0" smtClean="0">
                <a:ln>
                  <a:noFill/>
                </a:ln>
                <a:solidFill>
                  <a:srgbClr val="8C8C8C"/>
                </a:solidFill>
                <a:effectLst/>
                <a:latin typeface="JetBrains Mono"/>
              </a:rPr>
            </a:br>
            <a:r>
              <a:rPr kumimoji="0" lang="tr-TR" altLang="tr-TR" sz="1200" b="0" i="1" u="none" strike="noStrike" cap="none" normalizeH="0" baseline="0" dirty="0" smtClean="0">
                <a:ln>
                  <a:noFill/>
                </a:ln>
                <a:solidFill>
                  <a:srgbClr val="8C8C8C"/>
                </a:solidFill>
                <a:effectLst/>
                <a:latin typeface="JetBrains Mono"/>
              </a:rPr>
              <a:t/>
            </a:r>
            <a:br>
              <a:rPr kumimoji="0" lang="tr-TR" altLang="tr-TR" sz="1200" b="0" i="1" u="none" strike="noStrike" cap="none" normalizeH="0" baseline="0" dirty="0" smtClean="0">
                <a:ln>
                  <a:noFill/>
                </a:ln>
                <a:solidFill>
                  <a:srgbClr val="8C8C8C"/>
                </a:solidFill>
                <a:effectLst/>
                <a:latin typeface="JetBrains Mono"/>
              </a:rPr>
            </a:b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Perform</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the</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rotation</a:t>
            </a:r>
            <a:r>
              <a:rPr kumimoji="0" lang="tr-TR" altLang="tr-TR" sz="1200" b="0" i="1" u="none" strike="noStrike" cap="none" normalizeH="0" baseline="0" dirty="0" smtClean="0">
                <a:ln>
                  <a:noFill/>
                </a:ln>
                <a:solidFill>
                  <a:srgbClr val="8C8C8C"/>
                </a:solidFill>
                <a:effectLst/>
                <a:latin typeface="JetBrains Mono"/>
              </a:rPr>
              <a:t/>
            </a:r>
            <a:br>
              <a:rPr kumimoji="0" lang="tr-TR" altLang="tr-TR" sz="1200" b="0" i="1" u="none" strike="noStrike" cap="none" normalizeH="0" baseline="0" dirty="0" smtClean="0">
                <a:ln>
                  <a:noFill/>
                </a:ln>
                <a:solidFill>
                  <a:srgbClr val="8C8C8C"/>
                </a:solidFill>
                <a:effectLst/>
                <a:latin typeface="JetBrains Mono"/>
              </a:rPr>
            </a:br>
            <a:r>
              <a:rPr kumimoji="0" lang="tr-TR" altLang="tr-TR" sz="1200" b="0" i="0" u="none" strike="noStrike" cap="none" normalizeH="0" baseline="0" dirty="0" err="1" smtClean="0">
                <a:ln>
                  <a:noFill/>
                </a:ln>
                <a:solidFill>
                  <a:srgbClr val="080808"/>
                </a:solidFill>
                <a:effectLst/>
                <a:latin typeface="JetBrains Mono"/>
              </a:rPr>
              <a:t>rotated_x</a:t>
            </a: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err="1" smtClean="0">
                <a:ln>
                  <a:noFill/>
                </a:ln>
                <a:solidFill>
                  <a:srgbClr val="080808"/>
                </a:solidFill>
                <a:effectLst/>
                <a:latin typeface="JetBrains Mono"/>
              </a:rPr>
              <a:t>rotated_y</a:t>
            </a:r>
            <a:r>
              <a:rPr kumimoji="0" lang="tr-TR" altLang="tr-TR" sz="1200" b="0" i="0" u="none" strike="noStrike" cap="none" normalizeH="0" baseline="0" dirty="0" smtClean="0">
                <a:ln>
                  <a:noFill/>
                </a:ln>
                <a:solidFill>
                  <a:srgbClr val="080808"/>
                </a:solidFill>
                <a:effectLst/>
                <a:latin typeface="JetBrains Mono"/>
              </a:rPr>
              <a:t> = </a:t>
            </a:r>
            <a:r>
              <a:rPr kumimoji="0" lang="tr-TR" altLang="tr-TR" sz="1200" b="0" i="0" u="none" strike="noStrike" cap="none" normalizeH="0" baseline="0" dirty="0" err="1" smtClean="0">
                <a:ln>
                  <a:noFill/>
                </a:ln>
                <a:solidFill>
                  <a:srgbClr val="080808"/>
                </a:solidFill>
                <a:effectLst/>
                <a:latin typeface="JetBrains Mono"/>
              </a:rPr>
              <a:t>rotate_point</a:t>
            </a:r>
            <a:r>
              <a:rPr kumimoji="0" lang="tr-TR" altLang="tr-TR" sz="1200" b="0" i="0" u="none" strike="noStrike" cap="none" normalizeH="0" baseline="0" dirty="0" smtClean="0">
                <a:ln>
                  <a:noFill/>
                </a:ln>
                <a:solidFill>
                  <a:srgbClr val="080808"/>
                </a:solidFill>
                <a:effectLst/>
                <a:latin typeface="JetBrains Mono"/>
              </a:rPr>
              <a:t>(x, y, </a:t>
            </a:r>
            <a:r>
              <a:rPr kumimoji="0" lang="tr-TR" altLang="tr-TR" sz="1200" b="0" i="0" u="none" strike="noStrike" cap="none" normalizeH="0" baseline="0" dirty="0" err="1" smtClean="0">
                <a:ln>
                  <a:noFill/>
                </a:ln>
                <a:solidFill>
                  <a:srgbClr val="080808"/>
                </a:solidFill>
                <a:effectLst/>
                <a:latin typeface="JetBrains Mono"/>
              </a:rPr>
              <a:t>angle</a:t>
            </a:r>
            <a:r>
              <a:rPr kumimoji="0" lang="tr-TR" altLang="tr-TR" sz="1200" b="0" i="0" u="none" strike="noStrike" cap="none" normalizeH="0" baseline="0" dirty="0" smtClean="0">
                <a:ln>
                  <a:noFill/>
                </a:ln>
                <a:solidFill>
                  <a:srgbClr val="080808"/>
                </a:solidFill>
                <a:effectLst/>
                <a:latin typeface="JetBrains Mono"/>
              </a:rPr>
              <a:t>)</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0" u="none" strike="noStrike" cap="none" normalizeH="0" baseline="0" dirty="0" smtClean="0">
                <a:ln>
                  <a:noFill/>
                </a:ln>
                <a:solidFill>
                  <a:srgbClr val="080808"/>
                </a:solidFill>
                <a:effectLst/>
                <a:latin typeface="JetBrains Mono"/>
              </a:rPr>
              <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Print</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the</a:t>
            </a:r>
            <a:r>
              <a:rPr kumimoji="0" lang="tr-TR" altLang="tr-TR" sz="1200" b="0" i="1" u="none" strike="noStrike" cap="none" normalizeH="0" baseline="0" dirty="0" smtClean="0">
                <a:ln>
                  <a:noFill/>
                </a:ln>
                <a:solidFill>
                  <a:srgbClr val="8C8C8C"/>
                </a:solidFill>
                <a:effectLst/>
                <a:latin typeface="JetBrains Mono"/>
              </a:rPr>
              <a:t> </a:t>
            </a:r>
            <a:r>
              <a:rPr kumimoji="0" lang="tr-TR" altLang="tr-TR" sz="1200" b="0" i="1" u="none" strike="noStrike" cap="none" normalizeH="0" baseline="0" dirty="0" err="1" smtClean="0">
                <a:ln>
                  <a:noFill/>
                </a:ln>
                <a:solidFill>
                  <a:srgbClr val="8C8C8C"/>
                </a:solidFill>
                <a:effectLst/>
                <a:latin typeface="JetBrains Mono"/>
              </a:rPr>
              <a:t>result</a:t>
            </a:r>
            <a:r>
              <a:rPr kumimoji="0" lang="tr-TR" altLang="tr-TR" sz="1200" b="0" i="1" u="none" strike="noStrike" cap="none" normalizeH="0" baseline="0" dirty="0" smtClean="0">
                <a:ln>
                  <a:noFill/>
                </a:ln>
                <a:solidFill>
                  <a:srgbClr val="8C8C8C"/>
                </a:solidFill>
                <a:effectLst/>
                <a:latin typeface="JetBrains Mono"/>
              </a:rPr>
              <a:t/>
            </a:r>
            <a:br>
              <a:rPr kumimoji="0" lang="tr-TR" altLang="tr-TR" sz="1200" b="0" i="1" u="none" strike="noStrike" cap="none" normalizeH="0" baseline="0" dirty="0" smtClean="0">
                <a:ln>
                  <a:noFill/>
                </a:ln>
                <a:solidFill>
                  <a:srgbClr val="8C8C8C"/>
                </a:solidFill>
                <a:effectLst/>
                <a:latin typeface="JetBrains Mono"/>
              </a:rPr>
            </a:br>
            <a:r>
              <a:rPr kumimoji="0" lang="tr-TR" altLang="tr-TR" sz="1200" b="0" i="0" u="none" strike="noStrike" cap="none" normalizeH="0" baseline="0" dirty="0" err="1" smtClean="0">
                <a:ln>
                  <a:noFill/>
                </a:ln>
                <a:solidFill>
                  <a:srgbClr val="000080"/>
                </a:solidFill>
                <a:effectLst/>
                <a:latin typeface="JetBrains Mono"/>
              </a:rPr>
              <a:t>print</a:t>
            </a:r>
            <a:r>
              <a:rPr kumimoji="0" lang="tr-TR" altLang="tr-TR" sz="1200" b="0" i="0" u="none" strike="noStrike" cap="none" normalizeH="0" baseline="0" dirty="0" smtClean="0">
                <a:ln>
                  <a:noFill/>
                </a:ln>
                <a:solidFill>
                  <a:srgbClr val="080808"/>
                </a:solidFill>
                <a:effectLst/>
                <a:latin typeface="JetBrains Mono"/>
              </a:rPr>
              <a:t>(</a:t>
            </a:r>
            <a:r>
              <a:rPr kumimoji="0" lang="tr-TR" altLang="tr-TR" sz="1200" b="0" i="0" u="none" strike="noStrike" cap="none" normalizeH="0" baseline="0" dirty="0" smtClean="0">
                <a:ln>
                  <a:noFill/>
                </a:ln>
                <a:solidFill>
                  <a:srgbClr val="067D17"/>
                </a:solidFill>
                <a:effectLst/>
                <a:latin typeface="JetBrains Mono"/>
              </a:rPr>
              <a:t>"</a:t>
            </a:r>
            <a:r>
              <a:rPr kumimoji="0" lang="tr-TR" altLang="tr-TR" sz="1200" b="0" i="0" u="none" strike="noStrike" cap="none" normalizeH="0" baseline="0" dirty="0" err="1" smtClean="0">
                <a:ln>
                  <a:noFill/>
                </a:ln>
                <a:solidFill>
                  <a:srgbClr val="067D17"/>
                </a:solidFill>
                <a:effectLst/>
                <a:latin typeface="JetBrains Mono"/>
              </a:rPr>
              <a:t>Original</a:t>
            </a:r>
            <a:r>
              <a:rPr kumimoji="0" lang="tr-TR" altLang="tr-TR" sz="1200" b="0" i="0" u="none" strike="noStrike" cap="none" normalizeH="0" baseline="0" dirty="0" smtClean="0">
                <a:ln>
                  <a:noFill/>
                </a:ln>
                <a:solidFill>
                  <a:srgbClr val="067D17"/>
                </a:solidFill>
                <a:effectLst/>
                <a:latin typeface="JetBrains Mono"/>
              </a:rPr>
              <a:t> Point: ({}, {})"</a:t>
            </a:r>
            <a:r>
              <a:rPr kumimoji="0" lang="tr-TR" altLang="tr-TR" sz="1200" b="0" i="0" u="none" strike="noStrike" cap="none" normalizeH="0" baseline="0" dirty="0" smtClean="0">
                <a:ln>
                  <a:noFill/>
                </a:ln>
                <a:solidFill>
                  <a:srgbClr val="080808"/>
                </a:solidFill>
                <a:effectLst/>
                <a:latin typeface="JetBrains Mono"/>
              </a:rPr>
              <a:t>.format(x, y))</a:t>
            </a:r>
            <a:br>
              <a:rPr kumimoji="0" lang="tr-TR" altLang="tr-TR" sz="1200" b="0" i="0" u="none" strike="noStrike" cap="none" normalizeH="0" baseline="0" dirty="0" smtClean="0">
                <a:ln>
                  <a:noFill/>
                </a:ln>
                <a:solidFill>
                  <a:srgbClr val="080808"/>
                </a:solidFill>
                <a:effectLst/>
                <a:latin typeface="JetBrains Mono"/>
              </a:rPr>
            </a:br>
            <a:r>
              <a:rPr kumimoji="0" lang="tr-TR" altLang="tr-TR" sz="1200" b="0" i="0" u="none" strike="noStrike" cap="none" normalizeH="0" baseline="0" dirty="0" err="1" smtClean="0">
                <a:ln>
                  <a:noFill/>
                </a:ln>
                <a:solidFill>
                  <a:srgbClr val="000080"/>
                </a:solidFill>
                <a:effectLst/>
                <a:latin typeface="JetBrains Mono"/>
              </a:rPr>
              <a:t>print</a:t>
            </a:r>
            <a:r>
              <a:rPr kumimoji="0" lang="tr-TR" altLang="tr-TR" sz="1200" b="0" i="0" u="none" strike="noStrike" cap="none" normalizeH="0" baseline="0" dirty="0" smtClean="0">
                <a:ln>
                  <a:noFill/>
                </a:ln>
                <a:solidFill>
                  <a:srgbClr val="080808"/>
                </a:solidFill>
                <a:effectLst/>
                <a:latin typeface="JetBrains Mono"/>
              </a:rPr>
              <a:t>(</a:t>
            </a:r>
            <a:r>
              <a:rPr kumimoji="0" lang="tr-TR" altLang="tr-TR" sz="1200" b="0" i="0" u="none" strike="noStrike" cap="none" normalizeH="0" baseline="0" dirty="0" smtClean="0">
                <a:ln>
                  <a:noFill/>
                </a:ln>
                <a:solidFill>
                  <a:srgbClr val="067D17"/>
                </a:solidFill>
                <a:effectLst/>
                <a:latin typeface="JetBrains Mono"/>
              </a:rPr>
              <a:t>"</a:t>
            </a:r>
            <a:r>
              <a:rPr kumimoji="0" lang="tr-TR" altLang="tr-TR" sz="1200" b="0" i="0" u="none" strike="noStrike" cap="none" normalizeH="0" baseline="0" dirty="0" err="1" smtClean="0">
                <a:ln>
                  <a:noFill/>
                </a:ln>
                <a:solidFill>
                  <a:srgbClr val="067D17"/>
                </a:solidFill>
                <a:effectLst/>
                <a:latin typeface="JetBrains Mono"/>
              </a:rPr>
              <a:t>Rotated</a:t>
            </a:r>
            <a:r>
              <a:rPr kumimoji="0" lang="tr-TR" altLang="tr-TR" sz="1200" b="0" i="0" u="none" strike="noStrike" cap="none" normalizeH="0" baseline="0" dirty="0" smtClean="0">
                <a:ln>
                  <a:noFill/>
                </a:ln>
                <a:solidFill>
                  <a:srgbClr val="067D17"/>
                </a:solidFill>
                <a:effectLst/>
                <a:latin typeface="JetBrains Mono"/>
              </a:rPr>
              <a:t> Point: ({}, {})"</a:t>
            </a:r>
            <a:r>
              <a:rPr kumimoji="0" lang="tr-TR" altLang="tr-TR" sz="1200" b="0" i="0" u="none" strike="noStrike" cap="none" normalizeH="0" baseline="0" dirty="0" smtClean="0">
                <a:ln>
                  <a:noFill/>
                </a:ln>
                <a:solidFill>
                  <a:srgbClr val="080808"/>
                </a:solidFill>
                <a:effectLst/>
                <a:latin typeface="JetBrains Mono"/>
              </a:rPr>
              <a:t>.format(</a:t>
            </a:r>
            <a:r>
              <a:rPr kumimoji="0" lang="tr-TR" altLang="tr-TR" sz="1200" b="0" i="0" u="none" strike="noStrike" cap="none" normalizeH="0" baseline="0" dirty="0" err="1" smtClean="0">
                <a:ln>
                  <a:noFill/>
                </a:ln>
                <a:solidFill>
                  <a:srgbClr val="080808"/>
                </a:solidFill>
                <a:effectLst/>
                <a:latin typeface="JetBrains Mono"/>
              </a:rPr>
              <a:t>rotated_x</a:t>
            </a:r>
            <a:r>
              <a:rPr kumimoji="0" lang="tr-TR" altLang="tr-TR" sz="1200" b="0" i="0" u="none" strike="noStrike" cap="none" normalizeH="0" baseline="0" dirty="0" smtClean="0">
                <a:ln>
                  <a:noFill/>
                </a:ln>
                <a:solidFill>
                  <a:srgbClr val="080808"/>
                </a:solidFill>
                <a:effectLst/>
                <a:latin typeface="JetBrains Mono"/>
              </a:rPr>
              <a:t>, </a:t>
            </a:r>
            <a:r>
              <a:rPr kumimoji="0" lang="tr-TR" altLang="tr-TR" sz="1200" b="0" i="0" u="none" strike="noStrike" cap="none" normalizeH="0" baseline="0" dirty="0" err="1" smtClean="0">
                <a:ln>
                  <a:noFill/>
                </a:ln>
                <a:solidFill>
                  <a:srgbClr val="080808"/>
                </a:solidFill>
                <a:effectLst/>
                <a:latin typeface="JetBrains Mono"/>
              </a:rPr>
              <a:t>rotated_y</a:t>
            </a:r>
            <a:r>
              <a:rPr kumimoji="0" lang="tr-TR" altLang="tr-TR" sz="1200" b="0" i="0" u="none" strike="noStrike" cap="none" normalizeH="0" baseline="0" dirty="0" smtClean="0">
                <a:ln>
                  <a:noFill/>
                </a:ln>
                <a:solidFill>
                  <a:srgbClr val="080808"/>
                </a:solidFill>
                <a:effectLst/>
                <a:latin typeface="JetBrains Mono"/>
              </a:rPr>
              <a:t>))</a:t>
            </a:r>
            <a:endParaRPr kumimoji="0" lang="tr-TR" altLang="tr-TR" sz="12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593777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2D Ölçekleme</a:t>
            </a:r>
            <a:endParaRPr lang="tr-TR" dirty="0"/>
          </a:p>
        </p:txBody>
      </p:sp>
      <p:pic>
        <p:nvPicPr>
          <p:cNvPr id="4" name="İçerik Yer Tutucusu 3"/>
          <p:cNvPicPr>
            <a:picLocks noGrp="1" noChangeAspect="1"/>
          </p:cNvPicPr>
          <p:nvPr>
            <p:ph idx="1"/>
          </p:nvPr>
        </p:nvPicPr>
        <p:blipFill>
          <a:blip r:embed="rId2"/>
          <a:stretch>
            <a:fillRect/>
          </a:stretch>
        </p:blipFill>
        <p:spPr>
          <a:xfrm>
            <a:off x="1108378" y="3983405"/>
            <a:ext cx="3233612" cy="1919655"/>
          </a:xfrm>
          <a:prstGeom prst="rect">
            <a:avLst/>
          </a:prstGeom>
        </p:spPr>
      </p:pic>
      <p:pic>
        <p:nvPicPr>
          <p:cNvPr id="5" name="Resim 4"/>
          <p:cNvPicPr>
            <a:picLocks noChangeAspect="1"/>
          </p:cNvPicPr>
          <p:nvPr/>
        </p:nvPicPr>
        <p:blipFill>
          <a:blip r:embed="rId3"/>
          <a:stretch>
            <a:fillRect/>
          </a:stretch>
        </p:blipFill>
        <p:spPr>
          <a:xfrm>
            <a:off x="6096000" y="3983405"/>
            <a:ext cx="3562028" cy="2207509"/>
          </a:xfrm>
          <a:prstGeom prst="rect">
            <a:avLst/>
          </a:prstGeom>
        </p:spPr>
      </p:pic>
      <mc:AlternateContent xmlns:mc="http://schemas.openxmlformats.org/markup-compatibility/2006" xmlns:a14="http://schemas.microsoft.com/office/drawing/2010/main">
        <mc:Choice Requires="a14">
          <p:sp>
            <p:nvSpPr>
              <p:cNvPr id="6" name="Dikdörtgen 5"/>
              <p:cNvSpPr/>
              <p:nvPr/>
            </p:nvSpPr>
            <p:spPr>
              <a:xfrm>
                <a:off x="838200" y="2071477"/>
                <a:ext cx="3983182" cy="1474378"/>
              </a:xfrm>
              <a:prstGeom prst="rect">
                <a:avLst/>
              </a:prstGeom>
            </p:spPr>
            <p:txBody>
              <a:bodyPr wrap="square">
                <a:spAutoFit/>
              </a:bodyPr>
              <a:lstStyle/>
              <a:p>
                <a:endParaRPr lang="tr-TR" sz="2400" i="1" dirty="0" smtClean="0">
                  <a:latin typeface="Cambria Math" panose="02040503050406030204" pitchFamily="18" charset="0"/>
                </a:endParaRPr>
              </a:p>
              <a:p>
                <a14:m>
                  <m:oMath xmlns:m="http://schemas.openxmlformats.org/officeDocument/2006/math">
                    <m:d>
                      <m:dPr>
                        <m:begChr m:val="["/>
                        <m:endChr m:val="]"/>
                        <m:ctrlPr>
                          <a:rPr lang="tr-TR" sz="2400" i="1">
                            <a:latin typeface="Cambria Math" panose="02040503050406030204" pitchFamily="18" charset="0"/>
                          </a:rPr>
                        </m:ctrlPr>
                      </m:dPr>
                      <m:e>
                        <m:m>
                          <m:mPr>
                            <m:mcs>
                              <m:mc>
                                <m:mcPr>
                                  <m:count m:val="1"/>
                                  <m:mcJc m:val="center"/>
                                </m:mcPr>
                              </m:mc>
                            </m:mcs>
                            <m:ctrlPr>
                              <a:rPr lang="tr-TR" sz="2400" i="1">
                                <a:latin typeface="Cambria Math" panose="02040503050406030204" pitchFamily="18" charset="0"/>
                              </a:rPr>
                            </m:ctrlPr>
                          </m:mPr>
                          <m:mr>
                            <m:e>
                              <m:r>
                                <m:rPr>
                                  <m:brk m:alnAt="7"/>
                                </m:rPr>
                                <a:rPr lang="tr-TR" sz="2400" i="1">
                                  <a:latin typeface="Cambria Math" panose="02040503050406030204" pitchFamily="18" charset="0"/>
                                </a:rPr>
                                <m:t>𝑥</m:t>
                              </m:r>
                              <m:r>
                                <a:rPr lang="tr-TR" sz="2400" i="1">
                                  <a:latin typeface="Cambria Math" panose="02040503050406030204" pitchFamily="18" charset="0"/>
                                </a:rPr>
                                <m:t>′</m:t>
                              </m:r>
                            </m:e>
                          </m:mr>
                          <m:mr>
                            <m:e>
                              <m:r>
                                <a:rPr lang="tr-TR" sz="2400" i="1">
                                  <a:latin typeface="Cambria Math" panose="02040503050406030204" pitchFamily="18" charset="0"/>
                                </a:rPr>
                                <m:t>𝑦</m:t>
                              </m:r>
                              <m:r>
                                <a:rPr lang="tr-TR" sz="2400" i="1">
                                  <a:latin typeface="Cambria Math" panose="02040503050406030204" pitchFamily="18" charset="0"/>
                                </a:rPr>
                                <m:t>′</m:t>
                              </m:r>
                            </m:e>
                          </m:mr>
                          <m:mr>
                            <m:e>
                              <m:r>
                                <a:rPr lang="tr-TR" sz="2400" i="1">
                                  <a:latin typeface="Cambria Math" panose="02040503050406030204" pitchFamily="18" charset="0"/>
                                </a:rPr>
                                <m:t>1</m:t>
                              </m:r>
                            </m:e>
                          </m:mr>
                        </m:m>
                      </m:e>
                    </m:d>
                    <m:r>
                      <a:rPr lang="tr-TR" sz="2400" i="1">
                        <a:latin typeface="Cambria Math" panose="02040503050406030204" pitchFamily="18" charset="0"/>
                      </a:rPr>
                      <m:t>=</m:t>
                    </m:r>
                    <m:d>
                      <m:dPr>
                        <m:begChr m:val="["/>
                        <m:endChr m:val="]"/>
                        <m:ctrlPr>
                          <a:rPr lang="tr-TR" sz="2400" i="1">
                            <a:latin typeface="Cambria Math" panose="02040503050406030204" pitchFamily="18" charset="0"/>
                          </a:rPr>
                        </m:ctrlPr>
                      </m:dPr>
                      <m:e>
                        <m:m>
                          <m:mPr>
                            <m:mcs>
                              <m:mc>
                                <m:mcPr>
                                  <m:count m:val="3"/>
                                  <m:mcJc m:val="center"/>
                                </m:mcPr>
                              </m:mc>
                            </m:mcs>
                            <m:ctrlPr>
                              <a:rPr lang="tr-TR" sz="2400" i="1">
                                <a:latin typeface="Cambria Math" panose="02040503050406030204" pitchFamily="18" charset="0"/>
                              </a:rPr>
                            </m:ctrlPr>
                          </m:mPr>
                          <m:mr>
                            <m:e>
                              <m:r>
                                <m:rPr>
                                  <m:brk m:alnAt="7"/>
                                </m:rPr>
                                <a:rPr lang="tr-TR" sz="2400" b="0" i="1" smtClean="0">
                                  <a:latin typeface="Cambria Math" panose="02040503050406030204" pitchFamily="18" charset="0"/>
                                </a:rPr>
                                <m:t>𝑆</m:t>
                              </m:r>
                              <m:r>
                                <a:rPr lang="tr-TR" sz="2400" b="0" i="1" smtClean="0">
                                  <a:latin typeface="Cambria Math" panose="02040503050406030204" pitchFamily="18" charset="0"/>
                                </a:rPr>
                                <m:t>𝑥</m:t>
                              </m:r>
                            </m:e>
                            <m:e>
                              <m:r>
                                <a:rPr lang="tr-TR" sz="2400" i="1">
                                  <a:latin typeface="Cambria Math" panose="02040503050406030204" pitchFamily="18" charset="0"/>
                                </a:rPr>
                                <m:t>0</m:t>
                              </m:r>
                            </m:e>
                            <m:e>
                              <m:r>
                                <a:rPr lang="tr-TR" sz="2400" b="0" i="1" smtClean="0">
                                  <a:latin typeface="Cambria Math" panose="02040503050406030204" pitchFamily="18" charset="0"/>
                                </a:rPr>
                                <m:t>0</m:t>
                              </m:r>
                            </m:e>
                          </m:mr>
                          <m:mr>
                            <m:e>
                              <m:r>
                                <a:rPr lang="tr-TR" sz="2400" i="1">
                                  <a:latin typeface="Cambria Math" panose="02040503050406030204" pitchFamily="18" charset="0"/>
                                </a:rPr>
                                <m:t>0</m:t>
                              </m:r>
                            </m:e>
                            <m:e>
                              <m:r>
                                <a:rPr lang="tr-TR" sz="2400" b="0" i="1" smtClean="0">
                                  <a:latin typeface="Cambria Math" panose="02040503050406030204" pitchFamily="18" charset="0"/>
                                </a:rPr>
                                <m:t>𝑆𝑦</m:t>
                              </m:r>
                            </m:e>
                            <m:e>
                              <m:r>
                                <a:rPr lang="tr-TR" sz="2400" b="0" i="1" smtClean="0">
                                  <a:latin typeface="Cambria Math" panose="02040503050406030204" pitchFamily="18" charset="0"/>
                                </a:rPr>
                                <m:t>0</m:t>
                              </m:r>
                            </m:e>
                          </m:mr>
                          <m:mr>
                            <m:e>
                              <m:r>
                                <a:rPr lang="tr-TR" sz="2400" i="1">
                                  <a:latin typeface="Cambria Math" panose="02040503050406030204" pitchFamily="18" charset="0"/>
                                </a:rPr>
                                <m:t>0</m:t>
                              </m:r>
                            </m:e>
                            <m:e>
                              <m:r>
                                <a:rPr lang="tr-TR" sz="2400" i="1">
                                  <a:latin typeface="Cambria Math" panose="02040503050406030204" pitchFamily="18" charset="0"/>
                                </a:rPr>
                                <m:t>0</m:t>
                              </m:r>
                            </m:e>
                            <m:e>
                              <m:r>
                                <a:rPr lang="tr-TR" sz="2400" i="1">
                                  <a:latin typeface="Cambria Math" panose="02040503050406030204" pitchFamily="18" charset="0"/>
                                </a:rPr>
                                <m:t>1</m:t>
                              </m:r>
                            </m:e>
                          </m:mr>
                        </m:m>
                      </m:e>
                    </m:d>
                  </m:oMath>
                </a14:m>
                <a:r>
                  <a:rPr lang="tr-TR" sz="2400" dirty="0"/>
                  <a:t>*</a:t>
                </a:r>
                <a14:m>
                  <m:oMath xmlns:m="http://schemas.openxmlformats.org/officeDocument/2006/math">
                    <m:d>
                      <m:dPr>
                        <m:begChr m:val="["/>
                        <m:endChr m:val="]"/>
                        <m:ctrlPr>
                          <a:rPr lang="tr-TR" sz="2400" i="1">
                            <a:latin typeface="Cambria Math" panose="02040503050406030204" pitchFamily="18" charset="0"/>
                          </a:rPr>
                        </m:ctrlPr>
                      </m:dPr>
                      <m:e>
                        <m:m>
                          <m:mPr>
                            <m:mcs>
                              <m:mc>
                                <m:mcPr>
                                  <m:count m:val="1"/>
                                  <m:mcJc m:val="center"/>
                                </m:mcPr>
                              </m:mc>
                            </m:mcs>
                            <m:ctrlPr>
                              <a:rPr lang="tr-TR" sz="2400" i="1">
                                <a:latin typeface="Cambria Math" panose="02040503050406030204" pitchFamily="18" charset="0"/>
                              </a:rPr>
                            </m:ctrlPr>
                          </m:mPr>
                          <m:mr>
                            <m:e>
                              <m:r>
                                <m:rPr>
                                  <m:brk m:alnAt="7"/>
                                </m:rPr>
                                <a:rPr lang="tr-TR" sz="2400" i="1">
                                  <a:latin typeface="Cambria Math" panose="02040503050406030204" pitchFamily="18" charset="0"/>
                                </a:rPr>
                                <m:t>𝑥</m:t>
                              </m:r>
                            </m:e>
                          </m:mr>
                          <m:mr>
                            <m:e>
                              <m:r>
                                <a:rPr lang="tr-TR" sz="2400" i="1">
                                  <a:latin typeface="Cambria Math" panose="02040503050406030204" pitchFamily="18" charset="0"/>
                                </a:rPr>
                                <m:t>𝑦</m:t>
                              </m:r>
                            </m:e>
                          </m:mr>
                          <m:mr>
                            <m:e>
                              <m:r>
                                <a:rPr lang="tr-TR" sz="2400" i="1">
                                  <a:latin typeface="Cambria Math" panose="02040503050406030204" pitchFamily="18" charset="0"/>
                                </a:rPr>
                                <m:t>1</m:t>
                              </m:r>
                            </m:e>
                          </m:mr>
                        </m:m>
                      </m:e>
                    </m:d>
                  </m:oMath>
                </a14:m>
                <a:endParaRPr lang="tr-TR" sz="2400" dirty="0"/>
              </a:p>
            </p:txBody>
          </p:sp>
        </mc:Choice>
        <mc:Fallback xmlns="">
          <p:sp>
            <p:nvSpPr>
              <p:cNvPr id="6" name="Dikdörtgen 5"/>
              <p:cNvSpPr>
                <a:spLocks noRot="1" noChangeAspect="1" noMove="1" noResize="1" noEditPoints="1" noAdjustHandles="1" noChangeArrowheads="1" noChangeShapeType="1" noTextEdit="1"/>
              </p:cNvSpPr>
              <p:nvPr/>
            </p:nvSpPr>
            <p:spPr>
              <a:xfrm>
                <a:off x="838200" y="2071477"/>
                <a:ext cx="3983182" cy="1474378"/>
              </a:xfrm>
              <a:prstGeom prst="rect">
                <a:avLst/>
              </a:prstGeom>
              <a:blipFill>
                <a:blip r:embed="rId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3" name="Dikdörtgen 2"/>
              <p:cNvSpPr/>
              <p:nvPr/>
            </p:nvSpPr>
            <p:spPr>
              <a:xfrm>
                <a:off x="6096000" y="2071477"/>
                <a:ext cx="3075709" cy="1785104"/>
              </a:xfrm>
              <a:prstGeom prst="rect">
                <a:avLst/>
              </a:prstGeom>
            </p:spPr>
            <p:txBody>
              <a:bodyPr wrap="square">
                <a:spAutoFit/>
              </a:bodyPr>
              <a:lstStyle/>
              <a:p>
                <a:endParaRPr lang="tr-TR"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tr-TR" sz="2800" b="0" i="1" smtClean="0">
                              <a:latin typeface="Cambria Math" panose="02040503050406030204" pitchFamily="18" charset="0"/>
                            </a:rPr>
                          </m:ctrlPr>
                        </m:sSupPr>
                        <m:e>
                          <m:r>
                            <a:rPr lang="tr-TR" sz="2800" b="0" i="1" smtClean="0">
                              <a:latin typeface="Cambria Math" panose="02040503050406030204" pitchFamily="18" charset="0"/>
                            </a:rPr>
                            <m:t>𝑥</m:t>
                          </m:r>
                        </m:e>
                        <m:sup>
                          <m:r>
                            <a:rPr lang="tr-TR" sz="2800" b="0" i="1" smtClean="0">
                              <a:latin typeface="Cambria Math" panose="02040503050406030204" pitchFamily="18" charset="0"/>
                            </a:rPr>
                            <m:t>′</m:t>
                          </m:r>
                        </m:sup>
                      </m:sSup>
                      <m:r>
                        <a:rPr lang="tr-TR" sz="2800" b="0" i="1" smtClean="0">
                          <a:latin typeface="Cambria Math" panose="02040503050406030204" pitchFamily="18" charset="0"/>
                        </a:rPr>
                        <m:t>=</m:t>
                      </m:r>
                      <m:r>
                        <a:rPr lang="tr-TR" sz="2800" b="0" i="1" smtClean="0">
                          <a:latin typeface="Cambria Math" panose="02040503050406030204" pitchFamily="18" charset="0"/>
                        </a:rPr>
                        <m:t>𝑆𝑥</m:t>
                      </m:r>
                      <m:r>
                        <a:rPr lang="tr-TR" sz="2800" b="0" i="1" smtClean="0">
                          <a:latin typeface="Cambria Math" panose="02040503050406030204" pitchFamily="18" charset="0"/>
                        </a:rPr>
                        <m:t>.</m:t>
                      </m:r>
                      <m:r>
                        <a:rPr lang="tr-TR" sz="2800" b="0" i="1" smtClean="0">
                          <a:latin typeface="Cambria Math" panose="02040503050406030204" pitchFamily="18" charset="0"/>
                        </a:rPr>
                        <m:t>𝑥</m:t>
                      </m:r>
                    </m:oMath>
                  </m:oMathPara>
                </a14:m>
                <a:endParaRPr lang="tr-TR" sz="2800" b="0"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tr-TR" sz="2800" b="0" i="1" smtClean="0">
                              <a:latin typeface="Cambria Math" panose="02040503050406030204" pitchFamily="18" charset="0"/>
                            </a:rPr>
                          </m:ctrlPr>
                        </m:sSupPr>
                        <m:e>
                          <m:r>
                            <m:rPr>
                              <m:sty m:val="p"/>
                            </m:rPr>
                            <a:rPr lang="tr-TR" sz="2800" b="0" i="0" smtClean="0">
                              <a:latin typeface="Cambria Math" panose="02040503050406030204" pitchFamily="18" charset="0"/>
                            </a:rPr>
                            <m:t>y</m:t>
                          </m:r>
                        </m:e>
                        <m:sup>
                          <m:r>
                            <a:rPr lang="tr-TR" sz="2800" b="0" i="0" smtClean="0">
                              <a:latin typeface="Cambria Math" panose="02040503050406030204" pitchFamily="18" charset="0"/>
                            </a:rPr>
                            <m:t>′</m:t>
                          </m:r>
                        </m:sup>
                      </m:sSup>
                      <m:r>
                        <a:rPr lang="tr-TR" sz="2800" b="0" i="0" smtClean="0">
                          <a:latin typeface="Cambria Math" panose="02040503050406030204" pitchFamily="18" charset="0"/>
                        </a:rPr>
                        <m:t>=</m:t>
                      </m:r>
                      <m:r>
                        <m:rPr>
                          <m:sty m:val="p"/>
                        </m:rPr>
                        <a:rPr lang="tr-TR" sz="2800" b="0" i="0" smtClean="0">
                          <a:latin typeface="Cambria Math" panose="02040503050406030204" pitchFamily="18" charset="0"/>
                        </a:rPr>
                        <m:t>Sy</m:t>
                      </m:r>
                      <m:r>
                        <a:rPr lang="tr-TR" sz="2800" b="0" i="0" smtClean="0">
                          <a:latin typeface="Cambria Math" panose="02040503050406030204" pitchFamily="18" charset="0"/>
                        </a:rPr>
                        <m:t>.</m:t>
                      </m:r>
                      <m:r>
                        <m:rPr>
                          <m:sty m:val="p"/>
                        </m:rPr>
                        <a:rPr lang="tr-TR" sz="2800" b="0" i="0" smtClean="0">
                          <a:latin typeface="Cambria Math" panose="02040503050406030204" pitchFamily="18" charset="0"/>
                        </a:rPr>
                        <m:t>y</m:t>
                      </m:r>
                    </m:oMath>
                  </m:oMathPara>
                </a14:m>
                <a:endParaRPr lang="tr-TR" sz="2800" b="0" dirty="0" smtClean="0"/>
              </a:p>
              <a:p>
                <a:endParaRPr lang="tr-TR" b="0" dirty="0" smtClean="0"/>
              </a:p>
              <a:p>
                <a:endParaRPr lang="tr-TR" dirty="0"/>
              </a:p>
            </p:txBody>
          </p:sp>
        </mc:Choice>
        <mc:Fallback xmlns="">
          <p:sp>
            <p:nvSpPr>
              <p:cNvPr id="3" name="Dikdörtgen 2"/>
              <p:cNvSpPr>
                <a:spLocks noRot="1" noChangeAspect="1" noMove="1" noResize="1" noEditPoints="1" noAdjustHandles="1" noChangeArrowheads="1" noChangeShapeType="1" noTextEdit="1"/>
              </p:cNvSpPr>
              <p:nvPr/>
            </p:nvSpPr>
            <p:spPr>
              <a:xfrm>
                <a:off x="6096000" y="2071477"/>
                <a:ext cx="3075709" cy="1785104"/>
              </a:xfrm>
              <a:prstGeom prst="rect">
                <a:avLst/>
              </a:prstGeom>
              <a:blipFill>
                <a:blip r:embed="rId5"/>
                <a:stretch>
                  <a:fillRect/>
                </a:stretch>
              </a:blipFill>
            </p:spPr>
            <p:txBody>
              <a:bodyPr/>
              <a:lstStyle/>
              <a:p>
                <a:r>
                  <a:rPr lang="tr-TR">
                    <a:noFill/>
                  </a:rPr>
                  <a:t> </a:t>
                </a:r>
              </a:p>
            </p:txBody>
          </p:sp>
        </mc:Fallback>
      </mc:AlternateContent>
      <p:sp>
        <p:nvSpPr>
          <p:cNvPr id="7" name="Sağ Ok 6"/>
          <p:cNvSpPr/>
          <p:nvPr/>
        </p:nvSpPr>
        <p:spPr>
          <a:xfrm>
            <a:off x="4821382" y="2808666"/>
            <a:ext cx="1163782" cy="4194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Sağ Ok 7"/>
          <p:cNvSpPr/>
          <p:nvPr/>
        </p:nvSpPr>
        <p:spPr>
          <a:xfrm>
            <a:off x="4821382" y="5105584"/>
            <a:ext cx="1163782" cy="41944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Tree>
    <p:extLst>
      <p:ext uri="{BB962C8B-B14F-4D97-AF65-F5344CB8AC3E}">
        <p14:creationId xmlns:p14="http://schemas.microsoft.com/office/powerpoint/2010/main" val="3684022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Kaydırma </a:t>
            </a:r>
            <a:endParaRPr lang="tr-TR" dirty="0"/>
          </a:p>
        </p:txBody>
      </p:sp>
      <p:sp>
        <p:nvSpPr>
          <p:cNvPr id="3" name="İçerik Yer Tutucusu 2"/>
          <p:cNvSpPr>
            <a:spLocks noGrp="1"/>
          </p:cNvSpPr>
          <p:nvPr>
            <p:ph idx="1"/>
          </p:nvPr>
        </p:nvSpPr>
        <p:spPr/>
        <p:txBody>
          <a:bodyPr/>
          <a:lstStyle/>
          <a:p>
            <a:r>
              <a:rPr lang="tr-TR" dirty="0" smtClean="0"/>
              <a:t>Şekilde y eksenindeki noktalar etkilenmiyor</a:t>
            </a:r>
          </a:p>
          <a:p>
            <a:r>
              <a:rPr lang="tr-TR" dirty="0" smtClean="0"/>
              <a:t>X eksenindeki noktalar y değerlerine göre lineer öteleniyor.</a:t>
            </a:r>
          </a:p>
          <a:p>
            <a:endParaRPr lang="tr-TR" dirty="0"/>
          </a:p>
        </p:txBody>
      </p:sp>
      <p:pic>
        <p:nvPicPr>
          <p:cNvPr id="5" name="Resim 4"/>
          <p:cNvPicPr>
            <a:picLocks noChangeAspect="1"/>
          </p:cNvPicPr>
          <p:nvPr/>
        </p:nvPicPr>
        <p:blipFill>
          <a:blip r:embed="rId2"/>
          <a:stretch>
            <a:fillRect/>
          </a:stretch>
        </p:blipFill>
        <p:spPr>
          <a:xfrm>
            <a:off x="6096000" y="3513205"/>
            <a:ext cx="5146683" cy="1743516"/>
          </a:xfrm>
          <a:prstGeom prst="rect">
            <a:avLst/>
          </a:prstGeom>
        </p:spPr>
      </p:pic>
      <mc:AlternateContent xmlns:mc="http://schemas.openxmlformats.org/markup-compatibility/2006" xmlns:a14="http://schemas.microsoft.com/office/drawing/2010/main">
        <mc:Choice Requires="a14">
          <p:sp>
            <p:nvSpPr>
              <p:cNvPr id="6" name="Dikdörtgen 5"/>
              <p:cNvSpPr/>
              <p:nvPr/>
            </p:nvSpPr>
            <p:spPr>
              <a:xfrm>
                <a:off x="838200" y="2972023"/>
                <a:ext cx="3075709" cy="1820883"/>
              </a:xfrm>
              <a:prstGeom prst="rect">
                <a:avLst/>
              </a:prstGeom>
            </p:spPr>
            <p:txBody>
              <a:bodyPr wrap="square">
                <a:spAutoFit/>
              </a:bodyPr>
              <a:lstStyle/>
              <a:p>
                <a:endParaRPr lang="tr-TR"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tr-TR" sz="2800" b="0" i="1" smtClean="0">
                              <a:latin typeface="Cambria Math" panose="02040503050406030204" pitchFamily="18" charset="0"/>
                            </a:rPr>
                          </m:ctrlPr>
                        </m:sSupPr>
                        <m:e>
                          <m:r>
                            <a:rPr lang="tr-TR" sz="2800" b="0" i="1" smtClean="0">
                              <a:latin typeface="Cambria Math" panose="02040503050406030204" pitchFamily="18" charset="0"/>
                            </a:rPr>
                            <m:t>𝑦</m:t>
                          </m:r>
                        </m:e>
                        <m:sup>
                          <m:r>
                            <a:rPr lang="tr-TR" sz="2800" b="0" i="1" smtClean="0">
                              <a:latin typeface="Cambria Math" panose="02040503050406030204" pitchFamily="18" charset="0"/>
                            </a:rPr>
                            <m:t>′</m:t>
                          </m:r>
                        </m:sup>
                      </m:sSup>
                      <m:r>
                        <a:rPr lang="tr-TR" sz="2800" b="0" i="1" smtClean="0">
                          <a:latin typeface="Cambria Math" panose="02040503050406030204" pitchFamily="18" charset="0"/>
                        </a:rPr>
                        <m:t>=</m:t>
                      </m:r>
                      <m:r>
                        <a:rPr lang="tr-TR" sz="2800" b="0" i="1" smtClean="0">
                          <a:latin typeface="Cambria Math" panose="02040503050406030204" pitchFamily="18" charset="0"/>
                        </a:rPr>
                        <m:t>𝑦</m:t>
                      </m:r>
                    </m:oMath>
                  </m:oMathPara>
                </a14:m>
                <a:endParaRPr lang="tr-TR" sz="2800" b="0"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tr-TR" sz="2800" b="0" i="1" smtClean="0">
                              <a:latin typeface="Cambria Math" panose="02040503050406030204" pitchFamily="18" charset="0"/>
                            </a:rPr>
                          </m:ctrlPr>
                        </m:sSupPr>
                        <m:e>
                          <m:r>
                            <m:rPr>
                              <m:sty m:val="p"/>
                            </m:rPr>
                            <a:rPr lang="tr-TR" sz="2800" b="0" i="0" smtClean="0">
                              <a:latin typeface="Cambria Math" panose="02040503050406030204" pitchFamily="18" charset="0"/>
                            </a:rPr>
                            <m:t>x</m:t>
                          </m:r>
                        </m:e>
                        <m:sup>
                          <m:r>
                            <a:rPr lang="tr-TR" sz="2800" b="0" i="0" smtClean="0">
                              <a:latin typeface="Cambria Math" panose="02040503050406030204" pitchFamily="18" charset="0"/>
                            </a:rPr>
                            <m:t>′</m:t>
                          </m:r>
                        </m:sup>
                      </m:sSup>
                      <m:r>
                        <a:rPr lang="tr-TR" sz="2800" b="0" i="0" smtClean="0">
                          <a:latin typeface="Cambria Math" panose="02040503050406030204" pitchFamily="18" charset="0"/>
                        </a:rPr>
                        <m:t>=</m:t>
                      </m:r>
                      <m:r>
                        <m:rPr>
                          <m:sty m:val="p"/>
                        </m:rPr>
                        <a:rPr lang="tr-TR" sz="2800" b="0" i="0" smtClean="0">
                          <a:latin typeface="Cambria Math" panose="02040503050406030204" pitchFamily="18" charset="0"/>
                        </a:rPr>
                        <m:t>x</m:t>
                      </m:r>
                      <m:r>
                        <a:rPr lang="tr-TR" sz="2800" b="0" i="0" smtClean="0">
                          <a:latin typeface="Cambria Math" panose="02040503050406030204" pitchFamily="18" charset="0"/>
                        </a:rPr>
                        <m:t>+</m:t>
                      </m:r>
                      <m:r>
                        <m:rPr>
                          <m:sty m:val="p"/>
                        </m:rPr>
                        <a:rPr lang="tr-TR" sz="2800" b="0" i="0" smtClean="0">
                          <a:latin typeface="Cambria Math" panose="02040503050406030204" pitchFamily="18" charset="0"/>
                        </a:rPr>
                        <m:t>y</m:t>
                      </m:r>
                      <m:r>
                        <a:rPr lang="tr-TR" sz="2800" b="0" i="0" smtClean="0">
                          <a:latin typeface="Cambria Math" panose="02040503050406030204" pitchFamily="18" charset="0"/>
                        </a:rPr>
                        <m:t>∗</m:t>
                      </m:r>
                      <m:r>
                        <m:rPr>
                          <m:sty m:val="p"/>
                        </m:rPr>
                        <a:rPr lang="tr-TR" sz="2800" b="0" i="0" smtClean="0">
                          <a:latin typeface="Cambria Math" panose="02040503050406030204" pitchFamily="18" charset="0"/>
                        </a:rPr>
                        <m:t>h</m:t>
                      </m:r>
                    </m:oMath>
                  </m:oMathPara>
                </a14:m>
                <a:endParaRPr lang="tr-TR" sz="2800" b="0" dirty="0" smtClean="0"/>
              </a:p>
              <a:p>
                <a:endParaRPr lang="tr-TR" b="0" dirty="0" smtClean="0"/>
              </a:p>
              <a:p>
                <a:endParaRPr lang="tr-TR" dirty="0"/>
              </a:p>
            </p:txBody>
          </p:sp>
        </mc:Choice>
        <mc:Fallback xmlns="">
          <p:sp>
            <p:nvSpPr>
              <p:cNvPr id="6" name="Dikdörtgen 5"/>
              <p:cNvSpPr>
                <a:spLocks noRot="1" noChangeAspect="1" noMove="1" noResize="1" noEditPoints="1" noAdjustHandles="1" noChangeArrowheads="1" noChangeShapeType="1" noTextEdit="1"/>
              </p:cNvSpPr>
              <p:nvPr/>
            </p:nvSpPr>
            <p:spPr>
              <a:xfrm>
                <a:off x="838200" y="2972023"/>
                <a:ext cx="3075709" cy="1820883"/>
              </a:xfrm>
              <a:prstGeom prst="rect">
                <a:avLst/>
              </a:prstGeom>
              <a:blipFill>
                <a:blip r:embed="rId3"/>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 name="Dikdörtgen 6"/>
              <p:cNvSpPr/>
              <p:nvPr/>
            </p:nvSpPr>
            <p:spPr>
              <a:xfrm>
                <a:off x="838200" y="4384963"/>
                <a:ext cx="3636701" cy="1273810"/>
              </a:xfrm>
              <a:prstGeom prst="rect">
                <a:avLst/>
              </a:prstGeom>
            </p:spPr>
            <p:txBody>
              <a:bodyPr wrap="none">
                <a:spAutoFit/>
              </a:bodyPr>
              <a:lstStyle/>
              <a:p>
                <a14:m>
                  <m:oMath xmlns:m="http://schemas.openxmlformats.org/officeDocument/2006/math">
                    <m:d>
                      <m:dPr>
                        <m:begChr m:val="["/>
                        <m:endChr m:val="]"/>
                        <m:ctrlPr>
                          <a:rPr lang="tr-TR" sz="2800" i="1" smtClean="0">
                            <a:latin typeface="Cambria Math" panose="02040503050406030204" pitchFamily="18" charset="0"/>
                          </a:rPr>
                        </m:ctrlPr>
                      </m:dPr>
                      <m:e>
                        <m:m>
                          <m:mPr>
                            <m:mcs>
                              <m:mc>
                                <m:mcPr>
                                  <m:count m:val="1"/>
                                  <m:mcJc m:val="center"/>
                                </m:mcPr>
                              </m:mc>
                            </m:mcs>
                            <m:ctrlPr>
                              <a:rPr lang="tr-TR" sz="2800" i="1">
                                <a:latin typeface="Cambria Math" panose="02040503050406030204" pitchFamily="18" charset="0"/>
                              </a:rPr>
                            </m:ctrlPr>
                          </m:mPr>
                          <m:mr>
                            <m:e>
                              <m:r>
                                <m:rPr>
                                  <m:brk m:alnAt="7"/>
                                </m:rPr>
                                <a:rPr lang="tr-TR" sz="2800" i="1">
                                  <a:latin typeface="Cambria Math" panose="02040503050406030204" pitchFamily="18" charset="0"/>
                                </a:rPr>
                                <m:t>𝑥</m:t>
                              </m:r>
                              <m:r>
                                <a:rPr lang="tr-TR" sz="2800" i="1">
                                  <a:latin typeface="Cambria Math" panose="02040503050406030204" pitchFamily="18" charset="0"/>
                                </a:rPr>
                                <m:t>′</m:t>
                              </m:r>
                            </m:e>
                          </m:mr>
                          <m:mr>
                            <m:e>
                              <m:r>
                                <a:rPr lang="tr-TR" sz="2800" i="1">
                                  <a:latin typeface="Cambria Math" panose="02040503050406030204" pitchFamily="18" charset="0"/>
                                </a:rPr>
                                <m:t>𝑦</m:t>
                              </m:r>
                              <m:r>
                                <a:rPr lang="tr-TR" sz="2800" i="1">
                                  <a:latin typeface="Cambria Math" panose="02040503050406030204" pitchFamily="18" charset="0"/>
                                </a:rPr>
                                <m:t>′</m:t>
                              </m:r>
                            </m:e>
                          </m:mr>
                          <m:mr>
                            <m:e>
                              <m:r>
                                <a:rPr lang="tr-TR" sz="2800" i="1">
                                  <a:latin typeface="Cambria Math" panose="02040503050406030204" pitchFamily="18" charset="0"/>
                                </a:rPr>
                                <m:t>1</m:t>
                              </m:r>
                            </m:e>
                          </m:mr>
                        </m:m>
                      </m:e>
                    </m:d>
                    <m:r>
                      <a:rPr lang="tr-TR" sz="2800" i="1">
                        <a:latin typeface="Cambria Math" panose="02040503050406030204" pitchFamily="18" charset="0"/>
                      </a:rPr>
                      <m:t>=</m:t>
                    </m:r>
                    <m:d>
                      <m:dPr>
                        <m:begChr m:val="["/>
                        <m:endChr m:val="]"/>
                        <m:ctrlPr>
                          <a:rPr lang="tr-TR" sz="2800" i="1">
                            <a:latin typeface="Cambria Math" panose="02040503050406030204" pitchFamily="18" charset="0"/>
                          </a:rPr>
                        </m:ctrlPr>
                      </m:dPr>
                      <m:e>
                        <m:m>
                          <m:mPr>
                            <m:mcs>
                              <m:mc>
                                <m:mcPr>
                                  <m:count m:val="3"/>
                                  <m:mcJc m:val="center"/>
                                </m:mcPr>
                              </m:mc>
                            </m:mcs>
                            <m:ctrlPr>
                              <a:rPr lang="tr-TR" sz="2800" i="1">
                                <a:latin typeface="Cambria Math" panose="02040503050406030204" pitchFamily="18" charset="0"/>
                              </a:rPr>
                            </m:ctrlPr>
                          </m:mPr>
                          <m:mr>
                            <m:e>
                              <m:r>
                                <a:rPr lang="tr-TR" sz="2800" b="0" i="1" smtClean="0">
                                  <a:latin typeface="Cambria Math" panose="02040503050406030204" pitchFamily="18" charset="0"/>
                                </a:rPr>
                                <m:t>1</m:t>
                              </m:r>
                            </m:e>
                            <m:e>
                              <m:r>
                                <a:rPr lang="tr-TR" sz="2800" b="0" i="1" smtClean="0">
                                  <a:latin typeface="Cambria Math" panose="02040503050406030204" pitchFamily="18" charset="0"/>
                                </a:rPr>
                                <m:t>h</m:t>
                              </m:r>
                            </m:e>
                            <m:e>
                              <m:r>
                                <a:rPr lang="tr-TR" sz="2800" i="1">
                                  <a:latin typeface="Cambria Math" panose="02040503050406030204" pitchFamily="18" charset="0"/>
                                </a:rPr>
                                <m:t>0</m:t>
                              </m:r>
                            </m:e>
                          </m:mr>
                          <m:mr>
                            <m:e>
                              <m:r>
                                <a:rPr lang="tr-TR" sz="2800" b="0" i="1" smtClean="0">
                                  <a:latin typeface="Cambria Math" panose="02040503050406030204" pitchFamily="18" charset="0"/>
                                </a:rPr>
                                <m:t>0</m:t>
                              </m:r>
                            </m:e>
                            <m:e>
                              <m:r>
                                <a:rPr lang="tr-TR" sz="2800" b="0" i="0" smtClean="0">
                                  <a:latin typeface="Cambria Math" panose="02040503050406030204" pitchFamily="18" charset="0"/>
                                </a:rPr>
                                <m:t>1</m:t>
                              </m:r>
                            </m:e>
                            <m:e>
                              <m:r>
                                <a:rPr lang="tr-TR" sz="2800" i="1">
                                  <a:latin typeface="Cambria Math" panose="02040503050406030204" pitchFamily="18" charset="0"/>
                                </a:rPr>
                                <m:t>0</m:t>
                              </m:r>
                            </m:e>
                          </m:mr>
                          <m:mr>
                            <m:e>
                              <m:r>
                                <a:rPr lang="tr-TR" sz="2800" i="1">
                                  <a:latin typeface="Cambria Math" panose="02040503050406030204" pitchFamily="18" charset="0"/>
                                </a:rPr>
                                <m:t>0</m:t>
                              </m:r>
                            </m:e>
                            <m:e>
                              <m:r>
                                <a:rPr lang="tr-TR" sz="2800" i="1">
                                  <a:latin typeface="Cambria Math" panose="02040503050406030204" pitchFamily="18" charset="0"/>
                                </a:rPr>
                                <m:t>0</m:t>
                              </m:r>
                            </m:e>
                            <m:e>
                              <m:r>
                                <a:rPr lang="tr-TR" sz="2800" i="1">
                                  <a:latin typeface="Cambria Math" panose="02040503050406030204" pitchFamily="18" charset="0"/>
                                </a:rPr>
                                <m:t>1</m:t>
                              </m:r>
                            </m:e>
                          </m:mr>
                        </m:m>
                      </m:e>
                    </m:d>
                  </m:oMath>
                </a14:m>
                <a:r>
                  <a:rPr lang="tr-TR" sz="2800" dirty="0"/>
                  <a:t>*</a:t>
                </a:r>
                <a14:m>
                  <m:oMath xmlns:m="http://schemas.openxmlformats.org/officeDocument/2006/math">
                    <m:d>
                      <m:dPr>
                        <m:begChr m:val="["/>
                        <m:endChr m:val="]"/>
                        <m:ctrlPr>
                          <a:rPr lang="tr-TR" sz="2800" i="1">
                            <a:latin typeface="Cambria Math" panose="02040503050406030204" pitchFamily="18" charset="0"/>
                          </a:rPr>
                        </m:ctrlPr>
                      </m:dPr>
                      <m:e>
                        <m:m>
                          <m:mPr>
                            <m:mcs>
                              <m:mc>
                                <m:mcPr>
                                  <m:count m:val="1"/>
                                  <m:mcJc m:val="center"/>
                                </m:mcPr>
                              </m:mc>
                            </m:mcs>
                            <m:ctrlPr>
                              <a:rPr lang="tr-TR" sz="2800" i="1">
                                <a:latin typeface="Cambria Math" panose="02040503050406030204" pitchFamily="18" charset="0"/>
                              </a:rPr>
                            </m:ctrlPr>
                          </m:mPr>
                          <m:mr>
                            <m:e>
                              <m:r>
                                <m:rPr>
                                  <m:brk m:alnAt="7"/>
                                </m:rPr>
                                <a:rPr lang="tr-TR" sz="2800" i="1">
                                  <a:latin typeface="Cambria Math" panose="02040503050406030204" pitchFamily="18" charset="0"/>
                                </a:rPr>
                                <m:t>𝑥</m:t>
                              </m:r>
                            </m:e>
                          </m:mr>
                          <m:mr>
                            <m:e>
                              <m:r>
                                <a:rPr lang="tr-TR" sz="2800" i="1">
                                  <a:latin typeface="Cambria Math" panose="02040503050406030204" pitchFamily="18" charset="0"/>
                                </a:rPr>
                                <m:t>𝑦</m:t>
                              </m:r>
                            </m:e>
                          </m:mr>
                          <m:mr>
                            <m:e>
                              <m:r>
                                <a:rPr lang="tr-TR" sz="2800" i="1">
                                  <a:latin typeface="Cambria Math" panose="02040503050406030204" pitchFamily="18" charset="0"/>
                                </a:rPr>
                                <m:t>1</m:t>
                              </m:r>
                            </m:e>
                          </m:mr>
                        </m:m>
                      </m:e>
                    </m:d>
                  </m:oMath>
                </a14:m>
                <a:endParaRPr lang="tr-TR" sz="2800" dirty="0"/>
              </a:p>
            </p:txBody>
          </p:sp>
        </mc:Choice>
        <mc:Fallback xmlns="">
          <p:sp>
            <p:nvSpPr>
              <p:cNvPr id="7" name="Dikdörtgen 6"/>
              <p:cNvSpPr>
                <a:spLocks noRot="1" noChangeAspect="1" noMove="1" noResize="1" noEditPoints="1" noAdjustHandles="1" noChangeArrowheads="1" noChangeShapeType="1" noTextEdit="1"/>
              </p:cNvSpPr>
              <p:nvPr/>
            </p:nvSpPr>
            <p:spPr>
              <a:xfrm>
                <a:off x="838200" y="4384963"/>
                <a:ext cx="3636701" cy="1273810"/>
              </a:xfrm>
              <a:prstGeom prst="rect">
                <a:avLst/>
              </a:prstGeom>
              <a:blipFill>
                <a:blip r:embed="rId4"/>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4068682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Kaydırma </a:t>
            </a:r>
          </a:p>
        </p:txBody>
      </p:sp>
      <p:sp>
        <p:nvSpPr>
          <p:cNvPr id="4" name="Unvan 1"/>
          <p:cNvSpPr txBox="1">
            <a:spLocks/>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tr-TR" smtClean="0"/>
              <a:t>Kaydırma </a:t>
            </a:r>
            <a:endParaRPr lang="tr-TR" dirty="0"/>
          </a:p>
        </p:txBody>
      </p:sp>
      <p:sp>
        <p:nvSpPr>
          <p:cNvPr id="5" name="İçerik Yer Tutucusu 2"/>
          <p:cNvSpPr txBox="1">
            <a:spLocks/>
          </p:cNvSpPr>
          <p:nvPr/>
        </p:nvSpPr>
        <p:spPr>
          <a:xfrm>
            <a:off x="630101" y="1690688"/>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dirty="0" smtClean="0"/>
              <a:t>Şekilde x eksenindeki noktalar etkilenmiyor</a:t>
            </a:r>
          </a:p>
          <a:p>
            <a:r>
              <a:rPr lang="tr-TR" dirty="0" smtClean="0"/>
              <a:t>Y eksenindeki noktalar x değerlerine göre lineer öteleniyor.</a:t>
            </a:r>
            <a:endParaRPr lang="tr-TR" dirty="0"/>
          </a:p>
        </p:txBody>
      </p:sp>
      <mc:AlternateContent xmlns:mc="http://schemas.openxmlformats.org/markup-compatibility/2006" xmlns:a14="http://schemas.microsoft.com/office/drawing/2010/main">
        <mc:Choice Requires="a14">
          <p:sp>
            <p:nvSpPr>
              <p:cNvPr id="7" name="Dikdörtgen 6"/>
              <p:cNvSpPr/>
              <p:nvPr/>
            </p:nvSpPr>
            <p:spPr>
              <a:xfrm>
                <a:off x="1118695" y="2564080"/>
                <a:ext cx="3075709" cy="1785104"/>
              </a:xfrm>
              <a:prstGeom prst="rect">
                <a:avLst/>
              </a:prstGeom>
            </p:spPr>
            <p:txBody>
              <a:bodyPr wrap="square">
                <a:spAutoFit/>
              </a:bodyPr>
              <a:lstStyle/>
              <a:p>
                <a:endParaRPr lang="tr-TR"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tr-TR" sz="2800" b="0" i="1" smtClean="0">
                              <a:latin typeface="Cambria Math" panose="02040503050406030204" pitchFamily="18" charset="0"/>
                            </a:rPr>
                          </m:ctrlPr>
                        </m:sSupPr>
                        <m:e>
                          <m:r>
                            <a:rPr lang="tr-TR" sz="2800" b="0" i="1" smtClean="0">
                              <a:latin typeface="Cambria Math" panose="02040503050406030204" pitchFamily="18" charset="0"/>
                            </a:rPr>
                            <m:t>𝑥</m:t>
                          </m:r>
                        </m:e>
                        <m:sup>
                          <m:r>
                            <a:rPr lang="tr-TR" sz="2800" b="0" i="1" smtClean="0">
                              <a:latin typeface="Cambria Math" panose="02040503050406030204" pitchFamily="18" charset="0"/>
                            </a:rPr>
                            <m:t>′</m:t>
                          </m:r>
                        </m:sup>
                      </m:sSup>
                      <m:r>
                        <a:rPr lang="tr-TR" sz="2800" b="0" i="1" smtClean="0">
                          <a:latin typeface="Cambria Math" panose="02040503050406030204" pitchFamily="18" charset="0"/>
                        </a:rPr>
                        <m:t>=</m:t>
                      </m:r>
                      <m:r>
                        <m:rPr>
                          <m:sty m:val="p"/>
                        </m:rPr>
                        <a:rPr lang="tr-TR" sz="2800" b="0" i="0" smtClean="0">
                          <a:latin typeface="Cambria Math" panose="02040503050406030204" pitchFamily="18" charset="0"/>
                        </a:rPr>
                        <m:t>x</m:t>
                      </m:r>
                    </m:oMath>
                  </m:oMathPara>
                </a14:m>
                <a:endParaRPr lang="tr-TR" sz="2800" b="0" i="0"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m:rPr>
                          <m:sty m:val="p"/>
                        </m:rPr>
                        <a:rPr lang="tr-TR" sz="2800" b="0" i="0" smtClean="0">
                          <a:latin typeface="Cambria Math" panose="02040503050406030204" pitchFamily="18" charset="0"/>
                        </a:rPr>
                        <m:t>y</m:t>
                      </m:r>
                      <m:r>
                        <a:rPr lang="tr-TR" sz="2800" b="0" i="0" smtClean="0">
                          <a:latin typeface="Cambria Math" panose="02040503050406030204" pitchFamily="18" charset="0"/>
                        </a:rPr>
                        <m:t>′=</m:t>
                      </m:r>
                      <m:r>
                        <m:rPr>
                          <m:sty m:val="p"/>
                        </m:rPr>
                        <a:rPr lang="tr-TR" sz="2800" b="0" i="0" smtClean="0">
                          <a:latin typeface="Cambria Math" panose="02040503050406030204" pitchFamily="18" charset="0"/>
                        </a:rPr>
                        <m:t>y</m:t>
                      </m:r>
                      <m:r>
                        <a:rPr lang="tr-TR" sz="2800" b="0" i="0" smtClean="0">
                          <a:latin typeface="Cambria Math" panose="02040503050406030204" pitchFamily="18" charset="0"/>
                        </a:rPr>
                        <m:t>+</m:t>
                      </m:r>
                      <m:r>
                        <m:rPr>
                          <m:sty m:val="p"/>
                        </m:rPr>
                        <a:rPr lang="tr-TR" sz="2800" b="0" i="0" smtClean="0">
                          <a:latin typeface="Cambria Math" panose="02040503050406030204" pitchFamily="18" charset="0"/>
                        </a:rPr>
                        <m:t>x</m:t>
                      </m:r>
                      <m:r>
                        <a:rPr lang="tr-TR" sz="2800" b="0" i="0" smtClean="0">
                          <a:latin typeface="Cambria Math" panose="02040503050406030204" pitchFamily="18" charset="0"/>
                        </a:rPr>
                        <m:t>∗</m:t>
                      </m:r>
                      <m:r>
                        <m:rPr>
                          <m:sty m:val="p"/>
                        </m:rPr>
                        <a:rPr lang="tr-TR" sz="2800" b="0" i="0" smtClean="0">
                          <a:latin typeface="Cambria Math" panose="02040503050406030204" pitchFamily="18" charset="0"/>
                        </a:rPr>
                        <m:t>g</m:t>
                      </m:r>
                    </m:oMath>
                  </m:oMathPara>
                </a14:m>
                <a:endParaRPr lang="tr-TR" sz="2800" b="0" dirty="0" smtClean="0"/>
              </a:p>
              <a:p>
                <a:endParaRPr lang="tr-TR" b="0" dirty="0" smtClean="0"/>
              </a:p>
              <a:p>
                <a:endParaRPr lang="tr-TR" dirty="0"/>
              </a:p>
            </p:txBody>
          </p:sp>
        </mc:Choice>
        <mc:Fallback xmlns="">
          <p:sp>
            <p:nvSpPr>
              <p:cNvPr id="7" name="Dikdörtgen 6"/>
              <p:cNvSpPr>
                <a:spLocks noRot="1" noChangeAspect="1" noMove="1" noResize="1" noEditPoints="1" noAdjustHandles="1" noChangeArrowheads="1" noChangeShapeType="1" noTextEdit="1"/>
              </p:cNvSpPr>
              <p:nvPr/>
            </p:nvSpPr>
            <p:spPr>
              <a:xfrm>
                <a:off x="1118695" y="2564080"/>
                <a:ext cx="3075709" cy="1785104"/>
              </a:xfrm>
              <a:prstGeom prst="rect">
                <a:avLst/>
              </a:prstGeom>
              <a:blipFill>
                <a:blip r:embed="rId2"/>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 name="Dikdörtgen 7"/>
              <p:cNvSpPr/>
              <p:nvPr/>
            </p:nvSpPr>
            <p:spPr>
              <a:xfrm>
                <a:off x="838200" y="4384963"/>
                <a:ext cx="3636701" cy="1273810"/>
              </a:xfrm>
              <a:prstGeom prst="rect">
                <a:avLst/>
              </a:prstGeom>
            </p:spPr>
            <p:txBody>
              <a:bodyPr wrap="none">
                <a:spAutoFit/>
              </a:bodyPr>
              <a:lstStyle/>
              <a:p>
                <a14:m>
                  <m:oMath xmlns:m="http://schemas.openxmlformats.org/officeDocument/2006/math">
                    <m:d>
                      <m:dPr>
                        <m:begChr m:val="["/>
                        <m:endChr m:val="]"/>
                        <m:ctrlPr>
                          <a:rPr lang="tr-TR" sz="2800" i="1" smtClean="0">
                            <a:latin typeface="Cambria Math" panose="02040503050406030204" pitchFamily="18" charset="0"/>
                          </a:rPr>
                        </m:ctrlPr>
                      </m:dPr>
                      <m:e>
                        <m:m>
                          <m:mPr>
                            <m:mcs>
                              <m:mc>
                                <m:mcPr>
                                  <m:count m:val="1"/>
                                  <m:mcJc m:val="center"/>
                                </m:mcPr>
                              </m:mc>
                            </m:mcs>
                            <m:ctrlPr>
                              <a:rPr lang="tr-TR" sz="2800" i="1">
                                <a:latin typeface="Cambria Math" panose="02040503050406030204" pitchFamily="18" charset="0"/>
                              </a:rPr>
                            </m:ctrlPr>
                          </m:mPr>
                          <m:mr>
                            <m:e>
                              <m:r>
                                <m:rPr>
                                  <m:brk m:alnAt="7"/>
                                </m:rPr>
                                <a:rPr lang="tr-TR" sz="2800" i="1">
                                  <a:latin typeface="Cambria Math" panose="02040503050406030204" pitchFamily="18" charset="0"/>
                                </a:rPr>
                                <m:t>𝑥</m:t>
                              </m:r>
                              <m:r>
                                <a:rPr lang="tr-TR" sz="2800" i="1">
                                  <a:latin typeface="Cambria Math" panose="02040503050406030204" pitchFamily="18" charset="0"/>
                                </a:rPr>
                                <m:t>′</m:t>
                              </m:r>
                            </m:e>
                          </m:mr>
                          <m:mr>
                            <m:e>
                              <m:r>
                                <a:rPr lang="tr-TR" sz="2800" i="1">
                                  <a:latin typeface="Cambria Math" panose="02040503050406030204" pitchFamily="18" charset="0"/>
                                </a:rPr>
                                <m:t>𝑦</m:t>
                              </m:r>
                              <m:r>
                                <a:rPr lang="tr-TR" sz="2800" i="1">
                                  <a:latin typeface="Cambria Math" panose="02040503050406030204" pitchFamily="18" charset="0"/>
                                </a:rPr>
                                <m:t>′</m:t>
                              </m:r>
                            </m:e>
                          </m:mr>
                          <m:mr>
                            <m:e>
                              <m:r>
                                <a:rPr lang="tr-TR" sz="2800" i="1">
                                  <a:latin typeface="Cambria Math" panose="02040503050406030204" pitchFamily="18" charset="0"/>
                                </a:rPr>
                                <m:t>1</m:t>
                              </m:r>
                            </m:e>
                          </m:mr>
                        </m:m>
                      </m:e>
                    </m:d>
                    <m:r>
                      <a:rPr lang="tr-TR" sz="2800" i="1">
                        <a:latin typeface="Cambria Math" panose="02040503050406030204" pitchFamily="18" charset="0"/>
                      </a:rPr>
                      <m:t>=</m:t>
                    </m:r>
                    <m:d>
                      <m:dPr>
                        <m:begChr m:val="["/>
                        <m:endChr m:val="]"/>
                        <m:ctrlPr>
                          <a:rPr lang="tr-TR" sz="2800" i="1">
                            <a:latin typeface="Cambria Math" panose="02040503050406030204" pitchFamily="18" charset="0"/>
                          </a:rPr>
                        </m:ctrlPr>
                      </m:dPr>
                      <m:e>
                        <m:m>
                          <m:mPr>
                            <m:mcs>
                              <m:mc>
                                <m:mcPr>
                                  <m:count m:val="3"/>
                                  <m:mcJc m:val="center"/>
                                </m:mcPr>
                              </m:mc>
                            </m:mcs>
                            <m:ctrlPr>
                              <a:rPr lang="tr-TR" sz="2800" i="1">
                                <a:latin typeface="Cambria Math" panose="02040503050406030204" pitchFamily="18" charset="0"/>
                              </a:rPr>
                            </m:ctrlPr>
                          </m:mPr>
                          <m:mr>
                            <m:e>
                              <m:r>
                                <a:rPr lang="tr-TR" sz="2800" b="0" i="1" smtClean="0">
                                  <a:latin typeface="Cambria Math" panose="02040503050406030204" pitchFamily="18" charset="0"/>
                                </a:rPr>
                                <m:t>1</m:t>
                              </m:r>
                            </m:e>
                            <m:e>
                              <m:r>
                                <a:rPr lang="tr-TR" sz="2800" b="0" i="1" smtClean="0">
                                  <a:latin typeface="Cambria Math" panose="02040503050406030204" pitchFamily="18" charset="0"/>
                                </a:rPr>
                                <m:t>0</m:t>
                              </m:r>
                            </m:e>
                            <m:e>
                              <m:r>
                                <a:rPr lang="tr-TR" sz="2800" i="1">
                                  <a:latin typeface="Cambria Math" panose="02040503050406030204" pitchFamily="18" charset="0"/>
                                </a:rPr>
                                <m:t>0</m:t>
                              </m:r>
                            </m:e>
                          </m:mr>
                          <m:mr>
                            <m:e>
                              <m:r>
                                <a:rPr lang="tr-TR" sz="2800" b="0" i="1" smtClean="0">
                                  <a:latin typeface="Cambria Math" panose="02040503050406030204" pitchFamily="18" charset="0"/>
                                </a:rPr>
                                <m:t>𝑔</m:t>
                              </m:r>
                            </m:e>
                            <m:e>
                              <m:r>
                                <a:rPr lang="tr-TR" sz="2800" b="0" i="0" smtClean="0">
                                  <a:latin typeface="Cambria Math" panose="02040503050406030204" pitchFamily="18" charset="0"/>
                                </a:rPr>
                                <m:t>1</m:t>
                              </m:r>
                            </m:e>
                            <m:e>
                              <m:r>
                                <a:rPr lang="tr-TR" sz="2800" i="1">
                                  <a:latin typeface="Cambria Math" panose="02040503050406030204" pitchFamily="18" charset="0"/>
                                </a:rPr>
                                <m:t>0</m:t>
                              </m:r>
                            </m:e>
                          </m:mr>
                          <m:mr>
                            <m:e>
                              <m:r>
                                <a:rPr lang="tr-TR" sz="2800" i="1">
                                  <a:latin typeface="Cambria Math" panose="02040503050406030204" pitchFamily="18" charset="0"/>
                                </a:rPr>
                                <m:t>0</m:t>
                              </m:r>
                            </m:e>
                            <m:e>
                              <m:r>
                                <a:rPr lang="tr-TR" sz="2800" i="1">
                                  <a:latin typeface="Cambria Math" panose="02040503050406030204" pitchFamily="18" charset="0"/>
                                </a:rPr>
                                <m:t>0</m:t>
                              </m:r>
                            </m:e>
                            <m:e>
                              <m:r>
                                <a:rPr lang="tr-TR" sz="2800" i="1">
                                  <a:latin typeface="Cambria Math" panose="02040503050406030204" pitchFamily="18" charset="0"/>
                                </a:rPr>
                                <m:t>1</m:t>
                              </m:r>
                            </m:e>
                          </m:mr>
                        </m:m>
                      </m:e>
                    </m:d>
                  </m:oMath>
                </a14:m>
                <a:r>
                  <a:rPr lang="tr-TR" sz="2800" dirty="0"/>
                  <a:t>*</a:t>
                </a:r>
                <a14:m>
                  <m:oMath xmlns:m="http://schemas.openxmlformats.org/officeDocument/2006/math">
                    <m:d>
                      <m:dPr>
                        <m:begChr m:val="["/>
                        <m:endChr m:val="]"/>
                        <m:ctrlPr>
                          <a:rPr lang="tr-TR" sz="2800" i="1">
                            <a:latin typeface="Cambria Math" panose="02040503050406030204" pitchFamily="18" charset="0"/>
                          </a:rPr>
                        </m:ctrlPr>
                      </m:dPr>
                      <m:e>
                        <m:m>
                          <m:mPr>
                            <m:mcs>
                              <m:mc>
                                <m:mcPr>
                                  <m:count m:val="1"/>
                                  <m:mcJc m:val="center"/>
                                </m:mcPr>
                              </m:mc>
                            </m:mcs>
                            <m:ctrlPr>
                              <a:rPr lang="tr-TR" sz="2800" i="1">
                                <a:latin typeface="Cambria Math" panose="02040503050406030204" pitchFamily="18" charset="0"/>
                              </a:rPr>
                            </m:ctrlPr>
                          </m:mPr>
                          <m:mr>
                            <m:e>
                              <m:r>
                                <m:rPr>
                                  <m:brk m:alnAt="7"/>
                                </m:rPr>
                                <a:rPr lang="tr-TR" sz="2800" i="1">
                                  <a:latin typeface="Cambria Math" panose="02040503050406030204" pitchFamily="18" charset="0"/>
                                </a:rPr>
                                <m:t>𝑥</m:t>
                              </m:r>
                            </m:e>
                          </m:mr>
                          <m:mr>
                            <m:e>
                              <m:r>
                                <a:rPr lang="tr-TR" sz="2800" i="1">
                                  <a:latin typeface="Cambria Math" panose="02040503050406030204" pitchFamily="18" charset="0"/>
                                </a:rPr>
                                <m:t>𝑦</m:t>
                              </m:r>
                            </m:e>
                          </m:mr>
                          <m:mr>
                            <m:e>
                              <m:r>
                                <a:rPr lang="tr-TR" sz="2800" i="1">
                                  <a:latin typeface="Cambria Math" panose="02040503050406030204" pitchFamily="18" charset="0"/>
                                </a:rPr>
                                <m:t>1</m:t>
                              </m:r>
                            </m:e>
                          </m:mr>
                        </m:m>
                      </m:e>
                    </m:d>
                  </m:oMath>
                </a14:m>
                <a:endParaRPr lang="tr-TR" sz="2800" dirty="0"/>
              </a:p>
            </p:txBody>
          </p:sp>
        </mc:Choice>
        <mc:Fallback xmlns="">
          <p:sp>
            <p:nvSpPr>
              <p:cNvPr id="8" name="Dikdörtgen 7"/>
              <p:cNvSpPr>
                <a:spLocks noRot="1" noChangeAspect="1" noMove="1" noResize="1" noEditPoints="1" noAdjustHandles="1" noChangeArrowheads="1" noChangeShapeType="1" noTextEdit="1"/>
              </p:cNvSpPr>
              <p:nvPr/>
            </p:nvSpPr>
            <p:spPr>
              <a:xfrm>
                <a:off x="838200" y="4384963"/>
                <a:ext cx="3636701" cy="1273810"/>
              </a:xfrm>
              <a:prstGeom prst="rect">
                <a:avLst/>
              </a:prstGeom>
              <a:blipFill>
                <a:blip r:embed="rId3"/>
                <a:stretch>
                  <a:fillRect/>
                </a:stretch>
              </a:blipFill>
            </p:spPr>
            <p:txBody>
              <a:bodyPr/>
              <a:lstStyle/>
              <a:p>
                <a:r>
                  <a:rPr lang="tr-TR">
                    <a:noFill/>
                  </a:rPr>
                  <a:t> </a:t>
                </a:r>
              </a:p>
            </p:txBody>
          </p:sp>
        </mc:Fallback>
      </mc:AlternateContent>
      <p:pic>
        <p:nvPicPr>
          <p:cNvPr id="9" name="Resim 8"/>
          <p:cNvPicPr>
            <a:picLocks noChangeAspect="1"/>
          </p:cNvPicPr>
          <p:nvPr/>
        </p:nvPicPr>
        <p:blipFill>
          <a:blip r:embed="rId4"/>
          <a:stretch>
            <a:fillRect/>
          </a:stretch>
        </p:blipFill>
        <p:spPr>
          <a:xfrm>
            <a:off x="5373589" y="3220542"/>
            <a:ext cx="4592926" cy="1719188"/>
          </a:xfrm>
          <a:prstGeom prst="rect">
            <a:avLst/>
          </a:prstGeom>
        </p:spPr>
      </p:pic>
    </p:spTree>
    <p:extLst>
      <p:ext uri="{BB962C8B-B14F-4D97-AF65-F5344CB8AC3E}">
        <p14:creationId xmlns:p14="http://schemas.microsoft.com/office/powerpoint/2010/main" val="36159820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Pivot noktasına göre döndürme</a:t>
            </a:r>
            <a:endParaRPr lang="tr-TR" dirty="0"/>
          </a:p>
        </p:txBody>
      </p:sp>
      <p:pic>
        <p:nvPicPr>
          <p:cNvPr id="4" name="İçerik Yer Tutucusu 3"/>
          <p:cNvPicPr>
            <a:picLocks noGrp="1" noChangeAspect="1"/>
          </p:cNvPicPr>
          <p:nvPr>
            <p:ph idx="1"/>
          </p:nvPr>
        </p:nvPicPr>
        <p:blipFill>
          <a:blip r:embed="rId2"/>
          <a:stretch>
            <a:fillRect/>
          </a:stretch>
        </p:blipFill>
        <p:spPr>
          <a:xfrm>
            <a:off x="145472" y="4296626"/>
            <a:ext cx="2597727" cy="2091708"/>
          </a:xfrm>
          <a:prstGeom prst="rect">
            <a:avLst/>
          </a:prstGeom>
        </p:spPr>
      </p:pic>
      <p:pic>
        <p:nvPicPr>
          <p:cNvPr id="5" name="Resim 4"/>
          <p:cNvPicPr>
            <a:picLocks noChangeAspect="1"/>
          </p:cNvPicPr>
          <p:nvPr/>
        </p:nvPicPr>
        <p:blipFill>
          <a:blip r:embed="rId3"/>
          <a:stretch>
            <a:fillRect/>
          </a:stretch>
        </p:blipFill>
        <p:spPr>
          <a:xfrm>
            <a:off x="2743199" y="4296626"/>
            <a:ext cx="2785073" cy="2165204"/>
          </a:xfrm>
          <a:prstGeom prst="rect">
            <a:avLst/>
          </a:prstGeom>
        </p:spPr>
      </p:pic>
      <p:pic>
        <p:nvPicPr>
          <p:cNvPr id="6" name="Resim 5"/>
          <p:cNvPicPr>
            <a:picLocks noChangeAspect="1"/>
          </p:cNvPicPr>
          <p:nvPr/>
        </p:nvPicPr>
        <p:blipFill>
          <a:blip r:embed="rId4"/>
          <a:stretch>
            <a:fillRect/>
          </a:stretch>
        </p:blipFill>
        <p:spPr>
          <a:xfrm>
            <a:off x="5628407" y="4455343"/>
            <a:ext cx="2718365" cy="2006487"/>
          </a:xfrm>
          <a:prstGeom prst="rect">
            <a:avLst/>
          </a:prstGeom>
        </p:spPr>
      </p:pic>
      <p:pic>
        <p:nvPicPr>
          <p:cNvPr id="7" name="Resim 6"/>
          <p:cNvPicPr>
            <a:picLocks noChangeAspect="1"/>
          </p:cNvPicPr>
          <p:nvPr/>
        </p:nvPicPr>
        <p:blipFill>
          <a:blip r:embed="rId5"/>
          <a:stretch>
            <a:fillRect/>
          </a:stretch>
        </p:blipFill>
        <p:spPr>
          <a:xfrm>
            <a:off x="8481247" y="4573604"/>
            <a:ext cx="2711839" cy="1888226"/>
          </a:xfrm>
          <a:prstGeom prst="rect">
            <a:avLst/>
          </a:prstGeom>
        </p:spPr>
      </p:pic>
      <p:sp>
        <p:nvSpPr>
          <p:cNvPr id="8" name="Metin kutusu 7"/>
          <p:cNvSpPr txBox="1"/>
          <p:nvPr/>
        </p:nvSpPr>
        <p:spPr>
          <a:xfrm>
            <a:off x="838200" y="2050473"/>
            <a:ext cx="9572621" cy="3108543"/>
          </a:xfrm>
          <a:prstGeom prst="rect">
            <a:avLst/>
          </a:prstGeom>
          <a:noFill/>
        </p:spPr>
        <p:txBody>
          <a:bodyPr wrap="none" rtlCol="0">
            <a:spAutoFit/>
          </a:bodyPr>
          <a:lstStyle/>
          <a:p>
            <a:r>
              <a:rPr lang="tr-TR" sz="2800" dirty="0" smtClean="0"/>
              <a:t>Bütün döndürme işlemlerinde referans noktası </a:t>
            </a:r>
            <a:r>
              <a:rPr lang="tr-TR" sz="2800" dirty="0" err="1" smtClean="0"/>
              <a:t>orjindir</a:t>
            </a:r>
            <a:r>
              <a:rPr lang="tr-TR" sz="2800" dirty="0" smtClean="0"/>
              <a:t>. </a:t>
            </a:r>
          </a:p>
          <a:p>
            <a:r>
              <a:rPr lang="tr-TR" sz="2800" dirty="0" smtClean="0"/>
              <a:t>Başka bir referans(pivot) noktasına göre döndürme yapılacak ise:</a:t>
            </a:r>
          </a:p>
          <a:p>
            <a:pPr marL="514350" indent="-514350">
              <a:buFont typeface="+mj-lt"/>
              <a:buAutoNum type="arabicPeriod"/>
            </a:pPr>
            <a:r>
              <a:rPr lang="tr-TR" sz="2800" dirty="0" smtClean="0"/>
              <a:t>Pivot noktası </a:t>
            </a:r>
            <a:r>
              <a:rPr lang="tr-TR" sz="2800" dirty="0" err="1" smtClean="0"/>
              <a:t>orjine</a:t>
            </a:r>
            <a:r>
              <a:rPr lang="tr-TR" sz="2800" dirty="0" smtClean="0"/>
              <a:t> ötelenir. T(-</a:t>
            </a:r>
            <a:r>
              <a:rPr lang="tr-TR" sz="2800" dirty="0" err="1" smtClean="0"/>
              <a:t>px</a:t>
            </a:r>
            <a:r>
              <a:rPr lang="tr-TR" sz="2800" dirty="0" smtClean="0"/>
              <a:t>,-</a:t>
            </a:r>
            <a:r>
              <a:rPr lang="tr-TR" sz="2800" dirty="0" err="1" smtClean="0"/>
              <a:t>py</a:t>
            </a:r>
            <a:r>
              <a:rPr lang="tr-TR" sz="2800" dirty="0" smtClean="0"/>
              <a:t>)</a:t>
            </a:r>
          </a:p>
          <a:p>
            <a:pPr marL="514350" indent="-514350">
              <a:buFont typeface="+mj-lt"/>
              <a:buAutoNum type="arabicPeriod"/>
            </a:pPr>
            <a:r>
              <a:rPr lang="tr-TR" sz="2800" dirty="0" smtClean="0"/>
              <a:t>Döndürme işlemi yapılır. R(</a:t>
            </a:r>
            <a:r>
              <a:rPr lang="tr-TR" sz="2800" dirty="0" smtClean="0">
                <a:sym typeface="Symbol" panose="05050102010706020507" pitchFamily="18" charset="2"/>
              </a:rPr>
              <a:t></a:t>
            </a:r>
            <a:r>
              <a:rPr lang="tr-TR" sz="2800" dirty="0" smtClean="0"/>
              <a:t>)</a:t>
            </a:r>
          </a:p>
          <a:p>
            <a:pPr marL="514350" indent="-514350">
              <a:buFont typeface="+mj-lt"/>
              <a:buAutoNum type="arabicPeriod"/>
            </a:pPr>
            <a:r>
              <a:rPr lang="tr-TR" sz="2800" dirty="0" smtClean="0"/>
              <a:t>Pivot noktası eski konumuna ötelenir. T(</a:t>
            </a:r>
            <a:r>
              <a:rPr lang="tr-TR" sz="2800" dirty="0" err="1" smtClean="0"/>
              <a:t>px,py</a:t>
            </a:r>
            <a:r>
              <a:rPr lang="tr-TR" sz="2800" dirty="0"/>
              <a:t>)</a:t>
            </a:r>
          </a:p>
          <a:p>
            <a:pPr marL="514350" indent="-514350">
              <a:buFont typeface="+mj-lt"/>
              <a:buAutoNum type="arabicPeriod"/>
            </a:pPr>
            <a:endParaRPr lang="tr-TR" sz="2800" dirty="0" smtClean="0"/>
          </a:p>
          <a:p>
            <a:endParaRPr lang="tr-TR" sz="2800" dirty="0"/>
          </a:p>
        </p:txBody>
      </p:sp>
    </p:spTree>
    <p:extLst>
      <p:ext uri="{BB962C8B-B14F-4D97-AF65-F5344CB8AC3E}">
        <p14:creationId xmlns:p14="http://schemas.microsoft.com/office/powerpoint/2010/main" val="1454004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Pivot noktasına göre döndürme</a:t>
            </a:r>
          </a:p>
        </p:txBody>
      </p:sp>
      <mc:AlternateContent xmlns:mc="http://schemas.openxmlformats.org/markup-compatibility/2006" xmlns:a14="http://schemas.microsoft.com/office/drawing/2010/main">
        <mc:Choice Requires="a14">
          <p:sp>
            <p:nvSpPr>
              <p:cNvPr id="3" name="İçerik Yer Tutucusu 2"/>
              <p:cNvSpPr>
                <a:spLocks noGrp="1"/>
              </p:cNvSpPr>
              <p:nvPr>
                <p:ph idx="1"/>
              </p:nvPr>
            </p:nvSpPr>
            <p:spPr/>
            <p:txBody>
              <a:bodyPr>
                <a:normAutofit/>
              </a:bodyPr>
              <a:lstStyle/>
              <a:p>
                <a:pPr marL="514350" indent="-514350">
                  <a:buFont typeface="+mj-lt"/>
                  <a:buAutoNum type="arabicPeriod"/>
                </a:pPr>
                <a:r>
                  <a:rPr lang="tr-TR" dirty="0"/>
                  <a:t>Pivot noktası </a:t>
                </a:r>
                <a:r>
                  <a:rPr lang="tr-TR" dirty="0" err="1"/>
                  <a:t>orjine</a:t>
                </a:r>
                <a:r>
                  <a:rPr lang="tr-TR" dirty="0"/>
                  <a:t> ötelenir. T(-</a:t>
                </a:r>
                <a:r>
                  <a:rPr lang="tr-TR" dirty="0" err="1"/>
                  <a:t>px</a:t>
                </a:r>
                <a:r>
                  <a:rPr lang="tr-TR" dirty="0"/>
                  <a:t>,-</a:t>
                </a:r>
                <a:r>
                  <a:rPr lang="tr-TR" dirty="0" err="1"/>
                  <a:t>py</a:t>
                </a:r>
                <a:r>
                  <a:rPr lang="tr-TR" dirty="0"/>
                  <a:t>)</a:t>
                </a:r>
              </a:p>
              <a:p>
                <a:pPr marL="514350" indent="-514350">
                  <a:buFont typeface="+mj-lt"/>
                  <a:buAutoNum type="arabicPeriod"/>
                </a:pPr>
                <a:r>
                  <a:rPr lang="tr-TR" dirty="0"/>
                  <a:t>Döndürme işlemi yapılır. R(</a:t>
                </a:r>
                <a:r>
                  <a:rPr lang="tr-TR" dirty="0">
                    <a:sym typeface="Symbol" panose="05050102010706020507" pitchFamily="18" charset="2"/>
                  </a:rPr>
                  <a:t></a:t>
                </a:r>
                <a:r>
                  <a:rPr lang="tr-TR" dirty="0"/>
                  <a:t>)</a:t>
                </a:r>
              </a:p>
              <a:p>
                <a:pPr marL="514350" indent="-514350">
                  <a:buFont typeface="+mj-lt"/>
                  <a:buAutoNum type="arabicPeriod"/>
                </a:pPr>
                <a:r>
                  <a:rPr lang="tr-TR" dirty="0"/>
                  <a:t>Pivot noktası eski konumuna ötelenir. T(</a:t>
                </a:r>
                <a:r>
                  <a:rPr lang="tr-TR" dirty="0" err="1"/>
                  <a:t>px,py</a:t>
                </a:r>
                <a:r>
                  <a:rPr lang="tr-TR" dirty="0" smtClean="0"/>
                  <a:t>)</a:t>
                </a:r>
              </a:p>
              <a:p>
                <a:pPr marL="514350" indent="-514350">
                  <a:buFont typeface="+mj-lt"/>
                  <a:buAutoNum type="arabicPeriod"/>
                </a:pPr>
                <a:endParaRPr lang="tr-TR" i="1" dirty="0" smtClean="0">
                  <a:latin typeface="Cambria Math" panose="02040503050406030204" pitchFamily="18" charset="0"/>
                </a:endParaRPr>
              </a:p>
              <a:p>
                <a:pPr marL="0" indent="0" algn="ctr">
                  <a:buNone/>
                </a:pPr>
                <a:r>
                  <a:rPr lang="tr-TR" dirty="0" smtClean="0"/>
                  <a:t>T(</a:t>
                </a:r>
                <a:r>
                  <a:rPr lang="tr-TR" dirty="0" err="1" smtClean="0"/>
                  <a:t>px,py</a:t>
                </a:r>
                <a:r>
                  <a:rPr lang="tr-TR" dirty="0" smtClean="0"/>
                  <a:t>)</a:t>
                </a:r>
                <a:r>
                  <a:rPr lang="tr-TR" dirty="0"/>
                  <a:t> R(</a:t>
                </a:r>
                <a:r>
                  <a:rPr lang="tr-TR" dirty="0">
                    <a:sym typeface="Symbol" panose="05050102010706020507" pitchFamily="18" charset="2"/>
                  </a:rPr>
                  <a:t></a:t>
                </a:r>
                <a:r>
                  <a:rPr lang="tr-TR" dirty="0" smtClean="0"/>
                  <a:t>)</a:t>
                </a:r>
                <a:r>
                  <a:rPr lang="tr-TR" dirty="0"/>
                  <a:t> T(-</a:t>
                </a:r>
                <a:r>
                  <a:rPr lang="tr-TR" dirty="0" err="1"/>
                  <a:t>px</a:t>
                </a:r>
                <a:r>
                  <a:rPr lang="tr-TR" dirty="0"/>
                  <a:t>,-</a:t>
                </a:r>
                <a:r>
                  <a:rPr lang="tr-TR" dirty="0" err="1" smtClean="0"/>
                  <a:t>py</a:t>
                </a:r>
                <a:r>
                  <a:rPr lang="tr-TR" dirty="0" smtClean="0"/>
                  <a:t>) A</a:t>
                </a:r>
                <a:endParaRPr lang="tr-TR" i="1" dirty="0">
                  <a:latin typeface="Cambria Math" panose="02040503050406030204" pitchFamily="18" charset="0"/>
                </a:endParaRPr>
              </a:p>
              <a:p>
                <a:pPr marL="0" indent="0">
                  <a:buNone/>
                </a:pPr>
                <a:endParaRPr lang="tr-TR" i="1" dirty="0" smtClean="0">
                  <a:latin typeface="Cambria Math" panose="02040503050406030204" pitchFamily="18" charset="0"/>
                </a:endParaRPr>
              </a:p>
              <a:p>
                <a:pPr marL="0" indent="0">
                  <a:buNone/>
                </a:pPr>
                <a14:m>
                  <m:oMath xmlns:m="http://schemas.openxmlformats.org/officeDocument/2006/math">
                    <m:d>
                      <m:dPr>
                        <m:begChr m:val="["/>
                        <m:endChr m:val="]"/>
                        <m:ctrlPr>
                          <a:rPr lang="tr-TR" i="1" smtClean="0">
                            <a:latin typeface="Cambria Math" panose="02040503050406030204" pitchFamily="18" charset="0"/>
                          </a:rPr>
                        </m:ctrlPr>
                      </m:dPr>
                      <m:e>
                        <m:m>
                          <m:mPr>
                            <m:mcs>
                              <m:mc>
                                <m:mcPr>
                                  <m:count m:val="1"/>
                                  <m:mcJc m:val="center"/>
                                </m:mcPr>
                              </m:mc>
                            </m:mcs>
                            <m:ctrlPr>
                              <a:rPr lang="tr-TR" i="1">
                                <a:latin typeface="Cambria Math" panose="02040503050406030204" pitchFamily="18" charset="0"/>
                              </a:rPr>
                            </m:ctrlPr>
                          </m:mPr>
                          <m:mr>
                            <m:e>
                              <m:r>
                                <m:rPr>
                                  <m:brk m:alnAt="7"/>
                                </m:rPr>
                                <a:rPr lang="tr-TR" i="1">
                                  <a:latin typeface="Cambria Math" panose="02040503050406030204" pitchFamily="18" charset="0"/>
                                </a:rPr>
                                <m:t>𝑥</m:t>
                              </m:r>
                              <m:r>
                                <a:rPr lang="tr-TR" i="1">
                                  <a:latin typeface="Cambria Math" panose="02040503050406030204" pitchFamily="18" charset="0"/>
                                </a:rPr>
                                <m:t>′</m:t>
                              </m:r>
                            </m:e>
                          </m:mr>
                          <m:mr>
                            <m:e>
                              <m:r>
                                <a:rPr lang="tr-TR" i="1">
                                  <a:latin typeface="Cambria Math" panose="02040503050406030204" pitchFamily="18" charset="0"/>
                                </a:rPr>
                                <m:t>𝑦</m:t>
                              </m:r>
                              <m:r>
                                <a:rPr lang="tr-TR" i="1">
                                  <a:latin typeface="Cambria Math" panose="02040503050406030204" pitchFamily="18" charset="0"/>
                                </a:rPr>
                                <m:t>′</m:t>
                              </m:r>
                            </m:e>
                          </m:mr>
                          <m:mr>
                            <m:e>
                              <m:r>
                                <a:rPr lang="tr-TR" i="1">
                                  <a:latin typeface="Cambria Math" panose="02040503050406030204" pitchFamily="18" charset="0"/>
                                </a:rPr>
                                <m:t>1</m:t>
                              </m:r>
                            </m:e>
                          </m:mr>
                        </m:m>
                      </m:e>
                    </m:d>
                    <m:r>
                      <a:rPr lang="tr-TR" i="1">
                        <a:latin typeface="Cambria Math" panose="02040503050406030204" pitchFamily="18" charset="0"/>
                      </a:rPr>
                      <m:t>=</m:t>
                    </m:r>
                    <m:d>
                      <m:dPr>
                        <m:begChr m:val="["/>
                        <m:endChr m:val="]"/>
                        <m:ctrlPr>
                          <a:rPr lang="tr-TR" i="1">
                            <a:latin typeface="Cambria Math" panose="02040503050406030204" pitchFamily="18" charset="0"/>
                          </a:rPr>
                        </m:ctrlPr>
                      </m:dPr>
                      <m:e>
                        <m:m>
                          <m:mPr>
                            <m:mcs>
                              <m:mc>
                                <m:mcPr>
                                  <m:count m:val="3"/>
                                  <m:mcJc m:val="center"/>
                                </m:mcPr>
                              </m:mc>
                            </m:mcs>
                            <m:ctrlPr>
                              <a:rPr lang="tr-TR" i="1">
                                <a:latin typeface="Cambria Math" panose="02040503050406030204" pitchFamily="18" charset="0"/>
                              </a:rPr>
                            </m:ctrlPr>
                          </m:mPr>
                          <m:mr>
                            <m:e>
                              <m:r>
                                <m:rPr>
                                  <m:brk m:alnAt="7"/>
                                </m:rPr>
                                <a:rPr lang="tr-TR" i="1">
                                  <a:latin typeface="Cambria Math" panose="02040503050406030204" pitchFamily="18" charset="0"/>
                                </a:rPr>
                                <m:t>1</m:t>
                              </m:r>
                            </m:e>
                            <m:e>
                              <m:r>
                                <a:rPr lang="tr-TR" i="1">
                                  <a:latin typeface="Cambria Math" panose="02040503050406030204" pitchFamily="18" charset="0"/>
                                </a:rPr>
                                <m:t>0</m:t>
                              </m:r>
                            </m:e>
                            <m:e>
                              <m:r>
                                <a:rPr lang="tr-TR" b="0" i="1" smtClean="0">
                                  <a:latin typeface="Cambria Math" panose="02040503050406030204" pitchFamily="18" charset="0"/>
                                </a:rPr>
                                <m:t>𝑝𝑥</m:t>
                              </m:r>
                            </m:e>
                          </m:mr>
                          <m:mr>
                            <m:e>
                              <m:r>
                                <a:rPr lang="tr-TR" i="1">
                                  <a:latin typeface="Cambria Math" panose="02040503050406030204" pitchFamily="18" charset="0"/>
                                </a:rPr>
                                <m:t>0</m:t>
                              </m:r>
                            </m:e>
                            <m:e>
                              <m:r>
                                <a:rPr lang="tr-TR" i="1">
                                  <a:latin typeface="Cambria Math" panose="02040503050406030204" pitchFamily="18" charset="0"/>
                                </a:rPr>
                                <m:t>1</m:t>
                              </m:r>
                            </m:e>
                            <m:e>
                              <m:r>
                                <a:rPr lang="tr-TR" b="0" i="1" smtClean="0">
                                  <a:latin typeface="Cambria Math" panose="02040503050406030204" pitchFamily="18" charset="0"/>
                                </a:rPr>
                                <m:t>𝑝𝑦</m:t>
                              </m:r>
                            </m:e>
                          </m:mr>
                          <m:mr>
                            <m:e>
                              <m:r>
                                <a:rPr lang="tr-TR" i="1">
                                  <a:latin typeface="Cambria Math" panose="02040503050406030204" pitchFamily="18" charset="0"/>
                                </a:rPr>
                                <m:t>0</m:t>
                              </m:r>
                            </m:e>
                            <m:e>
                              <m:r>
                                <a:rPr lang="tr-TR" i="1">
                                  <a:latin typeface="Cambria Math" panose="02040503050406030204" pitchFamily="18" charset="0"/>
                                </a:rPr>
                                <m:t>0</m:t>
                              </m:r>
                            </m:e>
                            <m:e>
                              <m:r>
                                <a:rPr lang="tr-TR" i="1">
                                  <a:latin typeface="Cambria Math" panose="02040503050406030204" pitchFamily="18" charset="0"/>
                                </a:rPr>
                                <m:t>1</m:t>
                              </m:r>
                            </m:e>
                          </m:mr>
                        </m:m>
                      </m:e>
                    </m:d>
                    <m:d>
                      <m:dPr>
                        <m:begChr m:val="["/>
                        <m:endChr m:val="]"/>
                        <m:ctrlPr>
                          <a:rPr lang="tr-TR" i="1">
                            <a:latin typeface="Cambria Math" panose="02040503050406030204" pitchFamily="18" charset="0"/>
                          </a:rPr>
                        </m:ctrlPr>
                      </m:dPr>
                      <m:e>
                        <m:m>
                          <m:mPr>
                            <m:mcs>
                              <m:mc>
                                <m:mcPr>
                                  <m:count m:val="3"/>
                                  <m:mcJc m:val="center"/>
                                </m:mcPr>
                              </m:mc>
                            </m:mcs>
                            <m:ctrlPr>
                              <a:rPr lang="tr-TR" i="1">
                                <a:latin typeface="Cambria Math" panose="02040503050406030204" pitchFamily="18" charset="0"/>
                              </a:rPr>
                            </m:ctrlPr>
                          </m:mPr>
                          <m:mr>
                            <m:e>
                              <m:r>
                                <m:rPr>
                                  <m:sty m:val="p"/>
                                  <m:brk m:alnAt="7"/>
                                </m:rPr>
                                <a:rPr lang="tr-TR">
                                  <a:latin typeface="Cambria Math" panose="02040503050406030204" pitchFamily="18" charset="0"/>
                                </a:rPr>
                                <m:t>c</m:t>
                              </m:r>
                              <m:r>
                                <m:rPr>
                                  <m:sty m:val="p"/>
                                </m:rPr>
                                <a:rPr lang="tr-TR">
                                  <a:latin typeface="Cambria Math" panose="02040503050406030204" pitchFamily="18" charset="0"/>
                                </a:rPr>
                                <m:t>os</m:t>
                              </m:r>
                              <m:r>
                                <m:rPr>
                                  <m:brk m:alnAt="7"/>
                                </m:rPr>
                                <a:rPr lang="tr-TR" i="1">
                                  <a:latin typeface="Cambria Math" panose="02040503050406030204" pitchFamily="18" charset="0"/>
                                </a:rPr>
                                <m:t>⁡</m:t>
                              </m:r>
                              <m:r>
                                <a:rPr lang="tr-TR" i="1">
                                  <a:latin typeface="Cambria Math" panose="02040503050406030204" pitchFamily="18" charset="0"/>
                                </a:rPr>
                                <m:t>(</m:t>
                              </m:r>
                              <m:r>
                                <a:rPr lang="tr-TR" i="1">
                                  <a:latin typeface="Cambria Math" panose="02040503050406030204" pitchFamily="18" charset="0"/>
                                  <a:ea typeface="Cambria Math" panose="02040503050406030204" pitchFamily="18" charset="0"/>
                                  <a:sym typeface="Symbol" panose="05050102010706020507" pitchFamily="18" charset="2"/>
                                </a:rPr>
                                <m:t></m:t>
                              </m:r>
                              <m:r>
                                <m:rPr>
                                  <m:brk m:alnAt="7"/>
                                </m:rPr>
                                <a:rPr lang="tr-TR" i="1">
                                  <a:latin typeface="Cambria Math" panose="02040503050406030204" pitchFamily="18" charset="0"/>
                                </a:rPr>
                                <m:t>)</m:t>
                              </m:r>
                            </m:e>
                            <m:e>
                              <m:r>
                                <a:rPr lang="tr-TR" i="1">
                                  <a:latin typeface="Cambria Math" panose="02040503050406030204" pitchFamily="18" charset="0"/>
                                </a:rPr>
                                <m:t>−</m:t>
                              </m:r>
                              <m:r>
                                <m:rPr>
                                  <m:sty m:val="p"/>
                                </m:rPr>
                                <a:rPr lang="tr-TR">
                                  <a:latin typeface="Cambria Math" panose="02040503050406030204" pitchFamily="18" charset="0"/>
                                </a:rPr>
                                <m:t>sin</m:t>
                              </m:r>
                              <m:r>
                                <a:rPr lang="tr-TR" i="1">
                                  <a:latin typeface="Cambria Math" panose="02040503050406030204" pitchFamily="18" charset="0"/>
                                </a:rPr>
                                <m:t>⁡(</m:t>
                              </m:r>
                              <m:r>
                                <a:rPr lang="tr-TR" i="1">
                                  <a:latin typeface="Cambria Math" panose="02040503050406030204" pitchFamily="18" charset="0"/>
                                  <a:ea typeface="Cambria Math" panose="02040503050406030204" pitchFamily="18" charset="0"/>
                                  <a:sym typeface="Symbol" panose="05050102010706020507" pitchFamily="18" charset="2"/>
                                </a:rPr>
                                <m:t></m:t>
                              </m:r>
                              <m:r>
                                <a:rPr lang="tr-TR" i="1">
                                  <a:latin typeface="Cambria Math" panose="02040503050406030204" pitchFamily="18" charset="0"/>
                                </a:rPr>
                                <m:t>)</m:t>
                              </m:r>
                            </m:e>
                            <m:e>
                              <m:r>
                                <a:rPr lang="tr-TR" i="1">
                                  <a:latin typeface="Cambria Math" panose="02040503050406030204" pitchFamily="18" charset="0"/>
                                </a:rPr>
                                <m:t>0</m:t>
                              </m:r>
                            </m:e>
                          </m:mr>
                          <m:mr>
                            <m:e>
                              <m:r>
                                <m:rPr>
                                  <m:sty m:val="p"/>
                                </m:rPr>
                                <a:rPr lang="tr-TR">
                                  <a:latin typeface="Cambria Math" panose="02040503050406030204" pitchFamily="18" charset="0"/>
                                </a:rPr>
                                <m:t>sin</m:t>
                              </m:r>
                              <m:r>
                                <a:rPr lang="tr-TR" i="1">
                                  <a:latin typeface="Cambria Math" panose="02040503050406030204" pitchFamily="18" charset="0"/>
                                </a:rPr>
                                <m:t>⁡(</m:t>
                              </m:r>
                              <m:r>
                                <a:rPr lang="tr-TR" i="1">
                                  <a:latin typeface="Cambria Math" panose="02040503050406030204" pitchFamily="18" charset="0"/>
                                  <a:ea typeface="Cambria Math" panose="02040503050406030204" pitchFamily="18" charset="0"/>
                                  <a:sym typeface="Symbol" panose="05050102010706020507" pitchFamily="18" charset="2"/>
                                </a:rPr>
                                <m:t></m:t>
                              </m:r>
                              <m:r>
                                <a:rPr lang="tr-TR" i="1">
                                  <a:latin typeface="Cambria Math" panose="02040503050406030204" pitchFamily="18" charset="0"/>
                                </a:rPr>
                                <m:t>)</m:t>
                              </m:r>
                            </m:e>
                            <m:e>
                              <m:r>
                                <m:rPr>
                                  <m:sty m:val="p"/>
                                </m:rPr>
                                <a:rPr lang="tr-TR">
                                  <a:latin typeface="Cambria Math" panose="02040503050406030204" pitchFamily="18" charset="0"/>
                                </a:rPr>
                                <m:t>cos</m:t>
                              </m:r>
                              <m:r>
                                <a:rPr lang="tr-TR" i="1">
                                  <a:latin typeface="Cambria Math" panose="02040503050406030204" pitchFamily="18" charset="0"/>
                                </a:rPr>
                                <m:t>⁡(</m:t>
                              </m:r>
                              <m:r>
                                <a:rPr lang="tr-TR" i="1">
                                  <a:latin typeface="Cambria Math" panose="02040503050406030204" pitchFamily="18" charset="0"/>
                                  <a:ea typeface="Cambria Math" panose="02040503050406030204" pitchFamily="18" charset="0"/>
                                  <a:sym typeface="Symbol" panose="05050102010706020507" pitchFamily="18" charset="2"/>
                                </a:rPr>
                                <m:t></m:t>
                              </m:r>
                              <m:r>
                                <a:rPr lang="tr-TR" i="1">
                                  <a:latin typeface="Cambria Math" panose="02040503050406030204" pitchFamily="18" charset="0"/>
                                </a:rPr>
                                <m:t>)</m:t>
                              </m:r>
                            </m:e>
                            <m:e>
                              <m:r>
                                <a:rPr lang="tr-TR" i="1">
                                  <a:latin typeface="Cambria Math" panose="02040503050406030204" pitchFamily="18" charset="0"/>
                                </a:rPr>
                                <m:t>0</m:t>
                              </m:r>
                            </m:e>
                          </m:mr>
                          <m:mr>
                            <m:e>
                              <m:r>
                                <a:rPr lang="tr-TR" i="1">
                                  <a:latin typeface="Cambria Math" panose="02040503050406030204" pitchFamily="18" charset="0"/>
                                </a:rPr>
                                <m:t>0</m:t>
                              </m:r>
                            </m:e>
                            <m:e>
                              <m:r>
                                <a:rPr lang="tr-TR" i="1">
                                  <a:latin typeface="Cambria Math" panose="02040503050406030204" pitchFamily="18" charset="0"/>
                                </a:rPr>
                                <m:t>0</m:t>
                              </m:r>
                            </m:e>
                            <m:e>
                              <m:r>
                                <a:rPr lang="tr-TR" i="1">
                                  <a:latin typeface="Cambria Math" panose="02040503050406030204" pitchFamily="18" charset="0"/>
                                </a:rPr>
                                <m:t>1</m:t>
                              </m:r>
                            </m:e>
                          </m:mr>
                        </m:m>
                      </m:e>
                    </m:d>
                    <m:d>
                      <m:dPr>
                        <m:begChr m:val="["/>
                        <m:endChr m:val="]"/>
                        <m:ctrlPr>
                          <a:rPr lang="tr-TR" i="1">
                            <a:latin typeface="Cambria Math" panose="02040503050406030204" pitchFamily="18" charset="0"/>
                          </a:rPr>
                        </m:ctrlPr>
                      </m:dPr>
                      <m:e>
                        <m:m>
                          <m:mPr>
                            <m:mcs>
                              <m:mc>
                                <m:mcPr>
                                  <m:count m:val="3"/>
                                  <m:mcJc m:val="center"/>
                                </m:mcPr>
                              </m:mc>
                            </m:mcs>
                            <m:ctrlPr>
                              <a:rPr lang="tr-TR" i="1">
                                <a:latin typeface="Cambria Math" panose="02040503050406030204" pitchFamily="18" charset="0"/>
                              </a:rPr>
                            </m:ctrlPr>
                          </m:mPr>
                          <m:mr>
                            <m:e>
                              <m:r>
                                <m:rPr>
                                  <m:brk m:alnAt="7"/>
                                </m:rPr>
                                <a:rPr lang="tr-TR" i="1">
                                  <a:latin typeface="Cambria Math" panose="02040503050406030204" pitchFamily="18" charset="0"/>
                                </a:rPr>
                                <m:t>1</m:t>
                              </m:r>
                            </m:e>
                            <m:e>
                              <m:r>
                                <a:rPr lang="tr-TR" i="1">
                                  <a:latin typeface="Cambria Math" panose="02040503050406030204" pitchFamily="18" charset="0"/>
                                </a:rPr>
                                <m:t>0</m:t>
                              </m:r>
                            </m:e>
                            <m:e>
                              <m:r>
                                <a:rPr lang="tr-TR" b="0" i="1" smtClean="0">
                                  <a:latin typeface="Cambria Math" panose="02040503050406030204" pitchFamily="18" charset="0"/>
                                </a:rPr>
                                <m:t>−</m:t>
                              </m:r>
                              <m:r>
                                <a:rPr lang="tr-TR" i="1">
                                  <a:latin typeface="Cambria Math" panose="02040503050406030204" pitchFamily="18" charset="0"/>
                                </a:rPr>
                                <m:t>𝑝𝑥</m:t>
                              </m:r>
                            </m:e>
                          </m:mr>
                          <m:mr>
                            <m:e>
                              <m:r>
                                <a:rPr lang="tr-TR" i="1">
                                  <a:latin typeface="Cambria Math" panose="02040503050406030204" pitchFamily="18" charset="0"/>
                                </a:rPr>
                                <m:t>0</m:t>
                              </m:r>
                            </m:e>
                            <m:e>
                              <m:r>
                                <a:rPr lang="tr-TR" i="1">
                                  <a:latin typeface="Cambria Math" panose="02040503050406030204" pitchFamily="18" charset="0"/>
                                </a:rPr>
                                <m:t>1</m:t>
                              </m:r>
                            </m:e>
                            <m:e>
                              <m:r>
                                <a:rPr lang="tr-TR" b="0" i="1" smtClean="0">
                                  <a:latin typeface="Cambria Math" panose="02040503050406030204" pitchFamily="18" charset="0"/>
                                </a:rPr>
                                <m:t>−</m:t>
                              </m:r>
                              <m:r>
                                <a:rPr lang="tr-TR" i="1">
                                  <a:latin typeface="Cambria Math" panose="02040503050406030204" pitchFamily="18" charset="0"/>
                                </a:rPr>
                                <m:t>𝑝𝑦</m:t>
                              </m:r>
                            </m:e>
                          </m:mr>
                          <m:mr>
                            <m:e>
                              <m:r>
                                <a:rPr lang="tr-TR" i="1">
                                  <a:latin typeface="Cambria Math" panose="02040503050406030204" pitchFamily="18" charset="0"/>
                                </a:rPr>
                                <m:t>0</m:t>
                              </m:r>
                            </m:e>
                            <m:e>
                              <m:r>
                                <a:rPr lang="tr-TR" i="1">
                                  <a:latin typeface="Cambria Math" panose="02040503050406030204" pitchFamily="18" charset="0"/>
                                </a:rPr>
                                <m:t>0</m:t>
                              </m:r>
                            </m:e>
                            <m:e>
                              <m:r>
                                <a:rPr lang="tr-TR" i="1">
                                  <a:latin typeface="Cambria Math" panose="02040503050406030204" pitchFamily="18" charset="0"/>
                                </a:rPr>
                                <m:t>1</m:t>
                              </m:r>
                            </m:e>
                          </m:mr>
                        </m:m>
                      </m:e>
                    </m:d>
                  </m:oMath>
                </a14:m>
                <a:r>
                  <a:rPr lang="tr-TR" dirty="0"/>
                  <a:t>*</a:t>
                </a:r>
                <a14:m>
                  <m:oMath xmlns:m="http://schemas.openxmlformats.org/officeDocument/2006/math">
                    <m:d>
                      <m:dPr>
                        <m:begChr m:val="["/>
                        <m:endChr m:val="]"/>
                        <m:ctrlPr>
                          <a:rPr lang="tr-TR" i="1">
                            <a:latin typeface="Cambria Math" panose="02040503050406030204" pitchFamily="18" charset="0"/>
                          </a:rPr>
                        </m:ctrlPr>
                      </m:dPr>
                      <m:e>
                        <m:m>
                          <m:mPr>
                            <m:mcs>
                              <m:mc>
                                <m:mcPr>
                                  <m:count m:val="1"/>
                                  <m:mcJc m:val="center"/>
                                </m:mcPr>
                              </m:mc>
                            </m:mcs>
                            <m:ctrlPr>
                              <a:rPr lang="tr-TR" i="1">
                                <a:latin typeface="Cambria Math" panose="02040503050406030204" pitchFamily="18" charset="0"/>
                              </a:rPr>
                            </m:ctrlPr>
                          </m:mPr>
                          <m:mr>
                            <m:e>
                              <m:r>
                                <m:rPr>
                                  <m:brk m:alnAt="7"/>
                                </m:rPr>
                                <a:rPr lang="tr-TR" i="1">
                                  <a:latin typeface="Cambria Math" panose="02040503050406030204" pitchFamily="18" charset="0"/>
                                </a:rPr>
                                <m:t>𝑥</m:t>
                              </m:r>
                            </m:e>
                          </m:mr>
                          <m:mr>
                            <m:e>
                              <m:r>
                                <a:rPr lang="tr-TR" i="1">
                                  <a:latin typeface="Cambria Math" panose="02040503050406030204" pitchFamily="18" charset="0"/>
                                </a:rPr>
                                <m:t>𝑦</m:t>
                              </m:r>
                            </m:e>
                          </m:mr>
                          <m:mr>
                            <m:e>
                              <m:r>
                                <a:rPr lang="tr-TR" i="1">
                                  <a:latin typeface="Cambria Math" panose="02040503050406030204" pitchFamily="18" charset="0"/>
                                </a:rPr>
                                <m:t>1</m:t>
                              </m:r>
                            </m:e>
                          </m:mr>
                        </m:m>
                      </m:e>
                    </m:d>
                  </m:oMath>
                </a14:m>
                <a:endParaRPr lang="tr-TR" dirty="0"/>
              </a:p>
            </p:txBody>
          </p:sp>
        </mc:Choice>
        <mc:Fallback xmlns="">
          <p:sp>
            <p:nvSpPr>
              <p:cNvPr id="3" name="İçerik Yer Tutucusu 2"/>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tr-TR">
                    <a:noFill/>
                  </a:rPr>
                  <a:t> </a:t>
                </a:r>
              </a:p>
            </p:txBody>
          </p:sp>
        </mc:Fallback>
      </mc:AlternateContent>
    </p:spTree>
    <p:extLst>
      <p:ext uri="{BB962C8B-B14F-4D97-AF65-F5344CB8AC3E}">
        <p14:creationId xmlns:p14="http://schemas.microsoft.com/office/powerpoint/2010/main" val="3927655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Ölçeklendirme</a:t>
            </a:r>
            <a:endParaRPr lang="tr-TR" dirty="0"/>
          </a:p>
        </p:txBody>
      </p:sp>
      <p:sp>
        <p:nvSpPr>
          <p:cNvPr id="3" name="İçerik Yer Tutucusu 2"/>
          <p:cNvSpPr>
            <a:spLocks noGrp="1"/>
          </p:cNvSpPr>
          <p:nvPr>
            <p:ph idx="1"/>
          </p:nvPr>
        </p:nvSpPr>
        <p:spPr/>
        <p:txBody>
          <a:bodyPr/>
          <a:lstStyle/>
          <a:p>
            <a:r>
              <a:rPr lang="tr-TR" dirty="0"/>
              <a:t>Bütün döndürme işlemlerinde referans noktası </a:t>
            </a:r>
            <a:r>
              <a:rPr lang="tr-TR" dirty="0" err="1"/>
              <a:t>orjindir</a:t>
            </a:r>
            <a:r>
              <a:rPr lang="tr-TR" dirty="0"/>
              <a:t>. </a:t>
            </a:r>
          </a:p>
          <a:p>
            <a:r>
              <a:rPr lang="tr-TR" dirty="0"/>
              <a:t>Başka bir referans(pivot) noktasına göre döndürme yapılacak ise:</a:t>
            </a:r>
          </a:p>
          <a:p>
            <a:pPr marL="514350" indent="-514350">
              <a:buFont typeface="+mj-lt"/>
              <a:buAutoNum type="arabicPeriod"/>
            </a:pPr>
            <a:r>
              <a:rPr lang="tr-TR" dirty="0"/>
              <a:t>Pivot noktası </a:t>
            </a:r>
            <a:r>
              <a:rPr lang="tr-TR" dirty="0" err="1"/>
              <a:t>orjine</a:t>
            </a:r>
            <a:r>
              <a:rPr lang="tr-TR" dirty="0"/>
              <a:t> ötelenir. T(-</a:t>
            </a:r>
            <a:r>
              <a:rPr lang="tr-TR" dirty="0" err="1"/>
              <a:t>px</a:t>
            </a:r>
            <a:r>
              <a:rPr lang="tr-TR" dirty="0"/>
              <a:t>,-</a:t>
            </a:r>
            <a:r>
              <a:rPr lang="tr-TR" dirty="0" err="1"/>
              <a:t>py</a:t>
            </a:r>
            <a:r>
              <a:rPr lang="tr-TR" dirty="0"/>
              <a:t>)</a:t>
            </a:r>
          </a:p>
          <a:p>
            <a:pPr marL="514350" indent="-514350">
              <a:buFont typeface="+mj-lt"/>
              <a:buAutoNum type="arabicPeriod"/>
            </a:pPr>
            <a:r>
              <a:rPr lang="tr-TR" dirty="0" smtClean="0"/>
              <a:t>Ölçeklendirme </a:t>
            </a:r>
            <a:r>
              <a:rPr lang="tr-TR" dirty="0"/>
              <a:t>işlemi yapılır. </a:t>
            </a:r>
            <a:r>
              <a:rPr lang="tr-TR" dirty="0" smtClean="0"/>
              <a:t>S(</a:t>
            </a:r>
            <a:r>
              <a:rPr lang="tr-TR" dirty="0" err="1" smtClean="0">
                <a:sym typeface="Symbol" panose="05050102010706020507" pitchFamily="18" charset="2"/>
              </a:rPr>
              <a:t>sx,sy</a:t>
            </a:r>
            <a:r>
              <a:rPr lang="tr-TR" dirty="0" smtClean="0"/>
              <a:t>)</a:t>
            </a:r>
            <a:endParaRPr lang="tr-TR" dirty="0"/>
          </a:p>
          <a:p>
            <a:pPr marL="514350" indent="-514350">
              <a:buFont typeface="+mj-lt"/>
              <a:buAutoNum type="arabicPeriod"/>
            </a:pPr>
            <a:r>
              <a:rPr lang="tr-TR" dirty="0"/>
              <a:t>Pivot noktası eski konumuna ötelenir. T(</a:t>
            </a:r>
            <a:r>
              <a:rPr lang="tr-TR" dirty="0" err="1"/>
              <a:t>px,py</a:t>
            </a:r>
            <a:r>
              <a:rPr lang="tr-TR" dirty="0"/>
              <a:t>)</a:t>
            </a:r>
          </a:p>
          <a:p>
            <a:endParaRPr lang="tr-TR" dirty="0"/>
          </a:p>
        </p:txBody>
      </p:sp>
      <p:pic>
        <p:nvPicPr>
          <p:cNvPr id="4" name="Resim 3"/>
          <p:cNvPicPr>
            <a:picLocks noChangeAspect="1"/>
          </p:cNvPicPr>
          <p:nvPr/>
        </p:nvPicPr>
        <p:blipFill>
          <a:blip r:embed="rId2"/>
          <a:stretch>
            <a:fillRect/>
          </a:stretch>
        </p:blipFill>
        <p:spPr>
          <a:xfrm>
            <a:off x="682303" y="4613564"/>
            <a:ext cx="9527004" cy="1878445"/>
          </a:xfrm>
          <a:prstGeom prst="rect">
            <a:avLst/>
          </a:prstGeom>
        </p:spPr>
      </p:pic>
    </p:spTree>
    <p:extLst>
      <p:ext uri="{BB962C8B-B14F-4D97-AF65-F5344CB8AC3E}">
        <p14:creationId xmlns:p14="http://schemas.microsoft.com/office/powerpoint/2010/main" val="14148777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OpenGL</a:t>
            </a:r>
            <a:r>
              <a:rPr lang="tr-TR" dirty="0" smtClean="0"/>
              <a:t> Dönüşüm sırası</a:t>
            </a:r>
            <a:endParaRPr lang="tr-TR" dirty="0"/>
          </a:p>
        </p:txBody>
      </p:sp>
      <p:sp>
        <p:nvSpPr>
          <p:cNvPr id="3" name="İçerik Yer Tutucusu 2"/>
          <p:cNvSpPr>
            <a:spLocks noGrp="1"/>
          </p:cNvSpPr>
          <p:nvPr>
            <p:ph idx="1"/>
          </p:nvPr>
        </p:nvSpPr>
        <p:spPr>
          <a:xfrm>
            <a:off x="5231566" y="1825625"/>
            <a:ext cx="6122233" cy="4351338"/>
          </a:xfrm>
        </p:spPr>
        <p:txBody>
          <a:bodyPr/>
          <a:lstStyle/>
          <a:p>
            <a:r>
              <a:rPr lang="tr-TR" dirty="0" smtClean="0"/>
              <a:t>1. İşlemler:</a:t>
            </a:r>
          </a:p>
          <a:p>
            <a:pPr lvl="1"/>
            <a:r>
              <a:rPr lang="tr-TR" dirty="0" smtClean="0"/>
              <a:t> </a:t>
            </a:r>
            <a:r>
              <a:rPr lang="tr-TR" dirty="0" err="1" smtClean="0"/>
              <a:t>Translate</a:t>
            </a:r>
            <a:r>
              <a:rPr lang="tr-TR" dirty="0" smtClean="0"/>
              <a:t>(5,0) </a:t>
            </a:r>
          </a:p>
          <a:p>
            <a:pPr lvl="1"/>
            <a:r>
              <a:rPr lang="tr-TR" dirty="0" smtClean="0"/>
              <a:t> </a:t>
            </a:r>
            <a:r>
              <a:rPr lang="tr-TR" dirty="0" err="1" smtClean="0"/>
              <a:t>Rotate</a:t>
            </a:r>
            <a:r>
              <a:rPr lang="tr-TR" dirty="0" smtClean="0"/>
              <a:t>(45)</a:t>
            </a:r>
          </a:p>
          <a:p>
            <a:pPr marL="457200" lvl="1" indent="0">
              <a:buNone/>
            </a:pPr>
            <a:endParaRPr lang="tr-TR" dirty="0"/>
          </a:p>
          <a:p>
            <a:r>
              <a:rPr lang="tr-TR" dirty="0" smtClean="0"/>
              <a:t>2. </a:t>
            </a:r>
            <a:r>
              <a:rPr lang="tr-TR" dirty="0"/>
              <a:t>İşlemler</a:t>
            </a:r>
            <a:r>
              <a:rPr lang="tr-TR" dirty="0" smtClean="0"/>
              <a:t>:</a:t>
            </a:r>
          </a:p>
          <a:p>
            <a:pPr marL="685800" lvl="2">
              <a:spcBef>
                <a:spcPts val="1000"/>
              </a:spcBef>
            </a:pPr>
            <a:r>
              <a:rPr lang="tr-TR" dirty="0" err="1"/>
              <a:t>Rotate</a:t>
            </a:r>
            <a:r>
              <a:rPr lang="tr-TR" dirty="0"/>
              <a:t>(45</a:t>
            </a:r>
            <a:r>
              <a:rPr lang="tr-TR" dirty="0" smtClean="0"/>
              <a:t>)</a:t>
            </a:r>
          </a:p>
          <a:p>
            <a:pPr marL="685800" lvl="2">
              <a:spcBef>
                <a:spcPts val="1000"/>
              </a:spcBef>
            </a:pPr>
            <a:r>
              <a:rPr lang="tr-TR" dirty="0" smtClean="0"/>
              <a:t> </a:t>
            </a:r>
            <a:r>
              <a:rPr lang="tr-TR" dirty="0" err="1"/>
              <a:t>Translate</a:t>
            </a:r>
            <a:r>
              <a:rPr lang="tr-TR" dirty="0"/>
              <a:t>(5,0) </a:t>
            </a:r>
          </a:p>
          <a:p>
            <a:pPr marL="457200" lvl="1" indent="0">
              <a:buNone/>
            </a:pPr>
            <a:r>
              <a:rPr lang="tr-TR" dirty="0"/>
              <a:t> </a:t>
            </a:r>
            <a:endParaRPr lang="tr-TR" dirty="0" smtClean="0"/>
          </a:p>
        </p:txBody>
      </p:sp>
      <p:cxnSp>
        <p:nvCxnSpPr>
          <p:cNvPr id="8" name="Düz Ok Bağlayıcısı 7"/>
          <p:cNvCxnSpPr/>
          <p:nvPr/>
        </p:nvCxnSpPr>
        <p:spPr>
          <a:xfrm flipV="1">
            <a:off x="1244184" y="4631961"/>
            <a:ext cx="3462727" cy="149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Düz Ok Bağlayıcısı 8"/>
          <p:cNvCxnSpPr/>
          <p:nvPr/>
        </p:nvCxnSpPr>
        <p:spPr>
          <a:xfrm flipV="1">
            <a:off x="1244184" y="1963711"/>
            <a:ext cx="0" cy="26682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Dikdörtgen 12"/>
          <p:cNvSpPr/>
          <p:nvPr/>
        </p:nvSpPr>
        <p:spPr>
          <a:xfrm>
            <a:off x="838200" y="4065535"/>
            <a:ext cx="981855" cy="83944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4" name="Dikdörtgen 13"/>
          <p:cNvSpPr/>
          <p:nvPr/>
        </p:nvSpPr>
        <p:spPr>
          <a:xfrm rot="3833647">
            <a:off x="3318061" y="4065534"/>
            <a:ext cx="981855" cy="83944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smtClean="0"/>
              <a:t>2. İşlem</a:t>
            </a:r>
            <a:endParaRPr lang="tr-TR" dirty="0"/>
          </a:p>
        </p:txBody>
      </p:sp>
      <p:cxnSp>
        <p:nvCxnSpPr>
          <p:cNvPr id="18" name="Düz Bağlayıcı 17"/>
          <p:cNvCxnSpPr/>
          <p:nvPr/>
        </p:nvCxnSpPr>
        <p:spPr>
          <a:xfrm flipH="1">
            <a:off x="3808988" y="2760215"/>
            <a:ext cx="4757" cy="12965"/>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sp>
        <p:nvSpPr>
          <p:cNvPr id="19" name="Dikdörtgen 18"/>
          <p:cNvSpPr/>
          <p:nvPr/>
        </p:nvSpPr>
        <p:spPr>
          <a:xfrm rot="3833647">
            <a:off x="1922057" y="2458387"/>
            <a:ext cx="981855" cy="83944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smtClean="0"/>
              <a:t>1. İşlem</a:t>
            </a:r>
            <a:endParaRPr lang="tr-TR" dirty="0"/>
          </a:p>
        </p:txBody>
      </p:sp>
    </p:spTree>
    <p:extLst>
      <p:ext uri="{BB962C8B-B14F-4D97-AF65-F5344CB8AC3E}">
        <p14:creationId xmlns:p14="http://schemas.microsoft.com/office/powerpoint/2010/main" val="1669047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OpenGL</a:t>
            </a:r>
            <a:r>
              <a:rPr lang="tr-TR" dirty="0" smtClean="0"/>
              <a:t> kodları</a:t>
            </a:r>
            <a:endParaRPr lang="tr-TR" dirty="0"/>
          </a:p>
        </p:txBody>
      </p:sp>
      <p:sp>
        <p:nvSpPr>
          <p:cNvPr id="3" name="İçerik Yer Tutucusu 2"/>
          <p:cNvSpPr>
            <a:spLocks noGrp="1"/>
          </p:cNvSpPr>
          <p:nvPr>
            <p:ph idx="1"/>
          </p:nvPr>
        </p:nvSpPr>
        <p:spPr/>
        <p:txBody>
          <a:bodyPr/>
          <a:lstStyle/>
          <a:p>
            <a:pPr algn="just"/>
            <a:r>
              <a:rPr lang="tr-TR" b="1" dirty="0"/>
              <a:t>Taşıma (</a:t>
            </a:r>
            <a:r>
              <a:rPr lang="tr-TR" b="1" dirty="0" err="1"/>
              <a:t>Translation</a:t>
            </a:r>
            <a:r>
              <a:rPr lang="tr-TR" dirty="0"/>
              <a:t>) Bu işlemin amacı bir şekli mevcut konumundan bozulmadan farklı bir konuma taşımaktır. </a:t>
            </a:r>
            <a:r>
              <a:rPr lang="tr-TR" dirty="0" err="1" smtClean="0">
                <a:solidFill>
                  <a:srgbClr val="FF0000"/>
                </a:solidFill>
              </a:rPr>
              <a:t>glTanslate</a:t>
            </a:r>
            <a:r>
              <a:rPr lang="tr-TR" dirty="0" smtClean="0"/>
              <a:t>*() fonksiyonu </a:t>
            </a:r>
            <a:r>
              <a:rPr lang="tr-TR" dirty="0"/>
              <a:t>bu işlemi gerçekleştirir. </a:t>
            </a:r>
            <a:endParaRPr lang="tr-TR" dirty="0" smtClean="0"/>
          </a:p>
          <a:p>
            <a:pPr algn="just"/>
            <a:r>
              <a:rPr lang="tr-TR" b="1" dirty="0" smtClean="0"/>
              <a:t>Döndürme(</a:t>
            </a:r>
            <a:r>
              <a:rPr lang="tr-TR" b="1" dirty="0" err="1" smtClean="0"/>
              <a:t>Rotate</a:t>
            </a:r>
            <a:r>
              <a:rPr lang="tr-TR" b="1" dirty="0" smtClean="0"/>
              <a:t>): </a:t>
            </a:r>
            <a:r>
              <a:rPr lang="tr-TR" dirty="0" err="1" smtClean="0"/>
              <a:t>OpenGL’de</a:t>
            </a:r>
            <a:r>
              <a:rPr lang="tr-TR" dirty="0" smtClean="0"/>
              <a:t> </a:t>
            </a:r>
            <a:r>
              <a:rPr lang="tr-TR" dirty="0"/>
              <a:t>döndürme işlemi </a:t>
            </a:r>
            <a:r>
              <a:rPr lang="tr-TR" dirty="0" err="1">
                <a:solidFill>
                  <a:srgbClr val="FF0000"/>
                </a:solidFill>
              </a:rPr>
              <a:t>glRotate</a:t>
            </a:r>
            <a:r>
              <a:rPr lang="tr-TR" dirty="0"/>
              <a:t>*() fonksiyonu ile gerçekleştirilmektedir. </a:t>
            </a:r>
          </a:p>
          <a:p>
            <a:pPr algn="just"/>
            <a:r>
              <a:rPr lang="tr-TR" b="1" dirty="0" smtClean="0"/>
              <a:t>Ölçeklendirme</a:t>
            </a:r>
            <a:r>
              <a:rPr lang="tr-TR" dirty="0" smtClean="0"/>
              <a:t>: </a:t>
            </a:r>
            <a:r>
              <a:rPr lang="tr-TR" dirty="0" err="1" smtClean="0"/>
              <a:t>OpenGL'de</a:t>
            </a:r>
            <a:r>
              <a:rPr lang="tr-TR" dirty="0" smtClean="0"/>
              <a:t> </a:t>
            </a:r>
            <a:r>
              <a:rPr lang="tr-TR" dirty="0"/>
              <a:t>ölçeklendirme işlemi </a:t>
            </a:r>
            <a:r>
              <a:rPr lang="tr-TR" dirty="0" err="1">
                <a:solidFill>
                  <a:srgbClr val="FF0000"/>
                </a:solidFill>
              </a:rPr>
              <a:t>glScale</a:t>
            </a:r>
            <a:r>
              <a:rPr lang="tr-TR" dirty="0"/>
              <a:t>*() fonksiyonu ile gerçekleştirilir. İki farklı şekilde kullanılabilir.</a:t>
            </a:r>
            <a:endParaRPr lang="tr-TR" dirty="0" smtClean="0"/>
          </a:p>
          <a:p>
            <a:pPr algn="just"/>
            <a:endParaRPr lang="tr-TR" dirty="0" smtClean="0"/>
          </a:p>
          <a:p>
            <a:pPr algn="just"/>
            <a:endParaRPr lang="tr-TR" dirty="0"/>
          </a:p>
        </p:txBody>
      </p:sp>
    </p:spTree>
    <p:extLst>
      <p:ext uri="{BB962C8B-B14F-4D97-AF65-F5344CB8AC3E}">
        <p14:creationId xmlns:p14="http://schemas.microsoft.com/office/powerpoint/2010/main" val="41530679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OpenGL</a:t>
            </a:r>
            <a:r>
              <a:rPr lang="tr-TR" dirty="0"/>
              <a:t> </a:t>
            </a:r>
            <a:r>
              <a:rPr lang="tr-TR" dirty="0" err="1" smtClean="0"/>
              <a:t>Transformation</a:t>
            </a:r>
            <a:endParaRPr lang="tr-TR" dirty="0"/>
          </a:p>
        </p:txBody>
      </p:sp>
      <mc:AlternateContent xmlns:mc="http://schemas.openxmlformats.org/markup-compatibility/2006" xmlns:a14="http://schemas.microsoft.com/office/drawing/2010/main">
        <mc:Choice Requires="a14">
          <p:sp>
            <p:nvSpPr>
              <p:cNvPr id="3" name="İçerik Yer Tutucusu 2"/>
              <p:cNvSpPr>
                <a:spLocks noGrp="1"/>
              </p:cNvSpPr>
              <p:nvPr>
                <p:ph idx="1"/>
              </p:nvPr>
            </p:nvSpPr>
            <p:spPr/>
            <p:txBody>
              <a:bodyPr/>
              <a:lstStyle/>
              <a:p>
                <a:pPr algn="just"/>
                <a:r>
                  <a:rPr lang="tr-TR" dirty="0" smtClean="0"/>
                  <a:t>Transformation matrisi olarak GL_MODELVIEW  (M olarak isimlendireceğiz)</a:t>
                </a:r>
              </a:p>
              <a:p>
                <a:pPr algn="just"/>
                <a:r>
                  <a:rPr lang="tr-TR" dirty="0" err="1" smtClean="0"/>
                  <a:t>glLoadIdentity</a:t>
                </a:r>
                <a:r>
                  <a:rPr lang="tr-TR" dirty="0" smtClean="0"/>
                  <a:t>() Kullanıcı gerekli gördüğü durumlarda birim matrisini yüklüyor.</a:t>
                </a:r>
              </a:p>
              <a:p>
                <a:pPr algn="just"/>
                <a:endParaRPr lang="tr-TR" dirty="0"/>
              </a:p>
              <a:p>
                <a:pPr algn="just"/>
                <a14:m>
                  <m:oMath xmlns:m="http://schemas.openxmlformats.org/officeDocument/2006/math">
                    <m:r>
                      <a:rPr lang="tr-TR" b="0" i="1" smtClean="0">
                        <a:latin typeface="Cambria Math" panose="02040503050406030204" pitchFamily="18" charset="0"/>
                      </a:rPr>
                      <m:t>𝑀</m:t>
                    </m:r>
                    <m:r>
                      <a:rPr lang="tr-TR" b="0" i="1" smtClean="0">
                        <a:latin typeface="Cambria Math" panose="02040503050406030204" pitchFamily="18" charset="0"/>
                      </a:rPr>
                      <m:t>=</m:t>
                    </m:r>
                    <m:d>
                      <m:dPr>
                        <m:begChr m:val="["/>
                        <m:endChr m:val="]"/>
                        <m:ctrlPr>
                          <a:rPr lang="tr-TR" i="1" smtClean="0">
                            <a:latin typeface="Cambria Math" panose="02040503050406030204" pitchFamily="18" charset="0"/>
                          </a:rPr>
                        </m:ctrlPr>
                      </m:dPr>
                      <m:e>
                        <m:m>
                          <m:mPr>
                            <m:mcs>
                              <m:mc>
                                <m:mcPr>
                                  <m:count m:val="3"/>
                                  <m:mcJc m:val="center"/>
                                </m:mcPr>
                              </m:mc>
                            </m:mcs>
                            <m:ctrlPr>
                              <a:rPr lang="tr-TR" i="1" smtClean="0">
                                <a:latin typeface="Cambria Math" panose="02040503050406030204" pitchFamily="18" charset="0"/>
                              </a:rPr>
                            </m:ctrlPr>
                          </m:mPr>
                          <m:mr>
                            <m:e>
                              <m:r>
                                <m:rPr>
                                  <m:brk m:alnAt="7"/>
                                </m:rPr>
                                <a:rPr lang="tr-TR" b="0" i="1" smtClean="0">
                                  <a:latin typeface="Cambria Math" panose="02040503050406030204" pitchFamily="18" charset="0"/>
                                </a:rPr>
                                <m:t>1</m:t>
                              </m:r>
                            </m:e>
                            <m:e>
                              <m:r>
                                <a:rPr lang="tr-TR" b="0" i="1" smtClean="0">
                                  <a:latin typeface="Cambria Math" panose="02040503050406030204" pitchFamily="18" charset="0"/>
                                </a:rPr>
                                <m:t>0</m:t>
                              </m:r>
                            </m:e>
                            <m:e>
                              <m:r>
                                <a:rPr lang="tr-TR" b="0" i="1" smtClean="0">
                                  <a:latin typeface="Cambria Math" panose="02040503050406030204" pitchFamily="18" charset="0"/>
                                </a:rPr>
                                <m:t>0</m:t>
                              </m:r>
                            </m:e>
                          </m:mr>
                          <m:mr>
                            <m:e>
                              <m:r>
                                <a:rPr lang="tr-TR" b="0" i="1" smtClean="0">
                                  <a:latin typeface="Cambria Math" panose="02040503050406030204" pitchFamily="18" charset="0"/>
                                </a:rPr>
                                <m:t>0</m:t>
                              </m:r>
                            </m:e>
                            <m:e>
                              <m:r>
                                <a:rPr lang="tr-TR" b="0" i="1" smtClean="0">
                                  <a:latin typeface="Cambria Math" panose="02040503050406030204" pitchFamily="18" charset="0"/>
                                </a:rPr>
                                <m:t>1</m:t>
                              </m:r>
                            </m:e>
                            <m:e>
                              <m:r>
                                <a:rPr lang="tr-TR" b="0" i="1" smtClean="0">
                                  <a:latin typeface="Cambria Math" panose="02040503050406030204" pitchFamily="18" charset="0"/>
                                </a:rPr>
                                <m:t>0</m:t>
                              </m:r>
                            </m:e>
                          </m:mr>
                          <m:mr>
                            <m:e>
                              <m:r>
                                <a:rPr lang="tr-TR" b="0" i="1" smtClean="0">
                                  <a:latin typeface="Cambria Math" panose="02040503050406030204" pitchFamily="18" charset="0"/>
                                </a:rPr>
                                <m:t>0</m:t>
                              </m:r>
                            </m:e>
                            <m:e>
                              <m:r>
                                <a:rPr lang="tr-TR" b="0" i="1" smtClean="0">
                                  <a:latin typeface="Cambria Math" panose="02040503050406030204" pitchFamily="18" charset="0"/>
                                </a:rPr>
                                <m:t>0</m:t>
                              </m:r>
                            </m:e>
                            <m:e>
                              <m:r>
                                <a:rPr lang="tr-TR" b="0" i="1" smtClean="0">
                                  <a:latin typeface="Cambria Math" panose="02040503050406030204" pitchFamily="18" charset="0"/>
                                </a:rPr>
                                <m:t>1</m:t>
                              </m:r>
                            </m:e>
                          </m:mr>
                        </m:m>
                      </m:e>
                    </m:d>
                  </m:oMath>
                </a14:m>
                <a:endParaRPr lang="tr-TR" dirty="0"/>
              </a:p>
            </p:txBody>
          </p:sp>
        </mc:Choice>
        <mc:Fallback xmlns="">
          <p:sp>
            <p:nvSpPr>
              <p:cNvPr id="3" name="İçerik Yer Tutucusu 2"/>
              <p:cNvSpPr>
                <a:spLocks noGrp="1" noRot="1" noChangeAspect="1" noMove="1" noResize="1" noEditPoints="1" noAdjustHandles="1" noChangeArrowheads="1" noChangeShapeType="1" noTextEdit="1"/>
              </p:cNvSpPr>
              <p:nvPr>
                <p:ph idx="1"/>
              </p:nvPr>
            </p:nvSpPr>
            <p:spPr>
              <a:blipFill>
                <a:blip r:embed="rId2"/>
                <a:stretch>
                  <a:fillRect l="-1043" t="-2241" r="-1159"/>
                </a:stretch>
              </a:blipFill>
            </p:spPr>
            <p:txBody>
              <a:bodyPr/>
              <a:lstStyle/>
              <a:p>
                <a:r>
                  <a:rPr lang="tr-TR">
                    <a:noFill/>
                  </a:rPr>
                  <a:t> </a:t>
                </a:r>
              </a:p>
            </p:txBody>
          </p:sp>
        </mc:Fallback>
      </mc:AlternateContent>
    </p:spTree>
    <p:extLst>
      <p:ext uri="{BB962C8B-B14F-4D97-AF65-F5344CB8AC3E}">
        <p14:creationId xmlns:p14="http://schemas.microsoft.com/office/powerpoint/2010/main" val="34856436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a:t>OpenGL</a:t>
            </a:r>
            <a:r>
              <a:rPr lang="tr-TR" dirty="0"/>
              <a:t> </a:t>
            </a:r>
            <a:r>
              <a:rPr lang="tr-TR" dirty="0" err="1"/>
              <a:t>Transformation</a:t>
            </a:r>
            <a:endParaRPr lang="tr-TR" dirty="0"/>
          </a:p>
        </p:txBody>
      </p:sp>
      <mc:AlternateContent xmlns:mc="http://schemas.openxmlformats.org/markup-compatibility/2006" xmlns:a14="http://schemas.microsoft.com/office/drawing/2010/main">
        <mc:Choice Requires="a14">
          <p:sp>
            <p:nvSpPr>
              <p:cNvPr id="3" name="İçerik Yer Tutucusu 2"/>
              <p:cNvSpPr>
                <a:spLocks noGrp="1"/>
              </p:cNvSpPr>
              <p:nvPr>
                <p:ph idx="1"/>
              </p:nvPr>
            </p:nvSpPr>
            <p:spPr/>
            <p:txBody>
              <a:bodyPr>
                <a:normAutofit lnSpcReduction="10000"/>
              </a:bodyPr>
              <a:lstStyle/>
              <a:p>
                <a:r>
                  <a:rPr lang="tr-TR" dirty="0" smtClean="0"/>
                  <a:t>Kullanıcı </a:t>
                </a:r>
                <a:r>
                  <a:rPr lang="tr-TR" dirty="0" err="1" smtClean="0"/>
                  <a:t>glTranslated</a:t>
                </a:r>
                <a:r>
                  <a:rPr lang="tr-TR" dirty="0" smtClean="0"/>
                  <a:t>(2,2,0) dediği zaman arka planda </a:t>
                </a:r>
                <a:r>
                  <a:rPr lang="tr-TR" dirty="0" err="1" smtClean="0"/>
                  <a:t>OpenGL</a:t>
                </a:r>
                <a:r>
                  <a:rPr lang="tr-TR" dirty="0" smtClean="0"/>
                  <a:t> </a:t>
                </a:r>
                <a:r>
                  <a:rPr lang="tr-TR" dirty="0" err="1" smtClean="0"/>
                  <a:t>modelview</a:t>
                </a:r>
                <a:r>
                  <a:rPr lang="tr-TR" dirty="0" smtClean="0"/>
                  <a:t> matrisini bu dönüşüm matrisi ile çarpıyor.</a:t>
                </a:r>
              </a:p>
              <a:p>
                <a:endParaRPr lang="tr-TR" dirty="0" smtClean="0"/>
              </a:p>
              <a:p>
                <a14:m>
                  <m:oMath xmlns:m="http://schemas.openxmlformats.org/officeDocument/2006/math">
                    <m:r>
                      <a:rPr lang="tr-TR" i="1">
                        <a:latin typeface="Cambria Math" panose="02040503050406030204" pitchFamily="18" charset="0"/>
                      </a:rPr>
                      <m:t>𝑀</m:t>
                    </m:r>
                    <m:r>
                      <a:rPr lang="tr-TR" i="1">
                        <a:latin typeface="Cambria Math" panose="02040503050406030204" pitchFamily="18" charset="0"/>
                      </a:rPr>
                      <m:t>=</m:t>
                    </m:r>
                    <m:r>
                      <a:rPr lang="tr-TR" b="0" i="1" smtClean="0">
                        <a:latin typeface="Cambria Math" panose="02040503050406030204" pitchFamily="18" charset="0"/>
                      </a:rPr>
                      <m:t>𝑀𝑥</m:t>
                    </m:r>
                    <m:d>
                      <m:dPr>
                        <m:begChr m:val="["/>
                        <m:endChr m:val="]"/>
                        <m:ctrlPr>
                          <a:rPr lang="tr-TR" i="1">
                            <a:latin typeface="Cambria Math" panose="02040503050406030204" pitchFamily="18" charset="0"/>
                          </a:rPr>
                        </m:ctrlPr>
                      </m:dPr>
                      <m:e>
                        <m:m>
                          <m:mPr>
                            <m:mcs>
                              <m:mc>
                                <m:mcPr>
                                  <m:count m:val="3"/>
                                  <m:mcJc m:val="center"/>
                                </m:mcPr>
                              </m:mc>
                            </m:mcs>
                            <m:ctrlPr>
                              <a:rPr lang="tr-TR" i="1">
                                <a:latin typeface="Cambria Math" panose="02040503050406030204" pitchFamily="18" charset="0"/>
                              </a:rPr>
                            </m:ctrlPr>
                          </m:mPr>
                          <m:mr>
                            <m:e>
                              <m:r>
                                <m:rPr>
                                  <m:brk m:alnAt="7"/>
                                </m:rPr>
                                <a:rPr lang="tr-TR" i="1">
                                  <a:latin typeface="Cambria Math" panose="02040503050406030204" pitchFamily="18" charset="0"/>
                                </a:rPr>
                                <m:t>1</m:t>
                              </m:r>
                            </m:e>
                            <m:e>
                              <m:r>
                                <a:rPr lang="tr-TR" i="1">
                                  <a:latin typeface="Cambria Math" panose="02040503050406030204" pitchFamily="18" charset="0"/>
                                </a:rPr>
                                <m:t>0</m:t>
                              </m:r>
                            </m:e>
                            <m:e>
                              <m:r>
                                <a:rPr lang="tr-TR" b="0" i="1" smtClean="0">
                                  <a:latin typeface="Cambria Math" panose="02040503050406030204" pitchFamily="18" charset="0"/>
                                </a:rPr>
                                <m:t>2</m:t>
                              </m:r>
                            </m:e>
                          </m:mr>
                          <m:mr>
                            <m:e>
                              <m:r>
                                <a:rPr lang="tr-TR" i="1">
                                  <a:latin typeface="Cambria Math" panose="02040503050406030204" pitchFamily="18" charset="0"/>
                                </a:rPr>
                                <m:t>0</m:t>
                              </m:r>
                            </m:e>
                            <m:e>
                              <m:r>
                                <a:rPr lang="tr-TR" i="1">
                                  <a:latin typeface="Cambria Math" panose="02040503050406030204" pitchFamily="18" charset="0"/>
                                </a:rPr>
                                <m:t>1</m:t>
                              </m:r>
                            </m:e>
                            <m:e>
                              <m:r>
                                <a:rPr lang="tr-TR" b="0" i="1" smtClean="0">
                                  <a:latin typeface="Cambria Math" panose="02040503050406030204" pitchFamily="18" charset="0"/>
                                </a:rPr>
                                <m:t>2</m:t>
                              </m:r>
                            </m:e>
                          </m:mr>
                          <m:mr>
                            <m:e>
                              <m:r>
                                <a:rPr lang="tr-TR" i="1">
                                  <a:latin typeface="Cambria Math" panose="02040503050406030204" pitchFamily="18" charset="0"/>
                                </a:rPr>
                                <m:t>0</m:t>
                              </m:r>
                            </m:e>
                            <m:e>
                              <m:r>
                                <a:rPr lang="tr-TR" i="1">
                                  <a:latin typeface="Cambria Math" panose="02040503050406030204" pitchFamily="18" charset="0"/>
                                </a:rPr>
                                <m:t>0</m:t>
                              </m:r>
                            </m:e>
                            <m:e>
                              <m:r>
                                <a:rPr lang="tr-TR" i="1">
                                  <a:latin typeface="Cambria Math" panose="02040503050406030204" pitchFamily="18" charset="0"/>
                                </a:rPr>
                                <m:t>1</m:t>
                              </m:r>
                            </m:e>
                          </m:mr>
                        </m:m>
                      </m:e>
                    </m:d>
                  </m:oMath>
                </a14:m>
                <a:endParaRPr lang="tr-TR" dirty="0" smtClean="0"/>
              </a:p>
              <a:p>
                <a:endParaRPr lang="tr-TR" dirty="0"/>
              </a:p>
              <a:p>
                <a:r>
                  <a:rPr lang="tr-TR" dirty="0" smtClean="0"/>
                  <a:t>P şeklini ötelemek istediğimizi varsayalım. </a:t>
                </a:r>
                <a:r>
                  <a:rPr lang="tr-TR" dirty="0" err="1" smtClean="0"/>
                  <a:t>glBegin</a:t>
                </a:r>
                <a:r>
                  <a:rPr lang="tr-TR" dirty="0" smtClean="0"/>
                  <a:t>() ve </a:t>
                </a:r>
                <a:r>
                  <a:rPr lang="tr-TR" dirty="0" err="1" smtClean="0"/>
                  <a:t>glEnd</a:t>
                </a:r>
                <a:r>
                  <a:rPr lang="tr-TR" dirty="0" smtClean="0"/>
                  <a:t>() kodları arasında tanımladığımız tüm noktalar M ile çarpılıyor.</a:t>
                </a:r>
              </a:p>
              <a:p>
                <a14:m>
                  <m:oMath xmlns:m="http://schemas.openxmlformats.org/officeDocument/2006/math">
                    <m:sSup>
                      <m:sSupPr>
                        <m:ctrlPr>
                          <a:rPr lang="tr-TR" b="0" i="1" smtClean="0">
                            <a:latin typeface="Cambria Math" panose="02040503050406030204" pitchFamily="18" charset="0"/>
                          </a:rPr>
                        </m:ctrlPr>
                      </m:sSupPr>
                      <m:e>
                        <m:r>
                          <a:rPr lang="tr-TR" b="0" i="1" smtClean="0">
                            <a:latin typeface="Cambria Math" panose="02040503050406030204" pitchFamily="18" charset="0"/>
                          </a:rPr>
                          <m:t>𝑃</m:t>
                        </m:r>
                      </m:e>
                      <m:sup>
                        <m:r>
                          <a:rPr lang="tr-TR" b="0" i="1" smtClean="0">
                            <a:latin typeface="Cambria Math" panose="02040503050406030204" pitchFamily="18" charset="0"/>
                          </a:rPr>
                          <m:t>′</m:t>
                        </m:r>
                      </m:sup>
                    </m:sSup>
                    <m:r>
                      <a:rPr lang="tr-TR" b="0" i="1" smtClean="0">
                        <a:latin typeface="Cambria Math" panose="02040503050406030204" pitchFamily="18" charset="0"/>
                      </a:rPr>
                      <m:t>=</m:t>
                    </m:r>
                    <m:r>
                      <a:rPr lang="tr-TR" b="0" i="1" smtClean="0">
                        <a:latin typeface="Cambria Math" panose="02040503050406030204" pitchFamily="18" charset="0"/>
                      </a:rPr>
                      <m:t>𝑀𝑥𝑃</m:t>
                    </m:r>
                  </m:oMath>
                </a14:m>
                <a:endParaRPr lang="tr-TR" dirty="0" smtClean="0"/>
              </a:p>
              <a:p>
                <a:endParaRPr lang="tr-TR" dirty="0"/>
              </a:p>
            </p:txBody>
          </p:sp>
        </mc:Choice>
        <mc:Fallback xmlns="">
          <p:sp>
            <p:nvSpPr>
              <p:cNvPr id="3" name="İçerik Yer Tutucusu 2"/>
              <p:cNvSpPr>
                <a:spLocks noGrp="1" noRot="1" noChangeAspect="1" noMove="1" noResize="1" noEditPoints="1" noAdjustHandles="1" noChangeArrowheads="1" noChangeShapeType="1" noTextEdit="1"/>
              </p:cNvSpPr>
              <p:nvPr>
                <p:ph idx="1"/>
              </p:nvPr>
            </p:nvSpPr>
            <p:spPr>
              <a:blipFill>
                <a:blip r:embed="rId2"/>
                <a:stretch>
                  <a:fillRect l="-1043" t="-3081" r="-116"/>
                </a:stretch>
              </a:blipFill>
            </p:spPr>
            <p:txBody>
              <a:bodyPr/>
              <a:lstStyle/>
              <a:p>
                <a:r>
                  <a:rPr lang="tr-TR">
                    <a:noFill/>
                  </a:rPr>
                  <a:t> </a:t>
                </a:r>
              </a:p>
            </p:txBody>
          </p:sp>
        </mc:Fallback>
      </mc:AlternateContent>
    </p:spTree>
    <p:extLst>
      <p:ext uri="{BB962C8B-B14F-4D97-AF65-F5344CB8AC3E}">
        <p14:creationId xmlns:p14="http://schemas.microsoft.com/office/powerpoint/2010/main" val="30593313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Ders Uygulaması</a:t>
            </a:r>
            <a:endParaRPr lang="tr-TR" dirty="0"/>
          </a:p>
        </p:txBody>
      </p:sp>
      <p:sp>
        <p:nvSpPr>
          <p:cNvPr id="3" name="İçerik Yer Tutucusu 2"/>
          <p:cNvSpPr>
            <a:spLocks noGrp="1"/>
          </p:cNvSpPr>
          <p:nvPr>
            <p:ph idx="1"/>
          </p:nvPr>
        </p:nvSpPr>
        <p:spPr/>
        <p:txBody>
          <a:bodyPr/>
          <a:lstStyle/>
          <a:p>
            <a:r>
              <a:rPr lang="tr-TR" dirty="0" smtClean="0"/>
              <a:t>1-) Örnekteki üçgeni mavi bir çaydanlık yapın.</a:t>
            </a:r>
          </a:p>
          <a:p>
            <a:r>
              <a:rPr lang="tr-TR" dirty="0" smtClean="0"/>
              <a:t>2-) Ekrana 2 tane farklı konumda çaydanlık çizdirin. </a:t>
            </a:r>
            <a:endParaRPr lang="tr-TR" dirty="0"/>
          </a:p>
        </p:txBody>
      </p:sp>
    </p:spTree>
    <p:extLst>
      <p:ext uri="{BB962C8B-B14F-4D97-AF65-F5344CB8AC3E}">
        <p14:creationId xmlns:p14="http://schemas.microsoft.com/office/powerpoint/2010/main" val="1881174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b="1" dirty="0" smtClean="0"/>
              <a:t>Ders Uygulaması</a:t>
            </a:r>
            <a:endParaRPr lang="tr-TR" b="1" dirty="0"/>
          </a:p>
        </p:txBody>
      </p:sp>
      <p:sp>
        <p:nvSpPr>
          <p:cNvPr id="3" name="İçerik Yer Tutucusu 2"/>
          <p:cNvSpPr>
            <a:spLocks noGrp="1"/>
          </p:cNvSpPr>
          <p:nvPr>
            <p:ph idx="1"/>
          </p:nvPr>
        </p:nvSpPr>
        <p:spPr/>
        <p:txBody>
          <a:bodyPr/>
          <a:lstStyle/>
          <a:p>
            <a:r>
              <a:rPr lang="tr-TR" dirty="0" smtClean="0"/>
              <a:t>Transform_sample_6.py dosyasındaki uygulamada p tuşuna bastığım zaman kırmızı çaydanlığın x ekseni etrafında dönmesini sağlayınız.</a:t>
            </a:r>
          </a:p>
          <a:p>
            <a:r>
              <a:rPr lang="tr-TR" dirty="0" smtClean="0"/>
              <a:t>Mavi çaydanlık bu dönüşten etkilenmemelidir.</a:t>
            </a:r>
          </a:p>
          <a:p>
            <a:endParaRPr lang="tr-TR" dirty="0"/>
          </a:p>
        </p:txBody>
      </p:sp>
    </p:spTree>
    <p:extLst>
      <p:ext uri="{BB962C8B-B14F-4D97-AF65-F5344CB8AC3E}">
        <p14:creationId xmlns:p14="http://schemas.microsoft.com/office/powerpoint/2010/main" val="2923436675"/>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1808</TotalTime>
  <Words>694</Words>
  <Application>Microsoft Office PowerPoint</Application>
  <PresentationFormat>Geniş ekran</PresentationFormat>
  <Paragraphs>151</Paragraphs>
  <Slides>29</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29</vt:i4>
      </vt:variant>
    </vt:vector>
  </HeadingPairs>
  <TitlesOfParts>
    <vt:vector size="36" baseType="lpstr">
      <vt:lpstr>Arial</vt:lpstr>
      <vt:lpstr>Calibri</vt:lpstr>
      <vt:lpstr>Calibri Light</vt:lpstr>
      <vt:lpstr>Cambria Math</vt:lpstr>
      <vt:lpstr>JetBrains Mono</vt:lpstr>
      <vt:lpstr>Symbol</vt:lpstr>
      <vt:lpstr>Office Teması</vt:lpstr>
      <vt:lpstr>OpenGL 2D Dönüşümler</vt:lpstr>
      <vt:lpstr>2D düzlemde Nokta</vt:lpstr>
      <vt:lpstr>2D düzlemde Şekil</vt:lpstr>
      <vt:lpstr>2D Temel İşlemler</vt:lpstr>
      <vt:lpstr>Öteleme(Transform)</vt:lpstr>
      <vt:lpstr>Homojen Koordinat Sistemi</vt:lpstr>
      <vt:lpstr>Homojen Koordinat Sistemi</vt:lpstr>
      <vt:lpstr>Matris Çarpımı</vt:lpstr>
      <vt:lpstr>Öteleme</vt:lpstr>
      <vt:lpstr>PowerPoint Sunusu</vt:lpstr>
      <vt:lpstr>Öteleme-Python Code</vt:lpstr>
      <vt:lpstr>2D Döndürme</vt:lpstr>
      <vt:lpstr>2D Döndürme</vt:lpstr>
      <vt:lpstr>2D Döndürme</vt:lpstr>
      <vt:lpstr>2D Döndürme</vt:lpstr>
      <vt:lpstr>PowerPoint Sunusu</vt:lpstr>
      <vt:lpstr>PowerPoint Sunusu</vt:lpstr>
      <vt:lpstr>2D Ölçekleme</vt:lpstr>
      <vt:lpstr>Kaydırma </vt:lpstr>
      <vt:lpstr>Kaydırma </vt:lpstr>
      <vt:lpstr>Pivot noktasına göre döndürme</vt:lpstr>
      <vt:lpstr>Pivot noktasına göre döndürme</vt:lpstr>
      <vt:lpstr>Ölçeklendirme</vt:lpstr>
      <vt:lpstr>OpenGL Dönüşüm sırası</vt:lpstr>
      <vt:lpstr>OpenGL kodları</vt:lpstr>
      <vt:lpstr>OpenGL Transformation</vt:lpstr>
      <vt:lpstr>OpenGL Transformation</vt:lpstr>
      <vt:lpstr>Ders Uygulaması</vt:lpstr>
      <vt:lpstr>Ders Uygulaması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SERPİL</dc:creator>
  <cp:lastModifiedBy>SERPIL USTEBAY</cp:lastModifiedBy>
  <cp:revision>35</cp:revision>
  <dcterms:created xsi:type="dcterms:W3CDTF">2020-11-01T13:18:35Z</dcterms:created>
  <dcterms:modified xsi:type="dcterms:W3CDTF">2024-03-19T06:36:30Z</dcterms:modified>
</cp:coreProperties>
</file>