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5" r:id="rId5"/>
    <p:sldId id="306" r:id="rId6"/>
    <p:sldId id="287" r:id="rId7"/>
    <p:sldId id="288" r:id="rId8"/>
    <p:sldId id="289" r:id="rId9"/>
    <p:sldId id="307" r:id="rId10"/>
    <p:sldId id="308" r:id="rId11"/>
    <p:sldId id="286" r:id="rId12"/>
    <p:sldId id="260" r:id="rId13"/>
    <p:sldId id="261" r:id="rId14"/>
    <p:sldId id="262" r:id="rId15"/>
    <p:sldId id="263" r:id="rId16"/>
    <p:sldId id="264" r:id="rId17"/>
    <p:sldId id="265" r:id="rId18"/>
    <p:sldId id="267" r:id="rId19"/>
    <p:sldId id="268" r:id="rId20"/>
    <p:sldId id="269" r:id="rId21"/>
    <p:sldId id="270" r:id="rId22"/>
    <p:sldId id="292" r:id="rId23"/>
    <p:sldId id="301" r:id="rId24"/>
    <p:sldId id="309" r:id="rId25"/>
    <p:sldId id="302" r:id="rId26"/>
    <p:sldId id="299" r:id="rId27"/>
    <p:sldId id="310" r:id="rId28"/>
    <p:sldId id="311" r:id="rId29"/>
    <p:sldId id="300" r:id="rId30"/>
    <p:sldId id="294" r:id="rId31"/>
    <p:sldId id="295" r:id="rId32"/>
    <p:sldId id="296" r:id="rId33"/>
    <p:sldId id="297" r:id="rId34"/>
    <p:sldId id="281" r:id="rId35"/>
    <p:sldId id="284" r:id="rId36"/>
    <p:sldId id="283" r:id="rId37"/>
    <p:sldId id="303" r:id="rId38"/>
    <p:sldId id="305" r:id="rId39"/>
    <p:sldId id="304" r:id="rId4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2" autoAdjust="0"/>
    <p:restoredTop sz="94660"/>
  </p:normalViewPr>
  <p:slideViewPr>
    <p:cSldViewPr snapToGrid="0">
      <p:cViewPr varScale="1">
        <p:scale>
          <a:sx n="73" d="100"/>
          <a:sy n="73" d="100"/>
        </p:scale>
        <p:origin x="4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5DE1260B-E429-4DD2-9C6B-327A2F085654}"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2479641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DE1260B-E429-4DD2-9C6B-327A2F085654}"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2380340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5DE1260B-E429-4DD2-9C6B-327A2F085654}"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1498862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5DE1260B-E429-4DD2-9C6B-327A2F085654}"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805303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5DE1260B-E429-4DD2-9C6B-327A2F085654}" type="datetimeFigureOut">
              <a:rPr lang="tr-TR" smtClean="0"/>
              <a:t>19.03.2024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3232038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5DE1260B-E429-4DD2-9C6B-327A2F085654}" type="datetimeFigureOut">
              <a:rPr lang="tr-TR" smtClean="0"/>
              <a:t>19.03.2024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380097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5DE1260B-E429-4DD2-9C6B-327A2F085654}" type="datetimeFigureOut">
              <a:rPr lang="tr-TR" smtClean="0"/>
              <a:t>19.03.2024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241082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5DE1260B-E429-4DD2-9C6B-327A2F085654}"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3371103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5DE1260B-E429-4DD2-9C6B-327A2F085654}"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4100106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DE1260B-E429-4DD2-9C6B-327A2F085654}"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297575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DE1260B-E429-4DD2-9C6B-327A2F085654}"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2DDB20BC-9ACB-49AB-9226-B1E8EAC5D48A}" type="slidenum">
              <a:rPr lang="tr-TR" smtClean="0"/>
              <a:t>‹#›</a:t>
            </a:fld>
            <a:endParaRPr lang="tr-TR"/>
          </a:p>
        </p:txBody>
      </p:sp>
    </p:spTree>
    <p:extLst>
      <p:ext uri="{BB962C8B-B14F-4D97-AF65-F5344CB8AC3E}">
        <p14:creationId xmlns:p14="http://schemas.microsoft.com/office/powerpoint/2010/main" val="3830986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E1260B-E429-4DD2-9C6B-327A2F085654}" type="datetimeFigureOut">
              <a:rPr lang="tr-TR" smtClean="0"/>
              <a:t>19.03.2024</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DB20BC-9ACB-49AB-9226-B1E8EAC5D48A}" type="slidenum">
              <a:rPr lang="tr-TR" smtClean="0"/>
              <a:t>‹#›</a:t>
            </a:fld>
            <a:endParaRPr lang="tr-TR"/>
          </a:p>
        </p:txBody>
      </p:sp>
    </p:spTree>
    <p:extLst>
      <p:ext uri="{BB962C8B-B14F-4D97-AF65-F5344CB8AC3E}">
        <p14:creationId xmlns:p14="http://schemas.microsoft.com/office/powerpoint/2010/main" val="890666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smtClean="0"/>
              <a:t>Renk Teorisi</a:t>
            </a:r>
            <a:endParaRPr lang="tr-TR" dirty="0"/>
          </a:p>
        </p:txBody>
      </p:sp>
      <p:sp>
        <p:nvSpPr>
          <p:cNvPr id="3" name="Alt Başlık 2"/>
          <p:cNvSpPr>
            <a:spLocks noGrp="1"/>
          </p:cNvSpPr>
          <p:nvPr>
            <p:ph type="subTitle" idx="1"/>
          </p:nvPr>
        </p:nvSpPr>
        <p:spPr/>
        <p:txBody>
          <a:bodyPr/>
          <a:lstStyle/>
          <a:p>
            <a:endParaRPr lang="tr-TR" dirty="0"/>
          </a:p>
        </p:txBody>
      </p:sp>
    </p:spTree>
    <p:extLst>
      <p:ext uri="{BB962C8B-B14F-4D97-AF65-F5344CB8AC3E}">
        <p14:creationId xmlns:p14="http://schemas.microsoft.com/office/powerpoint/2010/main" val="422708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IŞIK</a:t>
            </a:r>
            <a:endParaRPr lang="tr-TR" dirty="0"/>
          </a:p>
        </p:txBody>
      </p:sp>
      <p:sp>
        <p:nvSpPr>
          <p:cNvPr id="3" name="İçerik Yer Tutucusu 2"/>
          <p:cNvSpPr>
            <a:spLocks noGrp="1"/>
          </p:cNvSpPr>
          <p:nvPr>
            <p:ph idx="1"/>
          </p:nvPr>
        </p:nvSpPr>
        <p:spPr/>
        <p:txBody>
          <a:bodyPr>
            <a:normAutofit/>
          </a:bodyPr>
          <a:lstStyle/>
          <a:p>
            <a:pPr algn="just"/>
            <a:r>
              <a:rPr lang="tr-TR" dirty="0" smtClean="0"/>
              <a:t>Işık uzayda elektromanyetik dalgalar olarak hareket eder, ancak aynı zamanda Einstein'ın foton olarak adlandırdığı bir parçacık akışı olarak da tanımlanabilir. Bu nedenle ışık ikili (parçacık-dalga) yapıdadır. </a:t>
            </a:r>
          </a:p>
          <a:p>
            <a:pPr algn="just"/>
            <a:r>
              <a:rPr lang="tr-TR" b="1" dirty="0" smtClean="0"/>
              <a:t>Frekansı</a:t>
            </a:r>
            <a:r>
              <a:rPr lang="tr-TR" dirty="0" smtClean="0"/>
              <a:t> (birim zamanda bir döngünün tekrarlanma sayısı) veya dalganın şeklinin tekrar ettiği mesafe olan </a:t>
            </a:r>
            <a:r>
              <a:rPr lang="tr-TR" b="1" dirty="0" smtClean="0"/>
              <a:t>dalga boyu </a:t>
            </a:r>
            <a:r>
              <a:rPr lang="tr-TR" dirty="0" smtClean="0"/>
              <a:t>(frekansın tersi olan) ile tanımlanır.</a:t>
            </a:r>
            <a:endParaRPr lang="tr-TR" dirty="0"/>
          </a:p>
        </p:txBody>
      </p:sp>
    </p:spTree>
    <p:extLst>
      <p:ext uri="{BB962C8B-B14F-4D97-AF65-F5344CB8AC3E}">
        <p14:creationId xmlns:p14="http://schemas.microsoft.com/office/powerpoint/2010/main" val="976117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title"/>
          </p:nvPr>
        </p:nvSpPr>
        <p:spPr/>
        <p:txBody>
          <a:bodyPr/>
          <a:lstStyle/>
          <a:p>
            <a:endParaRPr lang="tr-TR"/>
          </a:p>
        </p:txBody>
      </p:sp>
      <p:sp>
        <p:nvSpPr>
          <p:cNvPr id="7" name="İçerik Yer Tutucusu 6"/>
          <p:cNvSpPr>
            <a:spLocks noGrp="1"/>
          </p:cNvSpPr>
          <p:nvPr>
            <p:ph sz="half" idx="1"/>
          </p:nvPr>
        </p:nvSpPr>
        <p:spPr>
          <a:xfrm>
            <a:off x="640511" y="2026790"/>
            <a:ext cx="5181600" cy="4351338"/>
          </a:xfrm>
        </p:spPr>
        <p:txBody>
          <a:bodyPr/>
          <a:lstStyle/>
          <a:p>
            <a:pPr algn="just"/>
            <a:r>
              <a:rPr lang="tr-TR" dirty="0"/>
              <a:t>Bir dalga boyu λ (</a:t>
            </a:r>
            <a:r>
              <a:rPr lang="tr-TR" dirty="0" err="1"/>
              <a:t>lambda</a:t>
            </a:r>
            <a:r>
              <a:rPr lang="tr-TR" dirty="0"/>
              <a:t>) harfiyle gösterilir. </a:t>
            </a:r>
          </a:p>
          <a:p>
            <a:pPr algn="just"/>
            <a:r>
              <a:rPr lang="tr-TR" dirty="0"/>
              <a:t>Görünür ışık, frekansı 380 ila 740 nanometre arasında değişen dalgalardan oluşur (bir nanometre 1 × 10−9 metredir). </a:t>
            </a:r>
          </a:p>
          <a:p>
            <a:endParaRPr lang="tr-TR" dirty="0"/>
          </a:p>
        </p:txBody>
      </p:sp>
      <p:pic>
        <p:nvPicPr>
          <p:cNvPr id="9" name="Picture 2" descr="https://www.scratchapixel.com/images/upload/color/light.p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234428" y="3053675"/>
            <a:ext cx="5057143" cy="1895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75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title"/>
          </p:nvPr>
        </p:nvSpPr>
        <p:spPr/>
        <p:txBody>
          <a:bodyPr/>
          <a:lstStyle/>
          <a:p>
            <a:r>
              <a:rPr lang="tr-TR" altLang="tr-TR" b="1" dirty="0" err="1" smtClean="0"/>
              <a:t>Light</a:t>
            </a:r>
            <a:r>
              <a:rPr lang="tr-TR" altLang="tr-TR" b="1" dirty="0" smtClean="0"/>
              <a:t> </a:t>
            </a:r>
            <a:r>
              <a:rPr lang="tr-TR" altLang="tr-TR" b="1" dirty="0" err="1" smtClean="0"/>
              <a:t>Spectrum</a:t>
            </a:r>
            <a:endParaRPr lang="tr-TR" dirty="0"/>
          </a:p>
        </p:txBody>
      </p:sp>
      <p:pic>
        <p:nvPicPr>
          <p:cNvPr id="7" name="Picture 2" descr="Visible Light Spectrum: From a Lighting Manufacturer's Perspectiv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11214" y="1450233"/>
            <a:ext cx="9511383" cy="5088590"/>
          </a:xfrm>
          <a:noFill/>
        </p:spPr>
      </p:pic>
    </p:spTree>
    <p:extLst>
      <p:ext uri="{BB962C8B-B14F-4D97-AF65-F5344CB8AC3E}">
        <p14:creationId xmlns:p14="http://schemas.microsoft.com/office/powerpoint/2010/main" val="3263420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tr-TR" b="1" dirty="0" err="1"/>
              <a:t>Light</a:t>
            </a:r>
            <a:r>
              <a:rPr lang="tr-TR" altLang="tr-TR" b="1" dirty="0"/>
              <a:t> </a:t>
            </a:r>
            <a:r>
              <a:rPr lang="tr-TR" altLang="tr-TR" b="1" dirty="0" err="1"/>
              <a:t>Spectrum</a:t>
            </a:r>
            <a:endParaRPr lang="tr-TR" dirty="0"/>
          </a:p>
        </p:txBody>
      </p:sp>
      <p:sp>
        <p:nvSpPr>
          <p:cNvPr id="3" name="İçerik Yer Tutucusu 2"/>
          <p:cNvSpPr>
            <a:spLocks noGrp="1"/>
          </p:cNvSpPr>
          <p:nvPr>
            <p:ph idx="1"/>
          </p:nvPr>
        </p:nvSpPr>
        <p:spPr/>
        <p:txBody>
          <a:bodyPr>
            <a:normAutofit/>
          </a:bodyPr>
          <a:lstStyle/>
          <a:p>
            <a:r>
              <a:rPr lang="tr-TR" dirty="0" smtClean="0"/>
              <a:t>İnsan </a:t>
            </a:r>
            <a:r>
              <a:rPr lang="tr-TR" dirty="0"/>
              <a:t>gözü, bu dalga boylarındaki ışığı algılayarak renkleri ve çevresini görebilir. </a:t>
            </a:r>
            <a:r>
              <a:rPr lang="tr-TR" dirty="0" smtClean="0"/>
              <a:t>İnsan </a:t>
            </a:r>
            <a:r>
              <a:rPr lang="tr-TR" dirty="0"/>
              <a:t>gözünün algılayabildiği ışık spektrumunun ana bileşenleri:</a:t>
            </a:r>
            <a:endParaRPr lang="tr-TR" dirty="0" smtClean="0"/>
          </a:p>
          <a:p>
            <a:r>
              <a:rPr lang="tr-TR" sz="2000" dirty="0" smtClean="0"/>
              <a:t>Kırmızı</a:t>
            </a:r>
            <a:r>
              <a:rPr lang="tr-TR" sz="2000" dirty="0"/>
              <a:t>: Yaklaşık 620 ila 750 nanometre arasındaki dalga boyları.</a:t>
            </a:r>
          </a:p>
          <a:p>
            <a:r>
              <a:rPr lang="tr-TR" sz="2000" dirty="0"/>
              <a:t>Turuncu: Yaklaşık 590 ila 620 nanometre arasındaki dalga boyları.</a:t>
            </a:r>
          </a:p>
          <a:p>
            <a:r>
              <a:rPr lang="tr-TR" sz="2000" dirty="0"/>
              <a:t>Sarı: Yaklaşık 570 ila 590 nanometre arasındaki dalga boyları.</a:t>
            </a:r>
          </a:p>
          <a:p>
            <a:r>
              <a:rPr lang="tr-TR" sz="2000" dirty="0"/>
              <a:t>Yeşil: Yaklaşık 495 ila 570 nanometre arasındaki dalga boyları.</a:t>
            </a:r>
          </a:p>
          <a:p>
            <a:r>
              <a:rPr lang="tr-TR" sz="2000" dirty="0"/>
              <a:t>Mavi: Yaklaşık 450 ila 495 nanometre arasındaki dalga boyları.</a:t>
            </a:r>
          </a:p>
          <a:p>
            <a:r>
              <a:rPr lang="tr-TR" sz="2000" dirty="0"/>
              <a:t>Mor: Yaklaşık 380 ila 450 nanometre arasındaki dalga boyları.</a:t>
            </a:r>
          </a:p>
          <a:p>
            <a:endParaRPr lang="tr-TR" dirty="0"/>
          </a:p>
        </p:txBody>
      </p:sp>
    </p:spTree>
    <p:extLst>
      <p:ext uri="{BB962C8B-B14F-4D97-AF65-F5344CB8AC3E}">
        <p14:creationId xmlns:p14="http://schemas.microsoft.com/office/powerpoint/2010/main" val="4161048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tr-TR" dirty="0" smtClean="0"/>
              <a:t>Renk Nedir?</a:t>
            </a:r>
            <a:endParaRPr lang="tr-TR" dirty="0"/>
          </a:p>
        </p:txBody>
      </p:sp>
      <p:sp>
        <p:nvSpPr>
          <p:cNvPr id="3" name="İçerik Yer Tutucusu 2"/>
          <p:cNvSpPr>
            <a:spLocks noGrp="1"/>
          </p:cNvSpPr>
          <p:nvPr>
            <p:ph idx="1"/>
          </p:nvPr>
        </p:nvSpPr>
        <p:spPr/>
        <p:txBody>
          <a:bodyPr>
            <a:normAutofit fontScale="85000" lnSpcReduction="20000"/>
          </a:bodyPr>
          <a:lstStyle/>
          <a:p>
            <a:pPr algn="just"/>
            <a:r>
              <a:rPr lang="tr-TR" altLang="tr-TR" dirty="0"/>
              <a:t>Renk, ışığın insan gözüyle etkileşime girmesiyle ortaya çıkan ve beyin tarafından yorumlanan algısal bir olgudur. Bu, gözlerimizin ışığın farklı dalga boylarına tepki verme şekliyle üretilen görsel bir duygudur. </a:t>
            </a:r>
            <a:endParaRPr lang="tr-TR" altLang="tr-TR" dirty="0" smtClean="0"/>
          </a:p>
          <a:p>
            <a:pPr algn="just"/>
            <a:r>
              <a:rPr lang="tr-TR" altLang="tr-TR" dirty="0" smtClean="0"/>
              <a:t>Işık </a:t>
            </a:r>
            <a:r>
              <a:rPr lang="tr-TR" altLang="tr-TR" dirty="0"/>
              <a:t>bir nesneye çarptığında, bazı dalga boyları emilir, diğerleri yansıtılır veya iletilir. Yansıyan veya iletilen dalga boyları algıladığımız rengi belirler</a:t>
            </a:r>
            <a:r>
              <a:rPr lang="tr-TR" altLang="tr-TR" dirty="0" smtClean="0"/>
              <a:t>. Renk </a:t>
            </a:r>
            <a:r>
              <a:rPr lang="tr-TR" altLang="tr-TR" dirty="0"/>
              <a:t>algısı, gözlerimizin ışığın farklı dalga boylarına duyarlılığı, ışığın yoğunluğu veya parlaklığı ve bir nesneyi gördüğümüz bağlam gibi çeşitli faktörleri içerir</a:t>
            </a:r>
            <a:r>
              <a:rPr lang="tr-TR" altLang="tr-TR" dirty="0" smtClean="0"/>
              <a:t>.</a:t>
            </a:r>
          </a:p>
          <a:p>
            <a:pPr algn="just"/>
            <a:r>
              <a:rPr lang="tr-TR" altLang="tr-TR" dirty="0" smtClean="0"/>
              <a:t>Ayrıca </a:t>
            </a:r>
            <a:r>
              <a:rPr lang="tr-TR" altLang="tr-TR" dirty="0"/>
              <a:t>renk algısı, gözlerin yapısı ve işlevindeki farklılıklara ve beyinlerinin görsel bilgiyi yorumlamasındaki farklılıklara bağlı olarak bireyler arasında farklılık gösterebilir</a:t>
            </a:r>
            <a:r>
              <a:rPr lang="tr-TR" altLang="tr-TR" dirty="0" smtClean="0"/>
              <a:t>.</a:t>
            </a:r>
          </a:p>
          <a:p>
            <a:pPr algn="just"/>
            <a:r>
              <a:rPr lang="tr-TR" altLang="tr-TR" dirty="0" smtClean="0"/>
              <a:t>Renkler </a:t>
            </a:r>
            <a:r>
              <a:rPr lang="tr-TR" altLang="tr-TR" dirty="0"/>
              <a:t>tipik olarak görünür spektrumdaki farklı dalga boylarına karşılık gelen kırmızı, turuncu, sarı, yeşil, mavi ve mor gibi terimler kullanılarak tanımlanır. Bu renkler ayrıca tonlara, doygunluklara ve parlaklık seviyelerine göre sınıflandırılabilir ve renk algısında geniş bir çeşitlilik yelpazesine olanak tanır</a:t>
            </a:r>
            <a:r>
              <a:rPr lang="tr-TR" altLang="tr-TR" dirty="0" smtClean="0"/>
              <a:t>.</a:t>
            </a:r>
          </a:p>
          <a:p>
            <a:pPr algn="just"/>
            <a:endParaRPr lang="tr-TR" altLang="tr-TR" dirty="0" smtClean="0"/>
          </a:p>
          <a:p>
            <a:pPr algn="just"/>
            <a:endParaRPr lang="tr-TR" dirty="0"/>
          </a:p>
        </p:txBody>
      </p:sp>
    </p:spTree>
    <p:extLst>
      <p:ext uri="{BB962C8B-B14F-4D97-AF65-F5344CB8AC3E}">
        <p14:creationId xmlns:p14="http://schemas.microsoft.com/office/powerpoint/2010/main" val="3932850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altLang="tr-TR" dirty="0" smtClean="0"/>
              <a:t>Human Perception </a:t>
            </a:r>
            <a:r>
              <a:rPr lang="en-US" altLang="tr-TR" dirty="0" smtClean="0"/>
              <a:t>System</a:t>
            </a:r>
            <a:r>
              <a:rPr lang="tr-TR" altLang="tr-TR" dirty="0" smtClean="0"/>
              <a:t>:</a:t>
            </a:r>
            <a:r>
              <a:rPr lang="en-US" altLang="tr-TR" dirty="0" smtClean="0"/>
              <a:t> </a:t>
            </a:r>
            <a:r>
              <a:rPr lang="tr-TR" altLang="tr-TR" dirty="0" err="1" smtClean="0"/>
              <a:t>Photometry</a:t>
            </a:r>
            <a:endParaRPr lang="tr-TR" dirty="0"/>
          </a:p>
        </p:txBody>
      </p:sp>
      <p:pic>
        <p:nvPicPr>
          <p:cNvPr id="4" name="Picture 2" descr="Color Perception Blog Series Part 3 | X-Rite Blo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7118" y="1825625"/>
            <a:ext cx="1005776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89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tr-TR" dirty="0" err="1" smtClean="0"/>
              <a:t>Tristimulus</a:t>
            </a:r>
            <a:r>
              <a:rPr lang="tr-TR" altLang="tr-TR" dirty="0" smtClean="0"/>
              <a:t> </a:t>
            </a:r>
            <a:r>
              <a:rPr lang="tr-TR" altLang="tr-TR" dirty="0" err="1" smtClean="0"/>
              <a:t>Theory</a:t>
            </a:r>
            <a:endParaRPr lang="tr-TR" dirty="0"/>
          </a:p>
        </p:txBody>
      </p:sp>
      <p:pic>
        <p:nvPicPr>
          <p:cNvPr id="4" name="Picture 3" descr="500px-Cones_SMJ2_E.svg.pn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14750" y="2201069"/>
            <a:ext cx="47625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622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tr-TR" dirty="0" err="1"/>
              <a:t>Tristimulus</a:t>
            </a:r>
            <a:r>
              <a:rPr lang="tr-TR" altLang="tr-TR" dirty="0"/>
              <a:t> </a:t>
            </a:r>
            <a:r>
              <a:rPr lang="tr-TR" altLang="tr-TR" dirty="0" err="1"/>
              <a:t>Theory</a:t>
            </a:r>
            <a:endParaRPr lang="tr-TR" dirty="0"/>
          </a:p>
        </p:txBody>
      </p:sp>
      <p:sp>
        <p:nvSpPr>
          <p:cNvPr id="3" name="İçerik Yer Tutucusu 2"/>
          <p:cNvSpPr>
            <a:spLocks noGrp="1"/>
          </p:cNvSpPr>
          <p:nvPr>
            <p:ph idx="1"/>
          </p:nvPr>
        </p:nvSpPr>
        <p:spPr>
          <a:xfrm>
            <a:off x="1804852" y="1690688"/>
            <a:ext cx="7286897" cy="4351338"/>
          </a:xfrm>
        </p:spPr>
        <p:txBody>
          <a:bodyPr/>
          <a:lstStyle/>
          <a:p>
            <a:pPr algn="just"/>
            <a:r>
              <a:rPr lang="tr-TR" dirty="0" err="1"/>
              <a:t>Tristimulus</a:t>
            </a:r>
            <a:r>
              <a:rPr lang="tr-TR" dirty="0"/>
              <a:t> teorisi, renk biliminde, göz retinasındaki üç tip renk reseptörünün tepkisine dayanarak insanların rengi nasıl algıladığını açıklayan temel bir kavramdır. Bu teori, üç ana rengin değişen oranlarda karıştırılmasıyla herhangi bir rengin eşleştirilebileceğini öne sürüyor. </a:t>
            </a:r>
            <a:r>
              <a:rPr lang="tr-TR" dirty="0" err="1"/>
              <a:t>Tristimulus</a:t>
            </a:r>
            <a:r>
              <a:rPr lang="tr-TR" dirty="0"/>
              <a:t> teorisi, rengi ölçme ve </a:t>
            </a:r>
            <a:r>
              <a:rPr lang="tr-TR" dirty="0" err="1"/>
              <a:t>nicelikselleştirme</a:t>
            </a:r>
            <a:r>
              <a:rPr lang="tr-TR" dirty="0"/>
              <a:t> bilimi olan kolorimetrinin gelişimiyle yakından ilişkilidir.</a:t>
            </a:r>
          </a:p>
        </p:txBody>
      </p:sp>
    </p:spTree>
    <p:extLst>
      <p:ext uri="{BB962C8B-B14F-4D97-AF65-F5344CB8AC3E}">
        <p14:creationId xmlns:p14="http://schemas.microsoft.com/office/powerpoint/2010/main" val="1820437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Tristimulus</a:t>
            </a:r>
            <a:r>
              <a:rPr lang="tr-TR" dirty="0"/>
              <a:t> teorisinin temel </a:t>
            </a:r>
            <a:r>
              <a:rPr lang="tr-TR" dirty="0" smtClean="0"/>
              <a:t>bileşenleri</a:t>
            </a:r>
            <a:endParaRPr lang="tr-TR" dirty="0"/>
          </a:p>
        </p:txBody>
      </p:sp>
      <p:sp>
        <p:nvSpPr>
          <p:cNvPr id="3" name="İçerik Yer Tutucusu 2"/>
          <p:cNvSpPr>
            <a:spLocks noGrp="1"/>
          </p:cNvSpPr>
          <p:nvPr>
            <p:ph idx="1"/>
          </p:nvPr>
        </p:nvSpPr>
        <p:spPr>
          <a:xfrm>
            <a:off x="642257" y="1250859"/>
            <a:ext cx="10515600" cy="4351338"/>
          </a:xfrm>
        </p:spPr>
        <p:txBody>
          <a:bodyPr>
            <a:noAutofit/>
          </a:bodyPr>
          <a:lstStyle/>
          <a:p>
            <a:pPr algn="just"/>
            <a:r>
              <a:rPr lang="tr-TR" sz="2300" dirty="0" smtClean="0"/>
              <a:t>3 Ana </a:t>
            </a:r>
            <a:r>
              <a:rPr lang="tr-TR" sz="2300" dirty="0"/>
              <a:t>Renk: </a:t>
            </a:r>
            <a:r>
              <a:rPr lang="tr-TR" sz="2300" dirty="0" err="1"/>
              <a:t>Tristimulus</a:t>
            </a:r>
            <a:r>
              <a:rPr lang="tr-TR" sz="2300" dirty="0"/>
              <a:t> teorisi, insan görsel sisteminin diğer tüm renkleri algılamak için üç ana renge dayandığını öne sürmektedir. Bu ana renklere genellikle kırmızı (R), yeşil (G) ve mavi (B) adı verilir. İnsan retinasındaki koniler olarak bilinen üç tip renk reseptörünün tepki eğrileri kabaca bu ana renklerle hizalanır</a:t>
            </a:r>
            <a:r>
              <a:rPr lang="tr-TR" sz="2300" dirty="0" smtClean="0"/>
              <a:t>.</a:t>
            </a:r>
          </a:p>
          <a:p>
            <a:pPr algn="just"/>
            <a:r>
              <a:rPr lang="tr-TR" sz="2300" dirty="0" smtClean="0"/>
              <a:t>Renk </a:t>
            </a:r>
            <a:r>
              <a:rPr lang="tr-TR" sz="2300" dirty="0"/>
              <a:t>Eşleştirme Fonksiyonları: </a:t>
            </a:r>
            <a:r>
              <a:rPr lang="tr-TR" sz="2300" dirty="0" err="1"/>
              <a:t>Tristimulus</a:t>
            </a:r>
            <a:r>
              <a:rPr lang="tr-TR" sz="2300" dirty="0"/>
              <a:t> teorisi, standart görüntüleme koşulları altında bir test uyarıcısının rengiyle eşleşmek için gereken her bir ana rengin göreceli miktarlarını tanımlayan renk eşleştirme fonksiyonları kavramına dayanır. Bu işlevler tipik olarak insan gözünün ışığın farklı dalga boylarına duyarlılığını tanımlayan eğrilerle temsil edilir</a:t>
            </a:r>
            <a:r>
              <a:rPr lang="tr-TR" sz="2300" dirty="0" smtClean="0"/>
              <a:t>.</a:t>
            </a:r>
          </a:p>
          <a:p>
            <a:pPr algn="just"/>
            <a:r>
              <a:rPr lang="tr-TR" sz="2300" dirty="0" err="1" smtClean="0"/>
              <a:t>Tristimulus</a:t>
            </a:r>
            <a:r>
              <a:rPr lang="tr-TR" sz="2300" dirty="0" smtClean="0"/>
              <a:t> </a:t>
            </a:r>
            <a:r>
              <a:rPr lang="tr-TR" sz="2300" dirty="0"/>
              <a:t>Değerleri: </a:t>
            </a:r>
            <a:r>
              <a:rPr lang="tr-TR" sz="2300" dirty="0" smtClean="0"/>
              <a:t>Belirli </a:t>
            </a:r>
            <a:r>
              <a:rPr lang="tr-TR" sz="2300" dirty="0"/>
              <a:t>bir renk uyaranıyla eşleşmek için gereken her bir ana rengin miktarını temsil eder. Bu değerler tipik olarak X, Y ve Z olarak gösterilir; Y, rengin parlaklığını veya parlaklığını temsil eder</a:t>
            </a:r>
            <a:r>
              <a:rPr lang="tr-TR" sz="2300" dirty="0" smtClean="0"/>
              <a:t>.</a:t>
            </a:r>
          </a:p>
          <a:p>
            <a:pPr algn="just"/>
            <a:r>
              <a:rPr lang="tr-TR" sz="2300" dirty="0" smtClean="0"/>
              <a:t>Renk </a:t>
            </a:r>
            <a:r>
              <a:rPr lang="tr-TR" sz="2300" dirty="0"/>
              <a:t>Uzayları: </a:t>
            </a:r>
            <a:r>
              <a:rPr lang="tr-TR" sz="2300" dirty="0" err="1"/>
              <a:t>Tristimulus</a:t>
            </a:r>
            <a:r>
              <a:rPr lang="tr-TR" sz="2300" dirty="0"/>
              <a:t> değerleri, üç boyutlu bir alanda renkleri </a:t>
            </a:r>
            <a:r>
              <a:rPr lang="tr-TR" sz="2300" dirty="0" err="1"/>
              <a:t>tristimulus</a:t>
            </a:r>
            <a:r>
              <a:rPr lang="tr-TR" sz="2300" dirty="0"/>
              <a:t> değerlerine göre düzenleyen matematiksel modeller olan renk uzaylarını tanımlamak için kullanılabilir. Yaygın renk uzayları arasında CIE XYZ, CIE </a:t>
            </a:r>
            <a:r>
              <a:rPr lang="tr-TR" sz="2300" dirty="0" err="1"/>
              <a:t>Lab</a:t>
            </a:r>
            <a:r>
              <a:rPr lang="tr-TR" sz="2300" dirty="0"/>
              <a:t> ve RGB bulunur.</a:t>
            </a:r>
          </a:p>
        </p:txBody>
      </p:sp>
    </p:spTree>
    <p:extLst>
      <p:ext uri="{BB962C8B-B14F-4D97-AF65-F5344CB8AC3E}">
        <p14:creationId xmlns:p14="http://schemas.microsoft.com/office/powerpoint/2010/main" val="2020905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altLang="tr-TR" dirty="0" err="1"/>
              <a:t>Tristimulus</a:t>
            </a:r>
            <a:r>
              <a:rPr lang="tr-TR" altLang="tr-TR" dirty="0"/>
              <a:t> </a:t>
            </a:r>
            <a:r>
              <a:rPr lang="tr-TR" altLang="tr-TR" dirty="0" err="1"/>
              <a:t>Theory</a:t>
            </a:r>
            <a:endParaRPr lang="tr-TR" dirty="0"/>
          </a:p>
        </p:txBody>
      </p:sp>
      <p:sp>
        <p:nvSpPr>
          <p:cNvPr id="3" name="İçerik Yer Tutucusu 2"/>
          <p:cNvSpPr>
            <a:spLocks noGrp="1"/>
          </p:cNvSpPr>
          <p:nvPr>
            <p:ph idx="1"/>
          </p:nvPr>
        </p:nvSpPr>
        <p:spPr/>
        <p:txBody>
          <a:bodyPr/>
          <a:lstStyle/>
          <a:p>
            <a:r>
              <a:rPr lang="tr-TR" dirty="0" err="1"/>
              <a:t>Tristimulus</a:t>
            </a:r>
            <a:r>
              <a:rPr lang="tr-TR" dirty="0"/>
              <a:t> teorisi, renk algısını anlamak ve ölçmek için temel bir çerçeve sağlar. Fotoğraf, baskı, dijital görüntüleme ve görüntüleme teknolojisi de dahil olmak üzere çeşitli endüstrilerde kullanılan renk çoğaltma sistemleri, renk ölçüm araçları ve renk yönetimi tekniklerinin temelini oluşturur.</a:t>
            </a:r>
          </a:p>
        </p:txBody>
      </p:sp>
    </p:spTree>
    <p:extLst>
      <p:ext uri="{BB962C8B-B14F-4D97-AF65-F5344CB8AC3E}">
        <p14:creationId xmlns:p14="http://schemas.microsoft.com/office/powerpoint/2010/main" val="633839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err="1"/>
              <a:t>Spectral</a:t>
            </a:r>
            <a:r>
              <a:rPr lang="tr-TR" b="1" dirty="0"/>
              <a:t> </a:t>
            </a:r>
            <a:r>
              <a:rPr lang="tr-TR" b="1" dirty="0" err="1"/>
              <a:t>Power</a:t>
            </a:r>
            <a:r>
              <a:rPr lang="tr-TR" b="1" dirty="0"/>
              <a:t> </a:t>
            </a:r>
            <a:r>
              <a:rPr lang="tr-TR" b="1" dirty="0" smtClean="0"/>
              <a:t>Distribution</a:t>
            </a:r>
            <a:endParaRPr lang="tr-TR" dirty="0"/>
          </a:p>
        </p:txBody>
      </p:sp>
      <p:sp>
        <p:nvSpPr>
          <p:cNvPr id="4" name="Dikdörtgen 3"/>
          <p:cNvSpPr/>
          <p:nvPr/>
        </p:nvSpPr>
        <p:spPr>
          <a:xfrm>
            <a:off x="420394" y="1395982"/>
            <a:ext cx="6096000" cy="3046988"/>
          </a:xfrm>
          <a:prstGeom prst="rect">
            <a:avLst/>
          </a:prstGeom>
        </p:spPr>
        <p:txBody>
          <a:bodyPr>
            <a:spAutoFit/>
          </a:bodyPr>
          <a:lstStyle/>
          <a:p>
            <a:pPr algn="just"/>
            <a:r>
              <a:rPr lang="tr-TR" sz="2400" dirty="0" smtClean="0"/>
              <a:t>Spektral güç dağılımı (SPD), bir ışık kaynağının enerji seviyelerinin ışık dalga boyundaki bir grafiğidir. Spektral güç dağılımı, ışık kaynağının renkleri nasıl oluşturduğunun anahtarı olduğu için bir ışık kaynağının gerçek "parmak izidir</a:t>
            </a:r>
            <a:r>
              <a:rPr lang="tr-TR" sz="2400" dirty="0" smtClean="0"/>
              <a:t>".</a:t>
            </a:r>
          </a:p>
          <a:p>
            <a:pPr algn="just"/>
            <a:r>
              <a:rPr lang="tr-TR" sz="2400" dirty="0" smtClean="0"/>
              <a:t>Daha </a:t>
            </a:r>
            <a:r>
              <a:rPr lang="tr-TR" sz="2400" dirty="0"/>
              <a:t>basit bir ifadeyle, ışık kaynağının her spesifik dalga boyunda ne kadar enerji yaydığını açıklar.</a:t>
            </a:r>
            <a:endParaRPr lang="tr-TR" sz="2400" dirty="0"/>
          </a:p>
        </p:txBody>
      </p:sp>
      <p:sp>
        <p:nvSpPr>
          <p:cNvPr id="5" name="Dikdörtgen 4"/>
          <p:cNvSpPr/>
          <p:nvPr/>
        </p:nvSpPr>
        <p:spPr>
          <a:xfrm>
            <a:off x="239978" y="6473257"/>
            <a:ext cx="7319511" cy="307777"/>
          </a:xfrm>
          <a:prstGeom prst="rect">
            <a:avLst/>
          </a:prstGeom>
        </p:spPr>
        <p:txBody>
          <a:bodyPr wrap="square">
            <a:spAutoFit/>
          </a:bodyPr>
          <a:lstStyle/>
          <a:p>
            <a:r>
              <a:rPr lang="tr-TR" sz="1400" dirty="0" smtClean="0"/>
              <a:t>https://www.gtilite.com/color-viewing-terms/spectral-power-distribution-spd/</a:t>
            </a:r>
            <a:endParaRPr lang="tr-TR" sz="1400" dirty="0"/>
          </a:p>
        </p:txBody>
      </p:sp>
      <p:pic>
        <p:nvPicPr>
          <p:cNvPr id="1028" name="Picture 4" descr="Spectral Power Distribution for Sources - Lighting for Film &amp; Video -  Cinematography.co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48005" y="1399953"/>
            <a:ext cx="4173280" cy="3043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68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Sun </a:t>
            </a:r>
            <a:r>
              <a:rPr lang="tr-TR" dirty="0" err="1" smtClean="0"/>
              <a:t>Spectrum</a:t>
            </a:r>
            <a:endParaRPr lang="tr-TR" dirty="0"/>
          </a:p>
        </p:txBody>
      </p:sp>
      <p:sp>
        <p:nvSpPr>
          <p:cNvPr id="3" name="İçerik Yer Tutucusu 2"/>
          <p:cNvSpPr>
            <a:spLocks noGrp="1"/>
          </p:cNvSpPr>
          <p:nvPr>
            <p:ph sz="half" idx="1"/>
          </p:nvPr>
        </p:nvSpPr>
        <p:spPr>
          <a:xfrm>
            <a:off x="838200" y="1825625"/>
            <a:ext cx="7658100" cy="4351338"/>
          </a:xfrm>
        </p:spPr>
        <p:txBody>
          <a:bodyPr>
            <a:normAutofit fontScale="92500" lnSpcReduction="20000"/>
          </a:bodyPr>
          <a:lstStyle/>
          <a:p>
            <a:pPr algn="just"/>
            <a:r>
              <a:rPr lang="tr-TR" dirty="0" smtClean="0"/>
              <a:t>Güneş doğal aydınlatma için referans olarak gördüğümüz ışığı üretir</a:t>
            </a:r>
            <a:r>
              <a:rPr lang="tr-TR" dirty="0" smtClean="0"/>
              <a:t>.</a:t>
            </a:r>
          </a:p>
          <a:p>
            <a:pPr algn="just"/>
            <a:r>
              <a:rPr lang="tr-TR" dirty="0" smtClean="0"/>
              <a:t>Güneş </a:t>
            </a:r>
            <a:r>
              <a:rPr lang="tr-TR" dirty="0"/>
              <a:t>spektrumu, Güneş tarafından yayılan elektromanyetik radyasyonun geniş bir dalga boyu aralığında sürekli dağılımıdır. Güneş, radyo dalgalarından gama ışınlarına kadar tüm elektromanyetik spektrumda radyasyon yayar, ancak enerjisinin büyük kısmı görünür ışık biçiminde yayılır</a:t>
            </a:r>
            <a:r>
              <a:rPr lang="tr-TR" dirty="0" smtClean="0"/>
              <a:t>.</a:t>
            </a:r>
          </a:p>
          <a:p>
            <a:pPr algn="just"/>
            <a:r>
              <a:rPr lang="tr-TR" dirty="0" smtClean="0"/>
              <a:t>Güneşin </a:t>
            </a:r>
            <a:r>
              <a:rPr lang="tr-TR" dirty="0" smtClean="0"/>
              <a:t>tayfı, Dünya yüzeyinde değişiklik gösterir. Güneş ışığı örneğin ekvatorda ve kutuplarla aynı değildir. Ayrıca yüksekliğe göre değişir. Bununla birlikte, genel olarak, güneşin spektrumu, </a:t>
            </a:r>
            <a:r>
              <a:rPr lang="tr-TR" dirty="0" smtClean="0"/>
              <a:t>yanda  </a:t>
            </a:r>
            <a:r>
              <a:rPr lang="tr-TR" dirty="0" smtClean="0"/>
              <a:t>gösterilen eğriye benzer.</a:t>
            </a:r>
            <a:endParaRPr lang="tr-TR" dirty="0"/>
          </a:p>
        </p:txBody>
      </p:sp>
      <p:pic>
        <p:nvPicPr>
          <p:cNvPr id="6" name="Picture 2" descr="https://www.scratchapixel.com/images/upload/color/sund65.png?"/>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496300" y="1333205"/>
            <a:ext cx="28575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023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Sun </a:t>
            </a:r>
            <a:r>
              <a:rPr lang="tr-TR" dirty="0" err="1" smtClean="0"/>
              <a:t>Spectrum</a:t>
            </a:r>
            <a:endParaRPr lang="tr-TR" dirty="0"/>
          </a:p>
        </p:txBody>
      </p:sp>
      <p:sp>
        <p:nvSpPr>
          <p:cNvPr id="3" name="İçerik Yer Tutucusu 2"/>
          <p:cNvSpPr>
            <a:spLocks noGrp="1"/>
          </p:cNvSpPr>
          <p:nvPr>
            <p:ph idx="1"/>
          </p:nvPr>
        </p:nvSpPr>
        <p:spPr/>
        <p:txBody>
          <a:bodyPr>
            <a:normAutofit fontScale="92500" lnSpcReduction="10000"/>
          </a:bodyPr>
          <a:lstStyle/>
          <a:p>
            <a:pPr algn="just"/>
            <a:r>
              <a:rPr lang="tr-TR" dirty="0" smtClean="0"/>
              <a:t>Güneş spektrumu değişebileceğinden, ortalama koşullarda güneşin ortalama spektrumu olarak kabul edileni temsil etmek için D65 adlı bir standart tanımlandı. (Uluslararası Aydınlatma Komisyonu tarafından</a:t>
            </a:r>
            <a:r>
              <a:rPr lang="tr-TR" dirty="0" smtClean="0"/>
              <a:t>)</a:t>
            </a:r>
          </a:p>
          <a:p>
            <a:pPr algn="just"/>
            <a:r>
              <a:rPr lang="tr-TR" dirty="0"/>
              <a:t>"D65" terimi "Gün Işığı 6500 Kelvin" anlamına gelir ve yaklaşık 6500 Kelvin olan ilişkili renk sıcaklığına (CCT) işaret eder. Açık bir günde öğle vakti güneş ışığının renk sıcaklığına benzer, nispeten nötr bir renk sıcaklığına sahip bir gün ortası gün ışığı koşulunu temsil eder.</a:t>
            </a:r>
          </a:p>
          <a:p>
            <a:pPr algn="just"/>
            <a:r>
              <a:rPr lang="tr-TR" dirty="0"/>
              <a:t>D65, belirli koşullar altında güneş ışığının renk özelliklerine yaklaşan gün ışığının standartlaştırılmış bir temsilini ifade </a:t>
            </a:r>
            <a:r>
              <a:rPr lang="tr-TR" dirty="0" smtClean="0"/>
              <a:t>eder.</a:t>
            </a:r>
            <a:endParaRPr lang="tr-TR" dirty="0" smtClean="0"/>
          </a:p>
          <a:p>
            <a:pPr algn="just"/>
            <a:r>
              <a:rPr lang="tr-TR" dirty="0" smtClean="0"/>
              <a:t>Güneşin tayfı tipik olarak Batı / Kuzey Avrupa'da bir yerde öğle güneşine benzeyecektir. Gün ışığı aydınlatıcı olarak da adlandırılan bu D65 mevcut ışıkların spektrumunu karşılaştırabileceğimiz bir referans. </a:t>
            </a:r>
            <a:endParaRPr lang="tr-TR" dirty="0"/>
          </a:p>
        </p:txBody>
      </p:sp>
    </p:spTree>
    <p:extLst>
      <p:ext uri="{BB962C8B-B14F-4D97-AF65-F5344CB8AC3E}">
        <p14:creationId xmlns:p14="http://schemas.microsoft.com/office/powerpoint/2010/main" val="525801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Sun </a:t>
            </a:r>
            <a:r>
              <a:rPr lang="tr-TR" dirty="0" err="1" smtClean="0"/>
              <a:t>Spectrum</a:t>
            </a:r>
            <a:endParaRPr lang="tr-TR" dirty="0"/>
          </a:p>
        </p:txBody>
      </p:sp>
      <p:sp>
        <p:nvSpPr>
          <p:cNvPr id="3" name="İçerik Yer Tutucusu 2"/>
          <p:cNvSpPr>
            <a:spLocks noGrp="1"/>
          </p:cNvSpPr>
          <p:nvPr>
            <p:ph idx="1"/>
          </p:nvPr>
        </p:nvSpPr>
        <p:spPr/>
        <p:txBody>
          <a:bodyPr>
            <a:normAutofit fontScale="92500" lnSpcReduction="10000"/>
          </a:bodyPr>
          <a:lstStyle/>
          <a:p>
            <a:pPr algn="just"/>
            <a:r>
              <a:rPr lang="tr-TR" b="1" dirty="0" err="1" smtClean="0"/>
              <a:t>Spectral</a:t>
            </a:r>
            <a:r>
              <a:rPr lang="tr-TR" b="1" dirty="0" smtClean="0"/>
              <a:t> </a:t>
            </a:r>
            <a:r>
              <a:rPr lang="tr-TR" b="1" dirty="0" err="1"/>
              <a:t>power</a:t>
            </a:r>
            <a:r>
              <a:rPr lang="tr-TR" b="1" dirty="0"/>
              <a:t> </a:t>
            </a:r>
            <a:r>
              <a:rPr lang="tr-TR" b="1" dirty="0" err="1"/>
              <a:t>distribution</a:t>
            </a:r>
            <a:r>
              <a:rPr lang="tr-TR" b="1" dirty="0"/>
              <a:t> (SPD)</a:t>
            </a:r>
            <a:r>
              <a:rPr lang="tr-TR" dirty="0" smtClean="0"/>
              <a:t> kavramı ışık kaynakları ile sınırlı değildir ve nesnelerin renklerini tanımlamak için de kullanılabilir.</a:t>
            </a:r>
          </a:p>
          <a:p>
            <a:pPr algn="just"/>
            <a:r>
              <a:rPr lang="tr-TR" dirty="0" smtClean="0"/>
              <a:t>Ancak nesneler ışık üretmediklerinden spektral yansıma eğrisinden söz edebiliriz. Spektral yansıma eğrisi yalnızca nesneyi aydınlatan beyaz ışık miktarı üzerinden nesnenin yüzeyi tarafından yansıtılan ışığın bölümünü temsil eder. Nesneler aldıklarından daha fazla ışığı yansıtamazlar, bu nedenle nesneler için spektral yansıma eğrileri yansıma yüzdesi olarak ifade edilir. </a:t>
            </a:r>
          </a:p>
          <a:p>
            <a:pPr algn="just"/>
            <a:r>
              <a:rPr lang="tr-TR" dirty="0" smtClean="0"/>
              <a:t>Üç nesnenin spektral yansıtma eğrisin: tereyağı, domates ve marul. Tereyağı (A), esas olarak yeşil ve kırmızı ışığı yansıtır ve birlikte sarımsı bir renk oluşturur. Domates (B) esas olarak kırmızı ışığı yansıtır ve marul (C) esas olarak yeşil ışığı yansıtır. </a:t>
            </a:r>
          </a:p>
        </p:txBody>
      </p:sp>
    </p:spTree>
    <p:extLst>
      <p:ext uri="{BB962C8B-B14F-4D97-AF65-F5344CB8AC3E}">
        <p14:creationId xmlns:p14="http://schemas.microsoft.com/office/powerpoint/2010/main" val="4073296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6146" name="Picture 2" descr="https://www.scratchapixel.com/images/upload/color/spd.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0721" y="2109926"/>
            <a:ext cx="6742857" cy="3403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95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b="1" dirty="0"/>
              <a:t>Color Rendering Index</a:t>
            </a:r>
            <a:r>
              <a:rPr lang="en-US" dirty="0"/>
              <a:t> (CRI or Color </a:t>
            </a:r>
            <a:r>
              <a:rPr lang="en-US" dirty="0" err="1"/>
              <a:t>Rendetion</a:t>
            </a:r>
            <a:r>
              <a:rPr lang="en-US" dirty="0"/>
              <a:t> Index)</a:t>
            </a:r>
            <a:endParaRPr lang="tr-TR" dirty="0"/>
          </a:p>
        </p:txBody>
      </p:sp>
      <p:sp>
        <p:nvSpPr>
          <p:cNvPr id="3" name="İçerik Yer Tutucusu 2"/>
          <p:cNvSpPr>
            <a:spLocks noGrp="1"/>
          </p:cNvSpPr>
          <p:nvPr>
            <p:ph idx="1"/>
          </p:nvPr>
        </p:nvSpPr>
        <p:spPr/>
        <p:txBody>
          <a:bodyPr>
            <a:normAutofit/>
          </a:bodyPr>
          <a:lstStyle/>
          <a:p>
            <a:pPr algn="just"/>
            <a:r>
              <a:rPr lang="tr-TR" dirty="0" smtClean="0"/>
              <a:t>Uluslararası </a:t>
            </a:r>
            <a:r>
              <a:rPr lang="tr-TR" dirty="0" smtClean="0"/>
              <a:t>Aydınlatma Komisyonu'nun, D65 standart aydınlatıcıyla bir şekilde ilişkili olan Renk Oluşturma Endeksi (CRI veya Renk Geri Kazanım Endeksi) olarak adlandırılan başka bir kullanışlı standart tanımlamıştır. Bir ışık kaynağının, bir referans aydınlatıcı (bu durumda güneştir) altında görüldüğü gibi bir nesnenin rengini yeniden üretme yeteneğini tanımlar</a:t>
            </a:r>
            <a:r>
              <a:rPr lang="tr-TR" dirty="0"/>
              <a:t>. Işığın kalitesini, renkleri aslına sadık ve doğru şekilde sunma yeteneği açısından değerlendirmek için kullanılır.</a:t>
            </a:r>
            <a:endParaRPr lang="tr-TR" dirty="0" smtClean="0"/>
          </a:p>
          <a:p>
            <a:pPr marL="0" indent="0" algn="just">
              <a:buNone/>
            </a:pPr>
            <a:r>
              <a:rPr lang="en-US" dirty="0" smtClean="0"/>
              <a:t>.</a:t>
            </a:r>
            <a:endParaRPr lang="tr-TR" dirty="0"/>
          </a:p>
        </p:txBody>
      </p:sp>
    </p:spTree>
    <p:extLst>
      <p:ext uri="{BB962C8B-B14F-4D97-AF65-F5344CB8AC3E}">
        <p14:creationId xmlns:p14="http://schemas.microsoft.com/office/powerpoint/2010/main" val="2724000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Beyaz nedir?</a:t>
            </a:r>
            <a:br>
              <a:rPr lang="tr-TR" dirty="0" smtClean="0"/>
            </a:br>
            <a:endParaRPr lang="tr-TR" dirty="0"/>
          </a:p>
        </p:txBody>
      </p:sp>
      <p:sp>
        <p:nvSpPr>
          <p:cNvPr id="3" name="İçerik Yer Tutucusu 2"/>
          <p:cNvSpPr>
            <a:spLocks noGrp="1"/>
          </p:cNvSpPr>
          <p:nvPr>
            <p:ph idx="1"/>
          </p:nvPr>
        </p:nvSpPr>
        <p:spPr>
          <a:xfrm>
            <a:off x="838200" y="1825625"/>
            <a:ext cx="5424577" cy="4351338"/>
          </a:xfrm>
        </p:spPr>
        <p:txBody>
          <a:bodyPr>
            <a:normAutofit/>
          </a:bodyPr>
          <a:lstStyle/>
          <a:p>
            <a:pPr marL="0" indent="0" algn="just">
              <a:buNone/>
            </a:pPr>
            <a:r>
              <a:rPr lang="tr-TR" dirty="0" smtClean="0"/>
              <a:t>Gözlerimizden </a:t>
            </a:r>
            <a:r>
              <a:rPr lang="tr-TR" dirty="0" smtClean="0"/>
              <a:t>gelen her üç tür renge duyarlı koni hücresinin de ışıkla az çok eşit miktarda uyarılmasıyla algıladığımız renge karşılık gelir. </a:t>
            </a:r>
          </a:p>
          <a:p>
            <a:pPr marL="0" indent="0" algn="just">
              <a:buNone/>
            </a:pPr>
            <a:r>
              <a:rPr lang="tr-TR" dirty="0" smtClean="0"/>
              <a:t>Beyaz ışık, eşit miktarda karıştırılmış görünür spektrumdaki tüm renklerden oluştuğundan, bu ışığın SPD‘ si düz bir çizgidir. </a:t>
            </a:r>
            <a:endParaRPr lang="tr-TR" dirty="0" smtClean="0"/>
          </a:p>
        </p:txBody>
      </p:sp>
      <p:pic>
        <p:nvPicPr>
          <p:cNvPr id="7170" name="Picture 2" descr="https://www.scratchapixel.com/images/upload/color/illuminan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2777" y="1825625"/>
            <a:ext cx="5443943" cy="286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92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IŞIĞIN GÜCÜ</a:t>
            </a:r>
            <a:endParaRPr lang="tr-TR" dirty="0"/>
          </a:p>
        </p:txBody>
      </p:sp>
      <p:sp>
        <p:nvSpPr>
          <p:cNvPr id="3" name="İçerik Yer Tutucusu 2"/>
          <p:cNvSpPr>
            <a:spLocks noGrp="1"/>
          </p:cNvSpPr>
          <p:nvPr>
            <p:ph idx="1"/>
          </p:nvPr>
        </p:nvSpPr>
        <p:spPr/>
        <p:txBody>
          <a:bodyPr>
            <a:normAutofit/>
          </a:bodyPr>
          <a:lstStyle/>
          <a:p>
            <a:pPr algn="just"/>
            <a:r>
              <a:rPr lang="tr-TR" dirty="0" smtClean="0"/>
              <a:t>Farklı parlaklık seviyeleri için bir ışık kaynağının SPD 'sini ölçüyor olsaydık (ışık yoğunluğu bir kısma anahtarıyla ayarlanabilir), bu ışık için görünür spektrumdaki renklerin dağılımı (spektral dağılım) aynı kalırdı. Gerçekte değişecek olan şey, ışığın yaydığı görünür spektrumdaki her rengin genliğidir. </a:t>
            </a:r>
          </a:p>
        </p:txBody>
      </p:sp>
    </p:spTree>
    <p:extLst>
      <p:ext uri="{BB962C8B-B14F-4D97-AF65-F5344CB8AC3E}">
        <p14:creationId xmlns:p14="http://schemas.microsoft.com/office/powerpoint/2010/main" val="2621612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8194" name="Picture 2" descr="https://www.scratchapixel.com/images/upload/color/lightpower.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07504" y="2205766"/>
            <a:ext cx="5246296" cy="2763049"/>
          </a:xfrm>
          <a:prstGeom prst="rect">
            <a:avLst/>
          </a:prstGeom>
          <a:noFill/>
          <a:extLst>
            <a:ext uri="{909E8E84-426E-40DD-AFC4-6F175D3DCCD1}">
              <a14:hiddenFill xmlns:a14="http://schemas.microsoft.com/office/drawing/2010/main">
                <a:solidFill>
                  <a:srgbClr val="FFFFFF"/>
                </a:solidFill>
              </a14:hiddenFill>
            </a:ext>
          </a:extLst>
        </p:spPr>
      </p:pic>
      <p:sp>
        <p:nvSpPr>
          <p:cNvPr id="4" name="Dikdörtgen 3"/>
          <p:cNvSpPr/>
          <p:nvPr/>
        </p:nvSpPr>
        <p:spPr>
          <a:xfrm>
            <a:off x="838200" y="1690688"/>
            <a:ext cx="4198189" cy="4093428"/>
          </a:xfrm>
          <a:prstGeom prst="rect">
            <a:avLst/>
          </a:prstGeom>
        </p:spPr>
        <p:txBody>
          <a:bodyPr wrap="square">
            <a:spAutoFit/>
          </a:bodyPr>
          <a:lstStyle/>
          <a:p>
            <a:pPr algn="just"/>
            <a:r>
              <a:rPr lang="tr-TR" sz="2000" dirty="0" smtClean="0"/>
              <a:t>Şekil 12'deki eğriler, iki ışık kaynağının </a:t>
            </a:r>
            <a:r>
              <a:rPr lang="tr-TR" sz="2000" dirty="0" err="1" smtClean="0"/>
              <a:t>SPD'lerini</a:t>
            </a:r>
            <a:r>
              <a:rPr lang="tr-TR" sz="2000" dirty="0" smtClean="0"/>
              <a:t> temsil etmektedir. Eğrilerin şekli aynıdır (bu iki </a:t>
            </a:r>
            <a:r>
              <a:rPr lang="tr-TR" sz="2000" dirty="0" err="1" smtClean="0"/>
              <a:t>SPD'nin</a:t>
            </a:r>
            <a:r>
              <a:rPr lang="tr-TR" sz="2000" dirty="0" smtClean="0"/>
              <a:t> spektral dağılımı aynıdır) dolayısıyla iki ışık kaynağının rengi veya </a:t>
            </a:r>
            <a:r>
              <a:rPr lang="tr-TR" sz="2000" dirty="0" err="1" smtClean="0"/>
              <a:t>kromatikliği</a:t>
            </a:r>
            <a:r>
              <a:rPr lang="tr-TR" sz="2000" dirty="0" smtClean="0"/>
              <a:t> de aynıdır. Bununla birlikte, üst eğrinin genliği, alt eğrinin genliğinin iki katıdır, dolayısıyla üst eğriye karşılık gelen ışık kaynağı, alt eğri tarafından tanımlanan ışık kaynağından iki kat daha fazla güç üretir. Özetle, bir ışık kaynağının spektral güç dağılımı yalnızca rengini değil, gücünü de tanımlar..</a:t>
            </a:r>
            <a:endParaRPr lang="tr-TR" sz="2000" dirty="0"/>
          </a:p>
        </p:txBody>
      </p:sp>
    </p:spTree>
    <p:extLst>
      <p:ext uri="{BB962C8B-B14F-4D97-AF65-F5344CB8AC3E}">
        <p14:creationId xmlns:p14="http://schemas.microsoft.com/office/powerpoint/2010/main" val="1190913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b="1" dirty="0" smtClean="0"/>
              <a:t>What is a Color Space?</a:t>
            </a:r>
            <a:endParaRPr lang="tr-TR" dirty="0"/>
          </a:p>
        </p:txBody>
      </p:sp>
      <p:sp>
        <p:nvSpPr>
          <p:cNvPr id="3" name="İçerik Yer Tutucusu 2"/>
          <p:cNvSpPr>
            <a:spLocks noGrp="1"/>
          </p:cNvSpPr>
          <p:nvPr>
            <p:ph idx="1"/>
          </p:nvPr>
        </p:nvSpPr>
        <p:spPr/>
        <p:txBody>
          <a:bodyPr>
            <a:noAutofit/>
          </a:bodyPr>
          <a:lstStyle/>
          <a:p>
            <a:pPr algn="just"/>
            <a:r>
              <a:rPr lang="tr-TR" sz="2400" dirty="0" smtClean="0"/>
              <a:t>Renk uzayı, görme sistemimizin algılayabileceği kadar çok rengi temsil etmek için kullanılabilen bir modeldir (ancak, çoğu zaman, bu renklerin yalnızca bir alt kümesini temsil edebilirler). </a:t>
            </a:r>
          </a:p>
          <a:p>
            <a:pPr algn="just"/>
            <a:r>
              <a:rPr lang="tr-TR" sz="2400" dirty="0" smtClean="0"/>
              <a:t>En basit haliyle bir renk üç ana rengin (</a:t>
            </a:r>
            <a:r>
              <a:rPr lang="tr-TR" sz="2400" dirty="0" err="1" smtClean="0"/>
              <a:t>reg</a:t>
            </a:r>
            <a:r>
              <a:rPr lang="tr-TR" sz="2400" dirty="0" smtClean="0"/>
              <a:t>, yeşil mavi) kombinasyonu olarak görülebilir. Bu renklerden herhangi birini birbirine eklemek, geniş bir renk yelpazesi üretebilir (bu, RGB renk modelinin temelidir). Örneğin, CIE </a:t>
            </a:r>
            <a:r>
              <a:rPr lang="tr-TR" sz="2400" dirty="0" err="1" smtClean="0"/>
              <a:t>xyY</a:t>
            </a:r>
            <a:r>
              <a:rPr lang="tr-TR" sz="2400" dirty="0" smtClean="0"/>
              <a:t> renk uzayının gamı gösterildiği gibi bir at nalı şekline sahiptir.</a:t>
            </a:r>
          </a:p>
          <a:p>
            <a:pPr algn="just"/>
            <a:r>
              <a:rPr lang="tr-TR" sz="2400" dirty="0" smtClean="0"/>
              <a:t>Doğal olarak ilgilendiğimiz şey, gerçekten insan gözünün algılayabildiği renkler. Aslında, mevcut renk uzay modellerinin çoğu, tüm gamı ​​kapsama kapasiteleri açısından sınırlıdır. </a:t>
            </a:r>
          </a:p>
        </p:txBody>
      </p:sp>
    </p:spTree>
    <p:extLst>
      <p:ext uri="{BB962C8B-B14F-4D97-AF65-F5344CB8AC3E}">
        <p14:creationId xmlns:p14="http://schemas.microsoft.com/office/powerpoint/2010/main" val="82325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Color</a:t>
            </a:r>
            <a:r>
              <a:rPr lang="tr-TR" dirty="0" smtClean="0"/>
              <a:t> Space </a:t>
            </a:r>
            <a:r>
              <a:rPr lang="tr-TR" dirty="0" err="1" smtClean="0"/>
              <a:t>List</a:t>
            </a:r>
            <a:endParaRPr lang="tr-TR" dirty="0"/>
          </a:p>
        </p:txBody>
      </p:sp>
      <p:sp>
        <p:nvSpPr>
          <p:cNvPr id="3" name="İçerik Yer Tutucusu 2"/>
          <p:cNvSpPr>
            <a:spLocks noGrp="1"/>
          </p:cNvSpPr>
          <p:nvPr>
            <p:ph idx="1"/>
          </p:nvPr>
        </p:nvSpPr>
        <p:spPr/>
        <p:txBody>
          <a:bodyPr/>
          <a:lstStyle/>
          <a:p>
            <a:r>
              <a:rPr lang="tr-TR" dirty="0" smtClean="0"/>
              <a:t>Beş ana renk modeli vardır: </a:t>
            </a:r>
          </a:p>
          <a:p>
            <a:pPr lvl="1"/>
            <a:r>
              <a:rPr lang="tr-TR" dirty="0" smtClean="0"/>
              <a:t>CIE, </a:t>
            </a:r>
          </a:p>
          <a:p>
            <a:pPr lvl="1"/>
            <a:r>
              <a:rPr lang="tr-TR" dirty="0" smtClean="0"/>
              <a:t>RGB, </a:t>
            </a:r>
          </a:p>
          <a:p>
            <a:pPr lvl="1"/>
            <a:r>
              <a:rPr lang="tr-TR" dirty="0" smtClean="0"/>
              <a:t>YUV, </a:t>
            </a:r>
          </a:p>
          <a:p>
            <a:pPr lvl="1"/>
            <a:r>
              <a:rPr lang="tr-TR" dirty="0" smtClean="0"/>
              <a:t>HSL / HSV </a:t>
            </a:r>
          </a:p>
          <a:p>
            <a:pPr lvl="1"/>
            <a:r>
              <a:rPr lang="tr-TR" dirty="0" smtClean="0"/>
              <a:t>CMYK</a:t>
            </a:r>
            <a:endParaRPr lang="tr-TR" dirty="0"/>
          </a:p>
        </p:txBody>
      </p:sp>
    </p:spTree>
    <p:extLst>
      <p:ext uri="{BB962C8B-B14F-4D97-AF65-F5344CB8AC3E}">
        <p14:creationId xmlns:p14="http://schemas.microsoft.com/office/powerpoint/2010/main" val="688594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CIE XYZ </a:t>
            </a:r>
            <a:r>
              <a:rPr lang="tr-TR" dirty="0" err="1"/>
              <a:t>Color</a:t>
            </a:r>
            <a:r>
              <a:rPr lang="tr-TR" dirty="0"/>
              <a:t> </a:t>
            </a:r>
            <a:r>
              <a:rPr lang="tr-TR" dirty="0" smtClean="0"/>
              <a:t>Model</a:t>
            </a:r>
            <a:endParaRPr lang="tr-TR" dirty="0"/>
          </a:p>
        </p:txBody>
      </p:sp>
      <p:sp>
        <p:nvSpPr>
          <p:cNvPr id="3" name="İçerik Yer Tutucusu 2"/>
          <p:cNvSpPr>
            <a:spLocks noGrp="1"/>
          </p:cNvSpPr>
          <p:nvPr>
            <p:ph idx="1"/>
          </p:nvPr>
        </p:nvSpPr>
        <p:spPr/>
        <p:txBody>
          <a:bodyPr>
            <a:normAutofit lnSpcReduction="10000"/>
          </a:bodyPr>
          <a:lstStyle/>
          <a:p>
            <a:pPr algn="just"/>
            <a:r>
              <a:rPr lang="tr-TR" dirty="0" smtClean="0"/>
              <a:t>CIE (</a:t>
            </a:r>
            <a:r>
              <a:rPr lang="tr-TR" dirty="0" err="1" smtClean="0"/>
              <a:t>Commission</a:t>
            </a:r>
            <a:r>
              <a:rPr lang="tr-TR" dirty="0" smtClean="0"/>
              <a:t> </a:t>
            </a:r>
            <a:r>
              <a:rPr lang="tr-TR" dirty="0" err="1" smtClean="0"/>
              <a:t>Internationale</a:t>
            </a:r>
            <a:r>
              <a:rPr lang="tr-TR" dirty="0" smtClean="0"/>
              <a:t> de </a:t>
            </a:r>
            <a:r>
              <a:rPr lang="tr-TR" dirty="0" err="1" smtClean="0"/>
              <a:t>l'Eclairage</a:t>
            </a:r>
            <a:r>
              <a:rPr lang="tr-TR" dirty="0" smtClean="0"/>
              <a:t>) tarafından geliştirilen uluslararası bir standarttır. </a:t>
            </a:r>
            <a:r>
              <a:rPr lang="tr-TR" dirty="0" smtClean="0"/>
              <a:t>B</a:t>
            </a:r>
            <a:r>
              <a:rPr lang="tr-TR" dirty="0" smtClean="0"/>
              <a:t>irçok </a:t>
            </a:r>
            <a:r>
              <a:rPr lang="tr-TR" dirty="0"/>
              <a:t>renk modelinin temelini oluşturan standartlaştırılmış bir renk alanıdır. Farklı cihazlar ve görüntüleme koşulları arasında doğru renk iletişimine ve renk eşleşmesine olanak tanıyan, renk algısının cihazdan bağımsız bir temsilini sağlamak üzere oluşturulmuştur</a:t>
            </a:r>
            <a:r>
              <a:rPr lang="tr-TR" dirty="0" smtClean="0"/>
              <a:t>.</a:t>
            </a:r>
          </a:p>
          <a:p>
            <a:pPr algn="just"/>
            <a:r>
              <a:rPr lang="tr-TR" dirty="0"/>
              <a:t>CIE XYZ renk </a:t>
            </a:r>
            <a:r>
              <a:rPr lang="tr-TR" dirty="0" err="1"/>
              <a:t>modelinde:X</a:t>
            </a:r>
            <a:r>
              <a:rPr lang="tr-TR" dirty="0"/>
              <a:t>, Y, Z Üç Uyarıcı Değerleri: X, Y ve Z adlı üç bileşen, bir renk uyarısının üçlü uyaran değerlerini temsil eder. Bu değerler, standart görüntüleme koşulları altında rengi eşleştirmek için gereken üç ana rengin (genellikle renk eşleştirme işlevleri olarak anılır) miktarına karşılık gelir</a:t>
            </a:r>
            <a:r>
              <a:rPr lang="tr-TR" dirty="0" smtClean="0"/>
              <a:t>. </a:t>
            </a:r>
            <a:endParaRPr lang="tr-TR" dirty="0"/>
          </a:p>
        </p:txBody>
      </p:sp>
    </p:spTree>
    <p:extLst>
      <p:ext uri="{BB962C8B-B14F-4D97-AF65-F5344CB8AC3E}">
        <p14:creationId xmlns:p14="http://schemas.microsoft.com/office/powerpoint/2010/main" val="2533299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CIE XYZ </a:t>
            </a:r>
            <a:r>
              <a:rPr lang="tr-TR" dirty="0" err="1"/>
              <a:t>Color</a:t>
            </a:r>
            <a:r>
              <a:rPr lang="tr-TR" dirty="0"/>
              <a:t> Model</a:t>
            </a:r>
          </a:p>
        </p:txBody>
      </p:sp>
      <p:sp>
        <p:nvSpPr>
          <p:cNvPr id="3" name="İçerik Yer Tutucusu 2"/>
          <p:cNvSpPr>
            <a:spLocks noGrp="1"/>
          </p:cNvSpPr>
          <p:nvPr>
            <p:ph idx="1"/>
          </p:nvPr>
        </p:nvSpPr>
        <p:spPr/>
        <p:txBody>
          <a:bodyPr>
            <a:normAutofit/>
          </a:bodyPr>
          <a:lstStyle/>
          <a:p>
            <a:r>
              <a:rPr lang="tr-TR" dirty="0"/>
              <a:t>X: "Kırmızı" ana renk tepkisine karşılık gelen koni hücrelerinin ışık </a:t>
            </a:r>
            <a:r>
              <a:rPr lang="tr-TR" dirty="0" err="1"/>
              <a:t>uyarımının</a:t>
            </a:r>
            <a:r>
              <a:rPr lang="tr-TR" dirty="0"/>
              <a:t> miktarını temsil eder</a:t>
            </a:r>
            <a:r>
              <a:rPr lang="tr-TR" dirty="0" smtClean="0"/>
              <a:t>.</a:t>
            </a:r>
          </a:p>
          <a:p>
            <a:r>
              <a:rPr lang="tr-TR" dirty="0" smtClean="0"/>
              <a:t>Y</a:t>
            </a:r>
            <a:r>
              <a:rPr lang="tr-TR" dirty="0"/>
              <a:t>: "Yeşil" ana renk tepkisine karşılık gelen koni hücrelerinin ışık </a:t>
            </a:r>
            <a:r>
              <a:rPr lang="tr-TR" dirty="0" err="1"/>
              <a:t>uyarımının</a:t>
            </a:r>
            <a:r>
              <a:rPr lang="tr-TR" dirty="0"/>
              <a:t> miktarını temsil eder</a:t>
            </a:r>
            <a:r>
              <a:rPr lang="tr-TR" dirty="0" smtClean="0"/>
              <a:t>.</a:t>
            </a:r>
          </a:p>
          <a:p>
            <a:r>
              <a:rPr lang="tr-TR" dirty="0" smtClean="0"/>
              <a:t>Z</a:t>
            </a:r>
            <a:r>
              <a:rPr lang="tr-TR" dirty="0"/>
              <a:t>: "Mavi" ana renk tepkisine karşılık gelen koni hücrelerinin ışık </a:t>
            </a:r>
            <a:r>
              <a:rPr lang="tr-TR" dirty="0" err="1"/>
              <a:t>uyarımının</a:t>
            </a:r>
            <a:r>
              <a:rPr lang="tr-TR" dirty="0"/>
              <a:t> miktarını temsil eder</a:t>
            </a:r>
            <a:r>
              <a:rPr lang="tr-TR" dirty="0" smtClean="0"/>
              <a:t>.</a:t>
            </a:r>
          </a:p>
          <a:p>
            <a:r>
              <a:rPr lang="tr-TR" dirty="0" smtClean="0"/>
              <a:t>Parlaklık </a:t>
            </a:r>
            <a:r>
              <a:rPr lang="tr-TR" dirty="0"/>
              <a:t>Olarak Y Bileşeni: Genellikle parlaklık olarak adlandırılan Y bileşeni, rengin algılanan parlaklığını temsil eder. </a:t>
            </a:r>
            <a:r>
              <a:rPr lang="tr-TR" dirty="0" smtClean="0"/>
              <a:t>Üç </a:t>
            </a:r>
            <a:r>
              <a:rPr lang="tr-TR" dirty="0"/>
              <a:t>ana rengin tümünün katkılarını birleştirir ve kabaca insan gözünün parlaklığa olan duyarlılığına karşılık gelir.</a:t>
            </a:r>
          </a:p>
          <a:p>
            <a:endParaRPr lang="tr-TR" dirty="0"/>
          </a:p>
        </p:txBody>
      </p:sp>
    </p:spTree>
    <p:extLst>
      <p:ext uri="{BB962C8B-B14F-4D97-AF65-F5344CB8AC3E}">
        <p14:creationId xmlns:p14="http://schemas.microsoft.com/office/powerpoint/2010/main" val="3303719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XYZ-RGB dönüşümleri</a:t>
            </a:r>
            <a:endParaRPr lang="tr-TR" dirty="0"/>
          </a:p>
        </p:txBody>
      </p:sp>
      <p:sp>
        <p:nvSpPr>
          <p:cNvPr id="5" name="Rectangle 2"/>
          <p:cNvSpPr>
            <a:spLocks noGrp="1" noChangeArrowheads="1"/>
          </p:cNvSpPr>
          <p:nvPr>
            <p:ph idx="1"/>
          </p:nvPr>
        </p:nvSpPr>
        <p:spPr bwMode="auto">
          <a:xfrm>
            <a:off x="237839" y="3228158"/>
            <a:ext cx="903324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X = 0.412453*R' + 0.35758 *G' + 0.180423*B'</a:t>
            </a:r>
            <a:endParaRPr kumimoji="0" lang="tr-TR" altLang="tr-TR"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Y = 0.212671*R' + 0.71516 *G' + 0.072169*B'</a:t>
            </a:r>
            <a:endParaRPr kumimoji="0" lang="tr-TR" altLang="tr-TR"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Z = 0.019334*R' + 0.119193*G' + 0.950227*B‘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R' = 3.240479 * X - 1.53715 * Y - 0.498535 * Z</a:t>
            </a:r>
            <a:endParaRPr kumimoji="0" lang="tr-TR" altLang="tr-TR"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G' = -0.969256 * X + 1.875991 * Y + 0.041556 * Z</a:t>
            </a:r>
            <a:endParaRPr kumimoji="0" lang="tr-TR" altLang="tr-TR"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400" b="0" i="0" u="none" strike="noStrike" cap="none" normalizeH="0" baseline="0" dirty="0" smtClean="0">
                <a:ln>
                  <a:noFill/>
                </a:ln>
                <a:solidFill>
                  <a:srgbClr val="333333"/>
                </a:solidFill>
                <a:effectLst/>
                <a:latin typeface="Courier New" panose="02070309020205020404" pitchFamily="49" charset="0"/>
                <a:cs typeface="Courier New" panose="02070309020205020404" pitchFamily="49" charset="0"/>
              </a:rPr>
              <a:t>B' = 0.055648 * X - 0.204043 * Y + 1.057311 * Z</a:t>
            </a:r>
            <a:endParaRPr kumimoji="0" lang="tr-TR" altLang="tr-TR" sz="2400" b="0" i="0" u="none" strike="noStrike" cap="none" normalizeH="0" baseline="0" dirty="0" smtClean="0">
              <a:ln>
                <a:noFill/>
              </a:ln>
              <a:solidFill>
                <a:schemeClr val="tx1"/>
              </a:solidFill>
              <a:effectLst/>
            </a:endParaRPr>
          </a:p>
        </p:txBody>
      </p:sp>
      <p:sp>
        <p:nvSpPr>
          <p:cNvPr id="3" name="Metin kutusu 2"/>
          <p:cNvSpPr txBox="1"/>
          <p:nvPr/>
        </p:nvSpPr>
        <p:spPr>
          <a:xfrm>
            <a:off x="157936" y="1793944"/>
            <a:ext cx="11195864" cy="1569660"/>
          </a:xfrm>
          <a:prstGeom prst="rect">
            <a:avLst/>
          </a:prstGeom>
          <a:noFill/>
        </p:spPr>
        <p:txBody>
          <a:bodyPr wrap="square" rtlCol="0">
            <a:spAutoFit/>
          </a:bodyPr>
          <a:lstStyle/>
          <a:p>
            <a:pPr algn="just"/>
            <a:r>
              <a:rPr lang="tr-TR" sz="2400" dirty="0"/>
              <a:t>CIE XYZ renk alanı, CIE </a:t>
            </a:r>
            <a:r>
              <a:rPr lang="tr-TR" sz="2400" dirty="0" err="1"/>
              <a:t>Lab</a:t>
            </a:r>
            <a:r>
              <a:rPr lang="tr-TR" sz="2400" dirty="0"/>
              <a:t> ve RGB dahil olmak üzere diğer renk alanları </a:t>
            </a:r>
            <a:r>
              <a:rPr lang="tr-TR" sz="2400" dirty="0" smtClean="0"/>
              <a:t>ve </a:t>
            </a:r>
            <a:r>
              <a:rPr lang="tr-TR" sz="2400" dirty="0"/>
              <a:t>modellerinin temelini oluşturur</a:t>
            </a:r>
            <a:r>
              <a:rPr lang="tr-TR" sz="2400" dirty="0" smtClean="0"/>
              <a:t>.  </a:t>
            </a:r>
            <a:r>
              <a:rPr lang="tr-TR" sz="2400" dirty="0"/>
              <a:t>Doğru renk üretiminin </a:t>
            </a:r>
            <a:r>
              <a:rPr lang="tr-TR" sz="2400" dirty="0" smtClean="0"/>
              <a:t>ve  </a:t>
            </a:r>
            <a:r>
              <a:rPr lang="tr-TR" sz="2400" dirty="0"/>
              <a:t>tutarlılığının </a:t>
            </a:r>
            <a:r>
              <a:rPr lang="tr-TR" sz="2400" dirty="0" smtClean="0"/>
              <a:t> önemli </a:t>
            </a:r>
            <a:r>
              <a:rPr lang="tr-TR" sz="2400" dirty="0"/>
              <a:t>olduğu renk bilimi, renk yönetimi ve fotoğrafçılık, baskı ve </a:t>
            </a:r>
            <a:r>
              <a:rPr lang="tr-TR" sz="2400" dirty="0" smtClean="0"/>
              <a:t>görüntüleme  </a:t>
            </a:r>
            <a:r>
              <a:rPr lang="tr-TR" sz="2400" dirty="0"/>
              <a:t>teknolojisi gibi endüstrilerde yaygın olarak kullanılır.</a:t>
            </a:r>
          </a:p>
        </p:txBody>
      </p:sp>
    </p:spTree>
    <p:extLst>
      <p:ext uri="{BB962C8B-B14F-4D97-AF65-F5344CB8AC3E}">
        <p14:creationId xmlns:p14="http://schemas.microsoft.com/office/powerpoint/2010/main" val="1355047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YUV</a:t>
            </a:r>
            <a:endParaRPr lang="tr-TR" dirty="0"/>
          </a:p>
        </p:txBody>
      </p:sp>
      <p:sp>
        <p:nvSpPr>
          <p:cNvPr id="3" name="İçerik Yer Tutucusu 2"/>
          <p:cNvSpPr>
            <a:spLocks noGrp="1"/>
          </p:cNvSpPr>
          <p:nvPr>
            <p:ph idx="1"/>
          </p:nvPr>
        </p:nvSpPr>
        <p:spPr/>
        <p:txBody>
          <a:bodyPr>
            <a:normAutofit/>
          </a:bodyPr>
          <a:lstStyle/>
          <a:p>
            <a:pPr algn="just"/>
            <a:r>
              <a:rPr lang="tr-TR" dirty="0" smtClean="0"/>
              <a:t>YUV renk alanı biraz alışılmadık. Y bileşeni rengin parlaklığını (parlaklık veya </a:t>
            </a:r>
            <a:r>
              <a:rPr lang="tr-TR" dirty="0" err="1" smtClean="0"/>
              <a:t>luma</a:t>
            </a:r>
            <a:r>
              <a:rPr lang="tr-TR" dirty="0" smtClean="0"/>
              <a:t> olarak adlandırılır) belirlerken, U ve V bileşenleri rengin kendisini (kroma) belirler.</a:t>
            </a:r>
          </a:p>
          <a:p>
            <a:pPr algn="just"/>
            <a:r>
              <a:rPr lang="tr-TR" dirty="0" smtClean="0"/>
              <a:t>U ve V bileşenlerini atıp gri ölçekli bir görüntü elde dilebilir. İnsan gözü parlaklığa renkten daha duyarlı olduğundan, birçok kayıplı görüntü sıkıştırma formatı, görüntü kalitesini ciddi şekilde bozmadan başa çıkılacak veri miktarını azaltmak için kroma kanallarındaki örneklerin yarısını veya daha fazlasını atar.</a:t>
            </a:r>
            <a:endParaRPr lang="tr-TR" dirty="0"/>
          </a:p>
        </p:txBody>
      </p:sp>
    </p:spTree>
    <p:extLst>
      <p:ext uri="{BB962C8B-B14F-4D97-AF65-F5344CB8AC3E}">
        <p14:creationId xmlns:p14="http://schemas.microsoft.com/office/powerpoint/2010/main" val="43989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YUV</a:t>
            </a:r>
          </a:p>
        </p:txBody>
      </p:sp>
      <p:sp>
        <p:nvSpPr>
          <p:cNvPr id="3" name="İçerik Yer Tutucusu 2"/>
          <p:cNvSpPr>
            <a:spLocks noGrp="1"/>
          </p:cNvSpPr>
          <p:nvPr>
            <p:ph idx="1"/>
          </p:nvPr>
        </p:nvSpPr>
        <p:spPr/>
        <p:txBody>
          <a:bodyPr>
            <a:normAutofit/>
          </a:bodyPr>
          <a:lstStyle/>
          <a:p>
            <a:pPr algn="just"/>
            <a:r>
              <a:rPr lang="tr-TR" dirty="0" smtClean="0"/>
              <a:t>Y (Parlaklık): Rengin parlaklığını veya yoğunluğunu temsil eder. Görüntünün siyah beyaz bileşenine karşılık gelir. Y bileşeni görsel bilgilerin çoğunu taşır ve görüntü kalitesinin korunması açısından çok önemlidir.</a:t>
            </a:r>
          </a:p>
          <a:p>
            <a:pPr algn="just"/>
            <a:r>
              <a:rPr lang="tr-TR" dirty="0" smtClean="0"/>
              <a:t>U ve V (Renklilik): Bu bileşenler görüntünün renk bilgisini temsil eder. U (bazen "</a:t>
            </a:r>
            <a:r>
              <a:rPr lang="tr-TR" dirty="0" err="1" smtClean="0"/>
              <a:t>Cb</a:t>
            </a:r>
            <a:r>
              <a:rPr lang="tr-TR" dirty="0" smtClean="0"/>
              <a:t>" olarak da adlandırılır) bileşeni mavi renk ile parlaklık arasındaki farkı temsil ederken, V (bazen "Cr" olarak da adlandırılır) bileşeni kırmızı renk ile parlaklık arasındaki farkı temsil eder. Mutlak renk değerleri yerine renk farklılıklarını temsil eden U ve V bileşenleri, renk bilgilerinin daha verimli sıkıştırılmasına olanak tanır.</a:t>
            </a:r>
            <a:endParaRPr lang="tr-TR" dirty="0"/>
          </a:p>
        </p:txBody>
      </p:sp>
    </p:spTree>
    <p:extLst>
      <p:ext uri="{BB962C8B-B14F-4D97-AF65-F5344CB8AC3E}">
        <p14:creationId xmlns:p14="http://schemas.microsoft.com/office/powerpoint/2010/main" val="2600971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YUV</a:t>
            </a:r>
          </a:p>
        </p:txBody>
      </p:sp>
      <p:sp>
        <p:nvSpPr>
          <p:cNvPr id="3" name="İçerik Yer Tutucusu 2"/>
          <p:cNvSpPr>
            <a:spLocks noGrp="1"/>
          </p:cNvSpPr>
          <p:nvPr>
            <p:ph idx="1"/>
          </p:nvPr>
        </p:nvSpPr>
        <p:spPr/>
        <p:txBody>
          <a:bodyPr/>
          <a:lstStyle/>
          <a:p>
            <a:r>
              <a:rPr lang="tr-TR" dirty="0"/>
              <a:t>YUV, video ve görüntü işlemede kullanılan bir renk alanıdır. Bu alan, parlaklık (</a:t>
            </a:r>
            <a:r>
              <a:rPr lang="tr-TR" dirty="0" err="1"/>
              <a:t>luminans</a:t>
            </a:r>
            <a:r>
              <a:rPr lang="tr-TR" dirty="0"/>
              <a:t>) ve renk (</a:t>
            </a:r>
            <a:r>
              <a:rPr lang="tr-TR" dirty="0" err="1"/>
              <a:t>krominans</a:t>
            </a:r>
            <a:r>
              <a:rPr lang="tr-TR" dirty="0"/>
              <a:t>) bilgilerini ayırarak verilerin daha etkin bir şekilde sıkıştırılmasına ve işlenmesine olanak tanır. YUV, MPEG ve H.264 gibi video sıkıştırma standartlarında ve dijital televizyon yayıncılığında yaygın olarak kullanılır. Bu renk alanı, renk bilgisini etkili bir şekilde temsil etmek ve işlemek için kullanılır, böylece yüksek kaliteli video ve görüntü aktarımı sağlanır.</a:t>
            </a:r>
          </a:p>
          <a:p>
            <a:endParaRPr lang="tr-TR" dirty="0"/>
          </a:p>
        </p:txBody>
      </p:sp>
    </p:spTree>
    <p:extLst>
      <p:ext uri="{BB962C8B-B14F-4D97-AF65-F5344CB8AC3E}">
        <p14:creationId xmlns:p14="http://schemas.microsoft.com/office/powerpoint/2010/main" val="2100114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YUV - RGB </a:t>
            </a:r>
            <a:r>
              <a:rPr lang="tr-TR" b="1" dirty="0" smtClean="0"/>
              <a:t>Conversion</a:t>
            </a:r>
            <a:endParaRPr lang="tr-TR" dirty="0"/>
          </a:p>
        </p:txBody>
      </p:sp>
      <p:sp>
        <p:nvSpPr>
          <p:cNvPr id="3" name="İçerik Yer Tutucusu 2"/>
          <p:cNvSpPr>
            <a:spLocks noGrp="1"/>
          </p:cNvSpPr>
          <p:nvPr>
            <p:ph idx="1"/>
          </p:nvPr>
        </p:nvSpPr>
        <p:spPr/>
        <p:txBody>
          <a:bodyPr>
            <a:normAutofit fontScale="92500" lnSpcReduction="10000"/>
          </a:bodyPr>
          <a:lstStyle/>
          <a:p>
            <a:r>
              <a:rPr lang="en-US" b="1" dirty="0" smtClean="0"/>
              <a:t> From RGB to YUV</a:t>
            </a:r>
          </a:p>
          <a:p>
            <a:r>
              <a:rPr lang="en-US" dirty="0" smtClean="0"/>
              <a:t>   Y = 0.299R + 0.587G + 0.114B</a:t>
            </a:r>
          </a:p>
          <a:p>
            <a:r>
              <a:rPr lang="en-US" dirty="0" smtClean="0"/>
              <a:t>   U = 0.492 (B-Y)</a:t>
            </a:r>
          </a:p>
          <a:p>
            <a:r>
              <a:rPr lang="en-US" dirty="0" smtClean="0"/>
              <a:t>   V = 0.877 (R-Y)</a:t>
            </a:r>
            <a:endParaRPr lang="tr-TR" dirty="0" smtClean="0"/>
          </a:p>
          <a:p>
            <a:endParaRPr lang="en-US" dirty="0" smtClean="0"/>
          </a:p>
          <a:p>
            <a:r>
              <a:rPr lang="es-ES" b="1" dirty="0"/>
              <a:t>From YUV to </a:t>
            </a:r>
            <a:r>
              <a:rPr lang="es-ES" b="1" dirty="0" smtClean="0"/>
              <a:t>RGB</a:t>
            </a:r>
            <a:endParaRPr lang="tr-TR" b="1" dirty="0" smtClean="0"/>
          </a:p>
          <a:p>
            <a:r>
              <a:rPr lang="es-ES" dirty="0" smtClean="0"/>
              <a:t> </a:t>
            </a:r>
            <a:r>
              <a:rPr lang="es-ES" dirty="0"/>
              <a:t>R = Y + </a:t>
            </a:r>
            <a:r>
              <a:rPr lang="es-ES" dirty="0" smtClean="0"/>
              <a:t>1.140V</a:t>
            </a:r>
            <a:endParaRPr lang="tr-TR" dirty="0" smtClean="0"/>
          </a:p>
          <a:p>
            <a:r>
              <a:rPr lang="es-ES" dirty="0" smtClean="0"/>
              <a:t> </a:t>
            </a:r>
            <a:r>
              <a:rPr lang="es-ES" dirty="0"/>
              <a:t>G = Y - 0.395U - 0.581V </a:t>
            </a:r>
            <a:endParaRPr lang="tr-TR" dirty="0" smtClean="0"/>
          </a:p>
          <a:p>
            <a:r>
              <a:rPr lang="es-ES" dirty="0" smtClean="0"/>
              <a:t>B </a:t>
            </a:r>
            <a:r>
              <a:rPr lang="es-ES" dirty="0"/>
              <a:t>= Y + 2.032U </a:t>
            </a:r>
            <a:br>
              <a:rPr lang="es-ES" dirty="0"/>
            </a:br>
            <a:endParaRPr lang="en-US" dirty="0" smtClean="0"/>
          </a:p>
        </p:txBody>
      </p:sp>
      <p:pic>
        <p:nvPicPr>
          <p:cNvPr id="22531" name="Picture 3" descr="https://scc.ustc.edu.cn/zlsc/sugon/intel/ipp/ipp_manual/IPPI/ippi_ch6/Images/ch6_color_models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8602" y="717300"/>
            <a:ext cx="7932838" cy="5235674"/>
          </a:xfrm>
          <a:prstGeom prst="rect">
            <a:avLst/>
          </a:prstGeom>
          <a:noFill/>
          <a:extLst>
            <a:ext uri="{909E8E84-426E-40DD-AFC4-6F175D3DCCD1}">
              <a14:hiddenFill xmlns:a14="http://schemas.microsoft.com/office/drawing/2010/main">
                <a:solidFill>
                  <a:srgbClr val="FFFFFF"/>
                </a:solidFill>
              </a14:hiddenFill>
            </a:ext>
          </a:extLst>
        </p:spPr>
      </p:pic>
      <p:sp>
        <p:nvSpPr>
          <p:cNvPr id="5" name="Dikdörtgen 4"/>
          <p:cNvSpPr/>
          <p:nvPr/>
        </p:nvSpPr>
        <p:spPr>
          <a:xfrm>
            <a:off x="7098216" y="5583642"/>
            <a:ext cx="4758675" cy="369332"/>
          </a:xfrm>
          <a:prstGeom prst="rect">
            <a:avLst/>
          </a:prstGeom>
        </p:spPr>
        <p:txBody>
          <a:bodyPr wrap="none">
            <a:spAutoFit/>
          </a:bodyPr>
          <a:lstStyle/>
          <a:p>
            <a:r>
              <a:rPr lang="en-US" b="1" i="0" dirty="0" smtClean="0">
                <a:solidFill>
                  <a:srgbClr val="333333"/>
                </a:solidFill>
                <a:effectLst/>
                <a:latin typeface="Helvetica" panose="020B0604020202020204" pitchFamily="34" charset="0"/>
              </a:rPr>
              <a:t>RGB Colors Cube in the YUV Color Space</a:t>
            </a:r>
            <a:endParaRPr lang="tr-TR" dirty="0"/>
          </a:p>
        </p:txBody>
      </p:sp>
      <p:sp>
        <p:nvSpPr>
          <p:cNvPr id="6" name="Dikdörtgen 5"/>
          <p:cNvSpPr/>
          <p:nvPr/>
        </p:nvSpPr>
        <p:spPr>
          <a:xfrm>
            <a:off x="393940" y="6488668"/>
            <a:ext cx="9874370" cy="276999"/>
          </a:xfrm>
          <a:prstGeom prst="rect">
            <a:avLst/>
          </a:prstGeom>
        </p:spPr>
        <p:txBody>
          <a:bodyPr wrap="square">
            <a:spAutoFit/>
          </a:bodyPr>
          <a:lstStyle/>
          <a:p>
            <a:r>
              <a:rPr lang="tr-TR" sz="1200" dirty="0" smtClean="0"/>
              <a:t>https://scc.ustc.edu.cn/zlsc/sugon/intel/ipp/ipp_manual/IPPI/ippi_ch6/ch6_color_models.htm</a:t>
            </a:r>
            <a:endParaRPr lang="tr-TR" sz="1200" dirty="0"/>
          </a:p>
        </p:txBody>
      </p:sp>
    </p:spTree>
    <p:extLst>
      <p:ext uri="{BB962C8B-B14F-4D97-AF65-F5344CB8AC3E}">
        <p14:creationId xmlns:p14="http://schemas.microsoft.com/office/powerpoint/2010/main" val="2556447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HSV Renk Modeli</a:t>
            </a:r>
            <a:endParaRPr lang="tr-TR" dirty="0"/>
          </a:p>
        </p:txBody>
      </p:sp>
      <p:sp>
        <p:nvSpPr>
          <p:cNvPr id="3" name="İçerik Yer Tutucusu 2"/>
          <p:cNvSpPr>
            <a:spLocks noGrp="1"/>
          </p:cNvSpPr>
          <p:nvPr>
            <p:ph idx="1"/>
          </p:nvPr>
        </p:nvSpPr>
        <p:spPr>
          <a:xfrm>
            <a:off x="278352" y="1690688"/>
            <a:ext cx="7632940" cy="4351338"/>
          </a:xfrm>
        </p:spPr>
        <p:txBody>
          <a:bodyPr>
            <a:normAutofit fontScale="92500" lnSpcReduction="10000"/>
          </a:bodyPr>
          <a:lstStyle/>
          <a:p>
            <a:r>
              <a:rPr lang="tr-TR" dirty="0" smtClean="0"/>
              <a:t>HSV renk tekerleği bazen bir koni veya silindir olarak görünür, ancak her zaman şu üç bileşenle birlikte görünür:</a:t>
            </a:r>
          </a:p>
          <a:p>
            <a:pPr lvl="1"/>
            <a:r>
              <a:rPr lang="tr-TR" b="1" cap="all" dirty="0" smtClean="0"/>
              <a:t>HUE: </a:t>
            </a:r>
            <a:r>
              <a:rPr lang="tr-TR" b="1" dirty="0" smtClean="0"/>
              <a:t>ton, modelin 0 ila 360 derece arasında bir sayı olarak ifade edilen renk kısmıdır.</a:t>
            </a:r>
          </a:p>
          <a:p>
            <a:pPr lvl="1"/>
            <a:r>
              <a:rPr lang="tr-TR" b="1" cap="all" dirty="0" smtClean="0"/>
              <a:t>SATURATION: </a:t>
            </a:r>
            <a:r>
              <a:rPr lang="tr-TR" b="1" dirty="0" smtClean="0"/>
              <a:t>doygunluk, belirli bir renkteki gri miktarını yüzde 0 ile yüzde 100 arasında tanımlar. bu bileşenin sıfıra indirilmesi daha fazla gri verir ve soluk bir efekt oluşturur. bazen doygunluk 0 ile 1 arasında bir aralık olarak görünür; burada 0 gri ve 1 birincil renktir.</a:t>
            </a:r>
          </a:p>
          <a:p>
            <a:pPr lvl="1"/>
            <a:r>
              <a:rPr lang="tr-TR" b="1" cap="all" dirty="0" smtClean="0"/>
              <a:t>VALUE (OR BRIGHTNESS): D</a:t>
            </a:r>
            <a:r>
              <a:rPr lang="tr-TR" b="1" dirty="0" smtClean="0"/>
              <a:t>eğer, doygunluk ile birlikte çalışır ve rengin parlaklığını veya yoğunluğunu yüzde 0 ile 100 arasında tanımlar; burada 0 tamamen siyahtır ve 100 en parlaktır ve en fazla rengi ortaya çıkarır.</a:t>
            </a:r>
          </a:p>
          <a:p>
            <a:endParaRPr lang="tr-TR" dirty="0"/>
          </a:p>
        </p:txBody>
      </p:sp>
      <p:pic>
        <p:nvPicPr>
          <p:cNvPr id="23554" name="Picture 2" descr="https://scc.ustc.edu.cn/zlsc/sugon/intel/ipp/ipp_manual/IPPI/ippi_ch6/Images/ch6_color_models_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3761" y="1027906"/>
            <a:ext cx="4997570" cy="5211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502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HSV'nin</a:t>
            </a:r>
            <a:r>
              <a:rPr lang="tr-TR" dirty="0" smtClean="0"/>
              <a:t> Kullanımları</a:t>
            </a:r>
            <a:br>
              <a:rPr lang="tr-TR" dirty="0" smtClean="0"/>
            </a:br>
            <a:endParaRPr lang="tr-TR" dirty="0"/>
          </a:p>
        </p:txBody>
      </p:sp>
      <p:sp>
        <p:nvSpPr>
          <p:cNvPr id="3" name="İçerik Yer Tutucusu 2"/>
          <p:cNvSpPr>
            <a:spLocks noGrp="1"/>
          </p:cNvSpPr>
          <p:nvPr>
            <p:ph idx="1"/>
          </p:nvPr>
        </p:nvSpPr>
        <p:spPr/>
        <p:txBody>
          <a:bodyPr>
            <a:normAutofit lnSpcReduction="10000"/>
          </a:bodyPr>
          <a:lstStyle/>
          <a:p>
            <a:r>
              <a:rPr lang="tr-TR" dirty="0" smtClean="0"/>
              <a:t>Tasarımcılar, boya veya mürekkep için renkleri seçerken HSV renk modelini kullanır çünkü HSV, insanların renklerle ilişkisini RGB renk modelinden daha iyi temsil eder.</a:t>
            </a:r>
          </a:p>
          <a:p>
            <a:endParaRPr lang="tr-TR" dirty="0" smtClean="0"/>
          </a:p>
          <a:p>
            <a:r>
              <a:rPr lang="tr-TR" dirty="0" smtClean="0"/>
              <a:t>HSV renk çarkı ayrıca yüksek kaliteli grafiklere katkıda bulunur. RGB ve CMYK kuzenlerinden daha az bilinmesine rağmen, HSV yaklaşımı birçok üst düzey görüntü düzenleme yazılımı programında mevcuttur.</a:t>
            </a:r>
          </a:p>
          <a:p>
            <a:endParaRPr lang="tr-TR" dirty="0" smtClean="0"/>
          </a:p>
          <a:p>
            <a:r>
              <a:rPr lang="tr-TR" dirty="0" smtClean="0"/>
              <a:t>Bir HSV rengi seçmek, mevcut tonlardan birini seçmek ve ardından gölge ve parlaklık değerlerini ayarlamakla başlar.</a:t>
            </a:r>
            <a:endParaRPr lang="tr-TR" dirty="0"/>
          </a:p>
        </p:txBody>
      </p:sp>
      <p:sp>
        <p:nvSpPr>
          <p:cNvPr id="4" name="Dikdörtgen 3"/>
          <p:cNvSpPr/>
          <p:nvPr/>
        </p:nvSpPr>
        <p:spPr>
          <a:xfrm>
            <a:off x="838200" y="6176963"/>
            <a:ext cx="5577104" cy="369332"/>
          </a:xfrm>
          <a:prstGeom prst="rect">
            <a:avLst/>
          </a:prstGeom>
        </p:spPr>
        <p:txBody>
          <a:bodyPr wrap="none">
            <a:spAutoFit/>
          </a:bodyPr>
          <a:lstStyle/>
          <a:p>
            <a:r>
              <a:rPr lang="tr-TR" dirty="0" smtClean="0"/>
              <a:t>https://www.lifewire.com/what-is-hsv-in-design-1078068</a:t>
            </a:r>
            <a:endParaRPr lang="tr-TR" dirty="0"/>
          </a:p>
        </p:txBody>
      </p:sp>
    </p:spTree>
    <p:extLst>
      <p:ext uri="{BB962C8B-B14F-4D97-AF65-F5344CB8AC3E}">
        <p14:creationId xmlns:p14="http://schemas.microsoft.com/office/powerpoint/2010/main" val="451170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CMYK Renk Modeli</a:t>
            </a:r>
            <a:endParaRPr lang="tr-TR" dirty="0"/>
          </a:p>
        </p:txBody>
      </p:sp>
      <p:sp>
        <p:nvSpPr>
          <p:cNvPr id="3" name="İçerik Yer Tutucusu 2"/>
          <p:cNvSpPr>
            <a:spLocks noGrp="1"/>
          </p:cNvSpPr>
          <p:nvPr>
            <p:ph idx="1"/>
          </p:nvPr>
        </p:nvSpPr>
        <p:spPr/>
        <p:txBody>
          <a:bodyPr>
            <a:normAutofit fontScale="62500" lnSpcReduction="20000"/>
          </a:bodyPr>
          <a:lstStyle/>
          <a:p>
            <a:pPr algn="just"/>
            <a:r>
              <a:rPr lang="tr-TR" dirty="0"/>
              <a:t>Camgöbeği, </a:t>
            </a:r>
            <a:r>
              <a:rPr lang="tr-TR" dirty="0" err="1"/>
              <a:t>Macenta</a:t>
            </a:r>
            <a:r>
              <a:rPr lang="tr-TR" dirty="0"/>
              <a:t>, Sarı, Siyah renk alanı olarak da bilinen CMYK renk alanı, öncelikle ofset baskı ve dijital baskı dahil olmak üzere renkli baskı işlemlerinde kullanılır. CMYK renk modelinde renkler dört mürekkep renginin birleşimi olarak temsil edilir: Camgöbeği (C), </a:t>
            </a:r>
            <a:r>
              <a:rPr lang="tr-TR" dirty="0" err="1"/>
              <a:t>Macenta</a:t>
            </a:r>
            <a:r>
              <a:rPr lang="tr-TR" dirty="0"/>
              <a:t> (M), Sarı (Y) ve Siyah (K</a:t>
            </a:r>
            <a:r>
              <a:rPr lang="tr-TR" dirty="0" smtClean="0"/>
              <a:t>).</a:t>
            </a:r>
            <a:endParaRPr lang="tr-TR" dirty="0"/>
          </a:p>
          <a:p>
            <a:pPr algn="just"/>
            <a:r>
              <a:rPr lang="tr-TR" dirty="0"/>
              <a:t>Camgöbeği (C): Camgöbeği mürekkep kırmızı ışığı emer ve yeşil ve mavi ışığı yansıtır. Basılı materyallerde mavi ve yeşil tonlarını yeniden üretmek için kullanılır</a:t>
            </a:r>
            <a:r>
              <a:rPr lang="tr-TR" dirty="0" smtClean="0"/>
              <a:t>.</a:t>
            </a:r>
            <a:endParaRPr lang="tr-TR" dirty="0"/>
          </a:p>
          <a:p>
            <a:pPr algn="just"/>
            <a:r>
              <a:rPr lang="tr-TR" dirty="0" err="1"/>
              <a:t>Macenta</a:t>
            </a:r>
            <a:r>
              <a:rPr lang="tr-TR" dirty="0"/>
              <a:t> (M): </a:t>
            </a:r>
            <a:r>
              <a:rPr lang="tr-TR" dirty="0" err="1"/>
              <a:t>Macenta</a:t>
            </a:r>
            <a:r>
              <a:rPr lang="tr-TR" dirty="0"/>
              <a:t> mürekkep yeşil ışığı emer ve kırmızı ve mavi ışığı yansıtır. Basılı materyallerde kırmızı ve mor tonlarını yeniden üretmek için kullanılır</a:t>
            </a:r>
            <a:r>
              <a:rPr lang="tr-TR" dirty="0" smtClean="0"/>
              <a:t>.</a:t>
            </a:r>
            <a:endParaRPr lang="tr-TR" dirty="0"/>
          </a:p>
          <a:p>
            <a:pPr algn="just"/>
            <a:r>
              <a:rPr lang="tr-TR" dirty="0"/>
              <a:t>Sarı (Y): Sarı mürekkep mavi ışığı emer ve kırmızı ve yeşil ışığı yansıtır. Basılı materyallerde sarı ve turuncu tonlarını yeniden üretmek için kullanılır</a:t>
            </a:r>
            <a:r>
              <a:rPr lang="tr-TR" dirty="0" smtClean="0"/>
              <a:t>.</a:t>
            </a:r>
            <a:endParaRPr lang="tr-TR" dirty="0"/>
          </a:p>
          <a:p>
            <a:pPr algn="just"/>
            <a:r>
              <a:rPr lang="tr-TR" dirty="0"/>
              <a:t>Siyah (K): Siyah mürekkep, kontrastı artırmak ve basılı materyallerde daha zengin siyahlar üretmek için kullanılır. Ayrıca camgöbeği, </a:t>
            </a:r>
            <a:r>
              <a:rPr lang="tr-TR" dirty="0" err="1"/>
              <a:t>macenta</a:t>
            </a:r>
            <a:r>
              <a:rPr lang="tr-TR" dirty="0"/>
              <a:t> ve sarı mürekkep kombinasyonlarını değiştirerek mürekkepten tasarruf etmek ve yazdırma maliyetlerini azaltmak için de kullanılır.</a:t>
            </a:r>
          </a:p>
          <a:p>
            <a:pPr algn="just"/>
            <a:endParaRPr lang="tr-TR" dirty="0"/>
          </a:p>
          <a:p>
            <a:pPr algn="just"/>
            <a:r>
              <a:rPr lang="tr-TR" dirty="0"/>
              <a:t>CMYK renk alanı, mürekkepler kağıt üzerinde birleştirildiğinde ortaya çıkan </a:t>
            </a:r>
            <a:r>
              <a:rPr lang="tr-TR" dirty="0" err="1"/>
              <a:t>çıkarımlı</a:t>
            </a:r>
            <a:r>
              <a:rPr lang="tr-TR" dirty="0"/>
              <a:t> renk karışımı için optimize edildiğinden yazdırma için uygundur. Camgöbeği, </a:t>
            </a:r>
            <a:r>
              <a:rPr lang="tr-TR" dirty="0" err="1"/>
              <a:t>macenta</a:t>
            </a:r>
            <a:r>
              <a:rPr lang="tr-TR" dirty="0"/>
              <a:t>, sarı ve siyah mürekkeplerin oranları değiştirilerek basılı materyallerde geniş bir renk yelpazesi çoğaltılabilir. Ancak CMYK renk uzayı, RGB renk uzayına kıyasla daha küçük bir </a:t>
            </a:r>
            <a:r>
              <a:rPr lang="tr-TR" dirty="0" err="1"/>
              <a:t>gamuta</a:t>
            </a:r>
            <a:r>
              <a:rPr lang="tr-TR" dirty="0"/>
              <a:t> sahiptir; bu da, RGB kadar çok rengi, özellikle de canlı veya yüksek doygun renkleri üretemeyeceği anlamına gelir.</a:t>
            </a:r>
            <a:endParaRPr lang="tr-TR" dirty="0"/>
          </a:p>
        </p:txBody>
      </p:sp>
      <p:pic>
        <p:nvPicPr>
          <p:cNvPr id="20482" name="Picture 2" descr="CMYK colors combine to form bla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0163" y="52388"/>
            <a:ext cx="3714750" cy="163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462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21506" name="Picture 2" descr="The bottom right of a manuscript as seen as a typical print out. Text is written in a dark brown ink. There is marginalia in the right margins, and to the right of the page is a ruler showing centimetre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911" y="534246"/>
            <a:ext cx="4380619" cy="3533699"/>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A closeup of marginalia--a handwritten word which appears to say Feltunia. You can just start to make out a variety of small dots in this magnified image, but they all appear uniform in colou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530" y="2616124"/>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A such high magnification, we can now make out individual dots in cyan, magenta, yellow, and black. This image shows a small selection of dots, and nothing but the dots are visi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4907" y="3687687"/>
            <a:ext cx="3686494" cy="2764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091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RGB </a:t>
            </a:r>
            <a:r>
              <a:rPr lang="tr-TR" b="1" dirty="0" err="1"/>
              <a:t>Color</a:t>
            </a:r>
            <a:r>
              <a:rPr lang="tr-TR" b="1" dirty="0"/>
              <a:t> </a:t>
            </a:r>
            <a:r>
              <a:rPr lang="tr-TR" b="1" dirty="0" smtClean="0"/>
              <a:t>Space</a:t>
            </a:r>
            <a:endParaRPr lang="tr-TR" dirty="0"/>
          </a:p>
        </p:txBody>
      </p:sp>
      <p:sp>
        <p:nvSpPr>
          <p:cNvPr id="3" name="İçerik Yer Tutucusu 2"/>
          <p:cNvSpPr>
            <a:spLocks noGrp="1"/>
          </p:cNvSpPr>
          <p:nvPr>
            <p:ph idx="1"/>
          </p:nvPr>
        </p:nvSpPr>
        <p:spPr>
          <a:xfrm>
            <a:off x="838200" y="1825625"/>
            <a:ext cx="7926238" cy="4351338"/>
          </a:xfrm>
        </p:spPr>
        <p:txBody>
          <a:bodyPr>
            <a:normAutofit/>
          </a:bodyPr>
          <a:lstStyle/>
          <a:p>
            <a:pPr algn="just"/>
            <a:r>
              <a:rPr lang="tr-TR" dirty="0" smtClean="0"/>
              <a:t>RGB renk alanı fikri, gerçekten insan görüşü ilkesine bağlı kalmak ve renkleri, ana renklerin (kırmızı, yeşil ve mavi) herhangi bir miktarının (0'dan 1'e kadar) basit bir toplamı olarak temsil etmektir. </a:t>
            </a:r>
          </a:p>
          <a:p>
            <a:pPr algn="just"/>
            <a:r>
              <a:rPr lang="tr-TR" dirty="0" smtClean="0"/>
              <a:t>Küp köşelerinden ikisi, beyaza (üç ana renk tam miktarda karıştırıldığında) ve siyaha (üç ana renkten hiçbirinin olmaması) karşılık geldiklerinden özeldir. Bu köşeler, tüm renklerin gri (gri tonlama) olduğu bir köşegeni tanımlar. </a:t>
            </a:r>
            <a:endParaRPr lang="tr-TR" dirty="0"/>
          </a:p>
        </p:txBody>
      </p:sp>
      <p:pic>
        <p:nvPicPr>
          <p:cNvPr id="11266" name="Picture 2" descr="https://www.scratchapixel.com/images/upload/color/rgbcub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5288" y="2510631"/>
            <a:ext cx="285750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128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RGB </a:t>
            </a:r>
            <a:r>
              <a:rPr lang="tr-TR" b="1" dirty="0" err="1" smtClean="0"/>
              <a:t>Color</a:t>
            </a:r>
            <a:r>
              <a:rPr lang="tr-TR" b="1" dirty="0" smtClean="0"/>
              <a:t> Space</a:t>
            </a:r>
            <a:endParaRPr lang="tr-TR" dirty="0"/>
          </a:p>
        </p:txBody>
      </p:sp>
      <p:sp>
        <p:nvSpPr>
          <p:cNvPr id="3" name="İçerik Yer Tutucusu 2"/>
          <p:cNvSpPr>
            <a:spLocks noGrp="1"/>
          </p:cNvSpPr>
          <p:nvPr>
            <p:ph idx="1"/>
          </p:nvPr>
        </p:nvSpPr>
        <p:spPr/>
        <p:txBody>
          <a:bodyPr/>
          <a:lstStyle/>
          <a:p>
            <a:pPr algn="just"/>
            <a:r>
              <a:rPr lang="tr-TR" dirty="0" smtClean="0"/>
              <a:t>Son olarak, RGB renk modelinin var olan tek RGB renk alanı türü değildir. Orijinal modeli geliştirmek veya belirli sorunları ele almak için RGB renk uzayıyla aynı prensibe dayanan birkaç başka model önerilmiştir. Örneğin, </a:t>
            </a:r>
            <a:r>
              <a:rPr lang="tr-TR" dirty="0" err="1" smtClean="0"/>
              <a:t>sRGB</a:t>
            </a:r>
            <a:r>
              <a:rPr lang="tr-TR" dirty="0" smtClean="0"/>
              <a:t> renk modeli, parlaklık değişimlerine (doğrusal olmayan) insan görüşünün yanıtını daha iyi temsil etmenin bir yolu olarak orijinal RGB değerlerine bir gama düzeltmesi uygular. </a:t>
            </a:r>
            <a:endParaRPr lang="tr-TR" dirty="0"/>
          </a:p>
        </p:txBody>
      </p:sp>
    </p:spTree>
    <p:extLst>
      <p:ext uri="{BB962C8B-B14F-4D97-AF65-F5344CB8AC3E}">
        <p14:creationId xmlns:p14="http://schemas.microsoft.com/office/powerpoint/2010/main" val="1930963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RGB </a:t>
            </a:r>
            <a:r>
              <a:rPr lang="tr-TR" b="1" dirty="0" err="1" smtClean="0"/>
              <a:t>Color</a:t>
            </a:r>
            <a:r>
              <a:rPr lang="tr-TR" b="1" dirty="0" smtClean="0"/>
              <a:t> Space</a:t>
            </a:r>
            <a:endParaRPr lang="tr-TR" dirty="0"/>
          </a:p>
        </p:txBody>
      </p:sp>
      <p:sp>
        <p:nvSpPr>
          <p:cNvPr id="3" name="İçerik Yer Tutucusu 2"/>
          <p:cNvSpPr>
            <a:spLocks noGrp="1"/>
          </p:cNvSpPr>
          <p:nvPr>
            <p:ph idx="1"/>
          </p:nvPr>
        </p:nvSpPr>
        <p:spPr>
          <a:xfrm>
            <a:off x="838200" y="1825625"/>
            <a:ext cx="7926238" cy="4351338"/>
          </a:xfrm>
        </p:spPr>
        <p:txBody>
          <a:bodyPr/>
          <a:lstStyle/>
          <a:p>
            <a:pPr algn="just"/>
            <a:r>
              <a:rPr lang="tr-TR" dirty="0" smtClean="0"/>
              <a:t>Çoğu bilgisayar ekranı teknolojisi, RGB renk modeline benzer bir sisteme dayanır. Ekrandaki her piksel, biri kırmızı, biri yeşil ve biri mavi olmak üzere üç küçük ışıktan oluşur; bu, üçü de aynı anda açıldığında beyaza dönüşür.</a:t>
            </a:r>
            <a:endParaRPr lang="tr-TR" dirty="0"/>
          </a:p>
        </p:txBody>
      </p:sp>
      <p:pic>
        <p:nvPicPr>
          <p:cNvPr id="13314" name="Picture 2" descr="https://www.scratchapixel.com/images/upload/color/screencloseu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3871" y="2182124"/>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711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RGB</a:t>
            </a:r>
            <a:endParaRPr lang="tr-TR" dirty="0"/>
          </a:p>
        </p:txBody>
      </p:sp>
      <p:pic>
        <p:nvPicPr>
          <p:cNvPr id="4" name="İçerik Yer Tutucusu 3" descr="chap4-3.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03652" y="2048669"/>
            <a:ext cx="5259687" cy="2816629"/>
          </a:xfrm>
          <a:prstGeom prst="rect">
            <a:avLst/>
          </a:prstGeom>
          <a:noFill/>
          <a:ln>
            <a:noFill/>
          </a:ln>
        </p:spPr>
      </p:pic>
      <p:sp>
        <p:nvSpPr>
          <p:cNvPr id="5" name="Dikdörtgen 4"/>
          <p:cNvSpPr/>
          <p:nvPr/>
        </p:nvSpPr>
        <p:spPr>
          <a:xfrm>
            <a:off x="270295" y="2252205"/>
            <a:ext cx="4370716" cy="4421723"/>
          </a:xfrm>
          <a:prstGeom prst="rect">
            <a:avLst/>
          </a:prstGeom>
        </p:spPr>
        <p:txBody>
          <a:bodyPr wrap="square">
            <a:spAutoFit/>
          </a:bodyPr>
          <a:lstStyle/>
          <a:p>
            <a:pPr algn="just">
              <a:lnSpc>
                <a:spcPct val="107000"/>
              </a:lnSpc>
              <a:spcAft>
                <a:spcPts val="800"/>
              </a:spcAft>
            </a:pPr>
            <a:r>
              <a:rPr lang="tr-TR" sz="2400" dirty="0">
                <a:latin typeface="Calibri" panose="020F0502020204030204" pitchFamily="34" charset="0"/>
                <a:ea typeface="Calibri" panose="020F0502020204030204" pitchFamily="34" charset="0"/>
                <a:cs typeface="Times New Roman" panose="02020603050405020304" pitchFamily="18" charset="0"/>
              </a:rPr>
              <a:t>Tek bir pikselde görüntülenebilen farklı renklerin sayısı, bit düzlemlerinin sayısına ve donanımın bu bit düzlemlerini yorumlama kapasitesine bağlıdır. Farklı renklerin sayısı 2</a:t>
            </a:r>
            <a:r>
              <a:rPr lang="tr-TR" sz="2400" baseline="30000" dirty="0">
                <a:latin typeface="Calibri" panose="020F0502020204030204" pitchFamily="34" charset="0"/>
                <a:ea typeface="Calibri" panose="020F0502020204030204" pitchFamily="34" charset="0"/>
                <a:cs typeface="Times New Roman" panose="02020603050405020304" pitchFamily="18" charset="0"/>
              </a:rPr>
              <a:t>n</a:t>
            </a:r>
            <a:r>
              <a:rPr lang="tr-TR" sz="2400" dirty="0">
                <a:latin typeface="Calibri" panose="020F0502020204030204" pitchFamily="34" charset="0"/>
                <a:ea typeface="Calibri" panose="020F0502020204030204" pitchFamily="34" charset="0"/>
                <a:cs typeface="Times New Roman" panose="02020603050405020304" pitchFamily="18" charset="0"/>
              </a:rPr>
              <a:t>'yi geçemez; burada n, bit düzlemlerinin sayısıdır. Böylece, RGB için 24 bit düzlemine sahip bir makine, 16,77 milyona kadar farklı renk görüntüleyebilir.</a:t>
            </a:r>
            <a:endParaRPr lang="tr-T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00572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Titreme</a:t>
            </a:r>
            <a:endParaRPr lang="tr-TR" dirty="0"/>
          </a:p>
        </p:txBody>
      </p:sp>
      <p:sp>
        <p:nvSpPr>
          <p:cNvPr id="3" name="İçerik Yer Tutucusu 2"/>
          <p:cNvSpPr>
            <a:spLocks noGrp="1"/>
          </p:cNvSpPr>
          <p:nvPr>
            <p:ph idx="1"/>
          </p:nvPr>
        </p:nvSpPr>
        <p:spPr/>
        <p:txBody>
          <a:bodyPr>
            <a:normAutofit fontScale="92500" lnSpcReduction="10000"/>
          </a:bodyPr>
          <a:lstStyle/>
          <a:p>
            <a:pPr algn="just"/>
            <a:r>
              <a:rPr lang="tr-TR" dirty="0"/>
              <a:t>Bazı grafik donanımı, görünen renklerin sayısını artırmak için titreme kullanır. Titreme, diğer renklerin etkisini oluşturmak için bazı renklerin kombinasyonlarını kullanma tekniğidir. </a:t>
            </a:r>
            <a:endParaRPr lang="tr-TR" dirty="0" smtClean="0"/>
          </a:p>
          <a:p>
            <a:pPr algn="just"/>
            <a:r>
              <a:rPr lang="tr-TR" dirty="0" smtClean="0"/>
              <a:t>Titreşimin </a:t>
            </a:r>
            <a:r>
              <a:rPr lang="tr-TR" dirty="0"/>
              <a:t>nasıl çalıştığını göstermek için, sisteminizde R, G ve B için yalnızca 1 bit olduğunu ve bu nedenle yalnızca sekiz renk görüntüleyebileceğini varsayalım: </a:t>
            </a:r>
            <a:r>
              <a:rPr lang="tr-TR" b="1" dirty="0"/>
              <a:t>siyah, beyaz, kırmızı, mavi, yeşil, sarı, camgöbeği ve </a:t>
            </a:r>
            <a:r>
              <a:rPr lang="tr-TR" b="1" dirty="0" err="1"/>
              <a:t>macenta</a:t>
            </a:r>
            <a:r>
              <a:rPr lang="tr-TR" dirty="0"/>
              <a:t>. Pembe bir bölgeyi görüntülemek için, donanım, bölgeyi kırmızı ve beyaz pikselleri değiştirerek dama tahtası şeklinde doldurabilir. </a:t>
            </a:r>
            <a:endParaRPr lang="tr-TR" dirty="0" smtClean="0"/>
          </a:p>
          <a:p>
            <a:pPr algn="just"/>
            <a:r>
              <a:rPr lang="tr-TR" dirty="0" smtClean="0"/>
              <a:t>Gözünüz </a:t>
            </a:r>
            <a:r>
              <a:rPr lang="tr-TR" dirty="0"/>
              <a:t>ekrandan tek tek pikselleri ayırt edemeyecek kadar uzaksa, bölge pembe görünür - kırmızı ve beyazın ortalaması. Daha kırmızı pembeler, piksellerin daha yüksek bir kısmının kırmızı ile doldurulmasıyla elde edilebilir, daha beyaz pembeler daha fazla beyaz piksel kullanır, vb.</a:t>
            </a:r>
          </a:p>
        </p:txBody>
      </p:sp>
    </p:spTree>
    <p:extLst>
      <p:ext uri="{BB962C8B-B14F-4D97-AF65-F5344CB8AC3E}">
        <p14:creationId xmlns:p14="http://schemas.microsoft.com/office/powerpoint/2010/main" val="40047541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Titreme</a:t>
            </a:r>
            <a:endParaRPr lang="tr-TR" dirty="0"/>
          </a:p>
        </p:txBody>
      </p:sp>
      <p:pic>
        <p:nvPicPr>
          <p:cNvPr id="4" name="İçerik Yer Tutucusu 3" descr="dither.gif"/>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6604" y="1690688"/>
            <a:ext cx="5726322" cy="3838411"/>
          </a:xfrm>
          <a:prstGeom prst="rect">
            <a:avLst/>
          </a:prstGeom>
          <a:noFill/>
          <a:ln>
            <a:noFill/>
          </a:ln>
        </p:spPr>
      </p:pic>
      <p:sp>
        <p:nvSpPr>
          <p:cNvPr id="5" name="Dikdörtgen 4"/>
          <p:cNvSpPr/>
          <p:nvPr/>
        </p:nvSpPr>
        <p:spPr>
          <a:xfrm>
            <a:off x="571500" y="5943971"/>
            <a:ext cx="11449050" cy="388696"/>
          </a:xfrm>
          <a:prstGeom prst="rect">
            <a:avLst/>
          </a:prstGeom>
        </p:spPr>
        <p:txBody>
          <a:bodyPr wrap="square">
            <a:spAutoFit/>
          </a:bodyPr>
          <a:lstStyle/>
          <a:p>
            <a:pPr algn="just">
              <a:lnSpc>
                <a:spcPct val="107000"/>
              </a:lnSpc>
              <a:spcAft>
                <a:spcPts val="800"/>
              </a:spcAft>
            </a:pPr>
            <a:r>
              <a:rPr lang="tr-TR" dirty="0">
                <a:latin typeface="Calibri" panose="020F0502020204030204" pitchFamily="34" charset="0"/>
                <a:ea typeface="Calibri" panose="020F0502020204030204" pitchFamily="34" charset="0"/>
                <a:cs typeface="Times New Roman" panose="02020603050405020304" pitchFamily="18" charset="0"/>
              </a:rPr>
              <a:t>Titreşimi GL_DITHER öğesini </a:t>
            </a:r>
            <a:r>
              <a:rPr lang="tr-TR" dirty="0" err="1">
                <a:latin typeface="Calibri" panose="020F0502020204030204" pitchFamily="34" charset="0"/>
                <a:ea typeface="Calibri" panose="020F0502020204030204" pitchFamily="34" charset="0"/>
                <a:cs typeface="Times New Roman" panose="02020603050405020304" pitchFamily="18" charset="0"/>
              </a:rPr>
              <a:t>glEnable</a:t>
            </a:r>
            <a:r>
              <a:rPr lang="tr-TR" dirty="0">
                <a:latin typeface="Calibri" panose="020F0502020204030204" pitchFamily="34" charset="0"/>
                <a:ea typeface="Calibri" panose="020F0502020204030204" pitchFamily="34" charset="0"/>
                <a:cs typeface="Times New Roman" panose="02020603050405020304" pitchFamily="18" charset="0"/>
              </a:rPr>
              <a:t> () veya </a:t>
            </a:r>
            <a:r>
              <a:rPr lang="tr-TR" dirty="0" err="1">
                <a:latin typeface="Calibri" panose="020F0502020204030204" pitchFamily="34" charset="0"/>
                <a:ea typeface="Calibri" panose="020F0502020204030204" pitchFamily="34" charset="0"/>
                <a:cs typeface="Times New Roman" panose="02020603050405020304" pitchFamily="18" charset="0"/>
              </a:rPr>
              <a:t>glDisable</a:t>
            </a:r>
            <a:r>
              <a:rPr lang="tr-TR" dirty="0">
                <a:latin typeface="Calibri" panose="020F0502020204030204" pitchFamily="34" charset="0"/>
                <a:ea typeface="Calibri" panose="020F0502020204030204" pitchFamily="34" charset="0"/>
                <a:cs typeface="Times New Roman" panose="02020603050405020304" pitchFamily="18" charset="0"/>
              </a:rPr>
              <a:t> () öğesine ileterek etkinleştirir veya devre dışı bırakırsınız. </a:t>
            </a:r>
            <a:endParaRPr lang="tr-TR"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4490530"/>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2919</Words>
  <Application>Microsoft Office PowerPoint</Application>
  <PresentationFormat>Geniş ekran</PresentationFormat>
  <Paragraphs>141</Paragraphs>
  <Slides>39</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39</vt:i4>
      </vt:variant>
    </vt:vector>
  </HeadingPairs>
  <TitlesOfParts>
    <vt:vector size="46" baseType="lpstr">
      <vt:lpstr>Arial</vt:lpstr>
      <vt:lpstr>Calibri</vt:lpstr>
      <vt:lpstr>Calibri Light</vt:lpstr>
      <vt:lpstr>Courier New</vt:lpstr>
      <vt:lpstr>Helvetica</vt:lpstr>
      <vt:lpstr>Times New Roman</vt:lpstr>
      <vt:lpstr>Office Teması</vt:lpstr>
      <vt:lpstr>Renk Teorisi</vt:lpstr>
      <vt:lpstr>IŞIK</vt:lpstr>
      <vt:lpstr>PowerPoint Sunusu</vt:lpstr>
      <vt:lpstr>Light Spectrum</vt:lpstr>
      <vt:lpstr>Light Spectrum</vt:lpstr>
      <vt:lpstr>Renk Nedir?</vt:lpstr>
      <vt:lpstr>Human Perception System: Photometry</vt:lpstr>
      <vt:lpstr>Tristimulus Theory</vt:lpstr>
      <vt:lpstr>Tristimulus Theory</vt:lpstr>
      <vt:lpstr>Tristimulus teorisinin temel bileşenleri</vt:lpstr>
      <vt:lpstr>Tristimulus Theory</vt:lpstr>
      <vt:lpstr>Spectral Power Distribution</vt:lpstr>
      <vt:lpstr>Sun Spectrum</vt:lpstr>
      <vt:lpstr>Sun Spectrum</vt:lpstr>
      <vt:lpstr>Sun Spectrum</vt:lpstr>
      <vt:lpstr>PowerPoint Sunusu</vt:lpstr>
      <vt:lpstr>Color Rendering Index (CRI or Color Rendetion Index)</vt:lpstr>
      <vt:lpstr>Beyaz nedir? </vt:lpstr>
      <vt:lpstr>IŞIĞIN GÜCÜ</vt:lpstr>
      <vt:lpstr>PowerPoint Sunusu</vt:lpstr>
      <vt:lpstr>What is a Color Space?</vt:lpstr>
      <vt:lpstr>Color Space List</vt:lpstr>
      <vt:lpstr>CIE XYZ Color Model</vt:lpstr>
      <vt:lpstr>CIE XYZ Color Model</vt:lpstr>
      <vt:lpstr>XYZ-RGB dönüşümleri</vt:lpstr>
      <vt:lpstr>YUV</vt:lpstr>
      <vt:lpstr>YUV</vt:lpstr>
      <vt:lpstr>YUV</vt:lpstr>
      <vt:lpstr>YUV - RGB Conversion</vt:lpstr>
      <vt:lpstr>HSV Renk Modeli</vt:lpstr>
      <vt:lpstr>HSV'nin Kullanımları </vt:lpstr>
      <vt:lpstr>CMYK Renk Modeli</vt:lpstr>
      <vt:lpstr>PowerPoint Sunusu</vt:lpstr>
      <vt:lpstr>RGB Color Space</vt:lpstr>
      <vt:lpstr>RGB Color Space</vt:lpstr>
      <vt:lpstr>RGB Color Space</vt:lpstr>
      <vt:lpstr>RGB</vt:lpstr>
      <vt:lpstr>Titreme</vt:lpstr>
      <vt:lpstr>Titreme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c:title>
  <dc:creator>SERPİL</dc:creator>
  <cp:lastModifiedBy>SERPIL USTEBAY</cp:lastModifiedBy>
  <cp:revision>50</cp:revision>
  <dcterms:created xsi:type="dcterms:W3CDTF">2020-10-26T14:44:37Z</dcterms:created>
  <dcterms:modified xsi:type="dcterms:W3CDTF">2024-03-19T06:00:05Z</dcterms:modified>
</cp:coreProperties>
</file>