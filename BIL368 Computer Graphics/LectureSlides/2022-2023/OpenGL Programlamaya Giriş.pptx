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3" r:id="rId3"/>
    <p:sldId id="257" r:id="rId4"/>
    <p:sldId id="261" r:id="rId5"/>
    <p:sldId id="262" r:id="rId6"/>
    <p:sldId id="263" r:id="rId7"/>
    <p:sldId id="258" r:id="rId8"/>
    <p:sldId id="259" r:id="rId9"/>
    <p:sldId id="264" r:id="rId10"/>
    <p:sldId id="265" r:id="rId11"/>
    <p:sldId id="266" r:id="rId12"/>
    <p:sldId id="260" r:id="rId13"/>
    <p:sldId id="267" r:id="rId14"/>
    <p:sldId id="268" r:id="rId15"/>
    <p:sldId id="269" r:id="rId16"/>
    <p:sldId id="272" r:id="rId17"/>
    <p:sldId id="271" r:id="rId18"/>
    <p:sldId id="270" r:id="rId19"/>
    <p:sldId id="273" r:id="rId20"/>
    <p:sldId id="274" r:id="rId21"/>
    <p:sldId id="275" r:id="rId22"/>
    <p:sldId id="295" r:id="rId23"/>
    <p:sldId id="284" r:id="rId24"/>
    <p:sldId id="276" r:id="rId25"/>
    <p:sldId id="277" r:id="rId26"/>
    <p:sldId id="278" r:id="rId27"/>
    <p:sldId id="279" r:id="rId28"/>
    <p:sldId id="280" r:id="rId29"/>
    <p:sldId id="281" r:id="rId30"/>
    <p:sldId id="296" r:id="rId31"/>
    <p:sldId id="297" r:id="rId32"/>
    <p:sldId id="298" r:id="rId33"/>
    <p:sldId id="286" r:id="rId34"/>
    <p:sldId id="287" r:id="rId35"/>
    <p:sldId id="288" r:id="rId36"/>
    <p:sldId id="294" r:id="rId37"/>
    <p:sldId id="290" r:id="rId38"/>
    <p:sldId id="293" r:id="rId39"/>
    <p:sldId id="291" r:id="rId40"/>
    <p:sldId id="292" r:id="rId41"/>
    <p:sldId id="282" r:id="rId42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Orta Stil 2 - Vurgu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Orta Stil 4 - Vurgu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Orta Stil 4 - Vurgu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21E4AEA4-8DFA-4A89-87EB-49C32662AFE0}" styleName="Orta Stil 2 - Vurgu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1091" autoAdjust="0"/>
  </p:normalViewPr>
  <p:slideViewPr>
    <p:cSldViewPr snapToGrid="0">
      <p:cViewPr varScale="1">
        <p:scale>
          <a:sx n="59" d="100"/>
          <a:sy n="59" d="100"/>
        </p:scale>
        <p:origin x="115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 smtClean="0"/>
              <a:t>Asıl alt başlık stilini düzenlemek için tıklayın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9808F-0220-46F4-AC27-55026E2728E9}" type="datetimeFigureOut">
              <a:rPr lang="tr-TR" smtClean="0"/>
              <a:t>17.03.2023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1FD77-B55E-449B-ABF2-142F67D9BF8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86230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9808F-0220-46F4-AC27-55026E2728E9}" type="datetimeFigureOut">
              <a:rPr lang="tr-TR" smtClean="0"/>
              <a:t>17.03.2023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1FD77-B55E-449B-ABF2-142F67D9BF8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738263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9808F-0220-46F4-AC27-55026E2728E9}" type="datetimeFigureOut">
              <a:rPr lang="tr-TR" smtClean="0"/>
              <a:t>17.03.2023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1FD77-B55E-449B-ABF2-142F67D9BF8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39931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9808F-0220-46F4-AC27-55026E2728E9}" type="datetimeFigureOut">
              <a:rPr lang="tr-TR" smtClean="0"/>
              <a:t>17.03.2023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1FD77-B55E-449B-ABF2-142F67D9BF8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509849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Metin Yer Tutucusu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6" name="İçerik Yer Tutucus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7" name="Veri Yer Tutucusu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9808F-0220-46F4-AC27-55026E2728E9}" type="datetimeFigureOut">
              <a:rPr lang="tr-TR" smtClean="0"/>
              <a:t>17.03.2023</a:t>
            </a:fld>
            <a:endParaRPr lang="tr-TR"/>
          </a:p>
        </p:txBody>
      </p:sp>
      <p:sp>
        <p:nvSpPr>
          <p:cNvPr id="8" name="Altbilgi Yer Tutucusu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1FD77-B55E-449B-ABF2-142F67D9BF8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802042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9808F-0220-46F4-AC27-55026E2728E9}" type="datetimeFigureOut">
              <a:rPr lang="tr-TR" smtClean="0"/>
              <a:t>17.03.2023</a:t>
            </a:fld>
            <a:endParaRPr lang="tr-TR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1FD77-B55E-449B-ABF2-142F67D9BF8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402903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9808F-0220-46F4-AC27-55026E2728E9}" type="datetimeFigureOut">
              <a:rPr lang="tr-TR" smtClean="0"/>
              <a:t>17.03.2023</a:t>
            </a:fld>
            <a:endParaRPr lang="tr-TR"/>
          </a:p>
        </p:txBody>
      </p:sp>
      <p:sp>
        <p:nvSpPr>
          <p:cNvPr id="3" name="Altbilgi Yer Tutucusu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1FD77-B55E-449B-ABF2-142F67D9BF8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708587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9808F-0220-46F4-AC27-55026E2728E9}" type="datetimeFigureOut">
              <a:rPr lang="tr-TR" smtClean="0"/>
              <a:t>17.03.2023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1FD77-B55E-449B-ABF2-142F67D9BF8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503644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Resim Yer Tutucusu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9808F-0220-46F4-AC27-55026E2728E9}" type="datetimeFigureOut">
              <a:rPr lang="tr-TR" smtClean="0"/>
              <a:t>17.03.2023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1FD77-B55E-449B-ABF2-142F67D9BF8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664112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9808F-0220-46F4-AC27-55026E2728E9}" type="datetimeFigureOut">
              <a:rPr lang="tr-TR" smtClean="0"/>
              <a:t>17.03.2023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1FD77-B55E-449B-ABF2-142F67D9BF8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513939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9808F-0220-46F4-AC27-55026E2728E9}" type="datetimeFigureOut">
              <a:rPr lang="tr-TR" smtClean="0"/>
              <a:t>17.03.2023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1FD77-B55E-449B-ABF2-142F67D9BF8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902846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E9808F-0220-46F4-AC27-55026E2728E9}" type="datetimeFigureOut">
              <a:rPr lang="tr-TR" smtClean="0"/>
              <a:t>17.03.2023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F1FD77-B55E-449B-ABF2-142F67D9BF8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236288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tr-TR" dirty="0" smtClean="0"/>
              <a:t>OPENGL Giriş</a:t>
            </a:r>
            <a:endParaRPr lang="tr-TR" dirty="0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tr-TR" dirty="0" smtClean="0"/>
              <a:t>Dr. Serpil </a:t>
            </a:r>
            <a:r>
              <a:rPr lang="tr-TR" dirty="0" err="1" smtClean="0"/>
              <a:t>Üstebay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503199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smtClean="0"/>
              <a:t>Bu ders notunun hazırlanmasında kullanılan kaynaklar.</a:t>
            </a:r>
          </a:p>
          <a:p>
            <a:pPr lvl="1"/>
            <a:r>
              <a:rPr lang="tr-TR" b="1" dirty="0" smtClean="0"/>
              <a:t>Dr. </a:t>
            </a:r>
            <a:r>
              <a:rPr lang="tr-TR" b="1" dirty="0" err="1" smtClean="0"/>
              <a:t>Stan</a:t>
            </a:r>
            <a:r>
              <a:rPr lang="tr-TR" b="1" dirty="0" smtClean="0"/>
              <a:t> </a:t>
            </a:r>
            <a:r>
              <a:rPr lang="tr-TR" b="1" dirty="0" err="1"/>
              <a:t>Blank</a:t>
            </a:r>
            <a:r>
              <a:rPr lang="tr-TR" b="1" dirty="0"/>
              <a:t>, Python Programming in </a:t>
            </a:r>
            <a:r>
              <a:rPr lang="tr-TR" b="1" dirty="0" err="1" smtClean="0"/>
              <a:t>OpenGL</a:t>
            </a:r>
            <a:r>
              <a:rPr lang="tr-TR" b="1" dirty="0"/>
              <a:t>:</a:t>
            </a:r>
            <a:r>
              <a:rPr lang="en-US" b="1" dirty="0" smtClean="0"/>
              <a:t>A </a:t>
            </a:r>
            <a:r>
              <a:rPr lang="en-US" b="1" dirty="0"/>
              <a:t>Graphical Approach to </a:t>
            </a:r>
            <a:r>
              <a:rPr lang="en-US" b="1" dirty="0" smtClean="0"/>
              <a:t>Programming</a:t>
            </a:r>
            <a:r>
              <a:rPr lang="tr-TR" b="1" dirty="0" smtClean="0"/>
              <a:t>, Ders notları</a:t>
            </a:r>
          </a:p>
          <a:p>
            <a:pPr lvl="1"/>
            <a:r>
              <a:rPr lang="tr-TR" dirty="0"/>
              <a:t>https://www.khronos.org/opengl/</a:t>
            </a:r>
          </a:p>
        </p:txBody>
      </p:sp>
    </p:spTree>
    <p:extLst>
      <p:ext uri="{BB962C8B-B14F-4D97-AF65-F5344CB8AC3E}">
        <p14:creationId xmlns:p14="http://schemas.microsoft.com/office/powerpoint/2010/main" val="2011299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 smtClean="0"/>
              <a:t>OpenGL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endParaRPr lang="tr-TR" dirty="0" smtClean="0"/>
          </a:p>
          <a:p>
            <a:pPr algn="just"/>
            <a:r>
              <a:rPr lang="tr-TR" dirty="0" err="1" smtClean="0"/>
              <a:t>OpenGL</a:t>
            </a:r>
            <a:r>
              <a:rPr lang="tr-TR" dirty="0"/>
              <a:t>, grafik donanımındaki özelliklere erişmek için </a:t>
            </a:r>
            <a:r>
              <a:rPr lang="tr-TR" dirty="0" smtClean="0"/>
              <a:t>kullanılan ve  </a:t>
            </a:r>
            <a:r>
              <a:rPr lang="tr-TR" dirty="0"/>
              <a:t>yazılım kitaplığı olan bir uygulama programlama </a:t>
            </a:r>
            <a:r>
              <a:rPr lang="tr-TR" dirty="0" err="1"/>
              <a:t>arayüzüdür</a:t>
            </a:r>
            <a:r>
              <a:rPr lang="tr-TR" dirty="0"/>
              <a:t> - kısaca "API". </a:t>
            </a:r>
            <a:endParaRPr lang="tr-TR" dirty="0" smtClean="0"/>
          </a:p>
          <a:p>
            <a:pPr algn="just"/>
            <a:r>
              <a:rPr lang="tr-TR" dirty="0" err="1" smtClean="0"/>
              <a:t>OpenGL</a:t>
            </a:r>
            <a:r>
              <a:rPr lang="tr-TR" dirty="0" smtClean="0"/>
              <a:t> </a:t>
            </a:r>
            <a:r>
              <a:rPr lang="tr-TR" dirty="0"/>
              <a:t>kitaplığının 4.3 sürümü (bu </a:t>
            </a:r>
            <a:r>
              <a:rPr lang="tr-TR" dirty="0" smtClean="0"/>
              <a:t>dersin </a:t>
            </a:r>
            <a:r>
              <a:rPr lang="tr-TR" dirty="0"/>
              <a:t>kapsadığı), </a:t>
            </a:r>
            <a:r>
              <a:rPr lang="tr-TR" dirty="0" smtClean="0"/>
              <a:t>etkileşimli 2B ve 3B </a:t>
            </a:r>
            <a:r>
              <a:rPr lang="tr-TR" dirty="0"/>
              <a:t>üç </a:t>
            </a:r>
            <a:r>
              <a:rPr lang="tr-TR" dirty="0" smtClean="0"/>
              <a:t>bilgisayar </a:t>
            </a:r>
            <a:r>
              <a:rPr lang="tr-TR" dirty="0"/>
              <a:t>grafik uygulamaları oluşturmak için gereken </a:t>
            </a:r>
            <a:r>
              <a:rPr lang="tr-TR" dirty="0" smtClean="0"/>
              <a:t>nesneleri, görüntüleri </a:t>
            </a:r>
            <a:r>
              <a:rPr lang="tr-TR" dirty="0"/>
              <a:t>ve işlemleri belirtmek için kullandığınız 500'den fazla farklı komut içerir</a:t>
            </a:r>
            <a:r>
              <a:rPr lang="tr-TR" dirty="0" smtClean="0"/>
              <a:t>.</a:t>
            </a:r>
            <a:endParaRPr lang="tr-TR" dirty="0"/>
          </a:p>
        </p:txBody>
      </p:sp>
      <p:pic>
        <p:nvPicPr>
          <p:cNvPr id="3074" name="Picture 2" descr="OpenGL.or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3285" y="297656"/>
            <a:ext cx="3312474" cy="1460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404398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err="1"/>
              <a:t>OpenGL</a:t>
            </a:r>
            <a:endParaRPr lang="tr-TR" b="1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tr-TR" dirty="0" err="1"/>
              <a:t>OpenGL</a:t>
            </a:r>
            <a:r>
              <a:rPr lang="tr-TR" dirty="0"/>
              <a:t>, bir bilgisayarın işletim veya </a:t>
            </a:r>
            <a:r>
              <a:rPr lang="tr-TR" dirty="0" err="1"/>
              <a:t>pencereleme</a:t>
            </a:r>
            <a:r>
              <a:rPr lang="tr-TR" dirty="0"/>
              <a:t> sisteminden bağımsız olarak birçok farklı grafik donanım sistemi üzerinde veya tamamen yazılımda (sistemde grafik donanımı yoksa) </a:t>
            </a:r>
            <a:r>
              <a:rPr lang="tr-TR" dirty="0" smtClean="0"/>
              <a:t>uygulanabilen, </a:t>
            </a:r>
            <a:r>
              <a:rPr lang="tr-TR" dirty="0"/>
              <a:t>donanımdan bağımsız bir </a:t>
            </a:r>
            <a:r>
              <a:rPr lang="tr-TR" dirty="0" err="1"/>
              <a:t>arayüz</a:t>
            </a:r>
            <a:r>
              <a:rPr lang="tr-TR" dirty="0"/>
              <a:t> olarak tasarlanmıştır. Bu nedenle, </a:t>
            </a:r>
            <a:r>
              <a:rPr lang="tr-TR" dirty="0" err="1"/>
              <a:t>OpenGL</a:t>
            </a:r>
            <a:r>
              <a:rPr lang="tr-TR" dirty="0"/>
              <a:t>, </a:t>
            </a:r>
            <a:r>
              <a:rPr lang="tr-TR" dirty="0" err="1"/>
              <a:t>pencereleme</a:t>
            </a:r>
            <a:r>
              <a:rPr lang="tr-TR" dirty="0"/>
              <a:t> görevlerini gerçekleştirmek veya kullanıcı girdisini işlemek için işlevler içermez; bunun yerine uygulamanızın, uygulamanın yürütüleceği </a:t>
            </a:r>
            <a:r>
              <a:rPr lang="tr-TR" dirty="0" err="1"/>
              <a:t>pencereleme</a:t>
            </a:r>
            <a:r>
              <a:rPr lang="tr-TR" dirty="0"/>
              <a:t> sistemi tarafından sağlanan olanakları kullanması gerekecektir</a:t>
            </a:r>
            <a:r>
              <a:rPr lang="tr-TR" dirty="0" smtClean="0"/>
              <a:t>.</a:t>
            </a:r>
          </a:p>
          <a:p>
            <a:pPr algn="just"/>
            <a:r>
              <a:rPr lang="tr-TR" dirty="0" smtClean="0"/>
              <a:t> </a:t>
            </a:r>
            <a:r>
              <a:rPr lang="tr-TR" dirty="0"/>
              <a:t>Benzer şekilde </a:t>
            </a:r>
            <a:r>
              <a:rPr lang="tr-TR" dirty="0" err="1"/>
              <a:t>OpenGL</a:t>
            </a:r>
            <a:r>
              <a:rPr lang="tr-TR" dirty="0"/>
              <a:t>, üç boyutlu nesnelerin </a:t>
            </a:r>
            <a:r>
              <a:rPr lang="tr-TR" dirty="0" smtClean="0"/>
              <a:t>modellerini oluşturmak </a:t>
            </a:r>
            <a:r>
              <a:rPr lang="tr-TR" dirty="0"/>
              <a:t>veya görüntü dosyalarını (örneğin JPEG dosyaları gibi) </a:t>
            </a:r>
            <a:r>
              <a:rPr lang="tr-TR" dirty="0" smtClean="0"/>
              <a:t>okumak için </a:t>
            </a:r>
            <a:r>
              <a:rPr lang="tr-TR" dirty="0"/>
              <a:t>herhangi bir </a:t>
            </a:r>
            <a:r>
              <a:rPr lang="tr-TR" dirty="0" smtClean="0"/>
              <a:t>fonksiyonellik </a:t>
            </a:r>
            <a:r>
              <a:rPr lang="tr-TR" dirty="0"/>
              <a:t>sağlamaz. </a:t>
            </a:r>
            <a:r>
              <a:rPr lang="tr-TR" dirty="0" smtClean="0"/>
              <a:t>Üç </a:t>
            </a:r>
            <a:r>
              <a:rPr lang="tr-TR" dirty="0"/>
              <a:t>boyutlu nesnelerinizi küçük bir geometrik ilkellerden - noktalar, çizgiler, üçgenler ve yamalar - oluşturmalısınız.</a:t>
            </a:r>
          </a:p>
        </p:txBody>
      </p:sp>
    </p:spTree>
    <p:extLst>
      <p:ext uri="{BB962C8B-B14F-4D97-AF65-F5344CB8AC3E}">
        <p14:creationId xmlns:p14="http://schemas.microsoft.com/office/powerpoint/2010/main" val="13548612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err="1"/>
              <a:t>OpenGL</a:t>
            </a:r>
            <a:endParaRPr lang="tr-TR" b="1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dirty="0" err="1" smtClean="0"/>
              <a:t>OpenGL</a:t>
            </a:r>
            <a:r>
              <a:rPr lang="tr-TR" dirty="0" smtClean="0"/>
              <a:t> ilk </a:t>
            </a:r>
            <a:r>
              <a:rPr lang="tr-TR" dirty="0"/>
              <a:t>olarak 1994 yılının Temmuz ayında piyasaya sürülen Sürüm 1.0 ile </a:t>
            </a:r>
            <a:r>
              <a:rPr lang="tr-TR" dirty="0" err="1"/>
              <a:t>Silicon</a:t>
            </a:r>
            <a:r>
              <a:rPr lang="tr-TR" dirty="0"/>
              <a:t> Graphics </a:t>
            </a:r>
            <a:r>
              <a:rPr lang="tr-TR" dirty="0" err="1"/>
              <a:t>Computer</a:t>
            </a:r>
            <a:r>
              <a:rPr lang="tr-TR" dirty="0"/>
              <a:t> </a:t>
            </a:r>
            <a:r>
              <a:rPr lang="tr-TR" dirty="0" err="1"/>
              <a:t>Systems'da</a:t>
            </a:r>
            <a:r>
              <a:rPr lang="tr-TR" dirty="0"/>
              <a:t> </a:t>
            </a:r>
            <a:r>
              <a:rPr lang="tr-TR" dirty="0" smtClean="0"/>
              <a:t>geliştirildi.</a:t>
            </a:r>
          </a:p>
          <a:p>
            <a:r>
              <a:rPr lang="tr-TR" dirty="0" err="1" smtClean="0"/>
              <a:t>OpenGL</a:t>
            </a:r>
            <a:r>
              <a:rPr lang="tr-TR" dirty="0" smtClean="0"/>
              <a:t>‘ </a:t>
            </a:r>
            <a:r>
              <a:rPr lang="tr-TR" dirty="0" err="1" smtClean="0"/>
              <a:t>nin</a:t>
            </a:r>
            <a:r>
              <a:rPr lang="tr-TR" dirty="0" smtClean="0"/>
              <a:t> </a:t>
            </a:r>
            <a:r>
              <a:rPr lang="tr-TR" dirty="0"/>
              <a:t>birçok </a:t>
            </a:r>
            <a:r>
              <a:rPr lang="tr-TR" dirty="0" smtClean="0"/>
              <a:t>sürümünü ve uygulamaları basitleştirmek adına </a:t>
            </a:r>
            <a:r>
              <a:rPr lang="tr-TR" dirty="0" err="1" smtClean="0"/>
              <a:t>OpenGL</a:t>
            </a:r>
            <a:r>
              <a:rPr lang="tr-TR" dirty="0" smtClean="0"/>
              <a:t> </a:t>
            </a:r>
            <a:r>
              <a:rPr lang="tr-TR" dirty="0"/>
              <a:t>üzerine inşa edilmiş birçok yazılım </a:t>
            </a:r>
            <a:r>
              <a:rPr lang="tr-TR" dirty="0" smtClean="0"/>
              <a:t>geliştirilmiştir.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6983968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OpenGL</a:t>
            </a:r>
            <a:r>
              <a:rPr lang="tr-TR" dirty="0"/>
              <a:t> </a:t>
            </a:r>
            <a:r>
              <a:rPr lang="tr-TR" dirty="0" err="1"/>
              <a:t>Utility</a:t>
            </a:r>
            <a:r>
              <a:rPr lang="tr-TR" dirty="0"/>
              <a:t> Library (GLU)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tr-TR" dirty="0" smtClean="0"/>
              <a:t>GLU</a:t>
            </a:r>
            <a:r>
              <a:rPr lang="tr-TR" dirty="0"/>
              <a:t>, </a:t>
            </a:r>
            <a:r>
              <a:rPr lang="tr-TR" dirty="0" err="1"/>
              <a:t>OpenGL</a:t>
            </a:r>
            <a:r>
              <a:rPr lang="tr-TR" dirty="0"/>
              <a:t> Hizmet Kitaplığıdır</a:t>
            </a:r>
            <a:r>
              <a:rPr lang="tr-TR" dirty="0" smtClean="0"/>
              <a:t>.</a:t>
            </a:r>
          </a:p>
          <a:p>
            <a:pPr algn="just"/>
            <a:r>
              <a:rPr lang="tr-TR" dirty="0" smtClean="0"/>
              <a:t>GLU</a:t>
            </a:r>
            <a:r>
              <a:rPr lang="tr-TR" dirty="0"/>
              <a:t>, </a:t>
            </a:r>
            <a:r>
              <a:rPr lang="tr-TR" dirty="0" err="1"/>
              <a:t>OpenGL</a:t>
            </a:r>
            <a:r>
              <a:rPr lang="tr-TR" dirty="0"/>
              <a:t> ile birlikte gelir ve düşük seviyeli </a:t>
            </a:r>
            <a:r>
              <a:rPr lang="tr-TR" dirty="0" err="1"/>
              <a:t>OpenGL</a:t>
            </a:r>
            <a:r>
              <a:rPr lang="tr-TR" dirty="0"/>
              <a:t> komutları kullanılarak oluşturulur. Görüntüleme ve projeksiyon matrislerini, </a:t>
            </a:r>
            <a:r>
              <a:rPr lang="tr-TR" dirty="0" err="1"/>
              <a:t>poligonal</a:t>
            </a:r>
            <a:r>
              <a:rPr lang="tr-TR" dirty="0"/>
              <a:t> mozaiklemeyi ve yüzey oluşturmayı ayarlamak için rutinler içerir</a:t>
            </a:r>
          </a:p>
        </p:txBody>
      </p:sp>
    </p:spTree>
    <p:extLst>
      <p:ext uri="{BB962C8B-B14F-4D97-AF65-F5344CB8AC3E}">
        <p14:creationId xmlns:p14="http://schemas.microsoft.com/office/powerpoint/2010/main" val="19434947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OpenGL</a:t>
            </a:r>
            <a:r>
              <a:rPr lang="tr-TR" dirty="0"/>
              <a:t> </a:t>
            </a:r>
            <a:r>
              <a:rPr lang="tr-TR" dirty="0" err="1"/>
              <a:t>Utility</a:t>
            </a:r>
            <a:r>
              <a:rPr lang="tr-TR" dirty="0"/>
              <a:t> Toolkit (GLUT</a:t>
            </a:r>
            <a:r>
              <a:rPr lang="tr-TR" dirty="0" smtClean="0"/>
              <a:t>)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tr-TR" dirty="0" err="1" smtClean="0"/>
              <a:t>OpenGL</a:t>
            </a:r>
            <a:r>
              <a:rPr lang="tr-TR" dirty="0" smtClean="0"/>
              <a:t> çizim komutları basit geometrik yapılar (noktalar, çizgiler ve çokgenler) ile sınırlıdır. </a:t>
            </a:r>
          </a:p>
          <a:p>
            <a:pPr algn="just"/>
            <a:r>
              <a:rPr lang="tr-TR" dirty="0" smtClean="0"/>
              <a:t>Fakat </a:t>
            </a:r>
            <a:r>
              <a:rPr lang="tr-TR" dirty="0" err="1" smtClean="0"/>
              <a:t>OpenGL</a:t>
            </a:r>
            <a:r>
              <a:rPr lang="tr-TR" dirty="0" smtClean="0"/>
              <a:t> </a:t>
            </a:r>
            <a:r>
              <a:rPr lang="tr-TR" dirty="0" err="1" smtClean="0"/>
              <a:t>Utility</a:t>
            </a:r>
            <a:r>
              <a:rPr lang="tr-TR" dirty="0" smtClean="0"/>
              <a:t> Toolkit (GLUT), küre gibi daha karmaşık üç boyutlu nesnelerin geliştirilmesine yardımcı olmak için oluşturulmuştur.( </a:t>
            </a:r>
            <a:r>
              <a:rPr lang="tr-TR" dirty="0" err="1" smtClean="0"/>
              <a:t>torus</a:t>
            </a:r>
            <a:r>
              <a:rPr lang="tr-TR" dirty="0" smtClean="0"/>
              <a:t> ve çaydanlık).</a:t>
            </a:r>
          </a:p>
          <a:p>
            <a:pPr algn="just"/>
            <a:r>
              <a:rPr lang="tr-TR" dirty="0" smtClean="0"/>
              <a:t> GLUT, tam özellikli </a:t>
            </a:r>
            <a:r>
              <a:rPr lang="tr-TR" dirty="0" err="1" smtClean="0"/>
              <a:t>OpenGL</a:t>
            </a:r>
            <a:r>
              <a:rPr lang="tr-TR" dirty="0" smtClean="0"/>
              <a:t> uygulamaları için tatmin edici olmayabilir, ancak </a:t>
            </a:r>
            <a:r>
              <a:rPr lang="tr-TR" dirty="0" err="1" smtClean="0"/>
              <a:t>OpenGL</a:t>
            </a:r>
            <a:r>
              <a:rPr lang="tr-TR" dirty="0" smtClean="0"/>
              <a:t> öğrenmek için yararlı bir başlangıç ​​noktasıdır.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9820622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OpenGL</a:t>
            </a:r>
            <a:r>
              <a:rPr lang="tr-TR" dirty="0"/>
              <a:t> </a:t>
            </a:r>
            <a:r>
              <a:rPr lang="tr-TR" dirty="0" err="1"/>
              <a:t>Utility</a:t>
            </a:r>
            <a:r>
              <a:rPr lang="tr-TR" dirty="0"/>
              <a:t> Toolkit (GLUT)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dirty="0"/>
              <a:t>GLUT, farklı pencere sistemi </a:t>
            </a:r>
            <a:r>
              <a:rPr lang="tr-TR" dirty="0" err="1"/>
              <a:t>API'lerinin</a:t>
            </a:r>
            <a:r>
              <a:rPr lang="tr-TR" dirty="0"/>
              <a:t> karmaşıklıklarını gizlemek için yazılmış, pencere sisteminden bağımsız bir araç setidir</a:t>
            </a:r>
            <a:r>
              <a:rPr lang="tr-TR" dirty="0" smtClean="0"/>
              <a:t>.</a:t>
            </a:r>
          </a:p>
          <a:p>
            <a:r>
              <a:rPr lang="tr-TR" dirty="0" smtClean="0"/>
              <a:t>Kullanımı </a:t>
            </a:r>
            <a:r>
              <a:rPr lang="tr-TR" dirty="0"/>
              <a:t>çok daha kolaydır ve daha </a:t>
            </a:r>
            <a:r>
              <a:rPr lang="tr-TR" dirty="0" smtClean="0"/>
              <a:t>taşınabilirdir ancak GLX kitaplığından çok daha az özelliklidir. </a:t>
            </a:r>
          </a:p>
          <a:p>
            <a:r>
              <a:rPr lang="tr-TR" dirty="0" smtClean="0"/>
              <a:t>Gerçekleştirilen işlevler arasında pencere tanımı, pencere kontrolü ve klavye ve fare girişinin izlenmesi yer alır. </a:t>
            </a:r>
          </a:p>
          <a:p>
            <a:r>
              <a:rPr lang="tr-TR" dirty="0" smtClean="0"/>
              <a:t>GLUT </a:t>
            </a:r>
            <a:r>
              <a:rPr lang="tr-TR" dirty="0"/>
              <a:t>ayrıca açılır menüler oluşturmak için sınırlı desteğe </a:t>
            </a:r>
            <a:r>
              <a:rPr lang="tr-TR" dirty="0" smtClean="0"/>
              <a:t>sahiptir</a:t>
            </a:r>
          </a:p>
          <a:p>
            <a:r>
              <a:rPr lang="tr-TR" dirty="0" smtClean="0"/>
              <a:t>GLUT</a:t>
            </a:r>
            <a:r>
              <a:rPr lang="tr-TR" dirty="0"/>
              <a:t>, </a:t>
            </a:r>
            <a:r>
              <a:rPr lang="tr-TR" dirty="0" err="1"/>
              <a:t>OpenGL</a:t>
            </a:r>
            <a:r>
              <a:rPr lang="tr-TR" dirty="0"/>
              <a:t> Programlama hakkında bilgi edinmeyi ve keşfetmeyi önemli ölçüde kolaylaştırır.</a:t>
            </a:r>
          </a:p>
        </p:txBody>
      </p:sp>
      <p:sp>
        <p:nvSpPr>
          <p:cNvPr id="4" name="Dikdörtgen 3"/>
          <p:cNvSpPr/>
          <p:nvPr/>
        </p:nvSpPr>
        <p:spPr>
          <a:xfrm>
            <a:off x="838200" y="6127234"/>
            <a:ext cx="633845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dirty="0"/>
              <a:t>https://www.opengl.org/resources/libraries/glut/</a:t>
            </a:r>
          </a:p>
        </p:txBody>
      </p:sp>
    </p:spTree>
    <p:extLst>
      <p:ext uri="{BB962C8B-B14F-4D97-AF65-F5344CB8AC3E}">
        <p14:creationId xmlns:p14="http://schemas.microsoft.com/office/powerpoint/2010/main" val="31140385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Higher Level Libraries built on OpenGL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1" dirty="0" smtClean="0"/>
              <a:t>Open </a:t>
            </a:r>
            <a:r>
              <a:rPr lang="tr-TR" b="1" dirty="0" err="1"/>
              <a:t>Inventor</a:t>
            </a:r>
            <a:r>
              <a:rPr lang="tr-TR" b="1" dirty="0"/>
              <a:t> </a:t>
            </a:r>
            <a:r>
              <a:rPr lang="tr-TR" dirty="0"/>
              <a:t>™, Tıp ve Dişçilik, Petrol ve Gaz, Mühendislik alanlarında profesyonel uygulamalar için ticari bir 3D yazılım geliştirme araç setidir (SDK</a:t>
            </a:r>
            <a:r>
              <a:rPr lang="tr-TR" dirty="0" smtClean="0"/>
              <a:t>).</a:t>
            </a:r>
            <a:endParaRPr lang="tr-TR" dirty="0"/>
          </a:p>
          <a:p>
            <a:r>
              <a:rPr lang="tr-TR" dirty="0"/>
              <a:t>Nesne yönelimli </a:t>
            </a:r>
            <a:r>
              <a:rPr lang="tr-TR" dirty="0" err="1"/>
              <a:t>API'si</a:t>
            </a:r>
            <a:r>
              <a:rPr lang="tr-TR" dirty="0"/>
              <a:t>, genişletilebilir mimarisi ve geniş gelişmiş bileşenleri seti, yazılım geliştiricilere 2D / 3D veri görselleştirme ve işleme yeteneklerinin endüstriyel ve bilimsel uygulamalara hızlı entegrasyonu için yüksek seviyeli bir platform sağlar.</a:t>
            </a:r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 rotWithShape="1">
          <a:blip r:embed="rId2"/>
          <a:srcRect l="4213" t="19034" b="7860"/>
          <a:stretch/>
        </p:blipFill>
        <p:spPr>
          <a:xfrm>
            <a:off x="5729122" y="4555671"/>
            <a:ext cx="5396078" cy="2188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13899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Higher Level Libraries built on OpenGL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tr-TR" b="1" dirty="0" err="1"/>
              <a:t>OpenSceneGraph</a:t>
            </a:r>
            <a:r>
              <a:rPr lang="tr-TR" dirty="0"/>
              <a:t>, uygulama geliştiricileri tarafından görsel simülasyon, oyunlar, sanal gerçeklik, bilimsel görselleştirme ve modelleme gibi alanlarda kullanılan açık kaynaklı, yüksek performanslı bir 3B grafik araç takımıdır. </a:t>
            </a:r>
            <a:endParaRPr lang="tr-TR" dirty="0" smtClean="0"/>
          </a:p>
          <a:p>
            <a:pPr algn="just"/>
            <a:r>
              <a:rPr lang="tr-TR" dirty="0" smtClean="0"/>
              <a:t>Tamamen </a:t>
            </a:r>
            <a:r>
              <a:rPr lang="tr-TR" dirty="0"/>
              <a:t>Standart </a:t>
            </a:r>
            <a:r>
              <a:rPr lang="tr-TR" dirty="0" smtClean="0"/>
              <a:t>C++ </a:t>
            </a:r>
            <a:r>
              <a:rPr lang="tr-TR" dirty="0"/>
              <a:t>ve </a:t>
            </a:r>
            <a:r>
              <a:rPr lang="tr-TR" dirty="0" err="1"/>
              <a:t>OpenGL'de</a:t>
            </a:r>
            <a:r>
              <a:rPr lang="tr-TR" dirty="0"/>
              <a:t> </a:t>
            </a:r>
            <a:r>
              <a:rPr lang="tr-TR" dirty="0" smtClean="0"/>
              <a:t>yazılmıştır.</a:t>
            </a:r>
          </a:p>
          <a:p>
            <a:pPr algn="just"/>
            <a:r>
              <a:rPr lang="tr-TR" dirty="0" smtClean="0"/>
              <a:t>Tüm </a:t>
            </a:r>
            <a:r>
              <a:rPr lang="tr-TR" dirty="0"/>
              <a:t>Windows platformlarında, OSX, GNU / Linux, IRIX, </a:t>
            </a:r>
            <a:r>
              <a:rPr lang="tr-TR" dirty="0" err="1"/>
              <a:t>Solaris</a:t>
            </a:r>
            <a:r>
              <a:rPr lang="tr-TR" dirty="0"/>
              <a:t>, HP-</a:t>
            </a:r>
            <a:r>
              <a:rPr lang="tr-TR" dirty="0" err="1"/>
              <a:t>Ux</a:t>
            </a:r>
            <a:r>
              <a:rPr lang="tr-TR" dirty="0"/>
              <a:t>, AIX ve </a:t>
            </a:r>
            <a:r>
              <a:rPr lang="tr-TR" dirty="0" err="1"/>
              <a:t>FreeBSD</a:t>
            </a:r>
            <a:r>
              <a:rPr lang="tr-TR" dirty="0"/>
              <a:t> işletim sistemlerinde çalışır. </a:t>
            </a:r>
            <a:endParaRPr lang="tr-TR" dirty="0" smtClean="0"/>
          </a:p>
          <a:p>
            <a:pPr algn="just"/>
            <a:r>
              <a:rPr lang="tr-TR" dirty="0" err="1" smtClean="0"/>
              <a:t>OpenSceneGraph</a:t>
            </a:r>
            <a:r>
              <a:rPr lang="tr-TR" dirty="0" smtClean="0"/>
              <a:t>, </a:t>
            </a:r>
            <a:r>
              <a:rPr lang="tr-TR" dirty="0"/>
              <a:t>uzay, bilim, petrol-gaz, oyunlar ve sanal gerçeklik endüstrilerinde yaygın olarak kullanılan, dünyanın önde gelen sahne grafiği teknolojisi olarak artık iyice yerleşmiştir.</a:t>
            </a:r>
          </a:p>
        </p:txBody>
      </p:sp>
      <p:sp>
        <p:nvSpPr>
          <p:cNvPr id="4" name="Dikdörtgen 3"/>
          <p:cNvSpPr/>
          <p:nvPr/>
        </p:nvSpPr>
        <p:spPr>
          <a:xfrm>
            <a:off x="955081" y="6127234"/>
            <a:ext cx="33822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dirty="0"/>
              <a:t>http://www.openscenegraph.org/</a:t>
            </a:r>
          </a:p>
        </p:txBody>
      </p:sp>
    </p:spTree>
    <p:extLst>
      <p:ext uri="{BB962C8B-B14F-4D97-AF65-F5344CB8AC3E}">
        <p14:creationId xmlns:p14="http://schemas.microsoft.com/office/powerpoint/2010/main" val="18567203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Higher Level Libraries built on OpenGL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tr-TR" b="1" dirty="0" err="1" smtClean="0"/>
              <a:t>Quesa</a:t>
            </a:r>
            <a:r>
              <a:rPr lang="tr-TR" dirty="0"/>
              <a:t>, </a:t>
            </a:r>
            <a:r>
              <a:rPr lang="tr-TR" dirty="0" err="1"/>
              <a:t>Apple'ın</a:t>
            </a:r>
            <a:r>
              <a:rPr lang="tr-TR" dirty="0"/>
              <a:t> </a:t>
            </a:r>
            <a:r>
              <a:rPr lang="tr-TR" dirty="0" err="1"/>
              <a:t>QuickDraw</a:t>
            </a:r>
            <a:r>
              <a:rPr lang="tr-TR" dirty="0"/>
              <a:t> ™ 3D </a:t>
            </a:r>
            <a:r>
              <a:rPr lang="tr-TR" dirty="0" err="1"/>
              <a:t>API'si</a:t>
            </a:r>
            <a:r>
              <a:rPr lang="tr-TR" dirty="0"/>
              <a:t> ile ikili ve kaynak seviyesinde uyumluluk sunan, LGPL altında Açık Kaynak olarak yayınlanan yüksek seviyeli bir 3D grafik kütüphanesidir. </a:t>
            </a:r>
            <a:r>
              <a:rPr lang="tr-TR" dirty="0" err="1"/>
              <a:t>Quesa</a:t>
            </a:r>
            <a:r>
              <a:rPr lang="tr-TR" dirty="0"/>
              <a:t>, herhangi bir Apple kaynak kodu içermez ve </a:t>
            </a:r>
            <a:r>
              <a:rPr lang="tr-TR" dirty="0" err="1"/>
              <a:t>Apple'ın</a:t>
            </a:r>
            <a:r>
              <a:rPr lang="tr-TR" dirty="0"/>
              <a:t> QD3D uygulamasına erişim olmadan geliştirilmiştir.</a:t>
            </a:r>
          </a:p>
          <a:p>
            <a:pPr algn="just"/>
            <a:r>
              <a:rPr lang="tr-TR" dirty="0" err="1" smtClean="0"/>
              <a:t>Quesa</a:t>
            </a:r>
            <a:r>
              <a:rPr lang="tr-TR" dirty="0"/>
              <a:t>, </a:t>
            </a:r>
            <a:r>
              <a:rPr lang="tr-TR" dirty="0" err="1"/>
              <a:t>OpenGL</a:t>
            </a:r>
            <a:r>
              <a:rPr lang="tr-TR" dirty="0"/>
              <a:t> veya Direct 3D gibi daha düşük seviyeli </a:t>
            </a:r>
            <a:r>
              <a:rPr lang="tr-TR" dirty="0" err="1"/>
              <a:t>API'lerin</a:t>
            </a:r>
            <a:r>
              <a:rPr lang="tr-TR" dirty="0"/>
              <a:t> üzerinde bir sahne grafiği görevi görür.</a:t>
            </a:r>
          </a:p>
        </p:txBody>
      </p:sp>
      <p:sp>
        <p:nvSpPr>
          <p:cNvPr id="4" name="Dikdörtgen 3"/>
          <p:cNvSpPr/>
          <p:nvPr/>
        </p:nvSpPr>
        <p:spPr>
          <a:xfrm>
            <a:off x="457199" y="5988734"/>
            <a:ext cx="671945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dirty="0"/>
              <a:t>http://www.designcommunity.com/quesa/info/screenshots.html</a:t>
            </a:r>
          </a:p>
        </p:txBody>
      </p:sp>
    </p:spTree>
    <p:extLst>
      <p:ext uri="{BB962C8B-B14F-4D97-AF65-F5344CB8AC3E}">
        <p14:creationId xmlns:p14="http://schemas.microsoft.com/office/powerpoint/2010/main" val="2969782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OpenGL</a:t>
            </a:r>
            <a:r>
              <a:rPr lang="tr-TR" dirty="0"/>
              <a:t> </a:t>
            </a:r>
            <a:r>
              <a:rPr lang="tr-TR" dirty="0" smtClean="0"/>
              <a:t>ES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tr-TR" dirty="0" err="1"/>
              <a:t>OpenGL</a:t>
            </a:r>
            <a:r>
              <a:rPr lang="tr-TR" dirty="0"/>
              <a:t>® ES, konsollar, telefonlar, cihazlar ve araçlar dahil olmak üzere gömülü ve mobil </a:t>
            </a:r>
            <a:r>
              <a:rPr lang="tr-TR" dirty="0" smtClean="0"/>
              <a:t>sistemler için 2D </a:t>
            </a:r>
            <a:r>
              <a:rPr lang="tr-TR" dirty="0"/>
              <a:t>ve 3D grafikleri işlemek </a:t>
            </a:r>
            <a:r>
              <a:rPr lang="tr-TR" dirty="0" smtClean="0"/>
              <a:t>için geliştirilmiş </a:t>
            </a:r>
            <a:r>
              <a:rPr lang="tr-TR" dirty="0"/>
              <a:t>telifsiz, çapraz platform </a:t>
            </a:r>
            <a:r>
              <a:rPr lang="tr-TR" dirty="0" smtClean="0"/>
              <a:t>API‘ </a:t>
            </a:r>
            <a:r>
              <a:rPr lang="tr-TR" dirty="0" err="1" smtClean="0"/>
              <a:t>sidir</a:t>
            </a:r>
            <a:r>
              <a:rPr lang="tr-TR" dirty="0"/>
              <a:t>. </a:t>
            </a:r>
            <a:endParaRPr lang="tr-TR" dirty="0" smtClean="0"/>
          </a:p>
          <a:p>
            <a:pPr algn="just"/>
            <a:r>
              <a:rPr lang="tr-TR" dirty="0" smtClean="0"/>
              <a:t>Düşük </a:t>
            </a:r>
            <a:r>
              <a:rPr lang="tr-TR" dirty="0"/>
              <a:t>güçlü cihazlar için uygun, iyi tanımlanmış bir masaüstü </a:t>
            </a:r>
            <a:r>
              <a:rPr lang="tr-TR" dirty="0" err="1"/>
              <a:t>OpenGL</a:t>
            </a:r>
            <a:r>
              <a:rPr lang="tr-TR" dirty="0"/>
              <a:t> alt kümesinden oluşur ve yazılım ile grafik hızlandırma donanımı arasında esnek ve güçlü bir </a:t>
            </a:r>
            <a:r>
              <a:rPr lang="tr-TR" dirty="0" err="1"/>
              <a:t>arayüz</a:t>
            </a:r>
            <a:r>
              <a:rPr lang="tr-TR" dirty="0"/>
              <a:t> sağlar</a:t>
            </a:r>
            <a:r>
              <a:rPr lang="tr-TR" dirty="0" smtClean="0"/>
              <a:t>.</a:t>
            </a:r>
            <a:r>
              <a:rPr lang="tr-TR" dirty="0"/>
              <a:t> </a:t>
            </a:r>
          </a:p>
          <a:p>
            <a:pPr algn="just"/>
            <a:endParaRPr lang="tr-TR" dirty="0" smtClean="0"/>
          </a:p>
          <a:p>
            <a:pPr algn="just"/>
            <a:endParaRPr lang="tr-TR" dirty="0"/>
          </a:p>
        </p:txBody>
      </p:sp>
      <p:pic>
        <p:nvPicPr>
          <p:cNvPr id="1026" name="Picture 2" descr="OpenGL E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4775" y="670718"/>
            <a:ext cx="2143125" cy="714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Tablo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5205330"/>
              </p:ext>
            </p:extLst>
          </p:nvPr>
        </p:nvGraphicFramePr>
        <p:xfrm>
          <a:off x="1533236" y="4668211"/>
          <a:ext cx="8128000" cy="201168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775903515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822211825"/>
                    </a:ext>
                  </a:extLst>
                </a:gridCol>
              </a:tblGrid>
              <a:tr h="1827407">
                <a:tc>
                  <a:txBody>
                    <a:bodyPr/>
                    <a:lstStyle/>
                    <a:p>
                      <a:r>
                        <a:rPr lang="tr-TR" dirty="0" smtClean="0"/>
                        <a:t>AMD</a:t>
                      </a:r>
                    </a:p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  <a:defRPr/>
                      </a:pPr>
                      <a:r>
                        <a:rPr lang="tr-TR" dirty="0" smtClean="0"/>
                        <a:t>Ericsson</a:t>
                      </a:r>
                    </a:p>
                    <a:p>
                      <a:r>
                        <a:rPr lang="tr-TR" dirty="0" smtClean="0"/>
                        <a:t>Google, </a:t>
                      </a:r>
                      <a:r>
                        <a:rPr lang="tr-TR" dirty="0" err="1" smtClean="0"/>
                        <a:t>Inc</a:t>
                      </a:r>
                      <a:r>
                        <a:rPr lang="tr-TR" dirty="0" smtClean="0"/>
                        <a:t>.</a:t>
                      </a:r>
                    </a:p>
                    <a:p>
                      <a:r>
                        <a:rPr lang="tr-TR" dirty="0" err="1" smtClean="0"/>
                        <a:t>Fujitsu</a:t>
                      </a:r>
                      <a:r>
                        <a:rPr lang="tr-TR" dirty="0" smtClean="0"/>
                        <a:t> Limited</a:t>
                      </a:r>
                    </a:p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  <a:defRPr/>
                      </a:pPr>
                      <a:r>
                        <a:rPr lang="tr-TR" dirty="0" smtClean="0"/>
                        <a:t>Apple, </a:t>
                      </a:r>
                      <a:r>
                        <a:rPr lang="tr-TR" dirty="0" err="1" smtClean="0"/>
                        <a:t>Inc</a:t>
                      </a:r>
                      <a:r>
                        <a:rPr lang="tr-TR" dirty="0" smtClean="0"/>
                        <a:t>.</a:t>
                      </a:r>
                    </a:p>
                    <a:p>
                      <a:r>
                        <a:rPr lang="tr-TR" dirty="0" err="1" smtClean="0"/>
                        <a:t>Samsung</a:t>
                      </a:r>
                      <a:r>
                        <a:rPr lang="tr-TR" dirty="0" smtClean="0"/>
                        <a:t> </a:t>
                      </a:r>
                      <a:r>
                        <a:rPr lang="tr-TR" dirty="0" err="1" smtClean="0"/>
                        <a:t>Electronics</a:t>
                      </a:r>
                      <a:endParaRPr lang="tr-TR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 err="1" smtClean="0"/>
                        <a:t>NexusChips</a:t>
                      </a:r>
                      <a:r>
                        <a:rPr lang="tr-TR" dirty="0" smtClean="0"/>
                        <a:t> </a:t>
                      </a:r>
                      <a:r>
                        <a:rPr lang="tr-TR" dirty="0" err="1" smtClean="0"/>
                        <a:t>Co</a:t>
                      </a:r>
                      <a:r>
                        <a:rPr lang="tr-TR" dirty="0" smtClean="0"/>
                        <a:t>., Ltd.</a:t>
                      </a:r>
                    </a:p>
                    <a:p>
                      <a:r>
                        <a:rPr lang="tr-TR" dirty="0" smtClean="0"/>
                        <a:t>NVIDIA</a:t>
                      </a:r>
                    </a:p>
                    <a:p>
                      <a:r>
                        <a:rPr lang="tr-TR" dirty="0" smtClean="0"/>
                        <a:t>NOKIA OYJ</a:t>
                      </a:r>
                    </a:p>
                    <a:p>
                      <a:r>
                        <a:rPr lang="tr-TR" dirty="0" err="1" smtClean="0"/>
                        <a:t>MediaTek</a:t>
                      </a:r>
                      <a:r>
                        <a:rPr lang="tr-TR" dirty="0" smtClean="0"/>
                        <a:t> </a:t>
                      </a:r>
                      <a:r>
                        <a:rPr lang="tr-TR" dirty="0" err="1" smtClean="0"/>
                        <a:t>Inc</a:t>
                      </a:r>
                      <a:endParaRPr lang="tr-TR" dirty="0" smtClean="0"/>
                    </a:p>
                    <a:p>
                      <a:r>
                        <a:rPr lang="tr-TR" dirty="0" err="1" smtClean="0"/>
                        <a:t>Marvell</a:t>
                      </a:r>
                      <a:endParaRPr lang="tr-TR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dirty="0" err="1" smtClean="0"/>
                        <a:t>Raspberry</a:t>
                      </a:r>
                      <a:r>
                        <a:rPr lang="tr-TR" dirty="0" smtClean="0"/>
                        <a:t> PI </a:t>
                      </a:r>
                      <a:r>
                        <a:rPr lang="tr-TR" dirty="0" err="1" smtClean="0"/>
                        <a:t>Ltd</a:t>
                      </a:r>
                      <a:endParaRPr lang="tr-TR" dirty="0" smtClean="0"/>
                    </a:p>
                    <a:p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02767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11670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WebGL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tr-TR" dirty="0" err="1" smtClean="0"/>
              <a:t>WebGL</a:t>
            </a:r>
            <a:r>
              <a:rPr lang="tr-TR" dirty="0"/>
              <a:t>, HTML5 </a:t>
            </a:r>
            <a:r>
              <a:rPr lang="tr-TR" dirty="0" err="1"/>
              <a:t>Canvas</a:t>
            </a:r>
            <a:r>
              <a:rPr lang="tr-TR" dirty="0"/>
              <a:t> öğesi </a:t>
            </a:r>
            <a:r>
              <a:rPr lang="tr-TR" dirty="0" smtClean="0"/>
              <a:t>aracılığıyla, </a:t>
            </a:r>
            <a:r>
              <a:rPr lang="tr-TR" dirty="0" err="1"/>
              <a:t>OpenGL</a:t>
            </a:r>
            <a:r>
              <a:rPr lang="tr-TR" dirty="0"/>
              <a:t> ES tabanlı düşük seviyeli bir 3D grafik </a:t>
            </a:r>
            <a:r>
              <a:rPr lang="tr-TR" dirty="0" err="1"/>
              <a:t>API'si</a:t>
            </a:r>
            <a:r>
              <a:rPr lang="tr-TR" dirty="0"/>
              <a:t> için çapraz platformlu, telifsiz bir web standardıdır. </a:t>
            </a:r>
          </a:p>
          <a:p>
            <a:pPr algn="just"/>
            <a:r>
              <a:rPr lang="tr-TR" dirty="0" err="1"/>
              <a:t>WebGL</a:t>
            </a:r>
            <a:r>
              <a:rPr lang="tr-TR" dirty="0"/>
              <a:t>, tarayıcıya doğrudan uygulanan eklentisiz 3B'yi </a:t>
            </a:r>
            <a:r>
              <a:rPr lang="tr-TR" dirty="0" err="1"/>
              <a:t>web'e</a:t>
            </a:r>
            <a:r>
              <a:rPr lang="tr-TR" dirty="0"/>
              <a:t> getirir. Başlıca tarayıcı satıcıları Apple (Safari), Google (</a:t>
            </a:r>
            <a:r>
              <a:rPr lang="tr-TR" dirty="0" err="1"/>
              <a:t>Chrome</a:t>
            </a:r>
            <a:r>
              <a:rPr lang="tr-TR" dirty="0"/>
              <a:t>), Microsoft (</a:t>
            </a:r>
            <a:r>
              <a:rPr lang="tr-TR" dirty="0" err="1"/>
              <a:t>Edge</a:t>
            </a:r>
            <a:r>
              <a:rPr lang="tr-TR" dirty="0"/>
              <a:t>) ve </a:t>
            </a:r>
            <a:r>
              <a:rPr lang="tr-TR" dirty="0" err="1"/>
              <a:t>Mozilla</a:t>
            </a:r>
            <a:r>
              <a:rPr lang="tr-TR" dirty="0"/>
              <a:t> (</a:t>
            </a:r>
            <a:r>
              <a:rPr lang="tr-TR" dirty="0" err="1"/>
              <a:t>Firefox</a:t>
            </a:r>
            <a:r>
              <a:rPr lang="tr-TR" dirty="0"/>
              <a:t>) </a:t>
            </a:r>
            <a:r>
              <a:rPr lang="tr-TR" dirty="0" err="1"/>
              <a:t>WebGL</a:t>
            </a:r>
            <a:r>
              <a:rPr lang="tr-TR" dirty="0"/>
              <a:t> Çalışma Grubu üyeleridir.</a:t>
            </a:r>
          </a:p>
        </p:txBody>
      </p:sp>
      <p:pic>
        <p:nvPicPr>
          <p:cNvPr id="2050" name="Picture 2" descr="WebGL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20703" y="670718"/>
            <a:ext cx="2447928" cy="10199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131179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İlk </a:t>
            </a:r>
            <a:r>
              <a:rPr lang="tr-TR" dirty="0" err="1" smtClean="0"/>
              <a:t>OpenGL</a:t>
            </a:r>
            <a:r>
              <a:rPr lang="tr-TR" dirty="0" smtClean="0"/>
              <a:t> uygulaması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smtClean="0"/>
              <a:t>1. adım: Gerekli kütüphaneleri ekleyelim</a:t>
            </a:r>
          </a:p>
          <a:p>
            <a:endParaRPr lang="tr-TR" dirty="0"/>
          </a:p>
          <a:p>
            <a:endParaRPr lang="tr-TR" dirty="0" smtClean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1662546" y="2523967"/>
            <a:ext cx="6899563" cy="175432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3600" b="1" i="0" u="none" strike="noStrike" cap="none" normalizeH="0" baseline="0" dirty="0" err="1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kumimoji="0" lang="tr-TR" altLang="tr-TR" sz="36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tr-TR" altLang="tr-TR" sz="36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OpenGL.GLUT</a:t>
            </a:r>
            <a:r>
              <a:rPr kumimoji="0" lang="tr-TR" altLang="tr-TR" sz="3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tr-TR" altLang="tr-TR" sz="3600" b="1" i="0" u="none" strike="noStrike" cap="none" normalizeH="0" baseline="0" dirty="0" err="1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kumimoji="0" lang="tr-TR" altLang="tr-TR" sz="36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tr-TR" altLang="tr-TR" sz="3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br>
              <a:rPr kumimoji="0" lang="tr-TR" altLang="tr-TR" sz="3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tr-TR" altLang="tr-TR" sz="3600" b="1" i="0" u="none" strike="noStrike" cap="none" normalizeH="0" baseline="0" dirty="0" err="1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kumimoji="0" lang="tr-TR" altLang="tr-TR" sz="36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tr-TR" altLang="tr-TR" sz="3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OpenGL.GL </a:t>
            </a:r>
            <a:r>
              <a:rPr kumimoji="0" lang="tr-TR" altLang="tr-TR" sz="3600" b="1" i="0" u="none" strike="noStrike" cap="none" normalizeH="0" baseline="0" dirty="0" err="1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kumimoji="0" lang="tr-TR" altLang="tr-TR" sz="36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tr-TR" altLang="tr-TR" sz="3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tr-TR" altLang="tr-TR" sz="3600" b="1" dirty="0" err="1">
                <a:solidFill>
                  <a:srgbClr val="000080"/>
                </a:solidFill>
                <a:latin typeface="Consolas" panose="020B0609020204030204" pitchFamily="49" charset="0"/>
              </a:rPr>
              <a:t>import</a:t>
            </a:r>
            <a:r>
              <a:rPr lang="tr-TR" altLang="tr-TR" sz="3600" dirty="0">
                <a:latin typeface="Arial" panose="020B0604020202020204" pitchFamily="34" charset="0"/>
              </a:rPr>
              <a:t> </a:t>
            </a:r>
            <a:r>
              <a:rPr lang="tr-TR" altLang="tr-TR" sz="3600" dirty="0" err="1">
                <a:latin typeface="Arial" panose="020B0604020202020204" pitchFamily="34" charset="0"/>
              </a:rPr>
              <a:t>sys</a:t>
            </a:r>
            <a:endParaRPr kumimoji="0" lang="tr-TR" altLang="tr-TR" sz="3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00143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10702"/>
          </a:xfrm>
        </p:spPr>
        <p:txBody>
          <a:bodyPr>
            <a:normAutofit fontScale="92500" lnSpcReduction="20000"/>
          </a:bodyPr>
          <a:lstStyle/>
          <a:p>
            <a:r>
              <a:rPr lang="tr-TR" dirty="0" smtClean="0"/>
              <a:t>2. adım: Çizdirilecek nesneyi tanımlayalım.</a:t>
            </a:r>
          </a:p>
          <a:p>
            <a:endParaRPr lang="tr-TR" dirty="0"/>
          </a:p>
          <a:p>
            <a:endParaRPr lang="tr-TR" dirty="0" smtClean="0"/>
          </a:p>
          <a:p>
            <a:endParaRPr lang="tr-TR" dirty="0"/>
          </a:p>
          <a:p>
            <a:endParaRPr lang="tr-TR" dirty="0" smtClean="0"/>
          </a:p>
          <a:p>
            <a:endParaRPr lang="tr-TR" dirty="0"/>
          </a:p>
          <a:p>
            <a:endParaRPr lang="tr-TR" dirty="0" smtClean="0"/>
          </a:p>
          <a:p>
            <a:endParaRPr lang="tr-TR" dirty="0" smtClean="0"/>
          </a:p>
          <a:p>
            <a:r>
              <a:rPr lang="tr-TR" dirty="0" err="1" smtClean="0"/>
              <a:t>gl</a:t>
            </a:r>
            <a:r>
              <a:rPr lang="tr-TR" dirty="0" smtClean="0"/>
              <a:t> ile başlayan komutlar </a:t>
            </a:r>
            <a:r>
              <a:rPr lang="tr-TR" dirty="0" err="1" smtClean="0"/>
              <a:t>OpenGL</a:t>
            </a:r>
            <a:r>
              <a:rPr lang="tr-TR" dirty="0" smtClean="0"/>
              <a:t> </a:t>
            </a:r>
          </a:p>
          <a:p>
            <a:r>
              <a:rPr lang="tr-TR" dirty="0" err="1" smtClean="0"/>
              <a:t>glu</a:t>
            </a:r>
            <a:r>
              <a:rPr lang="tr-TR" dirty="0" smtClean="0"/>
              <a:t> ile başlayan komutlar GLU kütüphanesinin</a:t>
            </a:r>
          </a:p>
          <a:p>
            <a:r>
              <a:rPr lang="tr-TR" dirty="0" err="1" smtClean="0"/>
              <a:t>glut</a:t>
            </a:r>
            <a:r>
              <a:rPr lang="tr-TR" dirty="0" smtClean="0"/>
              <a:t> ile başlayan komutlar GLUT kütüphanesine aittir</a:t>
            </a:r>
          </a:p>
          <a:p>
            <a:endParaRPr lang="tr-TR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1149928" y="2845981"/>
            <a:ext cx="4719562" cy="138499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28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kumimoji="0" lang="tr-TR" altLang="tr-TR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nesnem():</a:t>
            </a:r>
            <a:br>
              <a:rPr kumimoji="0" lang="tr-TR" altLang="tr-TR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tr-TR" altLang="tr-TR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tr-TR" altLang="tr-TR" sz="28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glutWireTeapot</a:t>
            </a:r>
            <a:r>
              <a:rPr kumimoji="0" lang="tr-TR" altLang="tr-TR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tr-TR" altLang="tr-TR" sz="28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0.5</a:t>
            </a:r>
            <a:r>
              <a:rPr kumimoji="0" lang="tr-TR" altLang="tr-TR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tr-TR" altLang="tr-TR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tr-TR" altLang="tr-TR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tr-TR" altLang="tr-TR" sz="28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glFlush</a:t>
            </a:r>
            <a:r>
              <a:rPr kumimoji="0" lang="tr-TR" altLang="tr-TR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</p:txBody>
      </p:sp>
      <p:sp>
        <p:nvSpPr>
          <p:cNvPr id="5" name="Dikdörtgen 4"/>
          <p:cNvSpPr/>
          <p:nvPr/>
        </p:nvSpPr>
        <p:spPr>
          <a:xfrm>
            <a:off x="7696916" y="3349854"/>
            <a:ext cx="3491346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/>
              <a:t>"flushes«</a:t>
            </a:r>
            <a:r>
              <a:rPr lang="tr-TR" dirty="0" smtClean="0"/>
              <a:t> </a:t>
            </a:r>
            <a:r>
              <a:rPr lang="en-US" dirty="0" smtClean="0"/>
              <a:t> </a:t>
            </a:r>
            <a:r>
              <a:rPr lang="en-US" dirty="0"/>
              <a:t>the drawing to the screen </a:t>
            </a:r>
            <a:r>
              <a:rPr lang="en-US" dirty="0" smtClean="0"/>
              <a:t>so</a:t>
            </a:r>
            <a:r>
              <a:rPr lang="tr-TR" dirty="0" smtClean="0"/>
              <a:t> </a:t>
            </a:r>
            <a:r>
              <a:rPr lang="en-US" dirty="0" smtClean="0"/>
              <a:t>we </a:t>
            </a:r>
            <a:r>
              <a:rPr lang="en-US" dirty="0"/>
              <a:t>can see it. </a:t>
            </a:r>
            <a:endParaRPr lang="tr-TR" dirty="0"/>
          </a:p>
        </p:txBody>
      </p:sp>
      <p:sp>
        <p:nvSpPr>
          <p:cNvPr id="6" name="Sağ Ok 5"/>
          <p:cNvSpPr/>
          <p:nvPr/>
        </p:nvSpPr>
        <p:spPr>
          <a:xfrm>
            <a:off x="4723027" y="3995678"/>
            <a:ext cx="2396836" cy="18010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656947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tr-TR" dirty="0" smtClean="0"/>
              <a:t>3. adım: İşletim sistemine grafik çizdireceğimizi belirtmemiz lazım. </a:t>
            </a:r>
          </a:p>
          <a:p>
            <a:endParaRPr lang="tr-TR" dirty="0"/>
          </a:p>
          <a:p>
            <a:endParaRPr lang="tr-TR" dirty="0" smtClean="0"/>
          </a:p>
          <a:p>
            <a:endParaRPr lang="tr-TR" dirty="0"/>
          </a:p>
          <a:p>
            <a:endParaRPr lang="tr-TR" dirty="0" smtClean="0"/>
          </a:p>
          <a:p>
            <a:pPr algn="just"/>
            <a:r>
              <a:rPr lang="tr-TR" dirty="0"/>
              <a:t>İlk satır, </a:t>
            </a:r>
            <a:r>
              <a:rPr lang="tr-TR" dirty="0" err="1"/>
              <a:t>glutInit</a:t>
            </a:r>
            <a:r>
              <a:rPr lang="tr-TR" dirty="0"/>
              <a:t> (</a:t>
            </a:r>
            <a:r>
              <a:rPr lang="tr-TR" dirty="0" err="1"/>
              <a:t>sys.argv</a:t>
            </a:r>
            <a:r>
              <a:rPr lang="tr-TR" dirty="0"/>
              <a:t>) </a:t>
            </a:r>
            <a:r>
              <a:rPr lang="tr-TR" dirty="0" err="1"/>
              <a:t>Python'a</a:t>
            </a:r>
            <a:r>
              <a:rPr lang="tr-TR" dirty="0"/>
              <a:t> GLUT tarzı </a:t>
            </a:r>
            <a:r>
              <a:rPr lang="tr-TR" dirty="0" smtClean="0"/>
              <a:t>grafikleri görüntüleneceğini </a:t>
            </a:r>
            <a:r>
              <a:rPr lang="tr-TR" dirty="0"/>
              <a:t>söyler. GLUT, "GL Utilities Toolkit" anlamına gelir ve çapraz platform (</a:t>
            </a:r>
            <a:r>
              <a:rPr lang="tr-TR" dirty="0" err="1"/>
              <a:t>linux-windows-mac</a:t>
            </a:r>
            <a:r>
              <a:rPr lang="tr-TR" dirty="0"/>
              <a:t>) arka plan hesaplamaları sağlar ve bu kodu kendimiz yazmamız gerekenden ÇOK daha kolay grafik yapma işini yapar. Başka bir deyişle, burada bir LOT "perde arkasında" devam ediyor </a:t>
            </a:r>
            <a:r>
              <a:rPr lang="tr-TR" dirty="0" smtClean="0"/>
              <a:t>ve bu ayrıntılar ile ilgileniyor</a:t>
            </a:r>
            <a:r>
              <a:rPr lang="tr-TR" dirty="0"/>
              <a:t>. </a:t>
            </a:r>
          </a:p>
          <a:p>
            <a:endParaRPr lang="tr-TR" dirty="0"/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1370187" y="2516318"/>
            <a:ext cx="9451626" cy="107721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32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glutInit</a:t>
            </a:r>
            <a:r>
              <a:rPr kumimoji="0" lang="tr-TR" altLang="tr-TR" sz="3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tr-TR" altLang="tr-TR" sz="32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sys.argv</a:t>
            </a:r>
            <a:r>
              <a:rPr kumimoji="0" lang="tr-TR" altLang="tr-TR" sz="3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tr-TR" altLang="tr-TR" sz="3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tr-TR" altLang="tr-TR" sz="32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glutInitDisplayMode</a:t>
            </a:r>
            <a:r>
              <a:rPr kumimoji="0" lang="tr-TR" altLang="tr-TR" sz="3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(GLUT_SINGLE|GLUT_RGB)</a:t>
            </a:r>
            <a:endParaRPr kumimoji="0" lang="tr-TR" altLang="tr-TR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4306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dirty="0" smtClean="0"/>
              <a:t>Bir </a:t>
            </a:r>
            <a:r>
              <a:rPr lang="tr-TR" dirty="0"/>
              <a:t>sonraki satır, </a:t>
            </a:r>
            <a:r>
              <a:rPr lang="tr-TR" dirty="0" err="1"/>
              <a:t>glutInitDisplayMode</a:t>
            </a:r>
            <a:r>
              <a:rPr lang="tr-TR" dirty="0"/>
              <a:t> (GLUT_SINGLE | GLUT_RGB), grafik "sihirbazına" tek bir ekran (tampon) kullanacağımızı ve RGB (kırmızı, yeşil, mavi) renk şemasını kullanacağımızı söyler.</a:t>
            </a:r>
          </a:p>
        </p:txBody>
      </p:sp>
    </p:spTree>
    <p:extLst>
      <p:ext uri="{BB962C8B-B14F-4D97-AF65-F5344CB8AC3E}">
        <p14:creationId xmlns:p14="http://schemas.microsoft.com/office/powerpoint/2010/main" val="1192376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1144163" y="1985474"/>
            <a:ext cx="9903673" cy="25545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32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glutInitWindowSize</a:t>
            </a:r>
            <a:r>
              <a:rPr kumimoji="0" lang="tr-TR" altLang="tr-TR" sz="3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tr-TR" altLang="tr-TR" sz="3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250</a:t>
            </a:r>
            <a:r>
              <a:rPr kumimoji="0" lang="tr-TR" altLang="tr-TR" sz="3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tr-TR" altLang="tr-TR" sz="3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250</a:t>
            </a:r>
            <a:r>
              <a:rPr kumimoji="0" lang="tr-TR" altLang="tr-TR" sz="3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tr-TR" altLang="tr-TR" sz="3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tr-TR" altLang="tr-TR" sz="32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glutInitWindowPosition</a:t>
            </a:r>
            <a:r>
              <a:rPr kumimoji="0" lang="tr-TR" altLang="tr-TR" sz="3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tr-TR" altLang="tr-TR" sz="3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kumimoji="0" lang="tr-TR" altLang="tr-TR" sz="3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tr-TR" altLang="tr-TR" sz="3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kumimoji="0" lang="tr-TR" altLang="tr-TR" sz="3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tr-TR" altLang="tr-TR" sz="3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tr-TR" altLang="tr-TR" sz="32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glutCreateWindow</a:t>
            </a:r>
            <a:r>
              <a:rPr kumimoji="0" lang="tr-TR" altLang="tr-TR" sz="3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tr-TR" altLang="tr-TR" sz="32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bytes</a:t>
            </a:r>
            <a:r>
              <a:rPr kumimoji="0" lang="tr-TR" altLang="tr-TR" sz="3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tr-TR" altLang="tr-TR" sz="3200" b="1" i="0" u="none" strike="noStrike" cap="none" normalizeH="0" baseline="0" dirty="0" smtClean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tr-TR" altLang="tr-TR" sz="3200" b="1" i="0" u="none" strike="noStrike" cap="none" normalizeH="0" baseline="0" dirty="0" err="1" smtClean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MyWindow</a:t>
            </a:r>
            <a:r>
              <a:rPr kumimoji="0" lang="tr-TR" altLang="tr-TR" sz="3200" b="1" i="0" u="none" strike="noStrike" cap="none" normalizeH="0" baseline="0" dirty="0" smtClean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tr-TR" altLang="tr-TR" sz="3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tr-TR" altLang="tr-TR" sz="3200" b="1" i="0" u="none" strike="noStrike" cap="none" normalizeH="0" baseline="0" dirty="0" smtClean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tr-TR" altLang="tr-TR" sz="3200" b="1" i="0" u="none" strike="noStrike" cap="none" normalizeH="0" baseline="0" dirty="0" err="1" smtClean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ascii</a:t>
            </a:r>
            <a:r>
              <a:rPr kumimoji="0" lang="tr-TR" altLang="tr-TR" sz="3200" b="1" i="0" u="none" strike="noStrike" cap="none" normalizeH="0" baseline="0" dirty="0" smtClean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tr-TR" altLang="tr-TR" sz="3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  <a:br>
              <a:rPr kumimoji="0" lang="tr-TR" altLang="tr-TR" sz="3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tr-TR" altLang="tr-TR" sz="32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glutDisplayFunc</a:t>
            </a:r>
            <a:r>
              <a:rPr kumimoji="0" lang="tr-TR" altLang="tr-TR" sz="3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tr-TR" altLang="tr-TR" sz="32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draw</a:t>
            </a:r>
            <a:r>
              <a:rPr kumimoji="0" lang="tr-TR" altLang="tr-TR" sz="3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tr-TR" altLang="tr-TR" sz="3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tr-TR" altLang="tr-TR" sz="32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glutMainLoop</a:t>
            </a:r>
            <a:r>
              <a:rPr kumimoji="0" lang="tr-TR" altLang="tr-TR" sz="3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  <a:endParaRPr kumimoji="0" lang="tr-TR" altLang="tr-TR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29155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871449" y="549791"/>
            <a:ext cx="7491153" cy="563231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2400" b="1" i="0" u="none" strike="noStrike" cap="none" normalizeH="0" baseline="0" dirty="0" err="1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kumimoji="0" lang="tr-TR" altLang="tr-TR" sz="24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tr-TR" altLang="tr-TR" sz="2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OpenGL.GLUT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tr-TR" altLang="tr-TR" sz="2400" b="1" i="0" u="none" strike="noStrike" cap="none" normalizeH="0" baseline="0" dirty="0" err="1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kumimoji="0" lang="tr-TR" altLang="tr-TR" sz="24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b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tr-TR" altLang="tr-TR" sz="2400" b="1" i="0" u="none" strike="noStrike" cap="none" normalizeH="0" baseline="0" dirty="0" err="1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kumimoji="0" lang="tr-TR" altLang="tr-TR" sz="24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OpenGL.GL </a:t>
            </a:r>
            <a:r>
              <a:rPr kumimoji="0" lang="tr-TR" altLang="tr-TR" sz="2400" b="1" i="0" u="none" strike="noStrike" cap="none" normalizeH="0" baseline="0" dirty="0" err="1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kumimoji="0" lang="tr-TR" altLang="tr-TR" sz="24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endParaRPr lang="tr-TR" altLang="tr-TR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2400" b="1" i="0" u="none" strike="noStrike" cap="none" normalizeH="0" baseline="0" dirty="0" err="1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kumimoji="0" lang="tr-TR" altLang="tr-TR" sz="24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tr-TR" altLang="tr-TR" sz="2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sys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tr-TR" altLang="tr-TR" sz="24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kumimoji="0" lang="tr-TR" altLang="tr-TR" sz="2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draw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():</a:t>
            </a:r>
            <a:b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tr-TR" altLang="tr-TR" sz="2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glutWireTeapot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0.5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tr-TR" altLang="tr-TR" sz="2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glFlush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  <a:b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tr-TR" altLang="tr-TR" sz="2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glutInit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tr-TR" altLang="tr-TR" sz="2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sys.argv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tr-TR" altLang="tr-TR" sz="2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glutInitDisplayMode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(GLUT_SINGLE|GLUT_RGB)</a:t>
            </a:r>
            <a:b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tr-TR" altLang="tr-TR" sz="2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glutInitWindowSize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250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250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tr-TR" altLang="tr-TR" sz="2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glutInitWindowPosition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tr-TR" altLang="tr-TR" sz="2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glutCreateWindow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tr-TR" altLang="tr-TR" sz="2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bytes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tr-TR" altLang="tr-TR" sz="2400" b="1" i="0" u="none" strike="noStrike" cap="none" normalizeH="0" baseline="0" dirty="0" smtClean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tr-TR" altLang="tr-TR" sz="2400" b="1" i="0" u="none" strike="noStrike" cap="none" normalizeH="0" baseline="0" dirty="0" err="1" smtClean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MyWindow</a:t>
            </a:r>
            <a:r>
              <a:rPr kumimoji="0" lang="tr-TR" altLang="tr-TR" sz="2400" b="1" i="0" u="none" strike="noStrike" cap="none" normalizeH="0" baseline="0" dirty="0" smtClean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tr-TR" altLang="tr-TR" sz="2400" b="1" i="0" u="none" strike="noStrike" cap="none" normalizeH="0" baseline="0" dirty="0" smtClean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tr-TR" altLang="tr-TR" sz="2400" b="1" i="0" u="none" strike="noStrike" cap="none" normalizeH="0" baseline="0" dirty="0" err="1" smtClean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ascii</a:t>
            </a:r>
            <a:r>
              <a:rPr kumimoji="0" lang="tr-TR" altLang="tr-TR" sz="2400" b="1" i="0" u="none" strike="noStrike" cap="none" normalizeH="0" baseline="0" dirty="0" smtClean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  <a:b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tr-TR" altLang="tr-TR" sz="2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glutDisplayFunc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tr-TR" altLang="tr-TR" sz="2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draw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tr-TR" altLang="tr-TR" sz="2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glutMainLoop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  <a:endParaRPr kumimoji="0" lang="tr-TR" altLang="tr-TR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Resim 4"/>
          <p:cNvPicPr>
            <a:picLocks noChangeAspect="1"/>
          </p:cNvPicPr>
          <p:nvPr/>
        </p:nvPicPr>
        <p:blipFill rotWithShape="1">
          <a:blip r:embed="rId2"/>
          <a:srcRect l="8003" t="13353" r="73852" b="50966"/>
          <a:stretch/>
        </p:blipFill>
        <p:spPr>
          <a:xfrm>
            <a:off x="8362602" y="182245"/>
            <a:ext cx="3474722" cy="3841770"/>
          </a:xfrm>
          <a:prstGeom prst="rect">
            <a:avLst/>
          </a:prstGeom>
        </p:spPr>
      </p:pic>
      <p:sp>
        <p:nvSpPr>
          <p:cNvPr id="6" name="Metin kutusu 5"/>
          <p:cNvSpPr txBox="1"/>
          <p:nvPr/>
        </p:nvSpPr>
        <p:spPr>
          <a:xfrm>
            <a:off x="710184" y="6501705"/>
            <a:ext cx="27781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/>
              <a:t>Kodlar</a:t>
            </a:r>
            <a:r>
              <a:rPr lang="tr-TR" dirty="0" smtClean="0">
                <a:sym typeface="Wingdings" panose="05000000000000000000" pitchFamily="2" charset="2"/>
              </a:rPr>
              <a:t> </a:t>
            </a:r>
            <a:r>
              <a:rPr lang="tr-TR" dirty="0" smtClean="0"/>
              <a:t>Teapot_sample.py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255944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Egzersizler-1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tr-TR" dirty="0"/>
              <a:t>1) Başlığı "Merhaba </a:t>
            </a:r>
            <a:r>
              <a:rPr lang="tr-TR" dirty="0" err="1"/>
              <a:t>PyOpenG</a:t>
            </a:r>
            <a:r>
              <a:rPr lang="tr-TR" dirty="0"/>
              <a:t>" yerine adınızı gösterecek şekilde değiştirin.</a:t>
            </a:r>
          </a:p>
          <a:p>
            <a:pPr algn="just"/>
            <a:r>
              <a:rPr lang="tr-TR" dirty="0"/>
              <a:t>2) İlk pencere konumunu (100, 100) dışında bir yere değiştirin. Sıralı sayı çiftine göre pencerenin nerede görüneceğini tahmin edebilir misiniz?</a:t>
            </a:r>
          </a:p>
          <a:p>
            <a:pPr algn="just"/>
            <a:r>
              <a:rPr lang="tr-TR" dirty="0"/>
              <a:t>3) İlk pencere boyutunu (400, 400) olarak değiştirin. Çeşitli değerleri deneyin ve ne olacağını görün. </a:t>
            </a:r>
            <a:endParaRPr lang="tr-TR" dirty="0" smtClean="0"/>
          </a:p>
        </p:txBody>
      </p:sp>
    </p:spTree>
    <p:extLst>
      <p:ext uri="{BB962C8B-B14F-4D97-AF65-F5344CB8AC3E}">
        <p14:creationId xmlns:p14="http://schemas.microsoft.com/office/powerpoint/2010/main" val="2253164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Egzersizler-2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tr-TR" dirty="0"/>
              <a:t>4) Çaydanlığın boyutunu (0,5) 'den daha büyük ve daha küçük değerlere değiştirin. Ne oluyor?</a:t>
            </a:r>
          </a:p>
          <a:p>
            <a:pPr algn="just"/>
            <a:r>
              <a:rPr lang="tr-TR" dirty="0"/>
              <a:t>5) Devre dışı bırakmak için </a:t>
            </a:r>
            <a:r>
              <a:rPr lang="tr-TR" dirty="0" err="1"/>
              <a:t>glutWireTeapot</a:t>
            </a:r>
            <a:r>
              <a:rPr lang="tr-TR" dirty="0"/>
              <a:t> </a:t>
            </a:r>
            <a:r>
              <a:rPr lang="tr-TR" dirty="0" smtClean="0"/>
              <a:t>komutunu yorumlayın (Nasıl?). Altında boş bir satır oluşturun ve şu satırı ekleyin: </a:t>
            </a:r>
            <a:r>
              <a:rPr lang="tr-TR" dirty="0" err="1" smtClean="0"/>
              <a:t>glutWireSphere</a:t>
            </a:r>
            <a:r>
              <a:rPr lang="tr-TR" dirty="0" smtClean="0"/>
              <a:t> </a:t>
            </a:r>
            <a:r>
              <a:rPr lang="tr-TR" dirty="0"/>
              <a:t>(0.5, 10, 10)</a:t>
            </a:r>
          </a:p>
          <a:p>
            <a:pPr lvl="2" algn="just"/>
            <a:r>
              <a:rPr lang="tr-TR" dirty="0"/>
              <a:t>a) 0.5'i 0.75 olarak değiştirin ve ne olacağını görün. Bu değer ne işe yarar?</a:t>
            </a:r>
          </a:p>
          <a:p>
            <a:pPr lvl="2" algn="just"/>
            <a:r>
              <a:rPr lang="tr-TR" dirty="0"/>
              <a:t>b) Satırı şu şekilde değiştirin: </a:t>
            </a:r>
            <a:r>
              <a:rPr lang="tr-TR" dirty="0" err="1"/>
              <a:t>glutWireSphere</a:t>
            </a:r>
            <a:r>
              <a:rPr lang="tr-TR" dirty="0"/>
              <a:t> (0.75, 25, 25)</a:t>
            </a:r>
          </a:p>
          <a:p>
            <a:pPr lvl="2" algn="just"/>
            <a:r>
              <a:rPr lang="tr-TR" dirty="0"/>
              <a:t>c) Son iki değer ne işe yarar?</a:t>
            </a:r>
          </a:p>
          <a:p>
            <a:pPr lvl="2" algn="just"/>
            <a:r>
              <a:rPr lang="tr-TR" dirty="0"/>
              <a:t>d) Satırı şu şekilde değiştirin: </a:t>
            </a:r>
            <a:r>
              <a:rPr lang="tr-TR" dirty="0" err="1"/>
              <a:t>glutWireCube</a:t>
            </a:r>
            <a:r>
              <a:rPr lang="tr-TR" dirty="0"/>
              <a:t> (1.0)</a:t>
            </a:r>
          </a:p>
          <a:p>
            <a:pPr lvl="2" algn="just"/>
            <a:r>
              <a:rPr lang="tr-TR" dirty="0"/>
              <a:t>e) Satırı şu şekilde değiştirin: </a:t>
            </a:r>
            <a:r>
              <a:rPr lang="tr-TR" dirty="0" err="1"/>
              <a:t>glutWireTetrahedron</a:t>
            </a:r>
            <a:r>
              <a:rPr lang="tr-TR" dirty="0"/>
              <a:t> ()</a:t>
            </a:r>
          </a:p>
          <a:p>
            <a:pPr lvl="2" algn="just"/>
            <a:r>
              <a:rPr lang="tr-TR" dirty="0"/>
              <a:t>f) Yukarıdaki komutların her birinde Tel kelimesini Katı olarak değiştirin.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5890694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GLUT OBJECTS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err="1"/>
              <a:t>glutWireCube</a:t>
            </a:r>
            <a:r>
              <a:rPr lang="tr-TR" dirty="0"/>
              <a:t>(1.0</a:t>
            </a:r>
            <a:r>
              <a:rPr lang="tr-TR" dirty="0" smtClean="0"/>
              <a:t>);</a:t>
            </a:r>
          </a:p>
          <a:p>
            <a:r>
              <a:rPr lang="tr-TR" dirty="0" err="1"/>
              <a:t>glutWireCone</a:t>
            </a:r>
            <a:r>
              <a:rPr lang="tr-TR" dirty="0"/>
              <a:t>(1, 1, 10, 10); </a:t>
            </a:r>
            <a:endParaRPr lang="tr-TR" dirty="0" smtClean="0"/>
          </a:p>
          <a:p>
            <a:r>
              <a:rPr lang="tr-TR" dirty="0" err="1"/>
              <a:t>glutWireSphere</a:t>
            </a:r>
            <a:r>
              <a:rPr lang="tr-TR" dirty="0"/>
              <a:t>(0.5,10,10</a:t>
            </a:r>
            <a:r>
              <a:rPr lang="tr-TR" dirty="0" smtClean="0"/>
              <a:t>);</a:t>
            </a:r>
          </a:p>
          <a:p>
            <a:r>
              <a:rPr lang="tr-TR" dirty="0" err="1"/>
              <a:t>glutWireTorus</a:t>
            </a:r>
            <a:r>
              <a:rPr lang="tr-TR" dirty="0"/>
              <a:t>(0.5,1.5,10,10)</a:t>
            </a:r>
          </a:p>
        </p:txBody>
      </p:sp>
    </p:spTree>
    <p:extLst>
      <p:ext uri="{BB962C8B-B14F-4D97-AF65-F5344CB8AC3E}">
        <p14:creationId xmlns:p14="http://schemas.microsoft.com/office/powerpoint/2010/main" val="25233490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 smtClean="0"/>
              <a:t>OpenGL</a:t>
            </a:r>
            <a:r>
              <a:rPr lang="tr-TR" dirty="0" smtClean="0"/>
              <a:t> </a:t>
            </a:r>
            <a:r>
              <a:rPr lang="tr-TR" dirty="0" err="1" smtClean="0"/>
              <a:t>Primitives</a:t>
            </a:r>
            <a:endParaRPr lang="tr-TR" dirty="0"/>
          </a:p>
        </p:txBody>
      </p:sp>
      <p:pic>
        <p:nvPicPr>
          <p:cNvPr id="8" name="Picture 6" descr="openGL-- basic primitives - Programmer Sought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29" b="4130"/>
          <a:stretch/>
        </p:blipFill>
        <p:spPr bwMode="auto">
          <a:xfrm>
            <a:off x="1424157" y="1479667"/>
            <a:ext cx="8634244" cy="52037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13519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Ekrana Nokta Çizdirmek</a:t>
            </a:r>
            <a:endParaRPr lang="tr-TR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1369805"/>
            <a:ext cx="4007828" cy="526297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1200" b="1" i="0" u="none" strike="noStrike" cap="none" normalizeH="0" baseline="0" dirty="0" err="1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kumimoji="0" lang="tr-TR" altLang="tr-T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OpenGL.GL </a:t>
            </a:r>
            <a:r>
              <a:rPr kumimoji="0" lang="tr-TR" altLang="tr-TR" sz="1200" b="1" i="0" u="none" strike="noStrike" cap="none" normalizeH="0" baseline="0" dirty="0" err="1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kumimoji="0" lang="tr-TR" altLang="tr-T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b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tr-TR" altLang="tr-TR" sz="1200" b="1" i="0" u="none" strike="noStrike" cap="none" normalizeH="0" baseline="0" dirty="0" err="1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kumimoji="0" lang="tr-TR" altLang="tr-T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tr-TR" altLang="tr-TR" sz="12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OpenGL.GLU</a:t>
            </a:r>
            <a: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tr-TR" altLang="tr-TR" sz="1200" b="1" i="0" u="none" strike="noStrike" cap="none" normalizeH="0" baseline="0" dirty="0" err="1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kumimoji="0" lang="tr-TR" altLang="tr-T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b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tr-TR" altLang="tr-TR" sz="1200" b="1" i="0" u="none" strike="noStrike" cap="none" normalizeH="0" baseline="0" dirty="0" err="1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kumimoji="0" lang="tr-TR" altLang="tr-T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tr-TR" altLang="tr-TR" sz="12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OpenGL.GLUT</a:t>
            </a:r>
            <a: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tr-TR" altLang="tr-TR" sz="1200" b="1" i="0" u="none" strike="noStrike" cap="none" normalizeH="0" baseline="0" dirty="0" err="1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kumimoji="0" lang="tr-TR" altLang="tr-T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b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tr-TR" altLang="tr-TR" sz="1200" b="1" i="0" u="none" strike="noStrike" cap="none" normalizeH="0" baseline="0" dirty="0" err="1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kumimoji="0" lang="tr-TR" altLang="tr-T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tr-TR" altLang="tr-TR" sz="12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sys</a:t>
            </a:r>
            <a: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tr-TR" altLang="tr-T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kumimoji="0" lang="tr-TR" altLang="tr-TR" sz="12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init</a:t>
            </a:r>
            <a: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():</a:t>
            </a:r>
            <a:b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tr-TR" altLang="tr-TR" sz="12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glClearColor</a:t>
            </a:r>
            <a: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0.0</a:t>
            </a:r>
            <a: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0.0</a:t>
            </a:r>
            <a: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0.0</a:t>
            </a:r>
            <a: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1.0</a:t>
            </a:r>
            <a: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gluOrtho2D(-</a:t>
            </a:r>
            <a: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1.0</a:t>
            </a:r>
            <a: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1.0</a:t>
            </a:r>
            <a: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-</a:t>
            </a:r>
            <a: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1.0</a:t>
            </a:r>
            <a: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1.0</a:t>
            </a:r>
            <a: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b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tr-TR" altLang="tr-T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kumimoji="0" lang="tr-TR" altLang="tr-TR" sz="12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plotpoints</a:t>
            </a:r>
            <a: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():</a:t>
            </a:r>
            <a:b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tr-TR" altLang="tr-TR" sz="12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glClear</a:t>
            </a:r>
            <a: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(GL_COLOR_BUFFER_BIT)</a:t>
            </a:r>
            <a:b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glColor3f(</a:t>
            </a:r>
            <a: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1.0</a:t>
            </a:r>
            <a: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0.0</a:t>
            </a:r>
            <a: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0.0</a:t>
            </a:r>
            <a: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tr-TR" altLang="tr-TR" sz="12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glBegin</a:t>
            </a:r>
            <a: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(GL_POINTS)</a:t>
            </a:r>
            <a:b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glVertex2f(</a:t>
            </a:r>
            <a: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0.0</a:t>
            </a:r>
            <a: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0.0</a:t>
            </a:r>
            <a: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tr-TR" altLang="tr-TR" sz="12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glEnd</a:t>
            </a:r>
            <a: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  <a:b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tr-TR" altLang="tr-TR" sz="12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glFlush</a:t>
            </a:r>
            <a: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  <a:b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tr-TR" altLang="tr-T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main():</a:t>
            </a:r>
            <a:b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tr-TR" altLang="tr-TR" sz="12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glutInit</a:t>
            </a:r>
            <a: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tr-TR" altLang="tr-TR" sz="12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sys.argv</a:t>
            </a:r>
            <a: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tr-TR" altLang="tr-TR" sz="12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glutInitDisplayMode</a:t>
            </a:r>
            <a: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(GLUT_SINGLE|GLUT_RGB)</a:t>
            </a:r>
            <a:b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tr-TR" altLang="tr-TR" sz="12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glutInitWindowSize</a:t>
            </a:r>
            <a: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500</a:t>
            </a:r>
            <a: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500</a:t>
            </a:r>
            <a: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tr-TR" altLang="tr-TR" sz="12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glutInitWindowPosition</a:t>
            </a:r>
            <a: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tr-TR" altLang="tr-TR" sz="12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glutCreateWindow</a:t>
            </a:r>
            <a: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tr-TR" altLang="tr-TR" sz="1200" b="1" i="0" u="none" strike="noStrike" cap="none" normalizeH="0" baseline="0" dirty="0" err="1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b"Plot</a:t>
            </a:r>
            <a:r>
              <a:rPr kumimoji="0" lang="tr-TR" altLang="tr-T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tr-TR" altLang="tr-TR" sz="1200" b="1" i="0" u="none" strike="noStrike" cap="none" normalizeH="0" baseline="0" dirty="0" err="1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Points</a:t>
            </a:r>
            <a:r>
              <a:rPr kumimoji="0" lang="tr-TR" altLang="tr-T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tr-TR" altLang="tr-TR" sz="12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glutDisplayFunc</a:t>
            </a:r>
            <a: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tr-TR" altLang="tr-TR" sz="12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plotpoints</a:t>
            </a:r>
            <a: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tr-TR" altLang="tr-TR" sz="12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init</a:t>
            </a:r>
            <a: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  <a:b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tr-TR" altLang="tr-TR" sz="12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glutMainLoop</a:t>
            </a:r>
            <a: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  <a:b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tr-TR" altLang="tr-T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main()</a:t>
            </a:r>
            <a:endParaRPr kumimoji="0" lang="tr-TR" altLang="tr-TR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Metin kutusu 4"/>
          <p:cNvSpPr txBox="1"/>
          <p:nvPr/>
        </p:nvSpPr>
        <p:spPr>
          <a:xfrm>
            <a:off x="9122664" y="6263452"/>
            <a:ext cx="26330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/>
              <a:t>Kodlar</a:t>
            </a:r>
            <a:r>
              <a:rPr lang="tr-TR" dirty="0" smtClean="0">
                <a:sym typeface="Wingdings" panose="05000000000000000000" pitchFamily="2" charset="2"/>
              </a:rPr>
              <a:t> point</a:t>
            </a:r>
            <a:r>
              <a:rPr lang="tr-TR" dirty="0" smtClean="0"/>
              <a:t>_sample.py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9192311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alt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glClearColor</a:t>
            </a:r>
            <a:r>
              <a:rPr lang="tr-TR" altLang="tr-T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altLang="tr-TR" dirty="0">
                <a:solidFill>
                  <a:srgbClr val="0000FF"/>
                </a:solidFill>
                <a:latin typeface="Consolas" panose="020B0609020204030204" pitchFamily="49" charset="0"/>
              </a:rPr>
              <a:t>0.0</a:t>
            </a:r>
            <a:r>
              <a:rPr lang="tr-TR" altLang="tr-TR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altLang="tr-TR" dirty="0">
                <a:solidFill>
                  <a:srgbClr val="0000FF"/>
                </a:solidFill>
                <a:latin typeface="Consolas" panose="020B0609020204030204" pitchFamily="49" charset="0"/>
              </a:rPr>
              <a:t>0.0</a:t>
            </a:r>
            <a:r>
              <a:rPr lang="tr-TR" altLang="tr-TR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altLang="tr-TR" dirty="0">
                <a:solidFill>
                  <a:srgbClr val="0000FF"/>
                </a:solidFill>
                <a:latin typeface="Consolas" panose="020B0609020204030204" pitchFamily="49" charset="0"/>
              </a:rPr>
              <a:t>0.0</a:t>
            </a:r>
            <a:r>
              <a:rPr lang="tr-TR" altLang="tr-TR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altLang="tr-TR" dirty="0">
                <a:solidFill>
                  <a:srgbClr val="0000FF"/>
                </a:solidFill>
                <a:latin typeface="Consolas" panose="020B0609020204030204" pitchFamily="49" charset="0"/>
              </a:rPr>
              <a:t>1.0</a:t>
            </a:r>
            <a:r>
              <a:rPr lang="tr-TR" alt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tr-TR" dirty="0" err="1" smtClean="0"/>
              <a:t>glClearColor</a:t>
            </a:r>
            <a:r>
              <a:rPr lang="tr-TR" dirty="0" smtClean="0"/>
              <a:t> </a:t>
            </a:r>
            <a:r>
              <a:rPr lang="tr-TR" dirty="0"/>
              <a:t>komutunu kullanarak arka plan rengini siyah olarak ayarladık. Bu komut </a:t>
            </a:r>
            <a:r>
              <a:rPr lang="tr-TR" dirty="0" err="1"/>
              <a:t>OpenGL'ye</a:t>
            </a:r>
            <a:r>
              <a:rPr lang="tr-TR" dirty="0"/>
              <a:t> grafik ekranını temizlediğimizde arka plan rengimiz olarak "siyah" kullanacağımızı bildirmekten başka bir şey yapmaz</a:t>
            </a:r>
            <a:r>
              <a:rPr lang="tr-TR" dirty="0" smtClean="0"/>
              <a:t>. </a:t>
            </a:r>
            <a:r>
              <a:rPr lang="tr-TR" dirty="0"/>
              <a:t>Bu komutu izleyen parantez içindeki sayılar rengi belirler ve bunlar sırasıyla </a:t>
            </a:r>
            <a:r>
              <a:rPr lang="tr-TR" dirty="0" smtClean="0"/>
              <a:t>(kırmızı</a:t>
            </a:r>
            <a:r>
              <a:rPr lang="tr-TR" dirty="0"/>
              <a:t>, yeşil, mavi, alfa). Her renk konumu, </a:t>
            </a:r>
            <a:r>
              <a:rPr lang="tr-TR" dirty="0" smtClean="0"/>
              <a:t>0.0 </a:t>
            </a:r>
            <a:r>
              <a:rPr lang="tr-TR" dirty="0"/>
              <a:t>ile </a:t>
            </a:r>
            <a:r>
              <a:rPr lang="tr-TR" dirty="0" smtClean="0"/>
              <a:t>1.0 </a:t>
            </a:r>
            <a:r>
              <a:rPr lang="tr-TR" dirty="0"/>
              <a:t>arasında bir değer kabul eder</a:t>
            </a:r>
            <a:r>
              <a:rPr lang="tr-TR" dirty="0" smtClean="0"/>
              <a:t>.</a:t>
            </a:r>
          </a:p>
          <a:p>
            <a:pPr algn="just"/>
            <a:r>
              <a:rPr lang="tr-TR" dirty="0"/>
              <a:t>"Alfa" ayarı, renklerin </a:t>
            </a:r>
            <a:r>
              <a:rPr lang="tr-TR" dirty="0" err="1"/>
              <a:t>opaklığı</a:t>
            </a:r>
            <a:r>
              <a:rPr lang="tr-TR" dirty="0"/>
              <a:t> veya saydamlığı ile ilgilenir. </a:t>
            </a:r>
            <a:r>
              <a:rPr lang="tr-TR" dirty="0" smtClean="0"/>
              <a:t>RGB değerleri </a:t>
            </a:r>
            <a:r>
              <a:rPr lang="tr-TR" dirty="0"/>
              <a:t>kadar kullanılmaz ve genellikle 1,0 olarak ayarlanır. </a:t>
            </a:r>
            <a:endParaRPr lang="tr-TR" dirty="0" smtClean="0"/>
          </a:p>
          <a:p>
            <a:pPr algn="just"/>
            <a:r>
              <a:rPr lang="tr-TR" dirty="0" smtClean="0"/>
              <a:t>Renk </a:t>
            </a:r>
            <a:r>
              <a:rPr lang="tr-TR" dirty="0"/>
              <a:t>yokluğu (0,0'da alfa hariç tüm RGB ayarları) siyahla sonuçlanır. Her renk için 1,0 ayarı beyaz bir arka plan sağlayacaktır.</a:t>
            </a:r>
          </a:p>
        </p:txBody>
      </p:sp>
    </p:spTree>
    <p:extLst>
      <p:ext uri="{BB962C8B-B14F-4D97-AF65-F5344CB8AC3E}">
        <p14:creationId xmlns:p14="http://schemas.microsoft.com/office/powerpoint/2010/main" val="3587337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3600" b="1" dirty="0"/>
              <a:t>gluOrtho2D(</a:t>
            </a:r>
            <a:r>
              <a:rPr lang="tr-TR" sz="3600" dirty="0">
                <a:solidFill>
                  <a:srgbClr val="0000FF"/>
                </a:solidFill>
                <a:latin typeface="Consolas" panose="020B0609020204030204" pitchFamily="49" charset="0"/>
              </a:rPr>
              <a:t>x-</a:t>
            </a:r>
            <a:r>
              <a:rPr lang="tr-TR" sz="3600" dirty="0" err="1">
                <a:solidFill>
                  <a:srgbClr val="0000FF"/>
                </a:solidFill>
                <a:latin typeface="Consolas" panose="020B0609020204030204" pitchFamily="49" charset="0"/>
              </a:rPr>
              <a:t>left</a:t>
            </a:r>
            <a:r>
              <a:rPr lang="tr-TR" sz="3600" b="1" dirty="0"/>
              <a:t>, </a:t>
            </a:r>
            <a:r>
              <a:rPr lang="tr-TR" sz="3600" dirty="0">
                <a:solidFill>
                  <a:srgbClr val="0000FF"/>
                </a:solidFill>
                <a:latin typeface="Consolas" panose="020B0609020204030204" pitchFamily="49" charset="0"/>
              </a:rPr>
              <a:t>x-</a:t>
            </a:r>
            <a:r>
              <a:rPr lang="tr-TR" sz="3600" dirty="0" err="1">
                <a:solidFill>
                  <a:srgbClr val="0000FF"/>
                </a:solidFill>
                <a:latin typeface="Consolas" panose="020B0609020204030204" pitchFamily="49" charset="0"/>
              </a:rPr>
              <a:t>right</a:t>
            </a:r>
            <a:r>
              <a:rPr lang="tr-TR" sz="3600" dirty="0">
                <a:solidFill>
                  <a:srgbClr val="0000FF"/>
                </a:solidFill>
                <a:latin typeface="Consolas" panose="020B0609020204030204" pitchFamily="49" charset="0"/>
              </a:rPr>
              <a:t>, y-</a:t>
            </a:r>
            <a:r>
              <a:rPr lang="tr-TR" sz="3600" dirty="0" err="1">
                <a:solidFill>
                  <a:srgbClr val="0000FF"/>
                </a:solidFill>
                <a:latin typeface="Consolas" panose="020B0609020204030204" pitchFamily="49" charset="0"/>
              </a:rPr>
              <a:t>bottom</a:t>
            </a:r>
            <a:r>
              <a:rPr lang="tr-TR" sz="3600" dirty="0">
                <a:solidFill>
                  <a:srgbClr val="0000FF"/>
                </a:solidFill>
                <a:latin typeface="Consolas" panose="020B0609020204030204" pitchFamily="49" charset="0"/>
              </a:rPr>
              <a:t>, y-top</a:t>
            </a:r>
            <a:r>
              <a:rPr lang="tr-TR" sz="3600" b="1" dirty="0"/>
              <a:t>)</a:t>
            </a:r>
            <a:endParaRPr lang="tr-TR" sz="3600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GluOrtho2D komutu, koordinat sistemi aralıklarını ayarlamamıza izin verir. (</a:t>
            </a:r>
            <a:r>
              <a:rPr lang="tr-TR" dirty="0" smtClean="0"/>
              <a:t>2D </a:t>
            </a:r>
            <a:r>
              <a:rPr lang="tr-TR" b="1" dirty="0" err="1"/>
              <a:t>ortografik</a:t>
            </a:r>
            <a:r>
              <a:rPr lang="tr-TR" b="1" dirty="0"/>
              <a:t> projeksiyon </a:t>
            </a:r>
            <a:r>
              <a:rPr lang="tr-TR" dirty="0"/>
              <a:t>matrisi </a:t>
            </a:r>
            <a:r>
              <a:rPr lang="tr-TR" dirty="0" smtClean="0"/>
              <a:t>tanımlamış oluyoruz)</a:t>
            </a:r>
          </a:p>
          <a:p>
            <a:r>
              <a:rPr lang="tr-TR" dirty="0"/>
              <a:t>Bu özel durumda, orijini (0,0) ekranın ortasına yerleştiren hem x hem de y eksenlerinde -1.0 ile 1.0 arasında değişen bir koordinat sistemi ayarlıyoruz.</a:t>
            </a:r>
          </a:p>
        </p:txBody>
      </p:sp>
      <p:pic>
        <p:nvPicPr>
          <p:cNvPr id="10242" name="Picture 2" descr="https://i.stack.imgur.com/HD45M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2990"/>
          <a:stretch/>
        </p:blipFill>
        <p:spPr bwMode="auto">
          <a:xfrm>
            <a:off x="4601197" y="3061239"/>
            <a:ext cx="6485904" cy="37967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6509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tr-TR" dirty="0" err="1" smtClean="0"/>
              <a:t>GlClear</a:t>
            </a:r>
            <a:r>
              <a:rPr lang="tr-TR" dirty="0" smtClean="0"/>
              <a:t> </a:t>
            </a:r>
            <a:r>
              <a:rPr lang="tr-TR" dirty="0"/>
              <a:t>(GL_COLOR_BUFFER_BIT) </a:t>
            </a:r>
            <a:r>
              <a:rPr lang="tr-TR" dirty="0" smtClean="0"/>
              <a:t>komutu, ekranı </a:t>
            </a:r>
            <a:r>
              <a:rPr lang="tr-TR" dirty="0"/>
              <a:t>(renk tampon biti) temizler ve arka plan rengini </a:t>
            </a:r>
            <a:r>
              <a:rPr lang="tr-TR" dirty="0" err="1"/>
              <a:t>init</a:t>
            </a:r>
            <a:r>
              <a:rPr lang="tr-TR" dirty="0"/>
              <a:t> () işlevinde yaptığınız seçime ayarlar. </a:t>
            </a:r>
            <a:endParaRPr lang="tr-TR" dirty="0" smtClean="0"/>
          </a:p>
          <a:p>
            <a:pPr algn="just"/>
            <a:r>
              <a:rPr lang="tr-TR" dirty="0" smtClean="0"/>
              <a:t>glColor3f </a:t>
            </a:r>
            <a:r>
              <a:rPr lang="tr-TR" dirty="0"/>
              <a:t>(1.0, 0.0, 0.0), çizim rengini kırmızı olarak ayarlar</a:t>
            </a:r>
            <a:r>
              <a:rPr lang="tr-TR" dirty="0" smtClean="0"/>
              <a:t>.</a:t>
            </a:r>
          </a:p>
          <a:p>
            <a:pPr algn="just"/>
            <a:r>
              <a:rPr lang="tr-TR" dirty="0" smtClean="0"/>
              <a:t> </a:t>
            </a:r>
            <a:r>
              <a:rPr lang="tr-TR" dirty="0"/>
              <a:t>GlColor3f komutundaki "3f", bize RGB ayarları için 3 kayan nokta (0,0 ile 1,0 dahil ondalık arasında) değer kullanmamız gerektiğini hatırlatır</a:t>
            </a:r>
            <a:r>
              <a:rPr lang="tr-TR" dirty="0" smtClean="0"/>
              <a:t>.</a:t>
            </a:r>
          </a:p>
          <a:p>
            <a:pPr algn="just"/>
            <a:r>
              <a:rPr lang="tr-TR" dirty="0"/>
              <a:t>g</a:t>
            </a:r>
            <a:r>
              <a:rPr lang="tr-TR" dirty="0" smtClean="0"/>
              <a:t>lColor3f </a:t>
            </a:r>
            <a:r>
              <a:rPr lang="tr-TR" dirty="0"/>
              <a:t>komutunun düzgün çalışması için </a:t>
            </a:r>
            <a:r>
              <a:rPr lang="tr-TR" dirty="0" smtClean="0"/>
              <a:t>çizim </a:t>
            </a:r>
            <a:r>
              <a:rPr lang="tr-TR" dirty="0"/>
              <a:t>komutundan önce yerleştirilmesi ZORUNLUDUR</a:t>
            </a:r>
            <a:r>
              <a:rPr lang="tr-TR" dirty="0" smtClean="0"/>
              <a:t>.</a:t>
            </a:r>
            <a:endParaRPr lang="tr-TR" dirty="0"/>
          </a:p>
          <a:p>
            <a:pPr algn="just"/>
            <a:r>
              <a:rPr lang="tr-TR" dirty="0" smtClean="0"/>
              <a:t> </a:t>
            </a:r>
            <a:r>
              <a:rPr lang="tr-TR" dirty="0"/>
              <a:t>İki </a:t>
            </a:r>
            <a:r>
              <a:rPr lang="tr-TR" dirty="0" err="1"/>
              <a:t>OpenGL</a:t>
            </a:r>
            <a:r>
              <a:rPr lang="tr-TR" dirty="0"/>
              <a:t> renk komutunu karıştırmamaya özellikle dikkat edin. </a:t>
            </a:r>
            <a:r>
              <a:rPr lang="tr-TR" dirty="0" err="1"/>
              <a:t>glClearColor</a:t>
            </a:r>
            <a:r>
              <a:rPr lang="tr-TR" dirty="0"/>
              <a:t>, özellikle temizlendikten sonra grafik penceresinin arka plan rengini ayarlamak için tasarlanmıştır. </a:t>
            </a:r>
            <a:r>
              <a:rPr lang="tr-TR" dirty="0" smtClean="0"/>
              <a:t>glColor3f, </a:t>
            </a:r>
            <a:r>
              <a:rPr lang="tr-TR" dirty="0"/>
              <a:t>çizim kaleminin rengini ayarlamak için tasarlanmıştır.</a:t>
            </a:r>
          </a:p>
        </p:txBody>
      </p:sp>
    </p:spTree>
    <p:extLst>
      <p:ext uri="{BB962C8B-B14F-4D97-AF65-F5344CB8AC3E}">
        <p14:creationId xmlns:p14="http://schemas.microsoft.com/office/powerpoint/2010/main" val="2422408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tr-TR" dirty="0" err="1"/>
              <a:t>OpenGL'de</a:t>
            </a:r>
            <a:r>
              <a:rPr lang="tr-TR" dirty="0"/>
              <a:t> çizim </a:t>
            </a:r>
            <a:r>
              <a:rPr lang="tr-TR" dirty="0" smtClean="0"/>
              <a:t>yaptığımızda, </a:t>
            </a:r>
            <a:r>
              <a:rPr lang="tr-TR" dirty="0"/>
              <a:t>niyetimizi grafik sistemine bildirmeliyiz. </a:t>
            </a:r>
            <a:r>
              <a:rPr lang="tr-TR" dirty="0" err="1"/>
              <a:t>GlBegin</a:t>
            </a:r>
            <a:r>
              <a:rPr lang="tr-TR" dirty="0"/>
              <a:t> (GL_POINTS) komutu bu amaca hizmet eder. Temel olarak çizime başlamaya hazır olduğumuzu ve noktaları çizeceğimizi </a:t>
            </a:r>
            <a:r>
              <a:rPr lang="tr-TR" dirty="0" smtClean="0"/>
              <a:t>söyler.</a:t>
            </a:r>
          </a:p>
          <a:p>
            <a:pPr algn="just"/>
            <a:r>
              <a:rPr lang="tr-TR" dirty="0" smtClean="0"/>
              <a:t>glVertex2f </a:t>
            </a:r>
            <a:r>
              <a:rPr lang="tr-TR" dirty="0"/>
              <a:t>(0.0, 0.0</a:t>
            </a:r>
            <a:r>
              <a:rPr lang="tr-TR" dirty="0" smtClean="0"/>
              <a:t>) parantez içerisinde verilmiş koordinatlarında bir nokta çizmeyi sağlar. Komutunun </a:t>
            </a:r>
            <a:r>
              <a:rPr lang="tr-TR" dirty="0"/>
              <a:t>2f kısmı, </a:t>
            </a:r>
            <a:r>
              <a:rPr lang="tr-TR" dirty="0" err="1"/>
              <a:t>glVertex</a:t>
            </a:r>
            <a:r>
              <a:rPr lang="tr-TR" dirty="0"/>
              <a:t> ile 2 kayan nokta değeri kullanacağımızı gösterir; ilki x koordinatını ve ikincisi y koordinatını temsil </a:t>
            </a:r>
            <a:r>
              <a:rPr lang="tr-TR" dirty="0" smtClean="0"/>
              <a:t>eder.</a:t>
            </a:r>
          </a:p>
          <a:p>
            <a:pPr algn="just"/>
            <a:r>
              <a:rPr lang="tr-TR" dirty="0" smtClean="0"/>
              <a:t>Çizimi </a:t>
            </a:r>
            <a:r>
              <a:rPr lang="tr-TR" dirty="0"/>
              <a:t>bitirdiğimizde, bir </a:t>
            </a:r>
            <a:r>
              <a:rPr lang="tr-TR" dirty="0" err="1"/>
              <a:t>glEnd</a:t>
            </a:r>
            <a:r>
              <a:rPr lang="tr-TR" dirty="0"/>
              <a:t> () komutu </a:t>
            </a:r>
            <a:r>
              <a:rPr lang="tr-TR" dirty="0" err="1" smtClean="0"/>
              <a:t>OpenGL</a:t>
            </a:r>
            <a:r>
              <a:rPr lang="tr-TR" dirty="0" smtClean="0"/>
              <a:t> durumu bildiriyoruz.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6440564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smtClean="0">
                <a:solidFill>
                  <a:schemeClr val="accent5">
                    <a:lumMod val="75000"/>
                  </a:schemeClr>
                </a:solidFill>
              </a:rPr>
              <a:t>Egzersizler</a:t>
            </a:r>
            <a:endParaRPr lang="tr-TR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 algn="just">
              <a:buFont typeface="+mj-lt"/>
              <a:buAutoNum type="arabicPeriod"/>
            </a:pPr>
            <a:r>
              <a:rPr lang="tr-TR" dirty="0" smtClean="0"/>
              <a:t>Noktanın rengini mavi yapınız.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tr-TR" dirty="0" smtClean="0"/>
              <a:t>Arka plan rengini beyaz yapınız.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tr-TR" dirty="0" err="1" smtClean="0"/>
              <a:t>glPointSize</a:t>
            </a:r>
            <a:r>
              <a:rPr lang="tr-TR" dirty="0" smtClean="0"/>
              <a:t>(5.0) komutunu </a:t>
            </a:r>
            <a:r>
              <a:rPr lang="tr-TR" dirty="0" err="1" smtClean="0"/>
              <a:t>glBegin</a:t>
            </a:r>
            <a:r>
              <a:rPr lang="tr-TR" dirty="0" smtClean="0"/>
              <a:t> komutunun üstüne koyarak kodunuzu tekrar derleyiniz.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tr-TR" dirty="0"/>
              <a:t>Ekranda farklı konumlarda </a:t>
            </a:r>
            <a:r>
              <a:rPr lang="tr-TR" dirty="0" smtClean="0"/>
              <a:t>2 </a:t>
            </a:r>
            <a:r>
              <a:rPr lang="tr-TR" dirty="0"/>
              <a:t>nokta çizdiriniz</a:t>
            </a:r>
            <a:r>
              <a:rPr lang="tr-TR" dirty="0" smtClean="0"/>
              <a:t>.</a:t>
            </a:r>
          </a:p>
          <a:p>
            <a:pPr marL="0" indent="0">
              <a:buNone/>
            </a:pPr>
            <a:endParaRPr lang="tr-TR" dirty="0" smtClean="0"/>
          </a:p>
        </p:txBody>
      </p:sp>
    </p:spTree>
    <p:extLst>
      <p:ext uri="{BB962C8B-B14F-4D97-AF65-F5344CB8AC3E}">
        <p14:creationId xmlns:p14="http://schemas.microsoft.com/office/powerpoint/2010/main" val="988252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Ekrana Çizgi Çizdirmek</a:t>
            </a:r>
            <a:endParaRPr lang="tr-TR" dirty="0"/>
          </a:p>
        </p:txBody>
      </p:sp>
      <p:cxnSp>
        <p:nvCxnSpPr>
          <p:cNvPr id="5" name="Düz Bağlayıcı 4"/>
          <p:cNvCxnSpPr/>
          <p:nvPr/>
        </p:nvCxnSpPr>
        <p:spPr>
          <a:xfrm flipV="1">
            <a:off x="2743200" y="3396343"/>
            <a:ext cx="3510643" cy="32657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Metin kutusu 5"/>
          <p:cNvSpPr txBox="1"/>
          <p:nvPr/>
        </p:nvSpPr>
        <p:spPr>
          <a:xfrm>
            <a:off x="2584342" y="2774876"/>
            <a:ext cx="5507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3200" dirty="0" smtClean="0"/>
              <a:t>A</a:t>
            </a:r>
            <a:endParaRPr lang="tr-TR" sz="3200" dirty="0"/>
          </a:p>
        </p:txBody>
      </p:sp>
      <p:sp>
        <p:nvSpPr>
          <p:cNvPr id="7" name="İçerik Yer Tutucusu 6"/>
          <p:cNvSpPr txBox="1">
            <a:spLocks noGrp="1"/>
          </p:cNvSpPr>
          <p:nvPr>
            <p:ph idx="1"/>
          </p:nvPr>
        </p:nvSpPr>
        <p:spPr>
          <a:xfrm>
            <a:off x="838200" y="1825625"/>
            <a:ext cx="105156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tr-TR" sz="3200" dirty="0"/>
          </a:p>
        </p:txBody>
      </p:sp>
      <p:sp>
        <p:nvSpPr>
          <p:cNvPr id="8" name="Metin kutusu 7"/>
          <p:cNvSpPr txBox="1"/>
          <p:nvPr/>
        </p:nvSpPr>
        <p:spPr>
          <a:xfrm>
            <a:off x="6096000" y="2744099"/>
            <a:ext cx="5507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3200" dirty="0"/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19826748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Ekrana Üçgen Çizdirmek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 dirty="0"/>
          </a:p>
        </p:txBody>
      </p:sp>
      <p:cxnSp>
        <p:nvCxnSpPr>
          <p:cNvPr id="4" name="Düz Bağlayıcı 3"/>
          <p:cNvCxnSpPr/>
          <p:nvPr/>
        </p:nvCxnSpPr>
        <p:spPr>
          <a:xfrm flipV="1">
            <a:off x="2658835" y="5376406"/>
            <a:ext cx="3510643" cy="32657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Düz Bağlayıcı 4"/>
          <p:cNvCxnSpPr/>
          <p:nvPr/>
        </p:nvCxnSpPr>
        <p:spPr>
          <a:xfrm flipV="1">
            <a:off x="2416629" y="3020784"/>
            <a:ext cx="1755321" cy="218802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Düz Bağlayıcı 7"/>
          <p:cNvCxnSpPr/>
          <p:nvPr/>
        </p:nvCxnSpPr>
        <p:spPr>
          <a:xfrm>
            <a:off x="4648199" y="3037113"/>
            <a:ext cx="1755322" cy="217170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733334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Ekrana Üçgen </a:t>
            </a:r>
            <a:r>
              <a:rPr lang="tr-TR" dirty="0" smtClean="0"/>
              <a:t>Çizdirmek-2 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2463633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2D Fonksiyonları çizdirmek</a:t>
            </a:r>
            <a:endParaRPr lang="tr-T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İçerik Yer Tutucusu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tr-TR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tr-T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tr-T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tr-TR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tr-T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tr-T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tr-T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tr-TR" dirty="0" smtClean="0"/>
                  <a:t> fonksiyonunu ekrana çizdiriniz.</a:t>
                </a:r>
              </a:p>
              <a:p>
                <a:endParaRPr lang="tr-TR" dirty="0"/>
              </a:p>
              <a:p>
                <a:endParaRPr lang="tr-TR" dirty="0"/>
              </a:p>
            </p:txBody>
          </p:sp>
        </mc:Choice>
        <mc:Fallback xmlns="">
          <p:sp>
            <p:nvSpPr>
              <p:cNvPr id="3" name="İçerik Yer Tutucusu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2241"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etin kutusu 3"/>
          <p:cNvSpPr txBox="1"/>
          <p:nvPr/>
        </p:nvSpPr>
        <p:spPr>
          <a:xfrm>
            <a:off x="389828" y="6127234"/>
            <a:ext cx="26441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000" dirty="0" smtClean="0"/>
              <a:t>Kodlar</a:t>
            </a:r>
            <a:r>
              <a:rPr lang="tr-TR" sz="2000" dirty="0" smtClean="0">
                <a:sym typeface="Wingdings" panose="05000000000000000000" pitchFamily="2" charset="2"/>
              </a:rPr>
              <a:t> </a:t>
            </a:r>
            <a:r>
              <a:rPr lang="tr-TR" sz="2000" dirty="0" smtClean="0"/>
              <a:t>2D_sample.py</a:t>
            </a:r>
            <a:endParaRPr lang="tr-TR" sz="2000" dirty="0"/>
          </a:p>
        </p:txBody>
      </p:sp>
    </p:spTree>
    <p:extLst>
      <p:ext uri="{BB962C8B-B14F-4D97-AF65-F5344CB8AC3E}">
        <p14:creationId xmlns:p14="http://schemas.microsoft.com/office/powerpoint/2010/main" val="1336266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smtClean="0">
                <a:solidFill>
                  <a:srgbClr val="FF0000"/>
                </a:solidFill>
              </a:rPr>
              <a:t>Sınıf İçi Uygulama-1</a:t>
            </a:r>
            <a:endParaRPr lang="tr-TR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İçerik Yer Tutucusu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tr-TR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tr-T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tr-T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tr-TR" b="0" i="1" smtClean="0">
                        <a:latin typeface="Cambria Math" panose="02040503050406030204" pitchFamily="18" charset="0"/>
                      </a:rPr>
                      <m:t>=2</m:t>
                    </m:r>
                    <m:sSup>
                      <m:sSupPr>
                        <m:ctrlPr>
                          <a:rPr lang="tr-T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tr-T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tr-TR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tr-TR" b="0" i="1" smtClean="0">
                        <a:latin typeface="Cambria Math" panose="02040503050406030204" pitchFamily="18" charset="0"/>
                      </a:rPr>
                      <m:t>+3</m:t>
                    </m:r>
                    <m:sSup>
                      <m:sSupPr>
                        <m:ctrlPr>
                          <a:rPr lang="tr-T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tr-T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tr-T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tr-TR" b="0" i="1" smtClean="0">
                        <a:latin typeface="Cambria Math" panose="02040503050406030204" pitchFamily="18" charset="0"/>
                      </a:rPr>
                      <m:t>−5</m:t>
                    </m:r>
                  </m:oMath>
                </a14:m>
                <a:r>
                  <a:rPr lang="tr-TR" dirty="0" smtClean="0"/>
                  <a:t>   fonksiyonunu x=[-3,3] aralığı için çizdiriniz.</a:t>
                </a:r>
              </a:p>
            </p:txBody>
          </p:sp>
        </mc:Choice>
        <mc:Fallback xmlns="">
          <p:sp>
            <p:nvSpPr>
              <p:cNvPr id="3" name="İçerik Yer Tutucusu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2241"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92984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smtClean="0">
                <a:solidFill>
                  <a:schemeClr val="accent5">
                    <a:lumMod val="75000"/>
                  </a:schemeClr>
                </a:solidFill>
              </a:rPr>
              <a:t>Egzersizler</a:t>
            </a:r>
            <a:endParaRPr lang="tr-TR" b="1" dirty="0">
              <a:solidFill>
                <a:schemeClr val="accent5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İçerik Yer Tutucusu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tr-TR" dirty="0" smtClean="0"/>
                  <a:t>Aşağıdaki fonksiyonları ekrana çizdiriniz.</a:t>
                </a:r>
              </a:p>
              <a:p>
                <a:pPr marL="457200" lvl="1" indent="0">
                  <a:buNone/>
                </a:pPr>
                <a:r>
                  <a:rPr lang="tr-TR" dirty="0"/>
                  <a:t>a) </a:t>
                </a:r>
                <a:r>
                  <a:rPr lang="tr-TR" dirty="0" smtClean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tr-TR" b="0" i="0" smtClean="0">
                        <a:latin typeface="Cambria Math" panose="02040503050406030204" pitchFamily="18" charset="0"/>
                      </a:rPr>
                      <m:t>y</m:t>
                    </m:r>
                    <m:r>
                      <a:rPr lang="tr-TR" b="0" i="0" smtClean="0">
                        <a:latin typeface="Cambria Math" panose="02040503050406030204" pitchFamily="18" charset="0"/>
                      </a:rPr>
                      <m:t>=2</m:t>
                    </m:r>
                    <m:sSup>
                      <m:sSupPr>
                        <m:ctrlPr>
                          <a:rPr lang="tr-TR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tr-T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tr-T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tr-TR" b="0" i="1" smtClean="0">
                        <a:latin typeface="Cambria Math" panose="02040503050406030204" pitchFamily="18" charset="0"/>
                      </a:rPr>
                      <m:t>−2</m:t>
                    </m:r>
                  </m:oMath>
                </a14:m>
                <a:endParaRPr lang="tr-TR" dirty="0"/>
              </a:p>
              <a:p>
                <a:pPr marL="457200" lvl="1" indent="0">
                  <a:buNone/>
                </a:pPr>
                <a:r>
                  <a:rPr lang="tr-TR" dirty="0" smtClean="0"/>
                  <a:t>c)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tr-TR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tr-TR" b="0" i="0" smtClean="0">
                            <a:latin typeface="Cambria Math" panose="02040503050406030204" pitchFamily="18" charset="0"/>
                          </a:rPr>
                          <m:t>y</m:t>
                        </m:r>
                        <m:r>
                          <a:rPr lang="tr-TR" b="0" i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tr-TR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tr-TR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tr-T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tr-TR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endParaRPr lang="tr-TR" dirty="0" smtClean="0"/>
              </a:p>
              <a:p>
                <a:pPr marL="457200" lvl="1" indent="0">
                  <a:buNone/>
                </a:pPr>
                <a:r>
                  <a:rPr lang="tr-TR" dirty="0" smtClean="0"/>
                  <a:t>d)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tr-TR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tr-TR" b="0" i="0" smtClean="0">
                            <a:latin typeface="Cambria Math" panose="02040503050406030204" pitchFamily="18" charset="0"/>
                          </a:rPr>
                          <m:t>y</m:t>
                        </m:r>
                        <m:r>
                          <a:rPr lang="tr-TR" b="0" i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tr-TR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tr-TR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tr-T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tr-TR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endParaRPr lang="tr-TR" dirty="0"/>
              </a:p>
            </p:txBody>
          </p:sp>
        </mc:Choice>
        <mc:Fallback xmlns="">
          <p:sp>
            <p:nvSpPr>
              <p:cNvPr id="3" name="İçerik Yer Tutucusu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242967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912"/>
          <a:stretch/>
        </p:blipFill>
        <p:spPr>
          <a:xfrm>
            <a:off x="2139043" y="1874556"/>
            <a:ext cx="6995856" cy="3760050"/>
          </a:xfrm>
        </p:spPr>
      </p:pic>
    </p:spTree>
    <p:extLst>
      <p:ext uri="{BB962C8B-B14F-4D97-AF65-F5344CB8AC3E}">
        <p14:creationId xmlns:p14="http://schemas.microsoft.com/office/powerpoint/2010/main" val="331101804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Aşağıdaki yapıyı </a:t>
            </a:r>
            <a:r>
              <a:rPr lang="tr-TR" dirty="0" err="1" smtClean="0"/>
              <a:t>Line</a:t>
            </a:r>
            <a:r>
              <a:rPr lang="tr-TR" dirty="0" smtClean="0"/>
              <a:t> ile çizdirelim</a:t>
            </a:r>
            <a:endParaRPr lang="tr-TR" dirty="0"/>
          </a:p>
        </p:txBody>
      </p:sp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912"/>
          <a:stretch/>
        </p:blipFill>
        <p:spPr>
          <a:xfrm>
            <a:off x="1133856" y="1690688"/>
            <a:ext cx="8915443" cy="4791755"/>
          </a:xfrm>
        </p:spPr>
      </p:pic>
      <p:cxnSp>
        <p:nvCxnSpPr>
          <p:cNvPr id="6" name="Düz Bağlayıcı 5"/>
          <p:cNvCxnSpPr>
            <a:stCxn id="4" idx="0"/>
            <a:endCxn id="4" idx="2"/>
          </p:cNvCxnSpPr>
          <p:nvPr/>
        </p:nvCxnSpPr>
        <p:spPr>
          <a:xfrm>
            <a:off x="5591578" y="1690688"/>
            <a:ext cx="0" cy="4791755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Düz Bağlayıcı 7"/>
          <p:cNvCxnSpPr/>
          <p:nvPr/>
        </p:nvCxnSpPr>
        <p:spPr>
          <a:xfrm>
            <a:off x="1133856" y="3880600"/>
            <a:ext cx="8915443" cy="0"/>
          </a:xfrm>
          <a:prstGeom prst="line">
            <a:avLst/>
          </a:prstGeom>
          <a:ln>
            <a:prstDash val="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6429188" y="4720837"/>
            <a:ext cx="129679" cy="10141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0" name="Oval 9"/>
          <p:cNvSpPr/>
          <p:nvPr/>
        </p:nvSpPr>
        <p:spPr>
          <a:xfrm>
            <a:off x="1069016" y="4771546"/>
            <a:ext cx="129679" cy="10141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0" name="Oval 19"/>
          <p:cNvSpPr/>
          <p:nvPr/>
        </p:nvSpPr>
        <p:spPr>
          <a:xfrm>
            <a:off x="5069538" y="3827193"/>
            <a:ext cx="129679" cy="10141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1" name="Oval 20"/>
          <p:cNvSpPr/>
          <p:nvPr/>
        </p:nvSpPr>
        <p:spPr>
          <a:xfrm>
            <a:off x="2967205" y="3818042"/>
            <a:ext cx="129679" cy="10141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2" name="Oval 21"/>
          <p:cNvSpPr/>
          <p:nvPr/>
        </p:nvSpPr>
        <p:spPr>
          <a:xfrm>
            <a:off x="9254274" y="2402998"/>
            <a:ext cx="129679" cy="10141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3" name="Oval 22"/>
          <p:cNvSpPr/>
          <p:nvPr/>
        </p:nvSpPr>
        <p:spPr>
          <a:xfrm>
            <a:off x="9919622" y="2375088"/>
            <a:ext cx="129679" cy="10141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5" name="Metin kutusu 24"/>
          <p:cNvSpPr txBox="1"/>
          <p:nvPr/>
        </p:nvSpPr>
        <p:spPr>
          <a:xfrm>
            <a:off x="1533848" y="4842659"/>
            <a:ext cx="9028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b="1" dirty="0" smtClean="0"/>
              <a:t>A(-5,-3)</a:t>
            </a:r>
            <a:endParaRPr lang="tr-TR" b="1" dirty="0"/>
          </a:p>
        </p:txBody>
      </p:sp>
      <p:sp>
        <p:nvSpPr>
          <p:cNvPr id="26" name="Metin kutusu 25"/>
          <p:cNvSpPr txBox="1"/>
          <p:nvPr/>
        </p:nvSpPr>
        <p:spPr>
          <a:xfrm>
            <a:off x="2723305" y="3317823"/>
            <a:ext cx="8226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b="1" dirty="0" smtClean="0"/>
              <a:t>B(-3,0)</a:t>
            </a:r>
            <a:endParaRPr lang="tr-TR" b="1" dirty="0"/>
          </a:p>
        </p:txBody>
      </p:sp>
      <p:sp>
        <p:nvSpPr>
          <p:cNvPr id="27" name="Metin kutusu 26"/>
          <p:cNvSpPr txBox="1"/>
          <p:nvPr/>
        </p:nvSpPr>
        <p:spPr>
          <a:xfrm>
            <a:off x="4753969" y="3409851"/>
            <a:ext cx="8146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b="1" dirty="0" smtClean="0"/>
              <a:t>C(-1,0)</a:t>
            </a:r>
            <a:endParaRPr lang="tr-TR" b="1" dirty="0"/>
          </a:p>
        </p:txBody>
      </p:sp>
      <p:sp>
        <p:nvSpPr>
          <p:cNvPr id="28" name="Metin kutusu 27"/>
          <p:cNvSpPr txBox="1"/>
          <p:nvPr/>
        </p:nvSpPr>
        <p:spPr>
          <a:xfrm>
            <a:off x="6250128" y="4842659"/>
            <a:ext cx="8386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b="1" dirty="0" smtClean="0"/>
              <a:t>D(1,-2)</a:t>
            </a:r>
            <a:endParaRPr lang="tr-TR" b="1" dirty="0"/>
          </a:p>
        </p:txBody>
      </p:sp>
      <p:sp>
        <p:nvSpPr>
          <p:cNvPr id="29" name="Metin kutusu 28"/>
          <p:cNvSpPr txBox="1"/>
          <p:nvPr/>
        </p:nvSpPr>
        <p:spPr>
          <a:xfrm>
            <a:off x="8945535" y="1988989"/>
            <a:ext cx="7344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b="1" dirty="0" smtClean="0"/>
              <a:t>E(3,3)</a:t>
            </a:r>
            <a:endParaRPr lang="tr-TR" b="1" dirty="0"/>
          </a:p>
        </p:txBody>
      </p:sp>
      <p:sp>
        <p:nvSpPr>
          <p:cNvPr id="30" name="Metin kutusu 29"/>
          <p:cNvSpPr txBox="1"/>
          <p:nvPr/>
        </p:nvSpPr>
        <p:spPr>
          <a:xfrm>
            <a:off x="9541888" y="2644945"/>
            <a:ext cx="7280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b="1" dirty="0" smtClean="0"/>
              <a:t>F(5,3)</a:t>
            </a:r>
            <a:endParaRPr lang="tr-TR" b="1" dirty="0"/>
          </a:p>
        </p:txBody>
      </p:sp>
      <p:sp>
        <p:nvSpPr>
          <p:cNvPr id="31" name="Oval 30"/>
          <p:cNvSpPr/>
          <p:nvPr/>
        </p:nvSpPr>
        <p:spPr>
          <a:xfrm>
            <a:off x="9946708" y="6371148"/>
            <a:ext cx="129679" cy="10141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32" name="Metin kutusu 31"/>
          <p:cNvSpPr txBox="1"/>
          <p:nvPr/>
        </p:nvSpPr>
        <p:spPr>
          <a:xfrm>
            <a:off x="9702808" y="5870929"/>
            <a:ext cx="8402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b="1" dirty="0" smtClean="0"/>
              <a:t>G(5,-5)</a:t>
            </a:r>
            <a:endParaRPr lang="tr-TR" b="1" dirty="0"/>
          </a:p>
        </p:txBody>
      </p:sp>
      <p:sp>
        <p:nvSpPr>
          <p:cNvPr id="33" name="Oval 32"/>
          <p:cNvSpPr/>
          <p:nvPr/>
        </p:nvSpPr>
        <p:spPr>
          <a:xfrm>
            <a:off x="1096104" y="6387476"/>
            <a:ext cx="129679" cy="10141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34" name="Metin kutusu 33"/>
          <p:cNvSpPr txBox="1"/>
          <p:nvPr/>
        </p:nvSpPr>
        <p:spPr>
          <a:xfrm>
            <a:off x="852204" y="5887257"/>
            <a:ext cx="9797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b="1" dirty="0"/>
              <a:t>H</a:t>
            </a:r>
            <a:r>
              <a:rPr lang="tr-TR" b="1" dirty="0" smtClean="0"/>
              <a:t>(--5,-5)</a:t>
            </a:r>
            <a:endParaRPr lang="tr-TR" b="1" dirty="0"/>
          </a:p>
        </p:txBody>
      </p:sp>
      <p:sp>
        <p:nvSpPr>
          <p:cNvPr id="35" name="Metin kutusu 34"/>
          <p:cNvSpPr txBox="1"/>
          <p:nvPr/>
        </p:nvSpPr>
        <p:spPr>
          <a:xfrm>
            <a:off x="0" y="6502451"/>
            <a:ext cx="27613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000" dirty="0" smtClean="0"/>
              <a:t>Kodlar</a:t>
            </a:r>
            <a:r>
              <a:rPr lang="tr-TR" sz="2000" dirty="0" smtClean="0">
                <a:sym typeface="Wingdings" panose="05000000000000000000" pitchFamily="2" charset="2"/>
              </a:rPr>
              <a:t> </a:t>
            </a:r>
            <a:r>
              <a:rPr lang="tr-TR" dirty="0" smtClean="0">
                <a:sym typeface="Wingdings" panose="05000000000000000000" pitchFamily="2" charset="2"/>
              </a:rPr>
              <a:t>Ekran</a:t>
            </a:r>
            <a:r>
              <a:rPr lang="tr-TR" dirty="0" smtClean="0"/>
              <a:t>_sample.py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829840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3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6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1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4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9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2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7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0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5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8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3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6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1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4" dur="2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20" grpId="0" animBg="1"/>
      <p:bldP spid="21" grpId="0" animBg="1"/>
      <p:bldP spid="22" grpId="0" animBg="1"/>
      <p:bldP spid="23" grpId="0" animBg="1"/>
      <p:bldP spid="25" grpId="0"/>
      <p:bldP spid="26" grpId="0"/>
      <p:bldP spid="27" grpId="0"/>
      <p:bldP spid="28" grpId="0"/>
      <p:bldP spid="29" grpId="0"/>
      <p:bldP spid="30" grpId="0"/>
      <p:bldP spid="31" grpId="0" animBg="1"/>
      <p:bldP spid="32" grpId="0"/>
      <p:bldP spid="33" grpId="0" animBg="1"/>
      <p:bldP spid="34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GL_POLYGON ile deneyiniz?</a:t>
            </a:r>
            <a:endParaRPr lang="tr-TR" dirty="0"/>
          </a:p>
        </p:txBody>
      </p:sp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328545"/>
            <a:ext cx="7894320" cy="3871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2924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İçerik Yer Tutucusu 38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24000" y="1407331"/>
            <a:ext cx="8629650" cy="5251597"/>
          </a:xfrm>
          <a:prstGeom prst="rect">
            <a:avLst/>
          </a:prstGeom>
        </p:spPr>
      </p:pic>
      <p:sp>
        <p:nvSpPr>
          <p:cNvPr id="21" name="Unvan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tr-TR" dirty="0" err="1" smtClean="0"/>
              <a:t>Triangle_Fan</a:t>
            </a:r>
            <a:r>
              <a:rPr lang="tr-TR" dirty="0" smtClean="0"/>
              <a:t> ile çizdirelim</a:t>
            </a:r>
            <a:endParaRPr lang="tr-TR" dirty="0"/>
          </a:p>
        </p:txBody>
      </p:sp>
      <p:cxnSp>
        <p:nvCxnSpPr>
          <p:cNvPr id="41" name="Düz Bağlayıcı 40"/>
          <p:cNvCxnSpPr>
            <a:stCxn id="39" idx="2"/>
          </p:cNvCxnSpPr>
          <p:nvPr/>
        </p:nvCxnSpPr>
        <p:spPr>
          <a:xfrm flipH="1" flipV="1">
            <a:off x="1657350" y="4362450"/>
            <a:ext cx="4181475" cy="2296478"/>
          </a:xfrm>
          <a:prstGeom prst="line">
            <a:avLst/>
          </a:prstGeom>
          <a:ln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Düz Bağlayıcı 42"/>
          <p:cNvCxnSpPr>
            <a:stCxn id="39" idx="2"/>
          </p:cNvCxnSpPr>
          <p:nvPr/>
        </p:nvCxnSpPr>
        <p:spPr>
          <a:xfrm flipH="1" flipV="1">
            <a:off x="3371850" y="3486150"/>
            <a:ext cx="2466975" cy="31727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Düz Bağlayıcı 44"/>
          <p:cNvCxnSpPr>
            <a:stCxn id="39" idx="2"/>
          </p:cNvCxnSpPr>
          <p:nvPr/>
        </p:nvCxnSpPr>
        <p:spPr>
          <a:xfrm flipH="1" flipV="1">
            <a:off x="5319713" y="3448050"/>
            <a:ext cx="519112" cy="32108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Düz Bağlayıcı 46"/>
          <p:cNvCxnSpPr>
            <a:stCxn id="39" idx="2"/>
          </p:cNvCxnSpPr>
          <p:nvPr/>
        </p:nvCxnSpPr>
        <p:spPr>
          <a:xfrm flipV="1">
            <a:off x="5838825" y="4362450"/>
            <a:ext cx="752475" cy="22964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Düz Bağlayıcı 48"/>
          <p:cNvCxnSpPr>
            <a:stCxn id="39" idx="2"/>
          </p:cNvCxnSpPr>
          <p:nvPr/>
        </p:nvCxnSpPr>
        <p:spPr>
          <a:xfrm flipV="1">
            <a:off x="5838825" y="2133600"/>
            <a:ext cx="3343275" cy="45253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Düz Bağlayıcı 50"/>
          <p:cNvCxnSpPr>
            <a:stCxn id="39" idx="2"/>
          </p:cNvCxnSpPr>
          <p:nvPr/>
        </p:nvCxnSpPr>
        <p:spPr>
          <a:xfrm flipV="1">
            <a:off x="5838825" y="2095500"/>
            <a:ext cx="3952875" cy="45634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94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Klavye Etkileşimi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smtClean="0"/>
              <a:t>Klavyedeki her hangi bir tuşa basıldığında </a:t>
            </a:r>
            <a:r>
              <a:rPr lang="tr-TR" dirty="0" err="1" smtClean="0"/>
              <a:t>random</a:t>
            </a:r>
            <a:r>
              <a:rPr lang="tr-TR" dirty="0" smtClean="0"/>
              <a:t> bir yere </a:t>
            </a:r>
            <a:r>
              <a:rPr lang="tr-TR" dirty="0" err="1" smtClean="0"/>
              <a:t>random</a:t>
            </a:r>
            <a:r>
              <a:rPr lang="tr-TR" dirty="0" smtClean="0"/>
              <a:t> renkte bir nokta çizdirilecek.</a:t>
            </a:r>
          </a:p>
          <a:p>
            <a:endParaRPr lang="tr-TR" dirty="0"/>
          </a:p>
          <a:p>
            <a:r>
              <a:rPr lang="tr-TR" dirty="0" smtClean="0"/>
              <a:t>KeypressedSample.py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2260317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0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smtClean="0">
                <a:solidFill>
                  <a:srgbClr val="FF0000"/>
                </a:solidFill>
              </a:rPr>
              <a:t>Ödev-1</a:t>
            </a:r>
            <a:endParaRPr lang="tr-TR" b="1" dirty="0">
              <a:solidFill>
                <a:srgbClr val="FF0000"/>
              </a:solidFill>
            </a:endParaRPr>
          </a:p>
        </p:txBody>
      </p:sp>
      <p:pic>
        <p:nvPicPr>
          <p:cNvPr id="5" name="İçerik Yer Tutucusu 4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255" t="12184" r="19671" b="14517"/>
          <a:stretch/>
        </p:blipFill>
        <p:spPr>
          <a:xfrm>
            <a:off x="3661913" y="3757354"/>
            <a:ext cx="4203154" cy="2577116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6" name="Metin kutusu 5"/>
          <p:cNvSpPr txBox="1"/>
          <p:nvPr/>
        </p:nvSpPr>
        <p:spPr>
          <a:xfrm>
            <a:off x="439189" y="1501571"/>
            <a:ext cx="735015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tr-TR" sz="2800" dirty="0" smtClean="0"/>
              <a:t>Alttaki şekli </a:t>
            </a:r>
            <a:r>
              <a:rPr lang="tr-TR" sz="2800" dirty="0" err="1" smtClean="0"/>
              <a:t>OpenGL</a:t>
            </a:r>
            <a:r>
              <a:rPr lang="tr-TR" sz="2800" dirty="0" smtClean="0"/>
              <a:t> ve Python ile kodlayınız.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tr-TR" sz="2800" dirty="0" smtClean="0"/>
              <a:t>Gerekli talimatlar </a:t>
            </a:r>
            <a:r>
              <a:rPr lang="tr-TR" sz="2800" dirty="0" err="1" smtClean="0"/>
              <a:t>classroom</a:t>
            </a:r>
            <a:r>
              <a:rPr lang="tr-TR" sz="2800" dirty="0" smtClean="0"/>
              <a:t> da paylaşılacaktır.</a:t>
            </a:r>
          </a:p>
        </p:txBody>
      </p:sp>
    </p:spTree>
    <p:extLst>
      <p:ext uri="{BB962C8B-B14F-4D97-AF65-F5344CB8AC3E}">
        <p14:creationId xmlns:p14="http://schemas.microsoft.com/office/powerpoint/2010/main" val="325313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4601</TotalTime>
  <Words>1708</Words>
  <Application>Microsoft Office PowerPoint</Application>
  <PresentationFormat>Geniş ekran</PresentationFormat>
  <Paragraphs>165</Paragraphs>
  <Slides>41</Slides>
  <Notes>0</Notes>
  <HiddenSlides>1</HiddenSlides>
  <MMClips>0</MMClips>
  <ScaleCrop>false</ScaleCrop>
  <HeadingPairs>
    <vt:vector size="6" baseType="variant">
      <vt:variant>
        <vt:lpstr>Kullanılan Yazı Tipleri</vt:lpstr>
      </vt:variant>
      <vt:variant>
        <vt:i4>6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41</vt:i4>
      </vt:variant>
    </vt:vector>
  </HeadingPairs>
  <TitlesOfParts>
    <vt:vector size="48" baseType="lpstr">
      <vt:lpstr>Arial</vt:lpstr>
      <vt:lpstr>Calibri</vt:lpstr>
      <vt:lpstr>Calibri Light</vt:lpstr>
      <vt:lpstr>Cambria Math</vt:lpstr>
      <vt:lpstr>Consolas</vt:lpstr>
      <vt:lpstr>Wingdings</vt:lpstr>
      <vt:lpstr>Office Teması</vt:lpstr>
      <vt:lpstr>OPENGL Giriş</vt:lpstr>
      <vt:lpstr>PowerPoint Sunusu</vt:lpstr>
      <vt:lpstr>OpenGL</vt:lpstr>
      <vt:lpstr>OpenGL</vt:lpstr>
      <vt:lpstr>OpenGL</vt:lpstr>
      <vt:lpstr>OpenGL Utility Library (GLU)</vt:lpstr>
      <vt:lpstr>OpenGL Utility Toolkit (GLUT)</vt:lpstr>
      <vt:lpstr>OpenGL Utility Toolkit (GLUT)</vt:lpstr>
      <vt:lpstr>Higher Level Libraries built on OpenGL</vt:lpstr>
      <vt:lpstr>Higher Level Libraries built on OpenGL</vt:lpstr>
      <vt:lpstr>Higher Level Libraries built on OpenGL</vt:lpstr>
      <vt:lpstr>OpenGL ES</vt:lpstr>
      <vt:lpstr>WebGL</vt:lpstr>
      <vt:lpstr>İlk OpenGL uygulaması</vt:lpstr>
      <vt:lpstr>PowerPoint Sunusu</vt:lpstr>
      <vt:lpstr>PowerPoint Sunusu</vt:lpstr>
      <vt:lpstr>PowerPoint Sunusu</vt:lpstr>
      <vt:lpstr>PowerPoint Sunusu</vt:lpstr>
      <vt:lpstr>PowerPoint Sunusu</vt:lpstr>
      <vt:lpstr>Egzersizler-1</vt:lpstr>
      <vt:lpstr>Egzersizler-2</vt:lpstr>
      <vt:lpstr>GLUT OBJECTS</vt:lpstr>
      <vt:lpstr>OpenGL Primitives</vt:lpstr>
      <vt:lpstr>Ekrana Nokta Çizdirmek</vt:lpstr>
      <vt:lpstr>glClearColor(0.0, 0.0, 0.0, 1.0)</vt:lpstr>
      <vt:lpstr>gluOrtho2D(x-left, x-right, y-bottom, y-top)</vt:lpstr>
      <vt:lpstr>PowerPoint Sunusu</vt:lpstr>
      <vt:lpstr>PowerPoint Sunusu</vt:lpstr>
      <vt:lpstr>Egzersizler</vt:lpstr>
      <vt:lpstr>Ekrana Çizgi Çizdirmek</vt:lpstr>
      <vt:lpstr>Ekrana Üçgen Çizdirmek</vt:lpstr>
      <vt:lpstr>Ekrana Üçgen Çizdirmek-2 </vt:lpstr>
      <vt:lpstr>2D Fonksiyonları çizdirmek</vt:lpstr>
      <vt:lpstr>Sınıf İçi Uygulama-1</vt:lpstr>
      <vt:lpstr>Egzersizler</vt:lpstr>
      <vt:lpstr>PowerPoint Sunusu</vt:lpstr>
      <vt:lpstr>Aşağıdaki yapıyı Line ile çizdirelim</vt:lpstr>
      <vt:lpstr>GL_POLYGON ile deneyiniz?</vt:lpstr>
      <vt:lpstr>Triangle_Fan ile çizdirelim</vt:lpstr>
      <vt:lpstr>Klavye Etkileşimi</vt:lpstr>
      <vt:lpstr>Ödev-1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OPENGL Giriş</dc:title>
  <dc:creator>SERPİL</dc:creator>
  <cp:lastModifiedBy>SERPİL</cp:lastModifiedBy>
  <cp:revision>103</cp:revision>
  <dcterms:created xsi:type="dcterms:W3CDTF">2020-10-09T17:56:03Z</dcterms:created>
  <dcterms:modified xsi:type="dcterms:W3CDTF">2023-03-17T08:12:52Z</dcterms:modified>
</cp:coreProperties>
</file>